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307a1a28f01740dd"/><Relationship Type="http://schemas.openxmlformats.org/officeDocument/2006/relationships/extended-properties" Target="/docProps/app.xml" Id="R0acc40cc456a40a4"/><Relationship Type="http://schemas.openxmlformats.org/officeDocument/2006/relationships/officeDocument" Target="/ppt/presentation.xml" Id="R763a6ed0cb824adb"/></Relationships>
</file>

<file path=ppt/presentation.xml><?xml version="1.0" encoding="utf-8"?>
<p:presentation xmlns:p="http://schemas.openxmlformats.org/presentationml/2006/main">
  <p:sldMasterIdLst>
    <p:sldMasterId xmlns:r="http://schemas.openxmlformats.org/officeDocument/2006/relationships" id="2147483648" r:id="Rbe9a293347164d9d"/>
  </p:sldMasterIdLst>
  <p:notesMasterIdLst>
    <p:notesMasterId xmlns:r="http://schemas.openxmlformats.org/officeDocument/2006/relationships" r:id="R7fad0376cd824e78"/>
  </p:notesMasterIdLst>
  <p:sldIdLst>
    <p:sldId xmlns:r="http://schemas.openxmlformats.org/officeDocument/2006/relationships" id="256" r:id="R6479a76ec186416c"/>
    <p:sldId xmlns:r="http://schemas.openxmlformats.org/officeDocument/2006/relationships" id="257" r:id="Rd051b34db3054ca3"/>
    <p:sldId xmlns:r="http://schemas.openxmlformats.org/officeDocument/2006/relationships" id="258" r:id="R71efbebfc8e54f58"/>
    <p:sldId xmlns:r="http://schemas.openxmlformats.org/officeDocument/2006/relationships" id="259" r:id="R942c3b2a7ebf41dd"/>
    <p:sldId xmlns:r="http://schemas.openxmlformats.org/officeDocument/2006/relationships" id="260" r:id="Rf7d75558978e4f75"/>
    <p:sldId xmlns:r="http://schemas.openxmlformats.org/officeDocument/2006/relationships" id="261" r:id="Rf563ef0d7f6f4344"/>
    <p:sldId xmlns:r="http://schemas.openxmlformats.org/officeDocument/2006/relationships" id="262" r:id="R3f761f3201934bae"/>
    <p:sldId xmlns:r="http://schemas.openxmlformats.org/officeDocument/2006/relationships" id="263" r:id="Rfe840713020d4212"/>
    <p:sldId xmlns:r="http://schemas.openxmlformats.org/officeDocument/2006/relationships" id="264" r:id="Ra3d79acf7dce4f61"/>
    <p:sldId xmlns:r="http://schemas.openxmlformats.org/officeDocument/2006/relationships" id="265" r:id="R8a8a3654d016495f"/>
    <p:sldId xmlns:r="http://schemas.openxmlformats.org/officeDocument/2006/relationships" id="266" r:id="R0b72e2d1cb56416f"/>
    <p:sldId xmlns:r="http://schemas.openxmlformats.org/officeDocument/2006/relationships" id="267" r:id="R05f09f671fc54a1d"/>
    <p:sldId xmlns:r="http://schemas.openxmlformats.org/officeDocument/2006/relationships" id="268" r:id="R906fadebd0a2405c"/>
    <p:sldId xmlns:r="http://schemas.openxmlformats.org/officeDocument/2006/relationships" id="269" r:id="R92e4d8c751134f8d"/>
    <p:sldId xmlns:r="http://schemas.openxmlformats.org/officeDocument/2006/relationships" id="270" r:id="R994422a6fefd4433"/>
    <p:sldId xmlns:r="http://schemas.openxmlformats.org/officeDocument/2006/relationships" id="271" r:id="R6cd8ec5a810c471f"/>
    <p:sldId xmlns:r="http://schemas.openxmlformats.org/officeDocument/2006/relationships" id="272" r:id="R7cd56bf0452348d2"/>
    <p:sldId xmlns:r="http://schemas.openxmlformats.org/officeDocument/2006/relationships" id="273" r:id="R39a113aa7b9b4e62"/>
    <p:sldId xmlns:r="http://schemas.openxmlformats.org/officeDocument/2006/relationships" id="274" r:id="Rde8d2ca86828490f"/>
    <p:sldId xmlns:r="http://schemas.openxmlformats.org/officeDocument/2006/relationships" id="275" r:id="Re9c46ef7aade4917"/>
    <p:sldId xmlns:r="http://schemas.openxmlformats.org/officeDocument/2006/relationships" id="276" r:id="Ra143e6d13e404468"/>
    <p:sldId xmlns:r="http://schemas.openxmlformats.org/officeDocument/2006/relationships" id="277" r:id="Ra257bec5101843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b6c357f297094492"/><Relationship Type="http://schemas.openxmlformats.org/officeDocument/2006/relationships/slideMaster" Target="/ppt/slideMasters/slideMaster1.xml" Id="Rbe9a293347164d9d"/><Relationship Type="http://schemas.openxmlformats.org/officeDocument/2006/relationships/notesMaster" Target="/ppt/notesMasters/notesMaster1.xml" Id="R7fad0376cd824e78"/><Relationship Type="http://schemas.openxmlformats.org/officeDocument/2006/relationships/presProps" Target="/ppt/presProps.xml" Id="R6c7545fc291f4376"/><Relationship Type="http://schemas.openxmlformats.org/officeDocument/2006/relationships/tableStyles" Target="/ppt/tableStyles.xml" Id="R66ce79cff1404796"/><Relationship Type="http://schemas.openxmlformats.org/officeDocument/2006/relationships/slide" Target="/ppt/slides/slide1.xml" Id="R6479a76ec186416c"/><Relationship Type="http://schemas.openxmlformats.org/officeDocument/2006/relationships/slide" Target="/ppt/slides/slide2.xml" Id="Rd051b34db3054ca3"/><Relationship Type="http://schemas.openxmlformats.org/officeDocument/2006/relationships/slide" Target="/ppt/slides/slide3.xml" Id="R71efbebfc8e54f58"/><Relationship Type="http://schemas.openxmlformats.org/officeDocument/2006/relationships/slide" Target="/ppt/slides/slide4.xml" Id="R942c3b2a7ebf41dd"/><Relationship Type="http://schemas.openxmlformats.org/officeDocument/2006/relationships/slide" Target="/ppt/slides/slide5.xml" Id="Rf7d75558978e4f75"/><Relationship Type="http://schemas.openxmlformats.org/officeDocument/2006/relationships/slide" Target="/ppt/slides/slide6.xml" Id="Rf563ef0d7f6f4344"/><Relationship Type="http://schemas.openxmlformats.org/officeDocument/2006/relationships/slide" Target="/ppt/slides/slide7.xml" Id="R3f761f3201934bae"/><Relationship Type="http://schemas.openxmlformats.org/officeDocument/2006/relationships/slide" Target="/ppt/slides/slide8.xml" Id="Rfe840713020d4212"/><Relationship Type="http://schemas.openxmlformats.org/officeDocument/2006/relationships/slide" Target="/ppt/slides/slide9.xml" Id="Ra3d79acf7dce4f61"/><Relationship Type="http://schemas.openxmlformats.org/officeDocument/2006/relationships/slide" Target="/ppt/slides/slide10.xml" Id="R8a8a3654d016495f"/><Relationship Type="http://schemas.openxmlformats.org/officeDocument/2006/relationships/slide" Target="/ppt/slides/slide11.xml" Id="R0b72e2d1cb56416f"/><Relationship Type="http://schemas.openxmlformats.org/officeDocument/2006/relationships/slide" Target="/ppt/slides/slide12.xml" Id="R05f09f671fc54a1d"/><Relationship Type="http://schemas.openxmlformats.org/officeDocument/2006/relationships/slide" Target="/ppt/slides/slide13.xml" Id="R906fadebd0a2405c"/><Relationship Type="http://schemas.openxmlformats.org/officeDocument/2006/relationships/slide" Target="/ppt/slides/slide14.xml" Id="R92e4d8c751134f8d"/><Relationship Type="http://schemas.openxmlformats.org/officeDocument/2006/relationships/slide" Target="/ppt/slides/slide15.xml" Id="R994422a6fefd4433"/><Relationship Type="http://schemas.openxmlformats.org/officeDocument/2006/relationships/slide" Target="/ppt/slides/slide16.xml" Id="R6cd8ec5a810c471f"/><Relationship Type="http://schemas.openxmlformats.org/officeDocument/2006/relationships/slide" Target="/ppt/slides/slide17.xml" Id="R7cd56bf0452348d2"/><Relationship Type="http://schemas.openxmlformats.org/officeDocument/2006/relationships/slide" Target="/ppt/slides/slide18.xml" Id="R39a113aa7b9b4e62"/><Relationship Type="http://schemas.openxmlformats.org/officeDocument/2006/relationships/slide" Target="/ppt/slides/slide19.xml" Id="Rde8d2ca86828490f"/><Relationship Type="http://schemas.openxmlformats.org/officeDocument/2006/relationships/slide" Target="/ppt/slides/slide20.xml" Id="Re9c46ef7aade4917"/><Relationship Type="http://schemas.openxmlformats.org/officeDocument/2006/relationships/slide" Target="/ppt/slides/slide21.xml" Id="Ra143e6d13e404468"/><Relationship Type="http://schemas.openxmlformats.org/officeDocument/2006/relationships/slide" Target="/ppt/slides/slide22.xml" Id="Ra257bec510184387"/></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f073fd1024c44bf"/></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c96c1e1808124b6f"/><Relationship Type="http://schemas.openxmlformats.org/officeDocument/2006/relationships/notesMaster" Target="/ppt/notesMasters/notesMaster1.xml" Id="R31142639b6344815"/></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80b09e559a524ae1"/><Relationship Type="http://schemas.openxmlformats.org/officeDocument/2006/relationships/notesMaster" Target="/ppt/notesMasters/notesMaster1.xml" Id="Rf356ccc124064d6d"/></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83a686acb638426c"/><Relationship Type="http://schemas.openxmlformats.org/officeDocument/2006/relationships/notesMaster" Target="/ppt/notesMasters/notesMaster1.xml" Id="Re0c05d9ce1d64dd9"/></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c8d5c143c3f045d6"/><Relationship Type="http://schemas.openxmlformats.org/officeDocument/2006/relationships/notesMaster" Target="/ppt/notesMasters/notesMaster1.xml" Id="R5c27046d4cae4713"/></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45677ab467434db8"/><Relationship Type="http://schemas.openxmlformats.org/officeDocument/2006/relationships/notesMaster" Target="/ppt/notesMasters/notesMaster1.xml" Id="R5d6dc7bd4bb84e3a"/></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e27f168474464e69"/><Relationship Type="http://schemas.openxmlformats.org/officeDocument/2006/relationships/notesMaster" Target="/ppt/notesMasters/notesMaster1.xml" Id="R3e9a14317c8a4de7"/></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f63c9ce6522d41a9"/><Relationship Type="http://schemas.openxmlformats.org/officeDocument/2006/relationships/notesMaster" Target="/ppt/notesMasters/notesMaster1.xml" Id="Rb7a12cdf5dd54546"/></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23fb66ae367b48f6"/><Relationship Type="http://schemas.openxmlformats.org/officeDocument/2006/relationships/notesMaster" Target="/ppt/notesMasters/notesMaster1.xml" Id="Ra4e8ecedb447489a"/></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60ebc14146c64240"/><Relationship Type="http://schemas.openxmlformats.org/officeDocument/2006/relationships/notesMaster" Target="/ppt/notesMasters/notesMaster1.xml" Id="Rb3bacc4717ee4efe"/></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bf4ca94d79f549bb"/><Relationship Type="http://schemas.openxmlformats.org/officeDocument/2006/relationships/notesMaster" Target="/ppt/notesMasters/notesMaster1.xml" Id="Rd0010560675a4a11"/></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75a264d1d184825"/><Relationship Type="http://schemas.openxmlformats.org/officeDocument/2006/relationships/notesMaster" Target="/ppt/notesMasters/notesMaster1.xml" Id="R7f24141634ef4f6b"/></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d6bc7a7cf634dd3"/><Relationship Type="http://schemas.openxmlformats.org/officeDocument/2006/relationships/notesMaster" Target="/ppt/notesMasters/notesMaster1.xml" Id="R00c87d7d54e844bc"/></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af037baf66ab4e7a"/><Relationship Type="http://schemas.openxmlformats.org/officeDocument/2006/relationships/notesMaster" Target="/ppt/notesMasters/notesMaster1.xml" Id="R187a12523b594c32"/></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ffbf3ba83b8d473c"/><Relationship Type="http://schemas.openxmlformats.org/officeDocument/2006/relationships/notesMaster" Target="/ppt/notesMasters/notesMaster1.xml" Id="R45fe6160d44b49a8"/></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491befc496c40c9"/><Relationship Type="http://schemas.openxmlformats.org/officeDocument/2006/relationships/notesMaster" Target="/ppt/notesMasters/notesMaster1.xml" Id="Rdc5b152ead5446f6"/></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d9ffba39c3984fde"/><Relationship Type="http://schemas.openxmlformats.org/officeDocument/2006/relationships/notesMaster" Target="/ppt/notesMasters/notesMaster1.xml" Id="R8efd6b11da384bff"/></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5b9d10203f44208"/><Relationship Type="http://schemas.openxmlformats.org/officeDocument/2006/relationships/notesMaster" Target="/ppt/notesMasters/notesMaster1.xml" Id="R119f3814b1014fd4"/></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0cf4959486724012"/><Relationship Type="http://schemas.openxmlformats.org/officeDocument/2006/relationships/notesMaster" Target="/ppt/notesMasters/notesMaster1.xml" Id="Rbabe84ff4b9e49d5"/></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581dd0be719f4991"/><Relationship Type="http://schemas.openxmlformats.org/officeDocument/2006/relationships/notesMaster" Target="/ppt/notesMasters/notesMaster1.xml" Id="R5648c637b8834c91"/></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c30b4af8a0d0482d"/><Relationship Type="http://schemas.openxmlformats.org/officeDocument/2006/relationships/notesMaster" Target="/ppt/notesMasters/notesMaster1.xml" Id="R8455777c80cc42d9"/></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572d597b24384c3d"/><Relationship Type="http://schemas.openxmlformats.org/officeDocument/2006/relationships/notesMaster" Target="/ppt/notesMasters/notesMaster1.xml" Id="Re719917c72674672"/></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97858bdffc17408a"/><Relationship Type="http://schemas.openxmlformats.org/officeDocument/2006/relationships/notesMaster" Target="/ppt/notesMasters/notesMaster1.xml" Id="R2baecc63d4e148ef"/></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Здравствуйте!  Я представлю работу об оценке поиска на MS MARCO, . Нас интересует простой вопрос: насколько результат сравнения поисковых систем зависит от того, какие найденные тексты получили оценку релевантности?</a:t>
            </a:r>
          </a:p>
          <a:p xmlns:a="http://schemas.openxmlformats.org/drawingml/2006/main">
            <a:r>
              <a:t/>
            </a:r>
          </a:p>
          <a:p xmlns:a="http://schemas.openxmlformats.org/drawingml/2006/main">
            <a:r>
              <a:t>В докладе используется уточнённый численный протокол: общий идеальный знаменатель метрики и единый набор запросов для сравниваемых систем. Поэтому некоторые значения и вывод о слиянии выдач отличаются от редакторской версии рукописи. Сегодня я последовательно покажу, что именно измеряется: сначала на человеческой разметке, затем на предсказаниях модели.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Natural Questions связывает реальные запросы Google с ответами в Википедии. BEIR объединяет задачи из разных предметных областей и помогает исследовать переносимость поисковых методов. Эти коллекции отвечают на разные исследовательские вопросы.</a:t>
            </a:r>
          </a:p>
          <a:p xmlns:a="http://schemas.openxmlformats.org/drawingml/2006/main">
            <a:r>
              <a:t/>
            </a:r>
          </a:p>
          <a:p xmlns:a="http://schemas.openxmlformats.org/drawingml/2006/main">
            <a:r>
              <a:t>Мы выбрали MS MARCO, основанный на запросах Bing и открытых текстах веб-фрагментов. Для нас особенно важна разреженность исходных оценок: подходящий ответ может присутствовать в корпусе, но отсутствовать в разметке. Здесь можно изучить, как дополнительные оценки меняют сравнение уже полученных выдач. При этом выбор удобного исследовательского набора ещё не делает его представителем всех языков, предметных областей и поисковых сценариев.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контекста покажу финальный срез официального лидерборда на 30 ноября 2022 года. Эта задача закрыта с 1 января 2023 года, поэтому перед нами исторический ориентир, а не лучшие системы 2026 года. Четыре приведённые системы сравниваются в одной постановке полного поиска на закрытом тестовом наборе.</a:t>
            </a:r>
          </a:p>
          <a:p xmlns:a="http://schemas.openxmlformats.org/drawingml/2006/main">
            <a:r>
              <a:t/>
            </a:r>
          </a:p>
          <a:p xmlns:a="http://schemas.openxmlformats.org/drawingml/2006/main">
            <a:r>
              <a:t>Их значения MRR@10 лежат между 0,436 и 0,450. Метрика усредняет обратную позицию первого релевантного ответа в первой десятке. Близость чисел сама по себе не доказывает ни эквивалентность систем, ни неполноту разметки. Она лишь мотивирует внимательнее посмотреть на основания сравнения. Дальше мы используем другие запросы и другую метрику, NDCG внутри размеченных пулов; напрямую сопоставлять эти числа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a:p xmlns:a="http://schemas.openxmlformats.org/drawingml/2006/main">
            <a:r>
              <a:t>Статус трека проверен 05.10.2026: https://microsoft.github.io/msmarco/ . Последнее обновление CSV: https://api.github.com/repos/microsoft/MSMARCO-Passage-Ranking-Submissions/commits?path=leaderboard%2Fleaderboard.csv&amp;per_page=1 . Две анонимные заявки с 0,439 не показаны; это не первые четыре места общего рейтинга.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Рассмотрим запрос: что вызывает повышение температуры кипения? Первый фрагмент говорит о добавлении соли и отмечен как релевантный в исходной разметке. Второй объясняет действие нелетучего растворённого вещества. Человек тоже признаёт его релевантным, но исходной оценки для него нет. Третий сообщает температуру кипения ацетона и не отвечает на вопрос о причине повышения.</a:t>
            </a:r>
          </a:p>
          <a:p xmlns:a="http://schemas.openxmlformats.org/drawingml/2006/main">
            <a:r>
              <a:t/>
            </a:r>
          </a:p>
          <a:p xmlns:a="http://schemas.openxmlformats.org/drawingml/2006/main">
            <a:r>
              <a:t>На слайде дан русский пересказ; оценки относятся к исходным английским текстам. Такие оценки обычно называют qrels. В нашем расчёте документ без оценки получает нулевой вклад. Поэтому полезный найденный ответ может не принести системе баллов. Важно различать отсутствие оценки и установленную нерелевантность: это разные состояния данных.</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В англоязычной коллекции MS MARCO около 8,84 миллиона фрагментов. Наше исследование состоит из двух частей. В ручной части рассматриваются 1179 запросов и примерно 34 тысячи пар «запрос и фрагмент». В масштабной части мы используем сохранённые предсказания модели-судьи для кандидатов по более чем ста тысячам запросов.</a:t>
            </a:r>
          </a:p>
          <a:p xmlns:a="http://schemas.openxmlformats.org/drawingml/2006/main">
            <a:r>
              <a:t/>
            </a:r>
          </a:p>
          <a:p xmlns:a="http://schemas.openxmlformats.org/drawingml/2006/main">
            <a:r>
              <a:t>Эти части дают разные основания для выводов. Первая показывает эффект человеческой доразметки при неизменных выдачах. Вторая позволяет менять глубину пула, но опирается на машинные метки. Под углублённой доразметкой мы понимаем оценивание многих кандидатов внутри заданного пула. Мы не утверждаем, что нашли и оценили все релевантные тексты во всём корпусе.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Ручной пул получен объединением нескольких списков с удалением дубликатов. BM25 ищет по лексическим совпадениям. E5 и BGE кодируют запрос и фрагмент отдельно и сравнивают их векторные представления. От каждого из этих методов в ручной пул входят десять результатов.</a:t>
            </a:r>
          </a:p>
          <a:p xmlns:a="http://schemas.openxmlformats.org/drawingml/2006/main">
            <a:r>
              <a:t/>
            </a:r>
          </a:p>
          <a:p xmlns:a="http://schemas.openxmlformats.org/drawingml/2006/main">
            <a:r>
              <a:t>Есть и дополнительные каналы отбора, включая E5-rerank и сходство с заранее известным релевантным ответом. Их не следует смешивать. Разметчик также видит этот ответ вместе с запросом и кандидатом. Таким образом, эталон влияет и на отбор текстов, и на условия человеческой оценки. В среднем получается около 29 кандидатов на запрос. Это целенаправленно обогащённая выборка, поэтому долю релевантных фрагментов в ней нельзя переносить на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Прежде чем смотреть результаты, поясню метрику. NDCG@10 оценивает первые десять позиций выдачи. У нас релевантность бинарная: обе положительные категории ручной разметки дают единицу. Чем выше стоит релевантный фрагмент, тем больше его вклад. Для первых трёх позиций веса примерно равны 1, 0,63 и 0,50. Это иллюстрация формулы, не отдельный эксперимент.</a:t>
            </a:r>
          </a:p>
          <a:p xmlns:a="http://schemas.openxmlformats.org/drawingml/2006/main">
            <a:r>
              <a:t/>
            </a:r>
          </a:p>
          <a:p xmlns:a="http://schemas.openxmlformats.org/drawingml/2006/main">
            <a:r>
              <a:t>Сумму таких вкладов делим на идеальную сумму для этого запроса, используя положительные метки всего оценочного пула. При фиксированном наборе меток идеальный знаменатель одинаков у всех систем. Но при расширении разметки он может измениться.</a:t>
            </a:r>
          </a:p>
          <a:p xmlns:a="http://schemas.openxmlformats.org/drawingml/2006/main">
            <a:r>
              <a:t/>
            </a:r>
          </a:p>
          <a:p xmlns:a="http://schemas.openxmlformats.org/drawingml/2006/main">
            <a:r>
              <a:t>Документ без оценки даёт нулевой вклад и остаётся на своей позиции: последующие результаты не сдвигаются вверх. Если положительных меток нет и идеальный знаменатель равен нулю, принимаем NDCG равной нулю. Такой запрос остаётся в общем среднем. Поэтому при сравнении глубин мы не подменяем набор запросов более удобной подвыборкой.</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Metric definition and evaluation convention: revision_2026/results/manual_summary.json, protocol. Illustrative three-position diagram; no experimental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Теперь вернёмся к ручной выборке. В тех же пулах исходные оценки дают в среднем чуть больше одного релевантного фрагмента на запрос, а после человеческой доразметки получается около семнадцати с половиной. Это показывает, сколько положительных ответов обнаруживается среди уже отобранных кандидатов.</a:t>
            </a:r>
          </a:p>
          <a:p xmlns:a="http://schemas.openxmlformats.org/drawingml/2006/main">
            <a:r>
              <a:t/>
            </a:r>
          </a:p>
          <a:p xmlns:a="http://schemas.openxmlformats.org/drawingml/2006/main">
            <a:r>
              <a:t>Рост не означает, что исходные положительные оценки были ошибочны. Многие другие фрагменты просто не имели оценки. Вместе с тем человеческая разметка здесь выполнена с опорой на известный ответ и принятый критерий релевантности. Независимое согласие разметчиков не измерялось. Для следующего сравнения сохраняем запросы, состав пулов и порядок результатов. Меняем только метки, по которым рассчитываем NDCG.</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графике показаны BM25, E5, BGE и RRF. Последний объединяет три поисковые выдачи по обратным рангам: использует позиции документов, а не исходные баллы моделей. При замене исходных оценок человеческими среднее значение NDCG растёт у всех четырёх систем.</a:t>
            </a:r>
          </a:p>
          <a:p xmlns:a="http://schemas.openxmlformats.org/drawingml/2006/main">
            <a:r>
              <a:t/>
            </a:r>
          </a:p>
          <a:p xmlns:a="http://schemas.openxmlformats.org/drawingml/2006/main">
            <a:r>
              <a:t>Для E5 оно меняется с 0,488 до 0,879. Средняя парная разность составляет 0,391, а её 95-процентный доверительный интервал лежит от 0,365 до 0,417. Интервал получен повторной выборкой запросов. Остальные значения не буду перечислять: важен общий характер изменения.</a:t>
            </a:r>
          </a:p>
          <a:p xmlns:a="http://schemas.openxmlformats.org/drawingml/2006/main">
            <a:r>
              <a:t/>
            </a:r>
          </a:p>
          <a:p xmlns:a="http://schemas.openxmlformats.org/drawingml/2006/main">
            <a:r>
              <a:t>Поисковые модели при этом не переобучались, и выдача не стала лучше. Изменилась её измеренная оценка. Порядок систем также сохранился: E5, затем RRF, BGE и BM25. Это результат для наших размеченных пулов, а не новое достижение в официальном лидерборде.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Оценивать вручную более глубокие пулы для большого числа запросов дорого. Поэтому мы дообучаем компактный кросс-энкодер MiniLM на человеческих метках и используем его как модель-судью. Она совместно обрабатывает текст запроса и текст кандидата, затем выдаёт балл, который сравнивается с выбранным порогом.</a:t>
            </a:r>
          </a:p>
          <a:p xmlns:a="http://schemas.openxmlformats.org/drawingml/2006/main">
            <a:r>
              <a:t/>
            </a:r>
          </a:p>
          <a:p xmlns:a="http://schemas.openxmlformats.org/drawingml/2006/main">
            <a:r>
              <a:t>Судья не получает известного релевантного ответа, рангов или баллов BM25, E5 и BGE. Он также не заменяет первый этап поиска: кандидатов по-прежнему находят поисковые системы. Его задача здесь только присвоить им псевдометки. Порог выбирается на валидационных запросах и далее фиксируется. Такое разделение ролей важно: качество генерации кандидатов и согласие судьи с человеком проверяются по-разному.</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Ручные данные разделены по запросам: все кандидаты одного запроса находятся в одной части. На тест приходятся 177 запросов, которые не использовались для нашего дообучения и выбора порога. На них ROC-AUC составляет 0,907, а F1 при выбранном пороге примерно 0,875.</a:t>
            </a:r>
          </a:p>
          <a:p xmlns:a="http://schemas.openxmlformats.org/drawingml/2006/main">
            <a:r>
              <a:t/>
            </a:r>
          </a:p>
          <a:p xmlns:a="http://schemas.openxmlformats.org/drawingml/2006/main">
            <a:r>
              <a:t>Эти показатели характеризуют согласие с человеческими метками внутри ручных пулов. Они не гарантируют такую же точность на глубоких пулах или отсутствие предпочтения к выдачам определённых систем.</a:t>
            </a:r>
          </a:p>
          <a:p xmlns:a="http://schemas.openxmlformats.org/drawingml/2006/main">
            <a:r>
              <a:t/>
            </a:r>
          </a:p>
          <a:p xmlns:a="http://schemas.openxmlformats.org/drawingml/2006/main">
            <a:r>
              <a:t>Есть и граница понятия «отложенные»: базовая модель уже обучалась на MS MARCO. Наше разбиение контролирует локальное дообучение, но не доказывает отсутствие пересечений на всех предшествующих этапах. Поэтому далее говорим об оценивании по одному конкретному судье, а не о независимой человеческой проверке.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масштабной части объединяем первые K результатов BM25, E5 и BGE. K обозначает глубину каждого исходного списка, а не число уникальных кандидатов после удаления повторов. Предсказания судьи и порог решения при изменении глубины остаются теми же.</a:t>
            </a:r>
          </a:p>
          <a:p xmlns:a="http://schemas.openxmlformats.org/drawingml/2006/main">
            <a:r>
              <a:t/>
            </a:r>
          </a:p>
          <a:p xmlns:a="http://schemas.openxmlformats.org/drawingml/2006/main">
            <a:r>
              <a:t>Когда K увеличивается от десяти до двухсот, средний пул растёт примерно от 22 до 452 кандидатов. Положительных псевдометок становится больше: примерно от 14 до 129 на запрос. Во всех средних учитываются и запросы без положительных меток.</a:t>
            </a:r>
          </a:p>
          <a:p xmlns:a="http://schemas.openxmlformats.org/drawingml/2006/main">
            <a:r>
              <a:t/>
            </a:r>
          </a:p>
          <a:p xmlns:a="http://schemas.openxmlformats.org/drawingml/2006/main">
            <a:r>
              <a:t>Такой рост нельзя читать как оценку полного числа правильных ответов в коллекции. Мы предъявляем судье больше отобранных текстов и получаем больше положительных решений. Это характеристика данного протокола.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сравнения RRF с E5 нужно различить два параметра. K задаёт глубину оценочного пула. L задаёт глубину списков, которые поступают на слияние RRF. В этом опыте они меняются вместе: L равно K. Следовательно, меняются и доступные метки, и сама объединённая выдача.</a:t>
            </a:r>
          </a:p>
          <a:p xmlns:a="http://schemas.openxmlformats.org/drawingml/2006/main">
            <a:r>
              <a:t/>
            </a:r>
          </a:p>
          <a:p xmlns:a="http://schemas.openxmlformats.org/drawingml/2006/main">
            <a:r>
              <a:t>При минимальной глубине RRF уступает E5, а на больших глубинах разность становится положительной. При K, равном двумстам, она составляет около 0,0088. Это небольшой эффект, хотя парный доверительный интервал не включает ноль.</a:t>
            </a:r>
          </a:p>
          <a:p xmlns:a="http://schemas.openxmlformats.org/drawingml/2006/main">
            <a:r>
              <a:t/>
            </a:r>
          </a:p>
          <a:p xmlns:a="http://schemas.openxmlformats.org/drawingml/2006/main">
            <a:r>
              <a:t>Интервал условен относительно фиксированного судьи и не учитывает ошибки его разметки или неопределённость обучения. По этому опыту нельзя отдельно приписать эффект изменению охвата разметки или входных списков RRF. Для этого нужен следующий контроль.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Теперь RRF всегда объединяет первые двести результатов каждого источника. Его топ-10 и топ-10 E5 фиксированы. Меняем только глубину оценочного пула. При K, равном десяти, разность RRF минус E5 составляет минус 0,0661, а при K, равном тридцати, уже плюс 0,0080.</a:t>
            </a:r>
          </a:p>
          <a:p xmlns:a="http://schemas.openxmlformats.org/drawingml/2006/main">
            <a:r>
              <a:t/>
            </a:r>
          </a:p>
          <a:p xmlns:a="http://schemas.openxmlformats.org/drawingml/2006/main">
            <a:r>
              <a:t>Откуда изменение? Топ-10 E5 целиком входит в пул уже при K, равном десяти. У фиксированного RRF за его пределами остаются 14,4 процента пар из первой десятки. Пока оценки нет, их вклад нулевой. Расширение пула открывает эти оценки, а также может увеличить общий идеальный знаменатель. Поэтому NDCG E5 может снижаться при неизменных выдаче и DCG.</a:t>
            </a:r>
          </a:p>
          <a:p xmlns:a="http://schemas.openxmlformats.org/drawingml/2006/main">
            <a:r>
              <a:t/>
            </a:r>
          </a:p>
          <a:p xmlns:a="http://schemas.openxmlformats.org/drawingml/2006/main">
            <a:r>
              <a:t>Получается, измеряемый порядок систем меняется без изменения поиска. Но небольшое среднее преимущество RRF не означает выигрыша на большинстве запросов: при максимальной глубине больше половины сравнений дают равенство. Тем более это не доказательство заметного улучшения пользовательского опыта.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Мы проверили чувствительность к двум исключениям. Удаление 23 ручных запросов с неясными категориями или пустыми текстами не меняет порядок систем. Большой набор включает все 1179 ручных запросов, в том числе использованные при дообучении судьи. После исключения всей этой группы остаётся 99 914 запросов, и знаки различий RRF и E5 сохраняются на проверенных глубинах.</a:t>
            </a:r>
          </a:p>
          <a:p xmlns:a="http://schemas.openxmlformats.org/drawingml/2006/main">
            <a:r>
              <a:t/>
            </a:r>
          </a:p>
          <a:p xmlns:a="http://schemas.openxmlformats.org/drawingml/2006/main">
            <a:r>
              <a:t>Эта проверка снижает опасение, что результат объясняется только пересечением запросов. Однако независимых человеческих оценок глубоких пулов она не добавляет. Судья остаётся один, а ручная разметка использует эталонный ответ. При пересчёте проверены сохранённые баллы; повторное обучение судьи не выполнялось.</a:t>
            </a:r>
          </a:p>
          <a:p xmlns:a="http://schemas.openxmlformats.org/drawingml/2006/main">
            <a:r>
              <a:t/>
            </a:r>
          </a:p>
          <a:p xmlns:a="http://schemas.openxmlformats.org/drawingml/2006/main">
            <a:r>
              <a:t>Выводы относятся к выбранным английским пулам, конкретным версиям E5, BGE и MiniLM. Перенос численных эффектов на другие языки, домены и модели пока не проверен.</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Итак, два результата. Первый: дополнительная человеческая разметка существенно меняет измеренную оценку уже полученной выдачи, хотя сама поисковая система не меняется. Второй: в опыте с фиксированными выдачами расширение пула меняет даже порядок RRF и E5 по псевдометкам одного судьи.</a:t>
            </a:r>
          </a:p>
          <a:p xmlns:a="http://schemas.openxmlformats.org/drawingml/2006/main">
            <a:r>
              <a:t/>
            </a:r>
          </a:p>
          <a:p xmlns:a="http://schemas.openxmlformats.org/drawingml/2006/main">
            <a:r>
              <a:t>Поэтому вместе с метрикой нужно сообщать состав пула, источник меток и настройки слияния. Следующий шаг мы рассматриваем как офлайн-разметку: сравнить более сильных судей с доступом к известному релевантному ответу и без него, проверяя решения по независимым человеческим оценкам. Это план исследования, а не уже полученный результат и не предложение давать эталон обычной поисковой системе.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докладе представлены уточнённые расчёты по сохранённым результатам. Единый набор запросов, общий IDCG для всех систем при заданных метках и явные настройки RRF отличаются от раннего расчёта. Поэтому и числа, и вывод о RRF отличаются от редакторской версии статьи. Ручные категории 1 и 2 бинаризуются как положительные; остальные не дают положительного вклада. Неоценённые документы не удаляются из выдачи. При нулевом IDCG NDCG равна нулю, запрос остаётся в среднем. Ручные входы RRF top-10, большой эксперимент сравнивает L=K и L=200, константа c=60. Ретриверы e5-small-v2 и bge-small-en-v1.5. Пересчёт проверяет сохранённые ранги и баллы; новое обучение судьи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Revision scope: original_based_2026/ПОЯСНЕНИЕ.md. Corrected protocol: revision_2026/manual_eval.py and revision_2026/fullset_eval.py.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Дополнительная диагностика отвечает на вопрос о судье как ранжирующей модели. На 177 отложенных запросах сортируем все кандидаты ручного пула по сохранённым баллам судьи. NDCG по исходным меткам равна 0,5118, по человеческим 0,9384. Это переупорядочивание уже отобранного, обогащённого с помощью известного ответа пула, а не первый этап поиска по корпусу. Поэтому эти значения нельзя сопоставлять с полно-корпусным leaderboard или средними других моделей на 1179 запросах. Этим результатом нельзя обосновать качество судьи в новых глубоких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reranking values: manual_summary.json, judge_rerank_heldout. These diagnostics use saved scores, not a fresh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3bc0c5c1751641bb"/></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47dcbd6bdef740af"/><Relationship Type="http://schemas.openxmlformats.org/officeDocument/2006/relationships/slideLayout" Target="/ppt/slideLayouts/slideLayout1.xml" Id="R7babb85b551845e8"/></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abb85b551845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c9f44f38acfc47f3"/><Relationship Type="http://schemas.openxmlformats.org/officeDocument/2006/relationships/image" Target="/ppt/media/image.png" Id="R350147f95fbf48cb"/><Relationship Type="http://schemas.openxmlformats.org/officeDocument/2006/relationships/notesSlide" Target="/ppt/notesSlides/notesSlide1.xml" Id="R7efb61f684af4af4"/></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713ff6e85517408c"/><Relationship Type="http://schemas.openxmlformats.org/officeDocument/2006/relationships/notesSlide" Target="/ppt/notesSlides/notesSlide2.xml" Id="R16d4037544d74ac1"/></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d2656ba18ec4d30"/><Relationship Type="http://schemas.openxmlformats.org/officeDocument/2006/relationships/chart" Target="/ppt/slides/charts/chart1.xml" Id="Rc87c3458b62b47b2"/><Relationship Type="http://schemas.openxmlformats.org/officeDocument/2006/relationships/notesSlide" Target="/ppt/notesSlides/notesSlide3.xml" Id="R09633a281d3449c7"/></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e921c990a6cf487b"/><Relationship Type="http://schemas.openxmlformats.org/officeDocument/2006/relationships/notesSlide" Target="/ppt/notesSlides/notesSlide4.xml" Id="Rf6e4f1a763eb497f"/></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ec0ed69cb6b34aa1"/><Relationship Type="http://schemas.openxmlformats.org/officeDocument/2006/relationships/notesSlide" Target="/ppt/notesSlides/notesSlide5.xml" Id="Rd7226249edaf49a0"/></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570084cb298b43d8"/><Relationship Type="http://schemas.openxmlformats.org/officeDocument/2006/relationships/notesSlide" Target="/ppt/notesSlides/notesSlide6.xml" Id="R271348590ab3412b"/></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952badf132a743bc"/><Relationship Type="http://schemas.openxmlformats.org/officeDocument/2006/relationships/notesSlide" Target="/ppt/notesSlides/notesSlide7.xml" Id="Rf87a3cc9b1c641f0"/></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b21fc5f3e1947e2"/><Relationship Type="http://schemas.openxmlformats.org/officeDocument/2006/relationships/notesSlide" Target="/ppt/notesSlides/notesSlide8.xml" Id="R1ccbbaeae7d04e61"/></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d9fe6d0a693949f6"/><Relationship Type="http://schemas.openxmlformats.org/officeDocument/2006/relationships/chart" Target="/ppt/slides/charts/chart2.xml" Id="R1aee1200368f4a4e"/><Relationship Type="http://schemas.openxmlformats.org/officeDocument/2006/relationships/notesSlide" Target="/ppt/notesSlides/notesSlide9.xml" Id="R0ccbfe5110dc4dd2"/></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381c509c84ae48f6"/><Relationship Type="http://schemas.openxmlformats.org/officeDocument/2006/relationships/notesSlide" Target="/ppt/notesSlides/notesSlide10.xml" Id="R6ca67a816bae4401"/></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e8d02f505fb4615"/><Relationship Type="http://schemas.openxmlformats.org/officeDocument/2006/relationships/chart" Target="/ppt/slides/charts/chart3.xml" Id="R5989759e448e47b9"/><Relationship Type="http://schemas.openxmlformats.org/officeDocument/2006/relationships/notesSlide" Target="/ppt/notesSlides/notesSlide11.xml" Id="R6ad3b8efcba14582"/></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a0dac649ab6d45cd"/><Relationship Type="http://schemas.openxmlformats.org/officeDocument/2006/relationships/chart" Target="/ppt/slides/charts/chart4.xml" Id="R69bde166b7664bd7"/><Relationship Type="http://schemas.openxmlformats.org/officeDocument/2006/relationships/notesSlide" Target="/ppt/notesSlides/notesSlide12.xml" Id="R454da4c7ee1b4710"/></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f16c18b5e9ec4ccc"/><Relationship Type="http://schemas.openxmlformats.org/officeDocument/2006/relationships/chart" Target="/ppt/slides/charts/chart5.xml" Id="R576e269ae42f4f97"/><Relationship Type="http://schemas.openxmlformats.org/officeDocument/2006/relationships/notesSlide" Target="/ppt/notesSlides/notesSlide13.xml" Id="R3edc65cee4944939"/></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594cfdbfbfce4eec"/><Relationship Type="http://schemas.openxmlformats.org/officeDocument/2006/relationships/chart" Target="/ppt/slides/charts/chart6.xml" Id="Raec24afd97f945d7"/><Relationship Type="http://schemas.openxmlformats.org/officeDocument/2006/relationships/notesSlide" Target="/ppt/notesSlides/notesSlide14.xml" Id="R80f16e0e6cd342f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475dd6a61974f5a"/><Relationship Type="http://schemas.openxmlformats.org/officeDocument/2006/relationships/notesSlide" Target="/ppt/notesSlides/notesSlide15.xml" Id="R41c65763f3c54b5f"/></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1fa37093193f41b7"/><Relationship Type="http://schemas.openxmlformats.org/officeDocument/2006/relationships/notesSlide" Target="/ppt/notesSlides/notesSlide16.xml" Id="Rbfce53cda4174d36"/></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0803affb205d4c8e"/><Relationship Type="http://schemas.openxmlformats.org/officeDocument/2006/relationships/notesSlide" Target="/ppt/notesSlides/notesSlide17.xml" Id="Rc5ef7826ecc3482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0da5186b6f34953"/><Relationship Type="http://schemas.openxmlformats.org/officeDocument/2006/relationships/notesSlide" Target="/ppt/notesSlides/notesSlide18.xml" Id="Rd047f8ec03914c83"/></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9aed77393d454ffe"/><Relationship Type="http://schemas.openxmlformats.org/officeDocument/2006/relationships/notesSlide" Target="/ppt/notesSlides/notesSlide19.xml" Id="Ra00cb155b27144c9"/></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99350f3b8f5e47e0"/><Relationship Type="http://schemas.openxmlformats.org/officeDocument/2006/relationships/notesSlide" Target="/ppt/notesSlides/notesSlide20.xml" Id="R381fbee3939f4eff"/></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be5ce0467a354cfb"/><Relationship Type="http://schemas.openxmlformats.org/officeDocument/2006/relationships/notesSlide" Target="/ppt/notesSlides/notesSlide21.xml" Id="R20c7661492b54de7"/></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fe9a76b0e57c430a"/><Relationship Type="http://schemas.openxmlformats.org/officeDocument/2006/relationships/notesSlide" Target="/ppt/notesSlides/notesSlide22.xml" Id="Ra22a91fe0c384c6a"/></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_rels/chart6.xml.rels><?xml version='1.0' encoding='UTF-8' standalone='yes'?>
<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MRR@10</c:v>
          </c:tx>
          <c:spPr>
            <a:solidFill xmlns:a="http://schemas.openxmlformats.org/drawingml/2006/main">
              <a:srgbClr val="007D76"/>
            </a:solidFill>
            <a:ln xmlns:a="http://schemas.openxmlformats.org/drawingml/2006/main" w="0">
              <a:noFill/>
            </a:ln>
          </c:spPr>
          <c:cat>
            <c:strRef>
              <c:f>'Chart Data'!$A$2:$A$5</c:f>
              <c:strCache>
                <c:ptCount val="4"/>
                <c:pt idx="0">
                  <c:v>Lichee + DeBERTa</c:v>
                </c:pt>
                <c:pt idx="1">
                  <c:v>CoT-MAE</c:v>
                </c:pt>
                <c:pt idx="2">
                  <c:v>Listwise + Fusion</c:v>
                </c:pt>
                <c:pt idx="3">
                  <c:v>AliceMind SLM + HLAR</c:v>
                </c:pt>
              </c:strCache>
            </c:strRef>
          </c:cat>
          <c:val>
            <c:numRef>
              <c:f>'Chart Data'!$B$2:$B$5</c:f>
              <c:numCache>
                <c:formatCode>0.000</c:formatCode>
                <c:ptCount val="4"/>
                <c:pt idx="0">
                  <c:v>0.436</c:v>
                </c:pt>
                <c:pt idx="1">
                  <c:v>0.438</c:v>
                </c:pt>
                <c:pt idx="2">
                  <c:v>0.44</c:v>
                </c:pt>
                <c:pt idx="3">
                  <c:v>0.45</c:v>
                </c:pt>
              </c:numCache>
            </c:numRef>
          </c:val>
        </c:ser>
        <c:dLbls>
          <c:txPr>
            <a:bodyPr xmlns:a="http://schemas.openxmlformats.org/drawingml/2006/main" anchorCtr="1"/>
            <a:lstStyle xmlns:a="http://schemas.openxmlformats.org/drawingml/2006/main"/>
            <a:p xmlns:a="http://schemas.openxmlformats.org/drawingml/2006/main">
              <a:pPr>
                <a:defRPr sz="187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0.5"/>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7E8B91"/>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D76"/>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7E0E0"/>
            </a:solidFill>
            <a:ln xmlns:a="http://schemas.openxmlformats.org/drawingml/2006/main" w="12383">
              <a:solidFill>
                <a:srgbClr val="7E8B91"/>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D76"/>
            </a:solidFill>
            <a:ln xmlns:a="http://schemas.openxmlformats.org/drawingml/2006/main" w="33338">
              <a:solidFill>
                <a:srgbClr val="007D76"/>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64F37"/>
            </a:solidFill>
            <a:ln xmlns:a="http://schemas.openxmlformats.org/drawingml/2006/main" w="0">
              <a:noFill/>
            </a:ln>
          </c:spPr>
          <c:marker>
            <c:symbol val="circle"/>
            <c:size val="11"/>
            <c:spPr>
              <a:solidFill xmlns:a="http://schemas.openxmlformats.org/drawingml/2006/main">
                <a:srgbClr val="C64F37"/>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E8B91"/>
            </a:solidFill>
            <a:ln xmlns:a="http://schemas.openxmlformats.org/drawingml/2006/main" w="28575">
              <a:solidFill>
                <a:srgbClr val="7E8B91"/>
              </a:solidFill>
            </a:ln>
          </c:spPr>
          <c:marker>
            <c:symbol val="circle"/>
            <c:size val="8"/>
            <c:spPr>
              <a:solidFill xmlns:a="http://schemas.openxmlformats.org/drawingml/2006/main">
                <a:srgbClr val="7E8B91"/>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64F37"/>
            </a:solidFill>
            <a:ln xmlns:a="http://schemas.openxmlformats.org/drawingml/2006/main" w="28575">
              <a:solidFill>
                <a:srgbClr val="C64F37"/>
              </a:solidFill>
            </a:ln>
          </c:spPr>
          <c:marker>
            <c:symbol val="circle"/>
            <c:size val="8"/>
            <c:spPr>
              <a:solidFill xmlns:a="http://schemas.openxmlformats.org/drawingml/2006/main">
                <a:srgbClr val="C64F37"/>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0E0"/>
              </a:solidFill>
            </a:ln>
          </c:spPr>
        </c:majorGridlines>
        <c:numFmt formatCode="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5240">
              <a:solidFill>
                <a:srgbClr val="7E8B91"/>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64F37"/>
            </a:solidFill>
            <a:ln xmlns:a="http://schemas.openxmlformats.org/drawingml/2006/main" w="24765">
              <a:solidFill>
                <a:srgbClr val="C64F37"/>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64F37"/>
            </a:solidFill>
            <a:ln xmlns:a="http://schemas.openxmlformats.org/drawingml/2006/main" w="24765">
              <a:solidFill>
                <a:srgbClr val="C64F37"/>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64F37"/>
            </a:solidFill>
            <a:ln xmlns:a="http://schemas.openxmlformats.org/drawingml/2006/main" w="24765">
              <a:solidFill>
                <a:srgbClr val="C64F37"/>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64F37"/>
            </a:solidFill>
            <a:ln xmlns:a="http://schemas.openxmlformats.org/drawingml/2006/main" w="24765">
              <a:solidFill>
                <a:srgbClr val="C64F37"/>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64F37"/>
            </a:solidFill>
            <a:ln xmlns:a="http://schemas.openxmlformats.org/drawingml/2006/main" w="24765">
              <a:solidFill>
                <a:srgbClr val="C64F37"/>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1646A"/>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64F37"/>
            </a:solidFill>
            <a:ln xmlns:a="http://schemas.openxmlformats.org/drawingml/2006/main" w="0">
              <a:noFill/>
            </a:ln>
          </c:spPr>
          <c:marker>
            <c:symbol val="circle"/>
            <c:size val="4"/>
            <c:spPr>
              <a:solidFill xmlns:a="http://schemas.openxmlformats.org/drawingml/2006/main">
                <a:srgbClr val="C64F37"/>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64F37"/>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3335">
              <a:solidFill>
                <a:srgbClr val="7E8B91"/>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D76"/>
            </a:solidFill>
            <a:ln xmlns:a="http://schemas.openxmlformats.org/drawingml/2006/main" w="28575">
              <a:solidFill>
                <a:srgbClr val="007D76"/>
              </a:solidFill>
            </a:ln>
          </c:spPr>
          <c:marker>
            <c:symbol val="circle"/>
            <c:size val="3"/>
            <c:spPr>
              <a:solidFill xmlns:a="http://schemas.openxmlformats.org/drawingml/2006/main">
                <a:srgbClr val="007D76"/>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D76"/>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F0C55829-243F-4B6C-B1D0-1CFD3FCEBC9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50147f95fbf48c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0D0F5D20-2F60-4EA0-9BAD-1C6DF4B4D50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Оценка поиска&#10;на MS MARCO">
            <a:extLst xmlns:a="http://schemas.openxmlformats.org/drawingml/2006/main">
              <a:ext uri="{FF2B5EF4-FFF2-40B4-BE49-F238E27FC236}">
                <a16:creationId xmlns:a16="http://schemas.microsoft.com/office/drawing/2014/main" id="{949DCEF2-3FC0-427B-BDAE-A14321569F96}"/>
              </a:ext>
            </a:extLst>
          </p:cNvPr>
          <p:cNvSpPr>
            <a:spLocks xmlns:a="http://schemas.openxmlformats.org/drawingml/2006/main" noGrp="1"/>
          </p:cNvSpPr>
          <p:nvPr/>
        </p:nvSpPr>
        <p:spPr>
          <a:xfrm xmlns:a="http://schemas.openxmlformats.org/drawingml/2006/main">
            <a:off x="609600" y="1381125"/>
            <a:ext cx="776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Оценка поиска</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на MS MARCO</a:t>
            </a:r>
          </a:p>
        </p:txBody>
      </p:sp>
      <p:sp>
        <p:nvSpPr>
          <p:cNvPr id="5" name="Доразметка и контролируемые&#10;пулы кандидатов">
            <a:extLst xmlns:a="http://schemas.openxmlformats.org/drawingml/2006/main">
              <a:ext uri="{FF2B5EF4-FFF2-40B4-BE49-F238E27FC236}">
                <a16:creationId xmlns:a16="http://schemas.microsoft.com/office/drawing/2014/main" id="{956264AF-C9E4-4D8C-B861-B084E1638B5C}"/>
              </a:ext>
            </a:extLst>
          </p:cNvPr>
          <p:cNvSpPr>
            <a:spLocks xmlns:a="http://schemas.openxmlformats.org/drawingml/2006/main" noGrp="1"/>
          </p:cNvSpPr>
          <p:nvPr/>
        </p:nvSpPr>
        <p:spPr>
          <a:xfrm xmlns:a="http://schemas.openxmlformats.org/drawingml/2006/main">
            <a:off x="609600" y="3495675"/>
            <a:ext cx="752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Доразметка и контролируемые</a:t>
            </a:r>
          </a:p>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пулы кандидатов</a:t>
            </a:r>
          </a:p>
        </p:txBody>
      </p:sp>
      <p:sp>
        <p:nvSpPr>
          <p:cNvPr id="6" name="Как меняется оценка неизменной выдачи">
            <a:extLst xmlns:a="http://schemas.openxmlformats.org/drawingml/2006/main">
              <a:ext uri="{FF2B5EF4-FFF2-40B4-BE49-F238E27FC236}">
                <a16:creationId xmlns:a16="http://schemas.microsoft.com/office/drawing/2014/main" id="{B4FBD16D-FFC8-4A08-BED5-4D878E7288FA}"/>
              </a:ext>
            </a:extLst>
          </p:cNvPr>
          <p:cNvSpPr>
            <a:spLocks xmlns:a="http://schemas.openxmlformats.org/drawingml/2006/main" noGrp="1"/>
          </p:cNvSpPr>
          <p:nvPr/>
        </p:nvSpPr>
        <p:spPr>
          <a:xfrm xmlns:a="http://schemas.openxmlformats.org/drawingml/2006/main">
            <a:off x="609600" y="4552950"/>
            <a:ext cx="752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8ACEC4"/>
                </a:solidFill>
                <a:latin typeface="Arial"/>
                <a:ea typeface="Arial"/>
                <a:cs typeface="Arial"/>
              </a:defRPr>
            </a:pPr>
            <a:r>
              <a:rPr sz="2025" b="0">
                <a:solidFill>
                  <a:srgbClr val="8ACEC4"/>
                </a:solidFill>
                <a:latin typeface="Arial"/>
                <a:ea typeface="Arial"/>
                <a:cs typeface="Arial"/>
              </a:rPr>
              <a:t>Как меняется оценка неизменной выдачи</a:t>
            </a:r>
          </a:p>
        </p:txBody>
      </p:sp>
      <p:sp>
        <p:nvSpPr>
          <p:cNvPr id="7" name=", ,&#10; Лукашеви">
            <a:extLst xmlns:a="http://schemas.openxmlformats.org/drawingml/2006/main">
              <a:ext uri="{FF2B5EF4-FFF2-40B4-BE49-F238E27FC236}">
                <a16:creationId xmlns:a16="http://schemas.microsoft.com/office/drawing/2014/main" id="{4B01D48A-FF97-420E-970A-827EE7CF45B5}"/>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8" name="">
            <a:extLst xmlns:a="http://schemas.openxmlformats.org/drawingml/2006/main">
              <a:ext uri="{FF2B5EF4-FFF2-40B4-BE49-F238E27FC236}">
                <a16:creationId xmlns:a16="http://schemas.microsoft.com/office/drawing/2014/main" id="{A4E7004C-02D8-455C-B215-09306B931731}"/>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4310385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очему MS MARCO">
            <a:extLst xmlns:a="http://schemas.openxmlformats.org/drawingml/2006/main">
              <a:ext uri="{FF2B5EF4-FFF2-40B4-BE49-F238E27FC236}">
                <a16:creationId xmlns:a16="http://schemas.microsoft.com/office/drawing/2014/main" id="{E993434E-17FA-4C84-BF2D-4B4B83174CE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Почему MS MARCO</a:t>
            </a:r>
          </a:p>
        </p:txBody>
      </p:sp>
      <p:sp>
        <p:nvSpPr>
          <p:cNvPr id="2" name="02">
            <a:extLst xmlns:a="http://schemas.openxmlformats.org/drawingml/2006/main">
              <a:ext uri="{FF2B5EF4-FFF2-40B4-BE49-F238E27FC236}">
                <a16:creationId xmlns:a16="http://schemas.microsoft.com/office/drawing/2014/main" id="{362EE4F7-9CC6-43A2-864A-1CF70458165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02</a:t>
            </a:r>
          </a:p>
        </p:txBody>
      </p:sp>
      <p:sp>
        <p:nvSpPr>
          <p:cNvPr id="3" name="Разные коллекции отвечают на разные вопросы о ка">
            <a:extLst xmlns:a="http://schemas.openxmlformats.org/drawingml/2006/main">
              <a:ext uri="{FF2B5EF4-FFF2-40B4-BE49-F238E27FC236}">
                <a16:creationId xmlns:a16="http://schemas.microsoft.com/office/drawing/2014/main" id="{68967DF1-5BD9-4013-9A54-F06FA9BB497D}"/>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Разные коллекции отвечают на разные вопросы о качестве поиска</a:t>
            </a:r>
          </a:p>
        </p:txBody>
      </p:sp>
      <p:graphicFrame>
        <p:nvGraphicFramePr>
          <p:cNvPr id="11" name=""/>
          <p:cNvGraphicFramePr/>
          <p:nvPr/>
        </p:nvGraphicFramePr>
        <p:xfrm>
          <a:off xmlns:a="http://schemas.openxmlformats.org/drawingml/2006/main" x="609600" y="2200275"/>
          <a:ext xmlns:a="http://schemas.openxmlformats.org/drawingml/2006/main" cx="10972800" cy="2695575"/>
        </p:xfrm>
        <a:graphic xmlns:a="http://schemas.openxmlformats.org/drawingml/2006/main">
          <a:graphicData uri="http://schemas.openxmlformats.org/drawingml/2006/table">
            <a:tbl>
              <a:tblPr firstRow="0" bandRow="0" bandCol="0"/>
              <a:tblGrid>
                <a:gridCol w="3190875"/>
                <a:gridCol w="7781925"/>
              </a:tblGrid>
              <a:tr h="523875">
                <a:tc>
                  <a:txBody>
                    <a:bodyPr lIns="171450" tIns="95250" rIns="171450" bIns="95250">
                      <a:noAutofit/>
                    </a:bodyPr>
                    <a:lstStyle/>
                    <a:p>
                      <a:r>
                        <a:rPr sz="1875" b="1">
                          <a:solidFill>
                            <a:srgbClr val="51646A"/>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Что позволяет проверить</a:t>
                      </a:r>
                    </a:p>
                  </a:txBody>
                  <a:tcPr marL="91440" marR="91440" marT="45720" marB="45720" anchor="ctr">
                    <a:lnL w="0">
                      <a:noFill/>
                    </a:lnL>
                    <a:lnR w="0">
                      <a:noFill/>
                    </a:lnR>
                    <a:lnT w="0">
                      <a:noFill/>
                    </a:lnT>
                    <a:lnB w="7620">
                      <a:solidFill>
                        <a:srgbClr val="D4E1E0"/>
                      </a:solidFill>
                    </a:lnB>
                    <a:solidFill>
                      <a:srgbClr val="F0F4F4"/>
                    </a:solidFill>
                  </a:tcPr>
                </a:tc>
              </a:tr>
              <a:tr h="666750">
                <a:tc>
                  <a:txBody>
                    <a:bodyPr lIns="171450" tIns="95250" rIns="171450" bIns="95250">
                      <a:noAutofit/>
                    </a:bodyPr>
                    <a:lstStyle/>
                    <a:p>
                      <a:r>
                        <a:rPr sz="2025" b="0">
                          <a:solidFill>
                            <a:srgbClr val="17282B"/>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Ответы на реальные запросы Google</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2025" b="0">
                          <a:solidFill>
                            <a:srgbClr val="17282B"/>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Перенос между задачами и доменами</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2025" b="1">
                          <a:solidFill>
                            <a:srgbClr val="007D76"/>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007D76"/>
                          </a:solidFill>
                          <a:latin typeface="Arial"/>
                          <a:ea typeface="Arial"/>
                          <a:cs typeface="Arial"/>
                        </a:rPr>
                        <a:t>Ранжирование веб-фрагментов для запросов Bing</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5" name="Открытые тексты + неполные оценки релевантности">
            <a:extLst xmlns:a="http://schemas.openxmlformats.org/drawingml/2006/main">
              <a:ext uri="{FF2B5EF4-FFF2-40B4-BE49-F238E27FC236}">
                <a16:creationId xmlns:a16="http://schemas.microsoft.com/office/drawing/2014/main" id="{BEC4E094-46D3-42B4-AEA7-1B3DCA6B4512}"/>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Открытые тексты + неполные оценки релевантности</a:t>
            </a:r>
          </a:p>
        </p:txBody>
      </p:sp>
      <p:sp>
        <p:nvSpPr>
          <p:cNvPr id="6" name="Подходящая постановка для изучения эффекта дораз">
            <a:extLst xmlns:a="http://schemas.openxmlformats.org/drawingml/2006/main">
              <a:ext uri="{FF2B5EF4-FFF2-40B4-BE49-F238E27FC236}">
                <a16:creationId xmlns:a16="http://schemas.microsoft.com/office/drawing/2014/main" id="{200762B2-BBA6-4D22-8C7A-3D025D9DE86F}"/>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82B"/>
                </a:solidFill>
                <a:latin typeface="Arial"/>
                <a:ea typeface="Arial"/>
                <a:cs typeface="Arial"/>
              </a:defRPr>
            </a:pPr>
            <a:r>
              <a:rPr sz="1950" b="0">
                <a:solidFill>
                  <a:srgbClr val="17282B"/>
                </a:solidFill>
                <a:latin typeface="Arial"/>
                <a:ea typeface="Arial"/>
                <a:cs typeface="Arial"/>
              </a:rPr>
              <a:t>Подходящая постановка для изучения эффекта доразметки</a:t>
            </a:r>
          </a:p>
        </p:txBody>
      </p:sp>
      <p:sp>
        <p:nvSpPr>
          <p:cNvPr id="7" name="Источники: Bajaj и др., 2016/2018; Kwiatkowski и">
            <a:extLst xmlns:a="http://schemas.openxmlformats.org/drawingml/2006/main">
              <a:ext uri="{FF2B5EF4-FFF2-40B4-BE49-F238E27FC236}">
                <a16:creationId xmlns:a16="http://schemas.microsoft.com/office/drawing/2014/main" id="{BD01AAA4-D221-4163-9B63-706B5AB488E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3275302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метрики в официальном лидерборде">
            <a:extLst xmlns:a="http://schemas.openxmlformats.org/drawingml/2006/main">
              <a:ext uri="{FF2B5EF4-FFF2-40B4-BE49-F238E27FC236}">
                <a16:creationId xmlns:a16="http://schemas.microsoft.com/office/drawing/2014/main" id="{DB657D26-C5DC-42C6-85C1-AD2FE2814DAF}"/>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Близкие метрики в официальном лидерборде</a:t>
            </a:r>
          </a:p>
        </p:txBody>
      </p:sp>
      <p:sp>
        <p:nvSpPr>
          <p:cNvPr id="2" name="03">
            <a:extLst xmlns:a="http://schemas.openxmlformats.org/drawingml/2006/main">
              <a:ext uri="{FF2B5EF4-FFF2-40B4-BE49-F238E27FC236}">
                <a16:creationId xmlns:a16="http://schemas.microsoft.com/office/drawing/2014/main" id="{DD1D40AA-BE93-4748-9F6E-01A98B86DFB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03</a:t>
            </a:r>
          </a:p>
        </p:txBody>
      </p:sp>
      <p:sp>
        <p:nvSpPr>
          <p:cNvPr id="3" name="MS MARCO Passage Ranking · полный поиск · закрыт">
            <a:extLst xmlns:a="http://schemas.openxmlformats.org/drawingml/2006/main">
              <a:ext uri="{FF2B5EF4-FFF2-40B4-BE49-F238E27FC236}">
                <a16:creationId xmlns:a16="http://schemas.microsoft.com/office/drawing/2014/main" id="{C5E5BA71-A99F-46A6-AF82-646401521F5C}"/>
              </a:ext>
            </a:extLst>
          </p:cNvPr>
          <p:cNvSpPr>
            <a:spLocks xmlns:a="http://schemas.openxmlformats.org/drawingml/2006/main" noGrp="1"/>
          </p:cNvSpPr>
          <p:nvPr/>
        </p:nvSpPr>
        <p:spPr>
          <a:xfrm xmlns:a="http://schemas.openxmlformats.org/drawingml/2006/main">
            <a:off x="609600" y="1495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MS MARCO Passage Ranking · полный поиск · закрытый eval</a:t>
            </a:r>
          </a:p>
        </p:txBody>
      </p:sp>
      <p:graphicFrame>
        <p:nvGraphicFramePr>
          <p:cNvPr id="13" name="Chart"/>
          <p:cNvGraphicFramePr/>
          <p:nvPr/>
        </p:nvGraphicFramePr>
        <p:xfrm>
          <a:off xmlns:a="http://schemas.openxmlformats.org/drawingml/2006/main" x="609600" y="2114550"/>
          <a:ext xmlns:a="http://schemas.openxmlformats.org/drawingml/2006/main" cx="8763000" cy="3133725"/>
        </p:xfrm>
        <a:graphic xmlns:a="http://schemas.openxmlformats.org/drawingml/2006/main">
          <a:graphicData uri="http://schemas.openxmlformats.org/drawingml/2006/chart">
            <c:chart xmlns:r="http://schemas.openxmlformats.org/officeDocument/2006/relationships" xmlns:c="http://schemas.openxmlformats.org/drawingml/2006/chart" r:id="Rc87c3458b62b47b2"/>
          </a:graphicData>
        </a:graphic>
      </p:graphicFrame>
      <p:sp>
        <p:nvSpPr>
          <p:cNvPr id="5" name="0,014">
            <a:extLst xmlns:a="http://schemas.openxmlformats.org/drawingml/2006/main">
              <a:ext uri="{FF2B5EF4-FFF2-40B4-BE49-F238E27FC236}">
                <a16:creationId xmlns:a16="http://schemas.microsoft.com/office/drawing/2014/main" id="{47CF3299-EFF4-4E5B-85D5-C603A0C84B84}"/>
              </a:ext>
            </a:extLst>
          </p:cNvPr>
          <p:cNvSpPr>
            <a:spLocks xmlns:a="http://schemas.openxmlformats.org/drawingml/2006/main" noGrp="1"/>
          </p:cNvSpPr>
          <p:nvPr/>
        </p:nvSpPr>
        <p:spPr>
          <a:xfrm xmlns:a="http://schemas.openxmlformats.org/drawingml/2006/main">
            <a:off x="9544050" y="23622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0,014</a:t>
            </a:r>
          </a:p>
        </p:txBody>
      </p:sp>
      <p:sp>
        <p:nvSpPr>
          <p:cNvPr id="6" name="размах&#10;MRR@10">
            <a:extLst xmlns:a="http://schemas.openxmlformats.org/drawingml/2006/main">
              <a:ext uri="{FF2B5EF4-FFF2-40B4-BE49-F238E27FC236}">
                <a16:creationId xmlns:a16="http://schemas.microsoft.com/office/drawing/2014/main" id="{1C3ED869-8A12-4BB3-A722-3EC8F9397964}"/>
              </a:ext>
            </a:extLst>
          </p:cNvPr>
          <p:cNvSpPr>
            <a:spLocks xmlns:a="http://schemas.openxmlformats.org/drawingml/2006/main" noGrp="1"/>
          </p:cNvSpPr>
          <p:nvPr/>
        </p:nvSpPr>
        <p:spPr>
          <a:xfrm xmlns:a="http://schemas.openxmlformats.org/drawingml/2006/main">
            <a:off x="9544050" y="3267075"/>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размах</a:t>
            </a:r>
          </a:p>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MRR@10</a:t>
            </a:r>
          </a:p>
        </p:txBody>
      </p:sp>
      <p:sp>
        <p:nvSpPr>
          <p:cNvPr id="7" name="Близкие средние не доказывают эквивалентность си">
            <a:extLst xmlns:a="http://schemas.openxmlformats.org/drawingml/2006/main">
              <a:ext uri="{FF2B5EF4-FFF2-40B4-BE49-F238E27FC236}">
                <a16:creationId xmlns:a16="http://schemas.microsoft.com/office/drawing/2014/main" id="{728EC7B2-B1D4-4A47-B2AD-DE06F760A6BE}"/>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2B"/>
                </a:solidFill>
                <a:latin typeface="Arial"/>
                <a:ea typeface="Arial"/>
                <a:cs typeface="Arial"/>
              </a:defRPr>
            </a:pPr>
            <a:r>
              <a:rPr sz="2250" b="1">
                <a:solidFill>
                  <a:srgbClr val="17282B"/>
                </a:solidFill>
                <a:latin typeface="Arial"/>
                <a:ea typeface="Arial"/>
                <a:cs typeface="Arial"/>
              </a:rPr>
              <a:t>Близкие средние не доказывают эквивалентность систем</a:t>
            </a:r>
          </a:p>
        </p:txBody>
      </p:sp>
      <p:sp>
        <p:nvSpPr>
          <p:cNvPr id="8" name="MRR@10 учитывает позицию первого найденного реле">
            <a:extLst xmlns:a="http://schemas.openxmlformats.org/drawingml/2006/main">
              <a:ext uri="{FF2B5EF4-FFF2-40B4-BE49-F238E27FC236}">
                <a16:creationId xmlns:a16="http://schemas.microsoft.com/office/drawing/2014/main" id="{BD59B2CE-CB8E-45D1-9612-CEE986DBA6CD}"/>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46A"/>
                </a:solidFill>
                <a:latin typeface="Arial"/>
                <a:ea typeface="Arial"/>
                <a:cs typeface="Arial"/>
              </a:defRPr>
            </a:pPr>
            <a:r>
              <a:rPr sz="1725" b="0">
                <a:solidFill>
                  <a:srgbClr val="51646A"/>
                </a:solidFill>
                <a:latin typeface="Arial"/>
                <a:ea typeface="Arial"/>
                <a:cs typeface="Arial"/>
              </a:rPr>
              <a:t>MRR@10 учитывает позицию первого найденного релевантного ответа.</a:t>
            </a:r>
          </a:p>
        </p:txBody>
      </p:sp>
      <p:sp>
        <p:nvSpPr>
          <p:cNvPr id="9" name="Последний официальный срез: 30.11.2022. Трек зак">
            <a:extLst xmlns:a="http://schemas.openxmlformats.org/drawingml/2006/main">
              <a:ext uri="{FF2B5EF4-FFF2-40B4-BE49-F238E27FC236}">
                <a16:creationId xmlns:a16="http://schemas.microsoft.com/office/drawing/2014/main" id="{27083B51-FC9E-46C1-94C7-B9EB176B2B46}"/>
              </a:ext>
            </a:extLst>
          </p:cNvPr>
          <p:cNvSpPr>
            <a:spLocks xmlns:a="http://schemas.openxmlformats.org/drawingml/2006/main" noGrp="1"/>
          </p:cNvSpPr>
          <p:nvPr/>
        </p:nvSpPr>
        <p:spPr>
          <a:xfrm xmlns:a="http://schemas.openxmlformats.org/drawingml/2006/main">
            <a:off x="609600" y="6296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Последний официальный срез: 30.11.2022. Трек закрыт 01.01.2023. Четыре именованные заявки.</a:t>
            </a:r>
          </a:p>
        </p:txBody>
      </p:sp>
    </p:spTree>
    <p:extLst>
      <p:ext uri="{BB962C8B-B14F-4D97-AF65-F5344CB8AC3E}">
        <p14:creationId xmlns:p14="http://schemas.microsoft.com/office/powerpoint/2010/main" val="6699098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Правильный ответ может остаться без оценки">
            <a:extLst xmlns:a="http://schemas.openxmlformats.org/drawingml/2006/main">
              <a:ext uri="{FF2B5EF4-FFF2-40B4-BE49-F238E27FC236}">
                <a16:creationId xmlns:a16="http://schemas.microsoft.com/office/drawing/2014/main" id="{C752B1EF-2A52-4676-96A1-93840753030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Правильный ответ может остаться без оценки</a:t>
            </a:r>
          </a:p>
        </p:txBody>
      </p:sp>
      <p:sp>
        <p:nvSpPr>
          <p:cNvPr id="2" name="04">
            <a:extLst xmlns:a="http://schemas.openxmlformats.org/drawingml/2006/main">
              <a:ext uri="{FF2B5EF4-FFF2-40B4-BE49-F238E27FC236}">
                <a16:creationId xmlns:a16="http://schemas.microsoft.com/office/drawing/2014/main" id="{896A52EE-90C8-42D7-8103-7D42A567B96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36964695-B9C5-4786-8F5D-8A5321DADB65}"/>
              </a:ext>
            </a:extLst>
          </p:cNvPr>
          <p:cNvSpPr>
            <a:spLocks xmlns:a="http://schemas.openxmlformats.org/drawingml/2006/main" noGrp="1"/>
          </p:cNvSpPr>
          <p:nvPr/>
        </p:nvSpPr>
        <p:spPr>
          <a:xfrm xmlns:a="http://schemas.openxmlformats.org/drawingml/2006/main">
            <a:off x="609600" y="16097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D76"/>
                </a:solidFill>
                <a:latin typeface="Arial"/>
                <a:ea typeface="Arial"/>
                <a:cs typeface="Arial"/>
              </a:defRPr>
            </a:pPr>
            <a:r>
              <a:rPr sz="2475" b="1">
                <a:solidFill>
                  <a:srgbClr val="007D76"/>
                </a:solidFill>
                <a:latin typeface="Arial"/>
                <a:ea typeface="Arial"/>
                <a:cs typeface="Arial"/>
              </a:rPr>
              <a:t>«Что вызывает повышение температуры кипения?»</a:t>
            </a:r>
          </a:p>
        </p:txBody>
      </p:sp>
      <p:graphicFrame>
        <p:nvGraphicFramePr>
          <p:cNvPr id="10"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1646A"/>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F0F4F4"/>
                    </a:solidFill>
                  </a:tcPr>
                </a:tc>
              </a:tr>
              <a:tr h="838200">
                <a:tc>
                  <a:txBody>
                    <a:bodyPr lIns="171450" tIns="95250" rIns="171450" bIns="95250">
                      <a:noAutofit/>
                    </a:bodyPr>
                    <a:lstStyle/>
                    <a:p>
                      <a:r>
                        <a:rPr sz="1800" b="0">
                          <a:solidFill>
                            <a:srgbClr val="17282B"/>
                          </a:solidFill>
                          <a:latin typeface="Arial"/>
                          <a:ea typeface="Arial"/>
                          <a:cs typeface="Arial"/>
                        </a:rPr>
                        <a:t>7112148   Добавление соли повышает</a:t>
                      </a:r>
                    </a:p>
                    <a:p>
                      <a:r>
                        <a:rPr sz="1800" b="0">
                          <a:solidFill>
                            <a:srgbClr val="17282B"/>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D76"/>
                          </a:solidFill>
                          <a:latin typeface="Arial"/>
                          <a:ea typeface="Arial"/>
                          <a:cs typeface="Arial"/>
                        </a:rPr>
                        <a:t>7399382   Нелетучее растворённое вещество</a:t>
                      </a:r>
                    </a:p>
                    <a:p>
                      <a:r>
                        <a:rPr sz="1800" b="1">
                          <a:solidFill>
                            <a:srgbClr val="007D76"/>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D76"/>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7282B"/>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Нет оценки ≠ нерелевантен">
            <a:extLst xmlns:a="http://schemas.openxmlformats.org/drawingml/2006/main">
              <a:ext uri="{FF2B5EF4-FFF2-40B4-BE49-F238E27FC236}">
                <a16:creationId xmlns:a16="http://schemas.microsoft.com/office/drawing/2014/main" id="{23FF6442-D596-496E-B520-625C8E315223}"/>
              </a:ext>
            </a:extLst>
          </p:cNvPr>
          <p:cNvSpPr>
            <a:spLocks xmlns:a="http://schemas.openxmlformats.org/drawingml/2006/main" noGrp="1"/>
          </p:cNvSpPr>
          <p:nvPr/>
        </p:nvSpPr>
        <p:spPr>
          <a:xfrm xmlns:a="http://schemas.openxmlformats.org/drawingml/2006/main">
            <a:off x="609600" y="58102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76"/>
                </a:solidFill>
                <a:latin typeface="Arial"/>
                <a:ea typeface="Arial"/>
                <a:cs typeface="Arial"/>
              </a:defRPr>
            </a:pPr>
            <a:r>
              <a:rPr sz="2175" b="1">
                <a:solidFill>
                  <a:srgbClr val="007D76"/>
                </a:solidFill>
                <a:latin typeface="Arial"/>
                <a:ea typeface="Arial"/>
                <a:cs typeface="Arial"/>
              </a:rPr>
              <a:t>Нет оценки ≠ нерелевантен</a:t>
            </a:r>
          </a:p>
        </p:txBody>
      </p:sp>
      <p:sp>
        <p:nvSpPr>
          <p:cNvPr id="6" name="В метрике: нет оценки → нулевой вклад. Русский п">
            <a:extLst xmlns:a="http://schemas.openxmlformats.org/drawingml/2006/main">
              <a:ext uri="{FF2B5EF4-FFF2-40B4-BE49-F238E27FC236}">
                <a16:creationId xmlns:a16="http://schemas.microsoft.com/office/drawing/2014/main" id="{948D66B0-8693-4C3B-9E25-F3B5B5B22E17}"/>
              </a:ext>
            </a:extLst>
          </p:cNvPr>
          <p:cNvSpPr>
            <a:spLocks xmlns:a="http://schemas.openxmlformats.org/drawingml/2006/main" noGrp="1"/>
          </p:cNvSpPr>
          <p:nvPr/>
        </p:nvSpPr>
        <p:spPr>
          <a:xfrm xmlns:a="http://schemas.openxmlformats.org/drawingml/2006/main">
            <a:off x="609600" y="62865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В метрике: нет оценки → нулевой вклад. Русский пересказ; метки относятся к оригиналам.</a:t>
            </a:r>
          </a:p>
        </p:txBody>
      </p:sp>
    </p:spTree>
    <p:extLst>
      <p:ext uri="{BB962C8B-B14F-4D97-AF65-F5344CB8AC3E}">
        <p14:creationId xmlns:p14="http://schemas.microsoft.com/office/powerpoint/2010/main" val="10726478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ве части эксперимента">
            <a:extLst xmlns:a="http://schemas.openxmlformats.org/drawingml/2006/main">
              <a:ext uri="{FF2B5EF4-FFF2-40B4-BE49-F238E27FC236}">
                <a16:creationId xmlns:a16="http://schemas.microsoft.com/office/drawing/2014/main" id="{7AAF2325-0DFF-4DE3-8C57-86581C16343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Две части эксперимента</a:t>
            </a:r>
          </a:p>
        </p:txBody>
      </p:sp>
      <p:sp>
        <p:nvSpPr>
          <p:cNvPr id="2" name="05">
            <a:extLst xmlns:a="http://schemas.openxmlformats.org/drawingml/2006/main">
              <a:ext uri="{FF2B5EF4-FFF2-40B4-BE49-F238E27FC236}">
                <a16:creationId xmlns:a16="http://schemas.microsoft.com/office/drawing/2014/main" id="{B24BC92C-143D-454F-9059-42C6CFD1E57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05</a:t>
            </a:r>
          </a:p>
        </p:txBody>
      </p:sp>
      <p:sp>
        <p:nvSpPr>
          <p:cNvPr id="3" name="Английский MS MARCO: 8,84 млн текстовых фрагмент">
            <a:extLst xmlns:a="http://schemas.openxmlformats.org/drawingml/2006/main">
              <a:ext uri="{FF2B5EF4-FFF2-40B4-BE49-F238E27FC236}">
                <a16:creationId xmlns:a16="http://schemas.microsoft.com/office/drawing/2014/main" id="{4DD9C5D2-662B-40C3-889F-B21EEF75D37A}"/>
              </a:ext>
            </a:extLst>
          </p:cNvPr>
          <p:cNvSpPr>
            <a:spLocks xmlns:a="http://schemas.openxmlformats.org/drawingml/2006/main" noGrp="1"/>
          </p:cNvSpPr>
          <p:nvPr/>
        </p:nvSpPr>
        <p:spPr>
          <a:xfrm xmlns:a="http://schemas.openxmlformats.org/drawingml/2006/main">
            <a:off x="609600" y="1524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Английский MS MARCO: 8,84 млн текстовых фрагментов</a:t>
            </a:r>
          </a:p>
        </p:txBody>
      </p:sp>
      <p:sp>
        <p:nvSpPr>
          <p:cNvPr id="4" name="">
            <a:extLst xmlns:a="http://schemas.openxmlformats.org/drawingml/2006/main">
              <a:ext uri="{FF2B5EF4-FFF2-40B4-BE49-F238E27FC236}">
                <a16:creationId xmlns:a16="http://schemas.microsoft.com/office/drawing/2014/main" id="{CCAE879A-8E66-48B4-860D-6ED1431C9EDA}"/>
              </a:ext>
            </a:extLst>
          </p:cNvPr>
          <p:cNvSpPr>
            <a:spLocks xmlns:a="http://schemas.openxmlformats.org/drawingml/2006/main" noGrp="1"/>
          </p:cNvSpPr>
          <p:nvPr/>
        </p:nvSpPr>
        <p:spPr>
          <a:xfrm xmlns:a="http://schemas.openxmlformats.org/drawingml/2006/main">
            <a:off x="609600" y="211455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5" name="Ручные оценки">
            <a:extLst xmlns:a="http://schemas.openxmlformats.org/drawingml/2006/main">
              <a:ext uri="{FF2B5EF4-FFF2-40B4-BE49-F238E27FC236}">
                <a16:creationId xmlns:a16="http://schemas.microsoft.com/office/drawing/2014/main" id="{CD094F31-5348-4F7A-9515-7B3AC684A601}"/>
              </a:ext>
            </a:extLst>
          </p:cNvPr>
          <p:cNvSpPr>
            <a:spLocks xmlns:a="http://schemas.openxmlformats.org/drawingml/2006/main" noGrp="1"/>
          </p:cNvSpPr>
          <p:nvPr/>
        </p:nvSpPr>
        <p:spPr>
          <a:xfrm xmlns:a="http://schemas.openxmlformats.org/drawingml/2006/main">
            <a:off x="609600" y="2428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Ручные оценки</a:t>
            </a:r>
          </a:p>
        </p:txBody>
      </p:sp>
      <p:sp>
        <p:nvSpPr>
          <p:cNvPr id="6" name="1 179">
            <a:extLst xmlns:a="http://schemas.openxmlformats.org/drawingml/2006/main">
              <a:ext uri="{FF2B5EF4-FFF2-40B4-BE49-F238E27FC236}">
                <a16:creationId xmlns:a16="http://schemas.microsoft.com/office/drawing/2014/main" id="{B717733C-6799-4E1D-B1B3-31DD152930B5}"/>
              </a:ext>
            </a:extLst>
          </p:cNvPr>
          <p:cNvSpPr>
            <a:spLocks xmlns:a="http://schemas.openxmlformats.org/drawingml/2006/main" noGrp="1"/>
          </p:cNvSpPr>
          <p:nvPr/>
        </p:nvSpPr>
        <p:spPr>
          <a:xfrm xmlns:a="http://schemas.openxmlformats.org/drawingml/2006/main">
            <a:off x="609600" y="295275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007D76"/>
                </a:solidFill>
                <a:latin typeface="Arial"/>
                <a:ea typeface="Arial"/>
                <a:cs typeface="Arial"/>
              </a:defRPr>
            </a:pPr>
            <a:r>
              <a:rPr sz="5250" b="1">
                <a:solidFill>
                  <a:srgbClr val="007D76"/>
                </a:solidFill>
                <a:latin typeface="Arial"/>
                <a:ea typeface="Arial"/>
                <a:cs typeface="Arial"/>
              </a:rPr>
              <a:t>1 179</a:t>
            </a:r>
          </a:p>
        </p:txBody>
      </p:sp>
      <p:sp>
        <p:nvSpPr>
          <p:cNvPr id="7" name="запросов · 33 667 пар">
            <a:extLst xmlns:a="http://schemas.openxmlformats.org/drawingml/2006/main">
              <a:ext uri="{FF2B5EF4-FFF2-40B4-BE49-F238E27FC236}">
                <a16:creationId xmlns:a16="http://schemas.microsoft.com/office/drawing/2014/main" id="{644B0679-C95D-4289-A837-F9D76DC5A123}"/>
              </a:ext>
            </a:extLst>
          </p:cNvPr>
          <p:cNvSpPr>
            <a:spLocks xmlns:a="http://schemas.openxmlformats.org/drawingml/2006/main" noGrp="1"/>
          </p:cNvSpPr>
          <p:nvPr/>
        </p:nvSpPr>
        <p:spPr>
          <a:xfrm xmlns:a="http://schemas.openxmlformats.org/drawingml/2006/main">
            <a:off x="609600" y="3886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запросов · 33 667 пар</a:t>
            </a:r>
          </a:p>
        </p:txBody>
      </p:sp>
      <p:sp>
        <p:nvSpPr>
          <p:cNvPr id="8" name="Что меняет доразметка&#10;при той же выдаче?">
            <a:extLst xmlns:a="http://schemas.openxmlformats.org/drawingml/2006/main">
              <a:ext uri="{FF2B5EF4-FFF2-40B4-BE49-F238E27FC236}">
                <a16:creationId xmlns:a16="http://schemas.microsoft.com/office/drawing/2014/main" id="{D2CBBD92-26F9-4C4E-9CE7-32745DCC4451}"/>
              </a:ext>
            </a:extLst>
          </p:cNvPr>
          <p:cNvSpPr>
            <a:spLocks xmlns:a="http://schemas.openxmlformats.org/drawingml/2006/main" noGrp="1"/>
          </p:cNvSpPr>
          <p:nvPr/>
        </p:nvSpPr>
        <p:spPr>
          <a:xfrm xmlns:a="http://schemas.openxmlformats.org/drawingml/2006/main">
            <a:off x="609600" y="46958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Что меняет доразметка</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при той же выдаче?</a:t>
            </a:r>
          </a:p>
        </p:txBody>
      </p:sp>
      <p:sp>
        <p:nvSpPr>
          <p:cNvPr id="9" name="Псевдометки судьи">
            <a:extLst xmlns:a="http://schemas.openxmlformats.org/drawingml/2006/main">
              <a:ext uri="{FF2B5EF4-FFF2-40B4-BE49-F238E27FC236}">
                <a16:creationId xmlns:a16="http://schemas.microsoft.com/office/drawing/2014/main" id="{E8C45786-CCA1-41AC-BCA7-A7A69068B142}"/>
              </a:ext>
            </a:extLst>
          </p:cNvPr>
          <p:cNvSpPr>
            <a:spLocks xmlns:a="http://schemas.openxmlformats.org/drawingml/2006/main" noGrp="1"/>
          </p:cNvSpPr>
          <p:nvPr/>
        </p:nvSpPr>
        <p:spPr>
          <a:xfrm xmlns:a="http://schemas.openxmlformats.org/drawingml/2006/main">
            <a:off x="6705600" y="24288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Псевдометки судьи</a:t>
            </a:r>
          </a:p>
        </p:txBody>
      </p:sp>
      <p:sp>
        <p:nvSpPr>
          <p:cNvPr id="10" name="101 093">
            <a:extLst xmlns:a="http://schemas.openxmlformats.org/drawingml/2006/main">
              <a:ext uri="{FF2B5EF4-FFF2-40B4-BE49-F238E27FC236}">
                <a16:creationId xmlns:a16="http://schemas.microsoft.com/office/drawing/2014/main" id="{1AEAC1E3-FCE5-40D9-B3AE-36DFD36528BF}"/>
              </a:ext>
            </a:extLst>
          </p:cNvPr>
          <p:cNvSpPr>
            <a:spLocks xmlns:a="http://schemas.openxmlformats.org/drawingml/2006/main" noGrp="1"/>
          </p:cNvSpPr>
          <p:nvPr/>
        </p:nvSpPr>
        <p:spPr>
          <a:xfrm xmlns:a="http://schemas.openxmlformats.org/drawingml/2006/main">
            <a:off x="6705600" y="2952750"/>
            <a:ext cx="4876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C64F37"/>
                </a:solidFill>
                <a:latin typeface="Arial"/>
                <a:ea typeface="Arial"/>
                <a:cs typeface="Arial"/>
              </a:defRPr>
            </a:pPr>
            <a:r>
              <a:rPr sz="5250" b="1">
                <a:solidFill>
                  <a:srgbClr val="C64F37"/>
                </a:solidFill>
                <a:latin typeface="Arial"/>
                <a:ea typeface="Arial"/>
                <a:cs typeface="Arial"/>
              </a:rPr>
              <a:t>101 093</a:t>
            </a:r>
          </a:p>
        </p:txBody>
      </p:sp>
      <p:sp>
        <p:nvSpPr>
          <p:cNvPr id="11" name="запроса · пять глубин пула">
            <a:extLst xmlns:a="http://schemas.openxmlformats.org/drawingml/2006/main">
              <a:ext uri="{FF2B5EF4-FFF2-40B4-BE49-F238E27FC236}">
                <a16:creationId xmlns:a16="http://schemas.microsoft.com/office/drawing/2014/main" id="{DB6588B4-ACA8-4AD9-B8E7-6DCED47FA30D}"/>
              </a:ext>
            </a:extLst>
          </p:cNvPr>
          <p:cNvSpPr>
            <a:spLocks xmlns:a="http://schemas.openxmlformats.org/drawingml/2006/main" noGrp="1"/>
          </p:cNvSpPr>
          <p:nvPr/>
        </p:nvSpPr>
        <p:spPr>
          <a:xfrm xmlns:a="http://schemas.openxmlformats.org/drawingml/2006/main">
            <a:off x="6705600" y="38862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запроса · пять глубин пула</a:t>
            </a:r>
          </a:p>
        </p:txBody>
      </p:sp>
      <p:sp>
        <p:nvSpPr>
          <p:cNvPr id="12" name="Как покрытие оценками&#10;влияет на сравнение систем">
            <a:extLst xmlns:a="http://schemas.openxmlformats.org/drawingml/2006/main">
              <a:ext uri="{FF2B5EF4-FFF2-40B4-BE49-F238E27FC236}">
                <a16:creationId xmlns:a16="http://schemas.microsoft.com/office/drawing/2014/main" id="{8268B3E1-990B-4EBD-8790-4002509D11F5}"/>
              </a:ext>
            </a:extLst>
          </p:cNvPr>
          <p:cNvSpPr>
            <a:spLocks xmlns:a="http://schemas.openxmlformats.org/drawingml/2006/main" noGrp="1"/>
          </p:cNvSpPr>
          <p:nvPr/>
        </p:nvSpPr>
        <p:spPr>
          <a:xfrm xmlns:a="http://schemas.openxmlformats.org/drawingml/2006/main">
            <a:off x="6705600" y="4695825"/>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Как покрытие оценками</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влияет на сравнение систем?</a:t>
            </a:r>
          </a:p>
        </p:txBody>
      </p:sp>
      <p:sp>
        <p:nvSpPr>
          <p:cNvPr id="13" name="Человеческие суждения и предсказания судьи анали">
            <a:extLst xmlns:a="http://schemas.openxmlformats.org/drawingml/2006/main">
              <a:ext uri="{FF2B5EF4-FFF2-40B4-BE49-F238E27FC236}">
                <a16:creationId xmlns:a16="http://schemas.microsoft.com/office/drawing/2014/main" id="{05D538D8-233E-43DD-BA6D-EEE4247AFE2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Человеческие суждения и предсказания судьи анализируются отдельно.</a:t>
            </a:r>
          </a:p>
        </p:txBody>
      </p:sp>
    </p:spTree>
    <p:extLst>
      <p:ext uri="{BB962C8B-B14F-4D97-AF65-F5344CB8AC3E}">
        <p14:creationId xmlns:p14="http://schemas.microsoft.com/office/powerpoint/2010/main" val="9487900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7" idx="1"/>
          </p:cNvCxnSpPr>
          <p:nvPr/>
        </p:nvCxnSpPr>
        <p:spPr>
          <a:xfrm xmlns:a="http://schemas.openxmlformats.org/drawingml/2006/main">
            <a:off x="7267575" y="347662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cxnSp>
        <p:nvCxnSpPr>
          <p:cNvPr id="15" name=""/>
          <p:cNvCxnSpPr>
            <a:stCxn xmlns:a="http://schemas.openxmlformats.org/drawingml/2006/main" id="5" idx="3"/>
            <a:endCxn xmlns:a="http://schemas.openxmlformats.org/drawingml/2006/main" id="6" idx="1"/>
          </p:cNvCxnSpPr>
          <p:nvPr/>
        </p:nvCxnSpPr>
        <p:spPr>
          <a:xfrm xmlns:a="http://schemas.openxmlformats.org/drawingml/2006/main" flipV="1">
            <a:off x="3705225" y="3476625"/>
            <a:ext cx="914400" cy="1085850"/>
          </a:xfrm>
          <a:prstGeom xmlns:a="http://schemas.openxmlformats.org/drawingml/2006/main" prst="bentConnector3">
            <a:avLst>
              <a:gd name="adj1" fmla="val 50000"/>
            </a:avLst>
          </a:prstGeom>
          <a:ln xmlns:a="http://schemas.openxmlformats.org/drawingml/2006/main" w="28575">
            <a:solidFill>
              <a:srgbClr val="C64F37"/>
            </a:solidFill>
            <a:tailEnd type="triangle" w="med" len="med"/>
          </a:ln>
        </p:spPr>
      </p:cxnSp>
      <p:cxnSp>
        <p:nvCxnSpPr>
          <p:cNvPr id="16" name=""/>
          <p:cNvCxnSpPr>
            <a:stCxn xmlns:a="http://schemas.openxmlformats.org/drawingml/2006/main" id="4" idx="3"/>
            <a:endCxn xmlns:a="http://schemas.openxmlformats.org/drawingml/2006/main" id="6" idx="0"/>
          </p:cNvCxnSpPr>
          <p:nvPr/>
        </p:nvCxnSpPr>
        <p:spPr>
          <a:xfrm xmlns:a="http://schemas.openxmlformats.org/drawingml/2006/main">
            <a:off x="3705225" y="2647950"/>
            <a:ext cx="2238375" cy="228600"/>
          </a:xfrm>
          <a:prstGeom xmlns:a="http://schemas.openxmlformats.org/drawingml/2006/main" prst="bentConnector4">
            <a:avLst/>
          </a:prstGeom>
          <a:ln xmlns:a="http://schemas.openxmlformats.org/drawingml/2006/main" w="28575">
            <a:solidFill>
              <a:srgbClr val="51646A"/>
            </a:solidFill>
            <a:tailEnd type="triangle" w="med" len="med"/>
          </a:ln>
        </p:spPr>
      </p:cxnSp>
      <p:sp>
        <p:nvSpPr>
          <p:cNvPr id="17" name="Как сформирован ручной пул">
            <a:extLst xmlns:a="http://schemas.openxmlformats.org/drawingml/2006/main">
              <a:ext uri="{FF2B5EF4-FFF2-40B4-BE49-F238E27FC236}">
                <a16:creationId xmlns:a16="http://schemas.microsoft.com/office/drawing/2014/main" id="{441B8CB1-4380-44F5-9E08-5F3E9811788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Как сформирован ручной пул</a:t>
            </a:r>
          </a:p>
        </p:txBody>
      </p:sp>
      <p:sp>
        <p:nvSpPr>
          <p:cNvPr id="2" name="06">
            <a:extLst xmlns:a="http://schemas.openxmlformats.org/drawingml/2006/main">
              <a:ext uri="{FF2B5EF4-FFF2-40B4-BE49-F238E27FC236}">
                <a16:creationId xmlns:a16="http://schemas.microsoft.com/office/drawing/2014/main" id="{C8D34202-68BE-4265-9D22-F38D4CE846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06</a:t>
            </a:r>
          </a:p>
        </p:txBody>
      </p:sp>
      <p:sp>
        <p:nvSpPr>
          <p:cNvPr id="3" name="Пулинг: объединение результатов нескольких источ">
            <a:extLst xmlns:a="http://schemas.openxmlformats.org/drawingml/2006/main">
              <a:ext uri="{FF2B5EF4-FFF2-40B4-BE49-F238E27FC236}">
                <a16:creationId xmlns:a16="http://schemas.microsoft.com/office/drawing/2014/main" id="{147E906A-84D9-406C-B4FA-B4ABF06B7F4C}"/>
              </a:ext>
            </a:extLst>
          </p:cNvPr>
          <p:cNvSpPr>
            <a:spLocks xmlns:a="http://schemas.openxmlformats.org/drawingml/2006/main" noGrp="1"/>
          </p:cNvSpPr>
          <p:nvPr/>
        </p:nvSpPr>
        <p:spPr>
          <a:xfrm xmlns:a="http://schemas.openxmlformats.org/drawingml/2006/main">
            <a:off x="609600" y="150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Пулинг: объединение результатов нескольких источников</a:t>
            </a:r>
          </a:p>
        </p:txBody>
      </p:sp>
      <p:sp>
        <p:nvSpPr>
          <p:cNvPr id="4" name="BM25 · E5 · BGE&#10;По 10 результатов">
            <a:extLst xmlns:a="http://schemas.openxmlformats.org/drawingml/2006/main">
              <a:ext uri="{FF2B5EF4-FFF2-40B4-BE49-F238E27FC236}">
                <a16:creationId xmlns:a16="http://schemas.microsoft.com/office/drawing/2014/main" id="{DD232CE4-0A96-4FC7-AED0-DD10199CC4D8}"/>
              </a:ext>
            </a:extLst>
          </p:cNvPr>
          <p:cNvSpPr>
            <a:spLocks xmlns:a="http://schemas.openxmlformats.org/drawingml/2006/main" noGrp="1"/>
          </p:cNvSpPr>
          <p:nvPr/>
        </p:nvSpPr>
        <p:spPr>
          <a:xfrm xmlns:a="http://schemas.openxmlformats.org/drawingml/2006/main">
            <a:off x="609600" y="2219325"/>
            <a:ext cx="3095625" cy="1076325"/>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BM25 · E5 · BGE</a:t>
            </a:r>
          </a:p>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По 10 результатов</a:t>
            </a:r>
          </a:p>
        </p:txBody>
      </p:sp>
      <p:sp>
        <p:nvSpPr>
          <p:cNvPr id="5" name="Дополнительный отбор&#10;включая сходство E5&#10;с известным ответом">
            <a:extLst xmlns:a="http://schemas.openxmlformats.org/drawingml/2006/main">
              <a:ext uri="{FF2B5EF4-FFF2-40B4-BE49-F238E27FC236}">
                <a16:creationId xmlns:a16="http://schemas.microsoft.com/office/drawing/2014/main" id="{89C1C6CF-9937-4F75-B883-8B31BF72C053}"/>
              </a:ext>
            </a:extLst>
          </p:cNvPr>
          <p:cNvSpPr>
            <a:spLocks xmlns:a="http://schemas.openxmlformats.org/drawingml/2006/main" noGrp="1"/>
          </p:cNvSpPr>
          <p:nvPr/>
        </p:nvSpPr>
        <p:spPr>
          <a:xfrm xmlns:a="http://schemas.openxmlformats.org/drawingml/2006/main">
            <a:off x="609600" y="3895725"/>
            <a:ext cx="3095625" cy="133350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Дополнительный отбор</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включая сходство E5</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с известным ответом</a:t>
            </a:r>
          </a:p>
        </p:txBody>
      </p:sp>
      <p:sp>
        <p:nvSpPr>
          <p:cNvPr id="6" name="Объединение&#10;без дубликатов">
            <a:extLst xmlns:a="http://schemas.openxmlformats.org/drawingml/2006/main">
              <a:ext uri="{FF2B5EF4-FFF2-40B4-BE49-F238E27FC236}">
                <a16:creationId xmlns:a16="http://schemas.microsoft.com/office/drawing/2014/main" id="{6055FEC9-38EF-43AC-A7F3-F8811CAC375E}"/>
              </a:ext>
            </a:extLst>
          </p:cNvPr>
          <p:cNvSpPr>
            <a:spLocks xmlns:a="http://schemas.openxmlformats.org/drawingml/2006/main" noGrp="1"/>
          </p:cNvSpPr>
          <p:nvPr/>
        </p:nvSpPr>
        <p:spPr>
          <a:xfrm xmlns:a="http://schemas.openxmlformats.org/drawingml/2006/main">
            <a:off x="4619625" y="2876550"/>
            <a:ext cx="2647950" cy="12001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Объединение</a:t>
            </a:r>
          </a:p>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без дубликатов</a:t>
            </a:r>
          </a:p>
        </p:txBody>
      </p:sp>
      <p:sp>
        <p:nvSpPr>
          <p:cNvPr id="7" name="Ручная&#10;оценка">
            <a:extLst xmlns:a="http://schemas.openxmlformats.org/drawingml/2006/main">
              <a:ext uri="{FF2B5EF4-FFF2-40B4-BE49-F238E27FC236}">
                <a16:creationId xmlns:a16="http://schemas.microsoft.com/office/drawing/2014/main" id="{A97E7088-D4D7-4F5A-AFAC-CBE50DE408B2}"/>
              </a:ext>
            </a:extLst>
          </p:cNvPr>
          <p:cNvSpPr>
            <a:spLocks xmlns:a="http://schemas.openxmlformats.org/drawingml/2006/main" noGrp="1"/>
          </p:cNvSpPr>
          <p:nvPr/>
        </p:nvSpPr>
        <p:spPr>
          <a:xfrm xmlns:a="http://schemas.openxmlformats.org/drawingml/2006/main">
            <a:off x="8201025" y="2876550"/>
            <a:ext cx="2809875" cy="1200150"/>
          </a:xfrm>
          <a:prstGeom xmlns:a="http://schemas.openxmlformats.org/drawingml/2006/main" prst="rect">
            <a:avLst/>
          </a:prstGeom>
          <a:solidFill xmlns:a="http://schemas.openxmlformats.org/drawingml/2006/main">
            <a:srgbClr val="E2F1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Ручная</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оценка</a:t>
            </a:r>
          </a:p>
        </p:txBody>
      </p:sp>
      <p:sp>
        <p:nvSpPr>
          <p:cNvPr id="11" name="Человек видит:&#10;запрос, кандидата&#10;и известный отв">
            <a:extLst xmlns:a="http://schemas.openxmlformats.org/drawingml/2006/main">
              <a:ext uri="{FF2B5EF4-FFF2-40B4-BE49-F238E27FC236}">
                <a16:creationId xmlns:a16="http://schemas.microsoft.com/office/drawing/2014/main" id="{696B1048-7E23-4FF4-83F4-049CF391317A}"/>
              </a:ext>
            </a:extLst>
          </p:cNvPr>
          <p:cNvSpPr>
            <a:spLocks xmlns:a="http://schemas.openxmlformats.org/drawingml/2006/main" noGrp="1"/>
          </p:cNvSpPr>
          <p:nvPr/>
        </p:nvSpPr>
        <p:spPr>
          <a:xfrm xmlns:a="http://schemas.openxmlformats.org/drawingml/2006/main">
            <a:off x="8201025" y="44767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Человек видит:</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запрос, кандидата</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и известный ответ</a:t>
            </a:r>
          </a:p>
        </p:txBody>
      </p:sp>
      <p:sp>
        <p:nvSpPr>
          <p:cNvPr id="12" name="В среднем 28,56&#10;кандидата; максимум 63">
            <a:extLst xmlns:a="http://schemas.openxmlformats.org/drawingml/2006/main">
              <a:ext uri="{FF2B5EF4-FFF2-40B4-BE49-F238E27FC236}">
                <a16:creationId xmlns:a16="http://schemas.microsoft.com/office/drawing/2014/main" id="{8AE7FA33-DA0B-4D62-9AFF-33BA8BB824B9}"/>
              </a:ext>
            </a:extLst>
          </p:cNvPr>
          <p:cNvSpPr>
            <a:spLocks xmlns:a="http://schemas.openxmlformats.org/drawingml/2006/main" noGrp="1"/>
          </p:cNvSpPr>
          <p:nvPr/>
        </p:nvSpPr>
        <p:spPr>
          <a:xfrm xmlns:a="http://schemas.openxmlformats.org/drawingml/2006/main">
            <a:off x="4562475" y="4486275"/>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В среднем 28,56</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кандидата; максимум 63</a:t>
            </a:r>
          </a:p>
        </p:txBody>
      </p:sp>
      <p:sp>
        <p:nvSpPr>
          <p:cNvPr id="13" name="Пул обогащён с помощью известного ответа; это не">
            <a:extLst xmlns:a="http://schemas.openxmlformats.org/drawingml/2006/main">
              <a:ext uri="{FF2B5EF4-FFF2-40B4-BE49-F238E27FC236}">
                <a16:creationId xmlns:a16="http://schemas.microsoft.com/office/drawing/2014/main" id="{BA65B9E9-3A6F-46DB-8381-24506C6485A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Пул обогащён с помощью известного ответа; это не случайная выборка корпуса.</a:t>
            </a:r>
          </a:p>
        </p:txBody>
      </p:sp>
    </p:spTree>
    <p:extLst>
      <p:ext uri="{BB962C8B-B14F-4D97-AF65-F5344CB8AC3E}">
        <p14:creationId xmlns:p14="http://schemas.microsoft.com/office/powerpoint/2010/main" val="5001820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Что измеряет NDCG@10">
            <a:extLst xmlns:a="http://schemas.openxmlformats.org/drawingml/2006/main">
              <a:ext uri="{FF2B5EF4-FFF2-40B4-BE49-F238E27FC236}">
                <a16:creationId xmlns:a16="http://schemas.microsoft.com/office/drawing/2014/main" id="{A02E86B1-9B41-4DC2-8C1C-7830B525ABF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измеряет NDCG@10</a:t>
            </a:r>
          </a:p>
        </p:txBody>
      </p:sp>
      <p:sp>
        <p:nvSpPr>
          <p:cNvPr id="2" name="07">
            <a:extLst xmlns:a="http://schemas.openxmlformats.org/drawingml/2006/main">
              <a:ext uri="{FF2B5EF4-FFF2-40B4-BE49-F238E27FC236}">
                <a16:creationId xmlns:a16="http://schemas.microsoft.com/office/drawing/2014/main" id="{023971BE-5246-4723-925D-628BF29875E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07</a:t>
            </a:r>
          </a:p>
        </p:txBody>
      </p:sp>
      <p:sp>
        <p:nvSpPr>
          <p:cNvPr id="3" name="Релевантные ответы ближе к началу выдачи получаю">
            <a:extLst xmlns:a="http://schemas.openxmlformats.org/drawingml/2006/main">
              <a:ext uri="{FF2B5EF4-FFF2-40B4-BE49-F238E27FC236}">
                <a16:creationId xmlns:a16="http://schemas.microsoft.com/office/drawing/2014/main" id="{F3C0FDFF-0353-4D28-92CD-7C0B8100877A}"/>
              </a:ext>
            </a:extLst>
          </p:cNvPr>
          <p:cNvSpPr>
            <a:spLocks xmlns:a="http://schemas.openxmlformats.org/drawingml/2006/main" noGrp="1"/>
          </p:cNvSpPr>
          <p:nvPr/>
        </p:nvSpPr>
        <p:spPr>
          <a:xfrm xmlns:a="http://schemas.openxmlformats.org/drawingml/2006/main">
            <a:off x="609600" y="1495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46A"/>
                </a:solidFill>
                <a:latin typeface="Arial"/>
                <a:ea typeface="Arial"/>
                <a:cs typeface="Arial"/>
              </a:defRPr>
            </a:pPr>
            <a:r>
              <a:rPr sz="2250" b="0">
                <a:solidFill>
                  <a:srgbClr val="51646A"/>
                </a:solidFill>
                <a:latin typeface="Arial"/>
                <a:ea typeface="Arial"/>
                <a:cs typeface="Arial"/>
              </a:rPr>
              <a:t>Релевантные ответы ближе к началу выдачи получают больший вес</a:t>
            </a:r>
          </a:p>
        </p:txBody>
      </p:sp>
      <p:graphicFrame>
        <p:nvGraphicFramePr>
          <p:cNvPr id="12" name=""/>
          <p:cNvGraphicFramePr/>
          <p:nvPr/>
        </p:nvGraphicFramePr>
        <p:xfrm>
          <a:off xmlns:a="http://schemas.openxmlformats.org/drawingml/2006/main" x="609600" y="2428875"/>
          <a:ext xmlns:a="http://schemas.openxmlformats.org/drawingml/2006/main" cx="10972800" cy="1504950"/>
        </p:xfrm>
        <a:graphic xmlns:a="http://schemas.openxmlformats.org/drawingml/2006/main">
          <a:graphicData uri="http://schemas.openxmlformats.org/drawingml/2006/table">
            <a:tbl>
              <a:tblPr firstRow="0" bandRow="0" bandCol="0"/>
              <a:tblGrid>
                <a:gridCol w="5314950"/>
                <a:gridCol w="1885950"/>
                <a:gridCol w="1885950"/>
                <a:gridCol w="1885950"/>
              </a:tblGrid>
              <a:tr h="628650">
                <a:tc>
                  <a:txBody>
                    <a:bodyPr lIns="171450" tIns="95250" rIns="171450" bIns="95250">
                      <a:noAutofit/>
                    </a:bodyPr>
                    <a:lstStyle/>
                    <a:p>
                      <a:r>
                        <a:rPr sz="2025" b="1">
                          <a:solidFill>
                            <a:srgbClr val="51646A"/>
                          </a:solidFill>
                          <a:latin typeface="Arial"/>
                          <a:ea typeface="Arial"/>
                          <a:cs typeface="Arial"/>
                        </a:rPr>
                        <a:t>Позиция в выдаче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1</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2</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3</a:t>
                      </a:r>
                    </a:p>
                  </a:txBody>
                  <a:tcPr marL="91440" marR="91440" marT="45720" marB="45720" anchor="ctr">
                    <a:lnL w="0">
                      <a:noFill/>
                    </a:lnL>
                    <a:lnR w="0">
                      <a:noFill/>
                    </a:lnR>
                    <a:lnT w="0">
                      <a:noFill/>
                    </a:lnT>
                    <a:lnB w="7620">
                      <a:solidFill>
                        <a:srgbClr val="D4E1E0"/>
                      </a:solidFill>
                    </a:lnB>
                    <a:solidFill>
                      <a:srgbClr val="F0F4F4"/>
                    </a:solidFill>
                  </a:tcPr>
                </a:tc>
              </a:tr>
              <a:tr h="876300">
                <a:tc>
                  <a:txBody>
                    <a:bodyPr lIns="171450" tIns="95250" rIns="171450" bIns="95250">
                      <a:noAutofit/>
                    </a:bodyPr>
                    <a:lstStyle/>
                    <a:p>
                      <a:r>
                        <a:rPr sz="2175" b="0">
                          <a:solidFill>
                            <a:srgbClr val="17282B"/>
                          </a:solidFill>
                          <a:latin typeface="Arial"/>
                          <a:ea typeface="Arial"/>
                          <a:cs typeface="Arial"/>
                        </a:rPr>
                        <a:t>Вес релевантного ответа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0,63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NDCG@10 =">
            <a:extLst xmlns:a="http://schemas.openxmlformats.org/drawingml/2006/main">
              <a:ext uri="{FF2B5EF4-FFF2-40B4-BE49-F238E27FC236}">
                <a16:creationId xmlns:a16="http://schemas.microsoft.com/office/drawing/2014/main" id="{579A9915-1337-49FF-89E4-66CE07F087A8}"/>
              </a:ext>
            </a:extLst>
          </p:cNvPr>
          <p:cNvSpPr>
            <a:spLocks xmlns:a="http://schemas.openxmlformats.org/drawingml/2006/main" noGrp="1"/>
          </p:cNvSpPr>
          <p:nvPr/>
        </p:nvSpPr>
        <p:spPr>
          <a:xfrm xmlns:a="http://schemas.openxmlformats.org/drawingml/2006/main">
            <a:off x="609600" y="43434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07D76"/>
                </a:solidFill>
                <a:latin typeface="Arial"/>
                <a:ea typeface="Arial"/>
                <a:cs typeface="Arial"/>
              </a:defRPr>
            </a:pPr>
            <a:r>
              <a:rPr sz="3375" b="1">
                <a:solidFill>
                  <a:srgbClr val="007D76"/>
                </a:solidFill>
                <a:latin typeface="Arial"/>
                <a:ea typeface="Arial"/>
                <a:cs typeface="Arial"/>
              </a:rPr>
              <a:t>NDCG@10 =</a:t>
            </a:r>
          </a:p>
        </p:txBody>
      </p:sp>
      <p:sp>
        <p:nvSpPr>
          <p:cNvPr id="6" name="взвешенная релевантность / идеальная выдача">
            <a:extLst xmlns:a="http://schemas.openxmlformats.org/drawingml/2006/main">
              <a:ext uri="{FF2B5EF4-FFF2-40B4-BE49-F238E27FC236}">
                <a16:creationId xmlns:a16="http://schemas.microsoft.com/office/drawing/2014/main" id="{286CB5A3-4CB8-4F49-90BD-7C8CF9B708E7}"/>
              </a:ext>
            </a:extLst>
          </p:cNvPr>
          <p:cNvSpPr>
            <a:spLocks xmlns:a="http://schemas.openxmlformats.org/drawingml/2006/main" noGrp="1"/>
          </p:cNvSpPr>
          <p:nvPr/>
        </p:nvSpPr>
        <p:spPr>
          <a:xfrm xmlns:a="http://schemas.openxmlformats.org/drawingml/2006/main">
            <a:off x="3790950" y="44196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взвешенная релевантность / идеальная выдача</a:t>
            </a:r>
          </a:p>
        </p:txBody>
      </p:sp>
      <p:sp>
        <p:nvSpPr>
          <p:cNvPr id="7" name="Разметка меняет оценку; поисковая выдача остаётс">
            <a:extLst xmlns:a="http://schemas.openxmlformats.org/drawingml/2006/main">
              <a:ext uri="{FF2B5EF4-FFF2-40B4-BE49-F238E27FC236}">
                <a16:creationId xmlns:a16="http://schemas.microsoft.com/office/drawing/2014/main" id="{B44FCEBC-367B-45A5-AC29-20A1006F6582}"/>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Разметка меняет оценку; поисковая выдача остаётся прежней</a:t>
            </a:r>
          </a:p>
        </p:txBody>
      </p:sp>
      <p:sp>
        <p:nvSpPr>
          <p:cNvPr id="8" name="Учебный пример весов 1 / log₂(позиция + 1). Для ">
            <a:extLst xmlns:a="http://schemas.openxmlformats.org/drawingml/2006/main">
              <a:ext uri="{FF2B5EF4-FFF2-40B4-BE49-F238E27FC236}">
                <a16:creationId xmlns:a16="http://schemas.microsoft.com/office/drawing/2014/main" id="{3F88E2E0-34DB-4AA0-A2F2-FED43103C49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Учебный пример весов 1 / log₂(позиция + 1). Для сравнения используется общий идеал.</a:t>
            </a:r>
          </a:p>
        </p:txBody>
      </p:sp>
    </p:spTree>
    <p:extLst>
      <p:ext uri="{BB962C8B-B14F-4D97-AF65-F5344CB8AC3E}">
        <p14:creationId xmlns:p14="http://schemas.microsoft.com/office/powerpoint/2010/main" val="11248639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оразметка раскрывает пропущенные ответы">
            <a:extLst xmlns:a="http://schemas.openxmlformats.org/drawingml/2006/main">
              <a:ext uri="{FF2B5EF4-FFF2-40B4-BE49-F238E27FC236}">
                <a16:creationId xmlns:a16="http://schemas.microsoft.com/office/drawing/2014/main" id="{47834FAE-9FB3-499A-9683-8056C8A56A7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Доразметка раскрывает пропущенные ответы</a:t>
            </a:r>
          </a:p>
        </p:txBody>
      </p:sp>
      <p:sp>
        <p:nvSpPr>
          <p:cNvPr id="2" name="08">
            <a:extLst xmlns:a="http://schemas.openxmlformats.org/drawingml/2006/main">
              <a:ext uri="{FF2B5EF4-FFF2-40B4-BE49-F238E27FC236}">
                <a16:creationId xmlns:a16="http://schemas.microsoft.com/office/drawing/2014/main" id="{DDAA693D-88B0-41A7-8F4B-D9BB4467C6B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08</a:t>
            </a:r>
          </a:p>
        </p:txBody>
      </p:sp>
      <p:sp>
        <p:nvSpPr>
          <p:cNvPr id="3" name="Релевантных фрагментов на запрос в тех же ручных">
            <a:extLst xmlns:a="http://schemas.openxmlformats.org/drawingml/2006/main">
              <a:ext uri="{FF2B5EF4-FFF2-40B4-BE49-F238E27FC236}">
                <a16:creationId xmlns:a16="http://schemas.microsoft.com/office/drawing/2014/main" id="{7B5AF489-7FD6-409C-BAD6-37099D97C39A}"/>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Релевантных фрагментов на запрос в тех же ручных пулах</a:t>
            </a:r>
          </a:p>
        </p:txBody>
      </p:sp>
      <p:sp>
        <p:nvSpPr>
          <p:cNvPr id="4" name="1,05">
            <a:extLst xmlns:a="http://schemas.openxmlformats.org/drawingml/2006/main">
              <a:ext uri="{FF2B5EF4-FFF2-40B4-BE49-F238E27FC236}">
                <a16:creationId xmlns:a16="http://schemas.microsoft.com/office/drawing/2014/main" id="{BB40B6FD-0743-450B-B79E-304D9A4BF85D}"/>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E8B91"/>
                </a:solidFill>
                <a:latin typeface="Arial"/>
                <a:ea typeface="Arial"/>
                <a:cs typeface="Arial"/>
              </a:defRPr>
            </a:pPr>
            <a:r>
              <a:rPr sz="7800" b="1">
                <a:solidFill>
                  <a:srgbClr val="7E8B91"/>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6DF8D38F-F198-4258-8843-BA76CEF759B2}"/>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D76"/>
                </a:solidFill>
                <a:latin typeface="Arial"/>
                <a:ea typeface="Arial"/>
                <a:cs typeface="Arial"/>
              </a:defRPr>
            </a:pPr>
            <a:r>
              <a:rPr sz="7800" b="1">
                <a:solidFill>
                  <a:srgbClr val="007D76"/>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0C962E52-74AB-4F0E-823A-4D4DD55117DB}"/>
              </a:ext>
            </a:extLst>
          </p:cNvPr>
          <p:cNvSpPr>
            <a:spLocks xmlns:a="http://schemas.openxmlformats.org/drawingml/2006/main" noGrp="1"/>
          </p:cNvSpPr>
          <p:nvPr/>
        </p:nvSpPr>
        <p:spPr>
          <a:xfrm xmlns:a="http://schemas.openxmlformats.org/drawingml/2006/main">
            <a:off x="5105400" y="2819400"/>
            <a:ext cx="128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75" b="0">
                <a:solidFill>
                  <a:srgbClr val="51646A"/>
                </a:solidFill>
                <a:latin typeface="Arial"/>
                <a:ea typeface="Arial"/>
                <a:cs typeface="Arial"/>
              </a:defRPr>
            </a:pPr>
            <a:r>
              <a:rPr sz="4575" b="0">
                <a:solidFill>
                  <a:srgbClr val="5164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D81432DE-54D1-4919-AABA-DE741AC7DC9E}"/>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8" name="Исходные оценки">
            <a:extLst xmlns:a="http://schemas.openxmlformats.org/drawingml/2006/main">
              <a:ext uri="{FF2B5EF4-FFF2-40B4-BE49-F238E27FC236}">
                <a16:creationId xmlns:a16="http://schemas.microsoft.com/office/drawing/2014/main" id="{CC16FD27-DA22-4405-8765-31EAD7D9E0D4}"/>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Исходные оценки</a:t>
            </a:r>
          </a:p>
        </p:txBody>
      </p:sp>
      <p:sp>
        <p:nvSpPr>
          <p:cNvPr id="9" name="1 243 релевантные пары">
            <a:extLst xmlns:a="http://schemas.openxmlformats.org/drawingml/2006/main">
              <a:ext uri="{FF2B5EF4-FFF2-40B4-BE49-F238E27FC236}">
                <a16:creationId xmlns:a16="http://schemas.microsoft.com/office/drawing/2014/main" id="{828EA5B5-CFD7-42A4-9EEB-6CF21925D6AC}"/>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1 243 релевантные пары</a:t>
            </a:r>
          </a:p>
        </p:txBody>
      </p:sp>
      <p:sp>
        <p:nvSpPr>
          <p:cNvPr id="10" name="После доразметки">
            <a:extLst xmlns:a="http://schemas.openxmlformats.org/drawingml/2006/main">
              <a:ext uri="{FF2B5EF4-FFF2-40B4-BE49-F238E27FC236}">
                <a16:creationId xmlns:a16="http://schemas.microsoft.com/office/drawing/2014/main" id="{1556768D-84D5-4EE5-B624-CEB264194F83}"/>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2B"/>
                </a:solidFill>
                <a:latin typeface="Arial"/>
                <a:ea typeface="Arial"/>
                <a:cs typeface="Arial"/>
              </a:defRPr>
            </a:pPr>
            <a:r>
              <a:rPr sz="2400" b="1">
                <a:solidFill>
                  <a:srgbClr val="17282B"/>
                </a:solidFill>
                <a:latin typeface="Arial"/>
                <a:ea typeface="Arial"/>
                <a:cs typeface="Arial"/>
              </a:rPr>
              <a:t>После доразметки</a:t>
            </a:r>
          </a:p>
        </p:txBody>
      </p:sp>
      <p:sp>
        <p:nvSpPr>
          <p:cNvPr id="11" name="20 597 релевантных пар">
            <a:extLst xmlns:a="http://schemas.openxmlformats.org/drawingml/2006/main">
              <a:ext uri="{FF2B5EF4-FFF2-40B4-BE49-F238E27FC236}">
                <a16:creationId xmlns:a16="http://schemas.microsoft.com/office/drawing/2014/main" id="{917476D7-038A-4B30-938E-EE9EA03D1001}"/>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20 597 релевантных пар</a:t>
            </a:r>
          </a:p>
        </p:txBody>
      </p:sp>
      <p:sp>
        <p:nvSpPr>
          <p:cNvPr id="12" name="1 179 запросов. Пулы кандидатов и порядок поиско">
            <a:extLst xmlns:a="http://schemas.openxmlformats.org/drawingml/2006/main">
              <a:ext uri="{FF2B5EF4-FFF2-40B4-BE49-F238E27FC236}">
                <a16:creationId xmlns:a16="http://schemas.microsoft.com/office/drawing/2014/main" id="{62B24547-5F53-472E-AA80-C9604067AED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100533780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Выдача та же. Измеренная оценка выше">
            <a:extLst xmlns:a="http://schemas.openxmlformats.org/drawingml/2006/main">
              <a:ext uri="{FF2B5EF4-FFF2-40B4-BE49-F238E27FC236}">
                <a16:creationId xmlns:a16="http://schemas.microsoft.com/office/drawing/2014/main" id="{5F2BA2BF-15F6-46A8-B2CD-468BEF89BB2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Выдача та же. Измеренная оценка выше</a:t>
            </a:r>
          </a:p>
        </p:txBody>
      </p:sp>
      <p:sp>
        <p:nvSpPr>
          <p:cNvPr id="2" name="09">
            <a:extLst xmlns:a="http://schemas.openxmlformats.org/drawingml/2006/main">
              <a:ext uri="{FF2B5EF4-FFF2-40B4-BE49-F238E27FC236}">
                <a16:creationId xmlns:a16="http://schemas.microsoft.com/office/drawing/2014/main" id="{BA30B29E-6117-4972-B95F-227C725A1C7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09</a:t>
            </a:r>
          </a:p>
        </p:txBody>
      </p:sp>
      <p:sp>
        <p:nvSpPr>
          <p:cNvPr id="3" name="Бинарная NDCG@10 внутри пулов · 1 179 запросов">
            <a:extLst xmlns:a="http://schemas.openxmlformats.org/drawingml/2006/main">
              <a:ext uri="{FF2B5EF4-FFF2-40B4-BE49-F238E27FC236}">
                <a16:creationId xmlns:a16="http://schemas.microsoft.com/office/drawing/2014/main" id="{B916DB16-1E2A-48FD-8EDD-EC1639F77F2A}"/>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Бинарная NDCG@10 внутри пулов · 1 179 запросов</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1aee1200368f4a4e"/>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EF256EC6-273A-4AF5-95EE-3BF14A3C1339}"/>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D76"/>
                </a:solidFill>
                <a:latin typeface="Arial"/>
                <a:ea typeface="Arial"/>
                <a:cs typeface="Arial"/>
              </a:defRPr>
            </a:pPr>
            <a:r>
              <a:rPr sz="2100" b="1">
                <a:solidFill>
                  <a:srgbClr val="007D76"/>
                </a:solidFill>
                <a:latin typeface="Arial"/>
                <a:ea typeface="Arial"/>
                <a:cs typeface="Arial"/>
              </a:rPr>
              <a:t>Изменение E5: +0,391   95%-ный ДИ [0,365; 0,417]</a:t>
            </a:r>
          </a:p>
        </p:txBody>
      </p:sp>
      <p:sp>
        <p:nvSpPr>
          <p:cNvPr id="6" name="NDCG@10 внутри пулов. RRF объединяет ранги BM25,">
            <a:extLst xmlns:a="http://schemas.openxmlformats.org/drawingml/2006/main">
              <a:ext uri="{FF2B5EF4-FFF2-40B4-BE49-F238E27FC236}">
                <a16:creationId xmlns:a16="http://schemas.microsoft.com/office/drawing/2014/main" id="{676F037C-ED9A-46D6-AA76-F3E2FACBEB1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NDCG@10 внутри пулов. RRF объединяет ранги BM25, E5 и BGE; это не новый поиск.</a:t>
            </a:r>
          </a:p>
        </p:txBody>
      </p:sp>
    </p:spTree>
    <p:extLst>
      <p:ext uri="{BB962C8B-B14F-4D97-AF65-F5344CB8AC3E}">
        <p14:creationId xmlns:p14="http://schemas.microsoft.com/office/powerpoint/2010/main" val="5644013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64F37"/>
            </a:solidFill>
            <a:tailEnd type="triangle" w="med" len="med"/>
          </a:ln>
        </p:spPr>
      </p:cxnSp>
      <p:cxnSp>
        <p:nvCxnSpPr>
          <p:cNvPr id="14"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sp>
        <p:nvSpPr>
          <p:cNvPr id="15" name="Зачем нужна модель-судья">
            <a:extLst xmlns:a="http://schemas.openxmlformats.org/drawingml/2006/main">
              <a:ext uri="{FF2B5EF4-FFF2-40B4-BE49-F238E27FC236}">
                <a16:creationId xmlns:a16="http://schemas.microsoft.com/office/drawing/2014/main" id="{FEB7302F-D08F-4A61-B56B-76C6ACAA3BB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Зачем нужна модель-судья</a:t>
            </a:r>
          </a:p>
        </p:txBody>
      </p:sp>
      <p:sp>
        <p:nvSpPr>
          <p:cNvPr id="2" name="10">
            <a:extLst xmlns:a="http://schemas.openxmlformats.org/drawingml/2006/main">
              <a:ext uri="{FF2B5EF4-FFF2-40B4-BE49-F238E27FC236}">
                <a16:creationId xmlns:a16="http://schemas.microsoft.com/office/drawing/2014/main" id="{71D731B6-0D66-4233-8B4B-BAFF13DDDD9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10</a:t>
            </a:r>
          </a:p>
        </p:txBody>
      </p:sp>
      <p:sp>
        <p:nvSpPr>
          <p:cNvPr id="3" name="Текст запроса&#10;Текст кандидата">
            <a:extLst xmlns:a="http://schemas.openxmlformats.org/drawingml/2006/main">
              <a:ext uri="{FF2B5EF4-FFF2-40B4-BE49-F238E27FC236}">
                <a16:creationId xmlns:a16="http://schemas.microsoft.com/office/drawing/2014/main" id="{AD45AFC7-33E4-4E4B-9C73-957858836FAA}"/>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запроса</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кандидата</a:t>
            </a:r>
          </a:p>
        </p:txBody>
      </p:sp>
      <p:sp>
        <p:nvSpPr>
          <p:cNvPr id="4" name="Ручные оценки позволяют обучить масштабируемый р">
            <a:extLst xmlns:a="http://schemas.openxmlformats.org/drawingml/2006/main">
              <a:ext uri="{FF2B5EF4-FFF2-40B4-BE49-F238E27FC236}">
                <a16:creationId xmlns:a16="http://schemas.microsoft.com/office/drawing/2014/main" id="{DA6B0E99-EBDD-4353-9473-6FB487E5D1AB}"/>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Ручные оценки позволяют обучить масштабируемый разметчик</a:t>
            </a:r>
          </a:p>
        </p:txBody>
      </p:sp>
      <p:sp>
        <p:nvSpPr>
          <p:cNvPr id="5" name="MiniLM&#10;кросс-энкодер">
            <a:extLst xmlns:a="http://schemas.openxmlformats.org/drawingml/2006/main">
              <a:ext uri="{FF2B5EF4-FFF2-40B4-BE49-F238E27FC236}">
                <a16:creationId xmlns:a16="http://schemas.microsoft.com/office/drawing/2014/main" id="{44D4DE8E-EE4A-4630-9BA9-16FB99414E06}"/>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MiniLM</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A07AB923-47C5-406E-B86F-84D656769378}"/>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Балл модели</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Псевдометка</a:t>
            </a:r>
          </a:p>
        </p:txBody>
      </p:sp>
      <p:sp>
        <p:nvSpPr>
          <p:cNvPr id="9" name="Совместная обработка текстов">
            <a:extLst xmlns:a="http://schemas.openxmlformats.org/drawingml/2006/main">
              <a:ext uri="{FF2B5EF4-FFF2-40B4-BE49-F238E27FC236}">
                <a16:creationId xmlns:a16="http://schemas.microsoft.com/office/drawing/2014/main" id="{778EDDE5-B9CD-4324-8671-A72721F61394}"/>
              </a:ext>
            </a:extLst>
          </p:cNvPr>
          <p:cNvSpPr>
            <a:spLocks xmlns:a="http://schemas.openxmlformats.org/drawingml/2006/main" noGrp="1"/>
          </p:cNvSpPr>
          <p:nvPr/>
        </p:nvSpPr>
        <p:spPr>
          <a:xfrm xmlns:a="http://schemas.openxmlformats.org/drawingml/2006/main">
            <a:off x="4600575" y="3971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76"/>
                </a:solidFill>
                <a:latin typeface="Arial"/>
                <a:ea typeface="Arial"/>
                <a:cs typeface="Arial"/>
              </a:defRPr>
            </a:pPr>
            <a:r>
              <a:rPr sz="2025" b="0">
                <a:solidFill>
                  <a:srgbClr val="007D76"/>
                </a:solidFill>
                <a:latin typeface="Arial"/>
                <a:ea typeface="Arial"/>
                <a:cs typeface="Arial"/>
              </a:rPr>
              <a:t>Совместная обработка текстов</a:t>
            </a:r>
          </a:p>
        </p:txBody>
      </p:sp>
      <p:sp>
        <p:nvSpPr>
          <p:cNvPr id="10" name="">
            <a:extLst xmlns:a="http://schemas.openxmlformats.org/drawingml/2006/main">
              <a:ext uri="{FF2B5EF4-FFF2-40B4-BE49-F238E27FC236}">
                <a16:creationId xmlns:a16="http://schemas.microsoft.com/office/drawing/2014/main" id="{DBBA6A9F-90F5-44B7-914E-40E82613087B}"/>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11" name="Нет эталонного ответа, рангов и баллов других мо">
            <a:extLst xmlns:a="http://schemas.openxmlformats.org/drawingml/2006/main">
              <a:ext uri="{FF2B5EF4-FFF2-40B4-BE49-F238E27FC236}">
                <a16:creationId xmlns:a16="http://schemas.microsoft.com/office/drawing/2014/main" id="{5AF815B9-3021-47F3-BFB6-099368EDB1E1}"/>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Нет эталонного ответа, рангов и баллов других моделей</a:t>
            </a:r>
          </a:p>
        </p:txBody>
      </p:sp>
      <p:sp>
        <p:nvSpPr>
          <p:cNvPr id="12" name="Судья создаёт псевдометки и не заменяет поисковы">
            <a:extLst xmlns:a="http://schemas.openxmlformats.org/drawingml/2006/main">
              <a:ext uri="{FF2B5EF4-FFF2-40B4-BE49-F238E27FC236}">
                <a16:creationId xmlns:a16="http://schemas.microsoft.com/office/drawing/2014/main" id="{2B1D0E67-13B2-40F4-838A-901924F40A1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Судья создаёт псевдометки и не заменяет поисковые системы.</a:t>
            </a:r>
          </a:p>
        </p:txBody>
      </p:sp>
    </p:spTree>
    <p:extLst>
      <p:ext uri="{BB962C8B-B14F-4D97-AF65-F5344CB8AC3E}">
        <p14:creationId xmlns:p14="http://schemas.microsoft.com/office/powerpoint/2010/main" val="7170112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Проверка судьи на отложенных запросах">
            <a:extLst xmlns:a="http://schemas.openxmlformats.org/drawingml/2006/main">
              <a:ext uri="{FF2B5EF4-FFF2-40B4-BE49-F238E27FC236}">
                <a16:creationId xmlns:a16="http://schemas.microsoft.com/office/drawing/2014/main" id="{0238DAE2-B617-44E1-84E6-B9CB89EC6706}"/>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на отложенных запросах</a:t>
            </a:r>
          </a:p>
        </p:txBody>
      </p:sp>
      <p:sp>
        <p:nvSpPr>
          <p:cNvPr id="2" name="11">
            <a:extLst xmlns:a="http://schemas.openxmlformats.org/drawingml/2006/main">
              <a:ext uri="{FF2B5EF4-FFF2-40B4-BE49-F238E27FC236}">
                <a16:creationId xmlns:a16="http://schemas.microsoft.com/office/drawing/2014/main" id="{1811AA3A-ACA3-43FB-9BC9-90F23E2ACCA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11</a:t>
            </a:r>
          </a:p>
        </p:txBody>
      </p:sp>
      <p:sp>
        <p:nvSpPr>
          <p:cNvPr id="3" name="Разбиение по запросам: 825 обучение / 177 валида">
            <a:extLst xmlns:a="http://schemas.openxmlformats.org/drawingml/2006/main">
              <a:ext uri="{FF2B5EF4-FFF2-40B4-BE49-F238E27FC236}">
                <a16:creationId xmlns:a16="http://schemas.microsoft.com/office/drawing/2014/main" id="{7EE74812-B1B6-4EB0-A430-D3585646E4B5}"/>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Разбиение по запросам: 825 обучение / 177 валидация / 177 тест</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5989759e448e47b9"/>
          </a:graphicData>
        </a:graphic>
      </p:graphicFrame>
      <p:sp>
        <p:nvSpPr>
          <p:cNvPr id="5" name="0,907">
            <a:extLst xmlns:a="http://schemas.openxmlformats.org/drawingml/2006/main">
              <a:ext uri="{FF2B5EF4-FFF2-40B4-BE49-F238E27FC236}">
                <a16:creationId xmlns:a16="http://schemas.microsoft.com/office/drawing/2014/main" id="{F31B5DEF-0234-44E8-95BB-93BD910DB361}"/>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D76"/>
                </a:solidFill>
                <a:latin typeface="Arial"/>
                <a:ea typeface="Arial"/>
                <a:cs typeface="Arial"/>
              </a:defRPr>
            </a:pPr>
            <a:r>
              <a:rPr sz="5100" b="1">
                <a:solidFill>
                  <a:srgbClr val="007D76"/>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49A773CA-DB6D-414C-92F8-6338315BD484}"/>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B4634E24-AC2A-43BD-81A0-5F7B113FD7AC}"/>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282B"/>
                </a:solidFill>
                <a:latin typeface="Arial"/>
                <a:ea typeface="Arial"/>
                <a:cs typeface="Arial"/>
              </a:defRPr>
            </a:pPr>
            <a:r>
              <a:rPr sz="4500" b="1">
                <a:solidFill>
                  <a:srgbClr val="17282B"/>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266F751E-58A3-422C-B50F-219864CAABC7}"/>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F1 при выбранном</a:t>
            </a:r>
          </a:p>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пороге</a:t>
            </a:r>
          </a:p>
        </p:txBody>
      </p:sp>
      <p:sp>
        <p:nvSpPr>
          <p:cNvPr id="9" name="Тест: 5 002 пары · precision 0,851 · recall 0,90">
            <a:extLst xmlns:a="http://schemas.openxmlformats.org/drawingml/2006/main">
              <a:ext uri="{FF2B5EF4-FFF2-40B4-BE49-F238E27FC236}">
                <a16:creationId xmlns:a16="http://schemas.microsoft.com/office/drawing/2014/main" id="{C2B04FEA-9FC3-45F7-93D3-0E1F00DDD36E}"/>
              </a:ext>
            </a:extLst>
          </p:cNvPr>
          <p:cNvSpPr>
            <a:spLocks xmlns:a="http://schemas.openxmlformats.org/drawingml/2006/main" noGrp="1"/>
          </p:cNvSpPr>
          <p:nvPr/>
        </p:nvSpPr>
        <p:spPr>
          <a:xfrm xmlns:a="http://schemas.openxmlformats.org/drawingml/2006/main">
            <a:off x="609600" y="5686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Тест: 5 002 пары · precision 0,851 · recall 0,902</a:t>
            </a:r>
          </a:p>
        </p:txBody>
      </p:sp>
      <p:sp>
        <p:nvSpPr>
          <p:cNvPr id="10" name="Точка: порог по валидации. Глубокие пулы не имею">
            <a:extLst xmlns:a="http://schemas.openxmlformats.org/drawingml/2006/main">
              <a:ext uri="{FF2B5EF4-FFF2-40B4-BE49-F238E27FC236}">
                <a16:creationId xmlns:a16="http://schemas.microsoft.com/office/drawing/2014/main" id="{AD740477-DDE2-452A-AA5F-D8210543422B}"/>
              </a:ext>
            </a:extLst>
          </p:cNvPr>
          <p:cNvSpPr>
            <a:spLocks xmlns:a="http://schemas.openxmlformats.org/drawingml/2006/main" noGrp="1"/>
          </p:cNvSpPr>
          <p:nvPr/>
        </p:nvSpPr>
        <p:spPr>
          <a:xfrm xmlns:a="http://schemas.openxmlformats.org/drawingml/2006/main">
            <a:off x="609600" y="61626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Точка: порог по валидации. Глубокие пулы не имеют независимой ручной проверки.</a:t>
            </a:r>
          </a:p>
        </p:txBody>
      </p:sp>
    </p:spTree>
    <p:extLst>
      <p:ext uri="{BB962C8B-B14F-4D97-AF65-F5344CB8AC3E}">
        <p14:creationId xmlns:p14="http://schemas.microsoft.com/office/powerpoint/2010/main" val="20706790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Глубина пула меняет число псевдометок">
            <a:extLst xmlns:a="http://schemas.openxmlformats.org/drawingml/2006/main">
              <a:ext uri="{FF2B5EF4-FFF2-40B4-BE49-F238E27FC236}">
                <a16:creationId xmlns:a16="http://schemas.microsoft.com/office/drawing/2014/main" id="{376B840B-C0C6-465C-900E-06AF88EAB5C8}"/>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меняет число псевдометок</a:t>
            </a:r>
          </a:p>
        </p:txBody>
      </p:sp>
      <p:sp>
        <p:nvSpPr>
          <p:cNvPr id="2" name="12">
            <a:extLst xmlns:a="http://schemas.openxmlformats.org/drawingml/2006/main">
              <a:ext uri="{FF2B5EF4-FFF2-40B4-BE49-F238E27FC236}">
                <a16:creationId xmlns:a16="http://schemas.microsoft.com/office/drawing/2014/main" id="{096DD36C-D9AE-4705-AF96-F1F6518370A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12</a:t>
            </a:r>
          </a:p>
        </p:txBody>
      </p:sp>
      <p:sp>
        <p:nvSpPr>
          <p:cNvPr id="3" name="K: сколько результатов каждой модели получит оце">
            <a:extLst xmlns:a="http://schemas.openxmlformats.org/drawingml/2006/main">
              <a:ext uri="{FF2B5EF4-FFF2-40B4-BE49-F238E27FC236}">
                <a16:creationId xmlns:a16="http://schemas.microsoft.com/office/drawing/2014/main" id="{0FE50FDE-14B0-47F0-883D-3C0E501D56F6}"/>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K: сколько результатов каждой модели получит оценку судьи</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4F4A682E-AAAA-40DA-A6D1-7D68AE47E2C7}"/>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69bde166b7664bd7"/>
          </a:graphicData>
        </a:graphic>
      </p:graphicFrame>
      <p:sp>
        <p:nvSpPr>
          <p:cNvPr id="6" name="451,5">
            <a:extLst xmlns:a="http://schemas.openxmlformats.org/drawingml/2006/main">
              <a:ext uri="{FF2B5EF4-FFF2-40B4-BE49-F238E27FC236}">
                <a16:creationId xmlns:a16="http://schemas.microsoft.com/office/drawing/2014/main" id="{18859F30-AB7F-49E9-9A7F-9535A11E3904}"/>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E8B91"/>
                </a:solidFill>
                <a:latin typeface="Arial"/>
                <a:ea typeface="Arial"/>
                <a:cs typeface="Arial"/>
              </a:defRPr>
            </a:pPr>
            <a:r>
              <a:rPr sz="4425" b="1">
                <a:solidFill>
                  <a:srgbClr val="7E8B91"/>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6A81D01D-B976-4DD6-BC47-DD3CBFBCA90D}"/>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450023F-5512-41EA-B2C7-99EF371D5E13}"/>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64F37"/>
                </a:solidFill>
                <a:latin typeface="Arial"/>
                <a:ea typeface="Arial"/>
                <a:cs typeface="Arial"/>
              </a:defRPr>
            </a:pPr>
            <a:r>
              <a:rPr sz="4425" b="1">
                <a:solidFill>
                  <a:srgbClr val="C64F37"/>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B0CC79D7-B99E-4748-B850-AA2EC100479D}"/>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по судье</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580B7839-EE57-4BC7-9373-CBE6F7429B9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11279403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Глубина пула и глубина RRF меняются вместе">
            <a:extLst xmlns:a="http://schemas.openxmlformats.org/drawingml/2006/main">
              <a:ext uri="{FF2B5EF4-FFF2-40B4-BE49-F238E27FC236}">
                <a16:creationId xmlns:a16="http://schemas.microsoft.com/office/drawing/2014/main" id="{6912C461-2CEA-4C60-B395-ACE8E9E0895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и глубина RRF меняются вместе</a:t>
            </a:r>
          </a:p>
        </p:txBody>
      </p:sp>
      <p:sp>
        <p:nvSpPr>
          <p:cNvPr id="2" name="13">
            <a:extLst xmlns:a="http://schemas.openxmlformats.org/drawingml/2006/main">
              <a:ext uri="{FF2B5EF4-FFF2-40B4-BE49-F238E27FC236}">
                <a16:creationId xmlns:a16="http://schemas.microsoft.com/office/drawing/2014/main" id="{8C022529-CAED-42B1-BFA4-A7B354944B7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13</a:t>
            </a:r>
          </a:p>
        </p:txBody>
      </p:sp>
      <p:sp>
        <p:nvSpPr>
          <p:cNvPr id="3" name="K: документы для оценки       L: документы для с">
            <a:extLst xmlns:a="http://schemas.openxmlformats.org/drawingml/2006/main">
              <a:ext uri="{FF2B5EF4-FFF2-40B4-BE49-F238E27FC236}">
                <a16:creationId xmlns:a16="http://schemas.microsoft.com/office/drawing/2014/main" id="{3AAFE33A-E249-4ECD-80C1-DC1B3C92EE11}"/>
              </a:ext>
            </a:extLst>
          </p:cNvPr>
          <p:cNvSpPr>
            <a:spLocks xmlns:a="http://schemas.openxmlformats.org/drawingml/2006/main" noGrp="1"/>
          </p:cNvSpPr>
          <p:nvPr/>
        </p:nvSpPr>
        <p:spPr>
          <a:xfrm xmlns:a="http://schemas.openxmlformats.org/drawingml/2006/main">
            <a:off x="609600" y="148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K: документы для оценки       L: документы для слияния рангов</a:t>
            </a:r>
          </a:p>
        </p:txBody>
      </p:sp>
      <p:sp>
        <p:nvSpPr>
          <p:cNvPr id="4" name="L = K: это совместное изменение двух параметров">
            <a:extLst xmlns:a="http://schemas.openxmlformats.org/drawingml/2006/main">
              <a:ext uri="{FF2B5EF4-FFF2-40B4-BE49-F238E27FC236}">
                <a16:creationId xmlns:a16="http://schemas.microsoft.com/office/drawing/2014/main" id="{B6CD8CD4-AFA9-4E6A-8989-8664DA569D7C}"/>
              </a:ext>
            </a:extLst>
          </p:cNvPr>
          <p:cNvSpPr>
            <a:spLocks xmlns:a="http://schemas.openxmlformats.org/drawingml/2006/main" noGrp="1"/>
          </p:cNvSpPr>
          <p:nvPr/>
        </p:nvSpPr>
        <p:spPr>
          <a:xfrm xmlns:a="http://schemas.openxmlformats.org/drawingml/2006/main">
            <a:off x="609600" y="191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64F37"/>
                </a:solidFill>
                <a:latin typeface="Arial"/>
                <a:ea typeface="Arial"/>
                <a:cs typeface="Arial"/>
              </a:defRPr>
            </a:pPr>
            <a:r>
              <a:rPr sz="2175" b="1">
                <a:solidFill>
                  <a:srgbClr val="C64F37"/>
                </a:solidFill>
                <a:latin typeface="Arial"/>
                <a:ea typeface="Arial"/>
                <a:cs typeface="Arial"/>
              </a:rPr>
              <a:t>L = K: это совместное изменение двух параметров</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576e269ae42f4f97"/>
          </a:graphicData>
        </a:graphic>
      </p:graphicFrame>
      <p:sp>
        <p:nvSpPr>
          <p:cNvPr id="6" name="K = 200: +0,0088 NDCG@10, небольшой абсолютный в">
            <a:extLst xmlns:a="http://schemas.openxmlformats.org/drawingml/2006/main">
              <a:ext uri="{FF2B5EF4-FFF2-40B4-BE49-F238E27FC236}">
                <a16:creationId xmlns:a16="http://schemas.microsoft.com/office/drawing/2014/main" id="{463D2266-6EE1-4C8E-B8E9-F500BAFDA149}"/>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64F37"/>
                </a:solidFill>
                <a:latin typeface="Arial"/>
                <a:ea typeface="Arial"/>
                <a:cs typeface="Arial"/>
              </a:defRPr>
            </a:pPr>
            <a:r>
              <a:rPr sz="2100" b="1">
                <a:solidFill>
                  <a:srgbClr val="C64F37"/>
                </a:solidFill>
                <a:latin typeface="Arial"/>
                <a:ea typeface="Arial"/>
                <a:cs typeface="Arial"/>
              </a:rPr>
              <a:t>K = 200: +0,0088 NDCG@10, небольшой абсолютный выигрыш</a:t>
            </a:r>
          </a:p>
        </p:txBody>
      </p:sp>
      <p:sp>
        <p:nvSpPr>
          <p:cNvPr id="7" name="95%-ный парный ДИ [0,0082; 0,0095]. Ошибки и нео">
            <a:extLst xmlns:a="http://schemas.openxmlformats.org/drawingml/2006/main">
              <a:ext uri="{FF2B5EF4-FFF2-40B4-BE49-F238E27FC236}">
                <a16:creationId xmlns:a16="http://schemas.microsoft.com/office/drawing/2014/main" id="{8E9C1E85-B684-43D3-B541-9CF8DACEB913}"/>
              </a:ext>
            </a:extLst>
          </p:cNvPr>
          <p:cNvSpPr>
            <a:spLocks xmlns:a="http://schemas.openxmlformats.org/drawingml/2006/main" noGrp="1"/>
          </p:cNvSpPr>
          <p:nvPr/>
        </p:nvSpPr>
        <p:spPr>
          <a:xfrm xmlns:a="http://schemas.openxmlformats.org/drawingml/2006/main">
            <a:off x="609600" y="60579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95%-ный парный ДИ [0,0082; 0,0095]. Ошибки и неопределённость судьи не учтены.</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Статистическая различимость не устанавливает полезность для пользователя.</a:t>
            </a:r>
          </a:p>
        </p:txBody>
      </p:sp>
    </p:spTree>
    <p:extLst>
      <p:ext uri="{BB962C8B-B14F-4D97-AF65-F5344CB8AC3E}">
        <p14:creationId xmlns:p14="http://schemas.microsoft.com/office/powerpoint/2010/main" val="5961566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Ключевой опыт: выдача зафиксирована">
            <a:extLst xmlns:a="http://schemas.openxmlformats.org/drawingml/2006/main">
              <a:ext uri="{FF2B5EF4-FFF2-40B4-BE49-F238E27FC236}">
                <a16:creationId xmlns:a16="http://schemas.microsoft.com/office/drawing/2014/main" id="{34529ECB-D170-419B-BD41-5810BF74B38F}"/>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Ключевой опыт: выдача зафиксирована</a:t>
            </a:r>
          </a:p>
        </p:txBody>
      </p:sp>
      <p:sp>
        <p:nvSpPr>
          <p:cNvPr id="2" name="14">
            <a:extLst xmlns:a="http://schemas.openxmlformats.org/drawingml/2006/main">
              <a:ext uri="{FF2B5EF4-FFF2-40B4-BE49-F238E27FC236}">
                <a16:creationId xmlns:a16="http://schemas.microsoft.com/office/drawing/2014/main" id="{C95E77C5-4802-44B3-A9CB-DBD6C34F09A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14</a:t>
            </a:r>
          </a:p>
        </p:txBody>
      </p:sp>
      <p:sp>
        <p:nvSpPr>
          <p:cNvPr id="3" name="L = 200. У обеих систем один и тот же топ-10 при">
            <a:extLst xmlns:a="http://schemas.openxmlformats.org/drawingml/2006/main">
              <a:ext uri="{FF2B5EF4-FFF2-40B4-BE49-F238E27FC236}">
                <a16:creationId xmlns:a16="http://schemas.microsoft.com/office/drawing/2014/main" id="{84287A29-E260-4A1D-951B-8EFEDC20D735}"/>
              </a:ext>
            </a:extLst>
          </p:cNvPr>
          <p:cNvSpPr>
            <a:spLocks xmlns:a="http://schemas.openxmlformats.org/drawingml/2006/main" noGrp="1"/>
          </p:cNvSpPr>
          <p:nvPr/>
        </p:nvSpPr>
        <p:spPr>
          <a:xfrm xmlns:a="http://schemas.openxmlformats.org/drawingml/2006/main">
            <a:off x="609600" y="148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L = 200. У обеих систем один и тот же топ-10 при любом K</a:t>
            </a:r>
          </a:p>
        </p:txBody>
      </p:sp>
      <p:sp>
        <p:nvSpPr>
          <p:cNvPr id="4" name="Меняются только доступные оценки релевантности">
            <a:extLst xmlns:a="http://schemas.openxmlformats.org/drawingml/2006/main">
              <a:ext uri="{FF2B5EF4-FFF2-40B4-BE49-F238E27FC236}">
                <a16:creationId xmlns:a16="http://schemas.microsoft.com/office/drawing/2014/main" id="{CEB3B93E-2E3C-4A1B-B4EB-814ECD4ADC34}"/>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Меняются только доступные оценки релевантности</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aec24afd97f945d7"/>
          </a:graphicData>
        </a:graphic>
      </p:graphicFrame>
      <p:sp>
        <p:nvSpPr>
          <p:cNvPr id="6" name="14,4%">
            <a:extLst xmlns:a="http://schemas.openxmlformats.org/drawingml/2006/main">
              <a:ext uri="{FF2B5EF4-FFF2-40B4-BE49-F238E27FC236}">
                <a16:creationId xmlns:a16="http://schemas.microsoft.com/office/drawing/2014/main" id="{83FBFAD5-2CCF-4AD4-A990-84F3911EF004}"/>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7545BC9C-AEB1-4022-B3CD-01DE21D48706}"/>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пар из топ-10 RRF</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вне оценочного пула</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при K = 10</a:t>
            </a:r>
          </a:p>
        </p:txBody>
      </p:sp>
      <p:sp>
        <p:nvSpPr>
          <p:cNvPr id="8" name="Топ-10 E5 уже&#10;целиком внутри пула">
            <a:extLst xmlns:a="http://schemas.openxmlformats.org/drawingml/2006/main">
              <a:ext uri="{FF2B5EF4-FFF2-40B4-BE49-F238E27FC236}">
                <a16:creationId xmlns:a16="http://schemas.microsoft.com/office/drawing/2014/main" id="{A33D6C80-D3B9-476F-8D75-AA3F9BF20C17}"/>
              </a:ext>
            </a:extLst>
          </p:cNvPr>
          <p:cNvSpPr>
            <a:spLocks xmlns:a="http://schemas.openxmlformats.org/drawingml/2006/main" noGrp="1"/>
          </p:cNvSpPr>
          <p:nvPr/>
        </p:nvSpPr>
        <p:spPr>
          <a:xfrm xmlns:a="http://schemas.openxmlformats.org/drawingml/2006/main">
            <a:off x="8963025" y="49053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Топ-10 E5 уже</a:t>
            </a:r>
          </a:p>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целиком внутри пула</a:t>
            </a:r>
          </a:p>
        </p:txBody>
      </p:sp>
      <p:sp>
        <p:nvSpPr>
          <p:cNvPr id="9" name="K = 10: −0,0661">
            <a:extLst xmlns:a="http://schemas.openxmlformats.org/drawingml/2006/main">
              <a:ext uri="{FF2B5EF4-FFF2-40B4-BE49-F238E27FC236}">
                <a16:creationId xmlns:a16="http://schemas.microsoft.com/office/drawing/2014/main" id="{9CDF2970-67E2-44A6-A6E8-3B8530528BCD}"/>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5A266401-9CA5-4B3C-900B-CD78904E3AC0}"/>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30: +0,0080</a:t>
            </a:r>
          </a:p>
        </p:txBody>
      </p:sp>
      <p:sp>
        <p:nvSpPr>
          <p:cNvPr id="11" name="Разность RRF − E5 по псевдометкам. Расширение пу">
            <a:extLst xmlns:a="http://schemas.openxmlformats.org/drawingml/2006/main">
              <a:ext uri="{FF2B5EF4-FFF2-40B4-BE49-F238E27FC236}">
                <a16:creationId xmlns:a16="http://schemas.microsoft.com/office/drawing/2014/main" id="{9CE3E3A9-C608-4F9C-A000-C1A5A55A805E}"/>
              </a:ext>
            </a:extLst>
          </p:cNvPr>
          <p:cNvSpPr>
            <a:spLocks xmlns:a="http://schemas.openxmlformats.org/drawingml/2006/main" noGrp="1"/>
          </p:cNvSpPr>
          <p:nvPr/>
        </p:nvSpPr>
        <p:spPr>
          <a:xfrm xmlns:a="http://schemas.openxmlformats.org/drawingml/2006/main">
            <a:off x="609600" y="6115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Разность RRF − E5 по псевдометкам. Расширение пула меняет покрытие и нормировку.</a:t>
            </a:r>
          </a:p>
        </p:txBody>
      </p:sp>
    </p:spTree>
    <p:extLst>
      <p:ext uri="{BB962C8B-B14F-4D97-AF65-F5344CB8AC3E}">
        <p14:creationId xmlns:p14="http://schemas.microsoft.com/office/powerpoint/2010/main" val="11464337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Что проверено, а что ещё нет">
            <a:extLst xmlns:a="http://schemas.openxmlformats.org/drawingml/2006/main">
              <a:ext uri="{FF2B5EF4-FFF2-40B4-BE49-F238E27FC236}">
                <a16:creationId xmlns:a16="http://schemas.microsoft.com/office/drawing/2014/main" id="{85FDB169-2625-4F1D-8635-CDCE32E5760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проверено, а что ещё нет</a:t>
            </a:r>
          </a:p>
        </p:txBody>
      </p:sp>
      <p:sp>
        <p:nvSpPr>
          <p:cNvPr id="2" name="15">
            <a:extLst xmlns:a="http://schemas.openxmlformats.org/drawingml/2006/main">
              <a:ext uri="{FF2B5EF4-FFF2-40B4-BE49-F238E27FC236}">
                <a16:creationId xmlns:a16="http://schemas.microsoft.com/office/drawing/2014/main" id="{C9819DFC-49DD-4B50-B5E0-BE369D71E01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15</a:t>
            </a:r>
          </a:p>
        </p:txBody>
      </p:sp>
      <p:sp>
        <p:nvSpPr>
          <p:cNvPr id="3" name="Проверки устойчивости">
            <a:extLst xmlns:a="http://schemas.openxmlformats.org/drawingml/2006/main">
              <a:ext uri="{FF2B5EF4-FFF2-40B4-BE49-F238E27FC236}">
                <a16:creationId xmlns:a16="http://schemas.microsoft.com/office/drawing/2014/main" id="{864A8721-4EA9-49DD-8B4F-84D16DEB793C}"/>
              </a:ext>
            </a:extLst>
          </p:cNvPr>
          <p:cNvSpPr>
            <a:spLocks xmlns:a="http://schemas.openxmlformats.org/drawingml/2006/main" noGrp="1"/>
          </p:cNvSpPr>
          <p:nvPr/>
        </p:nvSpPr>
        <p:spPr>
          <a:xfrm xmlns:a="http://schemas.openxmlformats.org/drawingml/2006/main">
            <a:off x="609600" y="16383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Проверки устойчивости</a:t>
            </a:r>
          </a:p>
        </p:txBody>
      </p:sp>
      <p:sp>
        <p:nvSpPr>
          <p:cNvPr id="4" name="1 156 запросов">
            <a:extLst xmlns:a="http://schemas.openxmlformats.org/drawingml/2006/main">
              <a:ext uri="{FF2B5EF4-FFF2-40B4-BE49-F238E27FC236}">
                <a16:creationId xmlns:a16="http://schemas.microsoft.com/office/drawing/2014/main" id="{B24194BF-DC3B-4314-89FD-E34A640EB153}"/>
              </a:ext>
            </a:extLst>
          </p:cNvPr>
          <p:cNvSpPr>
            <a:spLocks xmlns:a="http://schemas.openxmlformats.org/drawingml/2006/main" noGrp="1"/>
          </p:cNvSpPr>
          <p:nvPr/>
        </p:nvSpPr>
        <p:spPr>
          <a:xfrm xmlns:a="http://schemas.openxmlformats.org/drawingml/2006/main">
            <a:off x="609600" y="238125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1 156 запросов</a:t>
            </a:r>
          </a:p>
        </p:txBody>
      </p:sp>
      <p:sp>
        <p:nvSpPr>
          <p:cNvPr id="5" name="После исключения 23 проблемных:&#10;порядок систем с">
            <a:extLst xmlns:a="http://schemas.openxmlformats.org/drawingml/2006/main">
              <a:ext uri="{FF2B5EF4-FFF2-40B4-BE49-F238E27FC236}">
                <a16:creationId xmlns:a16="http://schemas.microsoft.com/office/drawing/2014/main" id="{0544BD37-20F2-4D2D-8B14-690F89033CD0}"/>
              </a:ext>
            </a:extLst>
          </p:cNvPr>
          <p:cNvSpPr>
            <a:spLocks xmlns:a="http://schemas.openxmlformats.org/drawingml/2006/main" noGrp="1"/>
          </p:cNvSpPr>
          <p:nvPr/>
        </p:nvSpPr>
        <p:spPr>
          <a:xfrm xmlns:a="http://schemas.openxmlformats.org/drawingml/2006/main">
            <a:off x="609600" y="29622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После исключения 23 проблемных:</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порядок систем сохранён</a:t>
            </a:r>
          </a:p>
        </p:txBody>
      </p:sp>
      <p:sp>
        <p:nvSpPr>
          <p:cNvPr id="6" name="99 914 запросов">
            <a:extLst xmlns:a="http://schemas.openxmlformats.org/drawingml/2006/main">
              <a:ext uri="{FF2B5EF4-FFF2-40B4-BE49-F238E27FC236}">
                <a16:creationId xmlns:a16="http://schemas.microsoft.com/office/drawing/2014/main" id="{2C14F658-4EA7-401C-A118-DC4FA22219E4}"/>
              </a:ext>
            </a:extLst>
          </p:cNvPr>
          <p:cNvSpPr>
            <a:spLocks xmlns:a="http://schemas.openxmlformats.org/drawingml/2006/main" noGrp="1"/>
          </p:cNvSpPr>
          <p:nvPr/>
        </p:nvSpPr>
        <p:spPr>
          <a:xfrm xmlns:a="http://schemas.openxmlformats.org/drawingml/2006/main">
            <a:off x="609600" y="40862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99 914 запросов</a:t>
            </a:r>
          </a:p>
        </p:txBody>
      </p:sp>
      <p:sp>
        <p:nvSpPr>
          <p:cNvPr id="7" name="Без всех ручных запросов:&#10;знаки различий RRF − E">
            <a:extLst xmlns:a="http://schemas.openxmlformats.org/drawingml/2006/main">
              <a:ext uri="{FF2B5EF4-FFF2-40B4-BE49-F238E27FC236}">
                <a16:creationId xmlns:a16="http://schemas.microsoft.com/office/drawing/2014/main" id="{727E0B25-598A-42C5-8FB1-3635AC0570AF}"/>
              </a:ext>
            </a:extLst>
          </p:cNvPr>
          <p:cNvSpPr>
            <a:spLocks xmlns:a="http://schemas.openxmlformats.org/drawingml/2006/main" noGrp="1"/>
          </p:cNvSpPr>
          <p:nvPr/>
        </p:nvSpPr>
        <p:spPr>
          <a:xfrm xmlns:a="http://schemas.openxmlformats.org/drawingml/2006/main">
            <a:off x="6096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Без всех ручных запросов:</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знаки различий RRF − E5 сохранены</a:t>
            </a:r>
          </a:p>
        </p:txBody>
      </p:sp>
      <p:sp>
        <p:nvSpPr>
          <p:cNvPr id="8" name="Границы выводов">
            <a:extLst xmlns:a="http://schemas.openxmlformats.org/drawingml/2006/main">
              <a:ext uri="{FF2B5EF4-FFF2-40B4-BE49-F238E27FC236}">
                <a16:creationId xmlns:a16="http://schemas.microsoft.com/office/drawing/2014/main" id="{11A6D07F-A530-4AA1-9812-3B5B1C9B066E}"/>
              </a:ext>
            </a:extLst>
          </p:cNvPr>
          <p:cNvSpPr>
            <a:spLocks xmlns:a="http://schemas.openxmlformats.org/drawingml/2006/main" noGrp="1"/>
          </p:cNvSpPr>
          <p:nvPr/>
        </p:nvSpPr>
        <p:spPr>
          <a:xfrm xmlns:a="http://schemas.openxmlformats.org/drawingml/2006/main">
            <a:off x="6705600" y="163830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Границы выводов</a:t>
            </a:r>
          </a:p>
        </p:txBody>
      </p:sp>
      <p:sp>
        <p:nvSpPr>
          <p:cNvPr id="9" name="Ручной пул обогащён&#10;известным ответом">
            <a:extLst xmlns:a="http://schemas.openxmlformats.org/drawingml/2006/main">
              <a:ext uri="{FF2B5EF4-FFF2-40B4-BE49-F238E27FC236}">
                <a16:creationId xmlns:a16="http://schemas.microsoft.com/office/drawing/2014/main" id="{31B93804-2914-4A22-B12F-829DE6BF1620}"/>
              </a:ext>
            </a:extLst>
          </p:cNvPr>
          <p:cNvSpPr>
            <a:spLocks xmlns:a="http://schemas.openxmlformats.org/drawingml/2006/main" noGrp="1"/>
          </p:cNvSpPr>
          <p:nvPr/>
        </p:nvSpPr>
        <p:spPr>
          <a:xfrm xmlns:a="http://schemas.openxmlformats.org/drawingml/2006/main">
            <a:off x="6705600" y="24003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Ручной пул обогащён</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известным ответом</a:t>
            </a:r>
          </a:p>
        </p:txBody>
      </p:sp>
      <p:sp>
        <p:nvSpPr>
          <p:cNvPr id="10" name="Согласие разметчиков&#10;не измерено">
            <a:extLst xmlns:a="http://schemas.openxmlformats.org/drawingml/2006/main">
              <a:ext uri="{FF2B5EF4-FFF2-40B4-BE49-F238E27FC236}">
                <a16:creationId xmlns:a16="http://schemas.microsoft.com/office/drawing/2014/main" id="{AE44229F-47A8-440F-8E9B-27AD0615C18A}"/>
              </a:ext>
            </a:extLst>
          </p:cNvPr>
          <p:cNvSpPr>
            <a:spLocks xmlns:a="http://schemas.openxmlformats.org/drawingml/2006/main" noGrp="1"/>
          </p:cNvSpPr>
          <p:nvPr/>
        </p:nvSpPr>
        <p:spPr>
          <a:xfrm xmlns:a="http://schemas.openxmlformats.org/drawingml/2006/main">
            <a:off x="6705600" y="35242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Согласие разметчиков</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измерено</a:t>
            </a:r>
          </a:p>
        </p:txBody>
      </p:sp>
      <p:sp>
        <p:nvSpPr>
          <p:cNvPr id="11" name="Один судья; глубокие пулы&#10;не проверены людьми">
            <a:extLst xmlns:a="http://schemas.openxmlformats.org/drawingml/2006/main">
              <a:ext uri="{FF2B5EF4-FFF2-40B4-BE49-F238E27FC236}">
                <a16:creationId xmlns:a16="http://schemas.microsoft.com/office/drawing/2014/main" id="{E84AB3CD-8A0A-4674-BD7C-BA08D8B46A96}"/>
              </a:ext>
            </a:extLst>
          </p:cNvPr>
          <p:cNvSpPr>
            <a:spLocks xmlns:a="http://schemas.openxmlformats.org/drawingml/2006/main" noGrp="1"/>
          </p:cNvSpPr>
          <p:nvPr/>
        </p:nvSpPr>
        <p:spPr>
          <a:xfrm xmlns:a="http://schemas.openxmlformats.org/drawingml/2006/main">
            <a:off x="6705600" y="46482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Один судья; глубокие пулы</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проверены людьми</a:t>
            </a:r>
          </a:p>
        </p:txBody>
      </p:sp>
      <p:sp>
        <p:nvSpPr>
          <p:cNvPr id="12" name="Переносимость на другие модели, языки и домены т">
            <a:extLst xmlns:a="http://schemas.openxmlformats.org/drawingml/2006/main">
              <a:ext uri="{FF2B5EF4-FFF2-40B4-BE49-F238E27FC236}">
                <a16:creationId xmlns:a16="http://schemas.microsoft.com/office/drawing/2014/main" id="{29F4323A-9173-43B8-A4E0-77CC29774D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Переносимость на другие модели, языки и домены требует отдельного эксперимента.</a:t>
            </a:r>
          </a:p>
        </p:txBody>
      </p:sp>
    </p:spTree>
    <p:extLst>
      <p:ext uri="{BB962C8B-B14F-4D97-AF65-F5344CB8AC3E}">
        <p14:creationId xmlns:p14="http://schemas.microsoft.com/office/powerpoint/2010/main" val="829027501"/>
      </p:ext>
    </p:extLst>
  </p:cSld>
</p:sld>
</file>

<file path=ppt/slides/slide16.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Главные выводы">
            <a:extLst xmlns:a="http://schemas.openxmlformats.org/drawingml/2006/main">
              <a:ext uri="{FF2B5EF4-FFF2-40B4-BE49-F238E27FC236}">
                <a16:creationId xmlns:a16="http://schemas.microsoft.com/office/drawing/2014/main" id="{6D002DD9-48AE-47A6-B6CD-D535837ECB7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Главные выводы</a:t>
            </a:r>
          </a:p>
        </p:txBody>
      </p:sp>
      <p:sp>
        <p:nvSpPr>
          <p:cNvPr id="2" name="16">
            <a:extLst xmlns:a="http://schemas.openxmlformats.org/drawingml/2006/main">
              <a:ext uri="{FF2B5EF4-FFF2-40B4-BE49-F238E27FC236}">
                <a16:creationId xmlns:a16="http://schemas.microsoft.com/office/drawing/2014/main" id="{05C62AB3-9709-444F-BC79-B210AC15C24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16</a:t>
            </a:r>
          </a:p>
        </p:txBody>
      </p:sp>
      <p:sp>
        <p:nvSpPr>
          <p:cNvPr id="3" name="Ручная доразметка">
            <a:extLst xmlns:a="http://schemas.openxmlformats.org/drawingml/2006/main">
              <a:ext uri="{FF2B5EF4-FFF2-40B4-BE49-F238E27FC236}">
                <a16:creationId xmlns:a16="http://schemas.microsoft.com/office/drawing/2014/main" id="{28756ADF-AD20-4CD6-847B-86C73B75D56D}"/>
              </a:ext>
            </a:extLst>
          </p:cNvPr>
          <p:cNvSpPr>
            <a:spLocks xmlns:a="http://schemas.openxmlformats.org/drawingml/2006/main" noGrp="1"/>
          </p:cNvSpPr>
          <p:nvPr/>
        </p:nvSpPr>
        <p:spPr>
          <a:xfrm xmlns:a="http://schemas.openxmlformats.org/drawingml/2006/main">
            <a:off x="60960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Ручная доразметка</a:t>
            </a:r>
          </a:p>
        </p:txBody>
      </p:sp>
      <p:sp>
        <p:nvSpPr>
          <p:cNvPr id="4" name="E5: 0,488 → 0,879">
            <a:extLst xmlns:a="http://schemas.openxmlformats.org/drawingml/2006/main">
              <a:ext uri="{FF2B5EF4-FFF2-40B4-BE49-F238E27FC236}">
                <a16:creationId xmlns:a16="http://schemas.microsoft.com/office/drawing/2014/main" id="{E12052C7-F201-4639-AA12-4E1457764DAE}"/>
              </a:ext>
            </a:extLst>
          </p:cNvPr>
          <p:cNvSpPr>
            <a:spLocks xmlns:a="http://schemas.openxmlformats.org/drawingml/2006/main" noGrp="1"/>
          </p:cNvSpPr>
          <p:nvPr/>
        </p:nvSpPr>
        <p:spPr>
          <a:xfrm xmlns:a="http://schemas.openxmlformats.org/drawingml/2006/main">
            <a:off x="609600" y="214312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E5: 0,488 → 0,879</a:t>
            </a:r>
          </a:p>
        </p:txBody>
      </p:sp>
      <p:sp>
        <p:nvSpPr>
          <p:cNvPr id="5" name="Ранжирование неизменно; оценка по более полным м">
            <a:extLst xmlns:a="http://schemas.openxmlformats.org/drawingml/2006/main">
              <a:ext uri="{FF2B5EF4-FFF2-40B4-BE49-F238E27FC236}">
                <a16:creationId xmlns:a16="http://schemas.microsoft.com/office/drawing/2014/main" id="{895A7F5A-ED9B-4153-8897-240CB1A4E119}"/>
              </a:ext>
            </a:extLst>
          </p:cNvPr>
          <p:cNvSpPr>
            <a:spLocks xmlns:a="http://schemas.openxmlformats.org/drawingml/2006/main" noGrp="1"/>
          </p:cNvSpPr>
          <p:nvPr/>
        </p:nvSpPr>
        <p:spPr>
          <a:xfrm xmlns:a="http://schemas.openxmlformats.org/drawingml/2006/main">
            <a:off x="609600" y="29241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ED3D1"/>
                </a:solidFill>
                <a:latin typeface="Arial"/>
                <a:ea typeface="Arial"/>
                <a:cs typeface="Arial"/>
              </a:defRPr>
            </a:pPr>
            <a:r>
              <a:rPr sz="2100" b="0">
                <a:solidFill>
                  <a:srgbClr val="BED3D1"/>
                </a:solidFill>
                <a:latin typeface="Arial"/>
                <a:ea typeface="Arial"/>
                <a:cs typeface="Arial"/>
              </a:rPr>
              <a:t>Ранжирование неизменно; оценка по более полным меткам выше</a:t>
            </a:r>
          </a:p>
        </p:txBody>
      </p:sp>
      <p:sp>
        <p:nvSpPr>
          <p:cNvPr id="6" name="">
            <a:extLst xmlns:a="http://schemas.openxmlformats.org/drawingml/2006/main">
              <a:ext uri="{FF2B5EF4-FFF2-40B4-BE49-F238E27FC236}">
                <a16:creationId xmlns:a16="http://schemas.microsoft.com/office/drawing/2014/main" id="{E1D28D29-C34D-489C-B118-568C18EDCF85}"/>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Оценка по псевдометкам">
            <a:extLst xmlns:a="http://schemas.openxmlformats.org/drawingml/2006/main">
              <a:ext uri="{FF2B5EF4-FFF2-40B4-BE49-F238E27FC236}">
                <a16:creationId xmlns:a16="http://schemas.microsoft.com/office/drawing/2014/main" id="{AF967D39-2248-40C7-9F59-C8B914EDF1D1}"/>
              </a:ext>
            </a:extLst>
          </p:cNvPr>
          <p:cNvSpPr>
            <a:spLocks xmlns:a="http://schemas.openxmlformats.org/drawingml/2006/main" noGrp="1"/>
          </p:cNvSpPr>
          <p:nvPr/>
        </p:nvSpPr>
        <p:spPr>
          <a:xfrm xmlns:a="http://schemas.openxmlformats.org/drawingml/2006/main">
            <a:off x="609600" y="3800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Оценка по псевдометкам</a:t>
            </a:r>
          </a:p>
        </p:txBody>
      </p:sp>
      <p:sp>
        <p:nvSpPr>
          <p:cNvPr id="8" name="Покрытие пула может поменять порядок систем">
            <a:extLst xmlns:a="http://schemas.openxmlformats.org/drawingml/2006/main">
              <a:ext uri="{FF2B5EF4-FFF2-40B4-BE49-F238E27FC236}">
                <a16:creationId xmlns:a16="http://schemas.microsoft.com/office/drawing/2014/main" id="{B5364314-B2F2-40EC-ABCD-69EA662BD31F}"/>
              </a:ext>
            </a:extLst>
          </p:cNvPr>
          <p:cNvSpPr>
            <a:spLocks xmlns:a="http://schemas.openxmlformats.org/drawingml/2006/main" noGrp="1"/>
          </p:cNvSpPr>
          <p:nvPr/>
        </p:nvSpPr>
        <p:spPr>
          <a:xfrm xmlns:a="http://schemas.openxmlformats.org/drawingml/2006/main">
            <a:off x="609600" y="43338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Покрытие пула может поменять порядок систем</a:t>
            </a:r>
          </a:p>
        </p:txBody>
      </p:sp>
      <p:sp>
        <p:nvSpPr>
          <p:cNvPr id="9" name="Вместе с метрикой нужны источник меток, состав п">
            <a:extLst xmlns:a="http://schemas.openxmlformats.org/drawingml/2006/main">
              <a:ext uri="{FF2B5EF4-FFF2-40B4-BE49-F238E27FC236}">
                <a16:creationId xmlns:a16="http://schemas.microsoft.com/office/drawing/2014/main" id="{8853CDF6-D1AA-4041-8817-5A38C1C740EC}"/>
              </a:ext>
            </a:extLst>
          </p:cNvPr>
          <p:cNvSpPr>
            <a:spLocks xmlns:a="http://schemas.openxmlformats.org/drawingml/2006/main" noGrp="1"/>
          </p:cNvSpPr>
          <p:nvPr/>
        </p:nvSpPr>
        <p:spPr>
          <a:xfrm xmlns:a="http://schemas.openxmlformats.org/drawingml/2006/main">
            <a:off x="609600" y="503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ED3D1"/>
                </a:solidFill>
                <a:latin typeface="Arial"/>
                <a:ea typeface="Arial"/>
                <a:cs typeface="Arial"/>
              </a:defRPr>
            </a:pPr>
            <a:r>
              <a:rPr sz="2025" b="0">
                <a:solidFill>
                  <a:srgbClr val="BED3D1"/>
                </a:solidFill>
                <a:latin typeface="Arial"/>
                <a:ea typeface="Arial"/>
                <a:cs typeface="Arial"/>
              </a:rPr>
              <a:t>Вместе с метрикой нужны источник меток, состав пула и настройки RRF</a:t>
            </a:r>
          </a:p>
        </p:txBody>
      </p:sp>
      <p:sp>
        <p:nvSpPr>
          <p:cNvPr id="10" name="Далее: более сильные судьи и независимая ручная ">
            <a:extLst xmlns:a="http://schemas.openxmlformats.org/drawingml/2006/main">
              <a:ext uri="{FF2B5EF4-FFF2-40B4-BE49-F238E27FC236}">
                <a16:creationId xmlns:a16="http://schemas.microsoft.com/office/drawing/2014/main" id="{457BEE43-5C65-40F9-93DF-13BA499A0445}"/>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8ACEC4"/>
                </a:solidFill>
                <a:latin typeface="Arial"/>
                <a:ea typeface="Arial"/>
                <a:cs typeface="Arial"/>
              </a:defRPr>
            </a:pPr>
            <a:r>
              <a:rPr sz="1875" b="0">
                <a:solidFill>
                  <a:srgbClr val="8ACEC4"/>
                </a:solidFill>
                <a:latin typeface="Arial"/>
                <a:ea typeface="Arial"/>
                <a:cs typeface="Arial"/>
              </a:rPr>
              <a:t>Далее: более сильные судьи и независимая ручная проверка</a:t>
            </a:r>
          </a:p>
        </p:txBody>
      </p:sp>
      <p:sp>
        <p:nvSpPr>
          <p:cNvPr id="11" name="При поддержке Российского научного фонда, соглаш">
            <a:extLst xmlns:a="http://schemas.openxmlformats.org/drawingml/2006/main">
              <a:ext uri="{FF2B5EF4-FFF2-40B4-BE49-F238E27FC236}">
                <a16:creationId xmlns:a16="http://schemas.microsoft.com/office/drawing/2014/main" id="{50FC341B-7555-4467-A46F-330BC201D3BB}"/>
              </a:ext>
            </a:extLst>
          </p:cNvPr>
          <p:cNvSpPr>
            <a:spLocks xmlns:a="http://schemas.openxmlformats.org/drawingml/2006/main" noGrp="1"/>
          </p:cNvSpPr>
          <p:nvPr/>
        </p:nvSpPr>
        <p:spPr>
          <a:xfrm xmlns:a="http://schemas.openxmlformats.org/drawingml/2006/main">
            <a:off x="6096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ED3D1"/>
                </a:solidFill>
                <a:latin typeface="Arial"/>
                <a:ea typeface="Arial"/>
                <a:cs typeface="Arial"/>
              </a:defRPr>
            </a:pPr>
            <a:r>
              <a:rPr sz="1425" b="0">
                <a:solidFill>
                  <a:srgbClr val="BED3D1"/>
                </a:solidFill>
                <a:latin typeface="Arial"/>
                <a:ea typeface="Arial"/>
                <a:cs typeface="Arial"/>
              </a:rPr>
              <a:t/>
            </a:r>
          </a:p>
        </p:txBody>
      </p:sp>
    </p:spTree>
    <p:extLst>
      <p:ext uri="{BB962C8B-B14F-4D97-AF65-F5344CB8AC3E}">
        <p14:creationId xmlns:p14="http://schemas.microsoft.com/office/powerpoint/2010/main" val="4686236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444F8AA8-4011-46F2-B9C0-D0D3C6A6629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B34B2AEE-6827-4232-8D2E-FDB6963A7D9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1</a:t>
            </a:r>
          </a:p>
        </p:txBody>
      </p:sp>
      <p:sp>
        <p:nvSpPr>
          <p:cNvPr id="3" name="Парное изменение: ручные оценки минус исходные">
            <a:extLst xmlns:a="http://schemas.openxmlformats.org/drawingml/2006/main">
              <a:ext uri="{FF2B5EF4-FFF2-40B4-BE49-F238E27FC236}">
                <a16:creationId xmlns:a16="http://schemas.microsoft.com/office/drawing/2014/main" id="{531BA4A3-15DE-4B06-9061-5F9619B5919E}"/>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76"/>
                </a:solidFill>
                <a:latin typeface="Arial"/>
                <a:ea typeface="Arial"/>
                <a:cs typeface="Arial"/>
              </a:defRPr>
            </a:pPr>
            <a:r>
              <a:rPr sz="2400" b="1">
                <a:solidFill>
                  <a:srgbClr val="007D76"/>
                </a:solidFill>
                <a:latin typeface="Arial"/>
                <a:ea typeface="Arial"/>
                <a:cs typeface="Arial"/>
              </a:rPr>
              <a:t>Парное изменение: ручные оценки минус исходные</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F0F4F4"/>
                    </a:solidFill>
                  </a:tcPr>
                </a:tc>
              </a:tr>
              <a:tr h="552450">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95%-ные ДИ: 5 000 парных bootstrap-выборок. p &lt; ">
            <a:extLst xmlns:a="http://schemas.openxmlformats.org/drawingml/2006/main">
              <a:ext uri="{FF2B5EF4-FFF2-40B4-BE49-F238E27FC236}">
                <a16:creationId xmlns:a16="http://schemas.microsoft.com/office/drawing/2014/main" id="{E6612567-6C83-4865-93AB-557C8D7439DA}"/>
              </a:ext>
            </a:extLst>
          </p:cNvPr>
          <p:cNvSpPr>
            <a:spLocks xmlns:a="http://schemas.openxmlformats.org/drawingml/2006/main" noGrp="1"/>
          </p:cNvSpPr>
          <p:nvPr/>
        </p:nvSpPr>
        <p:spPr>
          <a:xfrm xmlns:a="http://schemas.openxmlformats.org/drawingml/2006/main">
            <a:off x="609600" y="60102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95%-ные ДИ: 5 000 парных bootstrap-выборок. p &lt; 0,001: sign-flip тест.</a:t>
            </a:r>
          </a:p>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Бинарный gain, общий IDCG по пулу; нулевые запросы остаются в среднем.</a:t>
            </a:r>
          </a:p>
        </p:txBody>
      </p:sp>
    </p:spTree>
    <p:extLst>
      <p:ext uri="{BB962C8B-B14F-4D97-AF65-F5344CB8AC3E}">
        <p14:creationId xmlns:p14="http://schemas.microsoft.com/office/powerpoint/2010/main" val="81986799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AB5F0A99-D8DB-4F7F-AC28-4667634DC312}"/>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9AF7EFB6-DCE7-402B-9301-2DB5616B2BE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75F80C3F-E462-47CC-BFB6-5F59683175F4}"/>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A62411CF-6274-4DB8-AB4F-8E5CCA856824}"/>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8666A0FD-A9D1-4028-9D49-F9FB1ADC7E4C}"/>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49FA4E09-31FA-4025-851D-154E8277B2BE}"/>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C44DAE62-3EE4-44E7-AA57-58C432C74919}"/>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68951E9F-73C7-49BE-A9FA-117F3C9E8E50}"/>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1646A"/>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F0F4F4"/>
                    </a:solidFill>
                  </a:tcPr>
                </a:tc>
              </a:tr>
              <a:tr h="895350">
                <a:tc>
                  <a:txBody>
                    <a:bodyPr lIns="171450" tIns="95250" rIns="171450" bIns="95250">
                      <a:noAutofit/>
                    </a:bodyPr>
                    <a:lstStyle/>
                    <a:p>
                      <a:r>
                        <a:rPr sz="2025" b="0">
                          <a:solidFill>
                            <a:srgbClr val="17282B"/>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D76"/>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64F37"/>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7282B"/>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64F37"/>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D76"/>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0C98D30B-AD1D-4B30-8775-442EAAD833E0}"/>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302CE002-A9DA-4DE7-B7F5-CE248D2FD490}"/>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F40E7D28-C113-402A-B904-14C6C9ECFA95}"/>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B0A30897-C849-488B-A182-332E2771690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84342516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F6BD7AFF-2B5C-4E21-9B8C-83DC75FA7BC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D73D3944-0F95-401B-8766-D024027A9E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1646A"/>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Кандидатов</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Релевантных</a:t>
                      </a:r>
                    </a:p>
                    <a:p>
                      <a:r>
                        <a:rPr sz="1650" b="1">
                          <a:solidFill>
                            <a:srgbClr val="51646A"/>
                          </a:solidFill>
                          <a:latin typeface="Arial"/>
                          <a:ea typeface="Arial"/>
                          <a:cs typeface="Arial"/>
                        </a:rPr>
                        <a:t>по судье</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E5</a:t>
                      </a:r>
                    </a:p>
                    <a:p>
                      <a:r>
                        <a:rPr sz="1650" b="1">
                          <a:solidFill>
                            <a:srgbClr val="51646A"/>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C64F37"/>
                          </a:solidFill>
                          <a:latin typeface="Arial"/>
                          <a:ea typeface="Arial"/>
                          <a:cs typeface="Arial"/>
                        </a:rPr>
                        <a:t>RRF L=K</a:t>
                      </a:r>
                    </a:p>
                    <a:p>
                      <a:r>
                        <a:rPr sz="1650" b="1">
                          <a:solidFill>
                            <a:srgbClr val="C64F37"/>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007D76"/>
                          </a:solidFill>
                          <a:latin typeface="Arial"/>
                          <a:ea typeface="Arial"/>
                          <a:cs typeface="Arial"/>
                        </a:rPr>
                        <a:t>RRF L=200</a:t>
                      </a:r>
                    </a:p>
                    <a:p>
                      <a:r>
                        <a:rPr sz="1650" b="1">
                          <a:solidFill>
                            <a:srgbClr val="007D7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r>
              <a:tr h="581025">
                <a:tc>
                  <a:txBody>
                    <a:bodyPr lIns="171450" tIns="95250" rIns="171450" bIns="95250">
                      <a:noAutofit/>
                    </a:bodyPr>
                    <a:lstStyle/>
                    <a:p>
                      <a:r>
                        <a:rPr sz="1800" b="0">
                          <a:solidFill>
                            <a:srgbClr val="17282B"/>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ри K = 200 RRF против E5: 26 241 победа / 21 04">
            <a:extLst xmlns:a="http://schemas.openxmlformats.org/drawingml/2006/main">
              <a:ext uri="{FF2B5EF4-FFF2-40B4-BE49-F238E27FC236}">
                <a16:creationId xmlns:a16="http://schemas.microsoft.com/office/drawing/2014/main" id="{B968755B-90AA-4179-9929-2D3CE98D1328}"/>
              </a:ext>
            </a:extLst>
          </p:cNvPr>
          <p:cNvSpPr>
            <a:spLocks xmlns:a="http://schemas.openxmlformats.org/drawingml/2006/main" noGrp="1"/>
          </p:cNvSpPr>
          <p:nvPr/>
        </p:nvSpPr>
        <p:spPr>
          <a:xfrm xmlns:a="http://schemas.openxmlformats.org/drawingml/2006/main">
            <a:off x="609600" y="60102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При K = 200 RRF против E5: 26 241 победа / 21 042 поражения / 53 810 равенств.</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Псевдометки одного судьи. Все 101 093 запроса остаются в среднем.</a:t>
            </a:r>
          </a:p>
        </p:txBody>
      </p:sp>
    </p:spTree>
    <p:extLst>
      <p:ext uri="{BB962C8B-B14F-4D97-AF65-F5344CB8AC3E}">
        <p14:creationId xmlns:p14="http://schemas.microsoft.com/office/powerpoint/2010/main" val="12650908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98438287-EA6A-46A1-A45D-0D97358BB08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7183A967-618A-4C67-8839-B8E1E920620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1891AA2C-2547-4A4C-9EFA-6AC3955B8A11}"/>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F0F4F4"/>
                    </a:solidFill>
                  </a:tcPr>
                </a:tc>
              </a:tr>
              <a:tr h="542925">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664773BD-8DC7-4E4B-B907-826F72173D26}"/>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D76"/>
                </a:solidFill>
                <a:latin typeface="Arial"/>
                <a:ea typeface="Arial"/>
                <a:cs typeface="Arial"/>
              </a:defRPr>
            </a:pPr>
            <a:r>
              <a:rPr sz="2250" b="1">
                <a:solidFill>
                  <a:srgbClr val="007D76"/>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59D1FF0C-DC3F-4A70-A48B-B119BC2A74D6}"/>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FA619ADE-FF24-414A-8476-541E36639A1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148353919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Протокол уточнённого расчёта">
            <a:extLst xmlns:a="http://schemas.openxmlformats.org/drawingml/2006/main">
              <a:ext uri="{FF2B5EF4-FFF2-40B4-BE49-F238E27FC236}">
                <a16:creationId xmlns:a16="http://schemas.microsoft.com/office/drawing/2014/main" id="{35AADEED-942A-418D-AB1C-7284352EED2F}"/>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Протокол уточнённого расчёта</a:t>
            </a:r>
          </a:p>
        </p:txBody>
      </p:sp>
      <p:sp>
        <p:nvSpPr>
          <p:cNvPr id="2" name="РЕЗЕРВ 5">
            <a:extLst xmlns:a="http://schemas.openxmlformats.org/drawingml/2006/main">
              <a:ext uri="{FF2B5EF4-FFF2-40B4-BE49-F238E27FC236}">
                <a16:creationId xmlns:a16="http://schemas.microsoft.com/office/drawing/2014/main" id="{1DB31FC9-D019-4E8E-880D-9D34030A35A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5</a:t>
            </a:r>
          </a:p>
        </p:txBody>
      </p:sp>
      <p:graphicFrame>
        <p:nvGraphicFramePr>
          <p:cNvPr id="8" name=""/>
          <p:cNvGraphicFramePr/>
          <p:nvPr/>
        </p:nvGraphicFramePr>
        <p:xfrm>
          <a:off xmlns:a="http://schemas.openxmlformats.org/drawingml/2006/main" x="609600" y="1685925"/>
          <a:ext xmlns:a="http://schemas.openxmlformats.org/drawingml/2006/main" cx="10972800" cy="3895725"/>
        </p:xfrm>
        <a:graphic xmlns:a="http://schemas.openxmlformats.org/drawingml/2006/main">
          <a:graphicData uri="http://schemas.openxmlformats.org/drawingml/2006/table">
            <a:tbl>
              <a:tblPr firstRow="0" bandRow="0" bandCol="0"/>
              <a:tblGrid>
                <a:gridCol w="3009900"/>
                <a:gridCol w="7962900"/>
              </a:tblGrid>
              <a:tr h="514350">
                <a:tc>
                  <a:txBody>
                    <a:bodyPr lIns="171450" tIns="95250" rIns="171450" bIns="95250">
                      <a:noAutofit/>
                    </a:bodyPr>
                    <a:lstStyle/>
                    <a:p>
                      <a:r>
                        <a:rPr sz="1725" b="1">
                          <a:solidFill>
                            <a:srgbClr val="51646A"/>
                          </a:solidFill>
                          <a:latin typeface="Arial"/>
                          <a:ea typeface="Arial"/>
                          <a:cs typeface="Arial"/>
                        </a:rPr>
                        <a:t>Правило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725" b="1">
                          <a:solidFill>
                            <a:srgbClr val="51646A"/>
                          </a:solidFill>
                          <a:latin typeface="Arial"/>
                          <a:ea typeface="Arial"/>
                          <a:cs typeface="Arial"/>
                        </a:rPr>
                        <a:t>Применение в докладе</a:t>
                      </a:r>
                    </a:p>
                  </a:txBody>
                  <a:tcPr marL="91440" marR="91440" marT="45720" marB="45720" anchor="ctr">
                    <a:lnL w="0">
                      <a:noFill/>
                    </a:lnL>
                    <a:lnR w="0">
                      <a:noFill/>
                    </a:lnR>
                    <a:lnT w="0">
                      <a:noFill/>
                    </a:lnT>
                    <a:lnB w="7620">
                      <a:solidFill>
                        <a:srgbClr val="D4E1E0"/>
                      </a:solidFill>
                    </a:lnB>
                    <a:solidFill>
                      <a:srgbClr val="F0F4F4"/>
                    </a:solidFill>
                  </a:tcPr>
                </a:tc>
              </a:tr>
              <a:tr h="638175">
                <a:tc>
                  <a:txBody>
                    <a:bodyPr lIns="171450" tIns="95250" rIns="171450" bIns="95250">
                      <a:noAutofit/>
                    </a:bodyPr>
                    <a:lstStyle/>
                    <a:p>
                      <a:r>
                        <a:rPr sz="1875" b="0">
                          <a:solidFill>
                            <a:srgbClr val="17282B"/>
                          </a:solidFill>
                          <a:latin typeface="Arial"/>
                          <a:ea typeface="Arial"/>
                          <a:cs typeface="Arial"/>
                        </a:rPr>
                        <a:t>Состав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Один и тот же набор для всех сравниваемых систем</a:t>
                      </a:r>
                    </a:p>
                  </a:txBody>
                  <a:tcPr marL="91440" marR="91440" marT="45720" marB="45720" anchor="ctr">
                    <a:lnL w="0">
                      <a:noFill/>
                    </a:lnL>
                    <a:lnR w="0">
                      <a:noFill/>
                    </a:lnR>
                    <a:lnT w="0">
                      <a:noFill/>
                    </a:lnT>
                    <a:lnB w="7620">
                      <a:solidFill>
                        <a:srgbClr val="D4E1E0"/>
                      </a:solidFill>
                    </a:lnB>
                    <a:solidFill>
                      <a:srgbClr val="FFFFFF"/>
                    </a:solidFill>
                  </a:tcPr>
                </a:tc>
              </a:tr>
              <a:tr h="638175">
                <a:tc>
                  <a:txBody>
                    <a:bodyPr lIns="171450" tIns="95250" rIns="171450" bIns="95250">
                      <a:noAutofit/>
                    </a:bodyPr>
                    <a:lstStyle/>
                    <a:p>
                      <a:r>
                        <a:rPr sz="1875" b="0">
                          <a:solidFill>
                            <a:srgbClr val="17282B"/>
                          </a:solidFill>
                          <a:latin typeface="Arial"/>
                          <a:ea typeface="Arial"/>
                          <a:cs typeface="Arial"/>
                        </a:rPr>
                        <a:t>Релевантность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Бинарная: ручные категории 1 и 2 положительные</a:t>
                      </a:r>
                    </a:p>
                  </a:txBody>
                  <a:tcPr marL="91440" marR="91440" marT="45720" marB="45720" anchor="ctr">
                    <a:lnL w="0">
                      <a:noFill/>
                    </a:lnL>
                    <a:lnR w="0">
                      <a:noFill/>
                    </a:lnR>
                    <a:lnT w="0">
                      <a:noFill/>
                    </a:lnT>
                    <a:lnB w="7620">
                      <a:solidFill>
                        <a:srgbClr val="D4E1E0"/>
                      </a:solidFill>
                    </a:lnB>
                    <a:solidFill>
                      <a:srgbClr val="FFFFFF"/>
                    </a:solidFill>
                  </a:tcPr>
                </a:tc>
              </a:tr>
              <a:tr h="742950">
                <a:tc>
                  <a:txBody>
                    <a:bodyPr lIns="171450" tIns="95250" rIns="171450" bIns="95250">
                      <a:noAutofit/>
                    </a:bodyPr>
                    <a:lstStyle/>
                    <a:p>
                      <a:r>
                        <a:rPr sz="1875" b="0">
                          <a:solidFill>
                            <a:srgbClr val="17282B"/>
                          </a:solidFill>
                          <a:latin typeface="Arial"/>
                          <a:ea typeface="Arial"/>
                          <a:cs typeface="Arial"/>
                        </a:rPr>
                        <a:t>Нормировка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Общий IDCG по пулу; при IDCG = 0 метрика равна 0</a:t>
                      </a:r>
                    </a:p>
                  </a:txBody>
                  <a:tcPr marL="91440" marR="91440" marT="45720" marB="45720" anchor="ctr">
                    <a:lnL w="0">
                      <a:noFill/>
                    </a:lnL>
                    <a:lnR w="0">
                      <a:noFill/>
                    </a:lnR>
                    <a:lnT w="0">
                      <a:noFill/>
                    </a:lnT>
                    <a:lnB w="7620">
                      <a:solidFill>
                        <a:srgbClr val="D4E1E0"/>
                      </a:solidFill>
                    </a:lnB>
                    <a:solidFill>
                      <a:srgbClr val="FFFFFF"/>
                    </a:solidFill>
                  </a:tcPr>
                </a:tc>
              </a:tr>
              <a:tr h="695325">
                <a:tc>
                  <a:txBody>
                    <a:bodyPr lIns="171450" tIns="95250" rIns="171450" bIns="95250">
                      <a:noAutofit/>
                    </a:bodyPr>
                    <a:lstStyle/>
                    <a:p>
                      <a:r>
                        <a:rPr sz="1875"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Нулевой вклад без удаления позиции из выдачи</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1875" b="0">
                          <a:solidFill>
                            <a:srgbClr val="17282B"/>
                          </a:solidFill>
                          <a:latin typeface="Arial"/>
                          <a:ea typeface="Arial"/>
                          <a:cs typeface="Arial"/>
                        </a:rPr>
                        <a:t>Слияние RRF</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Константа 60; глубины входов L = K и L = 200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Модели: BM25 · e5-small-v2 · bge-small-en-v1.5">
            <a:extLst xmlns:a="http://schemas.openxmlformats.org/drawingml/2006/main">
              <a:ext uri="{FF2B5EF4-FFF2-40B4-BE49-F238E27FC236}">
                <a16:creationId xmlns:a16="http://schemas.microsoft.com/office/drawing/2014/main" id="{30668B01-1D21-4E66-86B8-DD14A69D8380}"/>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6"/>
                </a:solidFill>
                <a:latin typeface="Arial"/>
                <a:ea typeface="Arial"/>
                <a:cs typeface="Arial"/>
              </a:defRPr>
            </a:pPr>
            <a:r>
              <a:rPr sz="1800" b="1">
                <a:solidFill>
                  <a:srgbClr val="007D76"/>
                </a:solidFill>
                <a:latin typeface="Arial"/>
                <a:ea typeface="Arial"/>
                <a:cs typeface="Arial"/>
              </a:rPr>
              <a:t>Модели: BM25 · e5-small-v2 · bge-small-en-v1.5</a:t>
            </a:r>
          </a:p>
        </p:txBody>
      </p:sp>
      <p:sp>
        <p:nvSpPr>
          <p:cNvPr id="5" name="Уточнённые числа и вывод о RRF отличаются от ред">
            <a:extLst xmlns:a="http://schemas.openxmlformats.org/drawingml/2006/main">
              <a:ext uri="{FF2B5EF4-FFF2-40B4-BE49-F238E27FC236}">
                <a16:creationId xmlns:a16="http://schemas.microsoft.com/office/drawing/2014/main" id="{01C7F187-4878-47DE-AD47-65A5DDD92833}"/>
              </a:ext>
            </a:extLst>
          </p:cNvPr>
          <p:cNvSpPr>
            <a:spLocks xmlns:a="http://schemas.openxmlformats.org/drawingml/2006/main" noGrp="1"/>
          </p:cNvSpPr>
          <p:nvPr/>
        </p:nvSpPr>
        <p:spPr>
          <a:xfrm xmlns:a="http://schemas.openxmlformats.org/drawingml/2006/main">
            <a:off x="609600" y="63150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Уточнённые числа и вывод о RRF отличаются от редакторской версии рукописи.</a:t>
            </a:r>
          </a:p>
        </p:txBody>
      </p:sp>
    </p:spTree>
    <p:extLst>
      <p:ext uri="{BB962C8B-B14F-4D97-AF65-F5344CB8AC3E}">
        <p14:creationId xmlns:p14="http://schemas.microsoft.com/office/powerpoint/2010/main" val="174176381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Судья как переранжировщик">
            <a:extLst xmlns:a="http://schemas.openxmlformats.org/drawingml/2006/main">
              <a:ext uri="{FF2B5EF4-FFF2-40B4-BE49-F238E27FC236}">
                <a16:creationId xmlns:a16="http://schemas.microsoft.com/office/drawing/2014/main" id="{A813CBCD-23E8-45A3-88F3-C0D9F20FDE42}"/>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Судья как переранжировщик</a:t>
            </a:r>
          </a:p>
        </p:txBody>
      </p:sp>
      <p:sp>
        <p:nvSpPr>
          <p:cNvPr id="2" name="РЕЗЕРВ 6">
            <a:extLst xmlns:a="http://schemas.openxmlformats.org/drawingml/2006/main">
              <a:ext uri="{FF2B5EF4-FFF2-40B4-BE49-F238E27FC236}">
                <a16:creationId xmlns:a16="http://schemas.microsoft.com/office/drawing/2014/main" id="{B57A247C-EF90-4A61-AC69-DE0C45EA15F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6</a:t>
            </a:r>
          </a:p>
        </p:txBody>
      </p:sp>
      <p:sp>
        <p:nvSpPr>
          <p:cNvPr id="3" name="177 тестовых запросов · переранжирование кандида">
            <a:extLst xmlns:a="http://schemas.openxmlformats.org/drawingml/2006/main">
              <a:ext uri="{FF2B5EF4-FFF2-40B4-BE49-F238E27FC236}">
                <a16:creationId xmlns:a16="http://schemas.microsoft.com/office/drawing/2014/main" id="{3A510A28-17B8-44FD-9289-FFA8ADDA15B9}"/>
              </a:ext>
            </a:extLst>
          </p:cNvPr>
          <p:cNvSpPr>
            <a:spLocks xmlns:a="http://schemas.openxmlformats.org/drawingml/2006/main" noGrp="1"/>
          </p:cNvSpPr>
          <p:nvPr/>
        </p:nvSpPr>
        <p:spPr>
          <a:xfrm xmlns:a="http://schemas.openxmlformats.org/drawingml/2006/main">
            <a:off x="609600" y="15621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177 тестовых запросов · переранжирование кандидатов ручного пула</a:t>
            </a:r>
          </a:p>
        </p:txBody>
      </p:sp>
      <p:sp>
        <p:nvSpPr>
          <p:cNvPr id="4" name="0,512">
            <a:extLst xmlns:a="http://schemas.openxmlformats.org/drawingml/2006/main">
              <a:ext uri="{FF2B5EF4-FFF2-40B4-BE49-F238E27FC236}">
                <a16:creationId xmlns:a16="http://schemas.microsoft.com/office/drawing/2014/main" id="{31B284F4-16A4-4682-A0EF-42CEE35CABE5}"/>
              </a:ext>
            </a:extLst>
          </p:cNvPr>
          <p:cNvSpPr>
            <a:spLocks xmlns:a="http://schemas.openxmlformats.org/drawingml/2006/main" noGrp="1"/>
          </p:cNvSpPr>
          <p:nvPr/>
        </p:nvSpPr>
        <p:spPr>
          <a:xfrm xmlns:a="http://schemas.openxmlformats.org/drawingml/2006/main">
            <a:off x="609600" y="2752725"/>
            <a:ext cx="4686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7E8B91"/>
                </a:solidFill>
                <a:latin typeface="Arial"/>
                <a:ea typeface="Arial"/>
                <a:cs typeface="Arial"/>
              </a:defRPr>
            </a:pPr>
            <a:r>
              <a:rPr sz="6450" b="1">
                <a:solidFill>
                  <a:srgbClr val="7E8B91"/>
                </a:solidFill>
                <a:latin typeface="Arial"/>
                <a:ea typeface="Arial"/>
                <a:cs typeface="Arial"/>
              </a:rPr>
              <a:t>0,512</a:t>
            </a:r>
          </a:p>
        </p:txBody>
      </p:sp>
      <p:sp>
        <p:nvSpPr>
          <p:cNvPr id="5" name="NDCG@10&#10;по исходным меткам">
            <a:extLst xmlns:a="http://schemas.openxmlformats.org/drawingml/2006/main">
              <a:ext uri="{FF2B5EF4-FFF2-40B4-BE49-F238E27FC236}">
                <a16:creationId xmlns:a16="http://schemas.microsoft.com/office/drawing/2014/main" id="{A5738BF1-8FA2-4EB6-A748-53DB059F94C5}"/>
              </a:ext>
            </a:extLst>
          </p:cNvPr>
          <p:cNvSpPr>
            <a:spLocks xmlns:a="http://schemas.openxmlformats.org/drawingml/2006/main" noGrp="1"/>
          </p:cNvSpPr>
          <p:nvPr/>
        </p:nvSpPr>
        <p:spPr>
          <a:xfrm xmlns:a="http://schemas.openxmlformats.org/drawingml/2006/main">
            <a:off x="609600" y="3905250"/>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исходным меткам</a:t>
            </a:r>
          </a:p>
        </p:txBody>
      </p:sp>
      <p:sp>
        <p:nvSpPr>
          <p:cNvPr id="6" name="0,938">
            <a:extLst xmlns:a="http://schemas.openxmlformats.org/drawingml/2006/main">
              <a:ext uri="{FF2B5EF4-FFF2-40B4-BE49-F238E27FC236}">
                <a16:creationId xmlns:a16="http://schemas.microsoft.com/office/drawing/2014/main" id="{901F7C65-4E0D-43BE-A925-D4CD2BE5B09F}"/>
              </a:ext>
            </a:extLst>
          </p:cNvPr>
          <p:cNvSpPr>
            <a:spLocks xmlns:a="http://schemas.openxmlformats.org/drawingml/2006/main" noGrp="1"/>
          </p:cNvSpPr>
          <p:nvPr/>
        </p:nvSpPr>
        <p:spPr>
          <a:xfrm xmlns:a="http://schemas.openxmlformats.org/drawingml/2006/main">
            <a:off x="6705600" y="275272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007D76"/>
                </a:solidFill>
                <a:latin typeface="Arial"/>
                <a:ea typeface="Arial"/>
                <a:cs typeface="Arial"/>
              </a:defRPr>
            </a:pPr>
            <a:r>
              <a:rPr sz="6450" b="1">
                <a:solidFill>
                  <a:srgbClr val="007D76"/>
                </a:solidFill>
                <a:latin typeface="Arial"/>
                <a:ea typeface="Arial"/>
                <a:cs typeface="Arial"/>
              </a:rPr>
              <a:t>0,938</a:t>
            </a:r>
          </a:p>
        </p:txBody>
      </p:sp>
      <p:sp>
        <p:nvSpPr>
          <p:cNvPr id="7" name="NDCG@10&#10;по человеческим меткам">
            <a:extLst xmlns:a="http://schemas.openxmlformats.org/drawingml/2006/main">
              <a:ext uri="{FF2B5EF4-FFF2-40B4-BE49-F238E27FC236}">
                <a16:creationId xmlns:a16="http://schemas.microsoft.com/office/drawing/2014/main" id="{A4E6E3E3-4B35-46C3-8B70-F65A477289F1}"/>
              </a:ext>
            </a:extLst>
          </p:cNvPr>
          <p:cNvSpPr>
            <a:spLocks xmlns:a="http://schemas.openxmlformats.org/drawingml/2006/main" noGrp="1"/>
          </p:cNvSpPr>
          <p:nvPr/>
        </p:nvSpPr>
        <p:spPr>
          <a:xfrm xmlns:a="http://schemas.openxmlformats.org/drawingml/2006/main">
            <a:off x="6705600" y="39052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человеческим меткам</a:t>
            </a:r>
          </a:p>
        </p:txBody>
      </p:sp>
      <p:sp>
        <p:nvSpPr>
          <p:cNvPr id="8" name="Отобранный пул, не поиск по полному корпусу">
            <a:extLst xmlns:a="http://schemas.openxmlformats.org/drawingml/2006/main">
              <a:ext uri="{FF2B5EF4-FFF2-40B4-BE49-F238E27FC236}">
                <a16:creationId xmlns:a16="http://schemas.microsoft.com/office/drawing/2014/main" id="{1BC1CC3C-5949-4D31-A467-ED0B3B642E85}"/>
              </a:ext>
            </a:extLst>
          </p:cNvPr>
          <p:cNvSpPr>
            <a:spLocks xmlns:a="http://schemas.openxmlformats.org/drawingml/2006/main" noGrp="1"/>
          </p:cNvSpPr>
          <p:nvPr/>
        </p:nvSpPr>
        <p:spPr>
          <a:xfrm xmlns:a="http://schemas.openxmlformats.org/drawingml/2006/main">
            <a:off x="609600" y="5334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82B"/>
                </a:solidFill>
                <a:latin typeface="Arial"/>
                <a:ea typeface="Arial"/>
                <a:cs typeface="Arial"/>
              </a:defRPr>
            </a:pPr>
            <a:r>
              <a:rPr sz="2700" b="1">
                <a:solidFill>
                  <a:srgbClr val="17282B"/>
                </a:solidFill>
                <a:latin typeface="Arial"/>
                <a:ea typeface="Arial"/>
                <a:cs typeface="Arial"/>
              </a:rPr>
              <a:t>Отобранный пул, не поиск по полному корпусу</a:t>
            </a:r>
          </a:p>
        </p:txBody>
      </p:sp>
      <p:sp>
        <p:nvSpPr>
          <p:cNvPr id="9" name="Нельзя напрямую сравнивать с другими моделями на">
            <a:extLst xmlns:a="http://schemas.openxmlformats.org/drawingml/2006/main">
              <a:ext uri="{FF2B5EF4-FFF2-40B4-BE49-F238E27FC236}">
                <a16:creationId xmlns:a16="http://schemas.microsoft.com/office/drawing/2014/main" id="{E37E734B-5DC8-4E4E-A15E-8CDA1B84A24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Нельзя напрямую сравнивать с другими моделями на всех 1 179 запросах.</a:t>
            </a:r>
          </a:p>
        </p:txBody>
      </p:sp>
    </p:spTree>
    <p:extLst>
      <p:ext uri="{BB962C8B-B14F-4D97-AF65-F5344CB8AC3E}">
        <p14:creationId xmlns:p14="http://schemas.microsoft.com/office/powerpoint/2010/main" val="999627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