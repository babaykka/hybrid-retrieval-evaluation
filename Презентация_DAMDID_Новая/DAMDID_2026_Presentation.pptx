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Type="http://schemas.openxmlformats.org/package/2006/relationships/metadata/core-properties" Target="/docProps/core.xml" Id="Rd8eb2b39d8874822"/><Relationship Type="http://schemas.openxmlformats.org/officeDocument/2006/relationships/extended-properties" Target="/docProps/app.xml" Id="R002f85ace5184e53"/><Relationship Type="http://schemas.openxmlformats.org/officeDocument/2006/relationships/officeDocument" Target="/ppt/presentation.xml" Id="Rebee09f8b34f4efe"/></Relationships>
</file>

<file path=ppt/presentation.xml><?xml version="1.0" encoding="utf-8"?>
<p:presentation xmlns:p="http://schemas.openxmlformats.org/presentationml/2006/main">
  <p:sldMasterIdLst>
    <p:sldMasterId xmlns:r="http://schemas.openxmlformats.org/officeDocument/2006/relationships" id="2147483648" r:id="Re01e9b3f151f423c"/>
  </p:sldMasterIdLst>
  <p:notesMasterIdLst>
    <p:notesMasterId xmlns:r="http://schemas.openxmlformats.org/officeDocument/2006/relationships" r:id="R1e47b489aaa1435a"/>
  </p:notesMasterIdLst>
  <p:sldIdLst>
    <p:sldId xmlns:r="http://schemas.openxmlformats.org/officeDocument/2006/relationships" id="256" r:id="R7554f598634546b0"/>
    <p:sldId xmlns:r="http://schemas.openxmlformats.org/officeDocument/2006/relationships" id="257" r:id="R428591fa8a544c72"/>
    <p:sldId xmlns:r="http://schemas.openxmlformats.org/officeDocument/2006/relationships" id="258" r:id="R95c4450df69e4c7b"/>
    <p:sldId xmlns:r="http://schemas.openxmlformats.org/officeDocument/2006/relationships" id="259" r:id="R16bd2d67f74c4766"/>
    <p:sldId xmlns:r="http://schemas.openxmlformats.org/officeDocument/2006/relationships" id="260" r:id="R1249756c351e4738"/>
    <p:sldId xmlns:r="http://schemas.openxmlformats.org/officeDocument/2006/relationships" id="261" r:id="Ra95cb1a1350a4b6f"/>
    <p:sldId xmlns:r="http://schemas.openxmlformats.org/officeDocument/2006/relationships" id="262" r:id="Rc48efe144bd74c41"/>
    <p:sldId xmlns:r="http://schemas.openxmlformats.org/officeDocument/2006/relationships" id="263" r:id="R964e41e0827945a0"/>
    <p:sldId xmlns:r="http://schemas.openxmlformats.org/officeDocument/2006/relationships" id="264" r:id="R26d149a8a8ca4ce9"/>
    <p:sldId xmlns:r="http://schemas.openxmlformats.org/officeDocument/2006/relationships" id="265" r:id="Rfaf98d8c040a42e4"/>
    <p:sldId xmlns:r="http://schemas.openxmlformats.org/officeDocument/2006/relationships" id="266" r:id="R42278e558a9045d0"/>
    <p:sldId xmlns:r="http://schemas.openxmlformats.org/officeDocument/2006/relationships" id="267" r:id="Ree3b71e37e9242a8"/>
    <p:sldId xmlns:r="http://schemas.openxmlformats.org/officeDocument/2006/relationships" id="268" r:id="R85c76ac6df4e466f"/>
    <p:sldId xmlns:r="http://schemas.openxmlformats.org/officeDocument/2006/relationships" id="269" r:id="Rd88cbe01f0d647fb"/>
    <p:sldId xmlns:r="http://schemas.openxmlformats.org/officeDocument/2006/relationships" id="270" r:id="Rf51a101b98c44f4a"/>
    <p:sldId xmlns:r="http://schemas.openxmlformats.org/officeDocument/2006/relationships" id="271" r:id="R3fbf10beb85a4501"/>
    <p:sldId xmlns:r="http://schemas.openxmlformats.org/officeDocument/2006/relationships" id="272" r:id="R861b497c90c04700"/>
    <p:sldId xmlns:r="http://schemas.openxmlformats.org/officeDocument/2006/relationships" id="273" r:id="Re82bedfbf34440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d1cb72a9dc534bd5"/><Relationship Type="http://schemas.openxmlformats.org/officeDocument/2006/relationships/slideMaster" Target="/ppt/slideMasters/slideMaster1.xml" Id="Re01e9b3f151f423c"/><Relationship Type="http://schemas.openxmlformats.org/officeDocument/2006/relationships/notesMaster" Target="/ppt/notesMasters/notesMaster1.xml" Id="R1e47b489aaa1435a"/><Relationship Type="http://schemas.openxmlformats.org/officeDocument/2006/relationships/presProps" Target="/ppt/presProps.xml" Id="Rd9cd7cdbd4cf42fd"/><Relationship Type="http://schemas.openxmlformats.org/officeDocument/2006/relationships/tableStyles" Target="/ppt/tableStyles.xml" Id="R581405d5d48f4a7d"/><Relationship Type="http://schemas.openxmlformats.org/officeDocument/2006/relationships/slide" Target="/ppt/slides/slide1.xml" Id="R7554f598634546b0"/><Relationship Type="http://schemas.openxmlformats.org/officeDocument/2006/relationships/slide" Target="/ppt/slides/slide2.xml" Id="R428591fa8a544c72"/><Relationship Type="http://schemas.openxmlformats.org/officeDocument/2006/relationships/slide" Target="/ppt/slides/slide3.xml" Id="R95c4450df69e4c7b"/><Relationship Type="http://schemas.openxmlformats.org/officeDocument/2006/relationships/slide" Target="/ppt/slides/slide4.xml" Id="R16bd2d67f74c4766"/><Relationship Type="http://schemas.openxmlformats.org/officeDocument/2006/relationships/slide" Target="/ppt/slides/slide5.xml" Id="R1249756c351e4738"/><Relationship Type="http://schemas.openxmlformats.org/officeDocument/2006/relationships/slide" Target="/ppt/slides/slide6.xml" Id="Ra95cb1a1350a4b6f"/><Relationship Type="http://schemas.openxmlformats.org/officeDocument/2006/relationships/slide" Target="/ppt/slides/slide7.xml" Id="Rc48efe144bd74c41"/><Relationship Type="http://schemas.openxmlformats.org/officeDocument/2006/relationships/slide" Target="/ppt/slides/slide8.xml" Id="R964e41e0827945a0"/><Relationship Type="http://schemas.openxmlformats.org/officeDocument/2006/relationships/slide" Target="/ppt/slides/slide9.xml" Id="R26d149a8a8ca4ce9"/><Relationship Type="http://schemas.openxmlformats.org/officeDocument/2006/relationships/slide" Target="/ppt/slides/slide10.xml" Id="Rfaf98d8c040a42e4"/><Relationship Type="http://schemas.openxmlformats.org/officeDocument/2006/relationships/slide" Target="/ppt/slides/slide11.xml" Id="R42278e558a9045d0"/><Relationship Type="http://schemas.openxmlformats.org/officeDocument/2006/relationships/slide" Target="/ppt/slides/slide12.xml" Id="Ree3b71e37e9242a8"/><Relationship Type="http://schemas.openxmlformats.org/officeDocument/2006/relationships/slide" Target="/ppt/slides/slide13.xml" Id="R85c76ac6df4e466f"/><Relationship Type="http://schemas.openxmlformats.org/officeDocument/2006/relationships/slide" Target="/ppt/slides/slide14.xml" Id="Rd88cbe01f0d647fb"/><Relationship Type="http://schemas.openxmlformats.org/officeDocument/2006/relationships/slide" Target="/ppt/slides/slide15.xml" Id="Rf51a101b98c44f4a"/><Relationship Type="http://schemas.openxmlformats.org/officeDocument/2006/relationships/slide" Target="/ppt/slides/slide16.xml" Id="R3fbf10beb85a4501"/><Relationship Type="http://schemas.openxmlformats.org/officeDocument/2006/relationships/slide" Target="/ppt/slides/slide17.xml" Id="R861b497c90c04700"/><Relationship Type="http://schemas.openxmlformats.org/officeDocument/2006/relationships/slide" Target="/ppt/slides/slide18.xml" Id="Re82bedfbf3444042"/></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ec6e0d39dcfb4097"/></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0d24b05ba0904d66"/><Relationship Type="http://schemas.openxmlformats.org/officeDocument/2006/relationships/notesMaster" Target="/ppt/notesMasters/notesMaster1.xml" Id="Rb235ff65b7bb48ed"/></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7f8933116dd849e9"/><Relationship Type="http://schemas.openxmlformats.org/officeDocument/2006/relationships/notesMaster" Target="/ppt/notesMasters/notesMaster1.xml" Id="R9abaafb2252041e9"/></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aee8db0b68d3427d"/><Relationship Type="http://schemas.openxmlformats.org/officeDocument/2006/relationships/notesMaster" Target="/ppt/notesMasters/notesMaster1.xml" Id="R144292210d51444a"/></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ba5fb3dcd9f945e0"/><Relationship Type="http://schemas.openxmlformats.org/officeDocument/2006/relationships/notesMaster" Target="/ppt/notesMasters/notesMaster1.xml" Id="Rff550ed836aa41c4"/></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a08ef07e6035413b"/><Relationship Type="http://schemas.openxmlformats.org/officeDocument/2006/relationships/notesMaster" Target="/ppt/notesMasters/notesMaster1.xml" Id="R23eda231908a434f"/></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d217156db2ce4674"/><Relationship Type="http://schemas.openxmlformats.org/officeDocument/2006/relationships/notesMaster" Target="/ppt/notesMasters/notesMaster1.xml" Id="Re4f6ac6724c0461e"/></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e42ac79f70164583"/><Relationship Type="http://schemas.openxmlformats.org/officeDocument/2006/relationships/notesMaster" Target="/ppt/notesMasters/notesMaster1.xml" Id="R5b336235a8b84b58"/></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23e6b61a3d504d66"/><Relationship Type="http://schemas.openxmlformats.org/officeDocument/2006/relationships/notesMaster" Target="/ppt/notesMasters/notesMaster1.xml" Id="Rf43214a0c88b44e8"/></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0334ec504ce749fa"/><Relationship Type="http://schemas.openxmlformats.org/officeDocument/2006/relationships/notesMaster" Target="/ppt/notesMasters/notesMaster1.xml" Id="R0911c578786a478f"/></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20fbd1a272ef4ea7"/><Relationship Type="http://schemas.openxmlformats.org/officeDocument/2006/relationships/notesMaster" Target="/ppt/notesMasters/notesMaster1.xml" Id="Rf4ec48e86f57464c"/></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f912c8cf0c804d76"/><Relationship Type="http://schemas.openxmlformats.org/officeDocument/2006/relationships/notesMaster" Target="/ppt/notesMasters/notesMaster1.xml" Id="R679dedfbf207430a"/></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d3a76b3b103d491d"/><Relationship Type="http://schemas.openxmlformats.org/officeDocument/2006/relationships/notesMaster" Target="/ppt/notesMasters/notesMaster1.xml" Id="R2950319b19044cfd"/></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891b1430811e4aed"/><Relationship Type="http://schemas.openxmlformats.org/officeDocument/2006/relationships/notesMaster" Target="/ppt/notesMasters/notesMaster1.xml" Id="R0945b53a50b84bb5"/></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a37d4ba42902460f"/><Relationship Type="http://schemas.openxmlformats.org/officeDocument/2006/relationships/notesMaster" Target="/ppt/notesMasters/notesMaster1.xml" Id="R8404e68e1e384a7d"/></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66aa4a427bf446e8"/><Relationship Type="http://schemas.openxmlformats.org/officeDocument/2006/relationships/notesMaster" Target="/ppt/notesMasters/notesMaster1.xml" Id="R6db1f95e23314fb3"/></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f244fcdb28dd4679"/><Relationship Type="http://schemas.openxmlformats.org/officeDocument/2006/relationships/notesMaster" Target="/ppt/notesMasters/notesMaster1.xml" Id="Raf579f383a04488a"/></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2794f96fb39a44eb"/><Relationship Type="http://schemas.openxmlformats.org/officeDocument/2006/relationships/notesMaster" Target="/ppt/notesMasters/notesMaster1.xml" Id="R8dd777e0275044c7"/></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d9fbac81bf6a492a"/><Relationship Type="http://schemas.openxmlformats.org/officeDocument/2006/relationships/notesMaster" Target="/ppt/notesMasters/notesMaster1.xml" Id="R26f5e2e10e804e3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следующем эксперименте проверим,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0,851: доля подтверждённых положительных среди предсказанных. Recall 0,902: доля найденных положительных среди размеченных. F1 — их гармоническое среднее.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На вертикальной оси разность NDCG RRF минус E5.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условны на сохранённые выдачи, баллы судьи и фиксированный порог; они не учитывают обучение судьи и ошибки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Следующая проверка — более сильные и судьи с доступом к эталонному фрагменту на независимых человеческих оценках.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68bdc48176554da3"/></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bb77d50e957e4555"/><Relationship Type="http://schemas.openxmlformats.org/officeDocument/2006/relationships/slideLayout" Target="/ppt/slideLayouts/slideLayout1.xml" Id="Rd53db18ab9e94c05"/></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3db18ab9e94c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385e88ad8ee74043"/><Relationship Type="http://schemas.openxmlformats.org/officeDocument/2006/relationships/image" Target="/ppt/media/image.png" Id="R1b01f006935444e8"/><Relationship Type="http://schemas.openxmlformats.org/officeDocument/2006/relationships/notesSlide" Target="/ppt/notesSlides/notesSlide1.xml" Id="R464b1846a47e42d7"/></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1cb93f3a0551482d"/><Relationship Type="http://schemas.openxmlformats.org/officeDocument/2006/relationships/notesSlide" Target="/ppt/notesSlides/notesSlide2.xml" Id="R5dcca3246a0d4036"/></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79f1bf193b014c6d"/><Relationship Type="http://schemas.openxmlformats.org/officeDocument/2006/relationships/notesSlide" Target="/ppt/notesSlides/notesSlide3.xml" Id="Rd7e2e4068e68407a"/></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427168c7cf1c4c0b"/><Relationship Type="http://schemas.openxmlformats.org/officeDocument/2006/relationships/notesSlide" Target="/ppt/notesSlides/notesSlide4.xml" Id="R40bc4f2c561141a4"/></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98b98e44c02441b1"/><Relationship Type="http://schemas.openxmlformats.org/officeDocument/2006/relationships/notesSlide" Target="/ppt/notesSlides/notesSlide5.xml" Id="R3c2e946ba1d440b4"/></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731cd57361984abc"/><Relationship Type="http://schemas.openxmlformats.org/officeDocument/2006/relationships/chart" Target="/ppt/slides/charts/chart1.xml" Id="R9f603dc325a44b62"/><Relationship Type="http://schemas.openxmlformats.org/officeDocument/2006/relationships/notesSlide" Target="/ppt/notesSlides/notesSlide6.xml" Id="R68b302506fea40e1"/></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81291148dd734d19"/><Relationship Type="http://schemas.openxmlformats.org/officeDocument/2006/relationships/notesSlide" Target="/ppt/notesSlides/notesSlide7.xml" Id="R5bcc8175b9b4448b"/></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75f2d38cfecf4949"/><Relationship Type="http://schemas.openxmlformats.org/officeDocument/2006/relationships/chart" Target="/ppt/slides/charts/chart2.xml" Id="R4e319c55f60045d2"/><Relationship Type="http://schemas.openxmlformats.org/officeDocument/2006/relationships/notesSlide" Target="/ppt/notesSlides/notesSlide8.xml" Id="R774cfecc5e19474a"/></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5ec45463e02447df"/><Relationship Type="http://schemas.openxmlformats.org/officeDocument/2006/relationships/chart" Target="/ppt/slides/charts/chart3.xml" Id="R1bf3ddff373141dc"/><Relationship Type="http://schemas.openxmlformats.org/officeDocument/2006/relationships/notesSlide" Target="/ppt/notesSlides/notesSlide9.xml" Id="R136926540f454a9c"/></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fb120aaa61f54e64"/><Relationship Type="http://schemas.openxmlformats.org/officeDocument/2006/relationships/chart" Target="/ppt/slides/charts/chart4.xml" Id="R54333ac09e914be7"/><Relationship Type="http://schemas.openxmlformats.org/officeDocument/2006/relationships/notesSlide" Target="/ppt/notesSlides/notesSlide10.xml" Id="R77d0ec10d4dc41ee"/></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bb3e1cf90cda4659"/><Relationship Type="http://schemas.openxmlformats.org/officeDocument/2006/relationships/chart" Target="/ppt/slides/charts/chart5.xml" Id="Rf01e857490b848a3"/><Relationship Type="http://schemas.openxmlformats.org/officeDocument/2006/relationships/notesSlide" Target="/ppt/notesSlides/notesSlide11.xml" Id="Rdf62824f345748d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6eb370b6d7f446b5"/><Relationship Type="http://schemas.openxmlformats.org/officeDocument/2006/relationships/notesSlide" Target="/ppt/notesSlides/notesSlide12.xml" Id="Rf1796f2ae9a04863"/></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5bfe99ea216d4828"/><Relationship Type="http://schemas.openxmlformats.org/officeDocument/2006/relationships/notesSlide" Target="/ppt/notesSlides/notesSlide13.xml" Id="Rff7564b1a62e4043"/></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9076bbb3dc4245a5"/><Relationship Type="http://schemas.openxmlformats.org/officeDocument/2006/relationships/notesSlide" Target="/ppt/notesSlides/notesSlide14.xml" Id="R57a0a086c7074572"/></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f53b4281d7c043e8"/><Relationship Type="http://schemas.openxmlformats.org/officeDocument/2006/relationships/notesSlide" Target="/ppt/notesSlides/notesSlide15.xml" Id="Rdae501dfba484dbe"/></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b13da27ee9974b45"/><Relationship Type="http://schemas.openxmlformats.org/officeDocument/2006/relationships/notesSlide" Target="/ppt/notesSlides/notesSlide16.xml" Id="R73e90047e50440ed"/></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b03bd2d5154746f4"/><Relationship Type="http://schemas.openxmlformats.org/officeDocument/2006/relationships/notesSlide" Target="/ppt/notesSlides/notesSlide17.xml" Id="Rf87e6a4db3224f75"/></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70f4598f88674e0f"/><Relationship Type="http://schemas.openxmlformats.org/officeDocument/2006/relationships/notesSlide" Target="/ppt/notesSlides/notesSlide18.xml" Id="Rbd030b11a7cd433c"/></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Original qrels</c:v>
          </c:tx>
          <c:spPr>
            <a:solidFill xmlns:a="http://schemas.openxmlformats.org/drawingml/2006/main">
              <a:srgbClr val="819499"/>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Human judgments</c:v>
          </c:tx>
          <c:spPr>
            <a:solidFill xmlns:a="http://schemas.openxmlformats.org/drawingml/2006/main">
              <a:srgbClr val="007F78"/>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819499"/>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All candidates</c:v>
          </c:tx>
          <c:spPr>
            <a:solidFill xmlns:a="http://schemas.openxmlformats.org/drawingml/2006/main">
              <a:srgbClr val="819499"/>
            </a:solidFill>
            <a:ln xmlns:a="http://schemas.openxmlformats.org/drawingml/2006/main" w="28575">
              <a:solidFill>
                <a:srgbClr val="819499"/>
              </a:solidFill>
            </a:ln>
          </c:spPr>
          <c:marker>
            <c:symbol val="circle"/>
            <c:size val="8"/>
            <c:spPr>
              <a:solidFill xmlns:a="http://schemas.openxmlformats.org/drawingml/2006/main">
                <a:srgbClr val="819499"/>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minus E5</c:v>
          </c:tx>
          <c:spPr>
            <a:solidFill xmlns:a="http://schemas.openxmlformats.org/drawingml/2006/main">
              <a:srgbClr val="C95236"/>
            </a:solidFill>
            <a:ln xmlns:a="http://schemas.openxmlformats.org/drawingml/2006/main" w="0">
              <a:noFill/>
            </a:ln>
          </c:spPr>
          <c:marker>
            <c:symbol val="circle"/>
            <c:size val="3"/>
            <c:spPr>
              <a:solidFill xmlns:a="http://schemas.openxmlformats.org/drawingml/2006/main">
                <a:srgbClr val="C95236"/>
              </a:solidFill>
              <ns0:ln xmlns:ns0="http://schemas.openxmlformats.org/drawingml/2006/main" w="0">
                <ns0:noFill/>
              </ns0:ln>
            </c:spPr>
          </c:marker>
          <c:errBars>
            <c:errDir val="y"/>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17145">
                <ns0:solidFill>
                  <ns0:srgbClr val="C95236"/>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-0.01952103</c:v>
                </c:pt>
                <c:pt idx="1">
                  <c:v>0.01085768</c:v>
                </c:pt>
                <c:pt idx="2">
                  <c:v>0.00854269</c:v>
                </c:pt>
                <c:pt idx="3">
                  <c:v>0.00771191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3"/>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difference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1"/>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17145">
                <ns0:solidFill>
                  <ns0:srgbClr val="007F78"/>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5BEAB26B-8A4D-4366-8F31-D798B1F1540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b01f006935444e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DBCB11F1-8A09-4139-BF28-F9C3266AD8ED}"/>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B5EB91CE-8363-42CC-9BE7-3D4D5C7B4FEB}"/>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661D8F28-353B-4334-A42E-617169B8B9AB}"/>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52B1C3ED-A8A3-4B93-8C0A-A6A24C398939}"/>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B303E4A2-6ABC-4790-B39D-AB9EB2CDCE0A}"/>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4510974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2C2D23E3-F586-4C2B-8C23-7CC1280A657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6C38D67C-48F1-4FEE-92A6-2EB63CBC632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DC97CFAA-458F-4F5F-AFA9-E0E44F656CA1}"/>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L w="0">
                      <a:noFill/>
                    </a:lnL>
                    <a:lnR w="0">
                      <a:noFill/>
                    </a:lnR>
                    <a:lnT w="0">
                      <a:noFill/>
                    </a:lnT>
                    <a:lnB w="7620">
                      <a:solidFill>
                        <a:srgbClr val="D4E1E0"/>
                      </a:solidFill>
                    </a:lnB>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960661FE-4A46-4F51-9797-FBB39EDCEAE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17961427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Human judgments and a larger pool experiment">
            <a:extLst xmlns:a="http://schemas.openxmlformats.org/drawingml/2006/main">
              <a:ext uri="{FF2B5EF4-FFF2-40B4-BE49-F238E27FC236}">
                <a16:creationId xmlns:a16="http://schemas.microsoft.com/office/drawing/2014/main" id="{D88F3254-003A-4822-BD9C-42A89D63399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Human judgments and a larger pool experiment</a:t>
            </a:r>
          </a:p>
        </p:txBody>
      </p:sp>
      <p:sp>
        <p:nvSpPr>
          <p:cNvPr id="2" name="03">
            <a:extLst xmlns:a="http://schemas.openxmlformats.org/drawingml/2006/main">
              <a:ext uri="{FF2B5EF4-FFF2-40B4-BE49-F238E27FC236}">
                <a16:creationId xmlns:a16="http://schemas.microsoft.com/office/drawing/2014/main" id="{3AF34DFF-C723-483A-9561-5D9F3D9C56A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3CCAB6C5-EA5B-4BDF-AA94-4370912B4DA8}"/>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63D5D3F8-4676-4951-8BEA-64FA40ED714A}"/>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87552444-F4A5-4E79-A9B9-E2B40BA8B949}"/>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2C4ED35C-4F5C-452E-8A04-87D148D9A85F}"/>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AC24FE97-77AF-43F9-9D67-9FA4A1D97E69}"/>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4AC85388-CE15-4520-9631-56F944E31F73}"/>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36D13B79-16B6-4D93-BC60-52810F5AAA44}"/>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10FF0B05-A5C5-4E49-8DFA-E2E63B82A273}"/>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5907F96E-DD29-45C2-9228-AF2C0F8ABA74}"/>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C8C120C3-E630-4D04-96BB-417114B0A8D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20420697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A7966210-1FBD-43D9-9786-0B32F6E4242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A594F387-E8B1-421F-BB7F-619F0F25E74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81FFA1E9-BA39-429B-A0C4-A72425B10D90}"/>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02922994-09CC-467A-B55C-593BC1A52596}"/>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C3E399BE-481F-49D9-939E-C14B82DD29B5}"/>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1018A33E-F648-482E-9D89-C02F119EA0EB}"/>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705225" y="2457450"/>
            <a:ext cx="914400" cy="885825"/>
          </a:xfrm>
          <a:prstGeom xmlns:a="http://schemas.openxmlformats.org/drawingml/2006/main" prst="bentConnector3">
            <a:avLst>
              <a:gd name="adj1" fmla="val 50000"/>
            </a:avLst>
          </a:prstGeom>
          <a:ln xmlns:a="http://schemas.openxmlformats.org/drawingml/2006/main" w="23813">
            <a:solidFill>
              <a:srgbClr val="526970"/>
            </a:solidFill>
            <a:tailEnd type="triangle" w="sm" len="sm"/>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3813">
            <a:solidFill>
              <a:srgbClr val="C95236"/>
            </a:solidFill>
            <a:tailEnd type="triangle" w="sm" len="sm"/>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10" name="Query + candidate +&#10;known relevant answer">
            <a:extLst xmlns:a="http://schemas.openxmlformats.org/drawingml/2006/main">
              <a:ext uri="{FF2B5EF4-FFF2-40B4-BE49-F238E27FC236}">
                <a16:creationId xmlns:a16="http://schemas.microsoft.com/office/drawing/2014/main" id="{EBDDD9CC-6C06-4FE5-9E58-F29AE959106E}"/>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D249C3F5-697B-4125-8742-C78EC17F88A1}"/>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FF71088E-E413-442E-9BFE-9BB5936D968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9038518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passages within the same pools">
            <a:extLst xmlns:a="http://schemas.openxmlformats.org/drawingml/2006/main">
              <a:ext uri="{FF2B5EF4-FFF2-40B4-BE49-F238E27FC236}">
                <a16:creationId xmlns:a16="http://schemas.microsoft.com/office/drawing/2014/main" id="{E733B887-B58B-4BE0-86FC-E6BE2EFD429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passages within the same pools</a:t>
            </a:r>
          </a:p>
        </p:txBody>
      </p:sp>
      <p:sp>
        <p:nvSpPr>
          <p:cNvPr id="2" name="05">
            <a:extLst xmlns:a="http://schemas.openxmlformats.org/drawingml/2006/main">
              <a:ext uri="{FF2B5EF4-FFF2-40B4-BE49-F238E27FC236}">
                <a16:creationId xmlns:a16="http://schemas.microsoft.com/office/drawing/2014/main" id="{F9F83F8A-1507-4BE9-A7A9-7CB894E2940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24AB6FBC-8797-4331-ACC5-8CDEC8F5E309}"/>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E74940F7-D6D2-4A07-8C36-247718489422}"/>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819499"/>
                </a:solidFill>
                <a:latin typeface="Arial"/>
                <a:ea typeface="Arial"/>
                <a:cs typeface="Arial"/>
              </a:defRPr>
            </a:pPr>
            <a:r>
              <a:rPr sz="7800" b="1">
                <a:solidFill>
                  <a:srgbClr val="819499"/>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C252275F-7CD3-457C-A162-1736DFF9A2BF}"/>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884B7479-6C4B-4D2C-B2C6-CCDCD0C625B6}"/>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3250EF24-6DF9-4B05-9D84-0601D889C03A}"/>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E50BC75B-53D3-4CAC-8216-94624CA6E3F6}"/>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2D80411A-5B98-407A-969A-D5482D97CDEB}"/>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94F89D4B-7907-450F-A302-1BA496B931CB}"/>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44B37599-00A1-4B95-A42B-C8915B90A76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15848353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EDFC269E-EF15-421B-AD37-9CED0DF422A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1E1A25AE-518D-4239-8978-FA56E02888E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9f603dc325a44b62"/>
          </a:graphicData>
        </a:graphic>
      </p:graphicFrame>
      <p:sp>
        <p:nvSpPr>
          <p:cNvPr id="4" name="E5 paired change: +0.391   95% CI [0.365, 0.417]">
            <a:extLst xmlns:a="http://schemas.openxmlformats.org/drawingml/2006/main">
              <a:ext uri="{FF2B5EF4-FFF2-40B4-BE49-F238E27FC236}">
                <a16:creationId xmlns:a16="http://schemas.microsoft.com/office/drawing/2014/main" id="{CAB699D6-8E24-4FA0-8663-37CB29CA53F7}"/>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AFA49E8F-C6D7-472C-B61D-4E5D7D9EEF0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14274551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5A058FDE-EFA5-4CA8-804E-5ED86BCFF0B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97B69C99-B024-43AF-B53B-5F91BF24CFC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F2367DDC-458A-4FD9-A002-55C1AA2FA82E}"/>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C4147AC2-2512-4682-B50B-6932F8A8AABD}"/>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B8F10CA1-B09B-41FD-BD4D-8CA9866FBBC8}"/>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3813">
            <a:solidFill>
              <a:srgbClr val="C95236"/>
            </a:solidFill>
            <a:tailEnd type="triangle" w="sm" len="sm"/>
          </a:ln>
        </p:spPr>
      </p:cxnSp>
      <p:sp>
        <p:nvSpPr>
          <p:cNvPr id="8" name="Jointly scores the two texts">
            <a:extLst xmlns:a="http://schemas.openxmlformats.org/drawingml/2006/main">
              <a:ext uri="{FF2B5EF4-FFF2-40B4-BE49-F238E27FC236}">
                <a16:creationId xmlns:a16="http://schemas.microsoft.com/office/drawing/2014/main" id="{037581A6-5E15-41A1-B0EC-E685AE704967}"/>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4D4B0A91-1174-452A-931D-9A0CD5A7FF32}"/>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63F34A2D-1DE1-4752-8965-7EEADACE4E7F}"/>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The origina">
            <a:extLst xmlns:a="http://schemas.openxmlformats.org/drawingml/2006/main">
              <a:ext uri="{FF2B5EF4-FFF2-40B4-BE49-F238E27FC236}">
                <a16:creationId xmlns:a16="http://schemas.microsoft.com/office/drawing/2014/main" id="{555FDBF6-E8C7-4E70-BB6E-3588ED7790C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 The original retrieval rankings remain available.</a:t>
            </a:r>
          </a:p>
        </p:txBody>
      </p:sp>
    </p:spTree>
    <p:extLst>
      <p:ext uri="{BB962C8B-B14F-4D97-AF65-F5344CB8AC3E}">
        <p14:creationId xmlns:p14="http://schemas.microsoft.com/office/powerpoint/2010/main" val="108422927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agreement on held-out queries">
            <a:extLst xmlns:a="http://schemas.openxmlformats.org/drawingml/2006/main">
              <a:ext uri="{FF2B5EF4-FFF2-40B4-BE49-F238E27FC236}">
                <a16:creationId xmlns:a16="http://schemas.microsoft.com/office/drawing/2014/main" id="{D5891AB7-325C-46D2-B3E2-FFA2AD559EE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7B429115-8BAE-48A6-B50C-852DAD580BA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2"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4e319c55f60045d2"/>
          </a:graphicData>
        </a:graphic>
      </p:graphicFrame>
      <p:sp>
        <p:nvSpPr>
          <p:cNvPr id="4" name="0.907">
            <a:extLst xmlns:a="http://schemas.openxmlformats.org/drawingml/2006/main">
              <a:ext uri="{FF2B5EF4-FFF2-40B4-BE49-F238E27FC236}">
                <a16:creationId xmlns:a16="http://schemas.microsoft.com/office/drawing/2014/main" id="{56390BAC-7E8E-4E9F-870D-F198D652EF15}"/>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AF89992C-587D-4177-A2B7-15A2760E9422}"/>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BA3B4DF9-5C28-4F4A-9CF6-34EC82A47AC2}"/>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F83E9B26-EEC0-4552-A3F5-A6E2F80A20DF}"/>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Coral marker: validation-selected threshold">
            <a:extLst xmlns:a="http://schemas.openxmlformats.org/drawingml/2006/main">
              <a:ext uri="{FF2B5EF4-FFF2-40B4-BE49-F238E27FC236}">
                <a16:creationId xmlns:a16="http://schemas.microsoft.com/office/drawing/2014/main" id="{F200C3C5-E3E5-40D1-9827-5587ABB2B047}"/>
              </a:ext>
            </a:extLst>
          </p:cNvPr>
          <p:cNvSpPr>
            <a:spLocks xmlns:a="http://schemas.openxmlformats.org/drawingml/2006/main" noGrp="1"/>
          </p:cNvSpPr>
          <p:nvPr/>
        </p:nvSpPr>
        <p:spPr>
          <a:xfrm xmlns:a="http://schemas.openxmlformats.org/drawingml/2006/main">
            <a:off x="609600" y="5686425"/>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Coral marker: validation-selected threshold</a:t>
            </a:r>
          </a:p>
        </p:txBody>
      </p:sp>
      <p:sp>
        <p:nvSpPr>
          <p:cNvPr id="9" name="177 held-out manual-pool queries; 5,002 pairs. D">
            <a:extLst xmlns:a="http://schemas.openxmlformats.org/drawingml/2006/main">
              <a:ext uri="{FF2B5EF4-FFF2-40B4-BE49-F238E27FC236}">
                <a16:creationId xmlns:a16="http://schemas.microsoft.com/office/drawing/2014/main" id="{48BFB5DA-53C0-4B46-AB87-BF12AD405DE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manual-pool queries; 5,002 pairs. Deeper pools lack human validation.</a:t>
            </a:r>
          </a:p>
        </p:txBody>
      </p:sp>
    </p:spTree>
    <p:extLst>
      <p:ext uri="{BB962C8B-B14F-4D97-AF65-F5344CB8AC3E}">
        <p14:creationId xmlns:p14="http://schemas.microsoft.com/office/powerpoint/2010/main" val="98037795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846F055A-1C38-4794-83B1-16FDBF18A62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C4A621EA-E933-4FD7-A234-08B5E93409F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92379E38-2336-463F-982C-7CA1BC915C67}"/>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1bf3ddff373141dc"/>
          </a:graphicData>
        </a:graphic>
      </p:graphicFrame>
      <p:sp>
        <p:nvSpPr>
          <p:cNvPr id="5" name="451.5">
            <a:extLst xmlns:a="http://schemas.openxmlformats.org/drawingml/2006/main">
              <a:ext uri="{FF2B5EF4-FFF2-40B4-BE49-F238E27FC236}">
                <a16:creationId xmlns:a16="http://schemas.microsoft.com/office/drawing/2014/main" id="{F27E6F91-36C5-419B-89AF-E14085E3D135}"/>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819499"/>
                </a:solidFill>
                <a:latin typeface="Arial"/>
                <a:ea typeface="Arial"/>
                <a:cs typeface="Arial"/>
              </a:defRPr>
            </a:pPr>
            <a:r>
              <a:rPr sz="4425" b="1">
                <a:solidFill>
                  <a:srgbClr val="819499"/>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9C450D9B-A66E-484C-9763-CFF8D55914A3}"/>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FA60B850-6385-4C62-B302-AC15B578F464}"/>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BB2E2BA7-02E1-4C17-BDFF-D99BE35F458E}"/>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B2300DBB-4DB1-4929-88B4-4312D3869DC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3657062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RF changes position relative to E5">
            <a:extLst xmlns:a="http://schemas.openxmlformats.org/drawingml/2006/main">
              <a:ext uri="{FF2B5EF4-FFF2-40B4-BE49-F238E27FC236}">
                <a16:creationId xmlns:a16="http://schemas.microsoft.com/office/drawing/2014/main" id="{AFD7B868-DBA1-4C40-BA2D-B26338FF18E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changes position relative to E5</a:t>
            </a:r>
          </a:p>
        </p:txBody>
      </p:sp>
      <p:sp>
        <p:nvSpPr>
          <p:cNvPr id="2" name="10">
            <a:extLst xmlns:a="http://schemas.openxmlformats.org/drawingml/2006/main">
              <a:ext uri="{FF2B5EF4-FFF2-40B4-BE49-F238E27FC236}">
                <a16:creationId xmlns:a16="http://schemas.microsoft.com/office/drawing/2014/main" id="{DFF7C6EB-C3C3-47A6-989B-C9ED3CD13D5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RRF(L = K) minus E5; assessment depth K = fusion">
            <a:extLst xmlns:a="http://schemas.openxmlformats.org/drawingml/2006/main">
              <a:ext uri="{FF2B5EF4-FFF2-40B4-BE49-F238E27FC236}">
                <a16:creationId xmlns:a16="http://schemas.microsoft.com/office/drawing/2014/main" id="{25623D8B-E561-4CE2-A71B-32D128A7F436}"/>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RRF(L = K) minus E5; assessment depth K = fusion input depth L</a:t>
            </a:r>
          </a:p>
        </p:txBody>
      </p:sp>
      <p:graphicFrame>
        <p:nvGraphicFramePr>
          <p:cNvPr id="10" name="Chart"/>
          <p:cNvGraphicFramePr/>
          <p:nvPr/>
        </p:nvGraphicFramePr>
        <p:xfrm>
          <a:off xmlns:a="http://schemas.openxmlformats.org/drawingml/2006/main" x="609600" y="2305050"/>
          <a:ext xmlns:a="http://schemas.openxmlformats.org/drawingml/2006/main" cx="10972800" cy="3228975"/>
        </p:xfrm>
        <a:graphic xmlns:a="http://schemas.openxmlformats.org/drawingml/2006/main">
          <a:graphicData uri="http://schemas.openxmlformats.org/drawingml/2006/chart">
            <c:chart xmlns:r="http://schemas.openxmlformats.org/officeDocument/2006/relationships" xmlns:c="http://schemas.openxmlformats.org/drawingml/2006/chart" r:id="R54333ac09e914be7"/>
          </a:graphicData>
        </a:graphic>
      </p:graphicFrame>
      <p:sp>
        <p:nvSpPr>
          <p:cNvPr id="5" name="K = 200: +0.0088   95% CI [0.0082, 0.0095]">
            <a:extLst xmlns:a="http://schemas.openxmlformats.org/drawingml/2006/main">
              <a:ext uri="{FF2B5EF4-FFF2-40B4-BE49-F238E27FC236}">
                <a16:creationId xmlns:a16="http://schemas.microsoft.com/office/drawing/2014/main" id="{CB836D94-AA6F-4D76-9544-255EC7869E4E}"/>
              </a:ext>
            </a:extLst>
          </p:cNvPr>
          <p:cNvSpPr>
            <a:spLocks xmlns:a="http://schemas.openxmlformats.org/drawingml/2006/main" noGrp="1"/>
          </p:cNvSpPr>
          <p:nvPr/>
        </p:nvSpPr>
        <p:spPr>
          <a:xfrm xmlns:a="http://schemas.openxmlformats.org/drawingml/2006/main">
            <a:off x="609600" y="56483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95236"/>
                </a:solidFill>
                <a:latin typeface="Arial"/>
                <a:ea typeface="Arial"/>
                <a:cs typeface="Arial"/>
              </a:defRPr>
            </a:pPr>
            <a:r>
              <a:rPr sz="2100" b="1">
                <a:solidFill>
                  <a:srgbClr val="C95236"/>
                </a:solidFill>
                <a:latin typeface="Arial"/>
                <a:ea typeface="Arial"/>
                <a:cs typeface="Arial"/>
              </a:rPr>
              <a:t>K = 200: +0.0088   95% CI [0.0082, 0.0095]</a:t>
            </a:r>
          </a:p>
        </p:txBody>
      </p:sp>
      <p:sp>
        <p:nvSpPr>
          <p:cNvPr id="6" name="Single-judge pseudo-labels. Points with 95% pair">
            <a:extLst xmlns:a="http://schemas.openxmlformats.org/drawingml/2006/main">
              <a:ext uri="{FF2B5EF4-FFF2-40B4-BE49-F238E27FC236}">
                <a16:creationId xmlns:a16="http://schemas.microsoft.com/office/drawing/2014/main" id="{C63A09B3-E014-4769-B544-0D79B54A54C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Points with 95% paired query-bootstrap intervals.</a:t>
            </a:r>
          </a:p>
        </p:txBody>
      </p:sp>
    </p:spTree>
    <p:extLst>
      <p:ext uri="{BB962C8B-B14F-4D97-AF65-F5344CB8AC3E}">
        <p14:creationId xmlns:p14="http://schemas.microsoft.com/office/powerpoint/2010/main" val="34317503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ssessment coverage can reverse a comparison">
            <a:extLst xmlns:a="http://schemas.openxmlformats.org/drawingml/2006/main">
              <a:ext uri="{FF2B5EF4-FFF2-40B4-BE49-F238E27FC236}">
                <a16:creationId xmlns:a16="http://schemas.microsoft.com/office/drawing/2014/main" id="{B608F73A-54F0-4890-97F7-4A78069F4B9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Assessment coverage can reverse a comparison</a:t>
            </a:r>
          </a:p>
        </p:txBody>
      </p:sp>
      <p:sp>
        <p:nvSpPr>
          <p:cNvPr id="2" name="11">
            <a:extLst xmlns:a="http://schemas.openxmlformats.org/drawingml/2006/main">
              <a:ext uri="{FF2B5EF4-FFF2-40B4-BE49-F238E27FC236}">
                <a16:creationId xmlns:a16="http://schemas.microsoft.com/office/drawing/2014/main" id="{4A2E7765-1064-4883-9544-37548904C2C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output rankings ">
            <a:extLst xmlns:a="http://schemas.openxmlformats.org/drawingml/2006/main">
              <a:ext uri="{FF2B5EF4-FFF2-40B4-BE49-F238E27FC236}">
                <a16:creationId xmlns:a16="http://schemas.microsoft.com/office/drawing/2014/main" id="{E9DCB4C4-00EE-445D-8043-6EB4375855B3}"/>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output rankings stay unchanged.</a:t>
            </a:r>
          </a:p>
        </p:txBody>
      </p:sp>
      <p:graphicFrame>
        <p:nvGraphicFramePr>
          <p:cNvPr id="14"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f01e857490b848a3"/>
          </a:graphicData>
        </a:graphic>
      </p:graphicFrame>
      <p:sp>
        <p:nvSpPr>
          <p:cNvPr id="5" name="14.4%">
            <a:extLst xmlns:a="http://schemas.openxmlformats.org/drawingml/2006/main">
              <a:ext uri="{FF2B5EF4-FFF2-40B4-BE49-F238E27FC236}">
                <a16:creationId xmlns:a16="http://schemas.microsoft.com/office/drawing/2014/main" id="{72B29433-E11C-4361-9423-DAE8D6553BE1}"/>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RF top-10 pairs&#10;outside the pool&#10;at K = 10">
            <a:extLst xmlns:a="http://schemas.openxmlformats.org/drawingml/2006/main">
              <a:ext uri="{FF2B5EF4-FFF2-40B4-BE49-F238E27FC236}">
                <a16:creationId xmlns:a16="http://schemas.microsoft.com/office/drawing/2014/main" id="{C6A8D8FF-590F-46A2-B701-95381ED83D57}"/>
              </a:ext>
            </a:extLst>
          </p:cNvPr>
          <p:cNvSpPr>
            <a:spLocks xmlns:a="http://schemas.openxmlformats.org/drawingml/2006/main" noGrp="1"/>
          </p:cNvSpPr>
          <p:nvPr/>
        </p:nvSpPr>
        <p:spPr>
          <a:xfrm xmlns:a="http://schemas.openxmlformats.org/drawingml/2006/main">
            <a:off x="8963025" y="37052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1BC2668E-2FC0-40D8-9201-A236D8A53400}"/>
              </a:ext>
            </a:extLst>
          </p:cNvPr>
          <p:cNvSpPr>
            <a:spLocks xmlns:a="http://schemas.openxmlformats.org/drawingml/2006/main" noGrp="1"/>
          </p:cNvSpPr>
          <p:nvPr/>
        </p:nvSpPr>
        <p:spPr>
          <a:xfrm xmlns:a="http://schemas.openxmlformats.org/drawingml/2006/main">
            <a:off x="8963025" y="51720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K = 10: −0.0661">
            <a:extLst xmlns:a="http://schemas.openxmlformats.org/drawingml/2006/main">
              <a:ext uri="{FF2B5EF4-FFF2-40B4-BE49-F238E27FC236}">
                <a16:creationId xmlns:a16="http://schemas.microsoft.com/office/drawing/2014/main" id="{E79810F6-0FC7-4D6D-BE96-2A5F445520C2}"/>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9" name="K = 30: +0.0080">
            <a:extLst xmlns:a="http://schemas.openxmlformats.org/drawingml/2006/main">
              <a:ext uri="{FF2B5EF4-FFF2-40B4-BE49-F238E27FC236}">
                <a16:creationId xmlns:a16="http://schemas.microsoft.com/office/drawing/2014/main" id="{82B86423-4E27-4C6F-8CD3-2A38F8E8991E}"/>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0" name="RRF minus E5 under pseudo-labels. Unjudged retur">
            <a:extLst xmlns:a="http://schemas.openxmlformats.org/drawingml/2006/main">
              <a:ext uri="{FF2B5EF4-FFF2-40B4-BE49-F238E27FC236}">
                <a16:creationId xmlns:a16="http://schemas.microsoft.com/office/drawing/2014/main" id="{4C7986F0-BE2A-469D-8C1B-D5446BF594B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193966256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EADCE51D-50BF-44AE-BF3A-41C1B6E7148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E1C97FA5-541E-4470-AF9C-D6D5B7F201D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01E2F6B2-0605-48C8-ADAC-E1621F078B72}"/>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11788B3-DA1E-4F38-ACFD-EDA1FD9D2338}"/>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1EF667CD-C782-4C9D-9EF4-A34A6DCAF5FF}"/>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93025CFC-80E1-43FD-BD0E-AA333929D52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78227654"/>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BC8F8D3B-38B0-45BC-BC11-E1CD8D633CE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5DF29E1B-F7D4-4446-8D40-1C048BCBC81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EFD6D2DB-8B90-4A91-8434-BAB189871B0D}"/>
              </a:ext>
            </a:extLst>
          </p:cNvPr>
          <p:cNvSpPr>
            <a:spLocks xmlns:a="http://schemas.openxmlformats.org/drawingml/2006/main" noGrp="1"/>
          </p:cNvSpPr>
          <p:nvPr/>
        </p:nvSpPr>
        <p:spPr>
          <a:xfrm xmlns:a="http://schemas.openxmlformats.org/drawingml/2006/main">
            <a:off x="609600" y="220980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FADF2338-2E12-44C5-BA66-7CD2649F37A0}"/>
              </a:ext>
            </a:extLst>
          </p:cNvPr>
          <p:cNvSpPr>
            <a:spLocks xmlns:a="http://schemas.openxmlformats.org/drawingml/2006/main" noGrp="1"/>
          </p:cNvSpPr>
          <p:nvPr/>
        </p:nvSpPr>
        <p:spPr>
          <a:xfrm xmlns:a="http://schemas.openxmlformats.org/drawingml/2006/main">
            <a:off x="609600" y="287655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D8402C9B-E8CF-4430-866E-14412FE35C90}"/>
              </a:ext>
            </a:extLst>
          </p:cNvPr>
          <p:cNvSpPr>
            <a:spLocks xmlns:a="http://schemas.openxmlformats.org/drawingml/2006/main" noGrp="1"/>
          </p:cNvSpPr>
          <p:nvPr/>
        </p:nvSpPr>
        <p:spPr>
          <a:xfrm xmlns:a="http://schemas.openxmlformats.org/drawingml/2006/main">
            <a:off x="609600" y="37052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31629787-79FE-4E40-9F68-C6477AEB6D08}"/>
              </a:ext>
            </a:extLst>
          </p:cNvPr>
          <p:cNvSpPr>
            <a:spLocks xmlns:a="http://schemas.openxmlformats.org/drawingml/2006/main" noGrp="1"/>
          </p:cNvSpPr>
          <p:nvPr/>
        </p:nvSpPr>
        <p:spPr>
          <a:xfrm xmlns:a="http://schemas.openxmlformats.org/drawingml/2006/main">
            <a:off x="609600" y="448627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single-judge pseudo-labels">
            <a:extLst xmlns:a="http://schemas.openxmlformats.org/drawingml/2006/main">
              <a:ext uri="{FF2B5EF4-FFF2-40B4-BE49-F238E27FC236}">
                <a16:creationId xmlns:a16="http://schemas.microsoft.com/office/drawing/2014/main" id="{E48A2A96-C4FB-4527-B41B-96E3F0CEB58B}"/>
              </a:ext>
            </a:extLst>
          </p:cNvPr>
          <p:cNvSpPr>
            <a:spLocks xmlns:a="http://schemas.openxmlformats.org/drawingml/2006/main" noGrp="1"/>
          </p:cNvSpPr>
          <p:nvPr/>
        </p:nvSpPr>
        <p:spPr>
          <a:xfrm xmlns:a="http://schemas.openxmlformats.org/drawingml/2006/main">
            <a:off x="609600" y="48672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rankings; single-judge pseudo-labels</a:t>
            </a:r>
          </a:p>
        </p:txBody>
      </p:sp>
      <p:sp>
        <p:nvSpPr>
          <p:cNvPr id="8" name="The judgment pool can change which system scores">
            <a:extLst xmlns:a="http://schemas.openxmlformats.org/drawingml/2006/main">
              <a:ext uri="{FF2B5EF4-FFF2-40B4-BE49-F238E27FC236}">
                <a16:creationId xmlns:a16="http://schemas.microsoft.com/office/drawing/2014/main" id="{3FB0E719-C3DF-4833-86AC-2A2D6FD4FAE3}"/>
              </a:ext>
            </a:extLst>
          </p:cNvPr>
          <p:cNvSpPr>
            <a:spLocks xmlns:a="http://schemas.openxmlformats.org/drawingml/2006/main" noGrp="1"/>
          </p:cNvSpPr>
          <p:nvPr/>
        </p:nvSpPr>
        <p:spPr>
          <a:xfrm xmlns:a="http://schemas.openxmlformats.org/drawingml/2006/main">
            <a:off x="609600" y="54959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The judgment pool can change which system scores higher</a:t>
            </a:r>
          </a:p>
        </p:txBody>
      </p:sp>
      <p:sp>
        <p:nvSpPr>
          <p:cNvPr id="9" name="Evidence from selected English MS MARCO candidat">
            <a:extLst xmlns:a="http://schemas.openxmlformats.org/drawingml/2006/main">
              <a:ext uri="{FF2B5EF4-FFF2-40B4-BE49-F238E27FC236}">
                <a16:creationId xmlns:a16="http://schemas.microsoft.com/office/drawing/2014/main" id="{B9321511-95E6-4005-BABC-0A0B6739493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4033451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C0537E74-930B-43B7-B9CE-FB285AB898B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4259E809-CD71-46A0-B02E-5E47360F209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75BA1AF1-6D83-421D-929E-F1144FB896A7}"/>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95FDCFAF-CDE5-46CD-BFBD-D06D742D5E5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45791477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test protocol and observed errors">
            <a:extLst xmlns:a="http://schemas.openxmlformats.org/drawingml/2006/main">
              <a:ext uri="{FF2B5EF4-FFF2-40B4-BE49-F238E27FC236}">
                <a16:creationId xmlns:a16="http://schemas.microsoft.com/office/drawing/2014/main" id="{719CFF4A-4C15-409A-9A1E-2ED1D7E6C24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7D5D2050-4A40-4321-8C3D-CCB84D40261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825 / 177 / 177 queries">
            <a:extLst xmlns:a="http://schemas.openxmlformats.org/drawingml/2006/main">
              <a:ext uri="{FF2B5EF4-FFF2-40B4-BE49-F238E27FC236}">
                <a16:creationId xmlns:a16="http://schemas.microsoft.com/office/drawing/2014/main" id="{274E564E-907D-4EAB-860C-C6D88F85135D}"/>
              </a:ext>
            </a:extLst>
          </p:cNvPr>
          <p:cNvSpPr>
            <a:spLocks xmlns:a="http://schemas.openxmlformats.org/drawingml/2006/main" noGrp="1"/>
          </p:cNvSpPr>
          <p:nvPr/>
        </p:nvSpPr>
        <p:spPr>
          <a:xfrm xmlns:a="http://schemas.openxmlformats.org/drawingml/2006/main">
            <a:off x="609600" y="17526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F78"/>
                </a:solidFill>
                <a:latin typeface="Arial"/>
                <a:ea typeface="Arial"/>
                <a:cs typeface="Arial"/>
              </a:defRPr>
            </a:pPr>
            <a:r>
              <a:rPr sz="2625" b="1">
                <a:solidFill>
                  <a:srgbClr val="007F78"/>
                </a:solidFill>
                <a:latin typeface="Arial"/>
                <a:ea typeface="Arial"/>
                <a:cs typeface="Arial"/>
              </a:rPr>
              <a:t>825 / 177 / 177 queries</a:t>
            </a:r>
          </a:p>
        </p:txBody>
      </p:sp>
      <p:sp>
        <p:nvSpPr>
          <p:cNvPr id="4" name="Train / validation / test">
            <a:extLst xmlns:a="http://schemas.openxmlformats.org/drawingml/2006/main">
              <a:ext uri="{FF2B5EF4-FFF2-40B4-BE49-F238E27FC236}">
                <a16:creationId xmlns:a16="http://schemas.microsoft.com/office/drawing/2014/main" id="{AF7EDEF3-EDE1-4E05-9FD8-512C2DC4C7F9}"/>
              </a:ext>
            </a:extLst>
          </p:cNvPr>
          <p:cNvSpPr>
            <a:spLocks xmlns:a="http://schemas.openxmlformats.org/drawingml/2006/main" noGrp="1"/>
          </p:cNvSpPr>
          <p:nvPr/>
        </p:nvSpPr>
        <p:spPr>
          <a:xfrm xmlns:a="http://schemas.openxmlformats.org/drawingml/2006/main">
            <a:off x="609600" y="2286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Train / validation / test</a:t>
            </a:r>
          </a:p>
        </p:txBody>
      </p:sp>
      <p:graphicFrame>
        <p:nvGraphicFramePr>
          <p:cNvPr id="14"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Negative under inherited mapping</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0">
                          <a:solidFill>
                            <a:srgbClr val="182B30"/>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FFFFF"/>
                    </a:solidFill>
                  </a:tcPr>
                </a:tc>
              </a:tr>
              <a:tr h="714375">
                <a:tc>
                  <a:txBody>
                    <a:bodyPr lIns="171450" tIns="95250" rIns="171450" bIns="95250">
                      <a:noAutofit/>
                    </a:bodyPr>
                    <a:lstStyle/>
                    <a:p>
                      <a:r>
                        <a:rPr sz="2025" b="0">
                          <a:solidFill>
                            <a:srgbClr val="182B30"/>
                          </a:solidFill>
                          <a:latin typeface="Arial"/>
                          <a:ea typeface="Arial"/>
                          <a:cs typeface="Arial"/>
                        </a:rPr>
                        <a:t>Positive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6" name="Precision 0.851">
            <a:extLst xmlns:a="http://schemas.openxmlformats.org/drawingml/2006/main">
              <a:ext uri="{FF2B5EF4-FFF2-40B4-BE49-F238E27FC236}">
                <a16:creationId xmlns:a16="http://schemas.microsoft.com/office/drawing/2014/main" id="{2E8F1866-4C65-4114-83BC-5B02BD77BCE5}"/>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7" name="Recall 0.902">
            <a:extLst xmlns:a="http://schemas.openxmlformats.org/drawingml/2006/main">
              <a:ext uri="{FF2B5EF4-FFF2-40B4-BE49-F238E27FC236}">
                <a16:creationId xmlns:a16="http://schemas.microsoft.com/office/drawing/2014/main" id="{C945AA6D-0C08-46CC-B447-386E78D9E57F}"/>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8" name="F1 0.875">
            <a:extLst xmlns:a="http://schemas.openxmlformats.org/drawingml/2006/main">
              <a:ext uri="{FF2B5EF4-FFF2-40B4-BE49-F238E27FC236}">
                <a16:creationId xmlns:a16="http://schemas.microsoft.com/office/drawing/2014/main" id="{BA540236-7552-4468-9801-A60C8428DC9A}"/>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9" name="5,002 pairs; six unresolved targets mapped to ze">
            <a:extLst xmlns:a="http://schemas.openxmlformats.org/drawingml/2006/main">
              <a:ext uri="{FF2B5EF4-FFF2-40B4-BE49-F238E27FC236}">
                <a16:creationId xmlns:a16="http://schemas.microsoft.com/office/drawing/2014/main" id="{93898DAE-8718-4E4C-9E61-392809ACB5D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51043958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9CEEA4E9-303D-42D0-A993-0ACBADF0336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731E6178-F423-4CF7-924A-9B2F8366488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RRF L=K</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RRF L=200</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C66FD10E-139E-4D05-9E85-1AEEEE72D9B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44914829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891FB436-9D9D-4FC1-B408-BE7F66729D5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2C258008-86BE-419F-BB45-F8FEFDA2028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9F225BF6-A0A8-4A4F-A434-C9AA74D9BC28}"/>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AD0D3367-7075-495E-BA1E-146F622440BD}"/>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E4E96486-A45C-42D7-9AAD-C5265AF71A8D}"/>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8BFD5DED-55F8-47B1-80DB-EEBA3C4AB06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8162606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E578E9DB-EC9E-47BF-BCAF-EC5A7F563D8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C96EA839-C842-4E58-B40B-B6EE8DBE393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03306830-4BF1-4CB3-B756-D3BC6ACB00E2}"/>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A29D54BB-C7AD-427B-A919-5F3A0BC31F3F}"/>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3354D1E2-0FBD-4E0B-B270-9265236CC3A6}"/>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7" name="Compare stronger judges against independent huma">
            <a:extLst xmlns:a="http://schemas.openxmlformats.org/drawingml/2006/main">
              <a:ext uri="{FF2B5EF4-FFF2-40B4-BE49-F238E27FC236}">
                <a16:creationId xmlns:a16="http://schemas.microsoft.com/office/drawing/2014/main" id="{409A43A8-9027-4D8C-B1C6-45F317D992A9}"/>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44215D6D-2879-4743-BEE1-6B040235947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20759525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