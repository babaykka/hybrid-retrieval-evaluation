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3b7ddf9500fb4f01"/><Relationship Type="http://schemas.openxmlformats.org/officeDocument/2006/relationships/extended-properties" Target="/docProps/app.xml" Id="Re8c9c505af3544cd"/><Relationship Type="http://schemas.openxmlformats.org/officeDocument/2006/relationships/officeDocument" Target="/ppt/presentation.xml" Id="Rec4c76bc0a5648e6"/></Relationships>
</file>

<file path=ppt/presentation.xml><?xml version="1.0" encoding="utf-8"?>
<p:presentation xmlns:p="http://schemas.openxmlformats.org/presentationml/2006/main">
  <p:sldMasterIdLst>
    <p:sldMasterId xmlns:r="http://schemas.openxmlformats.org/officeDocument/2006/relationships" id="2147483648" r:id="Rf7bd0835ba7c466f"/>
  </p:sldMasterIdLst>
  <p:notesMasterIdLst>
    <p:notesMasterId xmlns:r="http://schemas.openxmlformats.org/officeDocument/2006/relationships" r:id="R150331e19d214980"/>
  </p:notesMasterIdLst>
  <p:sldIdLst>
    <p:sldId xmlns:r="http://schemas.openxmlformats.org/officeDocument/2006/relationships" id="256" r:id="R23eb26e06e97475f"/>
    <p:sldId xmlns:r="http://schemas.openxmlformats.org/officeDocument/2006/relationships" id="257" r:id="R195d7d44205e4f33"/>
    <p:sldId xmlns:r="http://schemas.openxmlformats.org/officeDocument/2006/relationships" id="258" r:id="R7d1e0305ce8d41d4"/>
    <p:sldId xmlns:r="http://schemas.openxmlformats.org/officeDocument/2006/relationships" id="259" r:id="Rde2dc990ed274db3"/>
    <p:sldId xmlns:r="http://schemas.openxmlformats.org/officeDocument/2006/relationships" id="260" r:id="Re85130c6ca0e45c8"/>
    <p:sldId xmlns:r="http://schemas.openxmlformats.org/officeDocument/2006/relationships" id="261" r:id="Rcb72fc25a2c344be"/>
    <p:sldId xmlns:r="http://schemas.openxmlformats.org/officeDocument/2006/relationships" id="262" r:id="Rf44d93f71c7243fc"/>
    <p:sldId xmlns:r="http://schemas.openxmlformats.org/officeDocument/2006/relationships" id="263" r:id="R3057b03bdcac4425"/>
    <p:sldId xmlns:r="http://schemas.openxmlformats.org/officeDocument/2006/relationships" id="264" r:id="R22ef5758abc8455d"/>
    <p:sldId xmlns:r="http://schemas.openxmlformats.org/officeDocument/2006/relationships" id="265" r:id="R4affb503f1dc4d63"/>
    <p:sldId xmlns:r="http://schemas.openxmlformats.org/officeDocument/2006/relationships" id="266" r:id="Raff96f1b39ef4eef"/>
    <p:sldId xmlns:r="http://schemas.openxmlformats.org/officeDocument/2006/relationships" id="267" r:id="R83f344eda6af4256"/>
    <p:sldId xmlns:r="http://schemas.openxmlformats.org/officeDocument/2006/relationships" id="268" r:id="R0c8a32ace0554e6d"/>
    <p:sldId xmlns:r="http://schemas.openxmlformats.org/officeDocument/2006/relationships" id="269" r:id="Rfa6361002a85438c"/>
    <p:sldId xmlns:r="http://schemas.openxmlformats.org/officeDocument/2006/relationships" id="270" r:id="R99187e5980bf4800"/>
    <p:sldId xmlns:r="http://schemas.openxmlformats.org/officeDocument/2006/relationships" id="271" r:id="Re955b9b1b32e4763"/>
    <p:sldId xmlns:r="http://schemas.openxmlformats.org/officeDocument/2006/relationships" id="272" r:id="Rbffb97db8bb24432"/>
    <p:sldId xmlns:r="http://schemas.openxmlformats.org/officeDocument/2006/relationships" id="273" r:id="R642258faca654083"/>
    <p:sldId xmlns:r="http://schemas.openxmlformats.org/officeDocument/2006/relationships" id="274" r:id="R6148038978b3437d"/>
    <p:sldId xmlns:r="http://schemas.openxmlformats.org/officeDocument/2006/relationships" id="275" r:id="R6a94367159cc42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fd38b01c34624672"/><Relationship Type="http://schemas.openxmlformats.org/officeDocument/2006/relationships/slideMaster" Target="/ppt/slideMasters/slideMaster1.xml" Id="Rf7bd0835ba7c466f"/><Relationship Type="http://schemas.openxmlformats.org/officeDocument/2006/relationships/notesMaster" Target="/ppt/notesMasters/notesMaster1.xml" Id="R150331e19d214980"/><Relationship Type="http://schemas.openxmlformats.org/officeDocument/2006/relationships/presProps" Target="/ppt/presProps.xml" Id="R11991895b9d64188"/><Relationship Type="http://schemas.openxmlformats.org/officeDocument/2006/relationships/tableStyles" Target="/ppt/tableStyles.xml" Id="R6e2d5775d49c4d34"/><Relationship Type="http://schemas.openxmlformats.org/officeDocument/2006/relationships/slide" Target="/ppt/slides/slide1.xml" Id="R23eb26e06e97475f"/><Relationship Type="http://schemas.openxmlformats.org/officeDocument/2006/relationships/slide" Target="/ppt/slides/slide2.xml" Id="R195d7d44205e4f33"/><Relationship Type="http://schemas.openxmlformats.org/officeDocument/2006/relationships/slide" Target="/ppt/slides/slide3.xml" Id="R7d1e0305ce8d41d4"/><Relationship Type="http://schemas.openxmlformats.org/officeDocument/2006/relationships/slide" Target="/ppt/slides/slide4.xml" Id="Rde2dc990ed274db3"/><Relationship Type="http://schemas.openxmlformats.org/officeDocument/2006/relationships/slide" Target="/ppt/slides/slide5.xml" Id="Re85130c6ca0e45c8"/><Relationship Type="http://schemas.openxmlformats.org/officeDocument/2006/relationships/slide" Target="/ppt/slides/slide6.xml" Id="Rcb72fc25a2c344be"/><Relationship Type="http://schemas.openxmlformats.org/officeDocument/2006/relationships/slide" Target="/ppt/slides/slide7.xml" Id="Rf44d93f71c7243fc"/><Relationship Type="http://schemas.openxmlformats.org/officeDocument/2006/relationships/slide" Target="/ppt/slides/slide8.xml" Id="R3057b03bdcac4425"/><Relationship Type="http://schemas.openxmlformats.org/officeDocument/2006/relationships/slide" Target="/ppt/slides/slide9.xml" Id="R22ef5758abc8455d"/><Relationship Type="http://schemas.openxmlformats.org/officeDocument/2006/relationships/slide" Target="/ppt/slides/slide10.xml" Id="R4affb503f1dc4d63"/><Relationship Type="http://schemas.openxmlformats.org/officeDocument/2006/relationships/slide" Target="/ppt/slides/slide11.xml" Id="Raff96f1b39ef4eef"/><Relationship Type="http://schemas.openxmlformats.org/officeDocument/2006/relationships/slide" Target="/ppt/slides/slide12.xml" Id="R83f344eda6af4256"/><Relationship Type="http://schemas.openxmlformats.org/officeDocument/2006/relationships/slide" Target="/ppt/slides/slide13.xml" Id="R0c8a32ace0554e6d"/><Relationship Type="http://schemas.openxmlformats.org/officeDocument/2006/relationships/slide" Target="/ppt/slides/slide14.xml" Id="Rfa6361002a85438c"/><Relationship Type="http://schemas.openxmlformats.org/officeDocument/2006/relationships/slide" Target="/ppt/slides/slide15.xml" Id="R99187e5980bf4800"/><Relationship Type="http://schemas.openxmlformats.org/officeDocument/2006/relationships/slide" Target="/ppt/slides/slide16.xml" Id="Re955b9b1b32e4763"/><Relationship Type="http://schemas.openxmlformats.org/officeDocument/2006/relationships/slide" Target="/ppt/slides/slide17.xml" Id="Rbffb97db8bb24432"/><Relationship Type="http://schemas.openxmlformats.org/officeDocument/2006/relationships/slide" Target="/ppt/slides/slide18.xml" Id="R642258faca654083"/><Relationship Type="http://schemas.openxmlformats.org/officeDocument/2006/relationships/slide" Target="/ppt/slides/slide19.xml" Id="R6148038978b3437d"/><Relationship Type="http://schemas.openxmlformats.org/officeDocument/2006/relationships/slide" Target="/ppt/slides/slide20.xml" Id="R6a94367159cc428e"/></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3d1dc512b9e46b8"/></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f0a52109c82b47b7"/><Relationship Type="http://schemas.openxmlformats.org/officeDocument/2006/relationships/notesMaster" Target="/ppt/notesMasters/notesMaster1.xml" Id="R97f3fe0ef3e24cac"/></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991c56e166f646ac"/><Relationship Type="http://schemas.openxmlformats.org/officeDocument/2006/relationships/notesMaster" Target="/ppt/notesMasters/notesMaster1.xml" Id="R60d5613c16cd48b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7528483858749fb"/><Relationship Type="http://schemas.openxmlformats.org/officeDocument/2006/relationships/notesMaster" Target="/ppt/notesMasters/notesMaster1.xml" Id="R6bafc50035424f16"/></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1fe8c3ba5ffa4341"/><Relationship Type="http://schemas.openxmlformats.org/officeDocument/2006/relationships/notesMaster" Target="/ppt/notesMasters/notesMaster1.xml" Id="R992299461eed4754"/></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2fe198eba7f84b48"/><Relationship Type="http://schemas.openxmlformats.org/officeDocument/2006/relationships/notesMaster" Target="/ppt/notesMasters/notesMaster1.xml" Id="Ra254a382f99e4ab5"/></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1e064c4fff94518"/><Relationship Type="http://schemas.openxmlformats.org/officeDocument/2006/relationships/notesMaster" Target="/ppt/notesMasters/notesMaster1.xml" Id="Rb2589b1daec44427"/></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c8648a1ea0af48fc"/><Relationship Type="http://schemas.openxmlformats.org/officeDocument/2006/relationships/notesMaster" Target="/ppt/notesMasters/notesMaster1.xml" Id="R4d046a933ab44570"/></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195d87474c546bc"/><Relationship Type="http://schemas.openxmlformats.org/officeDocument/2006/relationships/notesMaster" Target="/ppt/notesMasters/notesMaster1.xml" Id="R0e98bc14e82d4133"/></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5d267f571364673"/><Relationship Type="http://schemas.openxmlformats.org/officeDocument/2006/relationships/notesMaster" Target="/ppt/notesMasters/notesMaster1.xml" Id="Rd94a7ae784ae414a"/></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3920a67d348b48a6"/><Relationship Type="http://schemas.openxmlformats.org/officeDocument/2006/relationships/notesMaster" Target="/ppt/notesMasters/notesMaster1.xml" Id="R35cea7a37d6140f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16d20edc84f24c68"/><Relationship Type="http://schemas.openxmlformats.org/officeDocument/2006/relationships/notesMaster" Target="/ppt/notesMasters/notesMaster1.xml" Id="Re67b1457b9d249b7"/></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aa86a60abae34f02"/><Relationship Type="http://schemas.openxmlformats.org/officeDocument/2006/relationships/notesMaster" Target="/ppt/notesMasters/notesMaster1.xml" Id="R6bfa8103a7a54b79"/></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1ca8308c207485c"/><Relationship Type="http://schemas.openxmlformats.org/officeDocument/2006/relationships/notesMaster" Target="/ppt/notesMasters/notesMaster1.xml" Id="Re8c7e6babd7f4c25"/></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07784c034a024fd6"/><Relationship Type="http://schemas.openxmlformats.org/officeDocument/2006/relationships/notesMaster" Target="/ppt/notesMasters/notesMaster1.xml" Id="Re627cd0ead9d4e12"/></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2787e29b7274e70"/><Relationship Type="http://schemas.openxmlformats.org/officeDocument/2006/relationships/notesMaster" Target="/ppt/notesMasters/notesMaster1.xml" Id="R03ad539b4b93483f"/></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01956c5fe03d4cb5"/><Relationship Type="http://schemas.openxmlformats.org/officeDocument/2006/relationships/notesMaster" Target="/ppt/notesMasters/notesMaster1.xml" Id="Rc7ac3ef06d3a4cd2"/></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398f4bcc143e4e1d"/><Relationship Type="http://schemas.openxmlformats.org/officeDocument/2006/relationships/notesMaster" Target="/ppt/notesMasters/notesMaster1.xml" Id="R308cf96c181947f0"/></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0666c04a041459c"/><Relationship Type="http://schemas.openxmlformats.org/officeDocument/2006/relationships/notesMaster" Target="/ppt/notesMasters/notesMaster1.xml" Id="Rc99c7afe31164b7f"/></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1d5db23c81b439f"/><Relationship Type="http://schemas.openxmlformats.org/officeDocument/2006/relationships/notesMaster" Target="/ppt/notesMasters/notesMaster1.xml" Id="R1ae980e554314f3c"/></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1273bfa1c3844832"/><Relationship Type="http://schemas.openxmlformats.org/officeDocument/2006/relationships/notesMaster" Target="/ppt/notesMasters/notesMaster1.xml" Id="R0ec9c9e0330f4464"/></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Здравствуйте!  Я представлю нашу работу по углублённой доразметке MS MARCO и оценке поиска на контролируемых пулах кандидатов, .</a:t>
            </a:r>
          </a:p>
          <a:p xmlns:a="http://schemas.openxmlformats.org/drawingml/2006/main">
            <a:r>
              <a:t/>
            </a:r>
          </a:p>
          <a:p xmlns:a="http://schemas.openxmlformats.org/drawingml/2006/main">
            <a:r>
              <a: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a:t>
            </a:r>
          </a:p>
          <a:p xmlns:a="http://schemas.openxmlformats.org/drawingml/2006/main">
            <a:r>
              <a:t/>
            </a:r>
          </a:p>
          <a:p xmlns:a="http://schemas.openxmlformats.org/drawingml/2006/main">
            <a:r>
              <a: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a:t>
            </a:r>
          </a:p>
          <a:p xmlns:a="http://schemas.openxmlformats.org/drawingml/2006/main">
            <a:r>
              <a:t/>
            </a:r>
          </a:p>
          <a:p xmlns:a="http://schemas.openxmlformats.org/drawingml/2006/main">
            <a:r>
              <a:t>Размах опубликованных оценок составляет 0,014. Значения близки, но это ещё не доказывает ни равенство систем, ни неполноту разметки. Мы задаём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её с этой таблицей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растворённого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её повышения.</a:t>
            </a:r>
          </a:p>
          <a:p xmlns:a="http://schemas.openxmlformats.org/drawingml/2006/main">
            <a:r>
              <a:t/>
            </a:r>
          </a:p>
          <a:p xmlns:a="http://schemas.openxmlformats.org/drawingml/2006/main">
            <a:r>
              <a:t>Оценки релевантности обычно называют qrels, от английского query relevance judgments. Это оценки того, насколько текст соответствует запросу. В нашем расчёте метрики неразмеченный фрагмент даёт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Мы используем англоязычную коллекцию фрагментов MS MARCO: в ней около 8,84 миллиона текстов. Исследование состоит из двух частей. Ручная часть охватывает 1179 запросов и 33 667 пар из запроса и фрагмента. В масштабной части модель-судья оценивает кандидатов для чуть более 101 тысячи запросов; глубина пула при этом меняется.</a:t>
            </a:r>
          </a:p>
          <a:p xmlns:a="http://schemas.openxmlformats.org/drawingml/2006/main">
            <a:r>
              <a:t/>
            </a:r>
          </a:p>
          <a:p xmlns:a="http://schemas.openxmlformats.org/drawingml/2006/main">
            <a:r>
              <a:t>Эти части дают разные основания для выводов. В первой мы опираемся на оценки людей, во второй используем предсказания модели. Под углублённой доразметкой здесь понимается оценка множества кандидатов внутри заданного пула. Слово «углублённая» относится к охвату разметки, а не к глубине нейросети. Мы не утверждаем, что полностью разметили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сохранённый список, полученный поиском по запросу, добавляет в пул десять результатов.</a:t>
            </a:r>
          </a:p>
          <a:p xmlns:a="http://schemas.openxmlformats.org/drawingml/2006/main">
            <a:r>
              <a:t/>
            </a:r>
          </a:p>
          <a:p xmlns:a="http://schemas.openxmlformats.org/drawingml/2006/main">
            <a:r>
              <a: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a:t>
            </a:r>
          </a:p>
          <a:p xmlns:a="http://schemas.openxmlformats.org/drawingml/2006/main">
            <a:r>
              <a:t/>
            </a:r>
          </a:p>
          <a:p xmlns:a="http://schemas.openxmlformats.org/drawingml/2006/main">
            <a:r>
              <a: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a:t>
            </a:r>
          </a:p>
          <a:p xmlns:a="http://schemas.openxmlformats.org/drawingml/2006/main">
            <a:r>
              <a:t/>
            </a:r>
          </a:p>
          <a:p xmlns:a="http://schemas.openxmlformats.org/drawingml/2006/main">
            <a:r>
              <a: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a:t>
            </a:r>
          </a:p>
          <a:p xmlns:a="http://schemas.openxmlformats.org/drawingml/2006/main">
            <a:r>
              <a:t/>
            </a:r>
          </a:p>
          <a:p xmlns:a="http://schemas.openxmlformats.org/drawingml/2006/main">
            <a:r>
              <a: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её влияние на измеряемое качество при неизменной выдаче.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Качество ранжирования мы измеряем с помощью NDCG на первых десяти позициях. Метрика даёт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a:t>
            </a:r>
          </a:p>
          <a:p xmlns:a="http://schemas.openxmlformats.org/drawingml/2006/main">
            <a:r>
              <a:t/>
            </a:r>
          </a:p>
          <a:p xmlns:a="http://schemas.openxmlformats.org/drawingml/2006/main">
            <a:r>
              <a:t>В сравнение включён и RRF, метод слияния по обратным рангам. Он объединяет списки BM25, E5 и BGE, используя позиции результатов, а не исходные численные оценки этих моделей.</a:t>
            </a:r>
          </a:p>
          <a:p xmlns:a="http://schemas.openxmlformats.org/drawingml/2006/main">
            <a:r>
              <a:t/>
            </a:r>
          </a:p>
          <a:p xmlns:a="http://schemas.openxmlformats.org/drawingml/2006/main">
            <a:r>
              <a:t>Серые столбцы соответствуют исходным qrels, а зелёные показывают результаты по ручной разметке. Среднее качество растёт у всех четырёх систем. У E5 значение NDCG увеличивается с 0,488 до 0,879. Средний прирост в парном сравнении составляет около 0,391; доверительный интервал показан под графиком.</a:t>
            </a:r>
          </a:p>
          <a:p xmlns:a="http://schemas.openxmlformats.org/drawingml/2006/main">
            <a:r>
              <a:t/>
            </a:r>
          </a:p>
          <a:p xmlns:a="http://schemas.openxmlformats.org/drawingml/2006/main">
            <a:r>
              <a:t>Здесь изменилась оценка качества благодаря более полной разметке. Сами поисковые системы мы не улучшали и не переобучали. Их порядок остаётся прежним: E5, RRF, BGE и BM25. Это результаты внутри размеченных пулов, а не показатели поиска по всему корпусу для общей таблицы лидеров.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разметка позволяет непосредственно изучить этот эффект, но оценивать таким способом гораздо более крупные пулы дорого. Поэтому мы дообучаем компактный кросс-энкодер MiniLM на человеческих оценках и используем его как модель-судью для получения псевдометок релевантности.</a:t>
            </a:r>
          </a:p>
          <a:p xmlns:a="http://schemas.openxmlformats.org/drawingml/2006/main">
            <a:r>
              <a:t/>
            </a:r>
          </a:p>
          <a:p xmlns:a="http://schemas.openxmlformats.org/drawingml/2006/main">
            <a:r>
              <a: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a:t>
            </a:r>
          </a:p>
          <a:p xmlns:a="http://schemas.openxmlformats.org/drawingml/2006/main">
            <a:r>
              <a:t/>
            </a:r>
          </a:p>
          <a:p xmlns:a="http://schemas.openxmlformats.org/drawingml/2006/main">
            <a:r>
              <a:t>Порог принятия решения выбирается на валидационных запросах. Затем модель-судья позволяет исследовать охват разметки в большем масштабе. Но её метки остаются предсказаниями, а не человеческими оценками, поэтому согласие модели с ручной разметкой мы проверяем отдельно.</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Ручные данные разделены на обучающую, валидационную и тестовую части по запросам. В тестовую часть входят 177 отложенных запросов и 5002 пары. Таким образом, качество проверяется на запросах, не использованных при обучении и выборе порога.</a:t>
            </a:r>
          </a:p>
          <a:p xmlns:a="http://schemas.openxmlformats.org/drawingml/2006/main">
            <a:r>
              <a:t/>
            </a:r>
          </a:p>
          <a:p xmlns:a="http://schemas.openxmlformats.org/drawingml/2006/main">
            <a:r>
              <a:t>ROC-кривая показывает соотношение долей верно найденных положительных примеров и ложных срабатываний при изменении порога. Площадь под кривой равна 0,907. При пороге, выбранном на валидации, F1 составляет 0,875, точность около 0,851, а полнота около 0,902. Эти показатели описывают согласие с целевыми метками, полученными из человеческих оценок в ручных пулах.</a:t>
            </a:r>
          </a:p>
          <a:p xmlns:a="http://schemas.openxmlformats.org/drawingml/2006/main">
            <a:r>
              <a:t/>
            </a:r>
          </a:p>
          <a:p xmlns:a="http://schemas.openxmlformats.org/drawingml/2006/main">
            <a:r>
              <a:t>Однако это не независимая проверка более глубоких пулов следующего эксперимента. Там могут встретиться другие кандидаты и другие ошибки. Поэтому результаты ручной разметки мы отделяем от масштабного эксперимента, который следует понимать как оценивание с помощью одной конкретной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В масштабном эксперименте мы объединяем первые K результатов каждой системы: BM25, E5 и BGE. K обозначает число результатов от одного поискового метода, а не количество уникальных фрагментов после удаления дубликатов. Модель-судья и порог её решения остаются неизменными.</a:t>
            </a:r>
          </a:p>
          <a:p xmlns:a="http://schemas.openxmlformats.org/drawingml/2006/main">
            <a:r>
              <a:t/>
            </a:r>
          </a:p>
          <a:p xmlns:a="http://schemas.openxmlformats.org/drawingml/2006/main">
            <a:r>
              <a:t>При увеличении K с десяти до двухсот средний размер пула растёт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a:t>
            </a:r>
          </a:p>
          <a:p xmlns:a="http://schemas.openxmlformats.org/drawingml/2006/main">
            <a:r>
              <a:t/>
            </a:r>
          </a:p>
          <a:p xmlns:a="http://schemas.openxmlformats.org/drawingml/2006/main">
            <a:r>
              <a: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Здесь мы сравниваем RRF с E5 и различаем две глубины. K задаёт число результатов от каждой системы в пуле для разметки. L задаёт число результатов, поступающих на слияние рангов. В этой конфигурации обе величины растут вместе: L равно K.</a:t>
            </a:r>
          </a:p>
          <a:p xmlns:a="http://schemas.openxmlformats.org/drawingml/2006/main">
            <a:r>
              <a:t/>
            </a:r>
          </a:p>
          <a:p xmlns:a="http://schemas.openxmlformats.org/drawingml/2006/main">
            <a:r>
              <a: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четырёх больших глубинах разность небольшая, но положительная. При глубине двести она составляет около 0,0088.</a:t>
            </a:r>
          </a:p>
          <a:p xmlns:a="http://schemas.openxmlformats.org/drawingml/2006/main">
            <a:r>
              <a:t/>
            </a:r>
          </a:p>
          <a:p xmlns:a="http://schemas.openxmlformats.org/drawingml/2006/main">
            <a:r>
              <a:t>Интервалы получены парным бутстрэпом по запросам. Они рассчитаны для фиксированной модели-судьи и не учитывают неопределённость её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a:t>
            </a:r>
          </a:p>
          <a:p xmlns:a="http://schemas.openxmlformats.org/drawingml/2006/main">
            <a:r>
              <a:t/>
            </a:r>
          </a:p>
          <a:p xmlns:a="http://schemas.openxmlformats.org/drawingml/2006/main">
            <a:r>
              <a: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a:t>
            </a:r>
          </a:p>
          <a:p xmlns:a="http://schemas.openxmlformats.org/drawingml/2006/main">
            <a:r>
              <a:t/>
            </a:r>
          </a:p>
          <a:p xmlns:a="http://schemas.openxmlformats.org/drawingml/2006/main">
            <a:r>
              <a:t>Подпись справа помогает понять роль охвата. На минимальной глубине 14,4 процента пар из первых десяти результатов RRF оказываются за пределами размеченного пула. В метрике они получают нулевой вклад, поскольку не оценены. Это вовсе не означает, что все эти фрагменты релевантны.</a:t>
            </a:r>
          </a:p>
          <a:p xmlns:a="http://schemas.openxmlformats.org/drawingml/2006/main">
            <a:r>
              <a:t/>
            </a:r>
          </a:p>
          <a:p xmlns:a="http://schemas.openxmlformats.org/drawingml/2006/main">
            <a:r>
              <a:t>Более широкий пул даёт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Мы проверили чувствительность результатов к двум исключениям. В ручном эксперименте удалили 23 запроса, для которых оставались неясности с категориями меток или встречались пустые тексты. Порядок систем не изменился. В масштабном эксперименте после исключения всех запросов с ручной разметкой остаётся 99 914 запросов. Знаки различий между RRF и E5 сохраняются на всех проверенных глубинах.</a:t>
            </a:r>
          </a:p>
          <a:p xmlns:a="http://schemas.openxmlformats.org/drawingml/2006/main">
            <a:r>
              <a:t/>
            </a:r>
          </a:p>
          <a:p xmlns:a="http://schemas.openxmlformats.org/drawingml/2006/main">
            <a:r>
              <a:t>Эти проверки касаются конкретных проблем данных и пересечения двух наборов запросов, но не устраняют все возможные смещения. Ручные пулы используют информацию об эталонном ответе; согласие между разметчиками не измерялось. Масштабный эксперимент опирается на одну компактную модель-судью, а более глубокие пулы не проходили независимую ручную проверку.</a:t>
            </a:r>
          </a:p>
          <a:p xmlns:a="http://schemas.openxmlformats.org/drawingml/2006/main">
            <a:r>
              <a:t/>
            </a:r>
          </a:p>
          <a:p xmlns:a="http://schemas.openxmlformats.org/drawingml/2006/main">
            <a:r>
              <a:t>Поэтому наши выводы относятся к выбранным англоязычным пулам MS MARCO. Переносимость результатов на другие языки, предметные области и поисковые сервисы ещё предстоит проверить.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a:t>
            </a:r>
          </a:p>
          <a:p xmlns:a="http://schemas.openxmlformats.org/drawingml/2006/main">
            <a:r>
              <a:t/>
            </a:r>
          </a:p>
          <a:p xmlns:a="http://schemas.openxmlformats.org/drawingml/2006/main">
            <a:r>
              <a: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моделью-судьёй и зависит от её оценок.</a:t>
            </a:r>
          </a:p>
          <a:p xmlns:a="http://schemas.openxmlformats.org/drawingml/2006/main">
            <a:r>
              <a:t/>
            </a:r>
          </a:p>
          <a:p xmlns:a="http://schemas.openxmlformats.org/drawingml/2006/main">
            <a:r>
              <a:t>Поэтому вместе с метрикой качества поиска нужно указывать пул разметки, источник меток и настройки слияния. На следующем этапе мы сравним более сильные модели-судьи с доступом к известному релевантному фрагменту и без него, используя независимые человеческие оценки для проверки. Этот эксперимент запланирован, но пока не выполнен.</a:t>
            </a:r>
          </a:p>
          <a:p xmlns:a="http://schemas.openxmlformats.org/drawingml/2006/main">
            <a:r>
              <a:t/>
            </a:r>
          </a:p>
          <a:p xmlns:a="http://schemas.openxmlformats.org/drawingml/2006/main">
            <a:r>
              <a:t>Спасибо за внимание! Буду рад вашим вопросам.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59891598b224766"/></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0ce94a929cf413d"/><Relationship Type="http://schemas.openxmlformats.org/officeDocument/2006/relationships/slideLayout" Target="/ppt/slideLayouts/slideLayout1.xml" Id="Rac9dd147a6c0486b"/></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9dd147a6c048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6e2c213b84f4971"/><Relationship Type="http://schemas.openxmlformats.org/officeDocument/2006/relationships/image" Target="/ppt/media/image.png" Id="R0489cf3b79e14c45"/><Relationship Type="http://schemas.openxmlformats.org/officeDocument/2006/relationships/notesSlide" Target="/ppt/notesSlides/notesSlide1.xml" Id="R54ac62f223044d18"/></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471160f9313a4388"/><Relationship Type="http://schemas.openxmlformats.org/officeDocument/2006/relationships/notesSlide" Target="/ppt/notesSlides/notesSlide2.xml" Id="Rabbd22f797b245b5"/></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670a7f695f49c1"/><Relationship Type="http://schemas.openxmlformats.org/officeDocument/2006/relationships/notesSlide" Target="/ppt/notesSlides/notesSlide3.xml" Id="R1df4f70a4a6949bd"/></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d382a36d26f241b8"/><Relationship Type="http://schemas.openxmlformats.org/officeDocument/2006/relationships/notesSlide" Target="/ppt/notesSlides/notesSlide4.xml" Id="Rc7e2f6b5ccaf4d4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09e85ba527734a42"/><Relationship Type="http://schemas.openxmlformats.org/officeDocument/2006/relationships/notesSlide" Target="/ppt/notesSlides/notesSlide5.xml" Id="R93b6b3074566482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4b9bfd1a7da34341"/><Relationship Type="http://schemas.openxmlformats.org/officeDocument/2006/relationships/notesSlide" Target="/ppt/notesSlides/notesSlide6.xml" Id="Re5d36fef20c645b7"/></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80c1e7a288c8496b"/><Relationship Type="http://schemas.openxmlformats.org/officeDocument/2006/relationships/notesSlide" Target="/ppt/notesSlides/notesSlide7.xml" Id="Ra222d2cf2bf7469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039bd64ff3a34536"/><Relationship Type="http://schemas.openxmlformats.org/officeDocument/2006/relationships/chart" Target="/ppt/slides/charts/chart1.xml" Id="R0f40ee2b9e124680"/><Relationship Type="http://schemas.openxmlformats.org/officeDocument/2006/relationships/notesSlide" Target="/ppt/notesSlides/notesSlide8.xml" Id="R457824e2be3540d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e9d8375b0b3d4d13"/><Relationship Type="http://schemas.openxmlformats.org/officeDocument/2006/relationships/notesSlide" Target="/ppt/notesSlides/notesSlide9.xml" Id="R32bf722fe9f1410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abd22af3a464286"/><Relationship Type="http://schemas.openxmlformats.org/officeDocument/2006/relationships/chart" Target="/ppt/slides/charts/chart2.xml" Id="Rb058873bbef84f1f"/><Relationship Type="http://schemas.openxmlformats.org/officeDocument/2006/relationships/notesSlide" Target="/ppt/notesSlides/notesSlide10.xml" Id="Rbb790a2ecb654373"/></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a24be269f63a481a"/><Relationship Type="http://schemas.openxmlformats.org/officeDocument/2006/relationships/chart" Target="/ppt/slides/charts/chart3.xml" Id="R69c483e5e02747a7"/><Relationship Type="http://schemas.openxmlformats.org/officeDocument/2006/relationships/notesSlide" Target="/ppt/notesSlides/notesSlide11.xml" Id="Rf6b8df4f24024f57"/></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37a7533fe1dd44f4"/><Relationship Type="http://schemas.openxmlformats.org/officeDocument/2006/relationships/chart" Target="/ppt/slides/charts/chart4.xml" Id="R5d88afcc6cfd405d"/><Relationship Type="http://schemas.openxmlformats.org/officeDocument/2006/relationships/notesSlide" Target="/ppt/notesSlides/notesSlide12.xml" Id="R57ec5550302a430c"/></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4828e92ff884ba2"/><Relationship Type="http://schemas.openxmlformats.org/officeDocument/2006/relationships/chart" Target="/ppt/slides/charts/chart5.xml" Id="R27c3cfcf4b0a45e6"/><Relationship Type="http://schemas.openxmlformats.org/officeDocument/2006/relationships/notesSlide" Target="/ppt/notesSlides/notesSlide13.xml" Id="R1f30d57a0e0f4ac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d22be499b5543ad"/><Relationship Type="http://schemas.openxmlformats.org/officeDocument/2006/relationships/notesSlide" Target="/ppt/notesSlides/notesSlide14.xml" Id="Reb94f2e78d3c4987"/></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78c89dffc52d4ba1"/><Relationship Type="http://schemas.openxmlformats.org/officeDocument/2006/relationships/notesSlide" Target="/ppt/notesSlides/notesSlide15.xml" Id="R800c530774b24c65"/></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15f3fb99461c4957"/><Relationship Type="http://schemas.openxmlformats.org/officeDocument/2006/relationships/notesSlide" Target="/ppt/notesSlides/notesSlide16.xml" Id="Rf11f32fb0a014edb"/></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38c051aa2efc4fb9"/><Relationship Type="http://schemas.openxmlformats.org/officeDocument/2006/relationships/notesSlide" Target="/ppt/notesSlides/notesSlide17.xml" Id="R722cd3b4a9b04ee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d9c07da808694ac0"/><Relationship Type="http://schemas.openxmlformats.org/officeDocument/2006/relationships/notesSlide" Target="/ppt/notesSlides/notesSlide18.xml" Id="R8da287f780b4400f"/></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3a109f8d2c5d46d9"/><Relationship Type="http://schemas.openxmlformats.org/officeDocument/2006/relationships/notesSlide" Target="/ppt/notesSlides/notesSlide19.xml" Id="Rdee1e43261624964"/></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d81f4483516c4378"/><Relationship Type="http://schemas.openxmlformats.org/officeDocument/2006/relationships/notesSlide" Target="/ppt/notesSlides/notesSlide20.xml" Id="R1b6b9740c3f34c56"/></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5F547B80-B685-46FA-8437-F630E122BD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489cf3b79e14c4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528036CF-52CA-4B0F-99FE-943F2D0B0527}"/>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904BE1DF-F322-4F2F-ABD4-C73B49AA7FE1}"/>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04FE1CD-77CC-4028-BA12-9C86398BB643}"/>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94FC62DF-88CF-484F-98BB-4C01DF1AD2CF}"/>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2205BA65-D7F9-4627-9247-3AA3006418A2}"/>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3738878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E1BE6F46-1D4A-44BF-8FAC-0B9F2488D37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1C6E71E9-35FC-44B0-AC21-788A7CF6F2B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4F0F70C6-E669-4875-A4AB-D818620C94C5}"/>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296B5466-B5F9-4D8C-ABE0-69E5E61F0A0C}"/>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A76D5C4B-2109-4AE5-A3CD-4F43A7970F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6039821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E81AA28A-292F-497A-8B96-D514F46E158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ED76ECD8-6EFE-4D4A-B020-2F1263C6B8D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B3690565-5DAF-4452-A7DE-160A7DBE0E15}"/>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D89319AA-4718-4130-8FA4-807BA337FA07}"/>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E08422DF-081D-4078-B650-0D03399D8195}"/>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AC96628B-6030-4716-8F37-A412CA628735}"/>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250804AC-6448-447F-A484-8F0181DE657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029153E-A7E2-4BE7-8291-B8888719FD6A}"/>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2704918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A73C5734-EB41-4F84-9CBA-083095A081E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24C552FF-161D-49AC-8870-32576D306F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E302F178-2D0F-40B6-970B-3144758A6B3A}"/>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Фрагмент в сокращении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7E7CD2CD-D79B-466C-9C13-BD6ED0C34F4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 Тексты переведены и сокращены.</a:t>
            </a:r>
          </a:p>
        </p:txBody>
      </p:sp>
    </p:spTree>
    <p:extLst>
      <p:ext uri="{BB962C8B-B14F-4D97-AF65-F5344CB8AC3E}">
        <p14:creationId xmlns:p14="http://schemas.microsoft.com/office/powerpoint/2010/main" val="1744410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анные и покрытие разметкой">
            <a:extLst xmlns:a="http://schemas.openxmlformats.org/drawingml/2006/main">
              <a:ext uri="{FF2B5EF4-FFF2-40B4-BE49-F238E27FC236}">
                <a16:creationId xmlns:a16="http://schemas.microsoft.com/office/drawing/2014/main" id="{D771D9FE-B029-45AA-8217-CB8B7541CB2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и покрытие разметкой</a:t>
            </a:r>
          </a:p>
        </p:txBody>
      </p:sp>
      <p:sp>
        <p:nvSpPr>
          <p:cNvPr id="2" name="05">
            <a:extLst xmlns:a="http://schemas.openxmlformats.org/drawingml/2006/main">
              <a:ext uri="{FF2B5EF4-FFF2-40B4-BE49-F238E27FC236}">
                <a16:creationId xmlns:a16="http://schemas.microsoft.com/office/drawing/2014/main" id="{E2098EF2-0471-4AF6-BA9A-165231CD7B5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Англоязычный MS MARCO">
            <a:extLst xmlns:a="http://schemas.openxmlformats.org/drawingml/2006/main">
              <a:ext uri="{FF2B5EF4-FFF2-40B4-BE49-F238E27FC236}">
                <a16:creationId xmlns:a16="http://schemas.microsoft.com/office/drawing/2014/main" id="{3CB56C64-0755-4C8B-812D-02EEA06104DF}"/>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Англоязычный MS MARCO</a:t>
            </a:r>
          </a:p>
        </p:txBody>
      </p:sp>
      <p:sp>
        <p:nvSpPr>
          <p:cNvPr id="4" name="8,84 млн текстовых фрагментов">
            <a:extLst xmlns:a="http://schemas.openxmlformats.org/drawingml/2006/main">
              <a:ext uri="{FF2B5EF4-FFF2-40B4-BE49-F238E27FC236}">
                <a16:creationId xmlns:a16="http://schemas.microsoft.com/office/drawing/2014/main" id="{9E63B364-A050-4353-85D3-3F8BD78B5B1A}"/>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млн текстовых фрагментов</a:t>
            </a:r>
          </a:p>
        </p:txBody>
      </p:sp>
      <p:sp>
        <p:nvSpPr>
          <p:cNvPr id="5" name="">
            <a:extLst xmlns:a="http://schemas.openxmlformats.org/drawingml/2006/main">
              <a:ext uri="{FF2B5EF4-FFF2-40B4-BE49-F238E27FC236}">
                <a16:creationId xmlns:a16="http://schemas.microsoft.com/office/drawing/2014/main" id="{4E961A5C-7EC8-4E3F-8F70-5A8451147E89}"/>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Оценки человека">
            <a:extLst xmlns:a="http://schemas.openxmlformats.org/drawingml/2006/main">
              <a:ext uri="{FF2B5EF4-FFF2-40B4-BE49-F238E27FC236}">
                <a16:creationId xmlns:a16="http://schemas.microsoft.com/office/drawing/2014/main" id="{B1348EC5-856C-4A43-B453-CDD17EE55B08}"/>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Оценки человека</a:t>
            </a:r>
          </a:p>
        </p:txBody>
      </p:sp>
      <p:sp>
        <p:nvSpPr>
          <p:cNvPr id="7" name="1 179">
            <a:extLst xmlns:a="http://schemas.openxmlformats.org/drawingml/2006/main">
              <a:ext uri="{FF2B5EF4-FFF2-40B4-BE49-F238E27FC236}">
                <a16:creationId xmlns:a16="http://schemas.microsoft.com/office/drawing/2014/main" id="{E6309B7E-CF58-470A-B5E2-14AAD0E67B11}"/>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1 179</a:t>
            </a:r>
          </a:p>
        </p:txBody>
      </p:sp>
      <p:sp>
        <p:nvSpPr>
          <p:cNvPr id="8" name="запросов, 33 667 пар">
            <a:extLst xmlns:a="http://schemas.openxmlformats.org/drawingml/2006/main">
              <a:ext uri="{FF2B5EF4-FFF2-40B4-BE49-F238E27FC236}">
                <a16:creationId xmlns:a16="http://schemas.microsoft.com/office/drawing/2014/main" id="{AE6D392C-F649-4D58-A0F7-D5656A45AD68}"/>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33 667 пар</a:t>
            </a:r>
          </a:p>
        </p:txBody>
      </p:sp>
      <p:sp>
        <p:nvSpPr>
          <p:cNvPr id="9" name="Предсказания судьи">
            <a:extLst xmlns:a="http://schemas.openxmlformats.org/drawingml/2006/main">
              <a:ext uri="{FF2B5EF4-FFF2-40B4-BE49-F238E27FC236}">
                <a16:creationId xmlns:a16="http://schemas.microsoft.com/office/drawing/2014/main" id="{E92727BA-8172-4451-8DFD-D6A7A8F042B0}"/>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Предсказания судьи</a:t>
            </a:r>
          </a:p>
        </p:txBody>
      </p:sp>
      <p:sp>
        <p:nvSpPr>
          <p:cNvPr id="10" name="101 093">
            <a:extLst xmlns:a="http://schemas.openxmlformats.org/drawingml/2006/main">
              <a:ext uri="{FF2B5EF4-FFF2-40B4-BE49-F238E27FC236}">
                <a16:creationId xmlns:a16="http://schemas.microsoft.com/office/drawing/2014/main" id="{F19538AB-24AA-440C-96E2-A89F1F6F6DB2}"/>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101 093</a:t>
            </a:r>
          </a:p>
        </p:txBody>
      </p:sp>
      <p:sp>
        <p:nvSpPr>
          <p:cNvPr id="11" name="запроса, разная глубина пулов">
            <a:extLst xmlns:a="http://schemas.openxmlformats.org/drawingml/2006/main">
              <a:ext uri="{FF2B5EF4-FFF2-40B4-BE49-F238E27FC236}">
                <a16:creationId xmlns:a16="http://schemas.microsoft.com/office/drawing/2014/main" id="{0C93331F-9573-41D3-9B7E-65ACF09ED831}"/>
              </a:ext>
            </a:extLst>
          </p:cNvPr>
          <p:cNvSpPr>
            <a:spLocks xmlns:a="http://schemas.openxmlformats.org/drawingml/2006/main" noGrp="1"/>
          </p:cNvSpPr>
          <p:nvPr/>
        </p:nvSpPr>
        <p:spPr>
          <a:xfrm xmlns:a="http://schemas.openxmlformats.org/drawingml/2006/main">
            <a:off x="6705600" y="4933950"/>
            <a:ext cx="4876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запроса, разная глубина пулов</a:t>
            </a:r>
          </a:p>
        </p:txBody>
      </p:sp>
      <p:sp>
        <p:nvSpPr>
          <p:cNvPr id="12" name="Глубокая доразметка: оценивание многих кандидато">
            <a:extLst xmlns:a="http://schemas.openxmlformats.org/drawingml/2006/main">
              <a:ext uri="{FF2B5EF4-FFF2-40B4-BE49-F238E27FC236}">
                <a16:creationId xmlns:a16="http://schemas.microsoft.com/office/drawing/2014/main" id="{DBD3DF1B-8E14-4598-A351-9A0E1F86B8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Глубокая доразметка: оценивание многих кандидатов внутри заданного пула.</a:t>
            </a:r>
          </a:p>
        </p:txBody>
      </p:sp>
    </p:spTree>
    <p:extLst>
      <p:ext uri="{BB962C8B-B14F-4D97-AF65-F5344CB8AC3E}">
        <p14:creationId xmlns:p14="http://schemas.microsoft.com/office/powerpoint/2010/main" val="17424166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CEC0B404-58B6-4D22-92C3-7A8A92F23CB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2603ABD3-08CA-4BB8-AF70-D9AB97589C2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4CD57D7C-5C26-4BE3-BD3A-5D38BACDDCC9}"/>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F7CE2775-3F3D-42C6-8932-16DDC488CA9B}"/>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DF05EA89-9D5E-412C-BEE3-639B5FAA5A09}"/>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730DE236-0CC0-4D18-BB08-BE02A37F3F0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893C0653-E780-4024-8597-C7C8A2577256}"/>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4B39EBB1-BDBA-41EB-A014-FD73D13B8C10}"/>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C547F347-EAC8-4BD8-A6AF-CE2BA6B7BC3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0515168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BB7EE401-758F-48F1-9F7F-D97792C47B9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CD979BD8-A71E-494F-B0D2-9C88D74ECBD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C0A35533-342C-4037-8D10-289995DF4FFF}"/>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5AB17EAD-3749-4E10-94D3-5A134C781CCF}"/>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3C46031B-B66E-492D-8C30-D23F7DAFF94D}"/>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7BF0618D-5E31-483D-9A12-05B00483398C}"/>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A94AFB29-C2DC-4DBB-9721-AD7B90FED13B}"/>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871E4701-DDC8-4806-8EC8-4608279D401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1269FD6F-05D6-4FE8-B0C9-FA0E97899CD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09CFB9FF-BB79-44D0-AFA7-C4E75634598C}"/>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E90912EA-30FB-465A-9D6E-EE2E9D54DF1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9705627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01A96260-6516-4333-8332-EF60C41B7BA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4B3D774E-8124-4A58-BC64-DD21F540249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498023AC-1238-4ED8-90BB-66FE1C991F14}"/>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0f40ee2b9e124680"/>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F2A819CF-CCF5-4ACF-944F-DAF6D6A3555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FF8BD2AC-92B2-4AD0-A8CA-7CB7600859F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8197743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C4D03A5B-0DA2-4441-A4AB-996DADB7B16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CEF13D3-98BA-4B0F-8BBE-5D62596B0F5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35B43B7-4906-442D-A826-94950D1A94D5}"/>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8471D9CF-445D-41E0-8B4B-83917873FFFE}"/>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785A0E8D-1313-429C-A029-C2449DB39A6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04D06EC2-521C-4330-A71D-9615E874787B}"/>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009F3961-EADD-4F8E-B828-B4A4D864CF65}"/>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B54378C2-1885-430E-B252-F679B189710E}"/>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5B030C68-2D9A-4EFB-B044-2B54F0DD679B}"/>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141C3C9B-AC4E-4516-AAF1-619AA0E318D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20027591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CAD7BA1E-5161-45DC-88E4-25A2B5A626C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2F424C7F-DA13-41D2-B3CD-08FC80F2ADA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3FB522D7-BB10-4490-A569-C15F0544E0F8}"/>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b058873bbef84f1f"/>
          </a:graphicData>
        </a:graphic>
      </p:graphicFrame>
      <p:sp>
        <p:nvSpPr>
          <p:cNvPr id="5" name="0,907">
            <a:extLst xmlns:a="http://schemas.openxmlformats.org/drawingml/2006/main">
              <a:ext uri="{FF2B5EF4-FFF2-40B4-BE49-F238E27FC236}">
                <a16:creationId xmlns:a16="http://schemas.microsoft.com/office/drawing/2014/main" id="{3947BD11-6C92-4ECF-A288-53255ED919F5}"/>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26542768-BE06-4AB5-A5C9-E65663512DB9}"/>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A115F685-2392-4560-8BD8-6A39666FF0A8}"/>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72848982-D25A-44D5-A615-7DCAE6311BE1}"/>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AAE940F5-0EC5-4D65-A349-6EA07D4A262B}"/>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Точка: порог, выбранный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5BCEEBB7-145C-4859-A3C5-34AFCAE9783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20988391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E6C95D14-F200-49E0-B5A0-2EF53BA3FD2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CF7ACB0D-BCB6-42FC-9082-1B769F8D058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39F1809D-6818-44DE-A7C4-0B956844EB01}"/>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2444A185-509B-4985-817C-79BFE2A43020}"/>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69c483e5e02747a7"/>
          </a:graphicData>
        </a:graphic>
      </p:graphicFrame>
      <p:sp>
        <p:nvSpPr>
          <p:cNvPr id="6" name="451,5">
            <a:extLst xmlns:a="http://schemas.openxmlformats.org/drawingml/2006/main">
              <a:ext uri="{FF2B5EF4-FFF2-40B4-BE49-F238E27FC236}">
                <a16:creationId xmlns:a16="http://schemas.microsoft.com/office/drawing/2014/main" id="{7F4C045B-E244-4BE7-A067-62B1EA30679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2A101091-A3F5-46ED-ADD8-F2EBEF05437A}"/>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BE45D8A2-A3FD-409E-8CB8-22EE664A321D}"/>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BBEF3A18-1043-4107-814D-3EA35E160864}"/>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4292F9CA-0496-4637-AA27-11E8E0C28E1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20985471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8E4A774D-0C3E-4AF3-A7F9-A26CAEC48CB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F5AB7671-9725-4CA1-87E6-C66CE3302AB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B1860E8F-7E22-420A-ACA8-93C34DBEEBAB}"/>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C3B7989E-7476-4D5A-81EA-9FA8D7B6CB0E}"/>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5d88afcc6cfd405d"/>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C89A3116-0AEB-4DA4-A1C5-D93F383CF837}"/>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923CEE01-D009-45A4-9406-8C0A81376678}"/>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9886726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F401CAF8-3283-4C85-9C62-5588FA7BC34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C9269052-BBBE-4BE4-B753-8FD019C4FF6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BD85B812-8345-4189-AB13-770B2D6A8502}"/>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E04314A0-28CA-4868-8C27-C29A42EA4E0B}"/>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27c3cfcf4b0a45e6"/>
          </a:graphicData>
        </a:graphic>
      </p:graphicFrame>
      <p:sp>
        <p:nvSpPr>
          <p:cNvPr id="6" name="14,4%">
            <a:extLst xmlns:a="http://schemas.openxmlformats.org/drawingml/2006/main">
              <a:ext uri="{FF2B5EF4-FFF2-40B4-BE49-F238E27FC236}">
                <a16:creationId xmlns:a16="http://schemas.microsoft.com/office/drawing/2014/main" id="{11201468-CF68-4280-A248-39399C22C3BF}"/>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89951F12-5008-40A0-8473-3034B36D95C6}"/>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A76DAC89-18C0-49C6-994F-48AF24D555C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93CEC144-57B3-4B26-A508-F18DF743E3EC}"/>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DFC45FFA-F219-4722-A66F-FECD6F739516}"/>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827A4207-7A23-442B-A384-CECE03EE6B1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8064058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8629D5E-4278-4BD5-99D1-A23563EB0EE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CB654517-DF71-4D9F-8472-CF60D4DA88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605A30E6-AE71-466A-AA59-842D6A2126D6}"/>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EBBA466-CBF8-4AFA-A30B-9167B258E9EF}"/>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521D1588-1481-4293-8E9B-11A44393537A}"/>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3E1BA1F3-877A-4A3B-B9EA-6BFD9AA5DAA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CEAB7103-53DB-495C-A8D1-A15C452856F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95834327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C59BB6AF-35E4-413F-A7E0-4BCB909B1F3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CC5B5D68-BD8B-4579-934D-446F3A1018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15</a:t>
            </a:r>
          </a:p>
        </p:txBody>
      </p:sp>
      <p:sp>
        <p:nvSpPr>
          <p:cNvPr id="3" name="Оценки человека">
            <a:extLst xmlns:a="http://schemas.openxmlformats.org/drawingml/2006/main">
              <a:ext uri="{FF2B5EF4-FFF2-40B4-BE49-F238E27FC236}">
                <a16:creationId xmlns:a16="http://schemas.microsoft.com/office/drawing/2014/main" id="{9EAF0D66-420F-41C6-9C24-30F78347916F}"/>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D39927FB-56DE-42F7-A546-D7CEFA791043}"/>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30C491AF-732B-4553-8415-A72FE0E44169}"/>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94FC31A8-8A60-4084-9813-FF69AD923967}"/>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9E2519FE-B0A4-4618-A21E-E2D55B273F6F}"/>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0499EEF7-2905-4C1E-9AAE-3EEF5EBE1EAB}"/>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D0E757F0-E7CB-43DC-9219-ECFD9FDD476F}"/>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D490B3F6-006F-411C-B8DB-9F5AA56406A6}"/>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A7F51A04-D936-4E4C-A806-25B47B569D4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10724660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C94CE531-F335-4A55-8D98-FCF311FAE8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DFF198E9-6B34-4A68-8827-1AD8194445F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sp>
        <p:nvSpPr>
          <p:cNvPr id="3" name="NDCG@10 = DCG@10 / идеальный DCG@10">
            <a:extLst xmlns:a="http://schemas.openxmlformats.org/drawingml/2006/main">
              <a:ext uri="{FF2B5EF4-FFF2-40B4-BE49-F238E27FC236}">
                <a16:creationId xmlns:a16="http://schemas.microsoft.com/office/drawing/2014/main" id="{3CFB6390-E676-46AA-A2CA-19C560E88799}"/>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39616770-EBB6-43DF-9935-01ECBB80939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4348345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3DEF4BC0-D26A-46E9-9F1F-7C419F2CD3F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48C30D2B-08AE-4BF8-8EEF-01B7465537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119B8BFC-3F23-44A0-874F-5A4ABA0B9793}"/>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24BCF15-6C87-4351-93F5-F559C89A079E}"/>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3B96DEBB-7F82-4563-B641-DB4F437CC7D0}"/>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8C8BB0BA-99D9-48D7-BE84-EB262EF0325F}"/>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54CAE6C3-19C8-4CF8-B8A7-6EE0430BAF8C}"/>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703DC3C7-E4EF-4BF1-B61B-427154336008}"/>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676FE8CD-0D09-4306-9913-D146D671ED6C}"/>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DDC3E07-11BB-46FD-AC79-F6D921117494}"/>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C28B7780-81B5-4E82-B137-3B124F4E84F4}"/>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6FB5991C-146A-4CAA-B9A3-25C4202BD70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4271388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680EA87F-9A2D-4E9F-93E6-B24328F6D58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97DC3F79-9332-4E30-A0B3-D7E0CFD9AB5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1E17852B-D854-4717-A41A-6B9F101CC4B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41008042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77D40F89-4C9A-46A4-878D-C2004527471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914CC74B-D8DC-41BD-8C08-63D22D77F68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3B561D5F-201A-4CE0-9D32-464A9A8AD097}"/>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347C0391-C981-4202-A475-8AE0AEA39B3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C2B337D5-EC2A-436C-BDCE-48081070B050}"/>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5F8F6210-214E-44D5-BE32-FC7918E4FE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4128087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A3F7DBD0-2405-4A0E-B586-1616650FBB0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0D483F7C-C61E-4056-9E2E-0E8DDE3007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Предлагаемый вход">
            <a:extLst xmlns:a="http://schemas.openxmlformats.org/drawingml/2006/main">
              <a:ext uri="{FF2B5EF4-FFF2-40B4-BE49-F238E27FC236}">
                <a16:creationId xmlns:a16="http://schemas.microsoft.com/office/drawing/2014/main" id="{34118203-3BA0-46DB-AE1B-FC290506CFF0}"/>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E1367F48-7111-4D62-A284-9A43FD83496B}"/>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5C2B9AF6-CBE5-453E-AA5D-4DBC9D11A09D}"/>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F5E4BEB-7C40-46A8-9F52-E06B8353F9D3}"/>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2B894D50-7808-47EB-915B-7CFC8EA6E71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9372209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