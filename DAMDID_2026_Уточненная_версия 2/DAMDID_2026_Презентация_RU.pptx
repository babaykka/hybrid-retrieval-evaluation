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76" r:id="rId2"/>
    <p:sldId id="277" r:id="rId3"/>
    <p:sldId id="278" r:id="rId4"/>
    <p:sldId id="279" r:id="rId5"/>
    <p:sldId id="280"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649"/>
  </p:normalViewPr>
  <p:slideViewPr>
    <p:cSldViewPr snapToGrid="0">
      <p:cViewPr varScale="1">
        <p:scale>
          <a:sx n="147" d="100"/>
          <a:sy n="147" d="100"/>
        </p:scale>
        <p:origin x="224"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____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____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_____Microsoft_Excel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barChart>
        <c:barDir val="bar"/>
        <c:grouping val="clustered"/>
        <c:varyColors val="0"/>
        <c:ser>
          <c:idx val="0"/>
          <c:order val="0"/>
          <c:tx>
            <c:v>Исходные оценки</c:v>
          </c:tx>
          <c:spPr>
            <a:solidFill>
              <a:srgbClr val="C95236"/>
            </a:solidFill>
            <a:ln w="0">
              <a:noFill/>
            </a:ln>
          </c:spPr>
          <c:invertIfNegative val="1"/>
          <c:dLbls>
            <c:spPr>
              <a:noFill/>
              <a:ln>
                <a:noFill/>
              </a:ln>
              <a:effectLst/>
            </c:spPr>
            <c:txPr>
              <a:bodyPr anchorCtr="1"/>
              <a:lstStyle/>
              <a:p>
                <a:pPr>
                  <a:defRPr sz="1725">
                    <a:solidFill>
                      <a:srgbClr val="182B30"/>
                    </a:solidFill>
                    <a:latin typeface="Arial"/>
                    <a:ea typeface="Arial"/>
                    <a:cs typeface="Arial"/>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RRF (3)</c:v>
                </c:pt>
                <c:pt idx="1">
                  <c:v>BGE</c:v>
                </c:pt>
                <c:pt idx="2">
                  <c:v>E5</c:v>
                </c:pt>
                <c:pt idx="3">
                  <c:v>BM25</c:v>
                </c:pt>
              </c:strCache>
            </c:strRef>
          </c:cat>
          <c:val>
            <c:numRef>
              <c:f>'Chart Data'!$B$2:$B$5</c:f>
              <c:numCache>
                <c:formatCode>0.000</c:formatCode>
                <c:ptCount val="4"/>
                <c:pt idx="0">
                  <c:v>0.45864250000000001</c:v>
                </c:pt>
                <c:pt idx="1">
                  <c:v>0.43322773999999997</c:v>
                </c:pt>
                <c:pt idx="2">
                  <c:v>0.48799935999999999</c:v>
                </c:pt>
                <c:pt idx="3">
                  <c:v>0.24818878999999999</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0-76F4-3D4E-AD08-91AF6152DC58}"/>
            </c:ext>
          </c:extLst>
        </c:ser>
        <c:ser>
          <c:idx val="1"/>
          <c:order val="1"/>
          <c:tx>
            <c:v>Оценки человека</c:v>
          </c:tx>
          <c:spPr>
            <a:solidFill>
              <a:srgbClr val="007F78"/>
            </a:solidFill>
            <a:ln w="0">
              <a:noFill/>
            </a:ln>
          </c:spPr>
          <c:invertIfNegative val="1"/>
          <c:dLbls>
            <c:spPr>
              <a:noFill/>
              <a:ln>
                <a:noFill/>
              </a:ln>
              <a:effectLst/>
            </c:spPr>
            <c:txPr>
              <a:bodyPr anchorCtr="1"/>
              <a:lstStyle/>
              <a:p>
                <a:pPr>
                  <a:defRPr sz="1725">
                    <a:solidFill>
                      <a:srgbClr val="182B30"/>
                    </a:solidFill>
                    <a:latin typeface="Arial"/>
                    <a:ea typeface="Arial"/>
                    <a:cs typeface="Arial"/>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RRF (3)</c:v>
                </c:pt>
                <c:pt idx="1">
                  <c:v>BGE</c:v>
                </c:pt>
                <c:pt idx="2">
                  <c:v>E5</c:v>
                </c:pt>
                <c:pt idx="3">
                  <c:v>BM25</c:v>
                </c:pt>
              </c:strCache>
            </c:strRef>
          </c:cat>
          <c:val>
            <c:numRef>
              <c:f>'Chart Data'!$D$2:$D$5</c:f>
              <c:numCache>
                <c:formatCode>0.000</c:formatCode>
                <c:ptCount val="4"/>
                <c:pt idx="0">
                  <c:v>0.85384163999999996</c:v>
                </c:pt>
                <c:pt idx="1">
                  <c:v>0.82795094000000002</c:v>
                </c:pt>
                <c:pt idx="2">
                  <c:v>0.87934606000000004</c:v>
                </c:pt>
                <c:pt idx="3">
                  <c:v>0.64389299</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1-76F4-3D4E-AD08-91AF6152DC58}"/>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auto val="1"/>
        <c:lblAlgn val="ctr"/>
        <c:lblOffset val="100"/>
        <c:noMultiLvlLbl val="1"/>
      </c:catAx>
      <c:valAx>
        <c:axId val="48672768"/>
        <c:scaling>
          <c:orientation val="minMax"/>
          <c:max val="1"/>
          <c:min val="0"/>
        </c:scaling>
        <c:delete val="0"/>
        <c:axPos val="b"/>
        <c:majorGridlines>
          <c:spPr>
            <a:ln w="9525">
              <a:solidFill>
                <a:srgbClr val="D4E1E0"/>
              </a:solidFill>
            </a:ln>
          </c:spPr>
        </c:majorGridlines>
        <c:numFmt formatCode="0.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autoZero"/>
        <c:crossBetween val="between"/>
        <c:majorUnit val="0.2"/>
      </c:valAx>
      <c:spPr>
        <a:solidFill>
          <a:srgbClr val="FFFFFF"/>
        </a:solidFill>
        <a:ln w="0">
          <a:noFill/>
        </a:ln>
      </c:spPr>
    </c:plotArea>
    <c:legend>
      <c:legendPos val="b"/>
      <c:overlay val="0"/>
      <c:txPr>
        <a:bodyPr anchorCtr="1"/>
        <a:lstStyle/>
        <a:p>
          <a:pPr>
            <a:defRPr sz="1800">
              <a:solidFill>
                <a:srgbClr val="182B30"/>
              </a:solidFill>
              <a:latin typeface="Arial"/>
              <a:ea typeface="Arial"/>
              <a:cs typeface="Arial"/>
            </a:defRPr>
          </a:pPr>
          <a:endParaRPr lang="ru-RU"/>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Случайный классификатор</c:v>
          </c:tx>
          <c:spPr>
            <a:l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extLst>
            <c:ext xmlns:c16="http://schemas.microsoft.com/office/drawing/2014/chart" uri="{C3380CC4-5D6E-409C-BE32-E72D297353CC}">
              <c16:uniqueId val="{00000000-7940-2542-B356-BA738A89B443}"/>
            </c:ext>
          </c:extLst>
        </c:ser>
        <c:ser>
          <c:idx val="1"/>
          <c:order val="1"/>
          <c:tx>
            <c:v>ROC-кривая MiniLM</c:v>
          </c:tx>
          <c:spPr>
            <a:ln w="33338">
              <a:solidFill>
                <a:srgbClr val="007F78"/>
              </a:solidFill>
            </a:ln>
          </c:spPr>
          <c:marker>
            <c:symbol val="none"/>
          </c:marker>
          <c:xVal>
            <c:numRef>
              <c:f>'Chart Data'!$C$2:$C$81</c:f>
              <c:numCache>
                <c:formatCode>General</c:formatCode>
                <c:ptCount val="80"/>
                <c:pt idx="0">
                  <c:v>0</c:v>
                </c:pt>
                <c:pt idx="1">
                  <c:v>1.162791E-2</c:v>
                </c:pt>
                <c:pt idx="2">
                  <c:v>1.439646E-2</c:v>
                </c:pt>
                <c:pt idx="3">
                  <c:v>1.8272429999999999E-2</c:v>
                </c:pt>
                <c:pt idx="4">
                  <c:v>1.8272429999999999E-2</c:v>
                </c:pt>
                <c:pt idx="5">
                  <c:v>2.1040969999999999E-2</c:v>
                </c:pt>
                <c:pt idx="6">
                  <c:v>2.436323E-2</c:v>
                </c:pt>
                <c:pt idx="7">
                  <c:v>2.8792910000000001E-2</c:v>
                </c:pt>
                <c:pt idx="8">
                  <c:v>3.0454040000000002E-2</c:v>
                </c:pt>
                <c:pt idx="9">
                  <c:v>3.488372E-2</c:v>
                </c:pt>
                <c:pt idx="10">
                  <c:v>4.0420820000000003E-2</c:v>
                </c:pt>
                <c:pt idx="11">
                  <c:v>4.4296790000000003E-2</c:v>
                </c:pt>
                <c:pt idx="12">
                  <c:v>4.7619050000000003E-2</c:v>
                </c:pt>
                <c:pt idx="13">
                  <c:v>4.7619050000000003E-2</c:v>
                </c:pt>
                <c:pt idx="14">
                  <c:v>5.5924700000000001E-2</c:v>
                </c:pt>
                <c:pt idx="15">
                  <c:v>6.7552600000000004E-2</c:v>
                </c:pt>
                <c:pt idx="16">
                  <c:v>7.0321149999999999E-2</c:v>
                </c:pt>
                <c:pt idx="17">
                  <c:v>7.4750830000000004E-2</c:v>
                </c:pt>
                <c:pt idx="18">
                  <c:v>7.8626799999999997E-2</c:v>
                </c:pt>
                <c:pt idx="19">
                  <c:v>8.0841640000000006E-2</c:v>
                </c:pt>
                <c:pt idx="20">
                  <c:v>8.6378739999999996E-2</c:v>
                </c:pt>
                <c:pt idx="21">
                  <c:v>8.9147290000000004E-2</c:v>
                </c:pt>
                <c:pt idx="22">
                  <c:v>9.3576969999999995E-2</c:v>
                </c:pt>
                <c:pt idx="23">
                  <c:v>9.6899219999999994E-2</c:v>
                </c:pt>
                <c:pt idx="24">
                  <c:v>0.10243632</c:v>
                </c:pt>
                <c:pt idx="25">
                  <c:v>0.10243632</c:v>
                </c:pt>
                <c:pt idx="26">
                  <c:v>0.10741971</c:v>
                </c:pt>
                <c:pt idx="27">
                  <c:v>0.11406423</c:v>
                </c:pt>
                <c:pt idx="28">
                  <c:v>0.12292359</c:v>
                </c:pt>
                <c:pt idx="29">
                  <c:v>0.12292359</c:v>
                </c:pt>
                <c:pt idx="30">
                  <c:v>0.13012182</c:v>
                </c:pt>
                <c:pt idx="31">
                  <c:v>0.13565890999999999</c:v>
                </c:pt>
                <c:pt idx="32">
                  <c:v>0.13842746</c:v>
                </c:pt>
                <c:pt idx="33">
                  <c:v>0.1406423</c:v>
                </c:pt>
                <c:pt idx="34">
                  <c:v>0.15060908000000001</c:v>
                </c:pt>
                <c:pt idx="35">
                  <c:v>0.16279070000000001</c:v>
                </c:pt>
                <c:pt idx="36">
                  <c:v>0.16998893000000001</c:v>
                </c:pt>
                <c:pt idx="37">
                  <c:v>0.17054264</c:v>
                </c:pt>
                <c:pt idx="38">
                  <c:v>0.1799557</c:v>
                </c:pt>
                <c:pt idx="39">
                  <c:v>0.1799557</c:v>
                </c:pt>
                <c:pt idx="40">
                  <c:v>0.18604651</c:v>
                </c:pt>
                <c:pt idx="41">
                  <c:v>0.18936876999999999</c:v>
                </c:pt>
                <c:pt idx="42">
                  <c:v>0.19379845000000001</c:v>
                </c:pt>
                <c:pt idx="43">
                  <c:v>0.20210410000000001</c:v>
                </c:pt>
                <c:pt idx="44">
                  <c:v>0.20487264999999999</c:v>
                </c:pt>
                <c:pt idx="45">
                  <c:v>0.20985603999999999</c:v>
                </c:pt>
                <c:pt idx="46">
                  <c:v>0.22868216999999999</c:v>
                </c:pt>
                <c:pt idx="47">
                  <c:v>0.2303433</c:v>
                </c:pt>
                <c:pt idx="48">
                  <c:v>0.23754153</c:v>
                </c:pt>
                <c:pt idx="49">
                  <c:v>0.24363234</c:v>
                </c:pt>
                <c:pt idx="50">
                  <c:v>0.24750831000000001</c:v>
                </c:pt>
                <c:pt idx="51">
                  <c:v>0.25193798000000001</c:v>
                </c:pt>
                <c:pt idx="52">
                  <c:v>0.26245847</c:v>
                </c:pt>
                <c:pt idx="53">
                  <c:v>0.26633444000000001</c:v>
                </c:pt>
                <c:pt idx="54">
                  <c:v>0.27685493</c:v>
                </c:pt>
                <c:pt idx="55">
                  <c:v>0.27740863999999998</c:v>
                </c:pt>
                <c:pt idx="56">
                  <c:v>0.28017719000000002</c:v>
                </c:pt>
                <c:pt idx="57">
                  <c:v>0.28626800000000002</c:v>
                </c:pt>
                <c:pt idx="58">
                  <c:v>0.30121816000000001</c:v>
                </c:pt>
                <c:pt idx="59">
                  <c:v>0.30897010000000003</c:v>
                </c:pt>
                <c:pt idx="60">
                  <c:v>0.31395349</c:v>
                </c:pt>
                <c:pt idx="61">
                  <c:v>0.32447398</c:v>
                </c:pt>
                <c:pt idx="62">
                  <c:v>0.32779623000000002</c:v>
                </c:pt>
                <c:pt idx="63">
                  <c:v>0.35326689</c:v>
                </c:pt>
                <c:pt idx="64">
                  <c:v>0.37929125000000002</c:v>
                </c:pt>
                <c:pt idx="65">
                  <c:v>0.38759690000000002</c:v>
                </c:pt>
                <c:pt idx="66">
                  <c:v>0.39479512999999999</c:v>
                </c:pt>
                <c:pt idx="67">
                  <c:v>0.41971206999999999</c:v>
                </c:pt>
                <c:pt idx="68">
                  <c:v>0.43853820999999998</c:v>
                </c:pt>
                <c:pt idx="69">
                  <c:v>0.44075304999999998</c:v>
                </c:pt>
                <c:pt idx="70">
                  <c:v>0.45293465999999999</c:v>
                </c:pt>
                <c:pt idx="71">
                  <c:v>0.46234773000000001</c:v>
                </c:pt>
                <c:pt idx="72">
                  <c:v>0.48947951000000001</c:v>
                </c:pt>
                <c:pt idx="73">
                  <c:v>0.55094131000000002</c:v>
                </c:pt>
                <c:pt idx="74">
                  <c:v>0.5620155</c:v>
                </c:pt>
                <c:pt idx="75">
                  <c:v>0.60077519000000001</c:v>
                </c:pt>
                <c:pt idx="76">
                  <c:v>0.63178294999999995</c:v>
                </c:pt>
                <c:pt idx="77">
                  <c:v>0.67940199000000001</c:v>
                </c:pt>
                <c:pt idx="78">
                  <c:v>0.86821705000000005</c:v>
                </c:pt>
                <c:pt idx="79">
                  <c:v>1</c:v>
                </c:pt>
              </c:numCache>
            </c:numRef>
          </c:xVal>
          <c:yVal>
            <c:numRef>
              <c:f>'Chart Data'!$D$2:$D$81</c:f>
              <c:numCache>
                <c:formatCode>0.000</c:formatCode>
                <c:ptCount val="80"/>
                <c:pt idx="0">
                  <c:v>0</c:v>
                </c:pt>
                <c:pt idx="1">
                  <c:v>0.18710889</c:v>
                </c:pt>
                <c:pt idx="2">
                  <c:v>0.33197747</c:v>
                </c:pt>
                <c:pt idx="3">
                  <c:v>0.37703378999999998</c:v>
                </c:pt>
                <c:pt idx="4">
                  <c:v>0.42615769999999997</c:v>
                </c:pt>
                <c:pt idx="5">
                  <c:v>0.42959950000000002</c:v>
                </c:pt>
                <c:pt idx="6">
                  <c:v>0.45838548000000001</c:v>
                </c:pt>
                <c:pt idx="7">
                  <c:v>0.47684606000000002</c:v>
                </c:pt>
                <c:pt idx="8">
                  <c:v>0.47747183999999998</c:v>
                </c:pt>
                <c:pt idx="9">
                  <c:v>0.52409262000000001</c:v>
                </c:pt>
                <c:pt idx="10">
                  <c:v>0.54067584000000002</c:v>
                </c:pt>
                <c:pt idx="11">
                  <c:v>0.57853566999999995</c:v>
                </c:pt>
                <c:pt idx="12">
                  <c:v>0.58416771000000001</c:v>
                </c:pt>
                <c:pt idx="13">
                  <c:v>0.59105131</c:v>
                </c:pt>
                <c:pt idx="14">
                  <c:v>0.60544430999999999</c:v>
                </c:pt>
                <c:pt idx="15">
                  <c:v>0.65738423000000001</c:v>
                </c:pt>
                <c:pt idx="16">
                  <c:v>0.65988736000000003</c:v>
                </c:pt>
                <c:pt idx="17">
                  <c:v>0.67834793000000004</c:v>
                </c:pt>
                <c:pt idx="18">
                  <c:v>0.68178974000000003</c:v>
                </c:pt>
                <c:pt idx="19">
                  <c:v>0.69399248999999996</c:v>
                </c:pt>
                <c:pt idx="20">
                  <c:v>0.69555694999999995</c:v>
                </c:pt>
                <c:pt idx="21">
                  <c:v>0.70337921999999997</c:v>
                </c:pt>
                <c:pt idx="22">
                  <c:v>0.70713391999999997</c:v>
                </c:pt>
                <c:pt idx="23">
                  <c:v>0.71745932000000001</c:v>
                </c:pt>
                <c:pt idx="24">
                  <c:v>0.72183980000000003</c:v>
                </c:pt>
                <c:pt idx="25">
                  <c:v>0.72809762</c:v>
                </c:pt>
                <c:pt idx="26">
                  <c:v>0.73998748000000003</c:v>
                </c:pt>
                <c:pt idx="27">
                  <c:v>0.74405507000000004</c:v>
                </c:pt>
                <c:pt idx="28">
                  <c:v>0.75969962000000002</c:v>
                </c:pt>
                <c:pt idx="29">
                  <c:v>0.76345432000000002</c:v>
                </c:pt>
                <c:pt idx="30">
                  <c:v>0.76877346999999996</c:v>
                </c:pt>
                <c:pt idx="31">
                  <c:v>0.77784730999999996</c:v>
                </c:pt>
                <c:pt idx="32">
                  <c:v>0.77909887</c:v>
                </c:pt>
                <c:pt idx="33">
                  <c:v>0.78911138999999997</c:v>
                </c:pt>
                <c:pt idx="34">
                  <c:v>0.7991239</c:v>
                </c:pt>
                <c:pt idx="35">
                  <c:v>0.82071338999999999</c:v>
                </c:pt>
                <c:pt idx="36">
                  <c:v>0.82384230000000003</c:v>
                </c:pt>
                <c:pt idx="37">
                  <c:v>0.82697120999999996</c:v>
                </c:pt>
                <c:pt idx="38">
                  <c:v>0.83260325000000002</c:v>
                </c:pt>
                <c:pt idx="39">
                  <c:v>0.83573217</c:v>
                </c:pt>
                <c:pt idx="40">
                  <c:v>0.83729662000000005</c:v>
                </c:pt>
                <c:pt idx="41">
                  <c:v>0.84386733000000003</c:v>
                </c:pt>
                <c:pt idx="42">
                  <c:v>0.84480601</c:v>
                </c:pt>
                <c:pt idx="43">
                  <c:v>0.85638298000000002</c:v>
                </c:pt>
                <c:pt idx="44">
                  <c:v>0.85669587000000003</c:v>
                </c:pt>
                <c:pt idx="45">
                  <c:v>0.86264079999999999</c:v>
                </c:pt>
                <c:pt idx="46">
                  <c:v>0.87015019000000005</c:v>
                </c:pt>
                <c:pt idx="47">
                  <c:v>0.87327909999999997</c:v>
                </c:pt>
                <c:pt idx="48">
                  <c:v>0.87484355000000003</c:v>
                </c:pt>
                <c:pt idx="49">
                  <c:v>0.88078849000000003</c:v>
                </c:pt>
                <c:pt idx="50">
                  <c:v>0.88141427000000006</c:v>
                </c:pt>
                <c:pt idx="51">
                  <c:v>0.88704631</c:v>
                </c:pt>
                <c:pt idx="52">
                  <c:v>0.89017522000000004</c:v>
                </c:pt>
                <c:pt idx="53">
                  <c:v>0.89518147999999997</c:v>
                </c:pt>
                <c:pt idx="54">
                  <c:v>0.89862328000000002</c:v>
                </c:pt>
                <c:pt idx="55">
                  <c:v>0.90175218999999995</c:v>
                </c:pt>
                <c:pt idx="56">
                  <c:v>0.90175218999999995</c:v>
                </c:pt>
                <c:pt idx="57">
                  <c:v>0.90362953999999995</c:v>
                </c:pt>
                <c:pt idx="58">
                  <c:v>0.91583228999999999</c:v>
                </c:pt>
                <c:pt idx="59">
                  <c:v>0.91645807000000001</c:v>
                </c:pt>
                <c:pt idx="60">
                  <c:v>0.92083855000000003</c:v>
                </c:pt>
                <c:pt idx="61">
                  <c:v>0.92365456999999995</c:v>
                </c:pt>
                <c:pt idx="62">
                  <c:v>0.92678347999999999</c:v>
                </c:pt>
                <c:pt idx="63">
                  <c:v>0.93178974000000003</c:v>
                </c:pt>
                <c:pt idx="64">
                  <c:v>0.94336671000000005</c:v>
                </c:pt>
                <c:pt idx="65">
                  <c:v>0.94399248999999996</c:v>
                </c:pt>
                <c:pt idx="66">
                  <c:v>0.94837296999999998</c:v>
                </c:pt>
                <c:pt idx="67">
                  <c:v>0.95431790000000005</c:v>
                </c:pt>
                <c:pt idx="68">
                  <c:v>0.96120150000000004</c:v>
                </c:pt>
                <c:pt idx="69">
                  <c:v>0.96370462999999995</c:v>
                </c:pt>
                <c:pt idx="70">
                  <c:v>0.96495620000000004</c:v>
                </c:pt>
                <c:pt idx="71">
                  <c:v>0.97058823999999999</c:v>
                </c:pt>
                <c:pt idx="72">
                  <c:v>0.97559448999999998</c:v>
                </c:pt>
                <c:pt idx="73">
                  <c:v>0.98028786000000001</c:v>
                </c:pt>
                <c:pt idx="74">
                  <c:v>0.98341677000000005</c:v>
                </c:pt>
                <c:pt idx="75">
                  <c:v>0.98748435999999995</c:v>
                </c:pt>
                <c:pt idx="76">
                  <c:v>0.98779724999999996</c:v>
                </c:pt>
                <c:pt idx="77">
                  <c:v>0.99280349999999995</c:v>
                </c:pt>
                <c:pt idx="78">
                  <c:v>1</c:v>
                </c:pt>
                <c:pt idx="79">
                  <c:v>1</c:v>
                </c:pt>
              </c:numCache>
            </c:numRef>
          </c:yVal>
          <c:smooth val="0"/>
          <c:extLst>
            <c:ext xmlns:c16="http://schemas.microsoft.com/office/drawing/2014/chart" uri="{C3380CC4-5D6E-409C-BE32-E72D297353CC}">
              <c16:uniqueId val="{00000001-7940-2542-B356-BA738A89B443}"/>
            </c:ext>
          </c:extLst>
        </c:ser>
        <c:ser>
          <c:idx val="2"/>
          <c:order val="2"/>
          <c:tx>
            <c:v>Порог по валидации</c:v>
          </c:tx>
          <c:spPr>
            <a:ln w="0">
              <a:noFill/>
            </a:ln>
          </c:spPr>
          <c:marker>
            <c:symbol val="circle"/>
            <c:size val="11"/>
            <c:spPr>
              <a:solidFill>
                <a:srgbClr val="C95236"/>
              </a:solidFill>
              <a:ln w="0">
                <a:noFill/>
              </a:ln>
            </c:spPr>
          </c:marker>
          <c:xVal>
            <c:numRef>
              <c:f>'Chart Data'!$E$2:$E$81</c:f>
              <c:numCache>
                <c:formatCode>General</c:formatCode>
                <c:ptCount val="80"/>
                <c:pt idx="0">
                  <c:v>0.28017719000000002</c:v>
                </c:pt>
                <c:pt idx="1">
                  <c:v>0.28017719000000002</c:v>
                </c:pt>
                <c:pt idx="2">
                  <c:v>0.28017719000000002</c:v>
                </c:pt>
                <c:pt idx="3">
                  <c:v>0.28017719000000002</c:v>
                </c:pt>
                <c:pt idx="4">
                  <c:v>0.28017719000000002</c:v>
                </c:pt>
                <c:pt idx="5">
                  <c:v>0.28017719000000002</c:v>
                </c:pt>
                <c:pt idx="6">
                  <c:v>0.28017719000000002</c:v>
                </c:pt>
                <c:pt idx="7">
                  <c:v>0.28017719000000002</c:v>
                </c:pt>
                <c:pt idx="8">
                  <c:v>0.28017719000000002</c:v>
                </c:pt>
                <c:pt idx="9">
                  <c:v>0.28017719000000002</c:v>
                </c:pt>
                <c:pt idx="10">
                  <c:v>0.28017719000000002</c:v>
                </c:pt>
                <c:pt idx="11">
                  <c:v>0.28017719000000002</c:v>
                </c:pt>
                <c:pt idx="12">
                  <c:v>0.28017719000000002</c:v>
                </c:pt>
                <c:pt idx="13">
                  <c:v>0.28017719000000002</c:v>
                </c:pt>
                <c:pt idx="14">
                  <c:v>0.28017719000000002</c:v>
                </c:pt>
                <c:pt idx="15">
                  <c:v>0.28017719000000002</c:v>
                </c:pt>
                <c:pt idx="16">
                  <c:v>0.28017719000000002</c:v>
                </c:pt>
                <c:pt idx="17">
                  <c:v>0.28017719000000002</c:v>
                </c:pt>
                <c:pt idx="18">
                  <c:v>0.28017719000000002</c:v>
                </c:pt>
                <c:pt idx="19">
                  <c:v>0.28017719000000002</c:v>
                </c:pt>
                <c:pt idx="20">
                  <c:v>0.28017719000000002</c:v>
                </c:pt>
                <c:pt idx="21">
                  <c:v>0.28017719000000002</c:v>
                </c:pt>
                <c:pt idx="22">
                  <c:v>0.28017719000000002</c:v>
                </c:pt>
                <c:pt idx="23">
                  <c:v>0.28017719000000002</c:v>
                </c:pt>
                <c:pt idx="24">
                  <c:v>0.28017719000000002</c:v>
                </c:pt>
                <c:pt idx="25">
                  <c:v>0.28017719000000002</c:v>
                </c:pt>
                <c:pt idx="26">
                  <c:v>0.28017719000000002</c:v>
                </c:pt>
                <c:pt idx="27">
                  <c:v>0.28017719000000002</c:v>
                </c:pt>
                <c:pt idx="28">
                  <c:v>0.28017719000000002</c:v>
                </c:pt>
                <c:pt idx="29">
                  <c:v>0.28017719000000002</c:v>
                </c:pt>
                <c:pt idx="30">
                  <c:v>0.28017719000000002</c:v>
                </c:pt>
                <c:pt idx="31">
                  <c:v>0.28017719000000002</c:v>
                </c:pt>
                <c:pt idx="32">
                  <c:v>0.28017719000000002</c:v>
                </c:pt>
                <c:pt idx="33">
                  <c:v>0.28017719000000002</c:v>
                </c:pt>
                <c:pt idx="34">
                  <c:v>0.28017719000000002</c:v>
                </c:pt>
                <c:pt idx="35">
                  <c:v>0.28017719000000002</c:v>
                </c:pt>
                <c:pt idx="36">
                  <c:v>0.28017719000000002</c:v>
                </c:pt>
                <c:pt idx="37">
                  <c:v>0.28017719000000002</c:v>
                </c:pt>
                <c:pt idx="38">
                  <c:v>0.28017719000000002</c:v>
                </c:pt>
                <c:pt idx="39">
                  <c:v>0.28017719000000002</c:v>
                </c:pt>
                <c:pt idx="40">
                  <c:v>0.28017719000000002</c:v>
                </c:pt>
                <c:pt idx="41">
                  <c:v>0.28017719000000002</c:v>
                </c:pt>
                <c:pt idx="42">
                  <c:v>0.28017719000000002</c:v>
                </c:pt>
                <c:pt idx="43">
                  <c:v>0.28017719000000002</c:v>
                </c:pt>
                <c:pt idx="44">
                  <c:v>0.28017719000000002</c:v>
                </c:pt>
                <c:pt idx="45">
                  <c:v>0.28017719000000002</c:v>
                </c:pt>
                <c:pt idx="46">
                  <c:v>0.28017719000000002</c:v>
                </c:pt>
                <c:pt idx="47">
                  <c:v>0.28017719000000002</c:v>
                </c:pt>
                <c:pt idx="48">
                  <c:v>0.28017719000000002</c:v>
                </c:pt>
                <c:pt idx="49">
                  <c:v>0.28017719000000002</c:v>
                </c:pt>
                <c:pt idx="50">
                  <c:v>0.28017719000000002</c:v>
                </c:pt>
                <c:pt idx="51">
                  <c:v>0.28017719000000002</c:v>
                </c:pt>
                <c:pt idx="52">
                  <c:v>0.28017719000000002</c:v>
                </c:pt>
                <c:pt idx="53">
                  <c:v>0.28017719000000002</c:v>
                </c:pt>
                <c:pt idx="54">
                  <c:v>0.28017719000000002</c:v>
                </c:pt>
                <c:pt idx="55">
                  <c:v>0.28017719000000002</c:v>
                </c:pt>
                <c:pt idx="56">
                  <c:v>0.28017719000000002</c:v>
                </c:pt>
                <c:pt idx="57">
                  <c:v>0.28017719000000002</c:v>
                </c:pt>
                <c:pt idx="58">
                  <c:v>0.28017719000000002</c:v>
                </c:pt>
                <c:pt idx="59">
                  <c:v>0.28017719000000002</c:v>
                </c:pt>
                <c:pt idx="60">
                  <c:v>0.28017719000000002</c:v>
                </c:pt>
                <c:pt idx="61">
                  <c:v>0.28017719000000002</c:v>
                </c:pt>
                <c:pt idx="62">
                  <c:v>0.28017719000000002</c:v>
                </c:pt>
                <c:pt idx="63">
                  <c:v>0.28017719000000002</c:v>
                </c:pt>
                <c:pt idx="64">
                  <c:v>0.28017719000000002</c:v>
                </c:pt>
                <c:pt idx="65">
                  <c:v>0.28017719000000002</c:v>
                </c:pt>
                <c:pt idx="66">
                  <c:v>0.28017719000000002</c:v>
                </c:pt>
                <c:pt idx="67">
                  <c:v>0.28017719000000002</c:v>
                </c:pt>
                <c:pt idx="68">
                  <c:v>0.28017719000000002</c:v>
                </c:pt>
                <c:pt idx="69">
                  <c:v>0.28017719000000002</c:v>
                </c:pt>
                <c:pt idx="70">
                  <c:v>0.28017719000000002</c:v>
                </c:pt>
                <c:pt idx="71">
                  <c:v>0.28017719000000002</c:v>
                </c:pt>
                <c:pt idx="72">
                  <c:v>0.28017719000000002</c:v>
                </c:pt>
                <c:pt idx="73">
                  <c:v>0.28017719000000002</c:v>
                </c:pt>
                <c:pt idx="74">
                  <c:v>0.28017719000000002</c:v>
                </c:pt>
                <c:pt idx="75">
                  <c:v>0.28017719000000002</c:v>
                </c:pt>
                <c:pt idx="76">
                  <c:v>0.28017719000000002</c:v>
                </c:pt>
                <c:pt idx="77">
                  <c:v>0.28017719000000002</c:v>
                </c:pt>
                <c:pt idx="78">
                  <c:v>0.28017719000000002</c:v>
                </c:pt>
                <c:pt idx="79">
                  <c:v>0.28017719000000002</c:v>
                </c:pt>
              </c:numCache>
            </c:numRef>
          </c:xVal>
          <c:yVal>
            <c:numRef>
              <c:f>'Chart Data'!$F$2:$F$81</c:f>
              <c:numCache>
                <c:formatCode>0.000</c:formatCode>
                <c:ptCount val="80"/>
                <c:pt idx="0">
                  <c:v>0.90175218999999995</c:v>
                </c:pt>
                <c:pt idx="1">
                  <c:v>0.90175218999999995</c:v>
                </c:pt>
                <c:pt idx="2">
                  <c:v>0.90175218999999995</c:v>
                </c:pt>
                <c:pt idx="3">
                  <c:v>0.90175218999999995</c:v>
                </c:pt>
                <c:pt idx="4">
                  <c:v>0.90175218999999995</c:v>
                </c:pt>
                <c:pt idx="5">
                  <c:v>0.90175218999999995</c:v>
                </c:pt>
                <c:pt idx="6">
                  <c:v>0.90175218999999995</c:v>
                </c:pt>
                <c:pt idx="7">
                  <c:v>0.90175218999999995</c:v>
                </c:pt>
                <c:pt idx="8">
                  <c:v>0.90175218999999995</c:v>
                </c:pt>
                <c:pt idx="9">
                  <c:v>0.90175218999999995</c:v>
                </c:pt>
                <c:pt idx="10">
                  <c:v>0.90175218999999995</c:v>
                </c:pt>
                <c:pt idx="11">
                  <c:v>0.90175218999999995</c:v>
                </c:pt>
                <c:pt idx="12">
                  <c:v>0.90175218999999995</c:v>
                </c:pt>
                <c:pt idx="13">
                  <c:v>0.90175218999999995</c:v>
                </c:pt>
                <c:pt idx="14">
                  <c:v>0.90175218999999995</c:v>
                </c:pt>
                <c:pt idx="15">
                  <c:v>0.90175218999999995</c:v>
                </c:pt>
                <c:pt idx="16">
                  <c:v>0.90175218999999995</c:v>
                </c:pt>
                <c:pt idx="17">
                  <c:v>0.90175218999999995</c:v>
                </c:pt>
                <c:pt idx="18">
                  <c:v>0.90175218999999995</c:v>
                </c:pt>
                <c:pt idx="19">
                  <c:v>0.90175218999999995</c:v>
                </c:pt>
                <c:pt idx="20">
                  <c:v>0.90175218999999995</c:v>
                </c:pt>
                <c:pt idx="21">
                  <c:v>0.90175218999999995</c:v>
                </c:pt>
                <c:pt idx="22">
                  <c:v>0.90175218999999995</c:v>
                </c:pt>
                <c:pt idx="23">
                  <c:v>0.90175218999999995</c:v>
                </c:pt>
                <c:pt idx="24">
                  <c:v>0.90175218999999995</c:v>
                </c:pt>
                <c:pt idx="25">
                  <c:v>0.90175218999999995</c:v>
                </c:pt>
                <c:pt idx="26">
                  <c:v>0.90175218999999995</c:v>
                </c:pt>
                <c:pt idx="27">
                  <c:v>0.90175218999999995</c:v>
                </c:pt>
                <c:pt idx="28">
                  <c:v>0.90175218999999995</c:v>
                </c:pt>
                <c:pt idx="29">
                  <c:v>0.90175218999999995</c:v>
                </c:pt>
                <c:pt idx="30">
                  <c:v>0.90175218999999995</c:v>
                </c:pt>
                <c:pt idx="31">
                  <c:v>0.90175218999999995</c:v>
                </c:pt>
                <c:pt idx="32">
                  <c:v>0.90175218999999995</c:v>
                </c:pt>
                <c:pt idx="33">
                  <c:v>0.90175218999999995</c:v>
                </c:pt>
                <c:pt idx="34">
                  <c:v>0.90175218999999995</c:v>
                </c:pt>
                <c:pt idx="35">
                  <c:v>0.90175218999999995</c:v>
                </c:pt>
                <c:pt idx="36">
                  <c:v>0.90175218999999995</c:v>
                </c:pt>
                <c:pt idx="37">
                  <c:v>0.90175218999999995</c:v>
                </c:pt>
                <c:pt idx="38">
                  <c:v>0.90175218999999995</c:v>
                </c:pt>
                <c:pt idx="39">
                  <c:v>0.90175218999999995</c:v>
                </c:pt>
                <c:pt idx="40">
                  <c:v>0.90175218999999995</c:v>
                </c:pt>
                <c:pt idx="41">
                  <c:v>0.90175218999999995</c:v>
                </c:pt>
                <c:pt idx="42">
                  <c:v>0.90175218999999995</c:v>
                </c:pt>
                <c:pt idx="43">
                  <c:v>0.90175218999999995</c:v>
                </c:pt>
                <c:pt idx="44">
                  <c:v>0.90175218999999995</c:v>
                </c:pt>
                <c:pt idx="45">
                  <c:v>0.90175218999999995</c:v>
                </c:pt>
                <c:pt idx="46">
                  <c:v>0.90175218999999995</c:v>
                </c:pt>
                <c:pt idx="47">
                  <c:v>0.90175218999999995</c:v>
                </c:pt>
                <c:pt idx="48">
                  <c:v>0.90175218999999995</c:v>
                </c:pt>
                <c:pt idx="49">
                  <c:v>0.90175218999999995</c:v>
                </c:pt>
                <c:pt idx="50">
                  <c:v>0.90175218999999995</c:v>
                </c:pt>
                <c:pt idx="51">
                  <c:v>0.90175218999999995</c:v>
                </c:pt>
                <c:pt idx="52">
                  <c:v>0.90175218999999995</c:v>
                </c:pt>
                <c:pt idx="53">
                  <c:v>0.90175218999999995</c:v>
                </c:pt>
                <c:pt idx="54">
                  <c:v>0.90175218999999995</c:v>
                </c:pt>
                <c:pt idx="55">
                  <c:v>0.90175218999999995</c:v>
                </c:pt>
                <c:pt idx="56">
                  <c:v>0.90175218999999995</c:v>
                </c:pt>
                <c:pt idx="57">
                  <c:v>0.90175218999999995</c:v>
                </c:pt>
                <c:pt idx="58">
                  <c:v>0.90175218999999995</c:v>
                </c:pt>
                <c:pt idx="59">
                  <c:v>0.90175218999999995</c:v>
                </c:pt>
                <c:pt idx="60">
                  <c:v>0.90175218999999995</c:v>
                </c:pt>
                <c:pt idx="61">
                  <c:v>0.90175218999999995</c:v>
                </c:pt>
                <c:pt idx="62">
                  <c:v>0.90175218999999995</c:v>
                </c:pt>
                <c:pt idx="63">
                  <c:v>0.90175218999999995</c:v>
                </c:pt>
                <c:pt idx="64">
                  <c:v>0.90175218999999995</c:v>
                </c:pt>
                <c:pt idx="65">
                  <c:v>0.90175218999999995</c:v>
                </c:pt>
                <c:pt idx="66">
                  <c:v>0.90175218999999995</c:v>
                </c:pt>
                <c:pt idx="67">
                  <c:v>0.90175218999999995</c:v>
                </c:pt>
                <c:pt idx="68">
                  <c:v>0.90175218999999995</c:v>
                </c:pt>
                <c:pt idx="69">
                  <c:v>0.90175218999999995</c:v>
                </c:pt>
                <c:pt idx="70">
                  <c:v>0.90175218999999995</c:v>
                </c:pt>
                <c:pt idx="71">
                  <c:v>0.90175218999999995</c:v>
                </c:pt>
                <c:pt idx="72">
                  <c:v>0.90175218999999995</c:v>
                </c:pt>
                <c:pt idx="73">
                  <c:v>0.90175218999999995</c:v>
                </c:pt>
                <c:pt idx="74">
                  <c:v>0.90175218999999995</c:v>
                </c:pt>
                <c:pt idx="75">
                  <c:v>0.90175218999999995</c:v>
                </c:pt>
                <c:pt idx="76">
                  <c:v>0.90175218999999995</c:v>
                </c:pt>
                <c:pt idx="77">
                  <c:v>0.90175218999999995</c:v>
                </c:pt>
                <c:pt idx="78">
                  <c:v>0.90175218999999995</c:v>
                </c:pt>
                <c:pt idx="79">
                  <c:v>0.90175218999999995</c:v>
                </c:pt>
              </c:numCache>
            </c:numRef>
          </c:yVal>
          <c:smooth val="0"/>
          <c:extLst>
            <c:ext xmlns:c16="http://schemas.microsoft.com/office/drawing/2014/chart" uri="{C3380CC4-5D6E-409C-BE32-E72D297353CC}">
              <c16:uniqueId val="{00000002-7940-2542-B356-BA738A89B443}"/>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9525">
              <a:solidFill>
                <a:srgbClr val="D4E1E0"/>
              </a:solidFill>
            </a:ln>
          </c:spPr>
        </c:majorGridlines>
        <c:title>
          <c:tx>
            <c:rich>
              <a:bodyPr/>
              <a:lstStyle/>
              <a:p>
                <a:r>
                  <a:rPr lang="ru-RU" sz="1800" b="0">
                    <a:solidFill>
                      <a:srgbClr val="526970"/>
                    </a:solidFill>
                    <a:latin typeface="Arial"/>
                    <a:ea typeface="Arial"/>
                    <a:cs typeface="Arial"/>
                  </a:rPr>
                  <a:t>Доля истинноположительных</a:t>
                </a:r>
              </a:p>
            </c:rich>
          </c:tx>
          <c:overlay val="0"/>
        </c:title>
        <c:numFmt formatCode="0.0" sourceLinked="0"/>
        <c:majorTickMark val="none"/>
        <c:minorTickMark val="none"/>
        <c:tickLblPos val="nextTo"/>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0.2"/>
      </c:valAx>
      <c:valAx>
        <c:axId val="48650112"/>
        <c:scaling>
          <c:orientation val="minMax"/>
          <c:max val="1"/>
          <c:min val="0"/>
        </c:scaling>
        <c:delete val="0"/>
        <c:axPos val="b"/>
        <c:title>
          <c:tx>
            <c:rich>
              <a:bodyPr/>
              <a:lstStyle/>
              <a:p>
                <a:r>
                  <a:rPr lang="ru-RU" sz="1800" b="0">
                    <a:solidFill>
                      <a:srgbClr val="526970"/>
                    </a:solidFill>
                    <a:latin typeface="Arial"/>
                    <a:ea typeface="Arial"/>
                    <a:cs typeface="Arial"/>
                  </a:rPr>
                  <a:t>Доля ложноположительных</a:t>
                </a:r>
              </a:p>
            </c:rich>
          </c:tx>
          <c:overlay val="0"/>
        </c:title>
        <c:numFmt formatCode="0.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0.2"/>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Все кандидаты</c:v>
          </c:tx>
          <c:spPr>
            <a:ln w="28575">
              <a:solidFill>
                <a:srgbClr val="70858A"/>
              </a:solidFill>
            </a:ln>
          </c:spPr>
          <c:marker>
            <c:symbol val="circle"/>
            <c:size val="8"/>
            <c:spPr>
              <a:solidFill>
                <a:srgbClr val="70858A"/>
              </a:solidFill>
              <a:ln w="0">
                <a:noFill/>
              </a: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21.880634659999998</c:v>
                </c:pt>
                <c:pt idx="1">
                  <c:v>65.846883559999995</c:v>
                </c:pt>
                <c:pt idx="2">
                  <c:v>110.35612752999999</c:v>
                </c:pt>
                <c:pt idx="3">
                  <c:v>222.91226889999999</c:v>
                </c:pt>
                <c:pt idx="4">
                  <c:v>451.54053198999998</c:v>
                </c:pt>
              </c:numCache>
            </c:numRef>
          </c:yVal>
          <c:smooth val="0"/>
          <c:extLst>
            <c:ext xmlns:c16="http://schemas.microsoft.com/office/drawing/2014/chart" uri="{C3380CC4-5D6E-409C-BE32-E72D297353CC}">
              <c16:uniqueId val="{00000000-4F93-1744-8DB5-4AB66D35A218}"/>
            </c:ext>
          </c:extLst>
        </c:ser>
        <c:ser>
          <c:idx val="1"/>
          <c:order val="1"/>
          <c:tx>
            <c:v>Предсказаны релевантными</c:v>
          </c:tx>
          <c:spPr>
            <a:ln w="28575">
              <a:solidFill>
                <a:srgbClr val="C95236"/>
              </a:solidFill>
            </a:ln>
          </c:spPr>
          <c:marker>
            <c:symbol val="circle"/>
            <c:size val="8"/>
            <c:spPr>
              <a:solidFill>
                <a:srgbClr val="C95236"/>
              </a:solidFill>
              <a:ln w="0">
                <a:noFill/>
              </a: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14.192080560000001</c:v>
                </c:pt>
                <c:pt idx="1">
                  <c:v>33.7073289</c:v>
                </c:pt>
                <c:pt idx="2">
                  <c:v>49.41692303</c:v>
                </c:pt>
                <c:pt idx="3">
                  <c:v>81.015925929999995</c:v>
                </c:pt>
                <c:pt idx="4">
                  <c:v>128.63735371999999</c:v>
                </c:pt>
              </c:numCache>
            </c:numRef>
          </c:yVal>
          <c:smooth val="0"/>
          <c:extLst>
            <c:ext xmlns:c16="http://schemas.microsoft.com/office/drawing/2014/chart" uri="{C3380CC4-5D6E-409C-BE32-E72D297353CC}">
              <c16:uniqueId val="{00000001-4F93-1744-8DB5-4AB66D35A218}"/>
            </c:ext>
          </c:extLst>
        </c:ser>
        <c:dLbls>
          <c:showLegendKey val="0"/>
          <c:showVal val="0"/>
          <c:showCatName val="0"/>
          <c:showSerName val="0"/>
          <c:showPercent val="0"/>
          <c:showBubbleSize val="0"/>
        </c:dLbls>
        <c:axId val="48650112"/>
        <c:axId val="48672768"/>
      </c:scatterChart>
      <c:valAx>
        <c:axId val="48672768"/>
        <c:scaling>
          <c:orientation val="minMax"/>
          <c:max val="500"/>
          <c:min val="0"/>
        </c:scaling>
        <c:delete val="0"/>
        <c:axPos val="l"/>
        <c:majorGridlines>
          <c:spPr>
            <a:ln w="9525">
              <a:solidFill>
                <a:srgbClr val="D4E1E0"/>
              </a:solidFill>
            </a:ln>
          </c:spPr>
        </c:majorGridlines>
        <c:numFmt formatCode="0" sourceLinked="0"/>
        <c:majorTickMark val="none"/>
        <c:minorTickMark val="none"/>
        <c:tickLblPos val="nextTo"/>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100"/>
      </c:valAx>
      <c:valAx>
        <c:axId val="48650112"/>
        <c:scaling>
          <c:orientation val="minMax"/>
          <c:max val="210"/>
          <c:min val="0"/>
        </c:scaling>
        <c:delete val="0"/>
        <c:axPos val="b"/>
        <c:title>
          <c:tx>
            <c:rich>
              <a:bodyPr/>
              <a:lstStyle/>
              <a:p>
                <a:r>
                  <a:rPr lang="ru-RU" sz="1800" b="0">
                    <a:solidFill>
                      <a:srgbClr val="526970"/>
                    </a:solidFill>
                    <a:latin typeface="Arial"/>
                    <a:ea typeface="Arial"/>
                    <a:cs typeface="Arial"/>
                  </a:rPr>
                  <a:t>Глубина выдачи каждой модели </a:t>
                </a:r>
                <a:r>
                  <a:rPr lang="en" sz="1800" b="0">
                    <a:solidFill>
                      <a:srgbClr val="526970"/>
                    </a:solidFill>
                    <a:latin typeface="Arial"/>
                    <a:ea typeface="Arial"/>
                    <a:cs typeface="Arial"/>
                  </a:rPr>
                  <a:t>K</a:t>
                </a:r>
              </a:p>
            </c:rich>
          </c:tx>
          <c:overlay val="0"/>
        </c:title>
        <c:numFmt formatCode="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50"/>
      </c:valAx>
      <c:spPr>
        <a:solidFill>
          <a:srgbClr val="FFFFFF"/>
        </a:solidFill>
        <a:ln w="0">
          <a:noFill/>
        </a:ln>
      </c:spPr>
    </c:plotArea>
    <c:legend>
      <c:legendPos val="b"/>
      <c:overlay val="0"/>
      <c:txPr>
        <a:bodyPr anchorCtr="1"/>
        <a:lstStyle/>
        <a:p>
          <a:pPr>
            <a:defRPr sz="1800">
              <a:solidFill>
                <a:srgbClr val="182B30"/>
              </a:solidFill>
              <a:latin typeface="Arial"/>
              <a:ea typeface="Arial"/>
              <a:cs typeface="Arial"/>
            </a:defRPr>
          </a:pPr>
          <a:endParaRPr lang="ru-RU"/>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Нулевая разность</c:v>
          </c:tx>
          <c:spPr>
            <a:l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extLst>
            <c:ext xmlns:c16="http://schemas.microsoft.com/office/drawing/2014/chart" uri="{C3380CC4-5D6E-409C-BE32-E72D297353CC}">
              <c16:uniqueId val="{00000000-556A-6141-B854-7F188D98849E}"/>
            </c:ext>
          </c:extLst>
        </c:ser>
        <c:ser>
          <c:idx val="1"/>
          <c:order val="1"/>
          <c:tx>
            <c:v>95%-ный парный ДИ при K=10</c:v>
          </c:tx>
          <c:spPr>
            <a:ln w="24765">
              <a:solidFill>
                <a:srgbClr val="C95236"/>
              </a:solidFill>
            </a:ln>
          </c:spPr>
          <c:marker>
            <c:symbol val="none"/>
          </c:marker>
          <c:xVal>
            <c:numRef>
              <c:f>'Chart Data'!$C$2:$C$6</c:f>
              <c:numCache>
                <c:formatCode>General</c:formatCode>
                <c:ptCount val="5"/>
                <c:pt idx="0">
                  <c:v>-2.0236170000000001E-2</c:v>
                </c:pt>
                <c:pt idx="1">
                  <c:v>-1.882729E-2</c:v>
                </c:pt>
                <c:pt idx="2">
                  <c:v>-1.882729E-2</c:v>
                </c:pt>
                <c:pt idx="3">
                  <c:v>-1.882729E-2</c:v>
                </c:pt>
                <c:pt idx="4">
                  <c:v>-1.882729E-2</c:v>
                </c:pt>
              </c:numCache>
            </c:numRef>
          </c:xVal>
          <c:yVal>
            <c:numRef>
              <c:f>'Chart Data'!$D$2:$D$6</c:f>
              <c:numCache>
                <c:formatCode>0.000</c:formatCode>
                <c:ptCount val="5"/>
                <c:pt idx="0">
                  <c:v>5</c:v>
                </c:pt>
                <c:pt idx="1">
                  <c:v>5</c:v>
                </c:pt>
                <c:pt idx="2">
                  <c:v>5</c:v>
                </c:pt>
                <c:pt idx="3">
                  <c:v>5</c:v>
                </c:pt>
                <c:pt idx="4">
                  <c:v>5</c:v>
                </c:pt>
              </c:numCache>
            </c:numRef>
          </c:yVal>
          <c:smooth val="0"/>
          <c:extLst>
            <c:ext xmlns:c16="http://schemas.microsoft.com/office/drawing/2014/chart" uri="{C3380CC4-5D6E-409C-BE32-E72D297353CC}">
              <c16:uniqueId val="{00000001-556A-6141-B854-7F188D98849E}"/>
            </c:ext>
          </c:extLst>
        </c:ser>
        <c:ser>
          <c:idx val="2"/>
          <c:order val="2"/>
          <c:tx>
            <c:v>95%-ный парный ДИ при K=30</c:v>
          </c:tx>
          <c:spPr>
            <a:ln w="24765">
              <a:solidFill>
                <a:srgbClr val="C95236"/>
              </a:solidFill>
            </a:ln>
          </c:spPr>
          <c:marker>
            <c:symbol val="none"/>
          </c:marker>
          <c:xVal>
            <c:numRef>
              <c:f>'Chart Data'!$E$2:$E$6</c:f>
              <c:numCache>
                <c:formatCode>General</c:formatCode>
                <c:ptCount val="5"/>
                <c:pt idx="0">
                  <c:v>1.0215790000000001E-2</c:v>
                </c:pt>
                <c:pt idx="1">
                  <c:v>1.1507409999999999E-2</c:v>
                </c:pt>
                <c:pt idx="2">
                  <c:v>1.1507409999999999E-2</c:v>
                </c:pt>
                <c:pt idx="3">
                  <c:v>1.1507409999999999E-2</c:v>
                </c:pt>
                <c:pt idx="4">
                  <c:v>1.1507409999999999E-2</c:v>
                </c:pt>
              </c:numCache>
            </c:numRef>
          </c:xVal>
          <c:yVal>
            <c:numRef>
              <c:f>'Chart Data'!$F$2:$F$6</c:f>
              <c:numCache>
                <c:formatCode>0.000</c:formatCode>
                <c:ptCount val="5"/>
                <c:pt idx="0">
                  <c:v>4</c:v>
                </c:pt>
                <c:pt idx="1">
                  <c:v>4</c:v>
                </c:pt>
                <c:pt idx="2">
                  <c:v>4</c:v>
                </c:pt>
                <c:pt idx="3">
                  <c:v>4</c:v>
                </c:pt>
                <c:pt idx="4">
                  <c:v>4</c:v>
                </c:pt>
              </c:numCache>
            </c:numRef>
          </c:yVal>
          <c:smooth val="0"/>
          <c:extLst>
            <c:ext xmlns:c16="http://schemas.microsoft.com/office/drawing/2014/chart" uri="{C3380CC4-5D6E-409C-BE32-E72D297353CC}">
              <c16:uniqueId val="{00000002-556A-6141-B854-7F188D98849E}"/>
            </c:ext>
          </c:extLst>
        </c:ser>
        <c:ser>
          <c:idx val="3"/>
          <c:order val="3"/>
          <c:tx>
            <c:v>95%-ный парный ДИ при K=50</c:v>
          </c:tx>
          <c:spPr>
            <a:ln w="24765">
              <a:solidFill>
                <a:srgbClr val="C95236"/>
              </a:solidFill>
            </a:ln>
          </c:spPr>
          <c:marker>
            <c:symbol val="none"/>
          </c:marker>
          <c:xVal>
            <c:numRef>
              <c:f>'Chart Data'!$G$2:$G$6</c:f>
              <c:numCache>
                <c:formatCode>General</c:formatCode>
                <c:ptCount val="5"/>
                <c:pt idx="0">
                  <c:v>7.8439800000000004E-3</c:v>
                </c:pt>
                <c:pt idx="1">
                  <c:v>9.2538900000000007E-3</c:v>
                </c:pt>
                <c:pt idx="2">
                  <c:v>9.2538900000000007E-3</c:v>
                </c:pt>
                <c:pt idx="3">
                  <c:v>9.2538900000000007E-3</c:v>
                </c:pt>
                <c:pt idx="4">
                  <c:v>9.2538900000000007E-3</c:v>
                </c:pt>
              </c:numCache>
            </c:numRef>
          </c:xVal>
          <c:yVal>
            <c:numRef>
              <c:f>'Chart Data'!$H$2:$H$6</c:f>
              <c:numCache>
                <c:formatCode>0.000</c:formatCode>
                <c:ptCount val="5"/>
                <c:pt idx="0">
                  <c:v>3</c:v>
                </c:pt>
                <c:pt idx="1">
                  <c:v>3</c:v>
                </c:pt>
                <c:pt idx="2">
                  <c:v>3</c:v>
                </c:pt>
                <c:pt idx="3">
                  <c:v>3</c:v>
                </c:pt>
                <c:pt idx="4">
                  <c:v>3</c:v>
                </c:pt>
              </c:numCache>
            </c:numRef>
          </c:yVal>
          <c:smooth val="0"/>
          <c:extLst>
            <c:ext xmlns:c16="http://schemas.microsoft.com/office/drawing/2014/chart" uri="{C3380CC4-5D6E-409C-BE32-E72D297353CC}">
              <c16:uniqueId val="{00000003-556A-6141-B854-7F188D98849E}"/>
            </c:ext>
          </c:extLst>
        </c:ser>
        <c:ser>
          <c:idx val="4"/>
          <c:order val="4"/>
          <c:tx>
            <c:v>95%-ный парный ДИ при K=100</c:v>
          </c:tx>
          <c:spPr>
            <a:ln w="24765">
              <a:solidFill>
                <a:srgbClr val="C95236"/>
              </a:solidFill>
            </a:ln>
          </c:spPr>
          <c:marker>
            <c:symbol val="none"/>
          </c:marker>
          <c:xVal>
            <c:numRef>
              <c:f>'Chart Data'!$I$2:$I$6</c:f>
              <c:numCache>
                <c:formatCode>General</c:formatCode>
                <c:ptCount val="5"/>
                <c:pt idx="0">
                  <c:v>7.0100600000000002E-3</c:v>
                </c:pt>
                <c:pt idx="1">
                  <c:v>8.4328800000000002E-3</c:v>
                </c:pt>
                <c:pt idx="2">
                  <c:v>8.4328800000000002E-3</c:v>
                </c:pt>
                <c:pt idx="3">
                  <c:v>8.4328800000000002E-3</c:v>
                </c:pt>
                <c:pt idx="4">
                  <c:v>8.4328800000000002E-3</c:v>
                </c:pt>
              </c:numCache>
            </c:numRef>
          </c:xVal>
          <c:yVal>
            <c:numRef>
              <c:f>'Chart Data'!$J$2:$J$6</c:f>
              <c:numCache>
                <c:formatCode>0.000</c:formatCode>
                <c:ptCount val="5"/>
                <c:pt idx="0">
                  <c:v>2</c:v>
                </c:pt>
                <c:pt idx="1">
                  <c:v>2</c:v>
                </c:pt>
                <c:pt idx="2">
                  <c:v>2</c:v>
                </c:pt>
                <c:pt idx="3">
                  <c:v>2</c:v>
                </c:pt>
                <c:pt idx="4">
                  <c:v>2</c:v>
                </c:pt>
              </c:numCache>
            </c:numRef>
          </c:yVal>
          <c:smooth val="0"/>
          <c:extLst>
            <c:ext xmlns:c16="http://schemas.microsoft.com/office/drawing/2014/chart" uri="{C3380CC4-5D6E-409C-BE32-E72D297353CC}">
              <c16:uniqueId val="{00000004-556A-6141-B854-7F188D98849E}"/>
            </c:ext>
          </c:extLst>
        </c:ser>
        <c:ser>
          <c:idx val="5"/>
          <c:order val="5"/>
          <c:tx>
            <c:v>95%-ный парный ДИ при K=200</c:v>
          </c:tx>
          <c:spPr>
            <a:ln w="24765">
              <a:solidFill>
                <a:srgbClr val="C95236"/>
              </a:solidFill>
            </a:ln>
          </c:spPr>
          <c:marker>
            <c:symbol val="none"/>
          </c:marker>
          <c:xVal>
            <c:numRef>
              <c:f>'Chart Data'!$K$2:$K$6</c:f>
              <c:numCache>
                <c:formatCode>General</c:formatCode>
                <c:ptCount val="5"/>
                <c:pt idx="0">
                  <c:v>8.1588000000000008E-3</c:v>
                </c:pt>
                <c:pt idx="1">
                  <c:v>9.5370300000000002E-3</c:v>
                </c:pt>
                <c:pt idx="2">
                  <c:v>9.5370300000000002E-3</c:v>
                </c:pt>
                <c:pt idx="3">
                  <c:v>9.5370300000000002E-3</c:v>
                </c:pt>
                <c:pt idx="4">
                  <c:v>9.5370300000000002E-3</c:v>
                </c:pt>
              </c:numCache>
            </c:numRef>
          </c:xVal>
          <c:yVal>
            <c:numRef>
              <c:f>'Chart Data'!$L$2:$L$6</c:f>
              <c:numCache>
                <c:formatCode>0.000</c:formatCode>
                <c:ptCount val="5"/>
                <c:pt idx="0">
                  <c:v>1</c:v>
                </c:pt>
                <c:pt idx="1">
                  <c:v>1</c:v>
                </c:pt>
                <c:pt idx="2">
                  <c:v>1</c:v>
                </c:pt>
                <c:pt idx="3">
                  <c:v>1</c:v>
                </c:pt>
                <c:pt idx="4">
                  <c:v>1</c:v>
                </c:pt>
              </c:numCache>
            </c:numRef>
          </c:yVal>
          <c:smooth val="0"/>
          <c:extLst>
            <c:ext xmlns:c16="http://schemas.microsoft.com/office/drawing/2014/chart" uri="{C3380CC4-5D6E-409C-BE32-E72D297353CC}">
              <c16:uniqueId val="{00000005-556A-6141-B854-7F188D98849E}"/>
            </c:ext>
          </c:extLst>
        </c:ser>
        <c:ser>
          <c:idx val="6"/>
          <c:order val="6"/>
          <c:tx>
            <c:v>Нижняя граница ДИ при K=10</c:v>
          </c:tx>
          <c:spPr>
            <a:ln w="17145">
              <a:solidFill>
                <a:srgbClr val="C95236"/>
              </a:solidFill>
            </a:ln>
          </c:spPr>
          <c:marker>
            <c:symbol val="none"/>
          </c:marker>
          <c:xVal>
            <c:numRef>
              <c:f>'Chart Data'!$M$2:$M$6</c:f>
              <c:numCache>
                <c:formatCode>General</c:formatCode>
                <c:ptCount val="5"/>
                <c:pt idx="0">
                  <c:v>-2.0236170000000001E-2</c:v>
                </c:pt>
                <c:pt idx="1">
                  <c:v>-2.0236170000000001E-2</c:v>
                </c:pt>
                <c:pt idx="2">
                  <c:v>-2.0236170000000001E-2</c:v>
                </c:pt>
                <c:pt idx="3">
                  <c:v>-2.0236170000000001E-2</c:v>
                </c:pt>
                <c:pt idx="4">
                  <c:v>-2.0236170000000001E-2</c:v>
                </c:pt>
              </c:numCache>
            </c:numRef>
          </c:xVal>
          <c:yVal>
            <c:numRef>
              <c:f>'Chart Data'!$N$2:$N$6</c:f>
              <c:numCache>
                <c:formatCode>0.000</c:formatCode>
                <c:ptCount val="5"/>
                <c:pt idx="0">
                  <c:v>4.9349999999999996</c:v>
                </c:pt>
                <c:pt idx="1">
                  <c:v>5.0650000000000004</c:v>
                </c:pt>
                <c:pt idx="2">
                  <c:v>5.0650000000000004</c:v>
                </c:pt>
                <c:pt idx="3">
                  <c:v>5.0650000000000004</c:v>
                </c:pt>
                <c:pt idx="4">
                  <c:v>5.0650000000000004</c:v>
                </c:pt>
              </c:numCache>
            </c:numRef>
          </c:yVal>
          <c:smooth val="0"/>
          <c:extLst>
            <c:ext xmlns:c16="http://schemas.microsoft.com/office/drawing/2014/chart" uri="{C3380CC4-5D6E-409C-BE32-E72D297353CC}">
              <c16:uniqueId val="{00000006-556A-6141-B854-7F188D98849E}"/>
            </c:ext>
          </c:extLst>
        </c:ser>
        <c:ser>
          <c:idx val="7"/>
          <c:order val="7"/>
          <c:tx>
            <c:v>Верхняя граница ДИ при K=10</c:v>
          </c:tx>
          <c:spPr>
            <a:ln w="17145">
              <a:solidFill>
                <a:srgbClr val="C95236"/>
              </a:solidFill>
            </a:ln>
          </c:spPr>
          <c:marker>
            <c:symbol val="none"/>
          </c:marker>
          <c:xVal>
            <c:numRef>
              <c:f>'Chart Data'!$O$2:$O$6</c:f>
              <c:numCache>
                <c:formatCode>General</c:formatCode>
                <c:ptCount val="5"/>
                <c:pt idx="0">
                  <c:v>-1.882729E-2</c:v>
                </c:pt>
                <c:pt idx="1">
                  <c:v>-1.882729E-2</c:v>
                </c:pt>
                <c:pt idx="2">
                  <c:v>-1.882729E-2</c:v>
                </c:pt>
                <c:pt idx="3">
                  <c:v>-1.882729E-2</c:v>
                </c:pt>
                <c:pt idx="4">
                  <c:v>-1.882729E-2</c:v>
                </c:pt>
              </c:numCache>
            </c:numRef>
          </c:xVal>
          <c:yVal>
            <c:numRef>
              <c:f>'Chart Data'!$P$2:$P$6</c:f>
              <c:numCache>
                <c:formatCode>0.000</c:formatCode>
                <c:ptCount val="5"/>
                <c:pt idx="0">
                  <c:v>4.9349999999999996</c:v>
                </c:pt>
                <c:pt idx="1">
                  <c:v>5.0650000000000004</c:v>
                </c:pt>
                <c:pt idx="2">
                  <c:v>5.0650000000000004</c:v>
                </c:pt>
                <c:pt idx="3">
                  <c:v>5.0650000000000004</c:v>
                </c:pt>
                <c:pt idx="4">
                  <c:v>5.0650000000000004</c:v>
                </c:pt>
              </c:numCache>
            </c:numRef>
          </c:yVal>
          <c:smooth val="0"/>
          <c:extLst>
            <c:ext xmlns:c16="http://schemas.microsoft.com/office/drawing/2014/chart" uri="{C3380CC4-5D6E-409C-BE32-E72D297353CC}">
              <c16:uniqueId val="{00000007-556A-6141-B854-7F188D98849E}"/>
            </c:ext>
          </c:extLst>
        </c:ser>
        <c:ser>
          <c:idx val="8"/>
          <c:order val="8"/>
          <c:tx>
            <c:v>Нижняя граница ДИ при K=30</c:v>
          </c:tx>
          <c:spPr>
            <a:ln w="17145">
              <a:solidFill>
                <a:srgbClr val="C95236"/>
              </a:solidFill>
            </a:ln>
          </c:spPr>
          <c:marker>
            <c:symbol val="none"/>
          </c:marker>
          <c:xVal>
            <c:numRef>
              <c:f>'Chart Data'!$Q$2:$Q$6</c:f>
              <c:numCache>
                <c:formatCode>General</c:formatCode>
                <c:ptCount val="5"/>
                <c:pt idx="0">
                  <c:v>1.0215790000000001E-2</c:v>
                </c:pt>
                <c:pt idx="1">
                  <c:v>1.0215790000000001E-2</c:v>
                </c:pt>
                <c:pt idx="2">
                  <c:v>1.0215790000000001E-2</c:v>
                </c:pt>
                <c:pt idx="3">
                  <c:v>1.0215790000000001E-2</c:v>
                </c:pt>
                <c:pt idx="4">
                  <c:v>1.0215790000000001E-2</c:v>
                </c:pt>
              </c:numCache>
            </c:numRef>
          </c:xVal>
          <c:yVal>
            <c:numRef>
              <c:f>'Chart Data'!$R$2:$R$6</c:f>
              <c:numCache>
                <c:formatCode>0.000</c:formatCode>
                <c:ptCount val="5"/>
                <c:pt idx="0">
                  <c:v>3.9350000000000001</c:v>
                </c:pt>
                <c:pt idx="1">
                  <c:v>4.0650000000000004</c:v>
                </c:pt>
                <c:pt idx="2">
                  <c:v>4.0650000000000004</c:v>
                </c:pt>
                <c:pt idx="3">
                  <c:v>4.0650000000000004</c:v>
                </c:pt>
                <c:pt idx="4">
                  <c:v>4.0650000000000004</c:v>
                </c:pt>
              </c:numCache>
            </c:numRef>
          </c:yVal>
          <c:smooth val="0"/>
          <c:extLst>
            <c:ext xmlns:c16="http://schemas.microsoft.com/office/drawing/2014/chart" uri="{C3380CC4-5D6E-409C-BE32-E72D297353CC}">
              <c16:uniqueId val="{00000008-556A-6141-B854-7F188D98849E}"/>
            </c:ext>
          </c:extLst>
        </c:ser>
        <c:ser>
          <c:idx val="9"/>
          <c:order val="9"/>
          <c:tx>
            <c:v>Верхняя граница ДИ при K=30</c:v>
          </c:tx>
          <c:spPr>
            <a:ln w="17145">
              <a:solidFill>
                <a:srgbClr val="C95236"/>
              </a:solidFill>
            </a:ln>
          </c:spPr>
          <c:marker>
            <c:symbol val="none"/>
          </c:marker>
          <c:xVal>
            <c:numRef>
              <c:f>'Chart Data'!$S$2:$S$6</c:f>
              <c:numCache>
                <c:formatCode>General</c:formatCode>
                <c:ptCount val="5"/>
                <c:pt idx="0">
                  <c:v>1.1507409999999999E-2</c:v>
                </c:pt>
                <c:pt idx="1">
                  <c:v>1.1507409999999999E-2</c:v>
                </c:pt>
                <c:pt idx="2">
                  <c:v>1.1507409999999999E-2</c:v>
                </c:pt>
                <c:pt idx="3">
                  <c:v>1.1507409999999999E-2</c:v>
                </c:pt>
                <c:pt idx="4">
                  <c:v>1.1507409999999999E-2</c:v>
                </c:pt>
              </c:numCache>
            </c:numRef>
          </c:xVal>
          <c:yVal>
            <c:numRef>
              <c:f>'Chart Data'!$T$2:$T$6</c:f>
              <c:numCache>
                <c:formatCode>0.000</c:formatCode>
                <c:ptCount val="5"/>
                <c:pt idx="0">
                  <c:v>3.9350000000000001</c:v>
                </c:pt>
                <c:pt idx="1">
                  <c:v>4.0650000000000004</c:v>
                </c:pt>
                <c:pt idx="2">
                  <c:v>4.0650000000000004</c:v>
                </c:pt>
                <c:pt idx="3">
                  <c:v>4.0650000000000004</c:v>
                </c:pt>
                <c:pt idx="4">
                  <c:v>4.0650000000000004</c:v>
                </c:pt>
              </c:numCache>
            </c:numRef>
          </c:yVal>
          <c:smooth val="0"/>
          <c:extLst>
            <c:ext xmlns:c16="http://schemas.microsoft.com/office/drawing/2014/chart" uri="{C3380CC4-5D6E-409C-BE32-E72D297353CC}">
              <c16:uniqueId val="{00000009-556A-6141-B854-7F188D98849E}"/>
            </c:ext>
          </c:extLst>
        </c:ser>
        <c:ser>
          <c:idx val="10"/>
          <c:order val="10"/>
          <c:tx>
            <c:v>Нижняя граница ДИ при K=50</c:v>
          </c:tx>
          <c:spPr>
            <a:ln w="17145">
              <a:solidFill>
                <a:srgbClr val="C95236"/>
              </a:solidFill>
            </a:ln>
          </c:spPr>
          <c:marker>
            <c:symbol val="none"/>
          </c:marker>
          <c:xVal>
            <c:numRef>
              <c:f>'Chart Data'!$U$2:$U$6</c:f>
              <c:numCache>
                <c:formatCode>General</c:formatCode>
                <c:ptCount val="5"/>
                <c:pt idx="0">
                  <c:v>7.8439800000000004E-3</c:v>
                </c:pt>
                <c:pt idx="1">
                  <c:v>7.8439800000000004E-3</c:v>
                </c:pt>
                <c:pt idx="2">
                  <c:v>7.8439800000000004E-3</c:v>
                </c:pt>
                <c:pt idx="3">
                  <c:v>7.8439800000000004E-3</c:v>
                </c:pt>
                <c:pt idx="4">
                  <c:v>7.8439800000000004E-3</c:v>
                </c:pt>
              </c:numCache>
            </c:numRef>
          </c:xVal>
          <c:yVal>
            <c:numRef>
              <c:f>'Chart Data'!$V$2:$V$6</c:f>
              <c:numCache>
                <c:formatCode>0.000</c:formatCode>
                <c:ptCount val="5"/>
                <c:pt idx="0">
                  <c:v>2.9350000000000001</c:v>
                </c:pt>
                <c:pt idx="1">
                  <c:v>3.0649999999999999</c:v>
                </c:pt>
                <c:pt idx="2">
                  <c:v>3.0649999999999999</c:v>
                </c:pt>
                <c:pt idx="3">
                  <c:v>3.0649999999999999</c:v>
                </c:pt>
                <c:pt idx="4">
                  <c:v>3.0649999999999999</c:v>
                </c:pt>
              </c:numCache>
            </c:numRef>
          </c:yVal>
          <c:smooth val="0"/>
          <c:extLst>
            <c:ext xmlns:c16="http://schemas.microsoft.com/office/drawing/2014/chart" uri="{C3380CC4-5D6E-409C-BE32-E72D297353CC}">
              <c16:uniqueId val="{0000000A-556A-6141-B854-7F188D98849E}"/>
            </c:ext>
          </c:extLst>
        </c:ser>
        <c:ser>
          <c:idx val="11"/>
          <c:order val="11"/>
          <c:tx>
            <c:v>Верхняя граница ДИ при K=50</c:v>
          </c:tx>
          <c:spPr>
            <a:ln w="17145">
              <a:solidFill>
                <a:srgbClr val="C95236"/>
              </a:solidFill>
            </a:ln>
          </c:spPr>
          <c:marker>
            <c:symbol val="none"/>
          </c:marker>
          <c:xVal>
            <c:numRef>
              <c:f>'Chart Data'!$W$2:$W$6</c:f>
              <c:numCache>
                <c:formatCode>General</c:formatCode>
                <c:ptCount val="5"/>
                <c:pt idx="0">
                  <c:v>9.2538900000000007E-3</c:v>
                </c:pt>
                <c:pt idx="1">
                  <c:v>9.2538900000000007E-3</c:v>
                </c:pt>
                <c:pt idx="2">
                  <c:v>9.2538900000000007E-3</c:v>
                </c:pt>
                <c:pt idx="3">
                  <c:v>9.2538900000000007E-3</c:v>
                </c:pt>
                <c:pt idx="4">
                  <c:v>9.2538900000000007E-3</c:v>
                </c:pt>
              </c:numCache>
            </c:numRef>
          </c:xVal>
          <c:yVal>
            <c:numRef>
              <c:f>'Chart Data'!$X$2:$X$6</c:f>
              <c:numCache>
                <c:formatCode>0.000</c:formatCode>
                <c:ptCount val="5"/>
                <c:pt idx="0">
                  <c:v>2.9350000000000001</c:v>
                </c:pt>
                <c:pt idx="1">
                  <c:v>3.0649999999999999</c:v>
                </c:pt>
                <c:pt idx="2">
                  <c:v>3.0649999999999999</c:v>
                </c:pt>
                <c:pt idx="3">
                  <c:v>3.0649999999999999</c:v>
                </c:pt>
                <c:pt idx="4">
                  <c:v>3.0649999999999999</c:v>
                </c:pt>
              </c:numCache>
            </c:numRef>
          </c:yVal>
          <c:smooth val="0"/>
          <c:extLst>
            <c:ext xmlns:c16="http://schemas.microsoft.com/office/drawing/2014/chart" uri="{C3380CC4-5D6E-409C-BE32-E72D297353CC}">
              <c16:uniqueId val="{0000000B-556A-6141-B854-7F188D98849E}"/>
            </c:ext>
          </c:extLst>
        </c:ser>
        <c:ser>
          <c:idx val="12"/>
          <c:order val="12"/>
          <c:tx>
            <c:v>Нижняя граница ДИ при K=100</c:v>
          </c:tx>
          <c:spPr>
            <a:ln w="17145">
              <a:solidFill>
                <a:srgbClr val="C95236"/>
              </a:solidFill>
            </a:ln>
          </c:spPr>
          <c:marker>
            <c:symbol val="none"/>
          </c:marker>
          <c:xVal>
            <c:numRef>
              <c:f>'Chart Data'!$Y$2:$Y$6</c:f>
              <c:numCache>
                <c:formatCode>General</c:formatCode>
                <c:ptCount val="5"/>
                <c:pt idx="0">
                  <c:v>7.0100600000000002E-3</c:v>
                </c:pt>
                <c:pt idx="1">
                  <c:v>7.0100600000000002E-3</c:v>
                </c:pt>
                <c:pt idx="2">
                  <c:v>7.0100600000000002E-3</c:v>
                </c:pt>
                <c:pt idx="3">
                  <c:v>7.0100600000000002E-3</c:v>
                </c:pt>
                <c:pt idx="4">
                  <c:v>7.0100600000000002E-3</c:v>
                </c:pt>
              </c:numCache>
            </c:numRef>
          </c:xVal>
          <c:yVal>
            <c:numRef>
              <c:f>'Chart Data'!$Z$2:$Z$6</c:f>
              <c:numCache>
                <c:formatCode>0.000</c:formatCode>
                <c:ptCount val="5"/>
                <c:pt idx="0">
                  <c:v>1.9350000000000001</c:v>
                </c:pt>
                <c:pt idx="1">
                  <c:v>2.0649999999999999</c:v>
                </c:pt>
                <c:pt idx="2">
                  <c:v>2.0649999999999999</c:v>
                </c:pt>
                <c:pt idx="3">
                  <c:v>2.0649999999999999</c:v>
                </c:pt>
                <c:pt idx="4">
                  <c:v>2.0649999999999999</c:v>
                </c:pt>
              </c:numCache>
            </c:numRef>
          </c:yVal>
          <c:smooth val="0"/>
          <c:extLst>
            <c:ext xmlns:c16="http://schemas.microsoft.com/office/drawing/2014/chart" uri="{C3380CC4-5D6E-409C-BE32-E72D297353CC}">
              <c16:uniqueId val="{0000000C-556A-6141-B854-7F188D98849E}"/>
            </c:ext>
          </c:extLst>
        </c:ser>
        <c:ser>
          <c:idx val="13"/>
          <c:order val="13"/>
          <c:tx>
            <c:v>Верхняя граница ДИ при K=100</c:v>
          </c:tx>
          <c:spPr>
            <a:ln w="17145">
              <a:solidFill>
                <a:srgbClr val="C95236"/>
              </a:solidFill>
            </a:ln>
          </c:spPr>
          <c:marker>
            <c:symbol val="none"/>
          </c:marker>
          <c:xVal>
            <c:numRef>
              <c:f>'Chart Data'!$AA$2:$AA$6</c:f>
              <c:numCache>
                <c:formatCode>General</c:formatCode>
                <c:ptCount val="5"/>
                <c:pt idx="0">
                  <c:v>8.4328800000000002E-3</c:v>
                </c:pt>
                <c:pt idx="1">
                  <c:v>8.4328800000000002E-3</c:v>
                </c:pt>
                <c:pt idx="2">
                  <c:v>8.4328800000000002E-3</c:v>
                </c:pt>
                <c:pt idx="3">
                  <c:v>8.4328800000000002E-3</c:v>
                </c:pt>
                <c:pt idx="4">
                  <c:v>8.4328800000000002E-3</c:v>
                </c:pt>
              </c:numCache>
            </c:numRef>
          </c:xVal>
          <c:yVal>
            <c:numRef>
              <c:f>'Chart Data'!$AB$2:$AB$6</c:f>
              <c:numCache>
                <c:formatCode>0.000</c:formatCode>
                <c:ptCount val="5"/>
                <c:pt idx="0">
                  <c:v>1.9350000000000001</c:v>
                </c:pt>
                <c:pt idx="1">
                  <c:v>2.0649999999999999</c:v>
                </c:pt>
                <c:pt idx="2">
                  <c:v>2.0649999999999999</c:v>
                </c:pt>
                <c:pt idx="3">
                  <c:v>2.0649999999999999</c:v>
                </c:pt>
                <c:pt idx="4">
                  <c:v>2.0649999999999999</c:v>
                </c:pt>
              </c:numCache>
            </c:numRef>
          </c:yVal>
          <c:smooth val="0"/>
          <c:extLst>
            <c:ext xmlns:c16="http://schemas.microsoft.com/office/drawing/2014/chart" uri="{C3380CC4-5D6E-409C-BE32-E72D297353CC}">
              <c16:uniqueId val="{0000000D-556A-6141-B854-7F188D98849E}"/>
            </c:ext>
          </c:extLst>
        </c:ser>
        <c:ser>
          <c:idx val="14"/>
          <c:order val="14"/>
          <c:tx>
            <c:v>Нижняя граница ДИ при K=200</c:v>
          </c:tx>
          <c:spPr>
            <a:ln w="17145">
              <a:solidFill>
                <a:srgbClr val="C95236"/>
              </a:solidFill>
            </a:ln>
          </c:spPr>
          <c:marker>
            <c:symbol val="none"/>
          </c:marker>
          <c:xVal>
            <c:numRef>
              <c:f>'Chart Data'!$AC$2:$AC$6</c:f>
              <c:numCache>
                <c:formatCode>General</c:formatCode>
                <c:ptCount val="5"/>
                <c:pt idx="0">
                  <c:v>8.1588000000000008E-3</c:v>
                </c:pt>
                <c:pt idx="1">
                  <c:v>8.1588000000000008E-3</c:v>
                </c:pt>
                <c:pt idx="2">
                  <c:v>8.1588000000000008E-3</c:v>
                </c:pt>
                <c:pt idx="3">
                  <c:v>8.1588000000000008E-3</c:v>
                </c:pt>
                <c:pt idx="4">
                  <c:v>8.1588000000000008E-3</c:v>
                </c:pt>
              </c:numCache>
            </c:numRef>
          </c:xVal>
          <c:yVal>
            <c:numRef>
              <c:f>'Chart Data'!$AD$2:$AD$6</c:f>
              <c:numCache>
                <c:formatCode>0.000</c:formatCode>
                <c:ptCount val="5"/>
                <c:pt idx="0">
                  <c:v>0.93500000000000005</c:v>
                </c:pt>
                <c:pt idx="1">
                  <c:v>1.0649999999999999</c:v>
                </c:pt>
                <c:pt idx="2">
                  <c:v>1.0649999999999999</c:v>
                </c:pt>
                <c:pt idx="3">
                  <c:v>1.0649999999999999</c:v>
                </c:pt>
                <c:pt idx="4">
                  <c:v>1.0649999999999999</c:v>
                </c:pt>
              </c:numCache>
            </c:numRef>
          </c:yVal>
          <c:smooth val="0"/>
          <c:extLst>
            <c:ext xmlns:c16="http://schemas.microsoft.com/office/drawing/2014/chart" uri="{C3380CC4-5D6E-409C-BE32-E72D297353CC}">
              <c16:uniqueId val="{0000000E-556A-6141-B854-7F188D98849E}"/>
            </c:ext>
          </c:extLst>
        </c:ser>
        <c:ser>
          <c:idx val="15"/>
          <c:order val="15"/>
          <c:tx>
            <c:v>Верхняя граница ДИ при K=200</c:v>
          </c:tx>
          <c:spPr>
            <a:ln w="17145">
              <a:solidFill>
                <a:srgbClr val="C95236"/>
              </a:solidFill>
            </a:ln>
          </c:spPr>
          <c:marker>
            <c:symbol val="none"/>
          </c:marker>
          <c:xVal>
            <c:numRef>
              <c:f>'Chart Data'!$AE$2:$AE$6</c:f>
              <c:numCache>
                <c:formatCode>General</c:formatCode>
                <c:ptCount val="5"/>
                <c:pt idx="0">
                  <c:v>9.5370300000000002E-3</c:v>
                </c:pt>
                <c:pt idx="1">
                  <c:v>9.5370300000000002E-3</c:v>
                </c:pt>
                <c:pt idx="2">
                  <c:v>9.5370300000000002E-3</c:v>
                </c:pt>
                <c:pt idx="3">
                  <c:v>9.5370300000000002E-3</c:v>
                </c:pt>
                <c:pt idx="4">
                  <c:v>9.5370300000000002E-3</c:v>
                </c:pt>
              </c:numCache>
            </c:numRef>
          </c:xVal>
          <c:yVal>
            <c:numRef>
              <c:f>'Chart Data'!$AF$2:$AF$6</c:f>
              <c:numCache>
                <c:formatCode>0.000</c:formatCode>
                <c:ptCount val="5"/>
                <c:pt idx="0">
                  <c:v>0.93500000000000005</c:v>
                </c:pt>
                <c:pt idx="1">
                  <c:v>1.0649999999999999</c:v>
                </c:pt>
                <c:pt idx="2">
                  <c:v>1.0649999999999999</c:v>
                </c:pt>
                <c:pt idx="3">
                  <c:v>1.0649999999999999</c:v>
                </c:pt>
                <c:pt idx="4">
                  <c:v>1.0649999999999999</c:v>
                </c:pt>
              </c:numCache>
            </c:numRef>
          </c:yVal>
          <c:smooth val="0"/>
          <c:extLst>
            <c:ext xmlns:c16="http://schemas.microsoft.com/office/drawing/2014/chart" uri="{C3380CC4-5D6E-409C-BE32-E72D297353CC}">
              <c16:uniqueId val="{0000000F-556A-6141-B854-7F188D98849E}"/>
            </c:ext>
          </c:extLst>
        </c:ser>
        <c:ser>
          <c:idx val="16"/>
          <c:order val="16"/>
          <c:tx>
            <c:v>Глубина пула</c:v>
          </c:tx>
          <c:spPr>
            <a:ln w="0">
              <a:noFill/>
            </a:ln>
          </c:spPr>
          <c:marker>
            <c:symbol val="none"/>
          </c:marker>
          <c:dLbls>
            <c:dLbl>
              <c:idx val="0"/>
              <c:tx>
                <c:rich>
                  <a:bodyPr/>
                  <a:lstStyle/>
                  <a:p>
                    <a:r>
                      <a:rPr lang="en" sz="1950">
                        <a:solidFill>
                          <a:srgbClr val="526970"/>
                        </a:solidFill>
                        <a:latin typeface="Arial"/>
                        <a:ea typeface="Arial"/>
                        <a:cs typeface="Arial"/>
                      </a:rPr>
                      <a:t>K = 10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556A-6141-B854-7F188D98849E}"/>
                </c:ext>
              </c:extLst>
            </c:dLbl>
            <c:dLbl>
              <c:idx val="1"/>
              <c:tx>
                <c:rich>
                  <a:bodyPr/>
                  <a:lstStyle/>
                  <a:p>
                    <a:r>
                      <a:rPr lang="en" sz="1950">
                        <a:solidFill>
                          <a:srgbClr val="526970"/>
                        </a:solidFill>
                        <a:latin typeface="Arial"/>
                        <a:ea typeface="Arial"/>
                        <a:cs typeface="Arial"/>
                      </a:rPr>
                      <a:t>K = 30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556A-6141-B854-7F188D98849E}"/>
                </c:ext>
              </c:extLst>
            </c:dLbl>
            <c:dLbl>
              <c:idx val="2"/>
              <c:tx>
                <c:rich>
                  <a:bodyPr/>
                  <a:lstStyle/>
                  <a:p>
                    <a:r>
                      <a:rPr lang="en" sz="1950">
                        <a:solidFill>
                          <a:srgbClr val="526970"/>
                        </a:solidFill>
                        <a:latin typeface="Arial"/>
                        <a:ea typeface="Arial"/>
                        <a:cs typeface="Arial"/>
                      </a:rPr>
                      <a:t>K = 50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2-556A-6141-B854-7F188D98849E}"/>
                </c:ext>
              </c:extLst>
            </c:dLbl>
            <c:dLbl>
              <c:idx val="3"/>
              <c:tx>
                <c:rich>
                  <a:bodyPr/>
                  <a:lstStyle/>
                  <a:p>
                    <a:r>
                      <a:rPr lang="en" sz="1950">
                        <a:solidFill>
                          <a:srgbClr val="526970"/>
                        </a:solidFill>
                        <a:latin typeface="Arial"/>
                        <a:ea typeface="Arial"/>
                        <a:cs typeface="Arial"/>
                      </a:rPr>
                      <a:t>K = 100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556A-6141-B854-7F188D98849E}"/>
                </c:ext>
              </c:extLst>
            </c:dLbl>
            <c:dLbl>
              <c:idx val="4"/>
              <c:tx>
                <c:rich>
                  <a:bodyPr/>
                  <a:lstStyle/>
                  <a:p>
                    <a:r>
                      <a:rPr lang="en" sz="1950">
                        <a:solidFill>
                          <a:srgbClr val="526970"/>
                        </a:solidFill>
                        <a:latin typeface="Arial"/>
                        <a:ea typeface="Arial"/>
                        <a:cs typeface="Arial"/>
                      </a:rPr>
                      <a:t>K = 200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4-556A-6141-B854-7F188D98849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extLst>
            <c:ext xmlns:c16="http://schemas.microsoft.com/office/drawing/2014/chart" uri="{C3380CC4-5D6E-409C-BE32-E72D297353CC}">
              <c16:uniqueId val="{00000015-556A-6141-B854-7F188D98849E}"/>
            </c:ext>
          </c:extLst>
        </c:ser>
        <c:ser>
          <c:idx val="17"/>
          <c:order val="17"/>
          <c:tx>
            <c:v>RRF минус E5 по горизонтали</c:v>
          </c:tx>
          <c:spPr>
            <a:ln w="0">
              <a:noFill/>
            </a:ln>
          </c:spPr>
          <c:marker>
            <c:symbol val="circle"/>
            <c:size val="4"/>
            <c:spPr>
              <a:solidFill>
                <a:srgbClr val="C95236"/>
              </a:solidFill>
              <a:ln w="0">
                <a:noFill/>
              </a:ln>
            </c:spPr>
          </c:marker>
          <c:errBars>
            <c:errDir val="x"/>
            <c:errBarType val="both"/>
            <c:errValType val="cust"/>
            <c:noEndCap val="0"/>
            <c:plus>
              <c:numLit>
                <c:formatCode>0.00000000</c:formatCode>
                <c:ptCount val="5"/>
                <c:pt idx="0">
                  <c:v>6.9373999999999998E-4</c:v>
                </c:pt>
                <c:pt idx="1">
                  <c:v>6.4972999999999995E-4</c:v>
                </c:pt>
                <c:pt idx="2">
                  <c:v>7.1120000000000005E-4</c:v>
                </c:pt>
                <c:pt idx="3">
                  <c:v>7.2097000000000003E-4</c:v>
                </c:pt>
                <c:pt idx="4">
                  <c:v>7.0509999999999995E-4</c:v>
                </c:pt>
              </c:numLit>
            </c:plus>
            <c:minus>
              <c:numLit>
                <c:formatCode>0.00000000</c:formatCode>
                <c:ptCount val="5"/>
                <c:pt idx="0">
                  <c:v>7.1513999999999996E-4</c:v>
                </c:pt>
                <c:pt idx="1">
                  <c:v>6.4189E-4</c:v>
                </c:pt>
                <c:pt idx="2">
                  <c:v>6.9870999999999996E-4</c:v>
                </c:pt>
                <c:pt idx="3">
                  <c:v>7.0184999999999996E-4</c:v>
                </c:pt>
                <c:pt idx="4">
                  <c:v>6.7312999999999997E-4</c:v>
                </c:pt>
              </c:numLit>
            </c:minus>
            <c:spPr>
              <a:ln w="22860">
                <a:solidFill>
                  <a:srgbClr val="C95236"/>
                </a:solidFill>
              </a:ln>
            </c:spPr>
          </c:errBars>
          <c:xVal>
            <c:numRef>
              <c:f>'Chart Data'!$AI$2:$AI$6</c:f>
              <c:numCache>
                <c:formatCode>General</c:formatCode>
                <c:ptCount val="5"/>
                <c:pt idx="0">
                  <c:v>-1.9521030000000002E-2</c:v>
                </c:pt>
                <c:pt idx="1">
                  <c:v>1.085768E-2</c:v>
                </c:pt>
                <c:pt idx="2">
                  <c:v>8.5426900000000004E-3</c:v>
                </c:pt>
                <c:pt idx="3">
                  <c:v>7.7119099999999998E-3</c:v>
                </c:pt>
                <c:pt idx="4">
                  <c:v>8.83193E-3</c:v>
                </c:pt>
              </c:numCache>
            </c:numRef>
          </c:xVal>
          <c:yVal>
            <c:numRef>
              <c:f>'Chart Data'!$AJ$2:$AJ$6</c:f>
              <c:numCache>
                <c:formatCode>0.000</c:formatCode>
                <c:ptCount val="5"/>
                <c:pt idx="0">
                  <c:v>5</c:v>
                </c:pt>
                <c:pt idx="1">
                  <c:v>4</c:v>
                </c:pt>
                <c:pt idx="2">
                  <c:v>3</c:v>
                </c:pt>
                <c:pt idx="3">
                  <c:v>2</c:v>
                </c:pt>
                <c:pt idx="4">
                  <c:v>1</c:v>
                </c:pt>
              </c:numCache>
            </c:numRef>
          </c:yVal>
          <c:smooth val="0"/>
          <c:extLst>
            <c:ext xmlns:c16="http://schemas.microsoft.com/office/drawing/2014/chart" uri="{C3380CC4-5D6E-409C-BE32-E72D297353CC}">
              <c16:uniqueId val="{00000016-556A-6141-B854-7F188D98849E}"/>
            </c:ext>
          </c:extLst>
        </c:ser>
        <c:dLbls>
          <c:showLegendKey val="0"/>
          <c:showVal val="0"/>
          <c:showCatName val="0"/>
          <c:showSerName val="0"/>
          <c:showPercent val="0"/>
          <c:showBubbleSize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w="0">
            <a:no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1"/>
      </c:valAx>
      <c:valAx>
        <c:axId val="48650112"/>
        <c:scaling>
          <c:orientation val="minMax"/>
          <c:max val="0.02"/>
          <c:min val="-0.03"/>
        </c:scaling>
        <c:delete val="0"/>
        <c:axPos val="b"/>
        <c:title>
          <c:tx>
            <c:rich>
              <a:bodyPr/>
              <a:lstStyle/>
              <a:p>
                <a:r>
                  <a:rPr lang="en" sz="1800" b="0">
                    <a:solidFill>
                      <a:srgbClr val="526970"/>
                    </a:solidFill>
                    <a:latin typeface="Arial"/>
                    <a:ea typeface="Arial"/>
                    <a:cs typeface="Arial"/>
                  </a:rPr>
                  <a:t>NDCG@10</a:t>
                </a:r>
                <a:r>
                  <a:rPr lang="en" sz="1800" b="0" baseline="-25000">
                    <a:solidFill>
                      <a:srgbClr val="526970"/>
                    </a:solidFill>
                    <a:latin typeface="Arial"/>
                    <a:ea typeface="Arial"/>
                    <a:cs typeface="Arial"/>
                  </a:rPr>
                  <a:t>RRF</a:t>
                </a:r>
                <a:r>
                  <a:rPr lang="en" sz="1800" b="0">
                    <a:solidFill>
                      <a:srgbClr val="526970"/>
                    </a:solidFill>
                    <a:latin typeface="Arial"/>
                    <a:ea typeface="Arial"/>
                    <a:cs typeface="Arial"/>
                  </a:rPr>
                  <a:t> − NDCG@10</a:t>
                </a:r>
                <a:r>
                  <a:rPr lang="en" sz="1800" b="0" baseline="-25000">
                    <a:solidFill>
                      <a:srgbClr val="526970"/>
                    </a:solidFill>
                    <a:latin typeface="Arial"/>
                    <a:ea typeface="Arial"/>
                    <a:cs typeface="Arial"/>
                  </a:rPr>
                  <a:t>E5</a:t>
                </a:r>
              </a:p>
            </c:rich>
          </c:tx>
          <c:overlay val="0"/>
        </c:title>
        <c:numFmt formatCode="\+0.00;\-0.00;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0.0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Нулевая разность</c:v>
          </c:tx>
          <c:spPr>
            <a:l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extLst>
            <c:ext xmlns:c16="http://schemas.microsoft.com/office/drawing/2014/chart" uri="{C3380CC4-5D6E-409C-BE32-E72D297353CC}">
              <c16:uniqueId val="{00000000-5113-0241-9301-39E7D94AC771}"/>
            </c:ext>
          </c:extLst>
        </c:ser>
        <c:ser>
          <c:idx val="1"/>
          <c:order val="1"/>
          <c:tx>
            <c:v>RRF минус E5</c:v>
          </c:tx>
          <c:spPr>
            <a:ln w="28575">
              <a:solidFill>
                <a:srgbClr val="007F78"/>
              </a:solidFill>
            </a:ln>
          </c:spPr>
          <c:marker>
            <c:symbol val="circle"/>
            <c:size val="3"/>
            <c:spPr>
              <a:solidFill>
                <a:srgbClr val="007F78"/>
              </a:solidFill>
              <a:ln w="0">
                <a:noFill/>
              </a:ln>
            </c:spPr>
          </c:marker>
          <c:errBars>
            <c:errDir val="y"/>
            <c:errBarType val="both"/>
            <c:errValType val="cust"/>
            <c:noEndCap val="0"/>
            <c:plus>
              <c:numLit>
                <c:formatCode>0.00000000</c:formatCode>
                <c:ptCount val="5"/>
                <c:pt idx="0">
                  <c:v>9.4826999999999997E-4</c:v>
                </c:pt>
                <c:pt idx="1">
                  <c:v>7.4348999999999997E-4</c:v>
                </c:pt>
                <c:pt idx="2">
                  <c:v>7.1776999999999995E-4</c:v>
                </c:pt>
                <c:pt idx="3">
                  <c:v>7.1668000000000003E-4</c:v>
                </c:pt>
                <c:pt idx="4">
                  <c:v>7.0509999999999995E-4</c:v>
                </c:pt>
              </c:numLit>
            </c:plus>
            <c:minus>
              <c:numLit>
                <c:formatCode>0.00000000</c:formatCode>
                <c:ptCount val="5"/>
                <c:pt idx="0">
                  <c:v>9.5151000000000003E-4</c:v>
                </c:pt>
                <c:pt idx="1">
                  <c:v>7.3647999999999997E-4</c:v>
                </c:pt>
                <c:pt idx="2">
                  <c:v>7.0542000000000001E-4</c:v>
                </c:pt>
                <c:pt idx="3">
                  <c:v>6.8097999999999998E-4</c:v>
                </c:pt>
                <c:pt idx="4">
                  <c:v>6.7312999999999997E-4</c:v>
                </c:pt>
              </c:numLit>
            </c:minus>
            <c:spPr>
              <a:ln w="22860">
                <a:solidFill>
                  <a:srgbClr val="007F78"/>
                </a:solidFill>
              </a: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-6.6116949999999994E-2</c:v>
                </c:pt>
                <c:pt idx="1">
                  <c:v>8.0127400000000008E-3</c:v>
                </c:pt>
                <c:pt idx="2">
                  <c:v>8.9887300000000003E-3</c:v>
                </c:pt>
                <c:pt idx="3">
                  <c:v>8.9089100000000008E-3</c:v>
                </c:pt>
                <c:pt idx="4">
                  <c:v>8.83193E-3</c:v>
                </c:pt>
              </c:numCache>
            </c:numRef>
          </c:yVal>
          <c:smooth val="0"/>
          <c:extLst>
            <c:ext xmlns:c16="http://schemas.microsoft.com/office/drawing/2014/chart" uri="{C3380CC4-5D6E-409C-BE32-E72D297353CC}">
              <c16:uniqueId val="{00000001-5113-0241-9301-39E7D94AC771}"/>
            </c:ext>
          </c:extLst>
        </c:ser>
        <c:dLbls>
          <c:showLegendKey val="0"/>
          <c:showVal val="0"/>
          <c:showCatName val="0"/>
          <c:showSerName val="0"/>
          <c:showPercent val="0"/>
          <c:showBubbleSize val="0"/>
        </c:dLbls>
        <c:axId val="48650112"/>
        <c:axId val="48672768"/>
      </c:scatterChart>
      <c:valAx>
        <c:axId val="48672768"/>
        <c:scaling>
          <c:orientation val="minMax"/>
          <c:max val="0.02"/>
          <c:min val="-0.08"/>
        </c:scaling>
        <c:delete val="0"/>
        <c:axPos val="l"/>
        <c:majorGridlines>
          <c:spPr>
            <a:ln w="9525">
              <a:solidFill>
                <a:srgbClr val="D4E1E0"/>
              </a:solidFill>
            </a:ln>
          </c:spPr>
        </c:majorGridlines>
        <c:title>
          <c:tx>
            <c:rich>
              <a:bodyPr/>
              <a:lstStyle/>
              <a:p>
                <a:r>
                  <a:rPr lang="ru-RU" sz="1800" b="0">
                    <a:solidFill>
                      <a:srgbClr val="526970"/>
                    </a:solidFill>
                    <a:latin typeface="Arial"/>
                    <a:ea typeface="Arial"/>
                    <a:cs typeface="Arial"/>
                  </a:rPr>
                  <a:t>Разность </a:t>
                </a:r>
                <a:r>
                  <a:rPr lang="en" sz="1800" b="0">
                    <a:solidFill>
                      <a:srgbClr val="526970"/>
                    </a:solidFill>
                    <a:latin typeface="Arial"/>
                    <a:ea typeface="Arial"/>
                    <a:cs typeface="Arial"/>
                  </a:rPr>
                  <a:t>NDCG@10</a:t>
                </a:r>
              </a:p>
            </c:rich>
          </c:tx>
          <c:overlay val="0"/>
        </c:title>
        <c:numFmt formatCode="\+0.00;\-0.00;0" sourceLinked="0"/>
        <c:majorTickMark val="none"/>
        <c:minorTickMark val="none"/>
        <c:tickLblPos val="nextTo"/>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0.02"/>
      </c:valAx>
      <c:valAx>
        <c:axId val="48650112"/>
        <c:scaling>
          <c:orientation val="minMax"/>
          <c:max val="210"/>
          <c:min val="0"/>
        </c:scaling>
        <c:delete val="0"/>
        <c:axPos val="b"/>
        <c:title>
          <c:tx>
            <c:rich>
              <a:bodyPr/>
              <a:lstStyle/>
              <a:p>
                <a:r>
                  <a:rPr lang="ru-RU" sz="1800" b="0">
                    <a:solidFill>
                      <a:srgbClr val="526970"/>
                    </a:solidFill>
                    <a:latin typeface="Arial"/>
                    <a:ea typeface="Arial"/>
                    <a:cs typeface="Arial"/>
                  </a:rPr>
                  <a:t>Глубина оценочного пула </a:t>
                </a:r>
                <a:r>
                  <a:rPr lang="en" sz="1800" b="0">
                    <a:solidFill>
                      <a:srgbClr val="526970"/>
                    </a:solidFill>
                    <a:latin typeface="Arial"/>
                    <a:ea typeface="Arial"/>
                    <a:cs typeface="Arial"/>
                  </a:rPr>
                  <a:t>K</a:t>
                </a:r>
              </a:p>
            </c:rich>
          </c:tx>
          <c:overlay val="0"/>
        </c:title>
        <c:numFmt formatCode="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5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Здравствуйте!  Я представлю нашу работу по углубленной доразметке MS MARCO и оценке поиска на контролируемых пулах кандидатов, .</a:t>
            </a:r>
          </a:p>
          <a:p>
            <a:r>
              <a: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a:t>
            </a:r>
          </a:p>
          <a:p>
            <a:r>
              <a: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https://arxiv.org/abs/1611.09268</a:t>
            </a:r>
          </a:p>
          <a:p>
            <a:r>
              <a:t>Natural Questions: https://aclanthology.org/Q19-1026/</a:t>
            </a:r>
          </a:p>
          <a:p>
            <a:r>
              <a:t>BEIR: https://arxiv.org/abs/2104.08663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a:t>
            </a:r>
          </a:p>
          <a:p>
            <a:r>
              <a:t>Размах опубликованных оценок составляет 0,014. Значения близки, но это еще не доказывает ни равенство систем, ни неполноту разметки. Мы задаем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ее с этой таблицей нельзя.</a:t>
            </a:r>
          </a:p>
          <a:p>
            <a:r>
              <a:t>Источники</a:t>
            </a:r>
          </a:p>
          <a:p>
            <a:r>
              <a:t>, G. , N. . Deep Re-annotation and Controlled Candidate Pools for Re-evaluating Ranking Models on MS MARCO. DAMDID 2026. Результаты экспериментов в контролируемых пулах.</a:t>
            </a:r>
          </a:p>
          <a:p>
            <a:r>
              <a:t>Историческая таблица MS MARCO Passage Ranking, срез 30 ноября 2022 года. https://github.com/microsoft/MSMARCO-Passage-Ranking-Submissions/blob/abb44144f563e7972d5131f5d6acc2092877964c/leaderboard/leaderboard.csv</a:t>
            </a:r>
          </a:p>
          <a:p>
            <a:r>
              <a:t>Показаны четыре лучшие именованные заявки по eval среди full ranking. Анонимные заявки не включены. Значения округлены как в официальном CSV. https://microsoft.github.io/msmarco/Submission.html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растворенного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ее повышения.</a:t>
            </a:r>
          </a:p>
          <a:p>
            <a:r>
              <a:t>Оценки релевантности обычно называют qrels, от английского query relevance judgments. Это оценки того, насколько текст соответствует запросу. В нашем расчете метрики неразмеченный фрагмент дает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Сначала рассмотрим человеческие оценки. В англоязычном корпусе MS MARCO около 8,84 миллиона фрагментов. Стандартная оценочная подвыборка dev/small содержит 6 980 запросов и 7 437 исходных положительных пар. Пара здесь означает один запрос и один фрагмент, связанный с ним оценкой релевантности.</a:t>
            </a:r>
          </a:p>
          <a:p>
            <a:r>
              <a:t>Из dev/small взяты 1 179 запросов для расширенной ручной разметки. Для них оценены 33 667 различных пар. Под углубленной доразметкой мы понимаем оценку нескольких кандидатов для каждого запроса внутри заданного пула. Речь идет об охвате разметки, а не о глубине нейросети или полной разметке всего корпуса.</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Passage Ranking v1. https://ir-datasets.com/msmarco-passage.html#msmarco-passage/dev</a:t>
            </a:r>
          </a:p>
          <a:p>
            <a:r>
              <a:t>Архив запросов: https://msmarco.z22.web.core.windows.net/msmarcoranking/queries.tar.gz</a:t>
            </a:r>
          </a:p>
          <a:p>
            <a:r>
              <a:t>MS MARCO Passage Ranking dev/small. https://ir-datasets.com/msmarco-passage.html#msmarco-passage/dev/small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сохраненный список, полученный поиском по запросу, добавляет в пул десять результатов.</a:t>
            </a:r>
          </a:p>
          <a:p>
            <a:r>
              <a: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a:t>
            </a:r>
          </a:p>
          <a:p>
            <a:r>
              <a: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a:t>
            </a:r>
          </a:p>
          <a:p>
            <a:r>
              <a: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a:t>
            </a:r>
          </a:p>
          <a:p>
            <a:r>
              <a: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ее влияние на измеряемое качество при неизменной выдаче.</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Качество ранжирования мы измеряем с помощью NDCG на первых десяти позициях. Метрика дает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a:t>
            </a:r>
          </a:p>
          <a:p>
            <a:r>
              <a:t>В сравнение включен и RRF, метод слияния по обратным рангам. Он объединяет списки BM25, E5 и BGE, используя позиции результатов, а не исходные численные оценки этих моделей.</a:t>
            </a:r>
          </a:p>
          <a:p>
            <a:r>
              <a:t>Оранжевые столбцы соответствуют исходным qrels, а зеленые показывают результаты по ручной разметке. Среднее качество растет у всех четырех систем. У E5 значение NDCG увеличивается с 0,488 до 0,879. Средний прирост в парном сравнении составляет около 0,391; под графиком приведен 95-процентный доверительный интервал этого прироста.</a:t>
            </a:r>
          </a:p>
          <a:p>
            <a:r>
              <a:t>Здесь изменилась оценка качества благодаря более полной разметке. Сами поисковые системы мы не улучшали и не переобучали. Их порядок остается прежним: E5, RRF, BGE и BM25. Это результаты внутри размеченных пулов, а не показатели поиска по всему корпусу для общей таблицы лидеров.</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Человеческие оценки позволили измерить эффект доразметки. Но проверять вручную гораздо более крупные пулы дорого. Поэтому мы дообучили компактный кросс-энкодер MiniLM на этих оценках и используем его как модель-судью. Он предсказывает релевантность пары из запроса и фрагмента. Такие предсказания называем псевдометками, чтобы отличать их от человеческих оценок.</a:t>
            </a:r>
          </a:p>
          <a:p>
            <a:r>
              <a: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a:t>
            </a:r>
          </a:p>
          <a:p>
            <a:r>
              <a:t>Ручная разметка нужна и для дообучения судьи, и для проверки его ошибок на отложенных запросах. Поисковые модели при этом сохраняют свою роль: они находят кандидатов, которых затем оценивает судья. Сначала покажу, насколько его предсказания согласуются с человеческими оценками.</a:t>
            </a:r>
          </a:p>
          <a:p>
            <a:r>
              <a:t>Источники</a:t>
            </a:r>
          </a:p>
          <a:p>
            <a:r>
              <a:t>, G. , N. . Deep Re-annotation and Controlled Candidate Pools for Re-evaluating Ranking Models on MS MARCO. DAMDID 2026. Результаты экспериментов в контролируемых пулах.</a:t>
            </a:r>
          </a:p>
          <a:p>
            <a:r>
              <a:t>Wang et al. MiniLM. 2020. https://arxiv.org/abs/2002.10957</a:t>
            </a:r>
          </a:p>
          <a:p>
            <a:r>
              <a:t>Исходная модель: https://huggingface.co/cross-encoder/ms-marco-MiniLM-L6-v2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Всю ручную подвыборку разделили по запросам: 825 для дообучения, 177 для валидации и 177 для теста. Все пары одного запроса остаются в одной части. Это наше внутреннее разбиение для судьи внутри dev/small, а не исходные train и test всего MS MARCO.</a:t>
            </a:r>
          </a:p>
          <a:p>
            <a:r>
              <a:t>На валидационной части выбрали порог минус 0,2187. Если выходной балл судьи не ниже этого порога, присваиваем положительную псевдометку. Отрицательный порог допустим: модель выдает балл, а не вероятность. После выбора порога его фиксируем.</a:t>
            </a:r>
          </a:p>
          <a:p>
            <a:r>
              <a:t>На тестовых 177 запросах и 5 002 парах площадь под ROC-кривой составляет 0,907, а F1 при выбранном пороге равна 0,875. Точность составляет 0,851, полнота 0,902. Это согласие с человеческими оценками в ручных пулах. Проверка не гарантирует такого же качества на более глубоких пулах.</a:t>
            </a:r>
          </a:p>
          <a:p>
            <a:r>
              <a:t>Источники</a:t>
            </a:r>
          </a:p>
          <a:p>
            <a:r>
              <a:t>, G. , N. . Deep Re-annotation and Controlled Candidate Pools for Re-evaluating Ranking Models on MS MARCO. DAMDID 2026. Результаты экспериментов в контролируемых пулах.</a:t>
            </a:r>
          </a:p>
          <a:p>
            <a:r>
              <a:t>Wang et al. MiniLM. 2020. https://arxiv.org/abs/2002.10957</a:t>
            </a:r>
          </a:p>
          <a:p>
            <a:r>
              <a:t>Исходная модель: https://huggingface.co/cross-encoder/ms-marco-MiniLM-L6-v2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Теперь переходим от ручной подвыборки к полной dev-части MS MARCO Passage Ranking. Она содержит 101 093 запроса. Для каждого запроса поисковые модели заранее нашли фрагменты-кандидаты, а обученный судья оценивает их релевантность. Это число запросов; фрагментов и пар «запрос-фрагмент» намного больше.</a:t>
            </a:r>
          </a:p>
          <a:p>
            <a:r>
              <a:t>Внутри полной dev-части есть стандартная оценочная подвыборка dev/small из 6 980 запросов. Из нее взяты наши 1 179 запросов с расширенной ручной разметкой. Судью дообучали только на обучающей части этой ручной подвыборки. Теперь используем его предсказания для кандидатов по всем 101 093 запросам. Человеческими метками эти предсказания не подменяем. Отдельно проверим, сохраняются ли результаты без запросов из ручной подвыборки.</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Passage Ranking v1. https://ir-datasets.com/msmarco-passage.html#msmarco-passage/dev</a:t>
            </a:r>
          </a:p>
          <a:p>
            <a:r>
              <a:t>Архив запросов: https://msmarco.z22.web.core.windows.net/msmarcoranking/queries.tar.gz</a:t>
            </a:r>
          </a:p>
          <a:p>
            <a:r>
              <a:t>MS MARCO Passage Ranking dev/small. https://ir-datasets.com/msmarco-passage.html#msmarco-passage/dev/small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Пул для судьи строится так. Для каждого запроса берем первые K результатов BM25, E5 и BGE, объединяем их и удаляем повторяющиеся фрагменты. Затем судья получает каждую пару из запроса и кандидата и присваивает ей псевдометку.</a:t>
            </a:r>
          </a:p>
          <a:p>
            <a:r>
              <a:t>K называют глубиной пула: это число результатов от одного метода до объединения. Например, при K, равном десяти, три списка дают не более тридцати уникальных кандидатов. После удаления повторов их обычно меньше. Мы проверяем K от десяти до двухсот. Модель и порог минус 0,2187 остаются прежними, меняется только набор оцениваемых кандидатов.</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При увеличении K с десяти до двухсот средний размер пула растет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a:t>
            </a:r>
          </a:p>
          <a:p>
            <a:r>
              <a: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Зачем здесь RRF? Лексический поиск BM25 и векторные модели E5 и BGE могут находить разные полезные фрагменты. Мы хотим проверить, помогает ли простое объединение их выдач, и насколько ответ зависит от полноты разметки.</a:t>
            </a:r>
          </a:p>
          <a:p>
            <a:r>
              <a:t>RRF означает слияние по обратным рангам. Для каждого фрагмента смотрим его место в выдаче BM25, E5 и BGE. Каждый список, в котором он найден, добавляет один, деленный на шестьдесят плюс место. Эти вклады складываем и сортируем фрагменты по сумме. У трех систем одинаковый вес.</a:t>
            </a:r>
          </a:p>
          <a:p>
            <a:r>
              <a:t>Например, фрагмент попал в первые L результатов E5 и BGE, но не попал в первые L результатов BM25. Тогда складываются только два вклада: от E5 и BGE. BM25 этому фрагменту ничего не добавляет. Фрагмент при этом остается кандидатом для итоговой выдачи RRF.</a:t>
            </a:r>
          </a:p>
          <a:p>
            <a:r>
              <a:t>Поэтому RRF объединяет позиции, а не усредняет исходные баллы трех моделей. Это удобно, потому что их баллы имеют разные шкалы. На выходе получаем один итоговый ранжированный список. Оценки судьи не участвуют в его построении: они нужны для последующего сравнения качества.</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Здесь мы сравниваем RRF с E5 и различаем две глубины. K задает число результатов от каждой системы в пуле для разметки. L задает число результатов, поступающих на слияние рангов. В этой конфигурации обе величины растут вместе: L равно K.</a:t>
            </a:r>
          </a:p>
          <a:p>
            <a:r>
              <a:t>Почему берем больше десяти результатов, хотя считаем NDCG по первой десятке? Потому что десять в NDCG относится к итоговому списку после слияния. Фрагмент, стоящий одиннадцатым у всех трех систем, при L, равном десяти, вообще не попадет в RRF. При L не меньше одиннадцати он получит сразу три вклада и может войти в итоговый топ-10. Поэтому более глубокие входные списки способны изменить и состав первой десятки, и порядок внутри нее.</a:t>
            </a:r>
          </a:p>
          <a:p>
            <a:r>
              <a:t>По горизонтальной оси отложена разность двух значений NDCG@10: значение для RRF минус значение для E5. Значения слева от нуля означают преимущество E5, справа от нуля преимущество RRF. При K, равном десяти, RRF уступает. На четырех больших глубинах разность небольшая, но положительная. При глубине двести она составляет около 0,0088.</a:t>
            </a:r>
          </a:p>
          <a:p>
            <a:r>
              <a:t>Горизонтальные отрезки показывают 95-процентные доверительные интервалы разности. Здесь одновременно меняются и охват разметки, и входные списки для слияния. Чтобы выделить влияние охвата, дальше зафиксируем ранжирование.</a:t>
            </a:r>
          </a:p>
          <a:p>
            <a:r>
              <a:t>Источники</a:t>
            </a:r>
          </a:p>
          <a:p>
            <a:r>
              <a:t>, G. , N. . Deep Re-annotation and Controlled Candidate Pools for Re-evaluating Ranking Models on MS MARCO. DAMDID 2026. Результаты экспериментов в контролируемых пулах.</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a:t>
            </a:r>
          </a:p>
          <a:p>
            <a:r>
              <a:t>Даже при такой неизменной выдаче преимущество переходит от одной системы к другой. Из NDCG@10 для RRF вычитаем NDCG@10 для E5. Получаем примерно минус 0,066 при K, равном десяти, и плюс 0,008 при K, равном тридцати. Отрицательная разность означает преимущество E5, положительная преимущество RRF.</a:t>
            </a:r>
          </a:p>
          <a:p>
            <a:r>
              <a:t>При K, равном десяти, 14,4 процента пар из итогового топ-10 RRF лежат за пределами пула с оценками. При расчете метрики они дают нулевой вклад. Но отсутствие оценки не означает, что фрагмент нерелевантен: в этом пуле мы его просто не оценивали. Разметка более глубокого пула позволяет проверить и такие фрагменты.</a:t>
            </a:r>
          </a:p>
          <a:p>
            <a:r>
              <a:t>Более широкий пул дает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a:t>
            </a:r>
          </a:p>
          <a:p>
            <a:r>
              <a:t>Источники</a:t>
            </a:r>
          </a:p>
          <a:p>
            <a:r>
              <a:t>, G. , N. . Deep Re-annotation and Controlled Candidate Pools for Re-evaluating Ranking Models on MS MARCO. DAMDID 2026. Результаты экспериментов в контролируемых пулах.</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масштабном эксперименте все метки получены одним судьей. Это относится и к тем запросам, которые раньше размечал человек. Ручные ответы здесь не заменяют предсказания судьи и не дополняют их.</a:t>
            </a:r>
          </a:p>
          <a:p>
            <a:r>
              <a:t>Однако часть этих запросов использовалась при дообучении судьи. Поэтому мы дополнительно пересчитали сравнение, исключив все 1 179 запросов ручной подвыборки. Из 101 093 осталось 99 914. На каждой проверенной глубине преимущество осталось у той же системы, что и до исключения. Это говорит об устойчивости сравнения к такому пересечению, но не заменяет независимый тест судьи.</a:t>
            </a:r>
          </a:p>
          <a:p>
            <a:r>
              <a:t>Ограничения сохраняются. Человек видел известный релевантный ответ, а судья получает только запрос и кандидата. Согласие между разметчиками не измерялось. Более глубокие пулы не проходили независимую ручную проверку.</a:t>
            </a:r>
          </a:p>
          <a:p>
            <a:r>
              <a:t>Наши численные выводы относятся к выбранным англоязычным пулам MS MARCO. Их перенос на другие языки, предметные области и поисковые сервисы еще предстоит проверить.</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Ручная доразметка существенно меняет оценку качества поиска. В наших ручных пулах NDCG@10 системы E5 увеличивается с 0,488 до 0,879 при неизменной выдаче. Система уже находила полезные фрагменты, но неполная исходная разметка не давала ей за них баллы.</a:t>
            </a:r>
          </a:p>
          <a:p>
            <a:r>
              <a:t>В масштабном эксперименте при той же выдаче меняется даже победитель сравнения: на малом пуле E5 опережает RRF, а при расширении пула вперед выходит RRF. Практический смысл в том, что выбор лучшей системы зависит от того, какие найденные фрагменты получили оценки. Различие возникает без переобучения поисковых моделей.</a:t>
            </a:r>
          </a:p>
          <a:p>
            <a:r>
              <a:t>Близкие метрики при неполной разметке сами по себе не доказывают одинаковое качество систем. Но и утверждать, что мы установили истинного лидера, пока нельзя: масштабное сравнение опирается на оценки одного судьи. Поэтому при сравнении систем нужно проверять, как вывод зависит от охвата разметки и источника оценок.</a:t>
            </a:r>
          </a:p>
          <a:p>
            <a:r>
              <a:t>Следующий шаг состоит в улучшении автоматической доразметки. Планируем сравнить более сильные модели-судьи и проверить вариант, который получает запрос, известный релевантный ответ и фрагмент-кандидат. Качество такой доразметки нужно подтвердить независимыми человеческими оценками, в том числе на глубоких пулах.</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На слайде приведены основные работы и ссылки на использованные методы и наборы данных.</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https://arxiv.org/abs/1611.09268</a:t>
            </a:r>
          </a:p>
          <a:p>
            <a:r>
              <a:t>Natural Questions: https://aclanthology.org/Q19-1026/</a:t>
            </a:r>
          </a:p>
          <a:p>
            <a:r>
              <a:t>BEIR: https://arxiv.org/abs/2104.08663</a:t>
            </a:r>
          </a:p>
          <a:p>
            <a:r>
              <a:t>BM25: https://doi.org/10.1561/1500000019</a:t>
            </a:r>
          </a:p>
          <a:p>
            <a:r>
              <a:t>E5: https://arxiv.org/abs/2212.03533</a:t>
            </a:r>
          </a:p>
          <a:p>
            <a:r>
              <a:t>Модель E5: https://huggingface.co/intfloat/e5-small-v2</a:t>
            </a:r>
          </a:p>
          <a:p>
            <a:r>
              <a:t>Модель BGE: https://huggingface.co/BAAI/bge-small-en-v1.5</a:t>
            </a:r>
          </a:p>
          <a:p>
            <a:r>
              <a:t>Wang et al. MiniLM. 2020. https://arxiv.org/abs/2002.10957</a:t>
            </a:r>
          </a:p>
          <a:p>
            <a:r>
              <a:t>Исходная модель: https://huggingface.co/cross-encoder/ms-marco-MiniLM-L6-v2</a:t>
            </a:r>
          </a:p>
          <a:p>
            <a:r>
              <a:t>Cormack, Clarke, Büttcher. Reciprocal Rank Fusion outperforms Condorcet and individual Rank Learning Methods. SIGIR 2009. https://doi.org/10.1145/1571941.1572114</a:t>
            </a:r>
          </a:p>
          <a:p>
            <a:r>
              <a:t>MS MARCO Passage Ranking v1. https://ir-datasets.com/msmarco-passage.html#msmarco-passage/dev</a:t>
            </a:r>
          </a:p>
          <a:p>
            <a:r>
              <a:t>Архив запросов: https://msmarco.z22.web.core.windows.net/msmarcoranking/queries.tar.gz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101 093 запроса содержит полная dev-часть MS MARCO Passage Ranking v1. Мы использовали именно этот набор, без отбора до 101 тысячи из более крупной выборки. Его стандартная оценочная подвыборка dev/small содержит 6 980 запросов. Число около 140 тысяч к этому набору не относится.</a:t>
            </a:r>
          </a:p>
          <a:p>
            <a:r>
              <a:t>101 093 запроса входят в полную dev-часть. dev/small содержит 6 980 из них и исходные оценки релевантности для стандартного оценивания. Ручная подвыборка содержит 1 179 запросов из dev/small. Один запрос может иметь много кандидатов, поэтому в ручной части 33 667 пар. Размер корпуса другой: 8 841 823 фрагмента.</a:t>
            </a:r>
          </a:p>
          <a:p>
            <a:r>
              <a:t>Дообучение нашего судьи и его локальная проверка выполнялись на ручной подвыборке из dev/small. Мы отдельно разделили ее на 825 обучающих, 177 валидационных и 177 тестовых запросов. Это внутренние части эксперимента, а не официальный закрытый test MS MARCO. Исходный MiniLM уже был предварительно обучен; проверка исключает пересечение запросов в нашем дообучении, но сама по себе не доказывает отсутствие пересечений с его предобучением.</a:t>
            </a:r>
          </a:p>
          <a:p>
            <a:r>
              <a:t>Это объем подготовленной ручной подвыборки, на которой выполнен эксперимент. Ее принадлежность dev/small проверена по идентификаторам. Мы не рассматриваем ее как случайную или репрезентативную выборку из всего MS MARCO. Выводы ручного эксперимента относятся к этой подвыборке и ее кандидатным пулам.</a:t>
            </a:r>
          </a:p>
          <a:p>
            <a:r>
              <a:t>Для E5 и BGE сохранены выдачи для всех 101 093 запросов. У BM25 нет выдач для трех запросов, а некоторые списки короче заданной глубины. Используем доступные результаты. Если фрагмент не попал в первые L результатов одной системы, она не добавляет ему балл RRF, но другие системы могут его добавить.</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Passage Ranking v1. https://ir-datasets.com/msmarco-passage.html#msmarco-passage/dev</a:t>
            </a:r>
          </a:p>
          <a:p>
            <a:r>
              <a:t>Архив запросов: https://msmarco.z22.web.core.windows.net/msmarcoranking/queries.tar.gz</a:t>
            </a:r>
          </a:p>
          <a:p>
            <a:r>
              <a:t>MS MARCO Passage Ranking dev/small. https://ir-datasets.com/msmarco-passage.html#msmarco-passage/dev/small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ручном сравнении поисковая выдача не менялась. Изменились метки, по которым мы ее оцениваем: ранее неоцененные полезные ответы стали давать вклад в метрику. Поэтому выросла измеренная оценка качества, а не возможности самой поисковой модели. NDCG@10 учитывает релевантность в первой десятке с большим весом верхних позиций и нормирует ее относительно идеальной выдачи.</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Используется ненормированный выходной балл модели. Его шкала допускает отрицательные числа и не совпадает со шкалой вероятностей от нуля до единицы. Порог −0,2187178284 выбрали на 177 валидационных запросах и затем не меняли ни для теста, ни для разных K. На слайдах значение округлено до −0,2187. Тестовая F1 при этом пороге равна 0,875.</a:t>
            </a:r>
          </a:p>
          <a:p>
            <a:r>
              <a:t>На 5 002 тестовых парах получены 2 882 верных положительных и 1 300 верных отрицательных решения, 506 ложноположительных и 314 ложноотрицательных. Точность 0,851 означает, что около 85% положительных предсказаний совпали с целевыми ручными метками на этом тесте. Эти доли нельзя автоматически переносить на все более глубокие пулы.</a:t>
            </a:r>
          </a:p>
          <a:p>
            <a:r>
              <a:t>Источники</a:t>
            </a:r>
          </a:p>
          <a:p>
            <a:r>
              <a:t>, G. , N. . Deep Re-annotation and Controlled Candidate Pools for Re-evaluating Ranking Models on MS MARCO. DAMDID 2026. Результаты экспериментов в контролируемых пулах.</a:t>
            </a:r>
          </a:p>
          <a:p>
            <a:r>
              <a:t>Wang et al. MiniLM. 2020. https://arxiv.org/abs/2002.10957</a:t>
            </a:r>
          </a:p>
          <a:p>
            <a:r>
              <a:t>Исходная модель: https://huggingface.co/cross-encoder/ms-marco-MiniLM-L6-v2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 определяет, сколько результатов от каждой системы попадает в пул разметки. L определяет, сколько результатов от каждой системы поступает на слияние RRF. В первом сравнении L равно K, поэтому меняются и пул, и итоговое ранжирование. В контрольном сравнении L всегда равно 200: выдача фиксирована, меняется только пул с оценками. Повторяющиеся кандидаты учитываются один раз.</a:t>
            </a:r>
          </a:p>
          <a:p>
            <a:r>
              <a:t>Нет. RRF суммирует величины, зависящие от места документа в списках BM25, E5 и BGE: 1/(60 + место). Веса источников одинаковы. Сырые поисковые баллы и оценки судьи в формулу не входят. Например, первое место у любого источника дает вклад 1/61. Судья используется отдельно для оценки полученного списка.</a:t>
            </a:r>
          </a:p>
          <a:p>
            <a:r>
              <a:t>17,47 относится к среднему числу положительных человеческих оценок внутри ручных пулов. 128,6 относится к положительным предсказаниям одного судьи при K = 200 на полной dev-части. Пулы целенаправленно отобраны поисковыми методами. Ни одно число не оценивает полное количество релевантных ответов во всем корпусе.</a:t>
            </a:r>
          </a:p>
          <a:p>
            <a:r>
              <a:t>L ограничивает входные списки BM25, E5 и BGE до слияния. NDCG@10 оценивает первые десять позиций уже получившегося списка RRF. Это разные этапы.</a:t>
            </a:r>
          </a:p>
          <a:p>
            <a:r>
              <a:t>Условный пример: в первых десяти результатах трех систем нет общих фрагментов, но один и тот же фрагмент стоит одиннадцатым у всех трех. При L = 10 его нет среди кандидатов RRF. При L = 11 его сумма равна 3/(60 + 11), примерно 0,0423. У фрагмента, который стоит первым только в одном списке, сумма 1/(60 + 1), примерно 0,0164. Общий фрагмент становится первым в RRF. Поэтому L &gt; 10 может менять итоговый топ-10. При этом дальнейшее увеличение L не обязано менять выдачу на каждом запросе.</a:t>
            </a:r>
          </a:p>
          <a:p>
            <a:r>
              <a:t>Источники</a:t>
            </a:r>
          </a:p>
          <a:p>
            <a:r>
              <a:t>, G. , N. . Deep Re-annotation and Controlled Candidate Pools for Re-evaluating Ranking Models on MS MARCO. DAMDID 2026. Результаты экспериментов в контролируемых пулах.</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исходных записях нашли 29 пар с кодами меток вне принятой шкалы 0/1/2: 26 меток со значением 3, две со значением 20 и одну со значением 22. Эти записи относятся к 18 запросам. Значение таких кодов не установлено, поэтому их нельзя произвольно считать подтвержденными положительными или отрицательными оценками.</a:t>
            </a:r>
          </a:p>
          <a:p>
            <a:r>
              <a:t>Еще у пяти других запросов обнаружили по одному кандидату с пустым текстом. Всего затронуты 23 запроса. В дополнительном расчете исключили эти запросы целиком, осталось 1 156. Порядок поисковых систем по человеческим оценкам не изменился. В основном расчете нестандартные метки не считались подтвержденными положительными оценками и давали нулевой вклад. Исключение служит проверкой чувствительности результата, а не новой разметкой.</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Человек</a:t>
            </a:r>
            <a:r>
              <a:rPr dirty="0"/>
              <a:t> </a:t>
            </a:r>
            <a:r>
              <a:rPr dirty="0" err="1"/>
              <a:t>видел</a:t>
            </a:r>
            <a:r>
              <a:rPr dirty="0"/>
              <a:t> </a:t>
            </a:r>
            <a:r>
              <a:rPr dirty="0" err="1"/>
              <a:t>запрос</a:t>
            </a:r>
            <a:r>
              <a:rPr dirty="0"/>
              <a:t>, </a:t>
            </a:r>
            <a:r>
              <a:rPr dirty="0" err="1"/>
              <a:t>оцениваемый</a:t>
            </a:r>
            <a:r>
              <a:rPr dirty="0"/>
              <a:t> </a:t>
            </a:r>
            <a:r>
              <a:rPr dirty="0" err="1"/>
              <a:t>фрагмент</a:t>
            </a:r>
            <a:r>
              <a:rPr dirty="0"/>
              <a:t> </a:t>
            </a:r>
            <a:r>
              <a:rPr dirty="0" err="1"/>
              <a:t>и</a:t>
            </a:r>
            <a:r>
              <a:rPr dirty="0"/>
              <a:t> </a:t>
            </a:r>
            <a:r>
              <a:rPr dirty="0" err="1"/>
              <a:t>известный</a:t>
            </a:r>
            <a:r>
              <a:rPr dirty="0"/>
              <a:t> </a:t>
            </a:r>
            <a:r>
              <a:rPr dirty="0" err="1"/>
              <a:t>релевантный</a:t>
            </a:r>
            <a:r>
              <a:rPr dirty="0"/>
              <a:t> </a:t>
            </a:r>
            <a:r>
              <a:rPr dirty="0" err="1"/>
              <a:t>ответ</a:t>
            </a:r>
            <a:r>
              <a:rPr dirty="0"/>
              <a:t>. </a:t>
            </a:r>
            <a:r>
              <a:rPr dirty="0" err="1"/>
              <a:t>Подготовка</a:t>
            </a:r>
            <a:r>
              <a:rPr dirty="0"/>
              <a:t> </a:t>
            </a:r>
            <a:r>
              <a:rPr dirty="0" err="1"/>
              <a:t>ручных</a:t>
            </a:r>
            <a:r>
              <a:rPr dirty="0"/>
              <a:t> </a:t>
            </a:r>
            <a:r>
              <a:rPr dirty="0" err="1"/>
              <a:t>кандидатов</a:t>
            </a:r>
            <a:r>
              <a:rPr dirty="0"/>
              <a:t> </a:t>
            </a:r>
            <a:r>
              <a:rPr dirty="0" err="1"/>
              <a:t>также</a:t>
            </a:r>
            <a:r>
              <a:rPr dirty="0"/>
              <a:t> </a:t>
            </a:r>
            <a:r>
              <a:rPr dirty="0" err="1"/>
              <a:t>использовала</a:t>
            </a:r>
            <a:r>
              <a:rPr dirty="0"/>
              <a:t> </a:t>
            </a:r>
            <a:r>
              <a:rPr dirty="0" err="1"/>
              <a:t>сходство</a:t>
            </a:r>
            <a:r>
              <a:rPr dirty="0"/>
              <a:t> E5 </a:t>
            </a:r>
            <a:r>
              <a:rPr dirty="0" err="1"/>
              <a:t>с</a:t>
            </a:r>
            <a:r>
              <a:rPr dirty="0"/>
              <a:t> </a:t>
            </a:r>
            <a:r>
              <a:rPr dirty="0" err="1"/>
              <a:t>этим</a:t>
            </a:r>
            <a:r>
              <a:rPr dirty="0"/>
              <a:t> </a:t>
            </a:r>
            <a:r>
              <a:rPr dirty="0" err="1"/>
              <a:t>ответом</a:t>
            </a:r>
            <a:r>
              <a:rPr dirty="0"/>
              <a:t>. </a:t>
            </a:r>
            <a:r>
              <a:rPr dirty="0" err="1"/>
              <a:t>Судья</a:t>
            </a:r>
            <a:r>
              <a:rPr dirty="0"/>
              <a:t> </a:t>
            </a:r>
            <a:r>
              <a:rPr dirty="0" err="1"/>
              <a:t>получает</a:t>
            </a:r>
            <a:r>
              <a:rPr dirty="0"/>
              <a:t> </a:t>
            </a:r>
            <a:r>
              <a:rPr dirty="0" err="1"/>
              <a:t>только</a:t>
            </a:r>
            <a:r>
              <a:rPr dirty="0"/>
              <a:t> </a:t>
            </a:r>
            <a:r>
              <a:rPr dirty="0" err="1"/>
              <a:t>тексты</a:t>
            </a:r>
            <a:r>
              <a:rPr dirty="0"/>
              <a:t> </a:t>
            </a:r>
            <a:r>
              <a:rPr dirty="0" err="1"/>
              <a:t>запроса</a:t>
            </a:r>
            <a:r>
              <a:rPr dirty="0"/>
              <a:t> </a:t>
            </a:r>
            <a:r>
              <a:rPr dirty="0" err="1"/>
              <a:t>и</a:t>
            </a:r>
            <a:r>
              <a:rPr dirty="0"/>
              <a:t> </a:t>
            </a:r>
            <a:r>
              <a:rPr dirty="0" err="1"/>
              <a:t>кандидата</a:t>
            </a:r>
            <a:r>
              <a:rPr dirty="0"/>
              <a:t>. </a:t>
            </a:r>
            <a:r>
              <a:rPr dirty="0" err="1"/>
              <a:t>Он</a:t>
            </a:r>
            <a:r>
              <a:rPr dirty="0"/>
              <a:t> </a:t>
            </a:r>
            <a:r>
              <a:rPr dirty="0" err="1"/>
              <a:t>не</a:t>
            </a:r>
            <a:r>
              <a:rPr dirty="0"/>
              <a:t> </a:t>
            </a:r>
            <a:r>
              <a:rPr dirty="0" err="1"/>
              <a:t>получает</a:t>
            </a:r>
            <a:r>
              <a:rPr dirty="0"/>
              <a:t> </a:t>
            </a:r>
            <a:r>
              <a:rPr dirty="0" err="1"/>
              <a:t>известного</a:t>
            </a:r>
            <a:r>
              <a:rPr dirty="0"/>
              <a:t> </a:t>
            </a:r>
            <a:r>
              <a:rPr dirty="0" err="1"/>
              <a:t>ответа</a:t>
            </a:r>
            <a:r>
              <a:rPr dirty="0"/>
              <a:t>, </a:t>
            </a:r>
            <a:r>
              <a:rPr dirty="0" err="1"/>
              <a:t>позиций</a:t>
            </a:r>
            <a:r>
              <a:rPr dirty="0"/>
              <a:t>, </a:t>
            </a:r>
            <a:r>
              <a:rPr dirty="0" err="1"/>
              <a:t>баллов</a:t>
            </a:r>
            <a:r>
              <a:rPr dirty="0"/>
              <a:t> BM25, E5 </a:t>
            </a:r>
            <a:r>
              <a:rPr dirty="0" err="1"/>
              <a:t>или</a:t>
            </a:r>
            <a:r>
              <a:rPr dirty="0"/>
              <a:t> BGE </a:t>
            </a:r>
            <a:r>
              <a:rPr dirty="0" err="1"/>
              <a:t>и</a:t>
            </a:r>
            <a:r>
              <a:rPr dirty="0"/>
              <a:t> </a:t>
            </a:r>
            <a:r>
              <a:rPr dirty="0" err="1"/>
              <a:t>заранее</a:t>
            </a:r>
            <a:r>
              <a:rPr dirty="0"/>
              <a:t> </a:t>
            </a:r>
            <a:r>
              <a:rPr dirty="0" err="1"/>
              <a:t>рассчитанных</a:t>
            </a:r>
            <a:r>
              <a:rPr dirty="0"/>
              <a:t> </a:t>
            </a:r>
            <a:r>
              <a:rPr dirty="0" err="1"/>
              <a:t>эмбеддингов</a:t>
            </a:r>
            <a:r>
              <a:rPr dirty="0"/>
              <a:t>. </a:t>
            </a:r>
            <a:r>
              <a:rPr dirty="0" err="1"/>
              <a:t>Добавление</a:t>
            </a:r>
            <a:r>
              <a:rPr dirty="0"/>
              <a:t> </a:t>
            </a:r>
            <a:r>
              <a:rPr dirty="0" err="1"/>
              <a:t>эталонного</a:t>
            </a:r>
            <a:r>
              <a:rPr dirty="0"/>
              <a:t> </a:t>
            </a:r>
            <a:r>
              <a:rPr dirty="0" err="1"/>
              <a:t>ответа</a:t>
            </a:r>
            <a:r>
              <a:rPr dirty="0"/>
              <a:t> </a:t>
            </a:r>
            <a:r>
              <a:rPr dirty="0" err="1"/>
              <a:t>ко</a:t>
            </a:r>
            <a:r>
              <a:rPr dirty="0"/>
              <a:t> </a:t>
            </a:r>
            <a:r>
              <a:rPr dirty="0" err="1"/>
              <a:t>входу</a:t>
            </a:r>
            <a:r>
              <a:rPr dirty="0"/>
              <a:t> </a:t>
            </a:r>
            <a:r>
              <a:rPr dirty="0" err="1"/>
              <a:t>судьи</a:t>
            </a:r>
            <a:r>
              <a:rPr dirty="0"/>
              <a:t> </a:t>
            </a:r>
            <a:r>
              <a:rPr dirty="0" err="1"/>
              <a:t>предложено</a:t>
            </a:r>
            <a:r>
              <a:rPr dirty="0"/>
              <a:t> </a:t>
            </a:r>
            <a:r>
              <a:rPr dirty="0" err="1"/>
              <a:t>как</a:t>
            </a:r>
            <a:r>
              <a:rPr dirty="0"/>
              <a:t> </a:t>
            </a:r>
            <a:r>
              <a:rPr dirty="0" err="1"/>
              <a:t>следующий</a:t>
            </a:r>
            <a:r>
              <a:rPr dirty="0"/>
              <a:t> </a:t>
            </a:r>
            <a:r>
              <a:rPr dirty="0" err="1"/>
              <a:t>эксперимент</a:t>
            </a:r>
            <a:r>
              <a:rPr dirty="0"/>
              <a:t>.</a:t>
            </a:r>
          </a:p>
          <a:p>
            <a:r>
              <a:rPr dirty="0" err="1"/>
              <a:t>Судья</a:t>
            </a:r>
            <a:r>
              <a:rPr dirty="0"/>
              <a:t> </a:t>
            </a:r>
            <a:r>
              <a:rPr dirty="0" err="1"/>
              <a:t>нужен</a:t>
            </a:r>
            <a:r>
              <a:rPr dirty="0"/>
              <a:t> </a:t>
            </a:r>
            <a:r>
              <a:rPr dirty="0" err="1"/>
              <a:t>как</a:t>
            </a:r>
            <a:r>
              <a:rPr dirty="0"/>
              <a:t> </a:t>
            </a:r>
            <a:r>
              <a:rPr dirty="0" err="1"/>
              <a:t>доступный</a:t>
            </a:r>
            <a:r>
              <a:rPr dirty="0"/>
              <a:t> </a:t>
            </a:r>
            <a:r>
              <a:rPr dirty="0" err="1"/>
              <a:t>способ</a:t>
            </a:r>
            <a:r>
              <a:rPr dirty="0"/>
              <a:t> </a:t>
            </a:r>
            <a:r>
              <a:rPr dirty="0" err="1"/>
              <a:t>получить</a:t>
            </a:r>
            <a:r>
              <a:rPr dirty="0"/>
              <a:t> </a:t>
            </a:r>
            <a:r>
              <a:rPr dirty="0" err="1"/>
              <a:t>много</a:t>
            </a:r>
            <a:r>
              <a:rPr dirty="0"/>
              <a:t> </a:t>
            </a:r>
            <a:r>
              <a:rPr dirty="0" err="1"/>
              <a:t>дополнительных</a:t>
            </a:r>
            <a:r>
              <a:rPr dirty="0"/>
              <a:t> </a:t>
            </a:r>
            <a:r>
              <a:rPr dirty="0" err="1"/>
              <a:t>оценок</a:t>
            </a:r>
            <a:r>
              <a:rPr dirty="0"/>
              <a:t> </a:t>
            </a:r>
            <a:r>
              <a:rPr dirty="0" err="1"/>
              <a:t>и</a:t>
            </a:r>
            <a:r>
              <a:rPr dirty="0"/>
              <a:t> </a:t>
            </a:r>
            <a:r>
              <a:rPr dirty="0" err="1"/>
              <a:t>исследовать</a:t>
            </a:r>
            <a:r>
              <a:rPr dirty="0"/>
              <a:t> </a:t>
            </a:r>
            <a:r>
              <a:rPr dirty="0" err="1"/>
              <a:t>зависимость</a:t>
            </a:r>
            <a:r>
              <a:rPr dirty="0"/>
              <a:t> </a:t>
            </a:r>
            <a:r>
              <a:rPr dirty="0" err="1"/>
              <a:t>метрик</a:t>
            </a:r>
            <a:r>
              <a:rPr dirty="0"/>
              <a:t> </a:t>
            </a:r>
            <a:r>
              <a:rPr dirty="0" err="1"/>
              <a:t>от</a:t>
            </a:r>
            <a:r>
              <a:rPr dirty="0"/>
              <a:t> </a:t>
            </a:r>
            <a:r>
              <a:rPr dirty="0" err="1"/>
              <a:t>охвата</a:t>
            </a:r>
            <a:r>
              <a:rPr dirty="0"/>
              <a:t>. </a:t>
            </a:r>
            <a:r>
              <a:rPr dirty="0" err="1"/>
              <a:t>Он</a:t>
            </a:r>
            <a:r>
              <a:rPr dirty="0"/>
              <a:t> </a:t>
            </a:r>
            <a:r>
              <a:rPr dirty="0" err="1"/>
              <a:t>не</a:t>
            </a:r>
            <a:r>
              <a:rPr dirty="0"/>
              <a:t> </a:t>
            </a:r>
            <a:r>
              <a:rPr dirty="0" err="1"/>
              <a:t>заменяет</a:t>
            </a:r>
            <a:r>
              <a:rPr dirty="0"/>
              <a:t> </a:t>
            </a:r>
            <a:r>
              <a:rPr dirty="0" err="1"/>
              <a:t>поисковые</a:t>
            </a:r>
            <a:r>
              <a:rPr dirty="0"/>
              <a:t> </a:t>
            </a:r>
            <a:r>
              <a:rPr dirty="0" err="1"/>
              <a:t>системы</a:t>
            </a:r>
            <a:r>
              <a:rPr dirty="0"/>
              <a:t> </a:t>
            </a:r>
            <a:r>
              <a:rPr dirty="0" err="1"/>
              <a:t>и</a:t>
            </a:r>
            <a:r>
              <a:rPr dirty="0"/>
              <a:t> </a:t>
            </a:r>
            <a:r>
              <a:rPr dirty="0" err="1"/>
              <a:t>не</a:t>
            </a:r>
            <a:r>
              <a:rPr dirty="0"/>
              <a:t> </a:t>
            </a:r>
            <a:r>
              <a:rPr dirty="0" err="1"/>
              <a:t>считается</a:t>
            </a:r>
            <a:r>
              <a:rPr dirty="0"/>
              <a:t> </a:t>
            </a:r>
            <a:r>
              <a:rPr dirty="0" err="1"/>
              <a:t>безошибочным</a:t>
            </a:r>
            <a:r>
              <a:rPr dirty="0"/>
              <a:t> </a:t>
            </a:r>
            <a:r>
              <a:rPr dirty="0" err="1"/>
              <a:t>эталоном</a:t>
            </a:r>
            <a:r>
              <a:rPr dirty="0"/>
              <a:t>. BM25, E5 </a:t>
            </a:r>
            <a:r>
              <a:rPr dirty="0" err="1"/>
              <a:t>и</a:t>
            </a:r>
            <a:r>
              <a:rPr dirty="0"/>
              <a:t> BGE </a:t>
            </a:r>
            <a:r>
              <a:rPr dirty="0" err="1"/>
              <a:t>по-прежнему</a:t>
            </a:r>
            <a:r>
              <a:rPr dirty="0"/>
              <a:t> </a:t>
            </a:r>
            <a:r>
              <a:rPr dirty="0" err="1"/>
              <a:t>находят</a:t>
            </a:r>
            <a:r>
              <a:rPr dirty="0"/>
              <a:t> </a:t>
            </a:r>
            <a:r>
              <a:rPr dirty="0" err="1"/>
              <a:t>и</a:t>
            </a:r>
            <a:r>
              <a:rPr dirty="0"/>
              <a:t> </a:t>
            </a:r>
            <a:r>
              <a:rPr dirty="0" err="1"/>
              <a:t>ранжируют</a:t>
            </a:r>
            <a:r>
              <a:rPr dirty="0"/>
              <a:t> </a:t>
            </a:r>
            <a:r>
              <a:rPr dirty="0" err="1"/>
              <a:t>кандидатов</a:t>
            </a:r>
            <a:r>
              <a:rPr dirty="0"/>
              <a:t>. </a:t>
            </a:r>
            <a:r>
              <a:rPr dirty="0" err="1"/>
              <a:t>На</a:t>
            </a:r>
            <a:r>
              <a:rPr dirty="0"/>
              <a:t> </a:t>
            </a:r>
            <a:r>
              <a:rPr dirty="0" err="1"/>
              <a:t>ручных</a:t>
            </a:r>
            <a:r>
              <a:rPr dirty="0"/>
              <a:t> </a:t>
            </a:r>
            <a:r>
              <a:rPr dirty="0" err="1"/>
              <a:t>данных</a:t>
            </a:r>
            <a:r>
              <a:rPr dirty="0"/>
              <a:t> </a:t>
            </a:r>
            <a:r>
              <a:rPr dirty="0" err="1"/>
              <a:t>их</a:t>
            </a:r>
            <a:r>
              <a:rPr dirty="0"/>
              <a:t> </a:t>
            </a:r>
            <a:r>
              <a:rPr dirty="0" err="1"/>
              <a:t>сравнение</a:t>
            </a:r>
            <a:r>
              <a:rPr dirty="0"/>
              <a:t> </a:t>
            </a:r>
            <a:r>
              <a:rPr dirty="0" err="1"/>
              <a:t>опирается</a:t>
            </a:r>
            <a:r>
              <a:rPr dirty="0"/>
              <a:t> </a:t>
            </a:r>
            <a:r>
              <a:rPr dirty="0" err="1"/>
              <a:t>на</a:t>
            </a:r>
            <a:r>
              <a:rPr dirty="0"/>
              <a:t> </a:t>
            </a:r>
            <a:r>
              <a:rPr dirty="0" err="1"/>
              <a:t>человеческие</a:t>
            </a:r>
            <a:r>
              <a:rPr dirty="0"/>
              <a:t> </a:t>
            </a:r>
            <a:r>
              <a:rPr dirty="0" err="1"/>
              <a:t>оценки</a:t>
            </a:r>
            <a:r>
              <a:rPr dirty="0"/>
              <a:t>. </a:t>
            </a:r>
            <a:r>
              <a:rPr dirty="0" err="1"/>
              <a:t>Масштабные</a:t>
            </a:r>
            <a:r>
              <a:rPr dirty="0"/>
              <a:t> </a:t>
            </a:r>
            <a:r>
              <a:rPr dirty="0" err="1"/>
              <a:t>выводы</a:t>
            </a:r>
            <a:r>
              <a:rPr dirty="0"/>
              <a:t> </a:t>
            </a:r>
            <a:r>
              <a:rPr dirty="0" err="1"/>
              <a:t>с</a:t>
            </a:r>
            <a:r>
              <a:rPr dirty="0"/>
              <a:t> </a:t>
            </a:r>
            <a:r>
              <a:rPr dirty="0" err="1"/>
              <a:t>MiniLM</a:t>
            </a:r>
            <a:r>
              <a:rPr dirty="0"/>
              <a:t> </a:t>
            </a:r>
            <a:r>
              <a:rPr dirty="0" err="1"/>
              <a:t>условны</a:t>
            </a:r>
            <a:r>
              <a:rPr dirty="0"/>
              <a:t> </a:t>
            </a:r>
            <a:r>
              <a:rPr dirty="0" err="1"/>
              <a:t>и</a:t>
            </a:r>
            <a:r>
              <a:rPr dirty="0"/>
              <a:t> </a:t>
            </a:r>
            <a:r>
              <a:rPr dirty="0" err="1"/>
              <a:t>требуют</a:t>
            </a:r>
            <a:r>
              <a:rPr dirty="0"/>
              <a:t> </a:t>
            </a:r>
            <a:r>
              <a:rPr dirty="0" err="1"/>
              <a:t>проверки</a:t>
            </a:r>
            <a:r>
              <a:rPr dirty="0"/>
              <a:t> </a:t>
            </a:r>
            <a:r>
              <a:rPr dirty="0" err="1"/>
              <a:t>более</a:t>
            </a:r>
            <a:r>
              <a:rPr dirty="0"/>
              <a:t> </a:t>
            </a:r>
            <a:r>
              <a:rPr dirty="0" err="1"/>
              <a:t>сильными</a:t>
            </a:r>
            <a:r>
              <a:rPr dirty="0"/>
              <a:t> </a:t>
            </a:r>
            <a:r>
              <a:rPr dirty="0" err="1"/>
              <a:t>судьями</a:t>
            </a:r>
            <a:r>
              <a:rPr dirty="0"/>
              <a:t> </a:t>
            </a:r>
            <a:r>
              <a:rPr dirty="0" err="1"/>
              <a:t>и</a:t>
            </a:r>
            <a:r>
              <a:rPr dirty="0"/>
              <a:t> </a:t>
            </a:r>
            <a:r>
              <a:rPr dirty="0" err="1"/>
              <a:t>независимой</a:t>
            </a:r>
            <a:r>
              <a:rPr dirty="0"/>
              <a:t> </a:t>
            </a:r>
            <a:r>
              <a:rPr dirty="0" err="1"/>
              <a:t>ручной</a:t>
            </a:r>
            <a:r>
              <a:rPr dirty="0"/>
              <a:t> </a:t>
            </a:r>
            <a:r>
              <a:rPr dirty="0" err="1"/>
              <a:t>разметкой</a:t>
            </a:r>
            <a:r>
              <a:rPr dirty="0"/>
              <a:t>.</a:t>
            </a:r>
          </a:p>
          <a:p>
            <a:r>
              <a:rPr dirty="0" err="1"/>
              <a:t>Это</a:t>
            </a:r>
            <a:r>
              <a:rPr dirty="0"/>
              <a:t> </a:t>
            </a:r>
            <a:r>
              <a:rPr dirty="0" err="1"/>
              <a:t>компактная</a:t>
            </a:r>
            <a:r>
              <a:rPr dirty="0"/>
              <a:t> </a:t>
            </a:r>
            <a:r>
              <a:rPr dirty="0" err="1"/>
              <a:t>исходная</a:t>
            </a:r>
            <a:r>
              <a:rPr dirty="0"/>
              <a:t> </a:t>
            </a:r>
            <a:r>
              <a:rPr dirty="0" err="1"/>
              <a:t>модель</a:t>
            </a:r>
            <a:r>
              <a:rPr dirty="0"/>
              <a:t> cross-encoder/ms-marco-MiniLM-L6-v2, </a:t>
            </a:r>
            <a:r>
              <a:rPr dirty="0" err="1"/>
              <a:t>пригодная</a:t>
            </a:r>
            <a:r>
              <a:rPr dirty="0"/>
              <a:t> </a:t>
            </a:r>
            <a:r>
              <a:rPr dirty="0" err="1"/>
              <a:t>для</a:t>
            </a:r>
            <a:r>
              <a:rPr dirty="0"/>
              <a:t> </a:t>
            </a:r>
            <a:r>
              <a:rPr dirty="0" err="1"/>
              <a:t>оценки</a:t>
            </a:r>
            <a:r>
              <a:rPr dirty="0"/>
              <a:t> </a:t>
            </a:r>
            <a:r>
              <a:rPr dirty="0" err="1"/>
              <a:t>большого</a:t>
            </a:r>
            <a:r>
              <a:rPr dirty="0"/>
              <a:t> </a:t>
            </a:r>
            <a:r>
              <a:rPr dirty="0" err="1"/>
              <a:t>числа</a:t>
            </a:r>
            <a:r>
              <a:rPr dirty="0"/>
              <a:t> </a:t>
            </a:r>
            <a:r>
              <a:rPr dirty="0" err="1"/>
              <a:t>пар</a:t>
            </a:r>
            <a:r>
              <a:rPr dirty="0"/>
              <a:t>. </a:t>
            </a:r>
            <a:r>
              <a:rPr dirty="0" err="1"/>
              <a:t>В</a:t>
            </a:r>
            <a:r>
              <a:rPr dirty="0"/>
              <a:t> </a:t>
            </a:r>
            <a:r>
              <a:rPr dirty="0" err="1"/>
              <a:t>представленном</a:t>
            </a:r>
            <a:r>
              <a:rPr dirty="0"/>
              <a:t> </a:t>
            </a:r>
            <a:r>
              <a:rPr dirty="0" err="1"/>
              <a:t>эксперименте</a:t>
            </a:r>
            <a:r>
              <a:rPr dirty="0"/>
              <a:t> </a:t>
            </a:r>
            <a:r>
              <a:rPr dirty="0" err="1"/>
              <a:t>ее</a:t>
            </a:r>
            <a:r>
              <a:rPr dirty="0"/>
              <a:t> </a:t>
            </a:r>
            <a:r>
              <a:rPr dirty="0" err="1"/>
              <a:t>дообучили</a:t>
            </a:r>
            <a:r>
              <a:rPr dirty="0"/>
              <a:t> </a:t>
            </a:r>
            <a:r>
              <a:rPr dirty="0" err="1"/>
              <a:t>на</a:t>
            </a:r>
            <a:r>
              <a:rPr dirty="0"/>
              <a:t> </a:t>
            </a:r>
            <a:r>
              <a:rPr dirty="0" err="1"/>
              <a:t>ручных</a:t>
            </a:r>
            <a:r>
              <a:rPr dirty="0"/>
              <a:t> </a:t>
            </a:r>
            <a:r>
              <a:rPr dirty="0" err="1"/>
              <a:t>оценках</a:t>
            </a:r>
            <a:r>
              <a:rPr dirty="0"/>
              <a:t>. </a:t>
            </a:r>
            <a:r>
              <a:rPr dirty="0" err="1"/>
              <a:t>Сравнения</a:t>
            </a:r>
            <a:r>
              <a:rPr dirty="0"/>
              <a:t> </a:t>
            </a:r>
            <a:r>
              <a:rPr dirty="0" err="1"/>
              <a:t>нескольких</a:t>
            </a:r>
            <a:r>
              <a:rPr dirty="0"/>
              <a:t> </a:t>
            </a:r>
            <a:r>
              <a:rPr dirty="0" err="1"/>
              <a:t>судей</a:t>
            </a:r>
            <a:r>
              <a:rPr dirty="0"/>
              <a:t> </a:t>
            </a:r>
            <a:r>
              <a:rPr dirty="0" err="1"/>
              <a:t>и</a:t>
            </a:r>
            <a:r>
              <a:rPr dirty="0"/>
              <a:t> </a:t>
            </a:r>
            <a:r>
              <a:rPr dirty="0" err="1"/>
              <a:t>модели</a:t>
            </a:r>
            <a:r>
              <a:rPr dirty="0"/>
              <a:t> </a:t>
            </a:r>
            <a:r>
              <a:rPr dirty="0" err="1"/>
              <a:t>со</a:t>
            </a:r>
            <a:r>
              <a:rPr dirty="0"/>
              <a:t> </a:t>
            </a:r>
            <a:r>
              <a:rPr dirty="0" err="1"/>
              <a:t>входом</a:t>
            </a:r>
            <a:r>
              <a:rPr dirty="0"/>
              <a:t> «</a:t>
            </a:r>
            <a:r>
              <a:rPr dirty="0" err="1"/>
              <a:t>запрос</a:t>
            </a:r>
            <a:r>
              <a:rPr dirty="0"/>
              <a:t>, </a:t>
            </a:r>
            <a:r>
              <a:rPr dirty="0" err="1"/>
              <a:t>эталонный</a:t>
            </a:r>
            <a:r>
              <a:rPr dirty="0"/>
              <a:t> </a:t>
            </a:r>
            <a:r>
              <a:rPr dirty="0" err="1"/>
              <a:t>ответ</a:t>
            </a:r>
            <a:r>
              <a:rPr dirty="0"/>
              <a:t>, </a:t>
            </a:r>
            <a:r>
              <a:rPr dirty="0" err="1"/>
              <a:t>кандидат</a:t>
            </a:r>
            <a:r>
              <a:rPr dirty="0"/>
              <a:t>» </a:t>
            </a:r>
            <a:r>
              <a:rPr dirty="0" err="1"/>
              <a:t>пока</a:t>
            </a:r>
            <a:r>
              <a:rPr dirty="0"/>
              <a:t> </a:t>
            </a:r>
            <a:r>
              <a:rPr dirty="0" err="1"/>
              <a:t>не</a:t>
            </a:r>
            <a:r>
              <a:rPr dirty="0"/>
              <a:t> </a:t>
            </a:r>
            <a:r>
              <a:rPr dirty="0" err="1"/>
              <a:t>выполнены</a:t>
            </a:r>
            <a:r>
              <a:rPr dirty="0"/>
              <a:t>. </a:t>
            </a:r>
            <a:r>
              <a:rPr dirty="0" err="1"/>
              <a:t>Результаты</a:t>
            </a:r>
            <a:r>
              <a:rPr dirty="0"/>
              <a:t> </a:t>
            </a:r>
            <a:r>
              <a:rPr dirty="0" err="1"/>
              <a:t>таких</a:t>
            </a:r>
            <a:r>
              <a:rPr dirty="0"/>
              <a:t> </a:t>
            </a:r>
            <a:r>
              <a:rPr dirty="0" err="1"/>
              <a:t>сравнений</a:t>
            </a:r>
            <a:r>
              <a:rPr dirty="0"/>
              <a:t> </a:t>
            </a:r>
            <a:r>
              <a:rPr dirty="0" err="1"/>
              <a:t>не</a:t>
            </a:r>
            <a:r>
              <a:rPr dirty="0"/>
              <a:t> </a:t>
            </a:r>
            <a:r>
              <a:rPr dirty="0" err="1"/>
              <a:t>заявляются</a:t>
            </a:r>
            <a:r>
              <a:rPr dirty="0"/>
              <a:t>.</a:t>
            </a:r>
          </a:p>
          <a:p>
            <a:r>
              <a:rPr dirty="0" err="1"/>
              <a:t>Источники</a:t>
            </a:r>
            <a:endParaRPr dirty="0"/>
          </a:p>
          <a:p>
            <a:r>
              <a:rPr dirty="0"/>
              <a:t/>
            </a:r>
            <a:r>
              <a:rPr dirty="0" err="1"/>
              <a:t/>
            </a:r>
            <a:r>
              <a:rPr dirty="0"/>
              <a:t>, G. , N. </a:t>
            </a:r>
            <a:r>
              <a:rPr dirty="0" err="1"/>
              <a:t/>
            </a:r>
            <a:r>
              <a:rPr dirty="0"/>
              <a:t>. Deep Re-annotation and Controlled Candidate Pools for Re-evaluating Ranking Models on MS MARCO. DAMDID 2026. </a:t>
            </a:r>
            <a:r>
              <a:rPr dirty="0" err="1"/>
              <a:t>Результаты</a:t>
            </a:r>
            <a:r>
              <a:rPr dirty="0"/>
              <a:t> </a:t>
            </a:r>
            <a:r>
              <a:rPr dirty="0" err="1"/>
              <a:t>экспериментов</a:t>
            </a:r>
            <a:r>
              <a:rPr dirty="0"/>
              <a:t> </a:t>
            </a:r>
            <a:r>
              <a:rPr dirty="0" err="1"/>
              <a:t>в</a:t>
            </a:r>
            <a:r>
              <a:rPr dirty="0"/>
              <a:t> </a:t>
            </a:r>
            <a:r>
              <a:rPr dirty="0" err="1"/>
              <a:t>контролируемых</a:t>
            </a:r>
            <a:r>
              <a:rPr dirty="0"/>
              <a:t> </a:t>
            </a:r>
            <a:r>
              <a:rPr dirty="0" err="1"/>
              <a:t>пулах</a:t>
            </a:r>
            <a:r>
              <a:rPr dirty="0"/>
              <a:t>.</a:t>
            </a:r>
          </a:p>
          <a:p>
            <a:r>
              <a:rPr dirty="0"/>
              <a:t>Wang et al. </a:t>
            </a:r>
            <a:r>
              <a:rPr dirty="0" err="1"/>
              <a:t>MiniLM</a:t>
            </a:r>
            <a:r>
              <a:rPr dirty="0"/>
              <a:t>. 2020. https://</a:t>
            </a:r>
            <a:r>
              <a:rPr dirty="0" err="1"/>
              <a:t>arxiv.org</a:t>
            </a:r>
            <a:r>
              <a:rPr dirty="0"/>
              <a:t>/abs/2002.10957</a:t>
            </a:r>
          </a:p>
          <a:p>
            <a:r>
              <a:rPr dirty="0" err="1"/>
              <a:t>Исходная</a:t>
            </a:r>
            <a:r>
              <a:rPr dirty="0"/>
              <a:t> </a:t>
            </a:r>
            <a:r>
              <a:rPr dirty="0" err="1"/>
              <a:t>модель</a:t>
            </a:r>
            <a:r>
              <a:rPr dirty="0"/>
              <a:t>: https://</a:t>
            </a:r>
            <a:r>
              <a:rPr dirty="0" err="1"/>
              <a:t>huggingface.co</a:t>
            </a:r>
            <a:r>
              <a:rPr dirty="0"/>
              <a:t>/cross-encoder/ms-marco-MiniLM-L6-v2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hyperlink" Target="https://huggingface.co/BAAI/bge-small-en-v1.5" TargetMode="External"/><Relationship Id="rId3" Type="http://schemas.openxmlformats.org/officeDocument/2006/relationships/hyperlink" Target="https://arxiv.org/abs/1611.09268" TargetMode="External"/><Relationship Id="rId7" Type="http://schemas.openxmlformats.org/officeDocument/2006/relationships/hyperlink" Target="https://arxiv.org/abs/2212.03533"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doi.org/10.1561/1500000019" TargetMode="External"/><Relationship Id="rId5" Type="http://schemas.openxmlformats.org/officeDocument/2006/relationships/hyperlink" Target="https://arxiv.org/abs/2104.08663" TargetMode="External"/><Relationship Id="rId10" Type="http://schemas.openxmlformats.org/officeDocument/2006/relationships/hyperlink" Target="https://doi.org/10.1145/1571941.1572114" TargetMode="External"/><Relationship Id="rId4" Type="http://schemas.openxmlformats.org/officeDocument/2006/relationships/hyperlink" Target="https://aclanthology.org/Q19-1026" TargetMode="External"/><Relationship Id="rId9" Type="http://schemas.openxmlformats.org/officeDocument/2006/relationships/hyperlink" Target="https://arxiv.org/abs/2002.10957"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326"/>
        </a:solidFill>
        <a:effectLst/>
      </p:bgPr>
    </p:bg>
    <p:spTree>
      <p:nvGrpSpPr>
        <p:cNvPr id="1" name=""/>
        <p:cNvGrpSpPr/>
        <p:nvPr/>
      </p:nvGrpSpPr>
      <p:grpSpPr>
        <a:xfrm>
          <a:off x="0" y="0"/>
          <a:ext cx="0" cy="0"/>
          <a:chOff x="0" y="0"/>
          <a:chExt cx="0" cy="0"/>
        </a:xfrm>
      </p:grpSpPr>
      <p:sp>
        <p:nvSpPr>
          <p:cNvPr id="8" name="01">
            <a:extLst>
              <a:ext uri="{FF2B5EF4-FFF2-40B4-BE49-F238E27FC236}">
                <a16:creationId xmlns:a16="http://schemas.microsoft.com/office/drawing/2014/main" id="{C7C3492E-22AD-4920-9426-661B04211C7D}"/>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Рисунок 8"/>
          <p:cNvPicPr>
            <a:picLocks noChangeAspect="1"/>
          </p:cNvPicPr>
          <p:nvPr/>
        </p:nvPicPr>
        <p:blipFill>
          <a:blip r:embed="rId3"/>
          <a:srcRect t="27" b="27"/>
          <a:stretch>
            <a:fillRect/>
          </a:stretch>
        </p:blipFill>
        <p:spPr>
          <a:xfrm>
            <a:off x="0" y="0"/>
            <a:ext cx="12192000" cy="6858000"/>
          </a:xfrm>
          <a:prstGeom prst="rect">
            <a:avLst/>
          </a:prstGeom>
        </p:spPr>
      </p:pic>
      <p:sp>
        <p:nvSpPr>
          <p:cNvPr id="3" name="DAMDID 2026">
            <a:extLst>
              <a:ext uri="{FF2B5EF4-FFF2-40B4-BE49-F238E27FC236}">
                <a16:creationId xmlns:a16="http://schemas.microsoft.com/office/drawing/2014/main" id="{662EF985-391F-4637-9390-D87891E31A43}"/>
              </a:ext>
            </a:extLst>
          </p:cNvPr>
          <p:cNvSpPr>
            <a:spLocks noGrp="1"/>
          </p:cNvSpPr>
          <p:nvPr/>
        </p:nvSpPr>
        <p:spPr>
          <a:xfrm>
            <a:off x="609600" y="466725"/>
            <a:ext cx="6191250" cy="333375"/>
          </a:xfrm>
          <a:prstGeom prst="rect">
            <a:avLst/>
          </a:prstGeom>
          <a:noFill/>
          <a:ln w="0">
            <a:noFill/>
          </a:ln>
        </p:spPr>
        <p:txBody>
          <a:bodyPr wrap="square" lIns="0" tIns="0" rIns="0" bIns="0" anchor="t">
            <a:noAutofit/>
          </a:bodyPr>
          <a:lstStyle/>
          <a:p>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a:ext uri="{FF2B5EF4-FFF2-40B4-BE49-F238E27FC236}">
                <a16:creationId xmlns:a16="http://schemas.microsoft.com/office/drawing/2014/main" id="{3D019271-32C9-4AF9-8EF4-51B4064403FA}"/>
              </a:ext>
            </a:extLst>
          </p:cNvPr>
          <p:cNvSpPr>
            <a:spLocks noGrp="1"/>
          </p:cNvSpPr>
          <p:nvPr/>
        </p:nvSpPr>
        <p:spPr>
          <a:xfrm>
            <a:off x="609600" y="1247775"/>
            <a:ext cx="8096250" cy="2190750"/>
          </a:xfrm>
          <a:prstGeom prst="rect">
            <a:avLst/>
          </a:prstGeom>
          <a:noFill/>
          <a:ln w="0">
            <a:noFill/>
          </a:ln>
        </p:spPr>
        <p:txBody>
          <a:bodyPr wrap="square" lIns="0" tIns="0" rIns="0" bIns="0" anchor="t">
            <a:noAutofit/>
          </a:bodyPr>
          <a:lstStyle/>
          <a:p>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a:ext uri="{FF2B5EF4-FFF2-40B4-BE49-F238E27FC236}">
                <a16:creationId xmlns:a16="http://schemas.microsoft.com/office/drawing/2014/main" id="{675C4EB1-99BD-4526-A2E3-B972B3697B9A}"/>
              </a:ext>
            </a:extLst>
          </p:cNvPr>
          <p:cNvSpPr>
            <a:spLocks noGrp="1"/>
          </p:cNvSpPr>
          <p:nvPr/>
        </p:nvSpPr>
        <p:spPr>
          <a:xfrm>
            <a:off x="609600" y="3762375"/>
            <a:ext cx="7524750" cy="809625"/>
          </a:xfrm>
          <a:prstGeom prst="rect">
            <a:avLst/>
          </a:prstGeom>
          <a:noFill/>
          <a:ln w="0">
            <a:noFill/>
          </a:ln>
        </p:spPr>
        <p:txBody>
          <a:bodyPr wrap="square" lIns="0" tIns="0" rIns="0" bIns="0" anchor="t">
            <a:noAutofit/>
          </a:bodyPr>
          <a:lstStyle/>
          <a:p>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a:ext uri="{FF2B5EF4-FFF2-40B4-BE49-F238E27FC236}">
                <a16:creationId xmlns:a16="http://schemas.microsoft.com/office/drawing/2014/main" id="{7575EC79-5D15-4F4D-9594-619B04EC5CEE}"/>
              </a:ext>
            </a:extLst>
          </p:cNvPr>
          <p:cNvSpPr>
            <a:spLocks noGrp="1"/>
          </p:cNvSpPr>
          <p:nvPr/>
        </p:nvSpPr>
        <p:spPr>
          <a:xfrm>
            <a:off x="609600" y="5305425"/>
            <a:ext cx="7572375" cy="647700"/>
          </a:xfrm>
          <a:prstGeom prst="rect">
            <a:avLst/>
          </a:prstGeom>
          <a:noFill/>
          <a:ln w="0">
            <a:noFill/>
          </a:ln>
        </p:spPr>
        <p:txBody>
          <a:bodyPr wrap="square"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
            </a:r>
          </a:p>
          <a:p>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a:ext uri="{FF2B5EF4-FFF2-40B4-BE49-F238E27FC236}">
                <a16:creationId xmlns:a16="http://schemas.microsoft.com/office/drawing/2014/main" id="{B723C650-29AC-460C-924A-EEFBBDA61F9D}"/>
              </a:ext>
            </a:extLst>
          </p:cNvPr>
          <p:cNvSpPr>
            <a:spLocks noGrp="1"/>
          </p:cNvSpPr>
          <p:nvPr/>
        </p:nvSpPr>
        <p:spPr>
          <a:xfrm>
            <a:off x="609600" y="6162675"/>
            <a:ext cx="8763000" cy="285750"/>
          </a:xfrm>
          <a:prstGeom prst="rect">
            <a:avLst/>
          </a:prstGeom>
          <a:noFill/>
          <a:ln w="0">
            <a:noFill/>
          </a:ln>
        </p:spPr>
        <p:txBody>
          <a:bodyPr wrap="square" lIns="0" tIns="0" rIns="0" bIns="0" anchor="t">
            <a:noAutofit/>
          </a:bodyPr>
          <a:lstStyle/>
          <a:p>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Наборы данных для оценки поиска">
            <a:extLst>
              <a:ext uri="{FF2B5EF4-FFF2-40B4-BE49-F238E27FC236}">
                <a16:creationId xmlns:a16="http://schemas.microsoft.com/office/drawing/2014/main" id="{2F891781-5CE2-402D-B581-022173137B10}"/>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a:ext uri="{FF2B5EF4-FFF2-40B4-BE49-F238E27FC236}">
                <a16:creationId xmlns:a16="http://schemas.microsoft.com/office/drawing/2014/main" id="{F71D1E0E-97BF-4C4F-9DE0-2D5D488903B1}"/>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Таблица 8"/>
          <p:cNvGraphicFramePr/>
          <p:nvPr/>
        </p:nvGraphicFramePr>
        <p:xfrm>
          <a:off x="609600" y="1790700"/>
          <a:ext cx="10972800" cy="2657475"/>
        </p:xfrm>
        <a:graphic>
          <a:graphicData uri="http://schemas.openxmlformats.org/drawingml/2006/table">
            <a:tbl>
              <a:tblPr/>
              <a:tblGrid>
                <a:gridCol w="347662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523875">
                <a:tc>
                  <a:txBody>
                    <a:bodyPr/>
                    <a:lstStyle/>
                    <a:p>
                      <a:r>
                        <a:rPr sz="1950" b="1">
                          <a:solidFill>
                            <a:srgbClr val="526970"/>
                          </a:solidFill>
                          <a:latin typeface="Arial"/>
                          <a:ea typeface="Arial"/>
                          <a:cs typeface="Arial"/>
                        </a:rPr>
                        <a:t>Набор / бенчмарк</a:t>
                      </a:r>
                    </a:p>
                  </a:txBody>
                  <a:tcPr anchor="ctr">
                    <a:lnL w="0">
                      <a:noFill/>
                    </a:lnL>
                    <a:lnR w="0">
                      <a:noFill/>
                    </a:lnR>
                    <a:lnT w="0">
                      <a:noFill/>
                    </a:lnT>
                    <a:lnB w="7620">
                      <a:solidFill>
                        <a:srgbClr val="D4E1E0"/>
                      </a:solidFill>
                    </a:lnB>
                    <a:solidFill>
                      <a:srgbClr val="EFF5F4"/>
                    </a:solidFill>
                  </a:tcPr>
                </a:tc>
                <a:tc>
                  <a:txBody>
                    <a:bodyPr/>
                    <a:lstStyle/>
                    <a:p>
                      <a:r>
                        <a:rPr sz="1950" b="1">
                          <a:solidFill>
                            <a:srgbClr val="526970"/>
                          </a:solidFill>
                          <a:latin typeface="Arial"/>
                          <a:ea typeface="Arial"/>
                          <a:cs typeface="Arial"/>
                        </a:rPr>
                        <a:t>Источник и задача</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685800">
                <a:tc>
                  <a:txBody>
                    <a:bodyPr/>
                    <a:lstStyle/>
                    <a:p>
                      <a:r>
                        <a:rPr sz="2100" b="0">
                          <a:solidFill>
                            <a:srgbClr val="182B30"/>
                          </a:solidFill>
                          <a:latin typeface="Arial"/>
                          <a:ea typeface="Arial"/>
                          <a:cs typeface="Arial"/>
                        </a:rPr>
                        <a:t>Natural Questions</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100" b="0">
                          <a:solidFill>
                            <a:srgbClr val="182B30"/>
                          </a:solidFill>
                          <a:latin typeface="Arial"/>
                          <a:ea typeface="Arial"/>
                          <a:cs typeface="Arial"/>
                        </a:rPr>
                        <a:t>Запросы Google, ответы в Wikipedia</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685800">
                <a:tc>
                  <a:txBody>
                    <a:bodyPr/>
                    <a:lstStyle/>
                    <a:p>
                      <a:r>
                        <a:rPr sz="2100" b="0">
                          <a:solidFill>
                            <a:srgbClr val="182B30"/>
                          </a:solidFill>
                          <a:latin typeface="Arial"/>
                          <a:ea typeface="Arial"/>
                          <a:cs typeface="Arial"/>
                        </a:rPr>
                        <a:t>BEIR</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100" b="0">
                          <a:solidFill>
                            <a:srgbClr val="182B30"/>
                          </a:solidFill>
                          <a:latin typeface="Arial"/>
                          <a:ea typeface="Arial"/>
                          <a:cs typeface="Arial"/>
                        </a:rPr>
                        <a:t>Разные задачи и домены поиска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762000">
                <a:tc>
                  <a:txBody>
                    <a:bodyPr/>
                    <a:lstStyle/>
                    <a:p>
                      <a:r>
                        <a:rPr sz="2100" b="1">
                          <a:solidFill>
                            <a:srgbClr val="007F78"/>
                          </a:solidFill>
                          <a:latin typeface="Arial"/>
                          <a:ea typeface="Arial"/>
                          <a:cs typeface="Arial"/>
                        </a:rPr>
                        <a:t>MS MARCO</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tc>
                  <a:txBody>
                    <a:bodyPr/>
                    <a:lstStyle/>
                    <a:p>
                      <a:r>
                        <a:rPr sz="2100" b="1">
                          <a:solidFill>
                            <a:srgbClr val="007F78"/>
                          </a:solidFill>
                          <a:latin typeface="Arial"/>
                          <a:ea typeface="Arial"/>
                          <a:cs typeface="Arial"/>
                        </a:rPr>
                        <a:t>Запросы Bing, поиск по веб-фрагментам</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extLst>
                  <a:ext uri="{0D108BD9-81ED-4DB2-BD59-A6C34878D82A}">
                    <a16:rowId xmlns:a16="http://schemas.microsoft.com/office/drawing/2014/main" val="10003"/>
                  </a:ext>
                </a:extLst>
              </a:tr>
            </a:tbl>
          </a:graphicData>
        </a:graphic>
      </p:graphicFrame>
      <p:sp>
        <p:nvSpPr>
          <p:cNvPr id="4" name="Почему MS MARCO">
            <a:extLst>
              <a:ext uri="{FF2B5EF4-FFF2-40B4-BE49-F238E27FC236}">
                <a16:creationId xmlns:a16="http://schemas.microsoft.com/office/drawing/2014/main" id="{11577D97-8375-4866-8E73-2C5B2185B64D}"/>
              </a:ext>
            </a:extLst>
          </p:cNvPr>
          <p:cNvSpPr>
            <a:spLocks noGrp="1"/>
          </p:cNvSpPr>
          <p:nvPr/>
        </p:nvSpPr>
        <p:spPr>
          <a:xfrm>
            <a:off x="609600" y="4867275"/>
            <a:ext cx="10972800" cy="419100"/>
          </a:xfrm>
          <a:prstGeom prst="rect">
            <a:avLst/>
          </a:prstGeom>
          <a:noFill/>
          <a:ln w="0">
            <a:noFill/>
          </a:ln>
        </p:spPr>
        <p:txBody>
          <a:bodyPr wrap="square" lIns="0" tIns="0" rIns="0" bIns="0" anchor="t">
            <a:noAutofit/>
          </a:bodyPr>
          <a:lstStyle/>
          <a:p>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a:ext uri="{FF2B5EF4-FFF2-40B4-BE49-F238E27FC236}">
                <a16:creationId xmlns:a16="http://schemas.microsoft.com/office/drawing/2014/main" id="{0C879FB9-9E24-461A-B2A7-2CF3B2C2FAAA}"/>
              </a:ext>
            </a:extLst>
          </p:cNvPr>
          <p:cNvSpPr>
            <a:spLocks noGrp="1"/>
          </p:cNvSpPr>
          <p:nvPr/>
        </p:nvSpPr>
        <p:spPr>
          <a:xfrm>
            <a:off x="609600" y="5419725"/>
            <a:ext cx="10972800" cy="419100"/>
          </a:xfrm>
          <a:prstGeom prst="rect">
            <a:avLst/>
          </a:prstGeom>
          <a:noFill/>
          <a:ln w="0">
            <a:noFill/>
          </a:ln>
        </p:spPr>
        <p:txBody>
          <a:bodyPr wrap="square" lIns="0" tIns="0" rIns="0" bIns="0" anchor="t">
            <a:noAutofit/>
          </a:bodyPr>
          <a:lstStyle/>
          <a:p>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a:ext uri="{FF2B5EF4-FFF2-40B4-BE49-F238E27FC236}">
                <a16:creationId xmlns:a16="http://schemas.microsoft.com/office/drawing/2014/main" id="{D5E59AFC-D6DF-4887-8DEB-CA19C471F9A8}"/>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Близкие результаты ведущих систем">
            <a:extLst>
              <a:ext uri="{FF2B5EF4-FFF2-40B4-BE49-F238E27FC236}">
                <a16:creationId xmlns:a16="http://schemas.microsoft.com/office/drawing/2014/main" id="{3E439587-929A-43B0-A800-C37A233BB77F}"/>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a:ext uri="{FF2B5EF4-FFF2-40B4-BE49-F238E27FC236}">
                <a16:creationId xmlns:a16="http://schemas.microsoft.com/office/drawing/2014/main" id="{2D522899-17C5-4EDB-8AF6-8CC754F73FB9}"/>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a:ext uri="{FF2B5EF4-FFF2-40B4-BE49-F238E27FC236}">
                <a16:creationId xmlns:a16="http://schemas.microsoft.com/office/drawing/2014/main" id="{5E183FEF-C4D0-4B49-9D47-7E2B26800B2C}"/>
              </a:ext>
            </a:extLst>
          </p:cNvPr>
          <p:cNvSpPr>
            <a:spLocks noGrp="1"/>
          </p:cNvSpPr>
          <p:nvPr/>
        </p:nvSpPr>
        <p:spPr>
          <a:xfrm>
            <a:off x="609600" y="1600200"/>
            <a:ext cx="10972800" cy="342900"/>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Таблица 12"/>
          <p:cNvGraphicFramePr/>
          <p:nvPr/>
        </p:nvGraphicFramePr>
        <p:xfrm>
          <a:off x="609600" y="2219325"/>
          <a:ext cx="7762875" cy="2800350"/>
        </p:xfrm>
        <a:graphic>
          <a:graphicData uri="http://schemas.openxmlformats.org/drawingml/2006/table">
            <a:tbl>
              <a:tblPr/>
              <a:tblGrid>
                <a:gridCol w="581025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tblGrid>
              <a:tr h="514350">
                <a:tc>
                  <a:txBody>
                    <a:bodyPr/>
                    <a:lstStyle/>
                    <a:p>
                      <a:r>
                        <a:rPr sz="1950" b="1">
                          <a:solidFill>
                            <a:srgbClr val="526970"/>
                          </a:solidFill>
                          <a:latin typeface="Arial"/>
                          <a:ea typeface="Arial"/>
                          <a:cs typeface="Arial"/>
                        </a:rPr>
                        <a:t>Система</a:t>
                      </a:r>
                    </a:p>
                  </a:txBody>
                  <a:tcPr anchor="ctr">
                    <a:lnL w="0">
                      <a:noFill/>
                    </a:lnL>
                    <a:lnR w="0">
                      <a:noFill/>
                    </a:lnR>
                    <a:lnT w="0">
                      <a:noFill/>
                    </a:lnT>
                    <a:lnB w="7620">
                      <a:solidFill>
                        <a:srgbClr val="D4E1E0"/>
                      </a:solidFill>
                    </a:lnB>
                    <a:solidFill>
                      <a:srgbClr val="EFF5F4"/>
                    </a:solidFill>
                  </a:tcPr>
                </a:tc>
                <a:tc>
                  <a:txBody>
                    <a:bodyPr/>
                    <a:lstStyle/>
                    <a:p>
                      <a:r>
                        <a:rPr sz="1950" b="1">
                          <a:solidFill>
                            <a:srgbClr val="526970"/>
                          </a:solidFill>
                          <a:latin typeface="Arial"/>
                          <a:ea typeface="Arial"/>
                          <a:cs typeface="Arial"/>
                        </a:rPr>
                        <a:t>MRR@10</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71500">
                <a:tc>
                  <a:txBody>
                    <a:bodyPr/>
                    <a:lstStyle/>
                    <a:p>
                      <a:r>
                        <a:rPr sz="2100" b="0">
                          <a:solidFill>
                            <a:srgbClr val="182B30"/>
                          </a:solidFill>
                          <a:latin typeface="Arial"/>
                          <a:ea typeface="Arial"/>
                          <a:cs typeface="Arial"/>
                        </a:rPr>
                        <a:t>AliceMind SLM + HLAR</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71500">
                <a:tc>
                  <a:txBody>
                    <a:bodyPr/>
                    <a:lstStyle/>
                    <a:p>
                      <a:r>
                        <a:rPr sz="2100" b="0">
                          <a:solidFill>
                            <a:srgbClr val="182B30"/>
                          </a:solidFill>
                          <a:latin typeface="Arial"/>
                          <a:ea typeface="Arial"/>
                          <a:cs typeface="Arial"/>
                        </a:rPr>
                        <a:t>Listwise + Fusion</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0,440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71500">
                <a:tc>
                  <a:txBody>
                    <a:bodyPr/>
                    <a:lstStyle/>
                    <a:p>
                      <a:r>
                        <a:rPr sz="2100" b="0">
                          <a:solidFill>
                            <a:srgbClr val="182B30"/>
                          </a:solidFill>
                          <a:latin typeface="Arial"/>
                          <a:ea typeface="Arial"/>
                          <a:cs typeface="Arial"/>
                        </a:rPr>
                        <a:t>CoT-MAE</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0,438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71500">
                <a:tc>
                  <a:txBody>
                    <a:bodyPr/>
                    <a:lstStyle/>
                    <a:p>
                      <a:r>
                        <a:rPr sz="2100" b="0">
                          <a:solidFill>
                            <a:srgbClr val="182B30"/>
                          </a:solidFill>
                          <a:latin typeface="Arial"/>
                          <a:ea typeface="Arial"/>
                          <a:cs typeface="Arial"/>
                        </a:rPr>
                        <a:t>Lichee + DeBERTa + reranking</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0,436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bl>
          </a:graphicData>
        </a:graphic>
      </p:graphicFrame>
      <p:sp>
        <p:nvSpPr>
          <p:cNvPr id="5" name="0,014">
            <a:extLst>
              <a:ext uri="{FF2B5EF4-FFF2-40B4-BE49-F238E27FC236}">
                <a16:creationId xmlns:a16="http://schemas.microsoft.com/office/drawing/2014/main" id="{16BBCA8E-49CC-4B48-9AC3-22D2A94136BF}"/>
              </a:ext>
            </a:extLst>
          </p:cNvPr>
          <p:cNvSpPr>
            <a:spLocks noGrp="1"/>
          </p:cNvSpPr>
          <p:nvPr/>
        </p:nvSpPr>
        <p:spPr>
          <a:xfrm>
            <a:off x="8858250" y="2476500"/>
            <a:ext cx="2714625" cy="828675"/>
          </a:xfrm>
          <a:prstGeom prst="rect">
            <a:avLst/>
          </a:prstGeom>
          <a:noFill/>
          <a:ln w="0">
            <a:noFill/>
          </a:ln>
        </p:spPr>
        <p:txBody>
          <a:bodyPr wrap="square" lIns="0" tIns="0" rIns="0" bIns="0" anchor="t">
            <a:noAutofit/>
          </a:bodyPr>
          <a:lstStyle/>
          <a:p>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a:ext uri="{FF2B5EF4-FFF2-40B4-BE49-F238E27FC236}">
                <a16:creationId xmlns:a16="http://schemas.microsoft.com/office/drawing/2014/main" id="{81A875BD-9CD0-4DD7-B28C-5BA27F5D0ACC}"/>
              </a:ext>
            </a:extLst>
          </p:cNvPr>
          <p:cNvSpPr>
            <a:spLocks noGrp="1"/>
          </p:cNvSpPr>
          <p:nvPr/>
        </p:nvSpPr>
        <p:spPr>
          <a:xfrm>
            <a:off x="8858250" y="3390900"/>
            <a:ext cx="2714625" cy="790575"/>
          </a:xfrm>
          <a:prstGeom prst="rect">
            <a:avLst/>
          </a:prstGeom>
          <a:noFill/>
          <a:ln w="0">
            <a:noFill/>
          </a:ln>
        </p:spPr>
        <p:txBody>
          <a:bodyPr wrap="square" lIns="0" tIns="0" rIns="0" bIns="0" anchor="t">
            <a:noAutofit/>
          </a:bodyPr>
          <a:lstStyle/>
          <a:p>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a:ext uri="{FF2B5EF4-FFF2-40B4-BE49-F238E27FC236}">
                <a16:creationId xmlns:a16="http://schemas.microsoft.com/office/drawing/2014/main" id="{60D1B159-625C-4AD4-86D0-3B3E3554BF40}"/>
              </a:ext>
            </a:extLst>
          </p:cNvPr>
          <p:cNvSpPr>
            <a:spLocks noGrp="1"/>
          </p:cNvSpPr>
          <p:nvPr/>
        </p:nvSpPr>
        <p:spPr>
          <a:xfrm>
            <a:off x="609600" y="5286375"/>
            <a:ext cx="10972800" cy="600075"/>
          </a:xfrm>
          <a:prstGeom prst="rect">
            <a:avLst/>
          </a:prstGeom>
          <a:noFill/>
          <a:ln w="0">
            <a:noFill/>
          </a:ln>
        </p:spPr>
        <p:txBody>
          <a:bodyPr wrap="square" lIns="0" tIns="0" rIns="0" bIns="0" anchor="t">
            <a:noAutofit/>
          </a:bodyPr>
          <a:lstStyle/>
          <a:p>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a:ext uri="{FF2B5EF4-FFF2-40B4-BE49-F238E27FC236}">
                <a16:creationId xmlns:a16="http://schemas.microsoft.com/office/drawing/2014/main" id="{03E99439-7468-4708-941D-E7EBD0800A2F}"/>
              </a:ext>
            </a:extLst>
          </p:cNvPr>
          <p:cNvSpPr>
            <a:spLocks noGrp="1"/>
          </p:cNvSpPr>
          <p:nvPr/>
        </p:nvSpPr>
        <p:spPr>
          <a:xfrm>
            <a:off x="609600" y="5800725"/>
            <a:ext cx="10972800" cy="333375"/>
          </a:xfrm>
          <a:prstGeom prst="rect">
            <a:avLst/>
          </a:prstGeom>
          <a:noFill/>
          <a:ln w="0">
            <a:noFill/>
          </a:ln>
        </p:spPr>
        <p:txBody>
          <a:bodyPr wrap="square" lIns="0" tIns="0" rIns="0" bIns="0" anchor="t">
            <a:noAutofit/>
          </a:bodyPr>
          <a:lstStyle/>
          <a:p>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a:ext uri="{FF2B5EF4-FFF2-40B4-BE49-F238E27FC236}">
                <a16:creationId xmlns:a16="http://schemas.microsoft.com/office/drawing/2014/main" id="{C56C3BAF-1E96-4ED7-9B13-1B805B164267}"/>
              </a:ext>
            </a:extLst>
          </p:cNvPr>
          <p:cNvSpPr>
            <a:spLocks noGrp="1"/>
          </p:cNvSpPr>
          <p:nvPr/>
        </p:nvSpPr>
        <p:spPr>
          <a:xfrm>
            <a:off x="609600" y="6267450"/>
            <a:ext cx="10001250" cy="276225"/>
          </a:xfrm>
          <a:prstGeom prst="rect">
            <a:avLst/>
          </a:prstGeom>
          <a:noFill/>
          <a:ln w="0">
            <a:noFill/>
          </a:ln>
        </p:spPr>
        <p:txBody>
          <a:bodyPr wrap="square" lIns="0" tIns="0" rIns="0" bIns="0" anchor="t">
            <a:noAutofit/>
          </a:bodyPr>
          <a:lstStyle/>
          <a:p>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Релевантный ответ без оценки">
            <a:extLst>
              <a:ext uri="{FF2B5EF4-FFF2-40B4-BE49-F238E27FC236}">
                <a16:creationId xmlns:a16="http://schemas.microsoft.com/office/drawing/2014/main" id="{334DD0EA-0A05-4641-AA05-35F3A325D91C}"/>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a:ext uri="{FF2B5EF4-FFF2-40B4-BE49-F238E27FC236}">
                <a16:creationId xmlns:a16="http://schemas.microsoft.com/office/drawing/2014/main" id="{88277A78-B55B-40D3-BB92-46D7F0436CF3}"/>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a:ext uri="{FF2B5EF4-FFF2-40B4-BE49-F238E27FC236}">
                <a16:creationId xmlns:a16="http://schemas.microsoft.com/office/drawing/2014/main" id="{94134873-7E97-45CA-BA35-450C12C190E2}"/>
              </a:ext>
            </a:extLst>
          </p:cNvPr>
          <p:cNvSpPr>
            <a:spLocks noGrp="1"/>
          </p:cNvSpPr>
          <p:nvPr/>
        </p:nvSpPr>
        <p:spPr>
          <a:xfrm>
            <a:off x="609600" y="1762125"/>
            <a:ext cx="10972800" cy="485775"/>
          </a:xfrm>
          <a:prstGeom prst="rect">
            <a:avLst/>
          </a:prstGeom>
          <a:noFill/>
          <a:ln w="0">
            <a:noFill/>
          </a:ln>
        </p:spPr>
        <p:txBody>
          <a:bodyPr wrap="square" lIns="0" tIns="0" rIns="0" bIns="0" anchor="t">
            <a:noAutofit/>
          </a:bodyPr>
          <a:lstStyle/>
          <a:p>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Таблица 8"/>
          <p:cNvGraphicFramePr/>
          <p:nvPr/>
        </p:nvGraphicFramePr>
        <p:xfrm>
          <a:off x="609600" y="2533650"/>
          <a:ext cx="10972800" cy="3086100"/>
        </p:xfrm>
        <a:graphic>
          <a:graphicData uri="http://schemas.openxmlformats.org/drawingml/2006/table">
            <a:tbl>
              <a:tblPr/>
              <a:tblGrid>
                <a:gridCol w="64008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533400">
                <a:tc>
                  <a:txBody>
                    <a:bodyPr/>
                    <a:lstStyle/>
                    <a:p>
                      <a:r>
                        <a:rPr sz="1650" b="1">
                          <a:solidFill>
                            <a:srgbClr val="526970"/>
                          </a:solidFill>
                          <a:latin typeface="Arial"/>
                          <a:ea typeface="Arial"/>
                          <a:cs typeface="Arial"/>
                        </a:rPr>
                        <a:t>Сокращённый пересказ фрагмента</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Исходные оценки</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Оценка человека</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838200">
                <a:tc>
                  <a:txBody>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971550">
                <a:tc>
                  <a:txBody>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tc>
                  <a:txBody>
                    <a:bodyPr/>
                    <a:lstStyle/>
                    <a:p>
                      <a:r>
                        <a:rPr sz="1800" b="0">
                          <a:solidFill>
                            <a:srgbClr val="182B30"/>
                          </a:solidFill>
                          <a:latin typeface="Arial"/>
                          <a:ea typeface="Arial"/>
                          <a:cs typeface="Arial"/>
                        </a:rPr>
                        <a:t>Нет оценки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1">
                          <a:solidFill>
                            <a:srgbClr val="007F78"/>
                          </a:solidFill>
                          <a:latin typeface="Arial"/>
                          <a:ea typeface="Arial"/>
                          <a:cs typeface="Arial"/>
                        </a:rPr>
                        <a:t>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extLst>
                  <a:ext uri="{0D108BD9-81ED-4DB2-BD59-A6C34878D82A}">
                    <a16:rowId xmlns:a16="http://schemas.microsoft.com/office/drawing/2014/main" val="10002"/>
                  </a:ext>
                </a:extLst>
              </a:tr>
              <a:tr h="742950">
                <a:tc>
                  <a:txBody>
                    <a:bodyPr/>
                    <a:lstStyle/>
                    <a:p>
                      <a:r>
                        <a:rPr sz="1800" b="0">
                          <a:solidFill>
                            <a:srgbClr val="182B30"/>
                          </a:solidFill>
                          <a:latin typeface="Arial"/>
                          <a:ea typeface="Arial"/>
                          <a:cs typeface="Arial"/>
                        </a:rPr>
                        <a:t>987600   Температура кипения ацетона.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Нет оценки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Нерелевантен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bl>
          </a:graphicData>
        </a:graphic>
      </p:graphicFrame>
      <p:sp>
        <p:nvSpPr>
          <p:cNvPr id="5" name="qrels: оценки релевантности. Нет оценки: нулевой">
            <a:extLst>
              <a:ext uri="{FF2B5EF4-FFF2-40B4-BE49-F238E27FC236}">
                <a16:creationId xmlns:a16="http://schemas.microsoft.com/office/drawing/2014/main" id="{1D3E2C44-7336-4B9D-BD9F-DCB71CA25FA6}"/>
              </a:ext>
            </a:extLst>
          </p:cNvPr>
          <p:cNvSpPr>
            <a:spLocks noGrp="1"/>
          </p:cNvSpPr>
          <p:nvPr/>
        </p:nvSpPr>
        <p:spPr>
          <a:xfrm>
            <a:off x="609600" y="6019800"/>
            <a:ext cx="10810875" cy="523875"/>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Данные для ручной доразметки">
            <a:extLst>
              <a:ext uri="{FF2B5EF4-FFF2-40B4-BE49-F238E27FC236}">
                <a16:creationId xmlns:a16="http://schemas.microsoft.com/office/drawing/2014/main" id="{A34BA3CC-C0E2-4636-87E7-42AF23E254A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Данные для ручной доразметки</a:t>
            </a:r>
          </a:p>
        </p:txBody>
      </p:sp>
      <p:sp>
        <p:nvSpPr>
          <p:cNvPr id="2" name="05">
            <a:extLst>
              <a:ext uri="{FF2B5EF4-FFF2-40B4-BE49-F238E27FC236}">
                <a16:creationId xmlns:a16="http://schemas.microsoft.com/office/drawing/2014/main" id="{2353822A-C676-4110-936E-E30726F7D8DD}"/>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S MARCO Passage Ranking: 8 841 823 англоязычных фрагмента">
            <a:extLst>
              <a:ext uri="{FF2B5EF4-FFF2-40B4-BE49-F238E27FC236}">
                <a16:creationId xmlns:a16="http://schemas.microsoft.com/office/drawing/2014/main" id="{C4E448FC-7633-44A8-ACC7-B8922870AD71}"/>
              </a:ext>
            </a:extLst>
          </p:cNvPr>
          <p:cNvSpPr>
            <a:spLocks noGrp="1"/>
          </p:cNvSpPr>
          <p:nvPr/>
        </p:nvSpPr>
        <p:spPr>
          <a:xfrm>
            <a:off x="609600" y="1609725"/>
            <a:ext cx="10972800" cy="457200"/>
          </a:xfrm>
          <a:prstGeom prst="rect">
            <a:avLst/>
          </a:prstGeom>
          <a:noFill/>
          <a:ln w="0">
            <a:noFill/>
          </a:ln>
        </p:spPr>
        <p:txBody>
          <a:bodyPr wrap="square" lIns="0" tIns="0" rIns="0" bIns="0" anchor="t">
            <a:noAutofit/>
          </a:bodyPr>
          <a:lstStyle>
            <a:defPPr algn="l">
              <a:defRPr sz="2100" b="0">
                <a:solidFill>
                  <a:srgbClr val="526970"/>
                </a:solidFill>
                <a:latin typeface="Arial"/>
                <a:ea typeface="Arial"/>
                <a:cs typeface="Arial"/>
              </a:defRPr>
            </a:defPPr>
          </a:lstStyle>
          <a:p>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8 841 823 англоязычных фрагмента</a:t>
            </a:r>
          </a:p>
        </p:txBody>
      </p:sp>
      <p:sp>
        <p:nvSpPr>
          <p:cNvPr id="4" name="dev/small">
            <a:extLst>
              <a:ext uri="{FF2B5EF4-FFF2-40B4-BE49-F238E27FC236}">
                <a16:creationId xmlns:a16="http://schemas.microsoft.com/office/drawing/2014/main" id="{2ED41703-E32F-4B8B-8DCC-4A841119316C}"/>
              </a:ext>
            </a:extLst>
          </p:cNvPr>
          <p:cNvSpPr>
            <a:spLocks noGrp="1"/>
          </p:cNvSpPr>
          <p:nvPr/>
        </p:nvSpPr>
        <p:spPr>
          <a:xfrm>
            <a:off x="609600" y="2476500"/>
            <a:ext cx="4572000" cy="428625"/>
          </a:xfrm>
          <a:prstGeom prst="rect">
            <a:avLst/>
          </a:prstGeom>
          <a:noFill/>
          <a:ln w="0">
            <a:noFill/>
          </a:ln>
        </p:spPr>
        <p:txBody>
          <a:bodyPr wrap="square" lIns="0" tIns="0" rIns="0" bIns="0" anchor="t">
            <a:noAutofit/>
          </a:bodyPr>
          <a:lstStyle>
            <a:defPPr algn="l">
              <a:defRPr sz="2250" b="1">
                <a:solidFill>
                  <a:srgbClr val="182B30"/>
                </a:solidFill>
                <a:latin typeface="Arial"/>
                <a:ea typeface="Arial"/>
                <a:cs typeface="Arial"/>
              </a:defRPr>
            </a:defPPr>
          </a:lstStyle>
          <a:p>
            <a:pPr algn="l">
              <a:defRPr sz="2250" b="1">
                <a:solidFill>
                  <a:srgbClr val="182B30"/>
                </a:solidFill>
                <a:latin typeface="Arial"/>
                <a:ea typeface="Arial"/>
                <a:cs typeface="Arial"/>
              </a:defRPr>
            </a:pPr>
            <a:r>
              <a:rPr sz="2250" b="1">
                <a:solidFill>
                  <a:srgbClr val="182B30"/>
                </a:solidFill>
                <a:latin typeface="Arial"/>
                <a:ea typeface="Arial"/>
                <a:cs typeface="Arial"/>
              </a:rPr>
              <a:t>dev/small</a:t>
            </a:r>
          </a:p>
        </p:txBody>
      </p:sp>
      <p:sp>
        <p:nvSpPr>
          <p:cNvPr id="5" name="6 980">
            <a:extLst>
              <a:ext uri="{FF2B5EF4-FFF2-40B4-BE49-F238E27FC236}">
                <a16:creationId xmlns:a16="http://schemas.microsoft.com/office/drawing/2014/main" id="{2DB9E5FA-2063-4D9D-8B35-5CB16277C07E}"/>
              </a:ext>
            </a:extLst>
          </p:cNvPr>
          <p:cNvSpPr>
            <a:spLocks noGrp="1"/>
          </p:cNvSpPr>
          <p:nvPr/>
        </p:nvSpPr>
        <p:spPr>
          <a:xfrm>
            <a:off x="609600" y="2962275"/>
            <a:ext cx="4381500" cy="771525"/>
          </a:xfrm>
          <a:prstGeom prst="rect">
            <a:avLst/>
          </a:prstGeom>
          <a:noFill/>
          <a:ln w="0">
            <a:noFill/>
          </a:ln>
        </p:spPr>
        <p:txBody>
          <a:bodyPr wrap="square" lIns="0" tIns="0" rIns="0" bIns="0" anchor="t">
            <a:noAutofit/>
          </a:bodyPr>
          <a:lstStyle>
            <a:defPPr algn="l">
              <a:defRPr sz="4950" b="1">
                <a:solidFill>
                  <a:srgbClr val="007F78"/>
                </a:solidFill>
                <a:latin typeface="Arial"/>
                <a:ea typeface="Arial"/>
                <a:cs typeface="Arial"/>
              </a:defRPr>
            </a:defPPr>
          </a:lstStyle>
          <a:p>
            <a:pPr algn="l">
              <a:defRPr sz="4950" b="1">
                <a:solidFill>
                  <a:srgbClr val="007F78"/>
                </a:solidFill>
                <a:latin typeface="Arial"/>
                <a:ea typeface="Arial"/>
                <a:cs typeface="Arial"/>
              </a:defRPr>
            </a:pPr>
            <a:r>
              <a:rPr sz="4950" b="1">
                <a:solidFill>
                  <a:srgbClr val="007F78"/>
                </a:solidFill>
                <a:latin typeface="Arial"/>
                <a:ea typeface="Arial"/>
                <a:cs typeface="Arial"/>
              </a:rPr>
              <a:t>6 980</a:t>
            </a:r>
          </a:p>
        </p:txBody>
      </p:sp>
      <p:sp>
        <p:nvSpPr>
          <p:cNvPr id="6" name="запросов в стандартной&#10;оценочной подвыборке">
            <a:extLst>
              <a:ext uri="{FF2B5EF4-FFF2-40B4-BE49-F238E27FC236}">
                <a16:creationId xmlns:a16="http://schemas.microsoft.com/office/drawing/2014/main" id="{0C2A625A-9F0D-46DA-B13E-5D29811BAA5B}"/>
              </a:ext>
            </a:extLst>
          </p:cNvPr>
          <p:cNvSpPr>
            <a:spLocks noGrp="1"/>
          </p:cNvSpPr>
          <p:nvPr/>
        </p:nvSpPr>
        <p:spPr>
          <a:xfrm>
            <a:off x="609600" y="3848100"/>
            <a:ext cx="4572000" cy="762000"/>
          </a:xfrm>
          <a:prstGeom prst="rect">
            <a:avLst/>
          </a:prstGeom>
          <a:noFill/>
          <a:ln w="0">
            <a:noFill/>
          </a:ln>
        </p:spPr>
        <p:txBody>
          <a:bodyPr wrap="square" lIns="0" tIns="0" rIns="0" bIns="0" anchor="t">
            <a:noAutofit/>
          </a:bodyPr>
          <a:lstStyle>
            <a:defPPr algn="l">
              <a:defRPr sz="2100" b="0">
                <a:solidFill>
                  <a:srgbClr val="182B30"/>
                </a:solidFill>
                <a:latin typeface="Arial"/>
                <a:ea typeface="Arial"/>
                <a:cs typeface="Arial"/>
              </a:defRPr>
            </a:defPPr>
          </a:lstStyle>
          <a:p>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в стандартной</a:t>
            </a:r>
          </a:p>
          <a:p>
            <a:pPr algn="l">
              <a:defRPr sz="2100" b="0">
                <a:solidFill>
                  <a:srgbClr val="182B30"/>
                </a:solidFill>
                <a:latin typeface="Arial"/>
                <a:ea typeface="Arial"/>
                <a:cs typeface="Arial"/>
              </a:defRPr>
            </a:pPr>
            <a:r>
              <a:rPr sz="2100" b="0">
                <a:solidFill>
                  <a:srgbClr val="182B30"/>
                </a:solidFill>
                <a:latin typeface="Arial"/>
                <a:ea typeface="Arial"/>
                <a:cs typeface="Arial"/>
              </a:rPr>
              <a:t>оценочной подвыборке</a:t>
            </a:r>
          </a:p>
        </p:txBody>
      </p:sp>
      <p:sp>
        <p:nvSpPr>
          <p:cNvPr id="7" name="7 437 исходных положительных пар">
            <a:extLst>
              <a:ext uri="{FF2B5EF4-FFF2-40B4-BE49-F238E27FC236}">
                <a16:creationId xmlns:a16="http://schemas.microsoft.com/office/drawing/2014/main" id="{334388CF-080F-4290-9A46-4B6903A25C6E}"/>
              </a:ext>
            </a:extLst>
          </p:cNvPr>
          <p:cNvSpPr>
            <a:spLocks noGrp="1"/>
          </p:cNvSpPr>
          <p:nvPr/>
        </p:nvSpPr>
        <p:spPr>
          <a:xfrm>
            <a:off x="609600" y="5000625"/>
            <a:ext cx="4762500" cy="666750"/>
          </a:xfrm>
          <a:prstGeom prst="rect">
            <a:avLst/>
          </a:prstGeom>
          <a:noFill/>
          <a:ln w="0">
            <a:noFill/>
          </a:ln>
        </p:spPr>
        <p:txBody>
          <a:bodyPr wrap="square" lIns="0" tIns="0" rIns="0" bIns="0" anchor="t">
            <a:noAutofit/>
          </a:bodyPr>
          <a:lstStyle>
            <a:defPPr algn="l">
              <a:defRPr sz="1950" b="0">
                <a:solidFill>
                  <a:srgbClr val="526970"/>
                </a:solidFill>
                <a:latin typeface="Arial"/>
                <a:ea typeface="Arial"/>
                <a:cs typeface="Arial"/>
              </a:defRPr>
            </a:defPPr>
          </a:lstStyle>
          <a:p>
            <a:pPr algn="l">
              <a:defRPr sz="1950" b="0">
                <a:solidFill>
                  <a:srgbClr val="526970"/>
                </a:solidFill>
                <a:latin typeface="Arial"/>
                <a:ea typeface="Arial"/>
                <a:cs typeface="Arial"/>
              </a:defRPr>
            </a:pPr>
            <a:r>
              <a:rPr sz="1950" b="0">
                <a:solidFill>
                  <a:srgbClr val="526970"/>
                </a:solidFill>
                <a:latin typeface="Arial"/>
                <a:ea typeface="Arial"/>
                <a:cs typeface="Arial"/>
              </a:rPr>
              <a:t>7 437 исходных положительных пар</a:t>
            </a:r>
          </a:p>
        </p:txBody>
      </p:sp>
      <p:sp>
        <p:nvSpPr>
          <p:cNvPr id="8" name="Ручная подвыборка из dev/small">
            <a:extLst>
              <a:ext uri="{FF2B5EF4-FFF2-40B4-BE49-F238E27FC236}">
                <a16:creationId xmlns:a16="http://schemas.microsoft.com/office/drawing/2014/main" id="{22B42E78-BD55-4445-A8FE-4309BC4BC35B}"/>
              </a:ext>
            </a:extLst>
          </p:cNvPr>
          <p:cNvSpPr>
            <a:spLocks noGrp="1"/>
          </p:cNvSpPr>
          <p:nvPr/>
        </p:nvSpPr>
        <p:spPr>
          <a:xfrm>
            <a:off x="6229350" y="2476500"/>
            <a:ext cx="5353050" cy="428625"/>
          </a:xfrm>
          <a:prstGeom prst="rect">
            <a:avLst/>
          </a:prstGeom>
          <a:noFill/>
          <a:ln w="0">
            <a:noFill/>
          </a:ln>
        </p:spPr>
        <p:txBody>
          <a:bodyPr wrap="square" lIns="0" tIns="0" rIns="0" bIns="0" anchor="t">
            <a:noAutofit/>
          </a:bodyPr>
          <a:lstStyle>
            <a:defPPr algn="l">
              <a:defRPr sz="2250" b="1">
                <a:solidFill>
                  <a:srgbClr val="182B30"/>
                </a:solidFill>
                <a:latin typeface="Arial"/>
                <a:ea typeface="Arial"/>
                <a:cs typeface="Arial"/>
              </a:defRPr>
            </a:defPPr>
          </a:lstStyle>
          <a:p>
            <a:pPr algn="l">
              <a:defRPr sz="2250" b="1">
                <a:solidFill>
                  <a:srgbClr val="182B30"/>
                </a:solidFill>
                <a:latin typeface="Arial"/>
                <a:ea typeface="Arial"/>
                <a:cs typeface="Arial"/>
              </a:defRPr>
            </a:pPr>
            <a:r>
              <a:rPr sz="2250" b="1">
                <a:solidFill>
                  <a:srgbClr val="182B30"/>
                </a:solidFill>
                <a:latin typeface="Arial"/>
                <a:ea typeface="Arial"/>
                <a:cs typeface="Arial"/>
              </a:rPr>
              <a:t>Ручная подвыборка из dev/small</a:t>
            </a:r>
          </a:p>
        </p:txBody>
      </p:sp>
      <p:sp>
        <p:nvSpPr>
          <p:cNvPr id="9" name="1 179">
            <a:extLst>
              <a:ext uri="{FF2B5EF4-FFF2-40B4-BE49-F238E27FC236}">
                <a16:creationId xmlns:a16="http://schemas.microsoft.com/office/drawing/2014/main" id="{59C256A8-9894-4A34-8A0F-574E12AFEF55}"/>
              </a:ext>
            </a:extLst>
          </p:cNvPr>
          <p:cNvSpPr>
            <a:spLocks noGrp="1"/>
          </p:cNvSpPr>
          <p:nvPr/>
        </p:nvSpPr>
        <p:spPr>
          <a:xfrm>
            <a:off x="6229350" y="2962275"/>
            <a:ext cx="4381500" cy="771525"/>
          </a:xfrm>
          <a:prstGeom prst="rect">
            <a:avLst/>
          </a:prstGeom>
          <a:noFill/>
          <a:ln w="0">
            <a:noFill/>
          </a:ln>
        </p:spPr>
        <p:txBody>
          <a:bodyPr wrap="square" lIns="0" tIns="0" rIns="0" bIns="0" anchor="t">
            <a:noAutofit/>
          </a:bodyPr>
          <a:lstStyle>
            <a:defPPr algn="l">
              <a:defRPr sz="4950" b="1">
                <a:solidFill>
                  <a:srgbClr val="007F78"/>
                </a:solidFill>
                <a:latin typeface="Arial"/>
                <a:ea typeface="Arial"/>
                <a:cs typeface="Arial"/>
              </a:defRPr>
            </a:defPPr>
          </a:lstStyle>
          <a:p>
            <a:pPr algn="l">
              <a:defRPr sz="4950" b="1">
                <a:solidFill>
                  <a:srgbClr val="007F78"/>
                </a:solidFill>
                <a:latin typeface="Arial"/>
                <a:ea typeface="Arial"/>
                <a:cs typeface="Arial"/>
              </a:defRPr>
            </a:pPr>
            <a:r>
              <a:rPr sz="4950" b="1">
                <a:solidFill>
                  <a:srgbClr val="007F78"/>
                </a:solidFill>
                <a:latin typeface="Arial"/>
                <a:ea typeface="Arial"/>
                <a:cs typeface="Arial"/>
              </a:rPr>
              <a:t>1 179</a:t>
            </a:r>
          </a:p>
        </p:txBody>
      </p:sp>
      <p:sp>
        <p:nvSpPr>
          <p:cNvPr id="10" name="запросов с дополнительными&#10;человеческими оценками">
            <a:extLst>
              <a:ext uri="{FF2B5EF4-FFF2-40B4-BE49-F238E27FC236}">
                <a16:creationId xmlns:a16="http://schemas.microsoft.com/office/drawing/2014/main" id="{CBA07B85-828A-40A0-83EE-7F24D9A0ADCF}"/>
              </a:ext>
            </a:extLst>
          </p:cNvPr>
          <p:cNvSpPr>
            <a:spLocks noGrp="1"/>
          </p:cNvSpPr>
          <p:nvPr/>
        </p:nvSpPr>
        <p:spPr>
          <a:xfrm>
            <a:off x="6229350" y="3848100"/>
            <a:ext cx="5334000" cy="762000"/>
          </a:xfrm>
          <a:prstGeom prst="rect">
            <a:avLst/>
          </a:prstGeom>
          <a:noFill/>
          <a:ln w="0">
            <a:noFill/>
          </a:ln>
        </p:spPr>
        <p:txBody>
          <a:bodyPr wrap="square" lIns="0" tIns="0" rIns="0" bIns="0" anchor="t">
            <a:noAutofit/>
          </a:bodyPr>
          <a:lstStyle>
            <a:defPPr algn="l">
              <a:defRPr sz="2100" b="0">
                <a:solidFill>
                  <a:srgbClr val="182B30"/>
                </a:solidFill>
                <a:latin typeface="Arial"/>
                <a:ea typeface="Arial"/>
                <a:cs typeface="Arial"/>
              </a:defRPr>
            </a:defPPr>
          </a:lstStyle>
          <a:p>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с дополнительными</a:t>
            </a:r>
          </a:p>
          <a:p>
            <a:pPr algn="l">
              <a:defRPr sz="2100" b="0">
                <a:solidFill>
                  <a:srgbClr val="182B30"/>
                </a:solidFill>
                <a:latin typeface="Arial"/>
                <a:ea typeface="Arial"/>
                <a:cs typeface="Arial"/>
              </a:defRPr>
            </a:pPr>
            <a:r>
              <a:rPr sz="2100" b="0">
                <a:solidFill>
                  <a:srgbClr val="182B30"/>
                </a:solidFill>
                <a:latin typeface="Arial"/>
                <a:ea typeface="Arial"/>
                <a:cs typeface="Arial"/>
              </a:rPr>
              <a:t>человеческими оценками</a:t>
            </a:r>
          </a:p>
        </p:txBody>
      </p:sp>
      <p:sp>
        <p:nvSpPr>
          <p:cNvPr id="11" name="33 667 пар «запрос – фрагмент»">
            <a:extLst>
              <a:ext uri="{FF2B5EF4-FFF2-40B4-BE49-F238E27FC236}">
                <a16:creationId xmlns:a16="http://schemas.microsoft.com/office/drawing/2014/main" id="{0CA45C8D-9073-4691-848F-B62AC53E5DFD}"/>
              </a:ext>
            </a:extLst>
          </p:cNvPr>
          <p:cNvSpPr>
            <a:spLocks noGrp="1"/>
          </p:cNvSpPr>
          <p:nvPr/>
        </p:nvSpPr>
        <p:spPr>
          <a:xfrm>
            <a:off x="6229350" y="5000625"/>
            <a:ext cx="5353050" cy="666750"/>
          </a:xfrm>
          <a:prstGeom prst="rect">
            <a:avLst/>
          </a:prstGeom>
          <a:noFill/>
          <a:ln w="0">
            <a:noFill/>
          </a:ln>
        </p:spPr>
        <p:txBody>
          <a:bodyPr wrap="square" lIns="0" tIns="0" rIns="0" bIns="0" anchor="t">
            <a:noAutofit/>
          </a:bodyPr>
          <a:lstStyle>
            <a:defPPr algn="l">
              <a:defRPr sz="1950" b="0">
                <a:solidFill>
                  <a:srgbClr val="526970"/>
                </a:solidFill>
                <a:latin typeface="Arial"/>
                <a:ea typeface="Arial"/>
                <a:cs typeface="Arial"/>
              </a:defRPr>
            </a:defPPr>
          </a:lstStyle>
          <a:p>
            <a:pPr algn="l">
              <a:defRPr sz="1950" b="0">
                <a:solidFill>
                  <a:srgbClr val="526970"/>
                </a:solidFill>
                <a:latin typeface="Arial"/>
                <a:ea typeface="Arial"/>
                <a:cs typeface="Arial"/>
              </a:defRPr>
            </a:pPr>
            <a:r>
              <a:rPr sz="1950" b="0">
                <a:solidFill>
                  <a:srgbClr val="526970"/>
                </a:solidFill>
                <a:latin typeface="Arial"/>
                <a:ea typeface="Arial"/>
                <a:cs typeface="Arial"/>
              </a:rPr>
              <a:t>33 667 пар «запрос – фрагмент»</a:t>
            </a:r>
          </a:p>
        </p:txBody>
      </p:sp>
      <p:sp>
        <p:nvSpPr>
          <p:cNvPr id="12" name="Прямая соединительная линия 11">
            <a:extLst>
              <a:ext uri="{FF2B5EF4-FFF2-40B4-BE49-F238E27FC236}">
                <a16:creationId xmlns:a16="http://schemas.microsoft.com/office/drawing/2014/main" id="{5F53ADBC-1693-4423-8E87-5C9EA3A3EE22}"/>
              </a:ext>
            </a:extLst>
          </p:cNvPr>
          <p:cNvSpPr>
            <a:spLocks noGrp="1"/>
          </p:cNvSpPr>
          <p:nvPr/>
        </p:nvSpPr>
        <p:spPr>
          <a:xfrm>
            <a:off x="609600" y="2219325"/>
            <a:ext cx="10972800" cy="0"/>
          </a:xfrm>
          <a:prstGeom prst="line">
            <a:avLst/>
          </a:prstGeom>
          <a:noFill/>
          <a:ln w="12383">
            <a:solidFill>
              <a:srgbClr val="D4E1E0"/>
            </a:solidFill>
          </a:ln>
        </p:spPr>
      </p:sp>
      <p:sp>
        <p:nvSpPr>
          <p:cNvPr id="13" name="Доразметка охватывает отобранных кандидатов для каждого запроса.">
            <a:extLst>
              <a:ext uri="{FF2B5EF4-FFF2-40B4-BE49-F238E27FC236}">
                <a16:creationId xmlns:a16="http://schemas.microsoft.com/office/drawing/2014/main" id="{1E9E408D-C93E-45C3-95F9-3F5EC4587A20}"/>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Доразметка охватывает отобранных кандидатов для каждого запроса.</a:t>
            </a:r>
          </a:p>
        </p:txBody>
      </p:sp>
    </p:spTree>
    <p:extLst>
      <p:ext uri="{BB962C8B-B14F-4D97-AF65-F5344CB8AC3E}">
        <p14:creationId xmlns:p14="http://schemas.microsoft.com/office/powerpoint/2010/main" val="1935300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Разметка с известным релевантным ответом">
            <a:extLst>
              <a:ext uri="{FF2B5EF4-FFF2-40B4-BE49-F238E27FC236}">
                <a16:creationId xmlns:a16="http://schemas.microsoft.com/office/drawing/2014/main" id="{4F08E455-965E-4FD3-8FB7-D561BA763F75}"/>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a:ext uri="{FF2B5EF4-FFF2-40B4-BE49-F238E27FC236}">
                <a16:creationId xmlns:a16="http://schemas.microsoft.com/office/drawing/2014/main" id="{9F6A7005-F48E-49E7-A616-E8BA12856E98}"/>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a:ext uri="{FF2B5EF4-FFF2-40B4-BE49-F238E27FC236}">
                <a16:creationId xmlns:a16="http://schemas.microsoft.com/office/drawing/2014/main" id="{E06B08BB-DEBF-4476-A79E-EC33232EEF82}"/>
              </a:ext>
            </a:extLst>
          </p:cNvPr>
          <p:cNvSpPr>
            <a:spLocks noGrp="1"/>
          </p:cNvSpPr>
          <p:nvPr/>
        </p:nvSpPr>
        <p:spPr>
          <a:xfrm>
            <a:off x="609600" y="1885950"/>
            <a:ext cx="3095625" cy="1143000"/>
          </a:xfrm>
          <a:prstGeom prst="rect">
            <a:avLst/>
          </a:prstGeom>
          <a:solidFill>
            <a:srgbClr val="EFF5F4"/>
          </a:solidFill>
          <a:ln w="11430">
            <a:solidFill>
              <a:srgbClr val="D4E1E0"/>
            </a:solidFill>
          </a:ln>
        </p:spPr>
        <p:txBody>
          <a:bodyPr lIns="133350" tIns="114300" rIns="133350" bIns="114300" anchor="ctr">
            <a:noAutofit/>
          </a:bodyPr>
          <a:lstStyle/>
          <a:p>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a:ext uri="{FF2B5EF4-FFF2-40B4-BE49-F238E27FC236}">
                <a16:creationId xmlns:a16="http://schemas.microsoft.com/office/drawing/2014/main" id="{B5224D1A-E575-427A-AC94-52A3C3695468}"/>
              </a:ext>
            </a:extLst>
          </p:cNvPr>
          <p:cNvSpPr>
            <a:spLocks noGrp="1"/>
          </p:cNvSpPr>
          <p:nvPr/>
        </p:nvSpPr>
        <p:spPr>
          <a:xfrm>
            <a:off x="609600" y="3895725"/>
            <a:ext cx="3095625" cy="1219200"/>
          </a:xfrm>
          <a:prstGeom prst="rect">
            <a:avLst/>
          </a:prstGeom>
          <a:solidFill>
            <a:srgbClr val="FAEFE9"/>
          </a:solidFill>
          <a:ln w="11430">
            <a:solidFill>
              <a:srgbClr val="D4E1E0"/>
            </a:solidFill>
          </a:ln>
        </p:spPr>
        <p:txBody>
          <a:bodyPr lIns="133350" tIns="114300" rIns="133350" bIns="114300" anchor="ctr">
            <a:noAutofit/>
          </a:bodyPr>
          <a:lstStyle/>
          <a:p>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a:ext uri="{FF2B5EF4-FFF2-40B4-BE49-F238E27FC236}">
                <a16:creationId xmlns:a16="http://schemas.microsoft.com/office/drawing/2014/main" id="{5118D0C7-C21D-4D05-8EE0-3051D5EB73E6}"/>
              </a:ext>
            </a:extLst>
          </p:cNvPr>
          <p:cNvSpPr>
            <a:spLocks noGrp="1"/>
          </p:cNvSpPr>
          <p:nvPr/>
        </p:nvSpPr>
        <p:spPr>
          <a:xfrm>
            <a:off x="4619625" y="2733675"/>
            <a:ext cx="2647950" cy="1219200"/>
          </a:xfrm>
          <a:prstGeom prst="rect">
            <a:avLst/>
          </a:prstGeom>
          <a:solidFill>
            <a:srgbClr val="EFF5F4"/>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a:ext uri="{FF2B5EF4-FFF2-40B4-BE49-F238E27FC236}">
                <a16:creationId xmlns:a16="http://schemas.microsoft.com/office/drawing/2014/main" id="{2CBD2ADC-55FF-4AB8-A47A-DE8B60C304FD}"/>
              </a:ext>
            </a:extLst>
          </p:cNvPr>
          <p:cNvSpPr>
            <a:spLocks noGrp="1"/>
          </p:cNvSpPr>
          <p:nvPr/>
        </p:nvSpPr>
        <p:spPr>
          <a:xfrm>
            <a:off x="8201025" y="2733675"/>
            <a:ext cx="2809875" cy="1219200"/>
          </a:xfrm>
          <a:prstGeom prst="rect">
            <a:avLst/>
          </a:prstGeom>
          <a:solidFill>
            <a:srgbClr val="E2F1ED"/>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Соединительная линия уступом 18"/>
          <p:cNvCxnSpPr>
            <a:stCxn id="3" idx="3"/>
            <a:endCxn id="5" idx="0"/>
          </p:cNvCxnSpPr>
          <p:nvPr/>
        </p:nvCxnSpPr>
        <p:spPr>
          <a:xfrm>
            <a:off x="3705225" y="2457450"/>
            <a:ext cx="2238375" cy="276225"/>
          </a:xfrm>
          <a:prstGeom prst="bentConnector2">
            <a:avLst/>
          </a:prstGeom>
          <a:ln w="28575">
            <a:solidFill>
              <a:srgbClr val="526970"/>
            </a:solidFill>
            <a:tailEnd type="triangle" w="med" len="med"/>
          </a:ln>
        </p:spPr>
      </p:cxnSp>
      <p:cxnSp>
        <p:nvCxnSpPr>
          <p:cNvPr id="20" name="Соединительная линия уступом 19"/>
          <p:cNvCxnSpPr>
            <a:stCxn id="4" idx="3"/>
            <a:endCxn id="5" idx="1"/>
          </p:cNvCxnSpPr>
          <p:nvPr/>
        </p:nvCxnSpPr>
        <p:spPr>
          <a:xfrm flipV="1">
            <a:off x="3705225" y="3343275"/>
            <a:ext cx="914400" cy="1162050"/>
          </a:xfrm>
          <a:prstGeom prst="bentConnector3">
            <a:avLst>
              <a:gd name="adj1" fmla="val 50000"/>
            </a:avLst>
          </a:prstGeom>
          <a:ln w="28575">
            <a:solidFill>
              <a:srgbClr val="C95236"/>
            </a:solidFill>
            <a:tailEnd type="triangle" w="med" len="med"/>
          </a:ln>
        </p:spPr>
      </p:cxnSp>
      <p:cxnSp>
        <p:nvCxnSpPr>
          <p:cNvPr id="21" name="Прямая со стрелкой 20"/>
          <p:cNvCxnSpPr>
            <a:stCxn id="5" idx="3"/>
            <a:endCxn id="6" idx="1"/>
          </p:cNvCxnSpPr>
          <p:nvPr/>
        </p:nvCxnSpPr>
        <p:spPr>
          <a:xfrm>
            <a:off x="7267575" y="3343275"/>
            <a:ext cx="933450" cy="0"/>
          </a:xfrm>
          <a:prstGeom prst="straightConnector1">
            <a:avLst/>
          </a:prstGeom>
          <a:ln w="28575">
            <a:solidFill>
              <a:srgbClr val="526970"/>
            </a:solidFill>
            <a:tailEnd type="triangle" w="med" len="med"/>
          </a:ln>
        </p:spPr>
      </p:cxnSp>
      <p:sp>
        <p:nvSpPr>
          <p:cNvPr id="10" name="Запрос + кандидат +&#10;релевантный ответ">
            <a:extLst>
              <a:ext uri="{FF2B5EF4-FFF2-40B4-BE49-F238E27FC236}">
                <a16:creationId xmlns:a16="http://schemas.microsoft.com/office/drawing/2014/main" id="{03F078DF-D752-4928-AC8C-02CEC1C0B7A2}"/>
              </a:ext>
            </a:extLst>
          </p:cNvPr>
          <p:cNvSpPr>
            <a:spLocks noGrp="1"/>
          </p:cNvSpPr>
          <p:nvPr/>
        </p:nvSpPr>
        <p:spPr>
          <a:xfrm>
            <a:off x="8201025" y="4476750"/>
            <a:ext cx="3114675" cy="800100"/>
          </a:xfrm>
          <a:prstGeom prst="rect">
            <a:avLst/>
          </a:prstGeom>
          <a:noFill/>
          <a:ln w="0">
            <a:noFill/>
          </a:ln>
        </p:spPr>
        <p:txBody>
          <a:bodyPr wrap="square" lIns="0" tIns="0" rIns="0" bIns="0" anchor="t">
            <a:noAutofit/>
          </a:bodyPr>
          <a:lstStyle/>
          <a:p>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a:ext uri="{FF2B5EF4-FFF2-40B4-BE49-F238E27FC236}">
                <a16:creationId xmlns:a16="http://schemas.microsoft.com/office/drawing/2014/main" id="{A96799E4-5CA0-4D48-9EF5-BD74CD3F2D58}"/>
              </a:ext>
            </a:extLst>
          </p:cNvPr>
          <p:cNvSpPr>
            <a:spLocks noGrp="1"/>
          </p:cNvSpPr>
          <p:nvPr/>
        </p:nvSpPr>
        <p:spPr>
          <a:xfrm>
            <a:off x="4562475" y="4448175"/>
            <a:ext cx="2857500" cy="819150"/>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a:ext uri="{FF2B5EF4-FFF2-40B4-BE49-F238E27FC236}">
                <a16:creationId xmlns:a16="http://schemas.microsoft.com/office/drawing/2014/main" id="{2149C239-EB6B-47AB-BCF5-DD07EC739EEE}"/>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Больше оценок в тех же пулах">
            <a:extLst>
              <a:ext uri="{FF2B5EF4-FFF2-40B4-BE49-F238E27FC236}">
                <a16:creationId xmlns:a16="http://schemas.microsoft.com/office/drawing/2014/main" id="{1CF79C95-B654-4F76-82D3-8E5010CEDC5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a:ext uri="{FF2B5EF4-FFF2-40B4-BE49-F238E27FC236}">
                <a16:creationId xmlns:a16="http://schemas.microsoft.com/office/drawing/2014/main" id="{D6E70AE6-5793-4E2A-AA54-5849FD26316E}"/>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a:ext uri="{FF2B5EF4-FFF2-40B4-BE49-F238E27FC236}">
                <a16:creationId xmlns:a16="http://schemas.microsoft.com/office/drawing/2014/main" id="{692B7626-67E4-4142-B831-A1FCB9F7BC73}"/>
              </a:ext>
            </a:extLst>
          </p:cNvPr>
          <p:cNvSpPr>
            <a:spLocks noGrp="1"/>
          </p:cNvSpPr>
          <p:nvPr/>
        </p:nvSpPr>
        <p:spPr>
          <a:xfrm>
            <a:off x="609600" y="1781175"/>
            <a:ext cx="10477500" cy="409575"/>
          </a:xfrm>
          <a:prstGeom prst="rect">
            <a:avLst/>
          </a:prstGeom>
          <a:noFill/>
          <a:ln w="0">
            <a:noFill/>
          </a:ln>
        </p:spPr>
        <p:txBody>
          <a:bodyPr wrap="square" lIns="0" tIns="0" rIns="0" bIns="0" anchor="t">
            <a:noAutofit/>
          </a:bodyPr>
          <a:lstStyle/>
          <a:p>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a:ext uri="{FF2B5EF4-FFF2-40B4-BE49-F238E27FC236}">
                <a16:creationId xmlns:a16="http://schemas.microsoft.com/office/drawing/2014/main" id="{0A936E03-03E7-4610-925F-691691EB830C}"/>
              </a:ext>
            </a:extLst>
          </p:cNvPr>
          <p:cNvSpPr>
            <a:spLocks noGrp="1"/>
          </p:cNvSpPr>
          <p:nvPr/>
        </p:nvSpPr>
        <p:spPr>
          <a:xfrm>
            <a:off x="609600" y="2590800"/>
            <a:ext cx="4286250" cy="1152525"/>
          </a:xfrm>
          <a:prstGeom prst="rect">
            <a:avLst/>
          </a:prstGeom>
          <a:noFill/>
          <a:ln w="0">
            <a:noFill/>
          </a:ln>
        </p:spPr>
        <p:txBody>
          <a:bodyPr wrap="square" lIns="0" tIns="0" rIns="0" bIns="0" anchor="t">
            <a:noAutofit/>
          </a:bodyPr>
          <a:lstStyle/>
          <a:p>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a:ext uri="{FF2B5EF4-FFF2-40B4-BE49-F238E27FC236}">
                <a16:creationId xmlns:a16="http://schemas.microsoft.com/office/drawing/2014/main" id="{86802D41-005F-4A54-BC81-35AC162315B9}"/>
              </a:ext>
            </a:extLst>
          </p:cNvPr>
          <p:cNvSpPr>
            <a:spLocks noGrp="1"/>
          </p:cNvSpPr>
          <p:nvPr/>
        </p:nvSpPr>
        <p:spPr>
          <a:xfrm>
            <a:off x="6705600" y="2590800"/>
            <a:ext cx="4762500" cy="1152525"/>
          </a:xfrm>
          <a:prstGeom prst="rect">
            <a:avLst/>
          </a:prstGeom>
          <a:noFill/>
          <a:ln w="0">
            <a:noFill/>
          </a:ln>
        </p:spPr>
        <p:txBody>
          <a:bodyPr wrap="square" lIns="0" tIns="0" rIns="0" bIns="0" anchor="t">
            <a:noAutofit/>
          </a:bodyPr>
          <a:lstStyle/>
          <a:p>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Прямая соединительная линия 5">
            <a:extLst>
              <a:ext uri="{FF2B5EF4-FFF2-40B4-BE49-F238E27FC236}">
                <a16:creationId xmlns:a16="http://schemas.microsoft.com/office/drawing/2014/main" id="{875058B1-BFE6-4833-AF53-6EE18183FFF3}"/>
              </a:ext>
            </a:extLst>
          </p:cNvPr>
          <p:cNvSpPr>
            <a:spLocks noGrp="1"/>
          </p:cNvSpPr>
          <p:nvPr/>
        </p:nvSpPr>
        <p:spPr>
          <a:xfrm>
            <a:off x="609600" y="4076700"/>
            <a:ext cx="10972800" cy="0"/>
          </a:xfrm>
          <a:prstGeom prst="line">
            <a:avLst/>
          </a:prstGeom>
          <a:noFill/>
          <a:ln w="11430">
            <a:solidFill>
              <a:srgbClr val="D4E1E0"/>
            </a:solidFill>
          </a:ln>
        </p:spPr>
      </p:sp>
      <p:sp>
        <p:nvSpPr>
          <p:cNvPr id="7" name="Исходные оценки">
            <a:extLst>
              <a:ext uri="{FF2B5EF4-FFF2-40B4-BE49-F238E27FC236}">
                <a16:creationId xmlns:a16="http://schemas.microsoft.com/office/drawing/2014/main" id="{C5FC8E12-57E2-4AA9-88DF-91540478064A}"/>
              </a:ext>
            </a:extLst>
          </p:cNvPr>
          <p:cNvSpPr>
            <a:spLocks noGrp="1"/>
          </p:cNvSpPr>
          <p:nvPr/>
        </p:nvSpPr>
        <p:spPr>
          <a:xfrm>
            <a:off x="609600" y="4438650"/>
            <a:ext cx="4762500" cy="428625"/>
          </a:xfrm>
          <a:prstGeom prst="rect">
            <a:avLst/>
          </a:prstGeom>
          <a:noFill/>
          <a:ln w="0">
            <a:noFill/>
          </a:ln>
        </p:spPr>
        <p:txBody>
          <a:bodyPr wrap="square" lIns="0" tIns="0" rIns="0" bIns="0" anchor="t">
            <a:noAutofit/>
          </a:bodyPr>
          <a:lstStyle/>
          <a:p>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a:ext uri="{FF2B5EF4-FFF2-40B4-BE49-F238E27FC236}">
                <a16:creationId xmlns:a16="http://schemas.microsoft.com/office/drawing/2014/main" id="{0098175C-E3E2-42CF-8B6F-AC0938AC4158}"/>
              </a:ext>
            </a:extLst>
          </p:cNvPr>
          <p:cNvSpPr>
            <a:spLocks noGrp="1"/>
          </p:cNvSpPr>
          <p:nvPr/>
        </p:nvSpPr>
        <p:spPr>
          <a:xfrm>
            <a:off x="609600" y="5029200"/>
            <a:ext cx="4953000" cy="400050"/>
          </a:xfrm>
          <a:prstGeom prst="rect">
            <a:avLst/>
          </a:prstGeom>
          <a:noFill/>
          <a:ln w="0">
            <a:noFill/>
          </a:ln>
        </p:spPr>
        <p:txBody>
          <a:bodyPr wrap="square" lIns="0" tIns="0" rIns="0" bIns="0" anchor="t">
            <a:noAutofit/>
          </a:bodyPr>
          <a:lstStyle/>
          <a:p>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a:ext uri="{FF2B5EF4-FFF2-40B4-BE49-F238E27FC236}">
                <a16:creationId xmlns:a16="http://schemas.microsoft.com/office/drawing/2014/main" id="{B9260C2C-7876-4DC8-A068-81AA1DBFCCDC}"/>
              </a:ext>
            </a:extLst>
          </p:cNvPr>
          <p:cNvSpPr>
            <a:spLocks noGrp="1"/>
          </p:cNvSpPr>
          <p:nvPr/>
        </p:nvSpPr>
        <p:spPr>
          <a:xfrm>
            <a:off x="6705600" y="4438650"/>
            <a:ext cx="4876800" cy="762000"/>
          </a:xfrm>
          <a:prstGeom prst="rect">
            <a:avLst/>
          </a:prstGeom>
          <a:noFill/>
          <a:ln w="0">
            <a:noFill/>
          </a:ln>
        </p:spPr>
        <p:txBody>
          <a:bodyPr wrap="square" lIns="0" tIns="0" rIns="0" bIns="0" anchor="t">
            <a:noAutofit/>
          </a:bodyPr>
          <a:lstStyle/>
          <a:p>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a:ext uri="{FF2B5EF4-FFF2-40B4-BE49-F238E27FC236}">
                <a16:creationId xmlns:a16="http://schemas.microsoft.com/office/drawing/2014/main" id="{F2D0DE64-5F0F-4C0D-B7E2-4EDA124CD26E}"/>
              </a:ext>
            </a:extLst>
          </p:cNvPr>
          <p:cNvSpPr>
            <a:spLocks noGrp="1"/>
          </p:cNvSpPr>
          <p:nvPr/>
        </p:nvSpPr>
        <p:spPr>
          <a:xfrm>
            <a:off x="6705600" y="5029200"/>
            <a:ext cx="4876800" cy="400050"/>
          </a:xfrm>
          <a:prstGeom prst="rect">
            <a:avLst/>
          </a:prstGeom>
          <a:noFill/>
          <a:ln w="0">
            <a:noFill/>
          </a:ln>
        </p:spPr>
        <p:txBody>
          <a:bodyPr wrap="square" lIns="0" tIns="0" rIns="0" bIns="0" anchor="t">
            <a:noAutofit/>
          </a:bodyPr>
          <a:lstStyle/>
          <a:p>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a:ext uri="{FF2B5EF4-FFF2-40B4-BE49-F238E27FC236}">
                <a16:creationId xmlns:a16="http://schemas.microsoft.com/office/drawing/2014/main" id="{FE3F3B17-B292-4BF7-9744-1EBFB2D60198}"/>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Доразметка меняет оценку NDCG@10">
            <a:extLst>
              <a:ext uri="{FF2B5EF4-FFF2-40B4-BE49-F238E27FC236}">
                <a16:creationId xmlns:a16="http://schemas.microsoft.com/office/drawing/2014/main" id="{C57A67B4-84D5-4B46-A2C5-3620CDE8A411}"/>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a:ext uri="{FF2B5EF4-FFF2-40B4-BE49-F238E27FC236}">
                <a16:creationId xmlns:a16="http://schemas.microsoft.com/office/drawing/2014/main" id="{92AF1EEE-C890-41AD-A2FE-87D635EAB21B}"/>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a:ext uri="{FF2B5EF4-FFF2-40B4-BE49-F238E27FC236}">
                <a16:creationId xmlns:a16="http://schemas.microsoft.com/office/drawing/2014/main" id="{83F10504-FD85-4B19-94F7-D2971BBEB240}"/>
              </a:ext>
            </a:extLst>
          </p:cNvPr>
          <p:cNvSpPr>
            <a:spLocks noGrp="1"/>
          </p:cNvSpPr>
          <p:nvPr/>
        </p:nvSpPr>
        <p:spPr>
          <a:xfrm>
            <a:off x="609600" y="1543050"/>
            <a:ext cx="10972800" cy="333375"/>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609600" y="1952625"/>
          <a:ext cx="10972800" cy="3495675"/>
        </p:xfrm>
        <a:graphic>
          <a:graphicData uri="http://schemas.openxmlformats.org/drawingml/2006/chart">
            <c:chart xmlns:c="http://schemas.openxmlformats.org/drawingml/2006/chart" xmlns:r="http://schemas.openxmlformats.org/officeDocument/2006/relationships" r:id="rId3"/>
          </a:graphicData>
        </a:graphic>
      </p:graphicFrame>
      <p:sp>
        <p:nvSpPr>
          <p:cNvPr id="5" name="Изменение E5: +0,391   95%-ный ДИ [0,365; 0,417]">
            <a:extLst>
              <a:ext uri="{FF2B5EF4-FFF2-40B4-BE49-F238E27FC236}">
                <a16:creationId xmlns:a16="http://schemas.microsoft.com/office/drawing/2014/main" id="{2F8596F9-2EF5-4D66-B616-218A321BDDE7}"/>
              </a:ext>
            </a:extLst>
          </p:cNvPr>
          <p:cNvSpPr>
            <a:spLocks noGrp="1"/>
          </p:cNvSpPr>
          <p:nvPr/>
        </p:nvSpPr>
        <p:spPr>
          <a:xfrm>
            <a:off x="609600" y="5657850"/>
            <a:ext cx="10906125" cy="400050"/>
          </a:xfrm>
          <a:prstGeom prst="rect">
            <a:avLst/>
          </a:prstGeom>
          <a:noFill/>
          <a:ln w="0">
            <a:noFill/>
          </a:ln>
        </p:spPr>
        <p:txBody>
          <a:bodyPr wrap="square" lIns="0" tIns="0" rIns="0" bIns="0" anchor="t">
            <a:noAutofit/>
          </a:bodyPr>
          <a:lstStyle/>
          <a:p>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ДИ 95% [0,365; 0,417]</a:t>
            </a:r>
          </a:p>
        </p:txBody>
      </p:sp>
      <p:sp>
        <p:nvSpPr>
          <p:cNvPr id="6" name="NDCG@10 внутри пулов. Общий идеальный знаменател">
            <a:extLst>
              <a:ext uri="{FF2B5EF4-FFF2-40B4-BE49-F238E27FC236}">
                <a16:creationId xmlns:a16="http://schemas.microsoft.com/office/drawing/2014/main" id="{C8EFE03B-381A-44C7-A6A9-44590528263F}"/>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Модель-судья для больших пулов">
            <a:extLst>
              <a:ext uri="{FF2B5EF4-FFF2-40B4-BE49-F238E27FC236}">
                <a16:creationId xmlns:a16="http://schemas.microsoft.com/office/drawing/2014/main" id="{1C317943-E193-4781-8893-B0FAB927128E}"/>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a:ext uri="{FF2B5EF4-FFF2-40B4-BE49-F238E27FC236}">
                <a16:creationId xmlns:a16="http://schemas.microsoft.com/office/drawing/2014/main" id="{4272979E-E477-4A23-AD5D-D41B7931E92E}"/>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a:ext uri="{FF2B5EF4-FFF2-40B4-BE49-F238E27FC236}">
                <a16:creationId xmlns:a16="http://schemas.microsoft.com/office/drawing/2014/main" id="{26D13347-3281-4F06-BDAF-8D5A0F7294AB}"/>
              </a:ext>
            </a:extLst>
          </p:cNvPr>
          <p:cNvSpPr>
            <a:spLocks noGrp="1"/>
          </p:cNvSpPr>
          <p:nvPr/>
        </p:nvSpPr>
        <p:spPr>
          <a:xfrm>
            <a:off x="609600" y="2286000"/>
            <a:ext cx="3057525" cy="1352550"/>
          </a:xfrm>
          <a:prstGeom prst="rect">
            <a:avLst/>
          </a:prstGeom>
          <a:solidFill>
            <a:srgbClr val="EFF5F4"/>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a:ext uri="{FF2B5EF4-FFF2-40B4-BE49-F238E27FC236}">
                <a16:creationId xmlns:a16="http://schemas.microsoft.com/office/drawing/2014/main" id="{242EFFE6-5830-4D14-A815-9CCC678FCCF5}"/>
              </a:ext>
            </a:extLst>
          </p:cNvPr>
          <p:cNvSpPr>
            <a:spLocks noGrp="1"/>
          </p:cNvSpPr>
          <p:nvPr/>
        </p:nvSpPr>
        <p:spPr>
          <a:xfrm>
            <a:off x="609600" y="1609725"/>
            <a:ext cx="10972800" cy="400050"/>
          </a:xfrm>
          <a:prstGeom prst="rect">
            <a:avLst/>
          </a:prstGeom>
          <a:noFill/>
          <a:ln w="0">
            <a:noFill/>
          </a:ln>
        </p:spPr>
        <p:txBody>
          <a:bodyPr wrap="square" lIns="0" tIns="0" rIns="0" bIns="0" anchor="t">
            <a:noAutofit/>
          </a:bodyPr>
          <a:lstStyle/>
          <a:p>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a:ext uri="{FF2B5EF4-FFF2-40B4-BE49-F238E27FC236}">
                <a16:creationId xmlns:a16="http://schemas.microsoft.com/office/drawing/2014/main" id="{39881BD3-3F33-4537-A1CD-D7255EA0F3E2}"/>
              </a:ext>
            </a:extLst>
          </p:cNvPr>
          <p:cNvSpPr>
            <a:spLocks noGrp="1"/>
          </p:cNvSpPr>
          <p:nvPr/>
        </p:nvSpPr>
        <p:spPr>
          <a:xfrm>
            <a:off x="4600575" y="2286000"/>
            <a:ext cx="3057525" cy="1352550"/>
          </a:xfrm>
          <a:prstGeom prst="rect">
            <a:avLst/>
          </a:prstGeom>
          <a:solidFill>
            <a:srgbClr val="E3F0ED"/>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a:ext uri="{FF2B5EF4-FFF2-40B4-BE49-F238E27FC236}">
                <a16:creationId xmlns:a16="http://schemas.microsoft.com/office/drawing/2014/main" id="{8253BA28-6F62-41FF-8CB6-14C83D0EBC2C}"/>
              </a:ext>
            </a:extLst>
          </p:cNvPr>
          <p:cNvSpPr>
            <a:spLocks noGrp="1"/>
          </p:cNvSpPr>
          <p:nvPr/>
        </p:nvSpPr>
        <p:spPr>
          <a:xfrm>
            <a:off x="8591550" y="2286000"/>
            <a:ext cx="2714625" cy="1352550"/>
          </a:xfrm>
          <a:prstGeom prst="rect">
            <a:avLst/>
          </a:prstGeom>
          <a:solidFill>
            <a:srgbClr val="FAEFE9"/>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Прямая со стрелкой 18"/>
          <p:cNvCxnSpPr>
            <a:stCxn id="3" idx="3"/>
            <a:endCxn id="5" idx="1"/>
          </p:cNvCxnSpPr>
          <p:nvPr/>
        </p:nvCxnSpPr>
        <p:spPr>
          <a:xfrm>
            <a:off x="3667125" y="2962275"/>
            <a:ext cx="933450" cy="0"/>
          </a:xfrm>
          <a:prstGeom prst="straightConnector1">
            <a:avLst/>
          </a:prstGeom>
          <a:ln w="28575">
            <a:solidFill>
              <a:srgbClr val="526970"/>
            </a:solidFill>
            <a:tailEnd type="triangle" w="med" len="med"/>
          </a:ln>
        </p:spPr>
      </p:cxnSp>
      <p:cxnSp>
        <p:nvCxnSpPr>
          <p:cNvPr id="20" name="Прямая со стрелкой 19"/>
          <p:cNvCxnSpPr>
            <a:stCxn id="5" idx="3"/>
            <a:endCxn id="6" idx="1"/>
          </p:cNvCxnSpPr>
          <p:nvPr/>
        </p:nvCxnSpPr>
        <p:spPr>
          <a:xfrm>
            <a:off x="7658100" y="2962275"/>
            <a:ext cx="933450" cy="0"/>
          </a:xfrm>
          <a:prstGeom prst="straightConnector1">
            <a:avLst/>
          </a:prstGeom>
          <a:ln w="28575">
            <a:solidFill>
              <a:srgbClr val="C95236"/>
            </a:solidFill>
            <a:tailEnd type="triangle" w="med" len="med"/>
          </a:ln>
        </p:spPr>
      </p:cxnSp>
      <p:sp>
        <p:nvSpPr>
          <p:cNvPr id="9" name="Совместно оценивает два текста">
            <a:extLst>
              <a:ext uri="{FF2B5EF4-FFF2-40B4-BE49-F238E27FC236}">
                <a16:creationId xmlns:a16="http://schemas.microsoft.com/office/drawing/2014/main" id="{A625AD98-7162-453C-9409-BAFAE9A765FA}"/>
              </a:ext>
            </a:extLst>
          </p:cNvPr>
          <p:cNvSpPr>
            <a:spLocks noGrp="1"/>
          </p:cNvSpPr>
          <p:nvPr/>
        </p:nvSpPr>
        <p:spPr>
          <a:xfrm>
            <a:off x="4600575" y="3971925"/>
            <a:ext cx="6191250" cy="381000"/>
          </a:xfrm>
          <a:prstGeom prst="rect">
            <a:avLst/>
          </a:prstGeom>
          <a:noFill/>
          <a:ln w="0">
            <a:noFill/>
          </a:ln>
        </p:spPr>
        <p:txBody>
          <a:bodyPr wrap="square" lIns="0" tIns="0" rIns="0" bIns="0" anchor="t">
            <a:noAutofit/>
          </a:bodyPr>
          <a:lstStyle/>
          <a:p>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Прямая соединительная линия 9">
            <a:extLst>
              <a:ext uri="{FF2B5EF4-FFF2-40B4-BE49-F238E27FC236}">
                <a16:creationId xmlns:a16="http://schemas.microsoft.com/office/drawing/2014/main" id="{DDA8774B-F006-4CA7-8007-2BB4FEE1EF0D}"/>
              </a:ext>
            </a:extLst>
          </p:cNvPr>
          <p:cNvSpPr>
            <a:spLocks noGrp="1"/>
          </p:cNvSpPr>
          <p:nvPr/>
        </p:nvSpPr>
        <p:spPr>
          <a:xfrm>
            <a:off x="609600" y="4686300"/>
            <a:ext cx="10972800" cy="0"/>
          </a:xfrm>
          <a:prstGeom prst="line">
            <a:avLst/>
          </a:prstGeom>
          <a:noFill/>
          <a:ln w="11430">
            <a:solidFill>
              <a:srgbClr val="D4E1E0"/>
            </a:solidFill>
          </a:ln>
        </p:spPr>
      </p:sp>
      <p:sp>
        <p:nvSpPr>
          <p:cNvPr id="11" name="На входе нет эталонного ответа, рангов и баллов ">
            <a:extLst>
              <a:ext uri="{FF2B5EF4-FFF2-40B4-BE49-F238E27FC236}">
                <a16:creationId xmlns:a16="http://schemas.microsoft.com/office/drawing/2014/main" id="{29D5D23C-9396-4EFC-AE80-F4BC37555AE5}"/>
              </a:ext>
            </a:extLst>
          </p:cNvPr>
          <p:cNvSpPr>
            <a:spLocks noGrp="1"/>
          </p:cNvSpPr>
          <p:nvPr/>
        </p:nvSpPr>
        <p:spPr>
          <a:xfrm>
            <a:off x="609600" y="5095875"/>
            <a:ext cx="10972800" cy="704850"/>
          </a:xfrm>
          <a:prstGeom prst="rect">
            <a:avLst/>
          </a:prstGeom>
          <a:noFill/>
          <a:ln w="0">
            <a:noFill/>
          </a:ln>
        </p:spPr>
        <p:txBody>
          <a:bodyPr wrap="square" lIns="0" tIns="0" rIns="0" bIns="0" anchor="t">
            <a:noAutofit/>
          </a:bodyPr>
          <a:lstStyle/>
          <a:p>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Tree>
    <p:extLst>
      <p:ext uri="{BB962C8B-B14F-4D97-AF65-F5344CB8AC3E}">
        <p14:creationId xmlns:p14="http://schemas.microsoft.com/office/powerpoint/2010/main" val="360806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Согласие судьи с ручной разметкой">
            <a:extLst>
              <a:ext uri="{FF2B5EF4-FFF2-40B4-BE49-F238E27FC236}">
                <a16:creationId xmlns:a16="http://schemas.microsoft.com/office/drawing/2014/main" id="{91AE5F0E-201B-432D-9D85-E8354F5F3286}"/>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a:ext uri="{FF2B5EF4-FFF2-40B4-BE49-F238E27FC236}">
                <a16:creationId xmlns:a16="http://schemas.microsoft.com/office/drawing/2014/main" id="{B0AD9B9A-DFEE-4C8F-B7F9-0CFA820FE768}"/>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a:ext uri="{FF2B5EF4-FFF2-40B4-BE49-F238E27FC236}">
                <a16:creationId xmlns:a16="http://schemas.microsoft.com/office/drawing/2014/main" id="{9042F927-B8D5-4B44-B3A6-50ED190B368F}"/>
              </a:ext>
            </a:extLst>
          </p:cNvPr>
          <p:cNvSpPr>
            <a:spLocks noGrp="1"/>
          </p:cNvSpPr>
          <p:nvPr/>
        </p:nvSpPr>
        <p:spPr>
          <a:xfrm>
            <a:off x="609600" y="1562100"/>
            <a:ext cx="10972800" cy="36195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609600" y="2000250"/>
          <a:ext cx="7067550" cy="3676650"/>
        </p:xfrm>
        <a:graphic>
          <a:graphicData uri="http://schemas.openxmlformats.org/drawingml/2006/chart">
            <c:chart xmlns:c="http://schemas.openxmlformats.org/drawingml/2006/chart" xmlns:r="http://schemas.openxmlformats.org/officeDocument/2006/relationships" r:id="rId3"/>
          </a:graphicData>
        </a:graphic>
      </p:graphicFrame>
      <p:sp>
        <p:nvSpPr>
          <p:cNvPr id="5" name="0,907">
            <a:extLst>
              <a:ext uri="{FF2B5EF4-FFF2-40B4-BE49-F238E27FC236}">
                <a16:creationId xmlns:a16="http://schemas.microsoft.com/office/drawing/2014/main" id="{D609A069-22B6-45C0-9AC3-4FF25D06A9E2}"/>
              </a:ext>
            </a:extLst>
          </p:cNvPr>
          <p:cNvSpPr>
            <a:spLocks noGrp="1"/>
          </p:cNvSpPr>
          <p:nvPr/>
        </p:nvSpPr>
        <p:spPr>
          <a:xfrm>
            <a:off x="8324850" y="2066925"/>
            <a:ext cx="3048000" cy="762000"/>
          </a:xfrm>
          <a:prstGeom prst="rect">
            <a:avLst/>
          </a:prstGeom>
          <a:noFill/>
          <a:ln w="0">
            <a:noFill/>
          </a:ln>
        </p:spPr>
        <p:txBody>
          <a:bodyPr wrap="square" lIns="0" tIns="0" rIns="0" bIns="0" anchor="t">
            <a:noAutofit/>
          </a:bodyPr>
          <a:lstStyle/>
          <a:p>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a:ext uri="{FF2B5EF4-FFF2-40B4-BE49-F238E27FC236}">
                <a16:creationId xmlns:a16="http://schemas.microsoft.com/office/drawing/2014/main" id="{CB736417-86A8-4067-B9D2-41DE95789CF6}"/>
              </a:ext>
            </a:extLst>
          </p:cNvPr>
          <p:cNvSpPr>
            <a:spLocks noGrp="1"/>
          </p:cNvSpPr>
          <p:nvPr/>
        </p:nvSpPr>
        <p:spPr>
          <a:xfrm>
            <a:off x="8324850" y="2886075"/>
            <a:ext cx="3048000" cy="381000"/>
          </a:xfrm>
          <a:prstGeom prst="rect">
            <a:avLst/>
          </a:prstGeom>
          <a:noFill/>
          <a:ln w="0">
            <a:noFill/>
          </a:ln>
        </p:spPr>
        <p:txBody>
          <a:bodyPr wrap="square" lIns="0" tIns="0" rIns="0" bIns="0" anchor="t">
            <a:noAutofit/>
          </a:bodyPr>
          <a:lstStyle/>
          <a:p>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a:ext uri="{FF2B5EF4-FFF2-40B4-BE49-F238E27FC236}">
                <a16:creationId xmlns:a16="http://schemas.microsoft.com/office/drawing/2014/main" id="{FD18F278-C87E-4D99-BB55-FF9A4E0700C5}"/>
              </a:ext>
            </a:extLst>
          </p:cNvPr>
          <p:cNvSpPr>
            <a:spLocks noGrp="1"/>
          </p:cNvSpPr>
          <p:nvPr/>
        </p:nvSpPr>
        <p:spPr>
          <a:xfrm>
            <a:off x="8324850" y="3781425"/>
            <a:ext cx="3048000" cy="666750"/>
          </a:xfrm>
          <a:prstGeom prst="rect">
            <a:avLst/>
          </a:prstGeom>
          <a:noFill/>
          <a:ln w="0">
            <a:noFill/>
          </a:ln>
        </p:spPr>
        <p:txBody>
          <a:bodyPr wrap="square" lIns="0" tIns="0" rIns="0" bIns="0" anchor="t">
            <a:noAutofit/>
          </a:bodyPr>
          <a:lstStyle/>
          <a:p>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a:ext uri="{FF2B5EF4-FFF2-40B4-BE49-F238E27FC236}">
                <a16:creationId xmlns:a16="http://schemas.microsoft.com/office/drawing/2014/main" id="{1DFC7CC4-AFEE-491F-B1BB-531DBBFA3A07}"/>
              </a:ext>
            </a:extLst>
          </p:cNvPr>
          <p:cNvSpPr>
            <a:spLocks noGrp="1"/>
          </p:cNvSpPr>
          <p:nvPr/>
        </p:nvSpPr>
        <p:spPr>
          <a:xfrm>
            <a:off x="8324850" y="4524375"/>
            <a:ext cx="3048000" cy="6858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a:ext uri="{FF2B5EF4-FFF2-40B4-BE49-F238E27FC236}">
                <a16:creationId xmlns:a16="http://schemas.microsoft.com/office/drawing/2014/main" id="{C2A3BF9E-2D7E-4DCA-B4D5-AF30022F1DBA}"/>
              </a:ext>
            </a:extLst>
          </p:cNvPr>
          <p:cNvSpPr>
            <a:spLocks noGrp="1"/>
          </p:cNvSpPr>
          <p:nvPr/>
        </p:nvSpPr>
        <p:spPr>
          <a:xfrm>
            <a:off x="609600" y="5686425"/>
            <a:ext cx="9525000" cy="323850"/>
          </a:xfrm>
          <a:prstGeom prst="rect">
            <a:avLst/>
          </a:prstGeom>
          <a:noFill/>
          <a:ln w="0">
            <a:noFill/>
          </a:ln>
        </p:spPr>
        <p:txBody>
          <a:bodyPr wrap="square" lIns="0" tIns="0" rIns="0" bIns="0" anchor="t">
            <a:noAutofit/>
          </a:bodyPr>
          <a:lstStyle/>
          <a:p>
            <a:pPr algn="l">
              <a:defRPr sz="1800" b="0">
                <a:solidFill>
                  <a:srgbClr val="C95236"/>
                </a:solidFill>
                <a:latin typeface="Arial"/>
                <a:ea typeface="Arial"/>
                <a:cs typeface="Arial"/>
              </a:defRPr>
            </a:pPr>
            <a:r>
              <a:rPr sz="1800" b="0">
                <a:solidFill>
                  <a:srgbClr val="007F78"/>
                </a:solidFill>
                <a:latin typeface="Arial"/>
                <a:ea typeface="Arial"/>
                <a:cs typeface="Arial"/>
              </a:rPr>
              <a:t>Порог −0,2187 выбран на валидационных запросах</a:t>
            </a:r>
          </a:p>
        </p:txBody>
      </p:sp>
      <p:sp>
        <p:nvSpPr>
          <p:cNvPr id="10" name="Для глубоких пулов нет независимой ручной провер">
            <a:extLst>
              <a:ext uri="{FF2B5EF4-FFF2-40B4-BE49-F238E27FC236}">
                <a16:creationId xmlns:a16="http://schemas.microsoft.com/office/drawing/2014/main" id="{CF57EB44-E413-4E54-8664-3AB5C45CF7C9}"/>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875" b="1">
                <a:solidFill>
                  <a:srgbClr val="182B30"/>
                </a:solidFill>
                <a:latin typeface="Arial"/>
                <a:ea typeface="Arial"/>
                <a:cs typeface="Arial"/>
              </a:defRPr>
            </a:pPr>
            <a:r>
              <a:rPr sz="1575" b="0">
                <a:solidFill>
                  <a:srgbClr val="52697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Полная dev-часть для масштабной оценки">
            <a:extLst>
              <a:ext uri="{FF2B5EF4-FFF2-40B4-BE49-F238E27FC236}">
                <a16:creationId xmlns:a16="http://schemas.microsoft.com/office/drawing/2014/main" id="{2B9A8261-9949-4488-9D48-53C08C661826}"/>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Полная dev-часть для масштабной оценки</a:t>
            </a:r>
          </a:p>
        </p:txBody>
      </p:sp>
      <p:sp>
        <p:nvSpPr>
          <p:cNvPr id="2" name="11">
            <a:extLst>
              <a:ext uri="{FF2B5EF4-FFF2-40B4-BE49-F238E27FC236}">
                <a16:creationId xmlns:a16="http://schemas.microsoft.com/office/drawing/2014/main" id="{15478C3A-5184-42AE-8DFA-18DE758B6120}"/>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101 093">
            <a:extLst>
              <a:ext uri="{FF2B5EF4-FFF2-40B4-BE49-F238E27FC236}">
                <a16:creationId xmlns:a16="http://schemas.microsoft.com/office/drawing/2014/main" id="{2077CA7F-B524-4CC1-842C-6AF4B2D39327}"/>
              </a:ext>
            </a:extLst>
          </p:cNvPr>
          <p:cNvSpPr>
            <a:spLocks noGrp="1"/>
          </p:cNvSpPr>
          <p:nvPr/>
        </p:nvSpPr>
        <p:spPr>
          <a:xfrm>
            <a:off x="609600" y="1695450"/>
            <a:ext cx="5905500" cy="1047750"/>
          </a:xfrm>
          <a:prstGeom prst="rect">
            <a:avLst/>
          </a:prstGeom>
          <a:noFill/>
          <a:ln w="0">
            <a:noFill/>
          </a:ln>
        </p:spPr>
        <p:txBody>
          <a:bodyPr wrap="square" lIns="0" tIns="0" rIns="0" bIns="0" anchor="t">
            <a:noAutofit/>
          </a:bodyPr>
          <a:lstStyle>
            <a:defPPr algn="l">
              <a:defRPr sz="6600" b="1">
                <a:solidFill>
                  <a:srgbClr val="007F78"/>
                </a:solidFill>
                <a:latin typeface="Arial"/>
                <a:ea typeface="Arial"/>
                <a:cs typeface="Arial"/>
              </a:defRPr>
            </a:defPPr>
          </a:lstStyle>
          <a:p>
            <a:pPr algn="l">
              <a:defRPr sz="6600" b="1">
                <a:solidFill>
                  <a:srgbClr val="007F78"/>
                </a:solidFill>
                <a:latin typeface="Arial"/>
                <a:ea typeface="Arial"/>
                <a:cs typeface="Arial"/>
              </a:defRPr>
            </a:pPr>
            <a:r>
              <a:rPr sz="6600" b="1">
                <a:solidFill>
                  <a:srgbClr val="007F78"/>
                </a:solidFill>
                <a:latin typeface="Arial"/>
                <a:ea typeface="Arial"/>
                <a:cs typeface="Arial"/>
              </a:rPr>
              <a:t>101 093</a:t>
            </a:r>
          </a:p>
        </p:txBody>
      </p:sp>
      <p:sp>
        <p:nvSpPr>
          <p:cNvPr id="4" name="запроса в queries.dev.tsv">
            <a:extLst>
              <a:ext uri="{FF2B5EF4-FFF2-40B4-BE49-F238E27FC236}">
                <a16:creationId xmlns:a16="http://schemas.microsoft.com/office/drawing/2014/main" id="{69389898-20D0-4BEF-9DC9-B302A76FDE4C}"/>
              </a:ext>
            </a:extLst>
          </p:cNvPr>
          <p:cNvSpPr>
            <a:spLocks noGrp="1"/>
          </p:cNvSpPr>
          <p:nvPr/>
        </p:nvSpPr>
        <p:spPr>
          <a:xfrm>
            <a:off x="609600" y="2857500"/>
            <a:ext cx="7239000" cy="523875"/>
          </a:xfrm>
          <a:prstGeom prst="rect">
            <a:avLst/>
          </a:prstGeom>
          <a:noFill/>
          <a:ln w="0">
            <a:noFill/>
          </a:ln>
        </p:spPr>
        <p:txBody>
          <a:bodyPr wrap="square" lIns="0" tIns="0" rIns="0" bIns="0" anchor="t">
            <a:noAutofit/>
          </a:bodyPr>
          <a:lstStyle>
            <a:defPPr algn="l">
              <a:defRPr sz="2625" b="1">
                <a:solidFill>
                  <a:srgbClr val="182B30"/>
                </a:solidFill>
                <a:latin typeface="Arial"/>
                <a:ea typeface="Arial"/>
                <a:cs typeface="Arial"/>
              </a:defRPr>
            </a:defPPr>
          </a:lstStyle>
          <a:p>
            <a:pPr algn="l">
              <a:defRPr sz="2625" b="1">
                <a:solidFill>
                  <a:srgbClr val="182B30"/>
                </a:solidFill>
                <a:latin typeface="Arial"/>
                <a:ea typeface="Arial"/>
                <a:cs typeface="Arial"/>
              </a:defRPr>
            </a:pPr>
            <a:r>
              <a:rPr sz="2625" b="1">
                <a:solidFill>
                  <a:srgbClr val="182B30"/>
                </a:solidFill>
                <a:latin typeface="Arial"/>
                <a:ea typeface="Arial"/>
                <a:cs typeface="Arial"/>
              </a:rPr>
              <a:t>запроса в полной dev-части</a:t>
            </a:r>
          </a:p>
        </p:txBody>
      </p:sp>
      <p:sp>
        <p:nvSpPr>
          <p:cNvPr id="5" name="MS MARCO Passage Ranking v1">
            <a:extLst>
              <a:ext uri="{FF2B5EF4-FFF2-40B4-BE49-F238E27FC236}">
                <a16:creationId xmlns:a16="http://schemas.microsoft.com/office/drawing/2014/main" id="{51CC0684-1327-4BC3-A025-1397E4CE659B}"/>
              </a:ext>
            </a:extLst>
          </p:cNvPr>
          <p:cNvSpPr>
            <a:spLocks noGrp="1"/>
          </p:cNvSpPr>
          <p:nvPr/>
        </p:nvSpPr>
        <p:spPr>
          <a:xfrm>
            <a:off x="609600" y="3457575"/>
            <a:ext cx="8096250" cy="428625"/>
          </a:xfrm>
          <a:prstGeom prst="rect">
            <a:avLst/>
          </a:prstGeom>
          <a:noFill/>
          <a:ln w="0">
            <a:noFill/>
          </a:ln>
        </p:spPr>
        <p:txBody>
          <a:bodyPr wrap="square" lIns="0" tIns="0" rIns="0" bIns="0" anchor="t">
            <a:noAutofit/>
          </a:bodyPr>
          <a:lstStyle>
            <a:defPPr algn="l">
              <a:defRPr sz="2100" b="0">
                <a:solidFill>
                  <a:srgbClr val="526970"/>
                </a:solidFill>
                <a:latin typeface="Arial"/>
                <a:ea typeface="Arial"/>
                <a:cs typeface="Arial"/>
              </a:defRPr>
            </a:defPPr>
          </a:lstStyle>
          <a:p>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v1</a:t>
            </a:r>
          </a:p>
        </p:txBody>
      </p:sp>
      <p:sp>
        <p:nvSpPr>
          <p:cNvPr id="6" name="Прямая соединительная линия 5">
            <a:extLst>
              <a:ext uri="{FF2B5EF4-FFF2-40B4-BE49-F238E27FC236}">
                <a16:creationId xmlns:a16="http://schemas.microsoft.com/office/drawing/2014/main" id="{700D9565-FB0D-48DF-A6A6-5CB34B98F20D}"/>
              </a:ext>
            </a:extLst>
          </p:cNvPr>
          <p:cNvSpPr>
            <a:spLocks noGrp="1"/>
          </p:cNvSpPr>
          <p:nvPr/>
        </p:nvSpPr>
        <p:spPr>
          <a:xfrm>
            <a:off x="609600" y="4114800"/>
            <a:ext cx="10972800" cy="0"/>
          </a:xfrm>
          <a:prstGeom prst="line">
            <a:avLst/>
          </a:prstGeom>
          <a:noFill/>
          <a:ln w="12383">
            <a:solidFill>
              <a:srgbClr val="D4E1E0"/>
            </a:solidFill>
          </a:ln>
        </p:spPr>
      </p:sp>
      <p:sp>
        <p:nvSpPr>
          <p:cNvPr id="7" name="Для этих запросов подготовили поисковые выдачи.&#10;После обучения судья о">
            <a:extLst>
              <a:ext uri="{FF2B5EF4-FFF2-40B4-BE49-F238E27FC236}">
                <a16:creationId xmlns:a16="http://schemas.microsoft.com/office/drawing/2014/main" id="{6A8F38E8-5CB3-4209-9F32-3162AF293AF6}"/>
              </a:ext>
            </a:extLst>
          </p:cNvPr>
          <p:cNvSpPr>
            <a:spLocks noGrp="1"/>
          </p:cNvSpPr>
          <p:nvPr/>
        </p:nvSpPr>
        <p:spPr>
          <a:xfrm>
            <a:off x="609600" y="4429125"/>
            <a:ext cx="10972800" cy="895350"/>
          </a:xfrm>
          <a:prstGeom prst="rect">
            <a:avLst/>
          </a:prstGeom>
          <a:noFill/>
          <a:ln w="0">
            <a:noFill/>
          </a:ln>
        </p:spPr>
        <p:txBody>
          <a:bodyPr wrap="square" lIns="0" tIns="0" rIns="0" bIns="0" anchor="t">
            <a:noAutofit/>
          </a:bodyPr>
          <a:lstStyle>
            <a:defPPr algn="l">
              <a:defRPr sz="2250" b="0">
                <a:solidFill>
                  <a:srgbClr val="182B30"/>
                </a:solidFill>
                <a:latin typeface="Arial"/>
                <a:ea typeface="Arial"/>
                <a:cs typeface="Arial"/>
              </a:defRPr>
            </a:defPPr>
          </a:lstStyle>
          <a:p>
            <a:pPr algn="l">
              <a:defRPr sz="2250" b="0">
                <a:solidFill>
                  <a:srgbClr val="182B30"/>
                </a:solidFill>
                <a:latin typeface="Arial"/>
                <a:ea typeface="Arial"/>
                <a:cs typeface="Arial"/>
              </a:defRPr>
            </a:pPr>
            <a:r>
              <a:rPr sz="2250" b="0">
                <a:solidFill>
                  <a:srgbClr val="182B30"/>
                </a:solidFill>
                <a:latin typeface="Arial"/>
                <a:ea typeface="Arial"/>
                <a:cs typeface="Arial"/>
              </a:rPr>
              <a:t>Для этих запросов подготовили поисковые выдачи.</a:t>
            </a:r>
          </a:p>
          <a:p>
            <a:pPr algn="l">
              <a:defRPr sz="2250" b="0">
                <a:solidFill>
                  <a:srgbClr val="182B30"/>
                </a:solidFill>
                <a:latin typeface="Arial"/>
                <a:ea typeface="Arial"/>
                <a:cs typeface="Arial"/>
              </a:defRPr>
            </a:pPr>
            <a:r>
              <a:rPr sz="2250" b="0">
                <a:solidFill>
                  <a:srgbClr val="182B30"/>
                </a:solidFill>
                <a:latin typeface="Arial"/>
                <a:ea typeface="Arial"/>
                <a:cs typeface="Arial"/>
              </a:rPr>
              <a:t>После обучения судья оценивает найденные фрагменты.</a:t>
            </a:r>
          </a:p>
        </p:txBody>
      </p:sp>
    </p:spTree>
    <p:extLst>
      <p:ext uri="{BB962C8B-B14F-4D97-AF65-F5344CB8AC3E}">
        <p14:creationId xmlns:p14="http://schemas.microsoft.com/office/powerpoint/2010/main" val="1783335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4" name="Прямая со стрелкой 13">
            <a:extLst>
              <a:ext uri="{FF2B5EF4-FFF2-40B4-BE49-F238E27FC236}">
                <a16:creationId xmlns:a16="http://schemas.microsoft.com/office/drawing/2014/main" id="{DD5774A0-A021-4D39-82EC-B8310EB78AF8}"/>
              </a:ext>
            </a:extLst>
          </p:cNvPr>
          <p:cNvCxnSpPr>
            <a:stCxn id="8" idx="3"/>
            <a:endCxn id="9" idx="1"/>
          </p:cNvCxnSpPr>
          <p:nvPr/>
        </p:nvCxnSpPr>
        <p:spPr>
          <a:xfrm>
            <a:off x="8810625" y="3562350"/>
            <a:ext cx="695325" cy="0"/>
          </a:xfrm>
          <a:prstGeom prst="straightConnector1">
            <a:avLst/>
          </a:prstGeom>
          <a:ln w="23813">
            <a:solidFill>
              <a:srgbClr val="526970"/>
            </a:solidFill>
            <a:tailEnd type="triangle" w="med" len="med"/>
          </a:ln>
        </p:spPr>
      </p:cxnSp>
      <p:cxnSp>
        <p:nvCxnSpPr>
          <p:cNvPr id="13" name="Прямая со стрелкой 12">
            <a:extLst>
              <a:ext uri="{FF2B5EF4-FFF2-40B4-BE49-F238E27FC236}">
                <a16:creationId xmlns:a16="http://schemas.microsoft.com/office/drawing/2014/main" id="{94519830-39EE-49CE-8B96-37BCA4255EF2}"/>
              </a:ext>
            </a:extLst>
          </p:cNvPr>
          <p:cNvCxnSpPr>
            <a:stCxn id="7" idx="3"/>
            <a:endCxn id="8" idx="1"/>
          </p:cNvCxnSpPr>
          <p:nvPr/>
        </p:nvCxnSpPr>
        <p:spPr>
          <a:xfrm>
            <a:off x="6210300" y="3562350"/>
            <a:ext cx="695325" cy="0"/>
          </a:xfrm>
          <a:prstGeom prst="straightConnector1">
            <a:avLst/>
          </a:prstGeom>
          <a:ln w="23813">
            <a:solidFill>
              <a:srgbClr val="526970"/>
            </a:solidFill>
            <a:tailEnd type="triangle" w="med" len="med"/>
          </a:ln>
        </p:spPr>
      </p:cxnSp>
      <p:cxnSp>
        <p:nvCxnSpPr>
          <p:cNvPr id="12" name="Прямая со стрелкой 11">
            <a:extLst>
              <a:ext uri="{FF2B5EF4-FFF2-40B4-BE49-F238E27FC236}">
                <a16:creationId xmlns:a16="http://schemas.microsoft.com/office/drawing/2014/main" id="{97DB1A34-F3A2-4ADF-B8B5-118B3E58EE3E}"/>
              </a:ext>
            </a:extLst>
          </p:cNvPr>
          <p:cNvCxnSpPr>
            <a:stCxn id="6" idx="3"/>
            <a:endCxn id="7" idx="1"/>
          </p:cNvCxnSpPr>
          <p:nvPr/>
        </p:nvCxnSpPr>
        <p:spPr>
          <a:xfrm flipV="1">
            <a:off x="2800350" y="3562350"/>
            <a:ext cx="838200" cy="933450"/>
          </a:xfrm>
          <a:prstGeom prst="straightConnector1">
            <a:avLst/>
          </a:prstGeom>
          <a:ln w="23813">
            <a:solidFill>
              <a:srgbClr val="526970"/>
            </a:solidFill>
            <a:tailEnd type="triangle" w="med" len="med"/>
          </a:ln>
        </p:spPr>
      </p:cxnSp>
      <p:cxnSp>
        <p:nvCxnSpPr>
          <p:cNvPr id="11" name="Прямая со стрелкой 10">
            <a:extLst>
              <a:ext uri="{FF2B5EF4-FFF2-40B4-BE49-F238E27FC236}">
                <a16:creationId xmlns:a16="http://schemas.microsoft.com/office/drawing/2014/main" id="{C5A5CD1C-C7B9-4EF6-82BE-EC948942575C}"/>
              </a:ext>
            </a:extLst>
          </p:cNvPr>
          <p:cNvCxnSpPr>
            <a:stCxn id="5" idx="3"/>
            <a:endCxn id="7" idx="1"/>
          </p:cNvCxnSpPr>
          <p:nvPr/>
        </p:nvCxnSpPr>
        <p:spPr>
          <a:xfrm>
            <a:off x="2800350" y="3562350"/>
            <a:ext cx="838200" cy="0"/>
          </a:xfrm>
          <a:prstGeom prst="straightConnector1">
            <a:avLst/>
          </a:prstGeom>
          <a:ln w="23813">
            <a:solidFill>
              <a:srgbClr val="526970"/>
            </a:solidFill>
            <a:tailEnd type="triangle" w="med" len="med"/>
          </a:ln>
        </p:spPr>
      </p:cxnSp>
      <p:cxnSp>
        <p:nvCxnSpPr>
          <p:cNvPr id="10" name="Прямая со стрелкой 9">
            <a:extLst>
              <a:ext uri="{FF2B5EF4-FFF2-40B4-BE49-F238E27FC236}">
                <a16:creationId xmlns:a16="http://schemas.microsoft.com/office/drawing/2014/main" id="{D63E2B75-ED35-40FB-B910-C5AF73868780}"/>
              </a:ext>
            </a:extLst>
          </p:cNvPr>
          <p:cNvCxnSpPr>
            <a:stCxn id="4" idx="3"/>
            <a:endCxn id="7" idx="1"/>
          </p:cNvCxnSpPr>
          <p:nvPr/>
        </p:nvCxnSpPr>
        <p:spPr>
          <a:xfrm>
            <a:off x="2800350" y="2628900"/>
            <a:ext cx="838200" cy="933450"/>
          </a:xfrm>
          <a:prstGeom prst="straightConnector1">
            <a:avLst/>
          </a:prstGeom>
          <a:ln w="23813">
            <a:solidFill>
              <a:srgbClr val="526970"/>
            </a:solidFill>
            <a:tailEnd type="triangle" w="med" len="med"/>
          </a:ln>
        </p:spPr>
      </p:cxnSp>
      <p:sp>
        <p:nvSpPr>
          <p:cNvPr id="17" name="Пулы кандидатов для модели-судьи">
            <a:extLst>
              <a:ext uri="{FF2B5EF4-FFF2-40B4-BE49-F238E27FC236}">
                <a16:creationId xmlns:a16="http://schemas.microsoft.com/office/drawing/2014/main" id="{41E850F8-10CA-44D8-BE1F-EE579E3500DB}"/>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Пулы кандидатов для модели-судьи</a:t>
            </a:r>
          </a:p>
        </p:txBody>
      </p:sp>
      <p:sp>
        <p:nvSpPr>
          <p:cNvPr id="2" name="12">
            <a:extLst>
              <a:ext uri="{FF2B5EF4-FFF2-40B4-BE49-F238E27FC236}">
                <a16:creationId xmlns:a16="http://schemas.microsoft.com/office/drawing/2014/main" id="{B8524155-95B6-4806-94B3-99C08507C3F9}"/>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задаёт число результатов от каждого поискового метода">
            <a:extLst>
              <a:ext uri="{FF2B5EF4-FFF2-40B4-BE49-F238E27FC236}">
                <a16:creationId xmlns:a16="http://schemas.microsoft.com/office/drawing/2014/main" id="{BA938D0F-D1C3-4577-BBA3-93D726C721B6}"/>
              </a:ext>
            </a:extLst>
          </p:cNvPr>
          <p:cNvSpPr>
            <a:spLocks noGrp="1"/>
          </p:cNvSpPr>
          <p:nvPr/>
        </p:nvSpPr>
        <p:spPr>
          <a:xfrm>
            <a:off x="609600" y="1543050"/>
            <a:ext cx="10972800" cy="428625"/>
          </a:xfrm>
          <a:prstGeom prst="rect">
            <a:avLst/>
          </a:prstGeom>
          <a:noFill/>
          <a:ln w="0">
            <a:noFill/>
          </a:ln>
        </p:spPr>
        <p:txBody>
          <a:bodyPr wrap="square" lIns="0" tIns="0" rIns="0" bIns="0" anchor="t">
            <a:noAutofit/>
          </a:bodyPr>
          <a:lstStyle>
            <a:defPPr algn="l">
              <a:defRPr sz="2175" b="0">
                <a:solidFill>
                  <a:srgbClr val="526970"/>
                </a:solidFill>
                <a:latin typeface="Arial"/>
                <a:ea typeface="Arial"/>
                <a:cs typeface="Arial"/>
              </a:defRPr>
            </a:defPPr>
          </a:lstStyle>
          <a:p>
            <a:pPr algn="l">
              <a:defRPr sz="2175" b="0">
                <a:solidFill>
                  <a:srgbClr val="526970"/>
                </a:solidFill>
                <a:latin typeface="Arial"/>
                <a:ea typeface="Arial"/>
                <a:cs typeface="Arial"/>
              </a:defRPr>
            </a:pPr>
            <a:r>
              <a:rPr sz="2175" b="0">
                <a:solidFill>
                  <a:srgbClr val="526970"/>
                </a:solidFill>
                <a:latin typeface="Arial"/>
                <a:ea typeface="Arial"/>
                <a:cs typeface="Arial"/>
              </a:rPr>
              <a:t>K задаёт число результатов от каждого поискового метода</a:t>
            </a:r>
          </a:p>
        </p:txBody>
      </p:sp>
      <p:sp>
        <p:nvSpPr>
          <p:cNvPr id="4" name="BM25&#10;первые K">
            <a:extLst>
              <a:ext uri="{FF2B5EF4-FFF2-40B4-BE49-F238E27FC236}">
                <a16:creationId xmlns:a16="http://schemas.microsoft.com/office/drawing/2014/main" id="{D1493ED4-A8A6-456B-BE4A-A6C59408A12F}"/>
              </a:ext>
            </a:extLst>
          </p:cNvPr>
          <p:cNvSpPr>
            <a:spLocks noGrp="1"/>
          </p:cNvSpPr>
          <p:nvPr/>
        </p:nvSpPr>
        <p:spPr>
          <a:xfrm>
            <a:off x="609600" y="2238375"/>
            <a:ext cx="2190750" cy="7810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BM25</a:t>
            </a:r>
          </a:p>
          <a:p>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5" name="E5&#10;первые K">
            <a:extLst>
              <a:ext uri="{FF2B5EF4-FFF2-40B4-BE49-F238E27FC236}">
                <a16:creationId xmlns:a16="http://schemas.microsoft.com/office/drawing/2014/main" id="{9B4EC669-F96C-4AF6-BCE6-FB69AF2E0436}"/>
              </a:ext>
            </a:extLst>
          </p:cNvPr>
          <p:cNvSpPr>
            <a:spLocks noGrp="1"/>
          </p:cNvSpPr>
          <p:nvPr/>
        </p:nvSpPr>
        <p:spPr>
          <a:xfrm>
            <a:off x="609600" y="3171825"/>
            <a:ext cx="2190750" cy="7810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E5</a:t>
            </a:r>
          </a:p>
          <a:p>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6" name="BGE&#10;первые K">
            <a:extLst>
              <a:ext uri="{FF2B5EF4-FFF2-40B4-BE49-F238E27FC236}">
                <a16:creationId xmlns:a16="http://schemas.microsoft.com/office/drawing/2014/main" id="{4C8AD222-7201-480C-8B29-CAE6DB242A58}"/>
              </a:ext>
            </a:extLst>
          </p:cNvPr>
          <p:cNvSpPr>
            <a:spLocks noGrp="1"/>
          </p:cNvSpPr>
          <p:nvPr/>
        </p:nvSpPr>
        <p:spPr>
          <a:xfrm>
            <a:off x="609600" y="4105275"/>
            <a:ext cx="2190750" cy="7810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BGE</a:t>
            </a:r>
          </a:p>
          <a:p>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7" name="Общий пул&#10;без дубликатов">
            <a:extLst>
              <a:ext uri="{FF2B5EF4-FFF2-40B4-BE49-F238E27FC236}">
                <a16:creationId xmlns:a16="http://schemas.microsoft.com/office/drawing/2014/main" id="{F11F59E8-3113-4FE5-9058-E52D8596CCF5}"/>
              </a:ext>
            </a:extLst>
          </p:cNvPr>
          <p:cNvSpPr>
            <a:spLocks noGrp="1"/>
          </p:cNvSpPr>
          <p:nvPr/>
        </p:nvSpPr>
        <p:spPr>
          <a:xfrm>
            <a:off x="3638550" y="2990850"/>
            <a:ext cx="2571750" cy="114300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Общий пул</a:t>
            </a:r>
          </a:p>
          <a:p>
            <a:pPr algn="ctr">
              <a:defRPr sz="2100">
                <a:solidFill>
                  <a:srgbClr val="182B30"/>
                </a:solidFill>
                <a:latin typeface="Arial"/>
                <a:ea typeface="Arial"/>
                <a:cs typeface="Arial"/>
              </a:defRPr>
            </a:pPr>
            <a:r>
              <a:rPr sz="2100">
                <a:solidFill>
                  <a:srgbClr val="182B30"/>
                </a:solidFill>
                <a:latin typeface="Arial"/>
                <a:ea typeface="Arial"/>
                <a:cs typeface="Arial"/>
              </a:rPr>
              <a:t>без дубликатов</a:t>
            </a:r>
          </a:p>
        </p:txBody>
      </p:sp>
      <p:sp>
        <p:nvSpPr>
          <p:cNvPr id="8" name="Судья&#10;MiniLM">
            <a:extLst>
              <a:ext uri="{FF2B5EF4-FFF2-40B4-BE49-F238E27FC236}">
                <a16:creationId xmlns:a16="http://schemas.microsoft.com/office/drawing/2014/main" id="{CA3440FA-9196-4E18-9E03-FBF19BA14987}"/>
              </a:ext>
            </a:extLst>
          </p:cNvPr>
          <p:cNvSpPr>
            <a:spLocks noGrp="1"/>
          </p:cNvSpPr>
          <p:nvPr/>
        </p:nvSpPr>
        <p:spPr>
          <a:xfrm>
            <a:off x="6905625" y="2990850"/>
            <a:ext cx="1905000" cy="1143000"/>
          </a:xfrm>
          <a:prstGeom prst="rect">
            <a:avLst/>
          </a:prstGeom>
          <a:solidFill>
            <a:srgbClr val="E3F1EF"/>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Судья</a:t>
            </a:r>
          </a:p>
          <a:p>
            <a:pPr algn="ctr">
              <a:defRPr sz="2100">
                <a:solidFill>
                  <a:srgbClr val="182B30"/>
                </a:solidFill>
                <a:latin typeface="Arial"/>
                <a:ea typeface="Arial"/>
                <a:cs typeface="Arial"/>
              </a:defRPr>
            </a:pPr>
            <a:r>
              <a:rPr sz="2100">
                <a:solidFill>
                  <a:srgbClr val="182B30"/>
                </a:solidFill>
                <a:latin typeface="Arial"/>
                <a:ea typeface="Arial"/>
                <a:cs typeface="Arial"/>
              </a:rPr>
              <a:t>MiniLM</a:t>
            </a:r>
          </a:p>
        </p:txBody>
      </p:sp>
      <p:sp>
        <p:nvSpPr>
          <p:cNvPr id="9" name="Псевдометки&#10;0 или 1">
            <a:extLst>
              <a:ext uri="{FF2B5EF4-FFF2-40B4-BE49-F238E27FC236}">
                <a16:creationId xmlns:a16="http://schemas.microsoft.com/office/drawing/2014/main" id="{8D3E6DBD-0EE9-466E-B812-C69FE0AD4199}"/>
              </a:ext>
            </a:extLst>
          </p:cNvPr>
          <p:cNvSpPr>
            <a:spLocks noGrp="1"/>
          </p:cNvSpPr>
          <p:nvPr/>
        </p:nvSpPr>
        <p:spPr>
          <a:xfrm>
            <a:off x="9505950" y="2990850"/>
            <a:ext cx="2076450" cy="1143000"/>
          </a:xfrm>
          <a:prstGeom prst="rect">
            <a:avLst/>
          </a:prstGeom>
          <a:solidFill>
            <a:srgbClr val="E3F1EF"/>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Псевдометки</a:t>
            </a:r>
          </a:p>
          <a:p>
            <a:pPr algn="ctr">
              <a:defRPr sz="2100">
                <a:solidFill>
                  <a:srgbClr val="182B30"/>
                </a:solidFill>
                <a:latin typeface="Arial"/>
                <a:ea typeface="Arial"/>
                <a:cs typeface="Arial"/>
              </a:defRPr>
            </a:pPr>
            <a:r>
              <a:rPr sz="2100">
                <a:solidFill>
                  <a:srgbClr val="182B30"/>
                </a:solidFill>
                <a:latin typeface="Arial"/>
                <a:ea typeface="Arial"/>
                <a:cs typeface="Arial"/>
              </a:rPr>
              <a:t>0 или 1</a:t>
            </a:r>
          </a:p>
        </p:txBody>
      </p:sp>
      <p:sp>
        <p:nvSpPr>
          <p:cNvPr id="15" name="K = 10, 30, 50, 100, 200">
            <a:extLst>
              <a:ext uri="{FF2B5EF4-FFF2-40B4-BE49-F238E27FC236}">
                <a16:creationId xmlns:a16="http://schemas.microsoft.com/office/drawing/2014/main" id="{042F81F9-3D36-49A5-9BA1-6952EED02685}"/>
              </a:ext>
            </a:extLst>
          </p:cNvPr>
          <p:cNvSpPr>
            <a:spLocks noGrp="1"/>
          </p:cNvSpPr>
          <p:nvPr/>
        </p:nvSpPr>
        <p:spPr>
          <a:xfrm>
            <a:off x="609600" y="5314950"/>
            <a:ext cx="6477000" cy="447675"/>
          </a:xfrm>
          <a:prstGeom prst="rect">
            <a:avLst/>
          </a:prstGeom>
          <a:noFill/>
          <a:ln w="0">
            <a:noFill/>
          </a:ln>
        </p:spPr>
        <p:txBody>
          <a:bodyPr wrap="square" lIns="0" tIns="0" rIns="0" bIns="0" anchor="t">
            <a:noAutofit/>
          </a:bodyPr>
          <a:lstStyle>
            <a:defPPr algn="l">
              <a:defRPr sz="2550" b="1">
                <a:solidFill>
                  <a:srgbClr val="007F78"/>
                </a:solidFill>
                <a:latin typeface="Arial"/>
                <a:ea typeface="Arial"/>
                <a:cs typeface="Arial"/>
              </a:defRPr>
            </a:defPPr>
          </a:lstStyle>
          <a:p>
            <a:pPr algn="l">
              <a:defRPr sz="2550" b="1">
                <a:solidFill>
                  <a:srgbClr val="007F78"/>
                </a:solidFill>
                <a:latin typeface="Arial"/>
                <a:ea typeface="Arial"/>
                <a:cs typeface="Arial"/>
              </a:defRPr>
            </a:pPr>
            <a:r>
              <a:rPr sz="2550" b="1">
                <a:solidFill>
                  <a:srgbClr val="007F78"/>
                </a:solidFill>
                <a:latin typeface="Arial"/>
                <a:ea typeface="Arial"/>
                <a:cs typeface="Arial"/>
              </a:rPr>
              <a:t>K = 10, 30, 50, 100, 200</a:t>
            </a:r>
          </a:p>
        </p:txBody>
      </p:sp>
      <p:sp>
        <p:nvSpPr>
          <p:cNvPr id="16" name="Судья и порог −0,2187 фиксированы. Размер пула может быть меньше 3K.">
            <a:extLst>
              <a:ext uri="{FF2B5EF4-FFF2-40B4-BE49-F238E27FC236}">
                <a16:creationId xmlns:a16="http://schemas.microsoft.com/office/drawing/2014/main" id="{50259D60-B4FE-49AC-BF2A-02DE5163D21A}"/>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Судья и порог −0,2187 фиксированы. Размер пула может быть меньше 3K.</a:t>
            </a:r>
          </a:p>
        </p:txBody>
      </p:sp>
    </p:spTree>
    <p:extLst>
      <p:ext uri="{BB962C8B-B14F-4D97-AF65-F5344CB8AC3E}">
        <p14:creationId xmlns:p14="http://schemas.microsoft.com/office/powerpoint/2010/main" val="31877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Размер пула и предсказанная релевантность">
            <a:extLst>
              <a:ext uri="{FF2B5EF4-FFF2-40B4-BE49-F238E27FC236}">
                <a16:creationId xmlns:a16="http://schemas.microsoft.com/office/drawing/2014/main" id="{C455C868-F2F3-4957-A6F4-0C5264002E18}"/>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a:ext uri="{FF2B5EF4-FFF2-40B4-BE49-F238E27FC236}">
                <a16:creationId xmlns:a16="http://schemas.microsoft.com/office/drawing/2014/main" id="{78598B3E-D80F-499A-B0C4-6E304FFF4378}"/>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число результатов каждой модели для оценочног">
            <a:extLst>
              <a:ext uri="{FF2B5EF4-FFF2-40B4-BE49-F238E27FC236}">
                <a16:creationId xmlns:a16="http://schemas.microsoft.com/office/drawing/2014/main" id="{E0E9E0F1-9EE7-413A-A5B5-031516151B0B}"/>
              </a:ext>
            </a:extLst>
          </p:cNvPr>
          <p:cNvSpPr>
            <a:spLocks noGrp="1"/>
          </p:cNvSpPr>
          <p:nvPr/>
        </p:nvSpPr>
        <p:spPr>
          <a:xfrm>
            <a:off x="609600" y="1543050"/>
            <a:ext cx="10972800" cy="342900"/>
          </a:xfrm>
          <a:prstGeom prst="rect">
            <a:avLst/>
          </a:prstGeom>
          <a:noFill/>
          <a:ln w="0">
            <a:noFill/>
          </a:ln>
        </p:spPr>
        <p:txBody>
          <a:bodyPr wrap="square" lIns="0" tIns="0" rIns="0" bIns="0" anchor="t">
            <a:noAutofit/>
          </a:bodyPr>
          <a:lstStyle/>
          <a:p>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a:ext uri="{FF2B5EF4-FFF2-40B4-BE49-F238E27FC236}">
                <a16:creationId xmlns:a16="http://schemas.microsoft.com/office/drawing/2014/main" id="{51415D26-0F44-457D-8163-AEEA791D86DF}"/>
              </a:ext>
            </a:extLst>
          </p:cNvPr>
          <p:cNvSpPr>
            <a:spLocks noGrp="1"/>
          </p:cNvSpPr>
          <p:nvPr/>
        </p:nvSpPr>
        <p:spPr>
          <a:xfrm>
            <a:off x="609600" y="1952625"/>
            <a:ext cx="8096250" cy="323850"/>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609600" y="2371725"/>
          <a:ext cx="8315325" cy="3305175"/>
        </p:xfrm>
        <a:graphic>
          <a:graphicData uri="http://schemas.openxmlformats.org/drawingml/2006/chart">
            <c:chart xmlns:c="http://schemas.openxmlformats.org/drawingml/2006/chart" xmlns:r="http://schemas.openxmlformats.org/officeDocument/2006/relationships" r:id="rId3"/>
          </a:graphicData>
        </a:graphic>
      </p:graphicFrame>
      <p:sp>
        <p:nvSpPr>
          <p:cNvPr id="6" name="451,5">
            <a:extLst>
              <a:ext uri="{FF2B5EF4-FFF2-40B4-BE49-F238E27FC236}">
                <a16:creationId xmlns:a16="http://schemas.microsoft.com/office/drawing/2014/main" id="{96D6F927-3939-4335-991E-B65CAC387627}"/>
              </a:ext>
            </a:extLst>
          </p:cNvPr>
          <p:cNvSpPr>
            <a:spLocks noGrp="1"/>
          </p:cNvSpPr>
          <p:nvPr/>
        </p:nvSpPr>
        <p:spPr>
          <a:xfrm>
            <a:off x="9296400" y="2362200"/>
            <a:ext cx="2143125" cy="685800"/>
          </a:xfrm>
          <a:prstGeom prst="rect">
            <a:avLst/>
          </a:prstGeom>
          <a:noFill/>
          <a:ln w="0">
            <a:noFill/>
          </a:ln>
        </p:spPr>
        <p:txBody>
          <a:bodyPr wrap="square" lIns="0" tIns="0" rIns="0" bIns="0" anchor="t">
            <a:noAutofit/>
          </a:bodyPr>
          <a:lstStyle/>
          <a:p>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a:ext uri="{FF2B5EF4-FFF2-40B4-BE49-F238E27FC236}">
                <a16:creationId xmlns:a16="http://schemas.microsoft.com/office/drawing/2014/main" id="{8C9050D0-5434-40B3-8DBB-D8ED964C3687}"/>
              </a:ext>
            </a:extLst>
          </p:cNvPr>
          <p:cNvSpPr>
            <a:spLocks noGrp="1"/>
          </p:cNvSpPr>
          <p:nvPr/>
        </p:nvSpPr>
        <p:spPr>
          <a:xfrm>
            <a:off x="9296400" y="3095625"/>
            <a:ext cx="2171700" cy="400050"/>
          </a:xfrm>
          <a:prstGeom prst="rect">
            <a:avLst/>
          </a:prstGeom>
          <a:noFill/>
          <a:ln w="0">
            <a:noFill/>
          </a:ln>
        </p:spPr>
        <p:txBody>
          <a:bodyPr wrap="square" lIns="0" tIns="0" rIns="0" bIns="0" anchor="t">
            <a:noAutofit/>
          </a:bodyPr>
          <a:lstStyle/>
          <a:p>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a:ext uri="{FF2B5EF4-FFF2-40B4-BE49-F238E27FC236}">
                <a16:creationId xmlns:a16="http://schemas.microsoft.com/office/drawing/2014/main" id="{8A09CABC-B85B-4D1B-92FD-F63F6AA3E62C}"/>
              </a:ext>
            </a:extLst>
          </p:cNvPr>
          <p:cNvSpPr>
            <a:spLocks noGrp="1"/>
          </p:cNvSpPr>
          <p:nvPr/>
        </p:nvSpPr>
        <p:spPr>
          <a:xfrm>
            <a:off x="9296400" y="4067175"/>
            <a:ext cx="2143125" cy="685800"/>
          </a:xfrm>
          <a:prstGeom prst="rect">
            <a:avLst/>
          </a:prstGeom>
          <a:noFill/>
          <a:ln w="0">
            <a:noFill/>
          </a:ln>
        </p:spPr>
        <p:txBody>
          <a:bodyPr wrap="square" lIns="0" tIns="0" rIns="0" bIns="0" anchor="t">
            <a:noAutofit/>
          </a:bodyPr>
          <a:lstStyle/>
          <a:p>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a:ext uri="{FF2B5EF4-FFF2-40B4-BE49-F238E27FC236}">
                <a16:creationId xmlns:a16="http://schemas.microsoft.com/office/drawing/2014/main" id="{4718A07C-8E0D-4B57-94E0-0C883610EC22}"/>
              </a:ext>
            </a:extLst>
          </p:cNvPr>
          <p:cNvSpPr>
            <a:spLocks noGrp="1"/>
          </p:cNvSpPr>
          <p:nvPr/>
        </p:nvSpPr>
        <p:spPr>
          <a:xfrm>
            <a:off x="9296400" y="4810125"/>
            <a:ext cx="2171700" cy="771525"/>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a:ext uri="{FF2B5EF4-FFF2-40B4-BE49-F238E27FC236}">
                <a16:creationId xmlns:a16="http://schemas.microsoft.com/office/drawing/2014/main" id="{EF4AF13C-4075-4A33-AB6F-7CDE0F2A94BA}"/>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2" name="Прямая со стрелкой 11">
            <a:extLst>
              <a:ext uri="{FF2B5EF4-FFF2-40B4-BE49-F238E27FC236}">
                <a16:creationId xmlns:a16="http://schemas.microsoft.com/office/drawing/2014/main" id="{323822FD-5B19-4010-A14D-25DCC8F9DF76}"/>
              </a:ext>
            </a:extLst>
          </p:cNvPr>
          <p:cNvCxnSpPr>
            <a:stCxn id="7" idx="3"/>
            <a:endCxn id="8" idx="1"/>
          </p:cNvCxnSpPr>
          <p:nvPr/>
        </p:nvCxnSpPr>
        <p:spPr>
          <a:xfrm>
            <a:off x="7172325" y="3533775"/>
            <a:ext cx="1028700" cy="0"/>
          </a:xfrm>
          <a:prstGeom prst="straightConnector1">
            <a:avLst/>
          </a:prstGeom>
          <a:ln w="23813">
            <a:solidFill>
              <a:srgbClr val="526970"/>
            </a:solidFill>
            <a:tailEnd type="triangle" w="med" len="med"/>
          </a:ln>
        </p:spPr>
      </p:cxnSp>
      <p:cxnSp>
        <p:nvCxnSpPr>
          <p:cNvPr id="11" name="Прямая со стрелкой 10">
            <a:extLst>
              <a:ext uri="{FF2B5EF4-FFF2-40B4-BE49-F238E27FC236}">
                <a16:creationId xmlns:a16="http://schemas.microsoft.com/office/drawing/2014/main" id="{7D1FDB77-9180-48A9-923F-97DEB5891B4A}"/>
              </a:ext>
            </a:extLst>
          </p:cNvPr>
          <p:cNvCxnSpPr>
            <a:stCxn id="6" idx="3"/>
            <a:endCxn id="7" idx="1"/>
          </p:cNvCxnSpPr>
          <p:nvPr/>
        </p:nvCxnSpPr>
        <p:spPr>
          <a:xfrm flipV="1">
            <a:off x="2752725" y="3533775"/>
            <a:ext cx="971550" cy="723900"/>
          </a:xfrm>
          <a:prstGeom prst="straightConnector1">
            <a:avLst/>
          </a:prstGeom>
          <a:ln w="23813">
            <a:solidFill>
              <a:srgbClr val="526970"/>
            </a:solidFill>
            <a:tailEnd type="triangle" w="med" len="med"/>
          </a:ln>
        </p:spPr>
      </p:cxnSp>
      <p:cxnSp>
        <p:nvCxnSpPr>
          <p:cNvPr id="10" name="Прямая со стрелкой 9">
            <a:extLst>
              <a:ext uri="{FF2B5EF4-FFF2-40B4-BE49-F238E27FC236}">
                <a16:creationId xmlns:a16="http://schemas.microsoft.com/office/drawing/2014/main" id="{321996B1-57F6-4A8C-8368-A24CB67B9C1A}"/>
              </a:ext>
            </a:extLst>
          </p:cNvPr>
          <p:cNvCxnSpPr>
            <a:stCxn id="5" idx="3"/>
            <a:endCxn id="7" idx="1"/>
          </p:cNvCxnSpPr>
          <p:nvPr/>
        </p:nvCxnSpPr>
        <p:spPr>
          <a:xfrm>
            <a:off x="2752725" y="3448050"/>
            <a:ext cx="971550" cy="85725"/>
          </a:xfrm>
          <a:prstGeom prst="straightConnector1">
            <a:avLst/>
          </a:prstGeom>
          <a:ln w="23813">
            <a:solidFill>
              <a:srgbClr val="526970"/>
            </a:solidFill>
            <a:tailEnd type="triangle" w="med" len="med"/>
          </a:ln>
        </p:spPr>
      </p:cxnSp>
      <p:cxnSp>
        <p:nvCxnSpPr>
          <p:cNvPr id="9" name="Прямая со стрелкой 8">
            <a:extLst>
              <a:ext uri="{FF2B5EF4-FFF2-40B4-BE49-F238E27FC236}">
                <a16:creationId xmlns:a16="http://schemas.microsoft.com/office/drawing/2014/main" id="{3884D392-3471-4718-B882-F023CD6D1926}"/>
              </a:ext>
            </a:extLst>
          </p:cNvPr>
          <p:cNvCxnSpPr>
            <a:stCxn id="4" idx="3"/>
            <a:endCxn id="7" idx="1"/>
          </p:cNvCxnSpPr>
          <p:nvPr/>
        </p:nvCxnSpPr>
        <p:spPr>
          <a:xfrm>
            <a:off x="2752725" y="2638425"/>
            <a:ext cx="971550" cy="895350"/>
          </a:xfrm>
          <a:prstGeom prst="straightConnector1">
            <a:avLst/>
          </a:prstGeom>
          <a:ln w="23813">
            <a:solidFill>
              <a:srgbClr val="526970"/>
            </a:solidFill>
            <a:tailEnd type="triangle" w="med" len="med"/>
          </a:ln>
        </p:spPr>
      </p:cxnSp>
      <p:sp>
        <p:nvSpPr>
          <p:cNvPr id="16" name="Зачем объединять результаты с помощью RRF">
            <a:extLst>
              <a:ext uri="{FF2B5EF4-FFF2-40B4-BE49-F238E27FC236}">
                <a16:creationId xmlns:a16="http://schemas.microsoft.com/office/drawing/2014/main" id="{6FAAFDDA-7410-4DB1-9544-F04C6185D44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Зачем объединять результаты с помощью RRF</a:t>
            </a:r>
          </a:p>
        </p:txBody>
      </p:sp>
      <p:sp>
        <p:nvSpPr>
          <p:cNvPr id="2" name="14">
            <a:extLst>
              <a:ext uri="{FF2B5EF4-FFF2-40B4-BE49-F238E27FC236}">
                <a16:creationId xmlns:a16="http://schemas.microsoft.com/office/drawing/2014/main" id="{C3224F00-6630-4665-9B48-C8CE5059F94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Проверяем, дополняют ли друг друга разные способы поиска">
            <a:extLst>
              <a:ext uri="{FF2B5EF4-FFF2-40B4-BE49-F238E27FC236}">
                <a16:creationId xmlns:a16="http://schemas.microsoft.com/office/drawing/2014/main" id="{EF2A1E1A-A731-4158-B6D4-9B9DACF921BE}"/>
              </a:ext>
            </a:extLst>
          </p:cNvPr>
          <p:cNvSpPr>
            <a:spLocks noGrp="1"/>
          </p:cNvSpPr>
          <p:nvPr/>
        </p:nvSpPr>
        <p:spPr>
          <a:xfrm>
            <a:off x="609600" y="1533525"/>
            <a:ext cx="10972800" cy="457200"/>
          </a:xfrm>
          <a:prstGeom prst="rect">
            <a:avLst/>
          </a:prstGeom>
          <a:noFill/>
          <a:ln w="0">
            <a:noFill/>
          </a:ln>
        </p:spPr>
        <p:txBody>
          <a:bodyPr wrap="square" lIns="0" tIns="0" rIns="0" bIns="0" anchor="t">
            <a:noAutofit/>
          </a:bodyPr>
          <a:lstStyle>
            <a:defPPr algn="l">
              <a:defRPr sz="2175" b="0">
                <a:solidFill>
                  <a:srgbClr val="526970"/>
                </a:solidFill>
                <a:latin typeface="Arial"/>
                <a:ea typeface="Arial"/>
                <a:cs typeface="Arial"/>
              </a:defRPr>
            </a:defPPr>
          </a:lstStyle>
          <a:p>
            <a:pPr algn="l">
              <a:defRPr sz="2175" b="0">
                <a:solidFill>
                  <a:srgbClr val="526970"/>
                </a:solidFill>
                <a:latin typeface="Arial"/>
                <a:ea typeface="Arial"/>
                <a:cs typeface="Arial"/>
              </a:defRPr>
            </a:pPr>
            <a:r>
              <a:rPr sz="2175" b="0">
                <a:solidFill>
                  <a:srgbClr val="526970"/>
                </a:solidFill>
                <a:latin typeface="Arial"/>
                <a:ea typeface="Arial"/>
                <a:cs typeface="Arial"/>
              </a:rPr>
              <a:t>Проверяем, дополняют ли друг друга разные способы поиска</a:t>
            </a:r>
          </a:p>
        </p:txBody>
      </p:sp>
      <p:sp>
        <p:nvSpPr>
          <p:cNvPr id="4" name="BM25">
            <a:extLst>
              <a:ext uri="{FF2B5EF4-FFF2-40B4-BE49-F238E27FC236}">
                <a16:creationId xmlns:a16="http://schemas.microsoft.com/office/drawing/2014/main" id="{7EBB8D5F-B2FB-4CA8-B757-853CB185E97D}"/>
              </a:ext>
            </a:extLst>
          </p:cNvPr>
          <p:cNvSpPr>
            <a:spLocks noGrp="1"/>
          </p:cNvSpPr>
          <p:nvPr/>
        </p:nvSpPr>
        <p:spPr>
          <a:xfrm>
            <a:off x="609600" y="2305050"/>
            <a:ext cx="2143125" cy="6667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BM25</a:t>
            </a:r>
          </a:p>
        </p:txBody>
      </p:sp>
      <p:sp>
        <p:nvSpPr>
          <p:cNvPr id="5" name="E5">
            <a:extLst>
              <a:ext uri="{FF2B5EF4-FFF2-40B4-BE49-F238E27FC236}">
                <a16:creationId xmlns:a16="http://schemas.microsoft.com/office/drawing/2014/main" id="{370C3F5C-0D77-4F2B-A7A7-A53AD71433C8}"/>
              </a:ext>
            </a:extLst>
          </p:cNvPr>
          <p:cNvSpPr>
            <a:spLocks noGrp="1"/>
          </p:cNvSpPr>
          <p:nvPr/>
        </p:nvSpPr>
        <p:spPr>
          <a:xfrm>
            <a:off x="609600" y="3114675"/>
            <a:ext cx="2143125" cy="6667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E5</a:t>
            </a:r>
          </a:p>
        </p:txBody>
      </p:sp>
      <p:sp>
        <p:nvSpPr>
          <p:cNvPr id="6" name="BGE">
            <a:extLst>
              <a:ext uri="{FF2B5EF4-FFF2-40B4-BE49-F238E27FC236}">
                <a16:creationId xmlns:a16="http://schemas.microsoft.com/office/drawing/2014/main" id="{B049F26B-A2DC-4F8A-9D83-80ABE0A0138B}"/>
              </a:ext>
            </a:extLst>
          </p:cNvPr>
          <p:cNvSpPr>
            <a:spLocks noGrp="1"/>
          </p:cNvSpPr>
          <p:nvPr/>
        </p:nvSpPr>
        <p:spPr>
          <a:xfrm>
            <a:off x="609600" y="3924300"/>
            <a:ext cx="2143125" cy="6667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BGE</a:t>
            </a:r>
          </a:p>
        </p:txBody>
      </p:sp>
      <p:sp>
        <p:nvSpPr>
          <p:cNvPr id="7" name="RRF&#10;слияние по позициям">
            <a:extLst>
              <a:ext uri="{FF2B5EF4-FFF2-40B4-BE49-F238E27FC236}">
                <a16:creationId xmlns:a16="http://schemas.microsoft.com/office/drawing/2014/main" id="{1EDE10D0-6BAA-4082-AE1B-FE8DD2717CCE}"/>
              </a:ext>
            </a:extLst>
          </p:cNvPr>
          <p:cNvSpPr>
            <a:spLocks noGrp="1"/>
          </p:cNvSpPr>
          <p:nvPr/>
        </p:nvSpPr>
        <p:spPr>
          <a:xfrm>
            <a:off x="3724275" y="2914650"/>
            <a:ext cx="3448050" cy="1238250"/>
          </a:xfrm>
          <a:prstGeom prst="rect">
            <a:avLst/>
          </a:prstGeom>
          <a:solidFill>
            <a:srgbClr val="E3F1EF"/>
          </a:solidFill>
          <a:ln w="11430">
            <a:solidFill>
              <a:srgbClr val="D4E1E0"/>
            </a:solidFill>
          </a:ln>
        </p:spPr>
        <p:txBody>
          <a:bodyPr lIns="152400" tIns="114300" rIns="152400" bIns="114300" anchor="ctr">
            <a:noAutofit/>
          </a:bodyPr>
          <a:lstStyle>
            <a:defPPr algn="ctr">
              <a:defRPr sz="2175">
                <a:solidFill>
                  <a:srgbClr val="182B30"/>
                </a:solidFill>
                <a:latin typeface="Arial"/>
                <a:ea typeface="Arial"/>
                <a:cs typeface="Arial"/>
              </a:defRPr>
            </a:defPPr>
          </a:lstStyle>
          <a:p>
            <a:pPr algn="ctr">
              <a:defRPr sz="2175">
                <a:solidFill>
                  <a:srgbClr val="182B30"/>
                </a:solidFill>
                <a:latin typeface="Arial"/>
                <a:ea typeface="Arial"/>
                <a:cs typeface="Arial"/>
              </a:defRPr>
            </a:pPr>
            <a:r>
              <a:rPr sz="2175">
                <a:solidFill>
                  <a:srgbClr val="182B30"/>
                </a:solidFill>
                <a:latin typeface="Arial"/>
                <a:ea typeface="Arial"/>
                <a:cs typeface="Arial"/>
              </a:rPr>
              <a:t>RRF</a:t>
            </a:r>
          </a:p>
          <a:p>
            <a:pPr algn="ctr">
              <a:defRPr sz="2175">
                <a:solidFill>
                  <a:srgbClr val="182B30"/>
                </a:solidFill>
                <a:latin typeface="Arial"/>
                <a:ea typeface="Arial"/>
                <a:cs typeface="Arial"/>
              </a:defRPr>
            </a:pPr>
            <a:r>
              <a:rPr sz="2175">
                <a:solidFill>
                  <a:srgbClr val="182B30"/>
                </a:solidFill>
                <a:latin typeface="Arial"/>
                <a:ea typeface="Arial"/>
                <a:cs typeface="Arial"/>
              </a:rPr>
              <a:t>слияние по позициям</a:t>
            </a:r>
          </a:p>
        </p:txBody>
      </p:sp>
      <p:sp>
        <p:nvSpPr>
          <p:cNvPr id="8" name="Один итоговый&#10;список фрагментов">
            <a:extLst>
              <a:ext uri="{FF2B5EF4-FFF2-40B4-BE49-F238E27FC236}">
                <a16:creationId xmlns:a16="http://schemas.microsoft.com/office/drawing/2014/main" id="{7054BE41-EDF8-4B5C-8C4E-6B1BD86B2376}"/>
              </a:ext>
            </a:extLst>
          </p:cNvPr>
          <p:cNvSpPr>
            <a:spLocks noGrp="1"/>
          </p:cNvSpPr>
          <p:nvPr/>
        </p:nvSpPr>
        <p:spPr>
          <a:xfrm>
            <a:off x="8201025" y="2914650"/>
            <a:ext cx="3381375" cy="12382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Один итоговый</a:t>
            </a:r>
          </a:p>
          <a:p>
            <a:pPr algn="ctr">
              <a:defRPr sz="2100">
                <a:solidFill>
                  <a:srgbClr val="182B30"/>
                </a:solidFill>
                <a:latin typeface="Arial"/>
                <a:ea typeface="Arial"/>
                <a:cs typeface="Arial"/>
              </a:defRPr>
            </a:pPr>
            <a:r>
              <a:rPr sz="2100">
                <a:solidFill>
                  <a:srgbClr val="182B30"/>
                </a:solidFill>
                <a:latin typeface="Arial"/>
                <a:ea typeface="Arial"/>
                <a:cs typeface="Arial"/>
              </a:rPr>
              <a:t>список фрагментов</a:t>
            </a:r>
          </a:p>
        </p:txBody>
      </p:sp>
      <p:sp>
        <p:nvSpPr>
          <p:cNvPr id="13" name="RRF(d) = Σ 1 / (60 + rankᵢ(d))">
            <a:extLst>
              <a:ext uri="{FF2B5EF4-FFF2-40B4-BE49-F238E27FC236}">
                <a16:creationId xmlns:a16="http://schemas.microsoft.com/office/drawing/2014/main" id="{AA6B5DCC-14AF-49EE-82AD-6C3EF2007A01}"/>
              </a:ext>
            </a:extLst>
          </p:cNvPr>
          <p:cNvSpPr>
            <a:spLocks noGrp="1"/>
          </p:cNvSpPr>
          <p:nvPr/>
        </p:nvSpPr>
        <p:spPr>
          <a:xfrm>
            <a:off x="609600" y="5010150"/>
            <a:ext cx="7715250" cy="495300"/>
          </a:xfrm>
          <a:prstGeom prst="rect">
            <a:avLst/>
          </a:prstGeom>
          <a:noFill/>
          <a:ln w="0">
            <a:noFill/>
          </a:ln>
        </p:spPr>
        <p:txBody>
          <a:bodyPr wrap="square" lIns="0" tIns="0" rIns="0" bIns="0" anchor="t">
            <a:noAutofit/>
          </a:bodyPr>
          <a:lstStyle>
            <a:defPPr algn="l">
              <a:defRPr sz="2625" b="1">
                <a:solidFill>
                  <a:srgbClr val="007F78"/>
                </a:solidFill>
                <a:latin typeface="Arial"/>
                <a:ea typeface="Arial"/>
                <a:cs typeface="Arial"/>
              </a:defRPr>
            </a:defPPr>
          </a:lstStyle>
          <a:p>
            <a:pPr algn="l">
              <a:defRPr sz="2625" b="1">
                <a:solidFill>
                  <a:srgbClr val="007F78"/>
                </a:solidFill>
                <a:latin typeface="Arial"/>
                <a:ea typeface="Arial"/>
                <a:cs typeface="Arial"/>
              </a:defRPr>
            </a:pPr>
            <a:r>
              <a:rPr sz="2625" b="1">
                <a:solidFill>
                  <a:srgbClr val="007F78"/>
                </a:solidFill>
                <a:latin typeface="Arial"/>
                <a:ea typeface="Arial"/>
                <a:cs typeface="Arial"/>
              </a:rPr>
              <a:t>RRF(d) = Σ 1 / (60 + rankᵢ(d))</a:t>
            </a:r>
          </a:p>
        </p:txBody>
      </p:sp>
      <p:sp>
        <p:nvSpPr>
          <p:cNvPr id="14" name="Равный вес трёх источников. Исходные баллы моделей не суммируются.">
            <a:extLst>
              <a:ext uri="{FF2B5EF4-FFF2-40B4-BE49-F238E27FC236}">
                <a16:creationId xmlns:a16="http://schemas.microsoft.com/office/drawing/2014/main" id="{1BBC45CA-E952-41F3-A2D6-11B7FC246334}"/>
              </a:ext>
            </a:extLst>
          </p:cNvPr>
          <p:cNvSpPr>
            <a:spLocks noGrp="1"/>
          </p:cNvSpPr>
          <p:nvPr/>
        </p:nvSpPr>
        <p:spPr>
          <a:xfrm>
            <a:off x="609600" y="5581650"/>
            <a:ext cx="10972800" cy="419100"/>
          </a:xfrm>
          <a:prstGeom prst="rect">
            <a:avLst/>
          </a:prstGeom>
          <a:noFill/>
          <a:ln w="0">
            <a:noFill/>
          </a:ln>
        </p:spPr>
        <p:txBody>
          <a:bodyPr wrap="square" lIns="0" tIns="0" rIns="0" bIns="0" anchor="t">
            <a:noAutofit/>
          </a:bodyPr>
          <a:lstStyle>
            <a:defPPr algn="l">
              <a:defRPr sz="1950" b="0">
                <a:solidFill>
                  <a:srgbClr val="182B30"/>
                </a:solidFill>
                <a:latin typeface="Arial"/>
                <a:ea typeface="Arial"/>
                <a:cs typeface="Arial"/>
              </a:defRPr>
            </a:defPPr>
          </a:lstStyle>
          <a:p>
            <a:pPr algn="l">
              <a:defRPr sz="1950" b="0">
                <a:solidFill>
                  <a:srgbClr val="182B30"/>
                </a:solidFill>
                <a:latin typeface="Arial"/>
                <a:ea typeface="Arial"/>
                <a:cs typeface="Arial"/>
              </a:defRPr>
            </a:pPr>
            <a:r>
              <a:rPr sz="1950" b="0">
                <a:solidFill>
                  <a:srgbClr val="182B30"/>
                </a:solidFill>
                <a:latin typeface="Arial"/>
                <a:ea typeface="Arial"/>
                <a:cs typeface="Arial"/>
              </a:rPr>
              <a:t>Равный вес источников. Учитываем списки, в которых найден фрагмент.</a:t>
            </a:r>
          </a:p>
        </p:txBody>
      </p:sp>
      <p:sp>
        <p:nvSpPr>
          <p:cNvPr id="15" name="Cormack, Clarke, Büttcher, SIGIR 2009. Оценки судьи не входят в формул">
            <a:extLst>
              <a:ext uri="{FF2B5EF4-FFF2-40B4-BE49-F238E27FC236}">
                <a16:creationId xmlns:a16="http://schemas.microsoft.com/office/drawing/2014/main" id="{636AD666-D12C-4C23-811C-64F8A3807468}"/>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Cormack, Clarke, Büttcher, SIGIR 2009. Оценки судьи не входят в формулу RRF.</a:t>
            </a:r>
          </a:p>
        </p:txBody>
      </p:sp>
    </p:spTree>
    <p:extLst>
      <p:ext uri="{BB962C8B-B14F-4D97-AF65-F5344CB8AC3E}">
        <p14:creationId xmlns:p14="http://schemas.microsoft.com/office/powerpoint/2010/main" val="816450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Меняются пул и входные списки RRF">
            <a:extLst>
              <a:ext uri="{FF2B5EF4-FFF2-40B4-BE49-F238E27FC236}">
                <a16:creationId xmlns:a16="http://schemas.microsoft.com/office/drawing/2014/main" id="{A649FAD2-0A4D-43D3-9E07-083A9E66B951}"/>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a:ext uri="{FF2B5EF4-FFF2-40B4-BE49-F238E27FC236}">
                <a16:creationId xmlns:a16="http://schemas.microsoft.com/office/drawing/2014/main" id="{75292B7D-DD7F-4711-8811-95C01F7F6927}"/>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15</a:t>
            </a:r>
          </a:p>
        </p:txBody>
      </p:sp>
      <p:sp>
        <p:nvSpPr>
          <p:cNvPr id="3" name="K: глубина пула     L: глубина входных списков R">
            <a:extLst>
              <a:ext uri="{FF2B5EF4-FFF2-40B4-BE49-F238E27FC236}">
                <a16:creationId xmlns:a16="http://schemas.microsoft.com/office/drawing/2014/main" id="{1575DE7C-E89A-4CD2-9645-7FC1AF9FA2A8}"/>
              </a:ext>
            </a:extLst>
          </p:cNvPr>
          <p:cNvSpPr>
            <a:spLocks noGrp="1"/>
          </p:cNvSpPr>
          <p:nvPr/>
        </p:nvSpPr>
        <p:spPr>
          <a:xfrm>
            <a:off x="609600" y="1524000"/>
            <a:ext cx="10972800" cy="36195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a:ext uri="{FF2B5EF4-FFF2-40B4-BE49-F238E27FC236}">
                <a16:creationId xmlns:a16="http://schemas.microsoft.com/office/drawing/2014/main" id="{78742252-A3B0-49E0-A036-61D3688E36C7}"/>
              </a:ext>
            </a:extLst>
          </p:cNvPr>
          <p:cNvSpPr>
            <a:spLocks noGrp="1"/>
          </p:cNvSpPr>
          <p:nvPr/>
        </p:nvSpPr>
        <p:spPr>
          <a:xfrm>
            <a:off x="609600" y="1943100"/>
            <a:ext cx="10972800" cy="400050"/>
          </a:xfrm>
          <a:prstGeom prst="rect">
            <a:avLst/>
          </a:prstGeom>
          <a:noFill/>
          <a:ln w="0">
            <a:noFill/>
          </a:ln>
        </p:spPr>
        <p:txBody>
          <a:bodyPr wrap="square" lIns="0" tIns="0" rIns="0" bIns="0" anchor="t">
            <a:noAutofit/>
          </a:bodyPr>
          <a:lstStyle/>
          <a:p>
            <a:pPr algn="l">
              <a:defRPr sz="2175" b="1">
                <a:solidFill>
                  <a:srgbClr val="C95236"/>
                </a:solidFill>
                <a:latin typeface="Arial"/>
                <a:ea typeface="Arial"/>
                <a:cs typeface="Arial"/>
              </a:defRPr>
            </a:pPr>
            <a:r>
              <a:rPr sz="2175" b="1">
                <a:solidFill>
                  <a:srgbClr val="C95236"/>
                </a:solidFill>
                <a:latin typeface="Arial"/>
                <a:ea typeface="Arial"/>
                <a:cs typeface="Arial"/>
              </a:rPr>
              <a:t>L = K. Более глубокие списки могут менять итоговый топ-10.</a:t>
            </a:r>
          </a:p>
        </p:txBody>
      </p:sp>
      <p:graphicFrame>
        <p:nvGraphicFramePr>
          <p:cNvPr id="12" name="Chart"/>
          <p:cNvGraphicFramePr/>
          <p:nvPr/>
        </p:nvGraphicFramePr>
        <p:xfrm>
          <a:off x="609600" y="2400300"/>
          <a:ext cx="10972800" cy="3076575"/>
        </p:xfrm>
        <a:graphic>
          <a:graphicData uri="http://schemas.openxmlformats.org/drawingml/2006/chart">
            <c:chart xmlns:c="http://schemas.openxmlformats.org/drawingml/2006/chart" xmlns:r="http://schemas.openxmlformats.org/officeDocument/2006/relationships" r:id="rId3"/>
          </a:graphicData>
        </a:graphic>
      </p:graphicFrame>
      <p:sp>
        <p:nvSpPr>
          <p:cNvPr id="6" name="При K = 200 разность NDCG@10 составляет +0,0088">
            <a:extLst>
              <a:ext uri="{FF2B5EF4-FFF2-40B4-BE49-F238E27FC236}">
                <a16:creationId xmlns:a16="http://schemas.microsoft.com/office/drawing/2014/main" id="{17A6A8B7-B3CF-42A7-B59B-E38F298709FA}"/>
              </a:ext>
            </a:extLst>
          </p:cNvPr>
          <p:cNvSpPr>
            <a:spLocks noGrp="1"/>
          </p:cNvSpPr>
          <p:nvPr/>
        </p:nvSpPr>
        <p:spPr>
          <a:xfrm>
            <a:off x="609600" y="5600700"/>
            <a:ext cx="10972800" cy="361950"/>
          </a:xfrm>
          <a:prstGeom prst="rect">
            <a:avLst/>
          </a:prstGeom>
          <a:noFill/>
          <a:ln w="0">
            <a:noFill/>
          </a:ln>
        </p:spPr>
        <p:txBody>
          <a:bodyPr wrap="square" lIns="0" tIns="0" rIns="0" bIns="0" anchor="t">
            <a:noAutofit/>
          </a:bodyPr>
          <a:lstStyle/>
          <a:p>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a:ext uri="{FF2B5EF4-FFF2-40B4-BE49-F238E27FC236}">
                <a16:creationId xmlns:a16="http://schemas.microsoft.com/office/drawing/2014/main" id="{1B66ED6F-573C-49DA-8081-829286359296}"/>
              </a:ext>
            </a:extLst>
          </p:cNvPr>
          <p:cNvSpPr>
            <a:spLocks noGrp="1"/>
          </p:cNvSpPr>
          <p:nvPr/>
        </p:nvSpPr>
        <p:spPr>
          <a:xfrm>
            <a:off x="609600" y="6019800"/>
            <a:ext cx="10572750" cy="561975"/>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Парный ДИ 95% [0,0082; 0,0095].</a:t>
            </a:r>
          </a:p>
        </p:txBody>
      </p:sp>
    </p:spTree>
    <p:extLst>
      <p:ext uri="{BB962C8B-B14F-4D97-AF65-F5344CB8AC3E}">
        <p14:creationId xmlns:p14="http://schemas.microsoft.com/office/powerpoint/2010/main" val="1531830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Покрытие разметкой меняет сравнение">
            <a:extLst>
              <a:ext uri="{FF2B5EF4-FFF2-40B4-BE49-F238E27FC236}">
                <a16:creationId xmlns:a16="http://schemas.microsoft.com/office/drawing/2014/main" id="{893DC6B4-8608-4DD7-B6E8-3D10ACC2E6D6}"/>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a:ext uri="{FF2B5EF4-FFF2-40B4-BE49-F238E27FC236}">
                <a16:creationId xmlns:a16="http://schemas.microsoft.com/office/drawing/2014/main" id="{25ED950A-71A0-49BD-9DD9-CDAA7E5E23D4}"/>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16</a:t>
            </a:r>
          </a:p>
        </p:txBody>
      </p:sp>
      <p:sp>
        <p:nvSpPr>
          <p:cNvPr id="3" name="K: глубина пула     L: глубина входных списков R">
            <a:extLst>
              <a:ext uri="{FF2B5EF4-FFF2-40B4-BE49-F238E27FC236}">
                <a16:creationId xmlns:a16="http://schemas.microsoft.com/office/drawing/2014/main" id="{8D233C68-BA22-4150-B1DD-4948CD9BF1DC}"/>
              </a:ext>
            </a:extLst>
          </p:cNvPr>
          <p:cNvSpPr>
            <a:spLocks noGrp="1"/>
          </p:cNvSpPr>
          <p:nvPr/>
        </p:nvSpPr>
        <p:spPr>
          <a:xfrm>
            <a:off x="609600" y="1524000"/>
            <a:ext cx="10972800" cy="36195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NDCG@10</a:t>
            </a:r>
            <a:r>
              <a:rPr sz="1950" b="0" baseline="-25000">
                <a:solidFill>
                  <a:srgbClr val="526970"/>
                </a:solidFill>
                <a:latin typeface="Arial"/>
                <a:ea typeface="Arial"/>
                <a:cs typeface="Arial"/>
              </a:rPr>
              <a:t>RRF</a:t>
            </a:r>
            <a:r>
              <a:rPr sz="1950" b="0">
                <a:solidFill>
                  <a:srgbClr val="526970"/>
                </a:solidFill>
                <a:latin typeface="Arial"/>
                <a:ea typeface="Arial"/>
                <a:cs typeface="Arial"/>
              </a:rPr>
              <a:t> − NDCG@10</a:t>
            </a:r>
            <a:r>
              <a:rPr sz="1950" b="0" baseline="-25000">
                <a:solidFill>
                  <a:srgbClr val="526970"/>
                </a:solidFill>
                <a:latin typeface="Arial"/>
                <a:ea typeface="Arial"/>
                <a:cs typeface="Arial"/>
              </a:rPr>
              <a:t>E5</a:t>
            </a:r>
          </a:p>
        </p:txBody>
      </p:sp>
      <p:sp>
        <p:nvSpPr>
          <p:cNvPr id="4" name="Меняется только K. L = 200, обе выдачи зафиксиро">
            <a:extLst>
              <a:ext uri="{FF2B5EF4-FFF2-40B4-BE49-F238E27FC236}">
                <a16:creationId xmlns:a16="http://schemas.microsoft.com/office/drawing/2014/main" id="{A803AB49-181C-45E5-B2EB-A609645252FC}"/>
              </a:ext>
            </a:extLst>
          </p:cNvPr>
          <p:cNvSpPr>
            <a:spLocks noGrp="1"/>
          </p:cNvSpPr>
          <p:nvPr/>
        </p:nvSpPr>
        <p:spPr>
          <a:xfrm>
            <a:off x="609600" y="1943100"/>
            <a:ext cx="10972800" cy="419100"/>
          </a:xfrm>
          <a:prstGeom prst="rect">
            <a:avLst/>
          </a:prstGeom>
          <a:noFill/>
          <a:ln w="0">
            <a:noFill/>
          </a:ln>
        </p:spPr>
        <p:txBody>
          <a:bodyPr wrap="square" lIns="0" tIns="0" rIns="0" bIns="0" anchor="t">
            <a:noAutofit/>
          </a:bodyPr>
          <a:lstStyle/>
          <a:p>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609600" y="2571750"/>
          <a:ext cx="7829550" cy="2886075"/>
        </p:xfrm>
        <a:graphic>
          <a:graphicData uri="http://schemas.openxmlformats.org/drawingml/2006/chart">
            <c:chart xmlns:c="http://schemas.openxmlformats.org/drawingml/2006/chart" xmlns:r="http://schemas.openxmlformats.org/officeDocument/2006/relationships" r:id="rId3"/>
          </a:graphicData>
        </a:graphic>
      </p:graphicFrame>
      <p:sp>
        <p:nvSpPr>
          <p:cNvPr id="6" name="14,4%">
            <a:extLst>
              <a:ext uri="{FF2B5EF4-FFF2-40B4-BE49-F238E27FC236}">
                <a16:creationId xmlns:a16="http://schemas.microsoft.com/office/drawing/2014/main" id="{A9582D6B-B9D1-4F70-A5A4-302326BDB6F7}"/>
              </a:ext>
            </a:extLst>
          </p:cNvPr>
          <p:cNvSpPr>
            <a:spLocks noGrp="1"/>
          </p:cNvSpPr>
          <p:nvPr/>
        </p:nvSpPr>
        <p:spPr>
          <a:xfrm>
            <a:off x="8963025" y="2724150"/>
            <a:ext cx="2619375" cy="790575"/>
          </a:xfrm>
          <a:prstGeom prst="rect">
            <a:avLst/>
          </a:prstGeom>
          <a:noFill/>
          <a:ln w="0">
            <a:noFill/>
          </a:ln>
        </p:spPr>
        <p:txBody>
          <a:bodyPr wrap="square" lIns="0" tIns="0" rIns="0" bIns="0" anchor="t">
            <a:noAutofit/>
          </a:bodyPr>
          <a:lstStyle/>
          <a:p>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a:ext uri="{FF2B5EF4-FFF2-40B4-BE49-F238E27FC236}">
                <a16:creationId xmlns:a16="http://schemas.microsoft.com/office/drawing/2014/main" id="{BE80F4F9-C505-4D8C-94A5-43C1C7E4EF6F}"/>
              </a:ext>
            </a:extLst>
          </p:cNvPr>
          <p:cNvSpPr>
            <a:spLocks noGrp="1"/>
          </p:cNvSpPr>
          <p:nvPr/>
        </p:nvSpPr>
        <p:spPr>
          <a:xfrm>
            <a:off x="8963025" y="3514725"/>
            <a:ext cx="2619375" cy="1200150"/>
          </a:xfrm>
          <a:prstGeom prst="rect">
            <a:avLst/>
          </a:prstGeom>
          <a:noFill/>
          <a:ln w="0">
            <a:noFill/>
          </a:ln>
        </p:spPr>
        <p:txBody>
          <a:bodyPr wrap="square" lIns="0" tIns="0" rIns="0" bIns="0" anchor="t">
            <a:noAutofit/>
          </a:bodyPr>
          <a:lstStyle/>
          <a:p>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a:ext uri="{FF2B5EF4-FFF2-40B4-BE49-F238E27FC236}">
                <a16:creationId xmlns:a16="http://schemas.microsoft.com/office/drawing/2014/main" id="{83A123AE-1E5D-46B6-9406-C806F0168066}"/>
              </a:ext>
            </a:extLst>
          </p:cNvPr>
          <p:cNvSpPr>
            <a:spLocks noGrp="1"/>
          </p:cNvSpPr>
          <p:nvPr/>
        </p:nvSpPr>
        <p:spPr>
          <a:xfrm>
            <a:off x="8963025" y="4905375"/>
            <a:ext cx="2619375" cy="695325"/>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a:ext uri="{FF2B5EF4-FFF2-40B4-BE49-F238E27FC236}">
                <a16:creationId xmlns:a16="http://schemas.microsoft.com/office/drawing/2014/main" id="{17FCF1BB-7E14-4A43-949A-1FA1EE242DD2}"/>
              </a:ext>
            </a:extLst>
          </p:cNvPr>
          <p:cNvSpPr>
            <a:spLocks noGrp="1"/>
          </p:cNvSpPr>
          <p:nvPr/>
        </p:nvSpPr>
        <p:spPr>
          <a:xfrm>
            <a:off x="866775" y="5657850"/>
            <a:ext cx="3600450" cy="361950"/>
          </a:xfrm>
          <a:prstGeom prst="rect">
            <a:avLst/>
          </a:prstGeom>
          <a:noFill/>
          <a:ln w="0">
            <a:noFill/>
          </a:ln>
        </p:spPr>
        <p:txBody>
          <a:bodyPr wrap="square" lIns="0" tIns="0" rIns="0" bIns="0" anchor="t">
            <a:noAutofit/>
          </a:bodyPr>
          <a:lstStyle/>
          <a:p>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a:ext uri="{FF2B5EF4-FFF2-40B4-BE49-F238E27FC236}">
                <a16:creationId xmlns:a16="http://schemas.microsoft.com/office/drawing/2014/main" id="{3B777154-EAE9-42A6-BE19-1EB05E481127}"/>
              </a:ext>
            </a:extLst>
          </p:cNvPr>
          <p:cNvSpPr>
            <a:spLocks noGrp="1"/>
          </p:cNvSpPr>
          <p:nvPr/>
        </p:nvSpPr>
        <p:spPr>
          <a:xfrm>
            <a:off x="4629150" y="5657850"/>
            <a:ext cx="3600450" cy="361950"/>
          </a:xfrm>
          <a:prstGeom prst="rect">
            <a:avLst/>
          </a:prstGeom>
          <a:noFill/>
          <a:ln w="0">
            <a:noFill/>
          </a:ln>
        </p:spPr>
        <p:txBody>
          <a:bodyPr wrap="square" lIns="0" tIns="0" rIns="0" bIns="0" anchor="t">
            <a:noAutofit/>
          </a:bodyPr>
          <a:lstStyle/>
          <a:p>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a:ext uri="{FF2B5EF4-FFF2-40B4-BE49-F238E27FC236}">
                <a16:creationId xmlns:a16="http://schemas.microsoft.com/office/drawing/2014/main" id="{B3A6ED8C-8FF2-4B68-85FD-C3F9AF55778A}"/>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Отсутствие оценки дает нулевой вклад в метрику, но не означает нерелевантность.</a:t>
            </a:r>
          </a:p>
        </p:txBody>
      </p:sp>
    </p:spTree>
    <p:extLst>
      <p:ext uri="{BB962C8B-B14F-4D97-AF65-F5344CB8AC3E}">
        <p14:creationId xmlns:p14="http://schemas.microsoft.com/office/powerpoint/2010/main" val="912396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Устойчивость и ограничения">
            <a:extLst>
              <a:ext uri="{FF2B5EF4-FFF2-40B4-BE49-F238E27FC236}">
                <a16:creationId xmlns:a16="http://schemas.microsoft.com/office/drawing/2014/main" id="{ED891985-AEA3-4505-AE91-B93BB800593D}"/>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a:ext uri="{FF2B5EF4-FFF2-40B4-BE49-F238E27FC236}">
                <a16:creationId xmlns:a16="http://schemas.microsoft.com/office/drawing/2014/main" id="{FAD774E1-05AF-439C-B3C6-CB817BA38AB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17</a:t>
            </a:r>
          </a:p>
        </p:txBody>
      </p:sp>
      <p:sp>
        <p:nvSpPr>
          <p:cNvPr id="3" name="Сравнение после исключения части запросов">
            <a:extLst>
              <a:ext uri="{FF2B5EF4-FFF2-40B4-BE49-F238E27FC236}">
                <a16:creationId xmlns:a16="http://schemas.microsoft.com/office/drawing/2014/main" id="{17A5C90D-B0D7-4AE0-AFF2-A360B61BEAC0}"/>
              </a:ext>
            </a:extLst>
          </p:cNvPr>
          <p:cNvSpPr>
            <a:spLocks noGrp="1"/>
          </p:cNvSpPr>
          <p:nvPr/>
        </p:nvSpPr>
        <p:spPr>
          <a:xfrm>
            <a:off x="609600" y="1695450"/>
            <a:ext cx="10477500" cy="419100"/>
          </a:xfrm>
          <a:prstGeom prst="rect">
            <a:avLst/>
          </a:prstGeom>
          <a:noFill/>
          <a:ln w="0">
            <a:noFill/>
          </a:ln>
        </p:spPr>
        <p:txBody>
          <a:bodyPr wrap="square" lIns="0" tIns="0" rIns="0" bIns="0" anchor="t">
            <a:noAutofit/>
          </a:bodyPr>
          <a:lstStyle/>
          <a:p>
            <a:pPr algn="l">
              <a:defRPr sz="2325" b="1">
                <a:solidFill>
                  <a:srgbClr val="007F78"/>
                </a:solidFill>
                <a:latin typeface="Arial"/>
                <a:ea typeface="Arial"/>
                <a:cs typeface="Arial"/>
              </a:defRPr>
            </a:pPr>
            <a:r>
              <a:rPr sz="2325" b="1">
                <a:solidFill>
                  <a:srgbClr val="007F78"/>
                </a:solidFill>
                <a:latin typeface="Arial"/>
                <a:ea typeface="Arial"/>
                <a:cs typeface="Arial"/>
              </a:rPr>
              <a:t>В обоих расчетах используются только псевдометки судьи</a:t>
            </a:r>
          </a:p>
        </p:txBody>
      </p:sp>
      <p:graphicFrame>
        <p:nvGraphicFramePr>
          <p:cNvPr id="12" name="Таблица 11"/>
          <p:cNvGraphicFramePr/>
          <p:nvPr/>
        </p:nvGraphicFramePr>
        <p:xfrm>
          <a:off x="609600" y="2266950"/>
          <a:ext cx="10972800" cy="2181225"/>
        </p:xfrm>
        <a:graphic>
          <a:graphicData uri="http://schemas.openxmlformats.org/drawingml/2006/table">
            <a:tbl>
              <a:tblPr/>
              <a:tblGrid>
                <a:gridCol w="4333875">
                  <a:extLst>
                    <a:ext uri="{9D8B030D-6E8A-4147-A177-3AD203B41FA5}">
                      <a16:colId xmlns:a16="http://schemas.microsoft.com/office/drawing/2014/main" val="20000"/>
                    </a:ext>
                  </a:extLst>
                </a:gridCol>
                <a:gridCol w="244792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504825">
                <a:tc>
                  <a:txBody>
                    <a:bodyPr/>
                    <a:lstStyle/>
                    <a:p>
                      <a:r>
                        <a:rPr sz="1725" b="1">
                          <a:solidFill>
                            <a:srgbClr val="526970"/>
                          </a:solidFill>
                          <a:latin typeface="Arial"/>
                          <a:ea typeface="Arial"/>
                          <a:cs typeface="Arial"/>
                        </a:rPr>
                        <a:t>Запросы</a:t>
                      </a:r>
                    </a:p>
                  </a:txBody>
                  <a:tcPr anchor="ctr">
                    <a:lnL w="0">
                      <a:noFill/>
                    </a:lnL>
                    <a:lnR w="0">
                      <a:noFill/>
                    </a:lnR>
                    <a:lnT w="0">
                      <a:noFill/>
                    </a:lnT>
                    <a:lnB w="7620">
                      <a:solidFill>
                        <a:srgbClr val="D4E1E0"/>
                      </a:solidFill>
                    </a:lnB>
                    <a:solidFill>
                      <a:srgbClr val="EFF5F4"/>
                    </a:solidFill>
                  </a:tcPr>
                </a:tc>
                <a:tc>
                  <a:txBody>
                    <a:bodyPr/>
                    <a:lstStyle/>
                    <a:p>
                      <a:r>
                        <a:rPr sz="1725" b="1">
                          <a:solidFill>
                            <a:srgbClr val="526970"/>
                          </a:solidFill>
                          <a:latin typeface="Arial"/>
                          <a:ea typeface="Arial"/>
                          <a:cs typeface="Arial"/>
                        </a:rPr>
                        <a:t>Число</a:t>
                      </a:r>
                    </a:p>
                  </a:txBody>
                  <a:tcPr anchor="ctr">
                    <a:lnL w="0">
                      <a:noFill/>
                    </a:lnL>
                    <a:lnR w="0">
                      <a:noFill/>
                    </a:lnR>
                    <a:lnT w="0">
                      <a:noFill/>
                    </a:lnT>
                    <a:lnB w="7620">
                      <a:solidFill>
                        <a:srgbClr val="D4E1E0"/>
                      </a:solidFill>
                    </a:lnB>
                    <a:solidFill>
                      <a:srgbClr val="EFF5F4"/>
                    </a:solidFill>
                  </a:tcPr>
                </a:tc>
                <a:tc>
                  <a:txBody>
                    <a:bodyPr/>
                    <a:lstStyle/>
                    <a:p>
                      <a:r>
                        <a:rPr sz="1725" b="1">
                          <a:solidFill>
                            <a:srgbClr val="526970"/>
                          </a:solidFill>
                          <a:latin typeface="Arial"/>
                          <a:ea typeface="Arial"/>
                          <a:cs typeface="Arial"/>
                        </a:rPr>
                        <a:t>Сравнение RRF и E5</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838200">
                <a:tc>
                  <a:txBody>
                    <a:bodyPr/>
                    <a:lstStyle/>
                    <a:p>
                      <a:r>
                        <a:rPr sz="1875" b="0">
                          <a:solidFill>
                            <a:srgbClr val="182B30"/>
                          </a:solidFill>
                          <a:latin typeface="Arial"/>
                          <a:ea typeface="Arial"/>
                          <a:cs typeface="Arial"/>
                        </a:rPr>
                        <a:t>Полная dev-часть</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101 093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Базовое сравнение</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838200">
                <a:tc>
                  <a:txBody>
                    <a:bodyPr/>
                    <a:lstStyle/>
                    <a:p>
                      <a:r>
                        <a:rPr sz="1875" b="0">
                          <a:solidFill>
                            <a:srgbClr val="182B30"/>
                          </a:solidFill>
                          <a:latin typeface="Arial"/>
                          <a:ea typeface="Arial"/>
                          <a:cs typeface="Arial"/>
                        </a:rPr>
                        <a:t>Без 1 179 запросов</a:t>
                      </a:r>
                    </a:p>
                    <a:p>
                      <a:r>
                        <a:rPr sz="1875" b="0">
                          <a:solidFill>
                            <a:srgbClr val="182B30"/>
                          </a:solidFill>
                          <a:latin typeface="Arial"/>
                          <a:ea typeface="Arial"/>
                          <a:cs typeface="Arial"/>
                        </a:rPr>
                        <a:t>ручной подвыборки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99 914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На тех же K лидирует</a:t>
                      </a:r>
                    </a:p>
                    <a:p>
                      <a:r>
                        <a:rPr sz="1875" b="0">
                          <a:solidFill>
                            <a:srgbClr val="182B30"/>
                          </a:solidFill>
                          <a:latin typeface="Arial"/>
                          <a:ea typeface="Arial"/>
                          <a:cs typeface="Arial"/>
                        </a:rPr>
                        <a:t>та же система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bl>
          </a:graphicData>
        </a:graphic>
      </p:graphicFrame>
      <p:sp>
        <p:nvSpPr>
          <p:cNvPr id="5" name="Прямая соединительная линия 4">
            <a:extLst>
              <a:ext uri="{FF2B5EF4-FFF2-40B4-BE49-F238E27FC236}">
                <a16:creationId xmlns:a16="http://schemas.microsoft.com/office/drawing/2014/main" id="{B788E524-F7E7-4ED6-9EDA-036F133EB5A0}"/>
              </a:ext>
            </a:extLst>
          </p:cNvPr>
          <p:cNvSpPr>
            <a:spLocks noGrp="1"/>
          </p:cNvSpPr>
          <p:nvPr/>
        </p:nvSpPr>
        <p:spPr>
          <a:xfrm>
            <a:off x="609600" y="4686300"/>
            <a:ext cx="10972800" cy="0"/>
          </a:xfrm>
          <a:prstGeom prst="line">
            <a:avLst/>
          </a:prstGeom>
          <a:noFill/>
          <a:ln w="11430">
            <a:solidFill>
              <a:srgbClr val="D4E1E0"/>
            </a:solidFill>
          </a:ln>
        </p:spPr>
      </p:sp>
      <p:sp>
        <p:nvSpPr>
          <p:cNvPr id="6" name="Ручные пулы: известный ответ, согласие экспертов">
            <a:extLst>
              <a:ext uri="{FF2B5EF4-FFF2-40B4-BE49-F238E27FC236}">
                <a16:creationId xmlns:a16="http://schemas.microsoft.com/office/drawing/2014/main" id="{855EF571-426E-4635-B0A8-1BF73A0F96FD}"/>
              </a:ext>
            </a:extLst>
          </p:cNvPr>
          <p:cNvSpPr>
            <a:spLocks noGrp="1"/>
          </p:cNvSpPr>
          <p:nvPr/>
        </p:nvSpPr>
        <p:spPr>
          <a:xfrm>
            <a:off x="609600" y="4962525"/>
            <a:ext cx="10972800" cy="409575"/>
          </a:xfrm>
          <a:prstGeom prst="rect">
            <a:avLst/>
          </a:prstGeom>
          <a:noFill/>
          <a:ln w="0">
            <a:noFill/>
          </a:ln>
        </p:spPr>
        <p:txBody>
          <a:bodyPr wrap="square" lIns="0" tIns="0" rIns="0" bIns="0" anchor="t">
            <a:noAutofit/>
          </a:bodyPr>
          <a:lstStyle/>
          <a:p>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a:ext uri="{FF2B5EF4-FFF2-40B4-BE49-F238E27FC236}">
                <a16:creationId xmlns:a16="http://schemas.microsoft.com/office/drawing/2014/main" id="{D23353FC-8C22-457C-A88D-23DDFD95D67E}"/>
              </a:ext>
            </a:extLst>
          </p:cNvPr>
          <p:cNvSpPr>
            <a:spLocks noGrp="1"/>
          </p:cNvSpPr>
          <p:nvPr/>
        </p:nvSpPr>
        <p:spPr>
          <a:xfrm>
            <a:off x="609600" y="5467350"/>
            <a:ext cx="10972800" cy="409575"/>
          </a:xfrm>
          <a:prstGeom prst="rect">
            <a:avLst/>
          </a:prstGeom>
          <a:noFill/>
          <a:ln w="0">
            <a:noFill/>
          </a:ln>
        </p:spPr>
        <p:txBody>
          <a:bodyPr wrap="square" lIns="0" tIns="0" rIns="0" bIns="0" anchor="t">
            <a:noAutofit/>
          </a:bodyPr>
          <a:lstStyle/>
          <a:p>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a:ext uri="{FF2B5EF4-FFF2-40B4-BE49-F238E27FC236}">
                <a16:creationId xmlns:a16="http://schemas.microsoft.com/office/drawing/2014/main" id="{1C7B951B-135F-4F65-9E3D-38B3C826B548}"/>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82326"/>
        </a:solidFill>
        <a:effectLst/>
      </p:bgPr>
    </p:bg>
    <p:spTree>
      <p:nvGrpSpPr>
        <p:cNvPr id="1" name=""/>
        <p:cNvGrpSpPr/>
        <p:nvPr/>
      </p:nvGrpSpPr>
      <p:grpSpPr>
        <a:xfrm>
          <a:off x="0" y="0"/>
          <a:ext cx="0" cy="0"/>
          <a:chOff x="0" y="0"/>
          <a:chExt cx="0" cy="0"/>
        </a:xfrm>
      </p:grpSpPr>
      <p:sp>
        <p:nvSpPr>
          <p:cNvPr id="12" name="Полнота разметки влияет на оценку поиска">
            <a:extLst>
              <a:ext uri="{FF2B5EF4-FFF2-40B4-BE49-F238E27FC236}">
                <a16:creationId xmlns:a16="http://schemas.microsoft.com/office/drawing/2014/main" id="{5E6830FA-6B24-4FC5-B4B8-1E33AC381AA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сравнение систем</a:t>
            </a:r>
          </a:p>
        </p:txBody>
      </p:sp>
      <p:sp>
        <p:nvSpPr>
          <p:cNvPr id="2" name="15">
            <a:extLst>
              <a:ext uri="{FF2B5EF4-FFF2-40B4-BE49-F238E27FC236}">
                <a16:creationId xmlns:a16="http://schemas.microsoft.com/office/drawing/2014/main" id="{0EA51AD1-5EF4-4C59-8B10-AFC1683CD854}"/>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B3C7C9"/>
                </a:solidFill>
                <a:latin typeface="Arial"/>
                <a:ea typeface="Arial"/>
                <a:cs typeface="Arial"/>
              </a:defRPr>
            </a:pPr>
            <a:r>
              <a:rPr sz="1125" b="0">
                <a:solidFill>
                  <a:srgbClr val="B3C7C9"/>
                </a:solidFill>
                <a:latin typeface="Arial"/>
                <a:ea typeface="Arial"/>
                <a:cs typeface="Arial"/>
              </a:rPr>
              <a:t>18</a:t>
            </a:r>
          </a:p>
        </p:txBody>
      </p:sp>
      <p:sp>
        <p:nvSpPr>
          <p:cNvPr id="3" name="Оценки человека">
            <a:extLst>
              <a:ext uri="{FF2B5EF4-FFF2-40B4-BE49-F238E27FC236}">
                <a16:creationId xmlns:a16="http://schemas.microsoft.com/office/drawing/2014/main" id="{824567DE-3DC6-409F-91CE-43F54635805E}"/>
              </a:ext>
            </a:extLst>
          </p:cNvPr>
          <p:cNvSpPr>
            <a:spLocks noGrp="1"/>
          </p:cNvSpPr>
          <p:nvPr/>
        </p:nvSpPr>
        <p:spPr>
          <a:xfrm>
            <a:off x="609600" y="1695450"/>
            <a:ext cx="10763250" cy="409575"/>
          </a:xfrm>
          <a:prstGeom prst="rect">
            <a:avLst/>
          </a:prstGeom>
          <a:noFill/>
          <a:ln w="0">
            <a:noFill/>
          </a:ln>
        </p:spPr>
        <p:txBody>
          <a:bodyPr wrap="square" lIns="0" tIns="0" rIns="0" bIns="0" anchor="t">
            <a:noAutofit/>
          </a:bodyPr>
          <a:lstStyle/>
          <a:p>
            <a:pPr algn="l">
              <a:defRPr sz="2250" b="1">
                <a:solidFill>
                  <a:srgbClr val="8ACEC4"/>
                </a:solidFill>
                <a:latin typeface="Arial"/>
                <a:ea typeface="Arial"/>
                <a:cs typeface="Arial"/>
              </a:defRPr>
            </a:pPr>
            <a:r>
              <a:rPr sz="2250" b="1">
                <a:solidFill>
                  <a:srgbClr val="8ACEC4"/>
                </a:solidFill>
                <a:latin typeface="Arial"/>
                <a:ea typeface="Arial"/>
                <a:cs typeface="Arial"/>
              </a:rPr>
              <a:t>Ручная доразметка меняет оценку качества</a:t>
            </a:r>
          </a:p>
        </p:txBody>
      </p:sp>
      <p:sp>
        <p:nvSpPr>
          <p:cNvPr id="4" name="E5 NDCG@10: с 0,488 до 0,879">
            <a:extLst>
              <a:ext uri="{FF2B5EF4-FFF2-40B4-BE49-F238E27FC236}">
                <a16:creationId xmlns:a16="http://schemas.microsoft.com/office/drawing/2014/main" id="{1318D601-01BA-4BC1-925B-84BB893A453B}"/>
              </a:ext>
            </a:extLst>
          </p:cNvPr>
          <p:cNvSpPr>
            <a:spLocks noGrp="1"/>
          </p:cNvSpPr>
          <p:nvPr/>
        </p:nvSpPr>
        <p:spPr>
          <a:xfrm>
            <a:off x="609600" y="2238375"/>
            <a:ext cx="10763250" cy="666750"/>
          </a:xfrm>
          <a:prstGeom prst="rect">
            <a:avLst/>
          </a:prstGeom>
          <a:noFill/>
          <a:ln w="0">
            <a:noFill/>
          </a:ln>
        </p:spPr>
        <p:txBody>
          <a:bodyPr wrap="square" lIns="0" tIns="0" rIns="0" bIns="0" anchor="t">
            <a:noAutofit/>
          </a:bodyPr>
          <a:lstStyle/>
          <a:p>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a:ext uri="{FF2B5EF4-FFF2-40B4-BE49-F238E27FC236}">
                <a16:creationId xmlns:a16="http://schemas.microsoft.com/office/drawing/2014/main" id="{F253C9CE-8A3A-4965-A712-FA468C91C31B}"/>
              </a:ext>
            </a:extLst>
          </p:cNvPr>
          <p:cNvSpPr>
            <a:spLocks noGrp="1"/>
          </p:cNvSpPr>
          <p:nvPr/>
        </p:nvSpPr>
        <p:spPr>
          <a:xfrm>
            <a:off x="609600" y="3048000"/>
            <a:ext cx="10763250" cy="447675"/>
          </a:xfrm>
          <a:prstGeom prst="rect">
            <a:avLst/>
          </a:prstGeom>
          <a:noFill/>
          <a:ln w="0">
            <a:noFill/>
          </a:ln>
        </p:spPr>
        <p:txBody>
          <a:bodyPr wrap="square" lIns="0" tIns="0" rIns="0" bIns="0" anchor="t">
            <a:noAutofit/>
          </a:bodyPr>
          <a:lstStyle/>
          <a:p>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Прямая соединительная линия 5">
            <a:extLst>
              <a:ext uri="{FF2B5EF4-FFF2-40B4-BE49-F238E27FC236}">
                <a16:creationId xmlns:a16="http://schemas.microsoft.com/office/drawing/2014/main" id="{89E06602-392C-4B92-9D8A-29BBBEC2FC4A}"/>
              </a:ext>
            </a:extLst>
          </p:cNvPr>
          <p:cNvSpPr>
            <a:spLocks noGrp="1"/>
          </p:cNvSpPr>
          <p:nvPr/>
        </p:nvSpPr>
        <p:spPr>
          <a:xfrm>
            <a:off x="609600" y="3714750"/>
            <a:ext cx="10972800" cy="0"/>
          </a:xfrm>
          <a:prstGeom prst="line">
            <a:avLst/>
          </a:prstGeom>
          <a:noFill/>
          <a:ln w="11430">
            <a:solidFill>
              <a:srgbClr val="3F5558"/>
            </a:solidFill>
          </a:ln>
        </p:spPr>
      </p:sp>
      <p:sp>
        <p:nvSpPr>
          <p:cNvPr id="7" name="Фиксированные выдачи, один судья">
            <a:extLst>
              <a:ext uri="{FF2B5EF4-FFF2-40B4-BE49-F238E27FC236}">
                <a16:creationId xmlns:a16="http://schemas.microsoft.com/office/drawing/2014/main" id="{3F7ABDF7-8C0D-47F5-B05A-ACE52D31CF60}"/>
              </a:ext>
            </a:extLst>
          </p:cNvPr>
          <p:cNvSpPr>
            <a:spLocks noGrp="1"/>
          </p:cNvSpPr>
          <p:nvPr/>
        </p:nvSpPr>
        <p:spPr>
          <a:xfrm>
            <a:off x="609600" y="3962400"/>
            <a:ext cx="10972800" cy="419100"/>
          </a:xfrm>
          <a:prstGeom prst="rect">
            <a:avLst/>
          </a:prstGeom>
          <a:noFill/>
          <a:ln w="0">
            <a:noFill/>
          </a:ln>
        </p:spPr>
        <p:txBody>
          <a:bodyPr wrap="square" lIns="0" tIns="0" rIns="0" bIns="0" anchor="t">
            <a:noAutofit/>
          </a:bodyPr>
          <a:lstStyle/>
          <a:p>
            <a:pPr algn="l">
              <a:defRPr sz="2250" b="1">
                <a:solidFill>
                  <a:srgbClr val="8ACEC4"/>
                </a:solidFill>
                <a:latin typeface="Arial"/>
                <a:ea typeface="Arial"/>
                <a:cs typeface="Arial"/>
              </a:defRPr>
            </a:pPr>
            <a:r>
              <a:rPr sz="2250" b="1">
                <a:solidFill>
                  <a:srgbClr val="8ACEC4"/>
                </a:solidFill>
                <a:latin typeface="Arial"/>
                <a:ea typeface="Arial"/>
                <a:cs typeface="Arial"/>
              </a:rPr>
              <a:t>При фиксированной выдаче и одном судье</a:t>
            </a:r>
          </a:p>
        </p:txBody>
      </p:sp>
      <p:sp>
        <p:nvSpPr>
          <p:cNvPr id="8" name="Расширение пула может изменить порядок RRF и E5">
            <a:extLst>
              <a:ext uri="{FF2B5EF4-FFF2-40B4-BE49-F238E27FC236}">
                <a16:creationId xmlns:a16="http://schemas.microsoft.com/office/drawing/2014/main" id="{CE0F19DB-D496-41FD-BDFF-9FE31E3C40D4}"/>
              </a:ext>
            </a:extLst>
          </p:cNvPr>
          <p:cNvSpPr>
            <a:spLocks noGrp="1"/>
          </p:cNvSpPr>
          <p:nvPr/>
        </p:nvSpPr>
        <p:spPr>
          <a:xfrm>
            <a:off x="609600" y="4495800"/>
            <a:ext cx="10972800" cy="619125"/>
          </a:xfrm>
          <a:prstGeom prst="rect">
            <a:avLst/>
          </a:prstGeom>
          <a:noFill/>
          <a:ln w="0">
            <a:noFill/>
          </a:ln>
        </p:spPr>
        <p:txBody>
          <a:bodyPr wrap="square" lIns="0" tIns="0" rIns="0" bIns="0" anchor="t">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Вывод о лучшей системе зависит от охвата разметки</a:t>
            </a:r>
          </a:p>
        </p:txBody>
      </p:sp>
      <p:sp>
        <p:nvSpPr>
          <p:cNvPr id="9" name="Прямая соединительная линия 8">
            <a:extLst>
              <a:ext uri="{FF2B5EF4-FFF2-40B4-BE49-F238E27FC236}">
                <a16:creationId xmlns:a16="http://schemas.microsoft.com/office/drawing/2014/main" id="{FFBB8109-9405-409B-B231-D129FD718FE5}"/>
              </a:ext>
            </a:extLst>
          </p:cNvPr>
          <p:cNvSpPr>
            <a:spLocks noGrp="1"/>
          </p:cNvSpPr>
          <p:nvPr/>
        </p:nvSpPr>
        <p:spPr>
          <a:xfrm>
            <a:off x="609600" y="5257800"/>
            <a:ext cx="10972800" cy="0"/>
          </a:xfrm>
          <a:prstGeom prst="line">
            <a:avLst/>
          </a:prstGeom>
          <a:noFill/>
          <a:ln w="11430">
            <a:solidFill>
              <a:srgbClr val="3F5558"/>
            </a:solidFill>
          </a:ln>
        </p:spPr>
      </p:sp>
      <p:sp>
        <p:nvSpPr>
          <p:cNvPr id="10" name="Далее: более сильные судьи с эталонным ответом и">
            <a:extLst>
              <a:ext uri="{FF2B5EF4-FFF2-40B4-BE49-F238E27FC236}">
                <a16:creationId xmlns:a16="http://schemas.microsoft.com/office/drawing/2014/main" id="{35AA4F24-D638-4451-9E6A-83C26E37B82F}"/>
              </a:ext>
            </a:extLst>
          </p:cNvPr>
          <p:cNvSpPr>
            <a:spLocks noGrp="1"/>
          </p:cNvSpPr>
          <p:nvPr/>
        </p:nvSpPr>
        <p:spPr>
          <a:xfrm>
            <a:off x="609600" y="5457825"/>
            <a:ext cx="10972800" cy="600075"/>
          </a:xfrm>
          <a:prstGeom prst="rect">
            <a:avLst/>
          </a:prstGeom>
          <a:noFill/>
          <a:ln w="0">
            <a:noFill/>
          </a:ln>
        </p:spPr>
        <p:txBody>
          <a:bodyPr wrap="square" lIns="0" tIns="0" rIns="0" bIns="0" anchor="t">
            <a:noAutofit/>
          </a:bodyPr>
          <a:lstStyle/>
          <a:p>
            <a:pPr algn="l">
              <a:defRPr sz="1950" b="0">
                <a:solidFill>
                  <a:srgbClr val="C9DDDA"/>
                </a:solidFill>
                <a:latin typeface="Arial"/>
                <a:ea typeface="Arial"/>
                <a:cs typeface="Arial"/>
              </a:defRPr>
            </a:pPr>
            <a:r>
              <a:rPr sz="1950" b="0">
                <a:solidFill>
                  <a:srgbClr val="C9DDDA"/>
                </a:solidFill>
                <a:latin typeface="Arial"/>
                <a:ea typeface="Arial"/>
                <a:cs typeface="Arial"/>
              </a:rPr>
              <a:t>Направления дальнейшего исследования</a:t>
            </a:r>
          </a:p>
          <a:p>
            <a:pPr algn="l">
              <a:defRPr sz="1950" b="0">
                <a:solidFill>
                  <a:srgbClr val="C9DDDA"/>
                </a:solidFill>
                <a:latin typeface="Arial"/>
                <a:ea typeface="Arial"/>
                <a:cs typeface="Arial"/>
              </a:defRPr>
            </a:pPr>
            <a:r>
              <a:rPr sz="1950" b="0">
                <a:solidFill>
                  <a:srgbClr val="C9DDDA"/>
                </a:solidFill>
                <a:latin typeface="Arial"/>
                <a:ea typeface="Arial"/>
                <a:cs typeface="Arial"/>
              </a:rPr>
              <a:t>Улучшить судью и проверить доразметку по оценкам человека</a:t>
            </a:r>
          </a:p>
        </p:txBody>
      </p:sp>
      <p:sp>
        <p:nvSpPr>
          <p:cNvPr id="11" name="Результаты для выбранных пулов английского MS MA">
            <a:extLst>
              <a:ext uri="{FF2B5EF4-FFF2-40B4-BE49-F238E27FC236}">
                <a16:creationId xmlns:a16="http://schemas.microsoft.com/office/drawing/2014/main" id="{C2512A4B-93FA-4003-AF07-347F969F8FC5}"/>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Литература и ресурсы">
            <a:extLst>
              <a:ext uri="{FF2B5EF4-FFF2-40B4-BE49-F238E27FC236}">
                <a16:creationId xmlns:a16="http://schemas.microsoft.com/office/drawing/2014/main" id="{A4A0C6BD-6351-4B31-8728-75022184EC6F}"/>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Литература и ресурсы</a:t>
            </a:r>
          </a:p>
        </p:txBody>
      </p:sp>
      <p:sp>
        <p:nvSpPr>
          <p:cNvPr id="2" name="19">
            <a:extLst>
              <a:ext uri="{FF2B5EF4-FFF2-40B4-BE49-F238E27FC236}">
                <a16:creationId xmlns:a16="http://schemas.microsoft.com/office/drawing/2014/main" id="{63609DAA-536A-428E-9283-7D7FB820E1A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19</a:t>
            </a:r>
          </a:p>
        </p:txBody>
      </p:sp>
      <p:sp>
        <p:nvSpPr>
          <p:cNvPr id="3" name="MS MARCO">
            <a:extLst>
              <a:ext uri="{FF2B5EF4-FFF2-40B4-BE49-F238E27FC236}">
                <a16:creationId xmlns:a16="http://schemas.microsoft.com/office/drawing/2014/main" id="{2C9655CF-4325-444F-A190-BE05EC9AFC9B}"/>
              </a:ext>
            </a:extLst>
          </p:cNvPr>
          <p:cNvSpPr>
            <a:spLocks noGrp="1"/>
          </p:cNvSpPr>
          <p:nvPr/>
        </p:nvSpPr>
        <p:spPr>
          <a:xfrm>
            <a:off x="609600" y="15716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MS MARCO</a:t>
            </a:r>
          </a:p>
        </p:txBody>
      </p:sp>
      <p:sp>
        <p:nvSpPr>
          <p:cNvPr id="4" name="Bajaj et al., 2016">
            <a:extLst>
              <a:ext uri="{FF2B5EF4-FFF2-40B4-BE49-F238E27FC236}">
                <a16:creationId xmlns:a16="http://schemas.microsoft.com/office/drawing/2014/main" id="{5E02D452-7B6E-497E-8A39-D1BCC94C4B66}"/>
              </a:ext>
            </a:extLst>
          </p:cNvPr>
          <p:cNvSpPr>
            <a:spLocks noGrp="1"/>
          </p:cNvSpPr>
          <p:nvPr/>
        </p:nvSpPr>
        <p:spPr>
          <a:xfrm>
            <a:off x="609600" y="19050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Bajaj et al., 2016</a:t>
            </a:r>
          </a:p>
        </p:txBody>
      </p:sp>
      <p:sp>
        <p:nvSpPr>
          <p:cNvPr id="5" name="arxiv.org/abs/1611.09268">
            <a:extLst>
              <a:ext uri="{FF2B5EF4-FFF2-40B4-BE49-F238E27FC236}">
                <a16:creationId xmlns:a16="http://schemas.microsoft.com/office/drawing/2014/main" id="{1770FB05-F0FE-40A9-89B7-4C3A26F6F8B5}"/>
              </a:ext>
            </a:extLst>
          </p:cNvPr>
          <p:cNvSpPr>
            <a:spLocks noGrp="1"/>
          </p:cNvSpPr>
          <p:nvPr/>
        </p:nvSpPr>
        <p:spPr>
          <a:xfrm>
            <a:off x="609600" y="22098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3"/>
              </a:rPr>
              <a:t>arxiv.org/abs/1611.09268</a:t>
            </a:r>
          </a:p>
        </p:txBody>
      </p:sp>
      <p:sp>
        <p:nvSpPr>
          <p:cNvPr id="6" name="Natural Questions">
            <a:extLst>
              <a:ext uri="{FF2B5EF4-FFF2-40B4-BE49-F238E27FC236}">
                <a16:creationId xmlns:a16="http://schemas.microsoft.com/office/drawing/2014/main" id="{F97DE8AF-F43B-4795-AB1B-21C457CED273}"/>
              </a:ext>
            </a:extLst>
          </p:cNvPr>
          <p:cNvSpPr>
            <a:spLocks noGrp="1"/>
          </p:cNvSpPr>
          <p:nvPr/>
        </p:nvSpPr>
        <p:spPr>
          <a:xfrm>
            <a:off x="609600" y="26384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Natural Questions</a:t>
            </a:r>
          </a:p>
        </p:txBody>
      </p:sp>
      <p:sp>
        <p:nvSpPr>
          <p:cNvPr id="7" name="Kwiatkowski et al., 2019">
            <a:extLst>
              <a:ext uri="{FF2B5EF4-FFF2-40B4-BE49-F238E27FC236}">
                <a16:creationId xmlns:a16="http://schemas.microsoft.com/office/drawing/2014/main" id="{14F5A30A-8EC3-4BB8-B2E0-703B758312E7}"/>
              </a:ext>
            </a:extLst>
          </p:cNvPr>
          <p:cNvSpPr>
            <a:spLocks noGrp="1"/>
          </p:cNvSpPr>
          <p:nvPr/>
        </p:nvSpPr>
        <p:spPr>
          <a:xfrm>
            <a:off x="609600" y="29718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Kwiatkowski et al., 2019</a:t>
            </a:r>
          </a:p>
        </p:txBody>
      </p:sp>
      <p:sp>
        <p:nvSpPr>
          <p:cNvPr id="8" name="aclanthology.org/Q19-1026">
            <a:extLst>
              <a:ext uri="{FF2B5EF4-FFF2-40B4-BE49-F238E27FC236}">
                <a16:creationId xmlns:a16="http://schemas.microsoft.com/office/drawing/2014/main" id="{60F6F0E0-553C-42CD-8E3C-BBA7B11F21B8}"/>
              </a:ext>
            </a:extLst>
          </p:cNvPr>
          <p:cNvSpPr>
            <a:spLocks noGrp="1"/>
          </p:cNvSpPr>
          <p:nvPr/>
        </p:nvSpPr>
        <p:spPr>
          <a:xfrm>
            <a:off x="609600" y="32766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4"/>
              </a:rPr>
              <a:t>aclanthology.org/Q19-1026</a:t>
            </a:r>
          </a:p>
        </p:txBody>
      </p:sp>
      <p:sp>
        <p:nvSpPr>
          <p:cNvPr id="9" name="BEIR">
            <a:extLst>
              <a:ext uri="{FF2B5EF4-FFF2-40B4-BE49-F238E27FC236}">
                <a16:creationId xmlns:a16="http://schemas.microsoft.com/office/drawing/2014/main" id="{A59B7C08-F44F-420A-B890-509F2587EBF4}"/>
              </a:ext>
            </a:extLst>
          </p:cNvPr>
          <p:cNvSpPr>
            <a:spLocks noGrp="1"/>
          </p:cNvSpPr>
          <p:nvPr/>
        </p:nvSpPr>
        <p:spPr>
          <a:xfrm>
            <a:off x="609600" y="37052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BEIR</a:t>
            </a:r>
          </a:p>
        </p:txBody>
      </p:sp>
      <p:sp>
        <p:nvSpPr>
          <p:cNvPr id="10" name="Thakur et al., 2021">
            <a:extLst>
              <a:ext uri="{FF2B5EF4-FFF2-40B4-BE49-F238E27FC236}">
                <a16:creationId xmlns:a16="http://schemas.microsoft.com/office/drawing/2014/main" id="{EEE046B8-919E-4D3A-BEA3-1491F9EBBDE4}"/>
              </a:ext>
            </a:extLst>
          </p:cNvPr>
          <p:cNvSpPr>
            <a:spLocks noGrp="1"/>
          </p:cNvSpPr>
          <p:nvPr/>
        </p:nvSpPr>
        <p:spPr>
          <a:xfrm>
            <a:off x="609600" y="40386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Thakur et al., 2021</a:t>
            </a:r>
          </a:p>
        </p:txBody>
      </p:sp>
      <p:sp>
        <p:nvSpPr>
          <p:cNvPr id="11" name="arxiv.org/abs/2104.08663">
            <a:extLst>
              <a:ext uri="{FF2B5EF4-FFF2-40B4-BE49-F238E27FC236}">
                <a16:creationId xmlns:a16="http://schemas.microsoft.com/office/drawing/2014/main" id="{6ED52645-A687-4B8C-B757-A7B3B4C68145}"/>
              </a:ext>
            </a:extLst>
          </p:cNvPr>
          <p:cNvSpPr>
            <a:spLocks noGrp="1"/>
          </p:cNvSpPr>
          <p:nvPr/>
        </p:nvSpPr>
        <p:spPr>
          <a:xfrm>
            <a:off x="609600" y="43434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5"/>
              </a:rPr>
              <a:t>arxiv.org/abs/2104.08663</a:t>
            </a:r>
          </a:p>
        </p:txBody>
      </p:sp>
      <p:sp>
        <p:nvSpPr>
          <p:cNvPr id="12" name="BM25">
            <a:extLst>
              <a:ext uri="{FF2B5EF4-FFF2-40B4-BE49-F238E27FC236}">
                <a16:creationId xmlns:a16="http://schemas.microsoft.com/office/drawing/2014/main" id="{495A2F35-8ABE-47A5-A9EC-F4C677D71BFE}"/>
              </a:ext>
            </a:extLst>
          </p:cNvPr>
          <p:cNvSpPr>
            <a:spLocks noGrp="1"/>
          </p:cNvSpPr>
          <p:nvPr/>
        </p:nvSpPr>
        <p:spPr>
          <a:xfrm>
            <a:off x="609600" y="47720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BM25</a:t>
            </a:r>
          </a:p>
        </p:txBody>
      </p:sp>
      <p:sp>
        <p:nvSpPr>
          <p:cNvPr id="13" name="Robertson &amp; Zaragoza, 2009">
            <a:extLst>
              <a:ext uri="{FF2B5EF4-FFF2-40B4-BE49-F238E27FC236}">
                <a16:creationId xmlns:a16="http://schemas.microsoft.com/office/drawing/2014/main" id="{FBE4DAC5-48FC-4CD0-BB1C-65DFDC9FD50B}"/>
              </a:ext>
            </a:extLst>
          </p:cNvPr>
          <p:cNvSpPr>
            <a:spLocks noGrp="1"/>
          </p:cNvSpPr>
          <p:nvPr/>
        </p:nvSpPr>
        <p:spPr>
          <a:xfrm>
            <a:off x="609600" y="51054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Robertson &amp; Zaragoza, 2009</a:t>
            </a:r>
          </a:p>
        </p:txBody>
      </p:sp>
      <p:sp>
        <p:nvSpPr>
          <p:cNvPr id="14" name="doi.org/10.1561/1500000019">
            <a:extLst>
              <a:ext uri="{FF2B5EF4-FFF2-40B4-BE49-F238E27FC236}">
                <a16:creationId xmlns:a16="http://schemas.microsoft.com/office/drawing/2014/main" id="{1F79FCC9-A53A-41DD-B7BE-0A8DD9E757A7}"/>
              </a:ext>
            </a:extLst>
          </p:cNvPr>
          <p:cNvSpPr>
            <a:spLocks noGrp="1"/>
          </p:cNvSpPr>
          <p:nvPr/>
        </p:nvSpPr>
        <p:spPr>
          <a:xfrm>
            <a:off x="609600" y="54102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6"/>
              </a:rPr>
              <a:t>doi.org/10.1561/1500000019</a:t>
            </a:r>
          </a:p>
        </p:txBody>
      </p:sp>
      <p:sp>
        <p:nvSpPr>
          <p:cNvPr id="15" name="E5">
            <a:extLst>
              <a:ext uri="{FF2B5EF4-FFF2-40B4-BE49-F238E27FC236}">
                <a16:creationId xmlns:a16="http://schemas.microsoft.com/office/drawing/2014/main" id="{FF175FCC-EC7A-469E-836C-2D4F521A191A}"/>
              </a:ext>
            </a:extLst>
          </p:cNvPr>
          <p:cNvSpPr>
            <a:spLocks noGrp="1"/>
          </p:cNvSpPr>
          <p:nvPr/>
        </p:nvSpPr>
        <p:spPr>
          <a:xfrm>
            <a:off x="6419850" y="15716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E5</a:t>
            </a:r>
          </a:p>
        </p:txBody>
      </p:sp>
      <p:sp>
        <p:nvSpPr>
          <p:cNvPr id="16" name="Wang et al., 2022">
            <a:extLst>
              <a:ext uri="{FF2B5EF4-FFF2-40B4-BE49-F238E27FC236}">
                <a16:creationId xmlns:a16="http://schemas.microsoft.com/office/drawing/2014/main" id="{7F01C309-F4C0-42FA-A079-1886364956AA}"/>
              </a:ext>
            </a:extLst>
          </p:cNvPr>
          <p:cNvSpPr>
            <a:spLocks noGrp="1"/>
          </p:cNvSpPr>
          <p:nvPr/>
        </p:nvSpPr>
        <p:spPr>
          <a:xfrm>
            <a:off x="6419850" y="19050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Wang et al., 2022</a:t>
            </a:r>
          </a:p>
        </p:txBody>
      </p:sp>
      <p:sp>
        <p:nvSpPr>
          <p:cNvPr id="17" name="arxiv.org/abs/2212.03533">
            <a:extLst>
              <a:ext uri="{FF2B5EF4-FFF2-40B4-BE49-F238E27FC236}">
                <a16:creationId xmlns:a16="http://schemas.microsoft.com/office/drawing/2014/main" id="{9926AAEA-3EAE-4442-8119-EB33DEF60548}"/>
              </a:ext>
            </a:extLst>
          </p:cNvPr>
          <p:cNvSpPr>
            <a:spLocks noGrp="1"/>
          </p:cNvSpPr>
          <p:nvPr/>
        </p:nvSpPr>
        <p:spPr>
          <a:xfrm>
            <a:off x="6419850" y="22098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7"/>
              </a:rPr>
              <a:t>arxiv.org/abs/2212.03533</a:t>
            </a:r>
          </a:p>
        </p:txBody>
      </p:sp>
      <p:sp>
        <p:nvSpPr>
          <p:cNvPr id="18" name="BGE / FlagEmbedding">
            <a:extLst>
              <a:ext uri="{FF2B5EF4-FFF2-40B4-BE49-F238E27FC236}">
                <a16:creationId xmlns:a16="http://schemas.microsoft.com/office/drawing/2014/main" id="{27FCE838-924F-4181-9CAF-91650DCA4187}"/>
              </a:ext>
            </a:extLst>
          </p:cNvPr>
          <p:cNvSpPr>
            <a:spLocks noGrp="1"/>
          </p:cNvSpPr>
          <p:nvPr/>
        </p:nvSpPr>
        <p:spPr>
          <a:xfrm>
            <a:off x="6419850" y="26384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BGE / FlagEmbedding</a:t>
            </a:r>
          </a:p>
        </p:txBody>
      </p:sp>
      <p:sp>
        <p:nvSpPr>
          <p:cNvPr id="19" name="Модель bge-small-en-v1.5">
            <a:extLst>
              <a:ext uri="{FF2B5EF4-FFF2-40B4-BE49-F238E27FC236}">
                <a16:creationId xmlns:a16="http://schemas.microsoft.com/office/drawing/2014/main" id="{B4171707-7635-4B0F-B51A-EFE373C06882}"/>
              </a:ext>
            </a:extLst>
          </p:cNvPr>
          <p:cNvSpPr>
            <a:spLocks noGrp="1"/>
          </p:cNvSpPr>
          <p:nvPr/>
        </p:nvSpPr>
        <p:spPr>
          <a:xfrm>
            <a:off x="6419850" y="29718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Модель bge-small-en-v1.5</a:t>
            </a:r>
          </a:p>
        </p:txBody>
      </p:sp>
      <p:sp>
        <p:nvSpPr>
          <p:cNvPr id="20" name="huggingface.co/BAAI/bge-small-en-v1.5">
            <a:extLst>
              <a:ext uri="{FF2B5EF4-FFF2-40B4-BE49-F238E27FC236}">
                <a16:creationId xmlns:a16="http://schemas.microsoft.com/office/drawing/2014/main" id="{E088F081-695F-44E4-A1D8-559B26477996}"/>
              </a:ext>
            </a:extLst>
          </p:cNvPr>
          <p:cNvSpPr>
            <a:spLocks noGrp="1"/>
          </p:cNvSpPr>
          <p:nvPr/>
        </p:nvSpPr>
        <p:spPr>
          <a:xfrm>
            <a:off x="6419850" y="32766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8"/>
              </a:rPr>
              <a:t>huggingface.co/BAAI/bge-small-en-v1.5</a:t>
            </a:r>
          </a:p>
        </p:txBody>
      </p:sp>
      <p:sp>
        <p:nvSpPr>
          <p:cNvPr id="21" name="MiniLM">
            <a:extLst>
              <a:ext uri="{FF2B5EF4-FFF2-40B4-BE49-F238E27FC236}">
                <a16:creationId xmlns:a16="http://schemas.microsoft.com/office/drawing/2014/main" id="{D993E484-9C7F-4234-8825-8160F9D1DF3A}"/>
              </a:ext>
            </a:extLst>
          </p:cNvPr>
          <p:cNvSpPr>
            <a:spLocks noGrp="1"/>
          </p:cNvSpPr>
          <p:nvPr/>
        </p:nvSpPr>
        <p:spPr>
          <a:xfrm>
            <a:off x="6419850" y="37052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MiniLM</a:t>
            </a:r>
          </a:p>
        </p:txBody>
      </p:sp>
      <p:sp>
        <p:nvSpPr>
          <p:cNvPr id="22" name="Wang et al., 2020">
            <a:extLst>
              <a:ext uri="{FF2B5EF4-FFF2-40B4-BE49-F238E27FC236}">
                <a16:creationId xmlns:a16="http://schemas.microsoft.com/office/drawing/2014/main" id="{BD6E0B2F-8AE6-4B08-BFBB-A539A08C24E4}"/>
              </a:ext>
            </a:extLst>
          </p:cNvPr>
          <p:cNvSpPr>
            <a:spLocks noGrp="1"/>
          </p:cNvSpPr>
          <p:nvPr/>
        </p:nvSpPr>
        <p:spPr>
          <a:xfrm>
            <a:off x="6419850" y="40386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Wang et al., 2020</a:t>
            </a:r>
          </a:p>
        </p:txBody>
      </p:sp>
      <p:sp>
        <p:nvSpPr>
          <p:cNvPr id="23" name="arxiv.org/abs/2002.10957">
            <a:extLst>
              <a:ext uri="{FF2B5EF4-FFF2-40B4-BE49-F238E27FC236}">
                <a16:creationId xmlns:a16="http://schemas.microsoft.com/office/drawing/2014/main" id="{E553A558-A451-4FE1-827A-DDFB43FC90E0}"/>
              </a:ext>
            </a:extLst>
          </p:cNvPr>
          <p:cNvSpPr>
            <a:spLocks noGrp="1"/>
          </p:cNvSpPr>
          <p:nvPr/>
        </p:nvSpPr>
        <p:spPr>
          <a:xfrm>
            <a:off x="6419850" y="43434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9"/>
              </a:rPr>
              <a:t>arxiv.org/abs/2002.10957</a:t>
            </a:r>
          </a:p>
        </p:txBody>
      </p:sp>
      <p:sp>
        <p:nvSpPr>
          <p:cNvPr id="24" name="Reciprocal Rank Fusion">
            <a:extLst>
              <a:ext uri="{FF2B5EF4-FFF2-40B4-BE49-F238E27FC236}">
                <a16:creationId xmlns:a16="http://schemas.microsoft.com/office/drawing/2014/main" id="{4F841DDF-A002-4DD4-9C35-3E5C31D38782}"/>
              </a:ext>
            </a:extLst>
          </p:cNvPr>
          <p:cNvSpPr>
            <a:spLocks noGrp="1"/>
          </p:cNvSpPr>
          <p:nvPr/>
        </p:nvSpPr>
        <p:spPr>
          <a:xfrm>
            <a:off x="6419850" y="47720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Reciprocal Rank Fusion</a:t>
            </a:r>
          </a:p>
        </p:txBody>
      </p:sp>
      <p:sp>
        <p:nvSpPr>
          <p:cNvPr id="25" name="Cormack et al., 2009">
            <a:extLst>
              <a:ext uri="{FF2B5EF4-FFF2-40B4-BE49-F238E27FC236}">
                <a16:creationId xmlns:a16="http://schemas.microsoft.com/office/drawing/2014/main" id="{4DFC7256-ABCB-42F0-8978-A9834133EE16}"/>
              </a:ext>
            </a:extLst>
          </p:cNvPr>
          <p:cNvSpPr>
            <a:spLocks noGrp="1"/>
          </p:cNvSpPr>
          <p:nvPr/>
        </p:nvSpPr>
        <p:spPr>
          <a:xfrm>
            <a:off x="6419850" y="51054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Cormack et al., 2009</a:t>
            </a:r>
          </a:p>
        </p:txBody>
      </p:sp>
      <p:sp>
        <p:nvSpPr>
          <p:cNvPr id="26" name="doi.org/10.1145/1571941.1572114">
            <a:extLst>
              <a:ext uri="{FF2B5EF4-FFF2-40B4-BE49-F238E27FC236}">
                <a16:creationId xmlns:a16="http://schemas.microsoft.com/office/drawing/2014/main" id="{27908AFA-1F0E-49CF-829C-9B6DB9B26163}"/>
              </a:ext>
            </a:extLst>
          </p:cNvPr>
          <p:cNvSpPr>
            <a:spLocks noGrp="1"/>
          </p:cNvSpPr>
          <p:nvPr/>
        </p:nvSpPr>
        <p:spPr>
          <a:xfrm>
            <a:off x="6419850" y="54102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10"/>
              </a:rPr>
              <a:t>doi.org/10.1145/1571941.1572114</a:t>
            </a:r>
          </a:p>
        </p:txBody>
      </p:sp>
      <p:sp>
        <p:nvSpPr>
          <p:cNvPr id="27" name="Спецификация dev и dev/small: ir-datasets.com/msmarco-passage.html">
            <a:extLst>
              <a:ext uri="{FF2B5EF4-FFF2-40B4-BE49-F238E27FC236}">
                <a16:creationId xmlns:a16="http://schemas.microsoft.com/office/drawing/2014/main" id="{103B9138-7D3D-40AE-8875-641306956B76}"/>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Спецификация dev и dev/small: ir-datasets.com/msmarco-passage.html</a:t>
            </a:r>
          </a:p>
        </p:txBody>
      </p:sp>
    </p:spTree>
    <p:extLst>
      <p:ext uri="{BB962C8B-B14F-4D97-AF65-F5344CB8AC3E}">
        <p14:creationId xmlns:p14="http://schemas.microsoft.com/office/powerpoint/2010/main" val="1339857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0D707240-FA87-4C30-B4F7-BE3481571E21}"/>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endParaRPr/>
          </a:p>
        </p:txBody>
      </p:sp>
      <p:sp>
        <p:nvSpPr>
          <p:cNvPr id="2" name="20">
            <a:extLst>
              <a:ext uri="{FF2B5EF4-FFF2-40B4-BE49-F238E27FC236}">
                <a16:creationId xmlns:a16="http://schemas.microsoft.com/office/drawing/2014/main" id="{C5DC1C39-22EA-4EC5-AA48-52C01026FA6B}"/>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20</a:t>
            </a:r>
          </a:p>
        </p:txBody>
      </p:sp>
      <p:sp>
        <p:nvSpPr>
          <p:cNvPr id="3" name="Спасибо за внимание">
            <a:extLst>
              <a:ext uri="{FF2B5EF4-FFF2-40B4-BE49-F238E27FC236}">
                <a16:creationId xmlns:a16="http://schemas.microsoft.com/office/drawing/2014/main" id="{F8430587-5841-4911-9959-76BCCDF1356C}"/>
              </a:ext>
            </a:extLst>
          </p:cNvPr>
          <p:cNvSpPr>
            <a:spLocks noGrp="1"/>
          </p:cNvSpPr>
          <p:nvPr/>
        </p:nvSpPr>
        <p:spPr>
          <a:xfrm>
            <a:off x="609600" y="2133600"/>
            <a:ext cx="10972800" cy="895350"/>
          </a:xfrm>
          <a:prstGeom prst="rect">
            <a:avLst/>
          </a:prstGeom>
          <a:noFill/>
          <a:ln w="0">
            <a:noFill/>
          </a:ln>
        </p:spPr>
        <p:txBody>
          <a:bodyPr wrap="square" lIns="0" tIns="0" rIns="0" bIns="0" anchor="t">
            <a:noAutofit/>
          </a:bodyPr>
          <a:lstStyle>
            <a:defPPr algn="l">
              <a:defRPr sz="4950" b="1">
                <a:solidFill>
                  <a:srgbClr val="182B30"/>
                </a:solidFill>
                <a:latin typeface="Arial"/>
                <a:ea typeface="Arial"/>
                <a:cs typeface="Arial"/>
              </a:defRPr>
            </a:defPPr>
          </a:lstStyle>
          <a:p>
            <a:pPr algn="l">
              <a:defRPr sz="4950" b="1">
                <a:solidFill>
                  <a:srgbClr val="182B30"/>
                </a:solidFill>
                <a:latin typeface="Arial"/>
                <a:ea typeface="Arial"/>
                <a:cs typeface="Arial"/>
              </a:defRPr>
            </a:pPr>
            <a:r>
              <a:rPr sz="4950" b="1">
                <a:solidFill>
                  <a:srgbClr val="182B30"/>
                </a:solidFill>
                <a:latin typeface="Arial"/>
                <a:ea typeface="Arial"/>
                <a:cs typeface="Arial"/>
              </a:rPr>
              <a:t>Спасибо за внимание</a:t>
            </a:r>
          </a:p>
        </p:txBody>
      </p:sp>
      <p:sp>
        <p:nvSpPr>
          <p:cNvPr id="4" name="Вопросы и обсуждение">
            <a:extLst>
              <a:ext uri="{FF2B5EF4-FFF2-40B4-BE49-F238E27FC236}">
                <a16:creationId xmlns:a16="http://schemas.microsoft.com/office/drawing/2014/main" id="{A07AFDC1-BA08-4BE3-AC49-915F59A6D1B3}"/>
              </a:ext>
            </a:extLst>
          </p:cNvPr>
          <p:cNvSpPr>
            <a:spLocks noGrp="1"/>
          </p:cNvSpPr>
          <p:nvPr/>
        </p:nvSpPr>
        <p:spPr>
          <a:xfrm>
            <a:off x="609600" y="3295650"/>
            <a:ext cx="10972800" cy="495300"/>
          </a:xfrm>
          <a:prstGeom prst="rect">
            <a:avLst/>
          </a:prstGeom>
          <a:noFill/>
          <a:ln w="0">
            <a:noFill/>
          </a:ln>
        </p:spPr>
        <p:txBody>
          <a:bodyPr wrap="square" lIns="0" tIns="0" rIns="0" bIns="0" anchor="t">
            <a:noAutofit/>
          </a:bodyPr>
          <a:lstStyle>
            <a:defPPr algn="l">
              <a:defRPr sz="2550" b="0">
                <a:solidFill>
                  <a:srgbClr val="007F78"/>
                </a:solidFill>
                <a:latin typeface="Arial"/>
                <a:ea typeface="Arial"/>
                <a:cs typeface="Arial"/>
              </a:defRPr>
            </a:defPPr>
          </a:lstStyle>
          <a:p>
            <a:pPr algn="l">
              <a:defRPr sz="2550" b="0">
                <a:solidFill>
                  <a:srgbClr val="007F78"/>
                </a:solidFill>
                <a:latin typeface="Arial"/>
                <a:ea typeface="Arial"/>
                <a:cs typeface="Arial"/>
              </a:defRPr>
            </a:pPr>
            <a:r>
              <a:rPr sz="2550" b="0">
                <a:solidFill>
                  <a:srgbClr val="007F78"/>
                </a:solidFill>
                <a:latin typeface="Arial"/>
                <a:ea typeface="Arial"/>
                <a:cs typeface="Arial"/>
              </a:rPr>
              <a:t>Вопросы и обсуждение</a:t>
            </a:r>
          </a:p>
        </p:txBody>
      </p:sp>
      <p:sp>
        <p:nvSpPr>
          <p:cNvPr id="5" name="Прямая соединительная линия 4">
            <a:extLst>
              <a:ext uri="{FF2B5EF4-FFF2-40B4-BE49-F238E27FC236}">
                <a16:creationId xmlns:a16="http://schemas.microsoft.com/office/drawing/2014/main" id="{81A72BAF-F3E9-45C7-B352-61F535B1E1BE}"/>
              </a:ext>
            </a:extLst>
          </p:cNvPr>
          <p:cNvSpPr>
            <a:spLocks noGrp="1"/>
          </p:cNvSpPr>
          <p:nvPr/>
        </p:nvSpPr>
        <p:spPr>
          <a:xfrm>
            <a:off x="609600" y="4410075"/>
            <a:ext cx="10972800" cy="0"/>
          </a:xfrm>
          <a:prstGeom prst="line">
            <a:avLst/>
          </a:prstGeom>
          <a:noFill/>
          <a:ln w="12383">
            <a:solidFill>
              <a:srgbClr val="D4E1E0"/>
            </a:solidFill>
          </a:ln>
        </p:spPr>
      </p:sp>
      <p:sp>
        <p:nvSpPr>
          <p:cNvPr id="6" name=", , ">
            <a:extLst>
              <a:ext uri="{FF2B5EF4-FFF2-40B4-BE49-F238E27FC236}">
                <a16:creationId xmlns:a16="http://schemas.microsoft.com/office/drawing/2014/main" id="{5668CE3A-6A6F-4131-8944-CB3DA37B4E57}"/>
              </a:ext>
            </a:extLst>
          </p:cNvPr>
          <p:cNvSpPr>
            <a:spLocks noGrp="1"/>
          </p:cNvSpPr>
          <p:nvPr/>
        </p:nvSpPr>
        <p:spPr>
          <a:xfrm>
            <a:off x="609600" y="4752975"/>
            <a:ext cx="10972800" cy="409575"/>
          </a:xfrm>
          <a:prstGeom prst="rect">
            <a:avLst/>
          </a:prstGeom>
          <a:noFill/>
          <a:ln w="0">
            <a:noFill/>
          </a:ln>
        </p:spPr>
        <p:txBody>
          <a:bodyPr wrap="square" lIns="0" tIns="0" rIns="0" bIns="0" anchor="t">
            <a:noAutofit/>
          </a:bodyPr>
          <a:lstStyle>
            <a:defPPr algn="l">
              <a:defRPr sz="2100" b="0">
                <a:solidFill>
                  <a:srgbClr val="182B30"/>
                </a:solidFill>
                <a:latin typeface="Arial"/>
                <a:ea typeface="Arial"/>
                <a:cs typeface="Arial"/>
              </a:defRPr>
            </a:defPPr>
          </a:lstStyle>
          <a:p>
            <a:pPr algn="l">
              <a:defRPr sz="2100" b="0">
                <a:solidFill>
                  <a:srgbClr val="182B30"/>
                </a:solidFill>
                <a:latin typeface="Arial"/>
                <a:ea typeface="Arial"/>
                <a:cs typeface="Arial"/>
              </a:defRPr>
            </a:pPr>
            <a:r>
              <a:rPr sz="2100" b="0">
                <a:solidFill>
                  <a:srgbClr val="182B30"/>
                </a:solidFill>
                <a:latin typeface="Arial"/>
                <a:ea typeface="Arial"/>
                <a:cs typeface="Arial"/>
              </a:rPr>
              <a:t/>
            </a:r>
          </a:p>
        </p:txBody>
      </p:sp>
      <p:sp>
        <p:nvSpPr>
          <p:cNvPr id="7" name="">
            <a:extLst>
              <a:ext uri="{FF2B5EF4-FFF2-40B4-BE49-F238E27FC236}">
                <a16:creationId xmlns:a16="http://schemas.microsoft.com/office/drawing/2014/main" id="{D9AE579D-4DAE-4505-BA45-380F0DA81AE5}"/>
              </a:ext>
            </a:extLst>
          </p:cNvPr>
          <p:cNvSpPr>
            <a:spLocks noGrp="1"/>
          </p:cNvSpPr>
          <p:nvPr/>
        </p:nvSpPr>
        <p:spPr>
          <a:xfrm>
            <a:off x="609600" y="5210175"/>
            <a:ext cx="10972800" cy="381000"/>
          </a:xfrm>
          <a:prstGeom prst="rect">
            <a:avLst/>
          </a:prstGeom>
          <a:noFill/>
          <a:ln w="0">
            <a:noFill/>
          </a:ln>
        </p:spPr>
        <p:txBody>
          <a:bodyPr wrap="square" lIns="0" tIns="0" rIns="0" bIns="0" anchor="t">
            <a:noAutofit/>
          </a:bodyPr>
          <a:lstStyle>
            <a:defPPr algn="l">
              <a:defRPr sz="1950" b="0">
                <a:solidFill>
                  <a:srgbClr val="526970"/>
                </a:solidFill>
                <a:latin typeface="Arial"/>
                <a:ea typeface="Arial"/>
                <a:cs typeface="Arial"/>
              </a:defRPr>
            </a:defPPr>
          </a:lstStyle>
          <a:p>
            <a:pPr algn="l">
              <a:defRPr sz="1950" b="0">
                <a:solidFill>
                  <a:srgbClr val="526970"/>
                </a:solidFill>
                <a:latin typeface="Arial"/>
                <a:ea typeface="Arial"/>
                <a:cs typeface="Arial"/>
              </a:defRPr>
            </a:pPr>
            <a:r>
              <a:rPr sz="1950" b="0">
                <a:solidFill>
                  <a:srgbClr val="526970"/>
                </a:solidFill>
                <a:latin typeface="Arial"/>
                <a:ea typeface="Arial"/>
                <a:cs typeface="Arial"/>
              </a:rPr>
              <a:t/>
            </a:r>
          </a:p>
        </p:txBody>
      </p:sp>
      <p:sp>
        <p:nvSpPr>
          <p:cNvPr id="8" name="Работа поддержана Российским научным фондом, соглашение № .">
            <a:extLst>
              <a:ext uri="{FF2B5EF4-FFF2-40B4-BE49-F238E27FC236}">
                <a16:creationId xmlns:a16="http://schemas.microsoft.com/office/drawing/2014/main" id="{8F854F36-DC6C-4EFC-B609-BC1285F1ECFA}"/>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
            </a:r>
          </a:p>
        </p:txBody>
      </p:sp>
    </p:spTree>
    <p:extLst>
      <p:ext uri="{BB962C8B-B14F-4D97-AF65-F5344CB8AC3E}">
        <p14:creationId xmlns:p14="http://schemas.microsoft.com/office/powerpoint/2010/main" val="1711218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Какие части данных мы использовали">
            <a:extLst>
              <a:ext uri="{FF2B5EF4-FFF2-40B4-BE49-F238E27FC236}">
                <a16:creationId xmlns:a16="http://schemas.microsoft.com/office/drawing/2014/main" id="{C9192BF0-02DB-4776-8EED-9940866E3A6E}"/>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Какие части данных мы использовали</a:t>
            </a:r>
          </a:p>
        </p:txBody>
      </p:sp>
      <p:sp>
        <p:nvSpPr>
          <p:cNvPr id="2" name="РЕЗЕРВ 1">
            <a:extLst>
              <a:ext uri="{FF2B5EF4-FFF2-40B4-BE49-F238E27FC236}">
                <a16:creationId xmlns:a16="http://schemas.microsoft.com/office/drawing/2014/main" id="{6FB64FA0-FE5C-4760-8AD6-5AAB9A5377E7}"/>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graphicFrame>
        <p:nvGraphicFramePr>
          <p:cNvPr id="3" name="Таблица 2">
            <a:extLst>
              <a:ext uri="{FF2B5EF4-FFF2-40B4-BE49-F238E27FC236}">
                <a16:creationId xmlns:a16="http://schemas.microsoft.com/office/drawing/2014/main" id="{472684F5-DDA2-4257-8EB6-3AA86FC08731}"/>
              </a:ext>
            </a:extLst>
          </p:cNvPr>
          <p:cNvGraphicFramePr/>
          <p:nvPr/>
        </p:nvGraphicFramePr>
        <p:xfrm>
          <a:off x="609600" y="1638300"/>
          <a:ext cx="10972800" cy="3867150"/>
        </p:xfrm>
        <a:graphic>
          <a:graphicData uri="http://schemas.openxmlformats.org/drawingml/2006/table">
            <a:tbl>
              <a:tblPr/>
              <a:tblGrid>
                <a:gridCol w="333375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5734050">
                  <a:extLst>
                    <a:ext uri="{9D8B030D-6E8A-4147-A177-3AD203B41FA5}">
                      <a16:colId xmlns:a16="http://schemas.microsoft.com/office/drawing/2014/main" val="20002"/>
                    </a:ext>
                  </a:extLst>
                </a:gridCol>
              </a:tblGrid>
              <a:tr h="552450">
                <a:tc>
                  <a:txBody>
                    <a:bodyPr/>
                    <a:lstStyle/>
                    <a:p>
                      <a:r>
                        <a:rPr sz="1800" b="1">
                          <a:solidFill>
                            <a:srgbClr val="526970"/>
                          </a:solidFill>
                          <a:latin typeface="Arial"/>
                          <a:ea typeface="Arial"/>
                          <a:cs typeface="Arial"/>
                        </a:rPr>
                        <a:t>Набор</a:t>
                      </a:r>
                    </a:p>
                  </a:txBody>
                  <a:tcPr anchor="ctr">
                    <a:lnL w="0">
                      <a:noFill/>
                    </a:lnL>
                    <a:lnR w="0">
                      <a:noFill/>
                    </a:lnR>
                    <a:lnT w="0">
                      <a:noFill/>
                    </a:lnT>
                    <a:lnB w="7620">
                      <a:solidFill>
                        <a:srgbClr val="D4E1E0"/>
                      </a:solidFill>
                    </a:lnB>
                    <a:solidFill>
                      <a:srgbClr val="EFF5F5"/>
                    </a:solidFill>
                  </a:tcPr>
                </a:tc>
                <a:tc>
                  <a:txBody>
                    <a:bodyPr/>
                    <a:lstStyle/>
                    <a:p>
                      <a:r>
                        <a:rPr sz="1800" b="1">
                          <a:solidFill>
                            <a:srgbClr val="526970"/>
                          </a:solidFill>
                          <a:latin typeface="Arial"/>
                          <a:ea typeface="Arial"/>
                          <a:cs typeface="Arial"/>
                        </a:rPr>
                        <a:t>Запросы</a:t>
                      </a:r>
                    </a:p>
                  </a:txBody>
                  <a:tcPr anchor="ctr">
                    <a:lnL w="0">
                      <a:noFill/>
                    </a:lnL>
                    <a:lnR w="0">
                      <a:noFill/>
                    </a:lnR>
                    <a:lnT w="0">
                      <a:noFill/>
                    </a:lnT>
                    <a:lnB w="7620">
                      <a:solidFill>
                        <a:srgbClr val="D4E1E0"/>
                      </a:solidFill>
                    </a:lnB>
                    <a:solidFill>
                      <a:srgbClr val="EFF5F5"/>
                    </a:solidFill>
                  </a:tcPr>
                </a:tc>
                <a:tc>
                  <a:txBody>
                    <a:bodyPr/>
                    <a:lstStyle/>
                    <a:p>
                      <a:r>
                        <a:rPr sz="1800" b="1">
                          <a:solidFill>
                            <a:srgbClr val="526970"/>
                          </a:solidFill>
                          <a:latin typeface="Arial"/>
                          <a:ea typeface="Arial"/>
                          <a:cs typeface="Arial"/>
                        </a:rPr>
                        <a:t>Роль в исследовании</a:t>
                      </a:r>
                    </a:p>
                  </a:txBody>
                  <a:tcPr anchor="ctr">
                    <a:lnL w="0">
                      <a:noFill/>
                    </a:lnL>
                    <a:lnR w="0">
                      <a:noFill/>
                    </a:lnR>
                    <a:lnT w="0">
                      <a:noFill/>
                    </a:lnT>
                    <a:lnB w="7620">
                      <a:solidFill>
                        <a:srgbClr val="D4E1E0"/>
                      </a:solidFill>
                    </a:lnB>
                    <a:solidFill>
                      <a:srgbClr val="EFF5F5"/>
                    </a:solidFill>
                  </a:tcPr>
                </a:tc>
                <a:extLst>
                  <a:ext uri="{0D108BD9-81ED-4DB2-BD59-A6C34878D82A}">
                    <a16:rowId xmlns:a16="http://schemas.microsoft.com/office/drawing/2014/main" val="10000"/>
                  </a:ext>
                </a:extLst>
              </a:tr>
              <a:tr h="552450">
                <a:tc>
                  <a:txBody>
                    <a:bodyPr/>
                    <a:lstStyle/>
                    <a:p>
                      <a:r>
                        <a:rPr sz="1875" b="0">
                          <a:solidFill>
                            <a:srgbClr val="182B30"/>
                          </a:solidFill>
                          <a:latin typeface="Arial"/>
                          <a:ea typeface="Arial"/>
                          <a:cs typeface="Arial"/>
                        </a:rPr>
                        <a:t>Полная dev-часть</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101 093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Масштабная оценка судьёй</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52450">
                <a:tc>
                  <a:txBody>
                    <a:bodyPr/>
                    <a:lstStyle/>
                    <a:p>
                      <a:r>
                        <a:rPr sz="1875" b="0">
                          <a:solidFill>
                            <a:srgbClr val="182B30"/>
                          </a:solidFill>
                          <a:latin typeface="Arial"/>
                          <a:ea typeface="Arial"/>
                          <a:cs typeface="Arial"/>
                        </a:rPr>
                        <a:t>dev/small</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6 980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Исходная оценочная подвыборка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52450">
                <a:tc>
                  <a:txBody>
                    <a:bodyPr/>
                    <a:lstStyle/>
                    <a:p>
                      <a:r>
                        <a:rPr sz="1875" b="0">
                          <a:solidFill>
                            <a:srgbClr val="182B30"/>
                          </a:solidFill>
                          <a:latin typeface="Arial"/>
                          <a:ea typeface="Arial"/>
                          <a:cs typeface="Arial"/>
                        </a:rPr>
                        <a:t>Ручная подвыборка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1 179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Доразметка 33 667 пар</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52450">
                <a:tc>
                  <a:txBody>
                    <a:bodyPr/>
                    <a:lstStyle/>
                    <a:p>
                      <a:r>
                        <a:rPr sz="1875" b="0">
                          <a:solidFill>
                            <a:srgbClr val="182B30"/>
                          </a:solidFill>
                          <a:latin typeface="Arial"/>
                          <a:ea typeface="Arial"/>
                          <a:cs typeface="Arial"/>
                        </a:rPr>
                        <a:t>Обучение судьи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825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Дообучение на ручных метках</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r h="552450">
                <a:tc>
                  <a:txBody>
                    <a:bodyPr/>
                    <a:lstStyle/>
                    <a:p>
                      <a:r>
                        <a:rPr sz="1875" b="0">
                          <a:solidFill>
                            <a:srgbClr val="182B30"/>
                          </a:solidFill>
                          <a:latin typeface="Arial"/>
                          <a:ea typeface="Arial"/>
                          <a:cs typeface="Arial"/>
                        </a:rPr>
                        <a:t>Валидация судьи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177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Выбор порога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5"/>
                  </a:ext>
                </a:extLst>
              </a:tr>
              <a:tr h="552450">
                <a:tc>
                  <a:txBody>
                    <a:bodyPr/>
                    <a:lstStyle/>
                    <a:p>
                      <a:r>
                        <a:rPr sz="1875" b="0">
                          <a:solidFill>
                            <a:srgbClr val="182B30"/>
                          </a:solidFill>
                          <a:latin typeface="Arial"/>
                          <a:ea typeface="Arial"/>
                          <a:cs typeface="Arial"/>
                        </a:rPr>
                        <a:t>Тест судьи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177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Проверка на отложенных запросах</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6"/>
                  </a:ext>
                </a:extLst>
              </a:tr>
            </a:tbl>
          </a:graphicData>
        </a:graphic>
      </p:graphicFrame>
      <p:sp>
        <p:nvSpPr>
          <p:cNvPr id="4" name="Ручная подвыборка входит в dev/small, а dev/small входит в полную dev-">
            <a:extLst>
              <a:ext uri="{FF2B5EF4-FFF2-40B4-BE49-F238E27FC236}">
                <a16:creationId xmlns:a16="http://schemas.microsoft.com/office/drawing/2014/main" id="{C3F9466B-844F-4F05-ACF8-877FF5493F9F}"/>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Ручная подвыборка входит в dev/small, а dev/small входит в полную dev-часть.</a:t>
            </a:r>
          </a:p>
        </p:txBody>
      </p:sp>
    </p:spTree>
    <p:extLst>
      <p:ext uri="{BB962C8B-B14F-4D97-AF65-F5344CB8AC3E}">
        <p14:creationId xmlns:p14="http://schemas.microsoft.com/office/powerpoint/2010/main" val="713388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NDCG@10 и эффект доразметки">
            <a:extLst>
              <a:ext uri="{FF2B5EF4-FFF2-40B4-BE49-F238E27FC236}">
                <a16:creationId xmlns:a16="http://schemas.microsoft.com/office/drawing/2014/main" id="{64FE41A2-C4AF-474F-9FCD-6E005D0E7492}"/>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a:ext uri="{FF2B5EF4-FFF2-40B4-BE49-F238E27FC236}">
                <a16:creationId xmlns:a16="http://schemas.microsoft.com/office/drawing/2014/main" id="{F2A4A689-EBF7-4448-B9DA-188EB09E1511}"/>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NDCG@10 = DCG@10 / идеальный DCG@10">
            <a:extLst>
              <a:ext uri="{FF2B5EF4-FFF2-40B4-BE49-F238E27FC236}">
                <a16:creationId xmlns:a16="http://schemas.microsoft.com/office/drawing/2014/main" id="{3BF60AEC-1E9C-4DBE-8080-352F9360DD8D}"/>
              </a:ext>
            </a:extLst>
          </p:cNvPr>
          <p:cNvSpPr>
            <a:spLocks noGrp="1"/>
          </p:cNvSpPr>
          <p:nvPr/>
        </p:nvSpPr>
        <p:spPr>
          <a:xfrm>
            <a:off x="609600" y="1733550"/>
            <a:ext cx="10972800" cy="495300"/>
          </a:xfrm>
          <a:prstGeom prst="rect">
            <a:avLst/>
          </a:prstGeom>
          <a:noFill/>
          <a:ln w="0">
            <a:noFill/>
          </a:ln>
        </p:spPr>
        <p:txBody>
          <a:bodyPr wrap="square" lIns="0" tIns="0" rIns="0" bIns="0" anchor="t">
            <a:noAutofit/>
          </a:bodyPr>
          <a:lstStyle/>
          <a:p>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Таблица 8"/>
          <p:cNvGraphicFramePr/>
          <p:nvPr/>
        </p:nvGraphicFramePr>
        <p:xfrm>
          <a:off x="609600" y="2533650"/>
          <a:ext cx="10972800" cy="2733675"/>
        </p:xfrm>
        <a:graphic>
          <a:graphicData uri="http://schemas.openxmlformats.org/drawingml/2006/table">
            <a:tbl>
              <a:tblPr/>
              <a:tblGrid>
                <a:gridCol w="3238500">
                  <a:extLst>
                    <a:ext uri="{9D8B030D-6E8A-4147-A177-3AD203B41FA5}">
                      <a16:colId xmlns:a16="http://schemas.microsoft.com/office/drawing/2014/main" val="20000"/>
                    </a:ext>
                  </a:extLst>
                </a:gridCol>
                <a:gridCol w="344805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23875">
                <a:tc>
                  <a:txBody>
                    <a:bodyPr/>
                    <a:lstStyle/>
                    <a:p>
                      <a:r>
                        <a:rPr sz="1875" b="1">
                          <a:solidFill>
                            <a:srgbClr val="526970"/>
                          </a:solidFill>
                          <a:latin typeface="Arial"/>
                          <a:ea typeface="Arial"/>
                          <a:cs typeface="Arial"/>
                        </a:rPr>
                        <a:t>Система</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После − до</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Парный ДИ 95%</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52450">
                <a:tc>
                  <a:txBody>
                    <a:bodyPr/>
                    <a:lstStyle/>
                    <a:p>
                      <a:r>
                        <a:rPr sz="2025" b="0">
                          <a:solidFill>
                            <a:srgbClr val="182B30"/>
                          </a:solidFill>
                          <a:latin typeface="Arial"/>
                          <a:ea typeface="Arial"/>
                          <a:cs typeface="Arial"/>
                        </a:rPr>
                        <a:t>BM25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0,372 ... 0,419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52450">
                <a:tc>
                  <a:txBody>
                    <a:bodyPr/>
                    <a:lstStyle/>
                    <a:p>
                      <a:r>
                        <a:rPr sz="2025" b="0">
                          <a:solidFill>
                            <a:srgbClr val="182B30"/>
                          </a:solidFill>
                          <a:latin typeface="Arial"/>
                          <a:ea typeface="Arial"/>
                          <a:cs typeface="Arial"/>
                        </a:rPr>
                        <a:t>E5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0,365 ... 0,417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52450">
                <a:tc>
                  <a:txBody>
                    <a:bodyPr/>
                    <a:lstStyle/>
                    <a:p>
                      <a:r>
                        <a:rPr sz="2025" b="0">
                          <a:solidFill>
                            <a:srgbClr val="182B30"/>
                          </a:solidFill>
                          <a:latin typeface="Arial"/>
                          <a:ea typeface="Arial"/>
                          <a:cs typeface="Arial"/>
                        </a:rPr>
                        <a:t>BGE</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0,369 ... 0,419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52450">
                <a:tc>
                  <a:txBody>
                    <a:bodyPr/>
                    <a:lstStyle/>
                    <a:p>
                      <a:r>
                        <a:rPr sz="2025" b="0">
                          <a:solidFill>
                            <a:srgbClr val="182B30"/>
                          </a:solidFill>
                          <a:latin typeface="Arial"/>
                          <a:ea typeface="Arial"/>
                          <a:cs typeface="Arial"/>
                        </a:rPr>
                        <a:t>RRF (3)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0,371 ... 0,419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bl>
          </a:graphicData>
        </a:graphic>
      </p:graphicFrame>
      <p:sp>
        <p:nvSpPr>
          <p:cNvPr id="5" name="5 000 парных бутстрэп-выборок по запросам. Для в">
            <a:extLst>
              <a:ext uri="{FF2B5EF4-FFF2-40B4-BE49-F238E27FC236}">
                <a16:creationId xmlns:a16="http://schemas.microsoft.com/office/drawing/2014/main" id="{76F32C76-7D7A-4648-9125-EF0A8A2087D4}"/>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Проверка судьи и ошибки">
            <a:extLst>
              <a:ext uri="{FF2B5EF4-FFF2-40B4-BE49-F238E27FC236}">
                <a16:creationId xmlns:a16="http://schemas.microsoft.com/office/drawing/2014/main" id="{A3FB63F2-E26E-413E-8184-A81F9BEEC75C}"/>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a:ext uri="{FF2B5EF4-FFF2-40B4-BE49-F238E27FC236}">
                <a16:creationId xmlns:a16="http://schemas.microsoft.com/office/drawing/2014/main" id="{6B14EBB8-D421-4371-8104-CD6B661AA88C}"/>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sp>
        <p:nvSpPr>
          <p:cNvPr id="3" name="Обучение">
            <a:extLst>
              <a:ext uri="{FF2B5EF4-FFF2-40B4-BE49-F238E27FC236}">
                <a16:creationId xmlns:a16="http://schemas.microsoft.com/office/drawing/2014/main" id="{B0074F6B-BF66-498C-B1D7-2C91D75F8F28}"/>
              </a:ext>
            </a:extLst>
          </p:cNvPr>
          <p:cNvSpPr>
            <a:spLocks noGrp="1"/>
          </p:cNvSpPr>
          <p:nvPr/>
        </p:nvSpPr>
        <p:spPr>
          <a:xfrm>
            <a:off x="609600" y="1638300"/>
            <a:ext cx="3352800" cy="3429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a:ext uri="{FF2B5EF4-FFF2-40B4-BE49-F238E27FC236}">
                <a16:creationId xmlns:a16="http://schemas.microsoft.com/office/drawing/2014/main" id="{8E61C322-1DEF-41B8-9C56-18BB35F7EED8}"/>
              </a:ext>
            </a:extLst>
          </p:cNvPr>
          <p:cNvSpPr>
            <a:spLocks noGrp="1"/>
          </p:cNvSpPr>
          <p:nvPr/>
        </p:nvSpPr>
        <p:spPr>
          <a:xfrm>
            <a:off x="609600" y="2076450"/>
            <a:ext cx="3352800" cy="628650"/>
          </a:xfrm>
          <a:prstGeom prst="rect">
            <a:avLst/>
          </a:prstGeom>
          <a:noFill/>
          <a:ln w="0">
            <a:noFill/>
          </a:ln>
        </p:spPr>
        <p:txBody>
          <a:bodyPr wrap="square" lIns="0" tIns="0" rIns="0" bIns="0" anchor="t">
            <a:noAutofit/>
          </a:bodyPr>
          <a:lstStyle/>
          <a:p>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a:ext uri="{FF2B5EF4-FFF2-40B4-BE49-F238E27FC236}">
                <a16:creationId xmlns:a16="http://schemas.microsoft.com/office/drawing/2014/main" id="{ECB98A03-7A65-4522-BDE0-ED9F853CAA94}"/>
              </a:ext>
            </a:extLst>
          </p:cNvPr>
          <p:cNvSpPr>
            <a:spLocks noGrp="1"/>
          </p:cNvSpPr>
          <p:nvPr/>
        </p:nvSpPr>
        <p:spPr>
          <a:xfrm>
            <a:off x="4419600" y="1638300"/>
            <a:ext cx="3352800" cy="3429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a:ext uri="{FF2B5EF4-FFF2-40B4-BE49-F238E27FC236}">
                <a16:creationId xmlns:a16="http://schemas.microsoft.com/office/drawing/2014/main" id="{5356EB37-426F-4574-B034-2B55A21C3FBA}"/>
              </a:ext>
            </a:extLst>
          </p:cNvPr>
          <p:cNvSpPr>
            <a:spLocks noGrp="1"/>
          </p:cNvSpPr>
          <p:nvPr/>
        </p:nvSpPr>
        <p:spPr>
          <a:xfrm>
            <a:off x="4419600" y="2076450"/>
            <a:ext cx="3352800" cy="628650"/>
          </a:xfrm>
          <a:prstGeom prst="rect">
            <a:avLst/>
          </a:prstGeom>
          <a:noFill/>
          <a:ln w="0">
            <a:noFill/>
          </a:ln>
        </p:spPr>
        <p:txBody>
          <a:bodyPr wrap="square" lIns="0" tIns="0" rIns="0" bIns="0" anchor="t">
            <a:noAutofit/>
          </a:bodyPr>
          <a:lstStyle/>
          <a:p>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a:ext uri="{FF2B5EF4-FFF2-40B4-BE49-F238E27FC236}">
                <a16:creationId xmlns:a16="http://schemas.microsoft.com/office/drawing/2014/main" id="{209C21D2-231E-447C-80B4-DFFC8C8951CB}"/>
              </a:ext>
            </a:extLst>
          </p:cNvPr>
          <p:cNvSpPr>
            <a:spLocks noGrp="1"/>
          </p:cNvSpPr>
          <p:nvPr/>
        </p:nvSpPr>
        <p:spPr>
          <a:xfrm>
            <a:off x="8229600" y="1638300"/>
            <a:ext cx="3352800" cy="3429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a:ext uri="{FF2B5EF4-FFF2-40B4-BE49-F238E27FC236}">
                <a16:creationId xmlns:a16="http://schemas.microsoft.com/office/drawing/2014/main" id="{930BE2EA-BC06-4989-8BAF-11F1871EDEE4}"/>
              </a:ext>
            </a:extLst>
          </p:cNvPr>
          <p:cNvSpPr>
            <a:spLocks noGrp="1"/>
          </p:cNvSpPr>
          <p:nvPr/>
        </p:nvSpPr>
        <p:spPr>
          <a:xfrm>
            <a:off x="8229600" y="2076450"/>
            <a:ext cx="3352800" cy="628650"/>
          </a:xfrm>
          <a:prstGeom prst="rect">
            <a:avLst/>
          </a:prstGeom>
          <a:noFill/>
          <a:ln w="0">
            <a:noFill/>
          </a:ln>
        </p:spPr>
        <p:txBody>
          <a:bodyPr wrap="square" lIns="0" tIns="0" rIns="0" bIns="0" anchor="t">
            <a:noAutofit/>
          </a:bodyPr>
          <a:lstStyle/>
          <a:p>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Таблица 21"/>
          <p:cNvGraphicFramePr/>
          <p:nvPr/>
        </p:nvGraphicFramePr>
        <p:xfrm>
          <a:off x="609600" y="3000375"/>
          <a:ext cx="10972800" cy="2171700"/>
        </p:xfrm>
        <a:graphic>
          <a:graphicData uri="http://schemas.openxmlformats.org/drawingml/2006/table">
            <a:tbl>
              <a:tblPr/>
              <a:tblGrid>
                <a:gridCol w="4476750">
                  <a:extLst>
                    <a:ext uri="{9D8B030D-6E8A-4147-A177-3AD203B41FA5}">
                      <a16:colId xmlns:a16="http://schemas.microsoft.com/office/drawing/2014/main" val="20000"/>
                    </a:ext>
                  </a:extLst>
                </a:gridCol>
                <a:gridCol w="3248025">
                  <a:extLst>
                    <a:ext uri="{9D8B030D-6E8A-4147-A177-3AD203B41FA5}">
                      <a16:colId xmlns:a16="http://schemas.microsoft.com/office/drawing/2014/main" val="20001"/>
                    </a:ext>
                  </a:extLst>
                </a:gridCol>
                <a:gridCol w="3248025">
                  <a:extLst>
                    <a:ext uri="{9D8B030D-6E8A-4147-A177-3AD203B41FA5}">
                      <a16:colId xmlns:a16="http://schemas.microsoft.com/office/drawing/2014/main" val="20002"/>
                    </a:ext>
                  </a:extLst>
                </a:gridCol>
              </a:tblGrid>
              <a:tr h="561975">
                <a:tc>
                  <a:txBody>
                    <a:bodyPr/>
                    <a:lstStyle/>
                    <a:p>
                      <a:r>
                        <a:rPr sz="1875" b="1">
                          <a:solidFill>
                            <a:srgbClr val="526970"/>
                          </a:solidFill>
                          <a:latin typeface="Arial"/>
                          <a:ea typeface="Arial"/>
                          <a:cs typeface="Arial"/>
                        </a:rPr>
                        <a:t>Метка в тесте</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Прогноз: нет</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Прогноз: да</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895350">
                <a:tc>
                  <a:txBody>
                    <a:bodyPr/>
                    <a:lstStyle/>
                    <a:p>
                      <a:r>
                        <a:rPr sz="2025" b="0">
                          <a:solidFill>
                            <a:srgbClr val="182B30"/>
                          </a:solidFill>
                          <a:latin typeface="Arial"/>
                          <a:ea typeface="Arial"/>
                          <a:cs typeface="Arial"/>
                        </a:rPr>
                        <a:t>Отрицательная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1">
                          <a:solidFill>
                            <a:srgbClr val="007F78"/>
                          </a:solidFill>
                          <a:latin typeface="Arial"/>
                          <a:ea typeface="Arial"/>
                          <a:cs typeface="Arial"/>
                        </a:rPr>
                        <a:t>1 300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tc>
                  <a:txBody>
                    <a:bodyPr/>
                    <a:lstStyle/>
                    <a:p>
                      <a:r>
                        <a:rPr sz="2025" b="1">
                          <a:solidFill>
                            <a:srgbClr val="C95236"/>
                          </a:solidFill>
                          <a:latin typeface="Arial"/>
                          <a:ea typeface="Arial"/>
                          <a:cs typeface="Arial"/>
                        </a:rPr>
                        <a:t>506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AEFE9"/>
                    </a:solidFill>
                  </a:tcPr>
                </a:tc>
                <a:extLst>
                  <a:ext uri="{0D108BD9-81ED-4DB2-BD59-A6C34878D82A}">
                    <a16:rowId xmlns:a16="http://schemas.microsoft.com/office/drawing/2014/main" val="10001"/>
                  </a:ext>
                </a:extLst>
              </a:tr>
              <a:tr h="714375">
                <a:tc>
                  <a:txBody>
                    <a:bodyPr/>
                    <a:lstStyle/>
                    <a:p>
                      <a:r>
                        <a:rPr sz="2025" b="0">
                          <a:solidFill>
                            <a:srgbClr val="182B30"/>
                          </a:solidFill>
                          <a:latin typeface="Arial"/>
                          <a:ea typeface="Arial"/>
                          <a:cs typeface="Arial"/>
                        </a:rPr>
                        <a:t>Положительная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1">
                          <a:solidFill>
                            <a:srgbClr val="C95236"/>
                          </a:solidFill>
                          <a:latin typeface="Arial"/>
                          <a:ea typeface="Arial"/>
                          <a:cs typeface="Arial"/>
                        </a:rPr>
                        <a:t>314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AEFE9"/>
                    </a:solidFill>
                  </a:tcPr>
                </a:tc>
                <a:tc>
                  <a:txBody>
                    <a:bodyPr/>
                    <a:lstStyle/>
                    <a:p>
                      <a:r>
                        <a:rPr sz="2025" b="1">
                          <a:solidFill>
                            <a:srgbClr val="007F78"/>
                          </a:solidFill>
                          <a:latin typeface="Arial"/>
                          <a:ea typeface="Arial"/>
                          <a:cs typeface="Arial"/>
                        </a:rPr>
                        <a:t>2 882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extLst>
                  <a:ext uri="{0D108BD9-81ED-4DB2-BD59-A6C34878D82A}">
                    <a16:rowId xmlns:a16="http://schemas.microsoft.com/office/drawing/2014/main" val="10002"/>
                  </a:ext>
                </a:extLst>
              </a:tr>
            </a:tbl>
          </a:graphicData>
        </a:graphic>
      </p:graphicFrame>
      <p:sp>
        <p:nvSpPr>
          <p:cNvPr id="10" name="Точность 0,851">
            <a:extLst>
              <a:ext uri="{FF2B5EF4-FFF2-40B4-BE49-F238E27FC236}">
                <a16:creationId xmlns:a16="http://schemas.microsoft.com/office/drawing/2014/main" id="{51871FC4-4325-4F0A-BB63-2F4555F3CFE6}"/>
              </a:ext>
            </a:extLst>
          </p:cNvPr>
          <p:cNvSpPr>
            <a:spLocks noGrp="1"/>
          </p:cNvSpPr>
          <p:nvPr/>
        </p:nvSpPr>
        <p:spPr>
          <a:xfrm>
            <a:off x="609600" y="5524500"/>
            <a:ext cx="3467100" cy="381000"/>
          </a:xfrm>
          <a:prstGeom prst="rect">
            <a:avLst/>
          </a:prstGeom>
          <a:noFill/>
          <a:ln w="0">
            <a:noFill/>
          </a:ln>
        </p:spPr>
        <p:txBody>
          <a:bodyPr wrap="square" lIns="0" tIns="0" rIns="0" bIns="0" anchor="t">
            <a:noAutofit/>
          </a:bodyPr>
          <a:lstStyle/>
          <a:p>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a:ext uri="{FF2B5EF4-FFF2-40B4-BE49-F238E27FC236}">
                <a16:creationId xmlns:a16="http://schemas.microsoft.com/office/drawing/2014/main" id="{CBCF0C21-0199-4E9E-9FD9-4ABD228C9B61}"/>
              </a:ext>
            </a:extLst>
          </p:cNvPr>
          <p:cNvSpPr>
            <a:spLocks noGrp="1"/>
          </p:cNvSpPr>
          <p:nvPr/>
        </p:nvSpPr>
        <p:spPr>
          <a:xfrm>
            <a:off x="4410075" y="5524500"/>
            <a:ext cx="3162300" cy="381000"/>
          </a:xfrm>
          <a:prstGeom prst="rect">
            <a:avLst/>
          </a:prstGeom>
          <a:noFill/>
          <a:ln w="0">
            <a:noFill/>
          </a:ln>
        </p:spPr>
        <p:txBody>
          <a:bodyPr wrap="square" lIns="0" tIns="0" rIns="0" bIns="0" anchor="t">
            <a:noAutofit/>
          </a:bodyPr>
          <a:lstStyle/>
          <a:p>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a:ext uri="{FF2B5EF4-FFF2-40B4-BE49-F238E27FC236}">
                <a16:creationId xmlns:a16="http://schemas.microsoft.com/office/drawing/2014/main" id="{3EEF060C-A63C-407F-BEDE-CC7248B1450A}"/>
              </a:ext>
            </a:extLst>
          </p:cNvPr>
          <p:cNvSpPr>
            <a:spLocks noGrp="1"/>
          </p:cNvSpPr>
          <p:nvPr/>
        </p:nvSpPr>
        <p:spPr>
          <a:xfrm>
            <a:off x="8096250" y="5524500"/>
            <a:ext cx="3371850" cy="381000"/>
          </a:xfrm>
          <a:prstGeom prst="rect">
            <a:avLst/>
          </a:prstGeom>
          <a:noFill/>
          <a:ln w="0">
            <a:noFill/>
          </a:ln>
        </p:spPr>
        <p:txBody>
          <a:bodyPr wrap="square" lIns="0" tIns="0" rIns="0" bIns="0" anchor="t">
            <a:noAutofit/>
          </a:bodyPr>
          <a:lstStyle/>
          <a:p>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a:ext uri="{FF2B5EF4-FFF2-40B4-BE49-F238E27FC236}">
                <a16:creationId xmlns:a16="http://schemas.microsoft.com/office/drawing/2014/main" id="{D147A019-82BB-4C5C-AA20-6594216524C1}"/>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Результаты при разной глубине пула">
            <a:extLst>
              <a:ext uri="{FF2B5EF4-FFF2-40B4-BE49-F238E27FC236}">
                <a16:creationId xmlns:a16="http://schemas.microsoft.com/office/drawing/2014/main" id="{9878F464-4720-471F-A708-DF0DEB2B4613}"/>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a:ext uri="{FF2B5EF4-FFF2-40B4-BE49-F238E27FC236}">
                <a16:creationId xmlns:a16="http://schemas.microsoft.com/office/drawing/2014/main" id="{6922032D-AECA-4ADA-9F40-A46B079DE077}"/>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graphicFrame>
        <p:nvGraphicFramePr>
          <p:cNvPr id="7" name="Таблица 6"/>
          <p:cNvGraphicFramePr/>
          <p:nvPr/>
        </p:nvGraphicFramePr>
        <p:xfrm>
          <a:off x="609600" y="1857375"/>
          <a:ext cx="10972800" cy="3857625"/>
        </p:xfrm>
        <a:graphic>
          <a:graphicData uri="http://schemas.openxmlformats.org/drawingml/2006/table">
            <a:tbl>
              <a:tblPr/>
              <a:tblGrid>
                <a:gridCol w="790575">
                  <a:extLst>
                    <a:ext uri="{9D8B030D-6E8A-4147-A177-3AD203B41FA5}">
                      <a16:colId xmlns:a16="http://schemas.microsoft.com/office/drawing/2014/main" val="20000"/>
                    </a:ext>
                  </a:extLst>
                </a:gridCol>
                <a:gridCol w="18383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7907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gridCol w="2162175">
                  <a:extLst>
                    <a:ext uri="{9D8B030D-6E8A-4147-A177-3AD203B41FA5}">
                      <a16:colId xmlns:a16="http://schemas.microsoft.com/office/drawing/2014/main" val="20005"/>
                    </a:ext>
                  </a:extLst>
                </a:gridCol>
              </a:tblGrid>
              <a:tr h="952500">
                <a:tc>
                  <a:txBody>
                    <a:bodyPr/>
                    <a:lstStyle/>
                    <a:p>
                      <a:r>
                        <a:rPr sz="1650" b="1">
                          <a:solidFill>
                            <a:srgbClr val="526970"/>
                          </a:solidFill>
                          <a:latin typeface="Arial"/>
                          <a:ea typeface="Arial"/>
                          <a:cs typeface="Arial"/>
                        </a:rPr>
                        <a:t>K</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anchor="ctr">
                    <a:lnL w="0">
                      <a:noFill/>
                    </a:lnL>
                    <a:lnR w="0">
                      <a:noFill/>
                    </a:lnR>
                    <a:lnT w="0">
                      <a:noFill/>
                    </a:lnT>
                    <a:lnB w="7620">
                      <a:solidFill>
                        <a:srgbClr val="D4E1E0"/>
                      </a:solidFill>
                    </a:lnB>
                    <a:solidFill>
                      <a:srgbClr val="EFF5F4"/>
                    </a:solidFill>
                  </a:tcPr>
                </a:tc>
                <a:tc>
                  <a:txBody>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anchor="ctr">
                    <a:lnL w="0">
                      <a:noFill/>
                    </a:lnL>
                    <a:lnR w="0">
                      <a:noFill/>
                    </a:lnR>
                    <a:lnT w="0">
                      <a:noFill/>
                    </a:lnT>
                    <a:lnB w="7620">
                      <a:solidFill>
                        <a:srgbClr val="D4E1E0"/>
                      </a:solidFill>
                    </a:lnB>
                    <a:solidFill>
                      <a:srgbClr val="EFF5F4"/>
                    </a:solidFill>
                  </a:tcPr>
                </a:tc>
                <a:tc>
                  <a:txBody>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81025">
                <a:tc>
                  <a:txBody>
                    <a:bodyPr/>
                    <a:lstStyle/>
                    <a:p>
                      <a:r>
                        <a:rPr sz="1800" b="0">
                          <a:solidFill>
                            <a:srgbClr val="182B30"/>
                          </a:solidFill>
                          <a:latin typeface="Arial"/>
                          <a:ea typeface="Arial"/>
                          <a:cs typeface="Arial"/>
                        </a:rPr>
                        <a:t>10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21,9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14,2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0,871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0,805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81025">
                <a:tc>
                  <a:txBody>
                    <a:bodyPr/>
                    <a:lstStyle/>
                    <a:p>
                      <a:r>
                        <a:rPr sz="1800" b="0">
                          <a:solidFill>
                            <a:srgbClr val="182B30"/>
                          </a:solidFill>
                          <a:latin typeface="Arial"/>
                          <a:ea typeface="Arial"/>
                          <a:cs typeface="Arial"/>
                        </a:rPr>
                        <a:t>30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65,8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33,7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0,862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81025">
                <a:tc>
                  <a:txBody>
                    <a:bodyPr/>
                    <a:lstStyle/>
                    <a:p>
                      <a:r>
                        <a:rPr sz="1800" b="0">
                          <a:solidFill>
                            <a:srgbClr val="182B30"/>
                          </a:solidFill>
                          <a:latin typeface="Arial"/>
                          <a:ea typeface="Arial"/>
                          <a:cs typeface="Arial"/>
                        </a:rPr>
                        <a:t>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110,4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49,4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0,847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81025">
                <a:tc>
                  <a:txBody>
                    <a:bodyPr/>
                    <a:lstStyle/>
                    <a:p>
                      <a:r>
                        <a:rPr sz="1800" b="0">
                          <a:solidFill>
                            <a:srgbClr val="182B30"/>
                          </a:solidFill>
                          <a:latin typeface="Arial"/>
                          <a:ea typeface="Arial"/>
                          <a:cs typeface="Arial"/>
                        </a:rPr>
                        <a:t>100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222,9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81,0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0,844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r h="581025">
                <a:tc>
                  <a:txBody>
                    <a:bodyPr/>
                    <a:lstStyle/>
                    <a:p>
                      <a:r>
                        <a:rPr sz="1800" b="0">
                          <a:solidFill>
                            <a:srgbClr val="182B30"/>
                          </a:solidFill>
                          <a:latin typeface="Arial"/>
                          <a:ea typeface="Arial"/>
                          <a:cs typeface="Arial"/>
                        </a:rPr>
                        <a:t>200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451,5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128,6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0,842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5"/>
                  </a:ext>
                </a:extLst>
              </a:tr>
            </a:tbl>
          </a:graphicData>
        </a:graphic>
      </p:graphicFrame>
      <p:sp>
        <p:nvSpPr>
          <p:cNvPr id="4" name="Псевдометки одного судьи. В каждом среднем учтен">
            <a:extLst>
              <a:ext uri="{FF2B5EF4-FFF2-40B4-BE49-F238E27FC236}">
                <a16:creationId xmlns:a16="http://schemas.microsoft.com/office/drawing/2014/main" id="{824170C2-6150-4E0A-BEA0-1D0CAFC232CF}"/>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Чувствительность к исключению запросов">
            <a:extLst>
              <a:ext uri="{FF2B5EF4-FFF2-40B4-BE49-F238E27FC236}">
                <a16:creationId xmlns:a16="http://schemas.microsoft.com/office/drawing/2014/main" id="{28FCC684-DC91-4AC3-9B9E-EE8BFD54C1FD}"/>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качества ручных данных</a:t>
            </a:r>
          </a:p>
        </p:txBody>
      </p:sp>
      <p:sp>
        <p:nvSpPr>
          <p:cNvPr id="2" name="РЕЗЕРВ 4">
            <a:extLst>
              <a:ext uri="{FF2B5EF4-FFF2-40B4-BE49-F238E27FC236}">
                <a16:creationId xmlns:a16="http://schemas.microsoft.com/office/drawing/2014/main" id="{40560BA3-F950-4501-86BB-6BBB20FBFCD1}"/>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NDCG@10 по ручным оценкам">
            <a:extLst>
              <a:ext uri="{FF2B5EF4-FFF2-40B4-BE49-F238E27FC236}">
                <a16:creationId xmlns:a16="http://schemas.microsoft.com/office/drawing/2014/main" id="{5BC7CF8A-8A66-4D2B-BB84-31D65FD675C8}"/>
              </a:ext>
            </a:extLst>
          </p:cNvPr>
          <p:cNvSpPr>
            <a:spLocks noGrp="1"/>
          </p:cNvSpPr>
          <p:nvPr/>
        </p:nvSpPr>
        <p:spPr>
          <a:xfrm>
            <a:off x="609600" y="1581150"/>
            <a:ext cx="10972800" cy="381000"/>
          </a:xfrm>
          <a:prstGeom prst="rect">
            <a:avLst/>
          </a:prstGeom>
          <a:noFill/>
          <a:ln w="0">
            <a:noFill/>
          </a:ln>
        </p:spPr>
        <p:txBody>
          <a:bodyPr wrap="square" lIns="0" tIns="0" rIns="0" bIns="0" anchor="t">
            <a:noAutofit/>
          </a:bodyPr>
          <a:lstStyle/>
          <a:p>
            <a:pPr algn="l">
              <a:defRPr sz="2025" b="0">
                <a:solidFill>
                  <a:srgbClr val="526970"/>
                </a:solidFill>
                <a:latin typeface="Arial"/>
                <a:ea typeface="Arial"/>
                <a:cs typeface="Arial"/>
              </a:defRPr>
            </a:pPr>
            <a:r>
              <a:rPr sz="2025" b="0">
                <a:solidFill>
                  <a:srgbClr val="526970"/>
                </a:solidFill>
                <a:latin typeface="Arial"/>
                <a:ea typeface="Arial"/>
                <a:cs typeface="Arial"/>
              </a:rPr>
              <a:t>Ручная разметка: проверка без 23 запросов</a:t>
            </a:r>
          </a:p>
        </p:txBody>
      </p:sp>
      <p:graphicFrame>
        <p:nvGraphicFramePr>
          <p:cNvPr id="11" name="Таблица 10"/>
          <p:cNvGraphicFramePr/>
          <p:nvPr/>
        </p:nvGraphicFramePr>
        <p:xfrm>
          <a:off x="609600" y="2105025"/>
          <a:ext cx="10972800" cy="2705100"/>
        </p:xfrm>
        <a:graphic>
          <a:graphicData uri="http://schemas.openxmlformats.org/drawingml/2006/table">
            <a:tbl>
              <a:tblPr/>
              <a:tblGrid>
                <a:gridCol w="323850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3867150">
                  <a:extLst>
                    <a:ext uri="{9D8B030D-6E8A-4147-A177-3AD203B41FA5}">
                      <a16:colId xmlns:a16="http://schemas.microsoft.com/office/drawing/2014/main" val="20002"/>
                    </a:ext>
                  </a:extLst>
                </a:gridCol>
              </a:tblGrid>
              <a:tr h="533400">
                <a:tc>
                  <a:txBody>
                    <a:bodyPr/>
                    <a:lstStyle/>
                    <a:p>
                      <a:r>
                        <a:rPr sz="1875" b="1">
                          <a:solidFill>
                            <a:srgbClr val="526970"/>
                          </a:solidFill>
                          <a:latin typeface="Arial"/>
                          <a:ea typeface="Arial"/>
                          <a:cs typeface="Arial"/>
                        </a:rPr>
                        <a:t>Система</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Все 1 179 запросов</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1 156 после исключения</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42925">
                <a:tc>
                  <a:txBody>
                    <a:bodyPr/>
                    <a:lstStyle/>
                    <a:p>
                      <a:r>
                        <a:rPr sz="2025" b="0">
                          <a:solidFill>
                            <a:srgbClr val="182B30"/>
                          </a:solidFill>
                          <a:latin typeface="Arial"/>
                          <a:ea typeface="Arial"/>
                          <a:cs typeface="Arial"/>
                        </a:rPr>
                        <a:t>BM25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0,644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0,644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42925">
                <a:tc>
                  <a:txBody>
                    <a:bodyPr/>
                    <a:lstStyle/>
                    <a:p>
                      <a:r>
                        <a:rPr sz="2025" b="0">
                          <a:solidFill>
                            <a:srgbClr val="182B30"/>
                          </a:solidFill>
                          <a:latin typeface="Arial"/>
                          <a:ea typeface="Arial"/>
                          <a:cs typeface="Arial"/>
                        </a:rPr>
                        <a:t>E5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0,879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0,879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42925">
                <a:tc>
                  <a:txBody>
                    <a:bodyPr/>
                    <a:lstStyle/>
                    <a:p>
                      <a:r>
                        <a:rPr sz="2025" b="0">
                          <a:solidFill>
                            <a:srgbClr val="182B30"/>
                          </a:solidFill>
                          <a:latin typeface="Arial"/>
                          <a:ea typeface="Arial"/>
                          <a:cs typeface="Arial"/>
                        </a:rPr>
                        <a:t>BGE</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0,828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0,828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42925">
                <a:tc>
                  <a:txBody>
                    <a:bodyPr/>
                    <a:lstStyle/>
                    <a:p>
                      <a:r>
                        <a:rPr sz="2025" b="0">
                          <a:solidFill>
                            <a:srgbClr val="182B30"/>
                          </a:solidFill>
                          <a:latin typeface="Arial"/>
                          <a:ea typeface="Arial"/>
                          <a:cs typeface="Arial"/>
                        </a:rPr>
                        <a:t>RRF (3)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0,854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0,855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bl>
          </a:graphicData>
        </a:graphic>
      </p:graphicFrame>
      <p:sp>
        <p:nvSpPr>
          <p:cNvPr id="5" name="Большой набор без ручных запросов: N = 99 914">
            <a:extLst>
              <a:ext uri="{FF2B5EF4-FFF2-40B4-BE49-F238E27FC236}">
                <a16:creationId xmlns:a16="http://schemas.microsoft.com/office/drawing/2014/main" id="{58E8A587-3CA8-40FD-AF5E-3E8C552C0C17}"/>
              </a:ext>
            </a:extLst>
          </p:cNvPr>
          <p:cNvSpPr>
            <a:spLocks noGrp="1"/>
          </p:cNvSpPr>
          <p:nvPr/>
        </p:nvSpPr>
        <p:spPr>
          <a:xfrm>
            <a:off x="609600" y="5076825"/>
            <a:ext cx="10972800" cy="428625"/>
          </a:xfrm>
          <a:prstGeom prst="rect">
            <a:avLst/>
          </a:prstGeom>
          <a:noFill/>
          <a:ln w="0">
            <a:noFill/>
          </a:ln>
        </p:spPr>
        <p:txBody>
          <a:bodyPr wrap="square" lIns="0" tIns="0" rIns="0" bIns="0" anchor="t">
            <a:noAutofit/>
          </a:bodyPr>
          <a:lstStyle/>
          <a:p>
            <a:pPr algn="l">
              <a:defRPr sz="2250" b="1">
                <a:solidFill>
                  <a:srgbClr val="007F78"/>
                </a:solidFill>
                <a:latin typeface="Arial"/>
                <a:ea typeface="Arial"/>
                <a:cs typeface="Arial"/>
              </a:defRPr>
            </a:pPr>
            <a:r>
              <a:rPr sz="2250" b="1">
                <a:solidFill>
                  <a:srgbClr val="007F78"/>
                </a:solidFill>
                <a:latin typeface="Arial"/>
                <a:ea typeface="Arial"/>
                <a:cs typeface="Arial"/>
              </a:rPr>
              <a:t>29 пар с метками 3, 20 или 22; 5 пар без текста</a:t>
            </a:r>
          </a:p>
        </p:txBody>
      </p:sp>
      <p:sp>
        <p:nvSpPr>
          <p:cNvPr id="6" name="При K = 200: RRF − E5 = +0,00877">
            <a:extLst>
              <a:ext uri="{FF2B5EF4-FFF2-40B4-BE49-F238E27FC236}">
                <a16:creationId xmlns:a16="http://schemas.microsoft.com/office/drawing/2014/main" id="{9CF32D85-4613-482F-8B19-0DEEF1AB81FA}"/>
              </a:ext>
            </a:extLst>
          </p:cNvPr>
          <p:cNvSpPr>
            <a:spLocks noGrp="1"/>
          </p:cNvSpPr>
          <p:nvPr/>
        </p:nvSpPr>
        <p:spPr>
          <a:xfrm>
            <a:off x="609600" y="5629275"/>
            <a:ext cx="10972800" cy="400050"/>
          </a:xfrm>
          <a:prstGeom prst="rect">
            <a:avLst/>
          </a:prstGeom>
          <a:noFill/>
          <a:ln w="0">
            <a:noFill/>
          </a:ln>
        </p:spPr>
        <p:txBody>
          <a:bodyPr wrap="square" lIns="0" tIns="0" rIns="0" bIns="0" anchor="t">
            <a:noAutofit/>
          </a:bodyPr>
          <a:lstStyle/>
          <a:p>
            <a:pPr algn="l">
              <a:defRPr sz="2100" b="0">
                <a:solidFill>
                  <a:srgbClr val="182B30"/>
                </a:solidFill>
                <a:latin typeface="Arial"/>
                <a:ea typeface="Arial"/>
                <a:cs typeface="Arial"/>
              </a:defRPr>
            </a:pPr>
            <a:r>
              <a:rPr sz="2100" b="0">
                <a:solidFill>
                  <a:srgbClr val="182B30"/>
                </a:solidFill>
                <a:latin typeface="Arial"/>
                <a:ea typeface="Arial"/>
                <a:cs typeface="Arial"/>
              </a:rPr>
              <a:t>Затронуты 23 запроса. После исключения осталось 1 156.</a:t>
            </a:r>
          </a:p>
        </p:txBody>
      </p:sp>
      <p:sp>
        <p:nvSpPr>
          <p:cNvPr id="7" name="Проверки исключением не заменяют независимую руч">
            <a:extLst>
              <a:ext uri="{FF2B5EF4-FFF2-40B4-BE49-F238E27FC236}">
                <a16:creationId xmlns:a16="http://schemas.microsoft.com/office/drawing/2014/main" id="{CDBB4910-106E-4D8F-B12B-42CCE277D5C4}"/>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dirty="0" err="1">
                <a:solidFill>
                  <a:srgbClr val="526970"/>
                </a:solidFill>
                <a:latin typeface="Arial"/>
                <a:ea typeface="Arial"/>
                <a:cs typeface="Arial"/>
              </a:rPr>
              <a:t>Коды</a:t>
            </a:r>
            <a:r>
              <a:rPr sz="1575" b="0" dirty="0">
                <a:solidFill>
                  <a:srgbClr val="526970"/>
                </a:solidFill>
                <a:latin typeface="Arial"/>
                <a:ea typeface="Arial"/>
                <a:cs typeface="Arial"/>
              </a:rPr>
              <a:t> </a:t>
            </a:r>
            <a:r>
              <a:rPr sz="1575" b="0" dirty="0" err="1">
                <a:solidFill>
                  <a:srgbClr val="526970"/>
                </a:solidFill>
                <a:latin typeface="Arial"/>
                <a:ea typeface="Arial"/>
                <a:cs typeface="Arial"/>
              </a:rPr>
              <a:t>вне</a:t>
            </a:r>
            <a:r>
              <a:rPr sz="1575" b="0" dirty="0">
                <a:solidFill>
                  <a:srgbClr val="526970"/>
                </a:solidFill>
                <a:latin typeface="Arial"/>
                <a:ea typeface="Arial"/>
                <a:cs typeface="Arial"/>
              </a:rPr>
              <a:t> </a:t>
            </a:r>
            <a:r>
              <a:rPr sz="1575" b="0" dirty="0" err="1">
                <a:solidFill>
                  <a:srgbClr val="526970"/>
                </a:solidFill>
                <a:latin typeface="Arial"/>
                <a:ea typeface="Arial"/>
                <a:cs typeface="Arial"/>
              </a:rPr>
              <a:t>шкалы</a:t>
            </a:r>
            <a:r>
              <a:rPr sz="1575" b="0" dirty="0">
                <a:solidFill>
                  <a:srgbClr val="526970"/>
                </a:solidFill>
                <a:latin typeface="Arial"/>
                <a:ea typeface="Arial"/>
                <a:cs typeface="Arial"/>
              </a:rPr>
              <a:t> 0/1/2 </a:t>
            </a:r>
            <a:r>
              <a:rPr sz="1575" b="0" dirty="0" err="1">
                <a:solidFill>
                  <a:srgbClr val="526970"/>
                </a:solidFill>
                <a:latin typeface="Arial"/>
                <a:ea typeface="Arial"/>
                <a:cs typeface="Arial"/>
              </a:rPr>
              <a:t>не</a:t>
            </a:r>
            <a:r>
              <a:rPr sz="1575" b="0" dirty="0">
                <a:solidFill>
                  <a:srgbClr val="526970"/>
                </a:solidFill>
                <a:latin typeface="Arial"/>
                <a:ea typeface="Arial"/>
                <a:cs typeface="Arial"/>
              </a:rPr>
              <a:t> </a:t>
            </a:r>
            <a:r>
              <a:rPr sz="1575" b="0" dirty="0" err="1">
                <a:solidFill>
                  <a:srgbClr val="526970"/>
                </a:solidFill>
                <a:latin typeface="Arial"/>
                <a:ea typeface="Arial"/>
                <a:cs typeface="Arial"/>
              </a:rPr>
              <a:t>считали</a:t>
            </a:r>
            <a:r>
              <a:rPr sz="1575" b="0" dirty="0">
                <a:solidFill>
                  <a:srgbClr val="526970"/>
                </a:solidFill>
                <a:latin typeface="Arial"/>
                <a:ea typeface="Arial"/>
                <a:cs typeface="Arial"/>
              </a:rPr>
              <a:t> </a:t>
            </a:r>
            <a:r>
              <a:rPr sz="1575" b="0" dirty="0" err="1">
                <a:solidFill>
                  <a:srgbClr val="526970"/>
                </a:solidFill>
                <a:latin typeface="Arial"/>
                <a:ea typeface="Arial"/>
                <a:cs typeface="Arial"/>
              </a:rPr>
              <a:t>подтвержденными</a:t>
            </a:r>
            <a:r>
              <a:rPr sz="1575" b="0" dirty="0">
                <a:solidFill>
                  <a:srgbClr val="526970"/>
                </a:solidFill>
                <a:latin typeface="Arial"/>
                <a:ea typeface="Arial"/>
                <a:cs typeface="Arial"/>
              </a:rPr>
              <a:t> </a:t>
            </a:r>
            <a:r>
              <a:rPr sz="1575" b="0" dirty="0" err="1">
                <a:solidFill>
                  <a:srgbClr val="526970"/>
                </a:solidFill>
                <a:latin typeface="Arial"/>
                <a:ea typeface="Arial"/>
                <a:cs typeface="Arial"/>
              </a:rPr>
              <a:t>оценками</a:t>
            </a:r>
            <a:r>
              <a:rPr sz="1575" b="0" dirty="0">
                <a:solidFill>
                  <a:srgbClr val="526970"/>
                </a:solidFill>
                <a:latin typeface="Arial"/>
                <a:ea typeface="Arial"/>
                <a:cs typeface="Arial"/>
              </a:rPr>
              <a:t>.</a:t>
            </a:r>
          </a:p>
        </p:txBody>
      </p:sp>
    </p:spTree>
    <p:extLst>
      <p:ext uri="{BB962C8B-B14F-4D97-AF65-F5344CB8AC3E}">
        <p14:creationId xmlns:p14="http://schemas.microsoft.com/office/powerpoint/2010/main" val="686037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Следующий шаг: судья с эталонным ответом">
            <a:extLst>
              <a:ext uri="{FF2B5EF4-FFF2-40B4-BE49-F238E27FC236}">
                <a16:creationId xmlns:a16="http://schemas.microsoft.com/office/drawing/2014/main" id="{8BB88DBE-1FA1-4812-A58B-00395E190D0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Судья с эталонным ответом</a:t>
            </a:r>
          </a:p>
        </p:txBody>
      </p:sp>
      <p:sp>
        <p:nvSpPr>
          <p:cNvPr id="2" name="РЕЗЕРВ 5">
            <a:extLst>
              <a:ext uri="{FF2B5EF4-FFF2-40B4-BE49-F238E27FC236}">
                <a16:creationId xmlns:a16="http://schemas.microsoft.com/office/drawing/2014/main" id="{1C286169-48C8-4BF7-B807-41C16EF962B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6</a:t>
            </a:r>
          </a:p>
        </p:txBody>
      </p:sp>
      <p:sp>
        <p:nvSpPr>
          <p:cNvPr id="3" name="Предлагаемый вход">
            <a:extLst>
              <a:ext uri="{FF2B5EF4-FFF2-40B4-BE49-F238E27FC236}">
                <a16:creationId xmlns:a16="http://schemas.microsoft.com/office/drawing/2014/main" id="{E3C7D543-2F1E-43A6-BC62-EBAB217B6D65}"/>
              </a:ext>
            </a:extLst>
          </p:cNvPr>
          <p:cNvSpPr>
            <a:spLocks noGrp="1"/>
          </p:cNvSpPr>
          <p:nvPr/>
        </p:nvSpPr>
        <p:spPr>
          <a:xfrm>
            <a:off x="609600" y="1752600"/>
            <a:ext cx="10477500" cy="419100"/>
          </a:xfrm>
          <a:prstGeom prst="rect">
            <a:avLst/>
          </a:prstGeom>
          <a:noFill/>
          <a:ln w="0">
            <a:noFill/>
          </a:ln>
        </p:spPr>
        <p:txBody>
          <a:bodyPr wrap="square" lIns="0" tIns="0" rIns="0" bIns="0" anchor="t">
            <a:noAutofit/>
          </a:bodyPr>
          <a:lstStyle/>
          <a:p>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a:ext uri="{FF2B5EF4-FFF2-40B4-BE49-F238E27FC236}">
                <a16:creationId xmlns:a16="http://schemas.microsoft.com/office/drawing/2014/main" id="{90118D05-C33A-416F-8B29-520EE248E66E}"/>
              </a:ext>
            </a:extLst>
          </p:cNvPr>
          <p:cNvSpPr>
            <a:spLocks noGrp="1"/>
          </p:cNvSpPr>
          <p:nvPr/>
        </p:nvSpPr>
        <p:spPr>
          <a:xfrm>
            <a:off x="609600" y="2476500"/>
            <a:ext cx="4695825" cy="1676400"/>
          </a:xfrm>
          <a:prstGeom prst="rect">
            <a:avLst/>
          </a:prstGeom>
          <a:solidFill>
            <a:srgbClr val="EFF5F4"/>
          </a:solidFill>
          <a:ln w="11430">
            <a:solidFill>
              <a:srgbClr val="D4E1E0"/>
            </a:solidFill>
          </a:ln>
        </p:spPr>
        <p:txBody>
          <a:bodyPr lIns="133350" tIns="114300" rIns="133350" bIns="114300" anchor="ctr">
            <a:noAutofit/>
          </a:bodyPr>
          <a:lstStyle/>
          <a:p>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a:ext uri="{FF2B5EF4-FFF2-40B4-BE49-F238E27FC236}">
                <a16:creationId xmlns:a16="http://schemas.microsoft.com/office/drawing/2014/main" id="{30F17433-3B9E-4FAE-A8FA-52B6AA615CC4}"/>
              </a:ext>
            </a:extLst>
          </p:cNvPr>
          <p:cNvSpPr>
            <a:spLocks noGrp="1"/>
          </p:cNvSpPr>
          <p:nvPr/>
        </p:nvSpPr>
        <p:spPr>
          <a:xfrm>
            <a:off x="6496050" y="2476500"/>
            <a:ext cx="4791075" cy="1676400"/>
          </a:xfrm>
          <a:prstGeom prst="rect">
            <a:avLst/>
          </a:prstGeom>
          <a:solidFill>
            <a:srgbClr val="E3F0ED"/>
          </a:solidFill>
          <a:ln w="11430">
            <a:solidFill>
              <a:srgbClr val="D4E1E0"/>
            </a:solidFill>
          </a:ln>
        </p:spPr>
        <p:txBody>
          <a:bodyPr lIns="133350" tIns="114300" rIns="133350" bIns="114300" anchor="ctr">
            <a:noAutofit/>
          </a:bodyPr>
          <a:lstStyle/>
          <a:p>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Прямая со стрелкой 13"/>
          <p:cNvCxnSpPr>
            <a:stCxn id="4" idx="3"/>
            <a:endCxn id="5" idx="1"/>
          </p:cNvCxnSpPr>
          <p:nvPr/>
        </p:nvCxnSpPr>
        <p:spPr>
          <a:xfrm>
            <a:off x="5305425" y="3314700"/>
            <a:ext cx="1190625" cy="0"/>
          </a:xfrm>
          <a:prstGeom prst="straightConnector1">
            <a:avLst/>
          </a:prstGeom>
          <a:ln w="28575">
            <a:solidFill>
              <a:srgbClr val="526970"/>
            </a:solidFill>
            <a:tailEnd type="triangle" w="med" len="med"/>
          </a:ln>
        </p:spPr>
      </p:cxnSp>
      <p:sp>
        <p:nvSpPr>
          <p:cNvPr id="7" name="Сравнение более сильных судей&#10;по независимым чел">
            <a:extLst>
              <a:ext uri="{FF2B5EF4-FFF2-40B4-BE49-F238E27FC236}">
                <a16:creationId xmlns:a16="http://schemas.microsoft.com/office/drawing/2014/main" id="{A105146A-D8EA-4210-99A3-4C12DEC0F712}"/>
              </a:ext>
            </a:extLst>
          </p:cNvPr>
          <p:cNvSpPr>
            <a:spLocks noGrp="1"/>
          </p:cNvSpPr>
          <p:nvPr/>
        </p:nvSpPr>
        <p:spPr>
          <a:xfrm>
            <a:off x="609600" y="4848225"/>
            <a:ext cx="10972800" cy="809625"/>
          </a:xfrm>
          <a:prstGeom prst="rect">
            <a:avLst/>
          </a:prstGeom>
          <a:noFill/>
          <a:ln w="0">
            <a:noFill/>
          </a:ln>
        </p:spPr>
        <p:txBody>
          <a:bodyPr wrap="square" lIns="0" tIns="0" rIns="0" bIns="0" anchor="t">
            <a:noAutofit/>
          </a:bodyPr>
          <a:lstStyle/>
          <a:p>
            <a:pPr algn="l">
              <a:defRPr sz="2475" b="1">
                <a:solidFill>
                  <a:srgbClr val="007F78"/>
                </a:solidFill>
                <a:latin typeface="Arial"/>
                <a:ea typeface="Arial"/>
                <a:cs typeface="Arial"/>
              </a:defRPr>
            </a:pPr>
            <a:r>
              <a:rPr sz="2475" b="1" dirty="0" err="1">
                <a:solidFill>
                  <a:srgbClr val="007F78"/>
                </a:solidFill>
                <a:latin typeface="Arial"/>
                <a:ea typeface="Arial"/>
                <a:cs typeface="Arial"/>
              </a:rPr>
              <a:t>Сравнение</a:t>
            </a:r>
            <a:r>
              <a:rPr sz="2475" b="1" dirty="0">
                <a:solidFill>
                  <a:srgbClr val="007F78"/>
                </a:solidFill>
                <a:latin typeface="Arial"/>
                <a:ea typeface="Arial"/>
                <a:cs typeface="Arial"/>
              </a:rPr>
              <a:t> </a:t>
            </a:r>
            <a:r>
              <a:rPr sz="2475" b="1" dirty="0" err="1">
                <a:solidFill>
                  <a:srgbClr val="007F78"/>
                </a:solidFill>
                <a:latin typeface="Arial"/>
                <a:ea typeface="Arial"/>
                <a:cs typeface="Arial"/>
              </a:rPr>
              <a:t>более</a:t>
            </a:r>
            <a:r>
              <a:rPr sz="2475" b="1" dirty="0">
                <a:solidFill>
                  <a:srgbClr val="007F78"/>
                </a:solidFill>
                <a:latin typeface="Arial"/>
                <a:ea typeface="Arial"/>
                <a:cs typeface="Arial"/>
              </a:rPr>
              <a:t> </a:t>
            </a:r>
            <a:r>
              <a:rPr sz="2475" b="1" dirty="0" err="1">
                <a:solidFill>
                  <a:srgbClr val="007F78"/>
                </a:solidFill>
                <a:latin typeface="Arial"/>
                <a:ea typeface="Arial"/>
                <a:cs typeface="Arial"/>
              </a:rPr>
              <a:t>сильных</a:t>
            </a:r>
            <a:r>
              <a:rPr sz="2475" b="1" dirty="0">
                <a:solidFill>
                  <a:srgbClr val="007F78"/>
                </a:solidFill>
                <a:latin typeface="Arial"/>
                <a:ea typeface="Arial"/>
                <a:cs typeface="Arial"/>
              </a:rPr>
              <a:t> </a:t>
            </a:r>
            <a:r>
              <a:rPr sz="2475" b="1" dirty="0" err="1">
                <a:solidFill>
                  <a:srgbClr val="007F78"/>
                </a:solidFill>
                <a:latin typeface="Arial"/>
                <a:ea typeface="Arial"/>
                <a:cs typeface="Arial"/>
              </a:rPr>
              <a:t>судей</a:t>
            </a:r>
            <a:endParaRPr sz="2475" b="1" dirty="0">
              <a:solidFill>
                <a:srgbClr val="007F78"/>
              </a:solidFill>
              <a:latin typeface="Arial"/>
              <a:ea typeface="Arial"/>
              <a:cs typeface="Arial"/>
            </a:endParaRPr>
          </a:p>
          <a:p>
            <a:pPr algn="l">
              <a:defRPr sz="2475" b="1">
                <a:solidFill>
                  <a:srgbClr val="007F78"/>
                </a:solidFill>
                <a:latin typeface="Arial"/>
                <a:ea typeface="Arial"/>
                <a:cs typeface="Arial"/>
              </a:defRPr>
            </a:pPr>
            <a:r>
              <a:rPr sz="2475" b="1" dirty="0" err="1">
                <a:solidFill>
                  <a:srgbClr val="007F78"/>
                </a:solidFill>
                <a:latin typeface="Arial"/>
                <a:ea typeface="Arial"/>
                <a:cs typeface="Arial"/>
              </a:rPr>
              <a:t>по</a:t>
            </a:r>
            <a:r>
              <a:rPr sz="2475" b="1" dirty="0">
                <a:solidFill>
                  <a:srgbClr val="007F78"/>
                </a:solidFill>
                <a:latin typeface="Arial"/>
                <a:ea typeface="Arial"/>
                <a:cs typeface="Arial"/>
              </a:rPr>
              <a:t> </a:t>
            </a:r>
            <a:r>
              <a:rPr sz="2475" b="1" dirty="0" err="1">
                <a:solidFill>
                  <a:srgbClr val="007F78"/>
                </a:solidFill>
                <a:latin typeface="Arial"/>
                <a:ea typeface="Arial"/>
                <a:cs typeface="Arial"/>
              </a:rPr>
              <a:t>независимым</a:t>
            </a:r>
            <a:r>
              <a:rPr sz="2475" b="1" dirty="0">
                <a:solidFill>
                  <a:srgbClr val="007F78"/>
                </a:solidFill>
                <a:latin typeface="Arial"/>
                <a:ea typeface="Arial"/>
                <a:cs typeface="Arial"/>
              </a:rPr>
              <a:t> </a:t>
            </a:r>
            <a:r>
              <a:rPr sz="2475" b="1" dirty="0" err="1">
                <a:solidFill>
                  <a:srgbClr val="007F78"/>
                </a:solidFill>
                <a:latin typeface="Arial"/>
                <a:ea typeface="Arial"/>
                <a:cs typeface="Arial"/>
              </a:rPr>
              <a:t>человеческим</a:t>
            </a:r>
            <a:r>
              <a:rPr sz="2475" b="1" dirty="0">
                <a:solidFill>
                  <a:srgbClr val="007F78"/>
                </a:solidFill>
                <a:latin typeface="Arial"/>
                <a:ea typeface="Arial"/>
                <a:cs typeface="Arial"/>
              </a:rPr>
              <a:t> </a:t>
            </a:r>
            <a:r>
              <a:rPr sz="2475" b="1" dirty="0" err="1">
                <a:solidFill>
                  <a:srgbClr val="007F78"/>
                </a:solidFill>
                <a:latin typeface="Arial"/>
                <a:ea typeface="Arial"/>
                <a:cs typeface="Arial"/>
              </a:rPr>
              <a:t>оценкам</a:t>
            </a:r>
            <a:endParaRPr sz="2475" b="1" dirty="0">
              <a:solidFill>
                <a:srgbClr val="007F78"/>
              </a:solidFill>
              <a:latin typeface="Arial"/>
              <a:ea typeface="Arial"/>
              <a:cs typeface="Arial"/>
            </a:endParaRPr>
          </a:p>
        </p:txBody>
      </p:sp>
      <p:sp>
        <p:nvSpPr>
          <p:cNvPr id="8" name="Запланированный эксперимент. Результаты для тако">
            <a:extLst>
              <a:ext uri="{FF2B5EF4-FFF2-40B4-BE49-F238E27FC236}">
                <a16:creationId xmlns:a16="http://schemas.microsoft.com/office/drawing/2014/main" id="{E0AF8946-8C97-46ED-8055-EDF230D8EF77}"/>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endParaRPr lang="ru-RU" sz="1575" b="0" dirty="0">
              <a:solidFill>
                <a:srgbClr val="526970"/>
              </a:solidFill>
              <a:latin typeface="Arial"/>
              <a:ea typeface="Arial"/>
              <a:cs typeface="Arial"/>
            </a:endParaRPr>
          </a:p>
        </p:txBody>
      </p:sp>
    </p:spTree>
    <p:extLst>
      <p:ext uri="{BB962C8B-B14F-4D97-AF65-F5344CB8AC3E}">
        <p14:creationId xmlns:p14="http://schemas.microsoft.com/office/powerpoint/2010/main" val="151797225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6932</Words>
  <Application>Microsoft Macintosh PowerPoint</Application>
  <DocSecurity>0</DocSecurity>
  <PresentationFormat>Широкоэкранный</PresentationFormat>
  <Paragraphs>582</Paragraphs>
  <Slides>26</Slides>
  <Notes>26</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26</vt:i4>
      </vt:variant>
    </vt:vector>
  </HeadingPairs>
  <TitlesOfParts>
    <vt:vector size="29" baseType="lpstr">
      <vt:lpstr>Arial</vt:lpstr>
      <vt:lpstr>Calibri</vt:lpstr>
      <vt:lpstr>ChatGPT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Re-annotation and Controlled Candidate Pools for Re-evaluating Ranking Models on MS MARCO</dc:title>
  <dc:subject>Доклад на конференции DAMDID 2026</dc:subject>
  <dc:creator/>
  <cp:lastModifiedBy/>
  <cp:revision>2</cp:revision>
  <dcterms:created xsi:type="dcterms:W3CDTF"/>
  <dcterms:modified xsi:type="dcterms:W3CDTF"/>
  <dc:language>ru-RU</dc:language>
</cp:coreProperties>
</file>