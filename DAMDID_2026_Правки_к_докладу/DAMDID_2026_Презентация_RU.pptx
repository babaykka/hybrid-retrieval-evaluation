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ns0="http://schemas.openxmlformats.org/officeDocument/2006/relationships" id="276" ns0:id="R1b78786234bc4c34"/>
    <p:sldId xmlns:ns1="http://schemas.openxmlformats.org/officeDocument/2006/relationships" id="277" ns1:id="R308caa75f4974794"/>
    <p:sldId xmlns:ns2="http://schemas.openxmlformats.org/officeDocument/2006/relationships" id="278" ns2:id="Rc2e16312072346fc"/>
    <p:sldId xmlns:ns3="http://schemas.openxmlformats.org/officeDocument/2006/relationships" id="279" ns3:id="Rbc07fb6187dc441f"/>
    <p:sldId xmlns:ns4="http://schemas.openxmlformats.org/officeDocument/2006/relationships" id="280" ns4:id="R49d790a9626c4166"/>
    <p:sldId xmlns:ns5="http://schemas.openxmlformats.org/officeDocument/2006/relationships" id="281" ns5:id="R9bebf51513b54225"/>
    <p:sldId xmlns:ns6="http://schemas.openxmlformats.org/officeDocument/2006/relationships" id="282" ns6:id="Reade4cf27cdf471e"/>
    <p:sldId xmlns:ns7="http://schemas.openxmlformats.org/officeDocument/2006/relationships" id="283" ns7:id="Ra91d658d1c494a24"/>
    <p:sldId xmlns:ns8="http://schemas.openxmlformats.org/officeDocument/2006/relationships" id="284" ns8:id="Rae29bbe8b5c74d30"/>
    <p:sldId xmlns:ns9="http://schemas.openxmlformats.org/officeDocument/2006/relationships" id="285" ns9:id="Rc945c2d106ca4687"/>
    <p:sldId xmlns:ns10="http://schemas.openxmlformats.org/officeDocument/2006/relationships" id="286" ns10:id="rAddedSlide21"/>
    <p:sldId xmlns:ns11="http://schemas.openxmlformats.org/officeDocument/2006/relationships" id="287" ns11:id="rAddedSlide22"/>
    <p:sldId xmlns:ns12="http://schemas.openxmlformats.org/officeDocument/2006/relationships" id="288" ns12:id="R1a7923ae1afc4511"/>
    <p:sldId xmlns:ns13="http://schemas.openxmlformats.org/officeDocument/2006/relationships" id="289" ns13:id="rAddedSlide23"/>
    <p:sldId xmlns:ns14="http://schemas.openxmlformats.org/officeDocument/2006/relationships" id="290" ns14:id="Re57df592b105476d"/>
    <p:sldId xmlns:ns15="http://schemas.openxmlformats.org/officeDocument/2006/relationships" id="291" ns15:id="R1fa05d50cb0c43a1"/>
    <p:sldId xmlns:ns16="http://schemas.openxmlformats.org/officeDocument/2006/relationships" id="292" ns16:id="R08ec46a784e14088"/>
    <p:sldId xmlns:ns17="http://schemas.openxmlformats.org/officeDocument/2006/relationships" id="293" ns17:id="R687a3932498c4456"/>
    <p:sldId xmlns:ns18="http://schemas.openxmlformats.org/officeDocument/2006/relationships" id="294" ns18:id="rAddedSlide24"/>
    <p:sldId xmlns:ns19="http://schemas.openxmlformats.org/officeDocument/2006/relationships" id="295" ns19:id="rAddedSlide25"/>
    <p:sldId xmlns:ns20="http://schemas.openxmlformats.org/officeDocument/2006/relationships" id="296" ns20:id="rAddedSlide26"/>
    <p:sldId xmlns:ns21="http://schemas.openxmlformats.org/officeDocument/2006/relationships" id="297" ns21:id="R76b154ba5e7e4d24"/>
    <p:sldId xmlns:ns22="http://schemas.openxmlformats.org/officeDocument/2006/relationships" id="298" ns22:id="Rccd64b9c89fa4245"/>
    <p:sldId xmlns:ns23="http://schemas.openxmlformats.org/officeDocument/2006/relationships" id="299" ns23:id="R4d2c3a6ab9ed4645"/>
    <p:sldId xmlns:ns24="http://schemas.openxmlformats.org/officeDocument/2006/relationships" id="300" ns24:id="R47fdfe65a7c74b49"/>
    <p:sldId xmlns:ns25="http://schemas.openxmlformats.org/officeDocument/2006/relationships" id="301" ns25: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 Id="rAddedSlide21" Type="http://schemas.openxmlformats.org/officeDocument/2006/relationships/slide" Target="/ppt/slides/slide21.xml"/><Relationship Id="rAddedSlide22" Type="http://schemas.openxmlformats.org/officeDocument/2006/relationships/slide" Target="/ppt/slides/slide22.xml"/><Relationship Id="rAddedSlide23" Type="http://schemas.openxmlformats.org/officeDocument/2006/relationships/slide" Target="/ppt/slides/slide23.xml"/><Relationship Id="rAddedSlide24" Type="http://schemas.openxmlformats.org/officeDocument/2006/relationships/slide" Target="/ppt/slides/slide24.xml"/><Relationship Id="rAddedSlide25" Type="http://schemas.openxmlformats.org/officeDocument/2006/relationships/slide" Target="/ppt/slides/slide25.xml"/><Relationship Id="rAddedSlide26" Type="http://schemas.openxmlformats.org/officeDocument/2006/relationships/slide" Target="/ppt/slides/slide26.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_rels/notesSlide21.xml.rels><?xml version='1.0' encoding='UTF-8' standalone='yes'?>
<Relationships xmlns="http://schemas.openxmlformats.org/package/2006/relationships"><Relationship Id="rSlide" Type="http://schemas.openxmlformats.org/officeDocument/2006/relationships/slide" Target="/ppt/slides/slide21.xml"/><Relationship Id="rMaster" Type="http://schemas.openxmlformats.org/officeDocument/2006/relationships/notesMaster" Target="/ppt/notesMasters/notesMaster1.xml"/></Relationships>
</file>

<file path=ppt/notesSlides/_rels/notesSlide22.xml.rels><?xml version='1.0' encoding='UTF-8' standalone='yes'?>
<Relationships xmlns="http://schemas.openxmlformats.org/package/2006/relationships"><Relationship Id="rSlide" Type="http://schemas.openxmlformats.org/officeDocument/2006/relationships/slide" Target="/ppt/slides/slide22.xml"/><Relationship Id="rMaster" Type="http://schemas.openxmlformats.org/officeDocument/2006/relationships/notesMaster" Target="/ppt/notesMasters/notesMaster1.xml"/></Relationships>
</file>

<file path=ppt/notesSlides/_rels/notesSlide23.xml.rels><?xml version='1.0' encoding='UTF-8' standalone='yes'?>
<Relationships xmlns="http://schemas.openxmlformats.org/package/2006/relationships"><Relationship Id="rSlide" Type="http://schemas.openxmlformats.org/officeDocument/2006/relationships/slide" Target="/ppt/slides/slide23.xml"/><Relationship Id="rMaster" Type="http://schemas.openxmlformats.org/officeDocument/2006/relationships/notesMaster" Target="/ppt/notesMasters/notesMaster1.xml"/></Relationships>
</file>

<file path=ppt/notesSlides/_rels/notesSlide24.xml.rels><?xml version='1.0' encoding='UTF-8' standalone='yes'?>
<Relationships xmlns="http://schemas.openxmlformats.org/package/2006/relationships"><Relationship Id="rSlide" Type="http://schemas.openxmlformats.org/officeDocument/2006/relationships/slide" Target="/ppt/slides/slide24.xml"/><Relationship Id="rMaster" Type="http://schemas.openxmlformats.org/officeDocument/2006/relationships/notesMaster" Target="/ppt/notesMasters/notesMaster1.xml"/></Relationships>
</file>

<file path=ppt/notesSlides/_rels/notesSlide25.xml.rels><?xml version='1.0' encoding='UTF-8' standalone='yes'?>
<Relationships xmlns="http://schemas.openxmlformats.org/package/2006/relationships"><Relationship Id="rSlide" Type="http://schemas.openxmlformats.org/officeDocument/2006/relationships/slide" Target="/ppt/slides/slide25.xml"/><Relationship Id="rMaster" Type="http://schemas.openxmlformats.org/officeDocument/2006/relationships/notesMaster" Target="/ppt/notesMasters/notesMaster1.xml"/></Relationships>
</file>

<file path=ppt/notesSlides/_rels/notesSlide26.xml.rels><?xml version='1.0' encoding='UTF-8' standalone='yes'?>
<Relationships xmlns="http://schemas.openxmlformats.org/package/2006/relationships"><Relationship Id="rSlide" Type="http://schemas.openxmlformats.org/officeDocument/2006/relationships/slide" Target="/ppt/slides/slide26.xml"/><Relationship Id="rMaster" Type="http://schemas.openxmlformats.org/officeDocument/2006/relationships/notesMaster" Target="/pp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Здравствуйте!  Я представлю нашу работу по углубленной доразметке MS MARCO и оценке поиска на контролируемых пулах кандидатов, .</ns0:t>
            </ns0:r>
          </ns0:p>
          <ns1:p xmlns:ns1="http://schemas.openxmlformats.org/drawingml/2006/main">
            <ns1:r>
              <ns1: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ns0:t>
            </ns0:r>
          </ns0:p>
          <ns1:p xmlns:ns1="http://schemas.openxmlformats.org/drawingml/2006/main">
            <ns1:r>
              <ns1: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https://arxiv.org/abs/1611.09268</ns4:t>
            </ns4:r>
          </ns4:p>
          <ns5:p xmlns:ns5="http://schemas.openxmlformats.org/drawingml/2006/main">
            <ns5:r>
              <ns5:t>Natural Questions: https://aclanthology.org/Q19-1026/</ns5:t>
            </ns5:r>
          </ns5:p>
          <ns6:p xmlns:ns6="http://schemas.openxmlformats.org/drawingml/2006/main">
            <ns6:r>
              <ns6:t>BEIR: https://arxiv.org/abs/2104.08663</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ns0:t>
            </ns0:r>
          </ns0:p>
          <ns1:p xmlns:ns1="http://schemas.openxmlformats.org/drawingml/2006/main">
            <ns1:r>
              <ns1:t>Размах опубликованных оценок составляет 0,014. Значения близки, но это еще не доказывает ни равенство систем, ни неполноту разметки. Мы задаем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ее с этой таблицей нельзя.</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Историческая таблица MS MARCO Passage Ranking, срез 30 ноября 2022 года. https://github.com/microsoft/MSMARCO-Passage-Ranking-Submissions/blob/abb44144f563e7972d5131f5d6acc2092877964c/leaderboard/leaderboard.csv</ns4:t>
            </ns4:r>
          </ns4:p>
          <ns5:p xmlns:ns5="http://schemas.openxmlformats.org/drawingml/2006/main">
            <ns5:r>
              <ns5: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растворенного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ее повышения.</ns0:t>
            </ns0:r>
          </ns0:p>
          <ns1:p xmlns:ns1="http://schemas.openxmlformats.org/drawingml/2006/main">
            <ns1:r>
              <ns1:t>Оценки релевантности обычно называют qrels, от английского query relevance judgments. Это оценки того, насколько текст соответствует запросу. В нашем расчете метрики неразмеченный фрагмент дает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ns0:t>
            </ns0:r>
          </ns0:p>
          <ns1:p xmlns:ns1="http://schemas.openxmlformats.org/drawingml/2006/main">
            <ns1:r>
              <ns1:t>Из dev/small взяты 1 179 запросов для расширенной ручной разметки. Для них оценены 33 667 различных пар. Под углубленной доразметкой мы понимаем оценку нескольких кандидатов для каждого запроса внутри заданного пула. Речь идет об охвате разметки, а не о глубине нейросети или полной разметке всего корпуса.</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сохраненный список, полученный поиском по запросу, добавляет в пул десять результатов.</ns0:t>
            </ns0:r>
          </ns0:p>
          <ns1:p xmlns:ns1="http://schemas.openxmlformats.org/drawingml/2006/main">
            <ns1:r>
              <ns1: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ns1:t>
            </ns1:r>
          </ns1:p>
          <ns2:p xmlns:ns2="http://schemas.openxmlformats.org/drawingml/2006/main">
            <ns2:r>
              <ns2: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BM25: https://doi.org/10.1561/1500000019</ns5:t>
            </ns5:r>
          </ns5:p>
          <ns6:p xmlns:ns6="http://schemas.openxmlformats.org/drawingml/2006/main">
            <ns6:r>
              <ns6:t>E5: https://arxiv.org/abs/2212.03533</ns6:t>
            </ns6:r>
          </ns6:p>
          <ns7:p xmlns:ns7="http://schemas.openxmlformats.org/drawingml/2006/main">
            <ns7:r>
              <ns7:t>Модель E5: https://huggingface.co/intfloat/e5-small-v2</ns7:t>
            </ns7:r>
          </ns7:p>
          <ns8:p xmlns:ns8="http://schemas.openxmlformats.org/drawingml/2006/main">
            <ns8:r>
              <ns8:t>Модель BGE: https://huggingface.co/BAAI/bge-small-en-v1.5</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ns0:t>
            </ns0:r>
          </ns0:p>
          <ns1:p xmlns:ns1="http://schemas.openxmlformats.org/drawingml/2006/main">
            <ns1:r>
              <ns1: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ns1:t>
            </ns1:r>
          </ns1:p>
          <ns2:p xmlns:ns2="http://schemas.openxmlformats.org/drawingml/2006/main">
            <ns2:r>
              <ns2: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ее влияние на измеряемое качество при неизменной выдаче.</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Качество ранжирования мы измеряем с помощью NDCG на первых десяти позициях. Метрика дает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ns0:t>
            </ns0:r>
          </ns0:p>
          <ns1:p xmlns:ns1="http://schemas.openxmlformats.org/drawingml/2006/main">
            <ns1:r>
              <ns1:t>В сравнение включен и RRF, метод слияния по обратным рангам. Он объединяет списки BM25, E5 и BGE, используя позиции результатов, а не исходные численные оценки этих моделей.</ns1:t>
            </ns1:r>
          </ns1:p>
          <ns2:p xmlns:ns2="http://schemas.openxmlformats.org/drawingml/2006/main">
            <ns2:r>
              <ns2:t>Оранжевые столбцы соответствуют исходным qrels, а зеленые показывают результаты по ручной разметке. Среднее качество растет у всех четырех систем. У E5 значение NDCG увеличивается с 0,488 до 0,879. Средний прирост в парном сравнении составляет около 0,391; доверительный интервал показан под графиком.</ns2:t>
            </ns2:r>
          </ns2:p>
          <ns3:p xmlns:ns3="http://schemas.openxmlformats.org/drawingml/2006/main">
            <ns3:r>
              <ns3:t>Здесь изменилась оценка качества благодаря более полной разметке. Сами поисковые системы мы не улучшали и не переобучали. Их порядок остается прежним: E5, RRF, BGE и BM25. Это результаты внутри размеченных пулов, а не показатели поиска по всему корпусу для общей таблицы лидеров.</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ns0:t>
            </ns0:r>
          </ns0:p>
          <ns1:p xmlns:ns1="http://schemas.openxmlformats.org/drawingml/2006/main">
            <ns1:r>
              <ns1: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ns1:t>
            </ns1:r>
          </ns1:p>
          <ns2:p xmlns:ns2="http://schemas.openxmlformats.org/drawingml/2006/main">
            <ns2:r>
              <ns2: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ns0:t>
            </ns0:r>
          </ns0:p>
          <ns1:p xmlns:ns1="http://schemas.openxmlformats.org/drawingml/2006/main">
            <ns1:r>
              <ns1: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выдает балл, а не вероятность. После выбора порога его фиксируем.</ns1:t>
            </ns1:r>
          </ns1:p>
          <ns2:p xmlns:ns2="http://schemas.openxmlformats.org/drawingml/2006/main">
            <ns2:r>
              <ns2: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При увеличении K с десяти до двухсот средний размер пула растет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ns0:t>
            </ns0:r>
          </ns0:p>
          <ns1:p xmlns:ns1="http://schemas.openxmlformats.org/drawingml/2006/main">
            <ns1:r>
              <ns1: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Здесь мы сравниваем RRF с E5 и различаем две глубины. K задает число результатов от каждой системы в пуле для разметки. L задает число результатов, поступающих на слияние рангов. В этой конфигурации обе величины растут вместе: L равно K.</ns0:t>
            </ns0:r>
          </ns0:p>
          <ns1:p xmlns:ns1="http://schemas.openxmlformats.org/drawingml/2006/main">
            <ns1:r>
              <ns1:t>Почему берем больше десяти результатов, хотя считаем NDCG по первой десятке? Потому что десять в NDCG относится к итоговому списку после слияния. Фрагмент, стоящий одиннадцатым у всех трех систем, при L, равном десяти, вообще не попадет в RRF. При L не меньше одиннадцати он получит сразу три вклада и может войти в итоговый топ-10. Поэтому более глубокие входные списки способны изменить и состав первой десятки, и порядок внутри нее.</ns1:t>
            </ns1:r>
          </ns1:p>
          <ns2:p xmlns:ns2="http://schemas.openxmlformats.org/drawingml/2006/main">
            <ns2:r>
              <ns2: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четырех больших глубинах разность небольшая, но положительная. При глубине двести она составляет около 0,0088.</ns2:t>
            </ns2:r>
          </ns2:p>
          <ns3:p xmlns:ns3="http://schemas.openxmlformats.org/drawingml/2006/main">
            <ns3:r>
              <ns3:t>Интервалы получены парным бутстрэпом по запросам. Они рассчитаны для фиксированной модели-судьи и не учитывают неопределенность ее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ns0:t>
            </ns0:r>
          </ns0:p>
          <ns1:p xmlns:ns1="http://schemas.openxmlformats.org/drawingml/2006/main">
            <ns1:r>
              <ns1: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ns1:t>
            </ns1:r>
          </ns1:p>
          <ns2:p xmlns:ns2="http://schemas.openxmlformats.org/drawingml/2006/main">
            <ns2:r>
              <ns2:t>При K, равном десяти, 14,4 процента пар из итогового топ-10 RRF лежат за пределами пула с оценками. При расчете метрики они дают нулевой вклад. Но отсутствие оценки не означает, что фрагмент нерелевантен: в этом пуле мы его просто не оценивали. Разметка более глубокого пула позволяет проверить и такие фрагменты.</ns2:t>
            </ns2:r>
          </ns2:p>
          <ns3:p xmlns:ns3="http://schemas.openxmlformats.org/drawingml/2006/main">
            <ns3:r>
              <ns3:t>Более широкий пул дает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масштабном эксперименте все метки получены одним судьей. Это относится и к тем запросам, которые раньше размечал человек. Ручные ответы здесь не заменяют предсказания судьи и не дополняют их.</ns0:t>
            </ns0:r>
          </ns0:p>
          <ns1:p xmlns:ns1="http://schemas.openxmlformats.org/drawingml/2006/main">
            <ns1:r>
              <ns1:t>Однако часть этих запросов использовалась при дообучении судьи. Поэтому мы дополнительно пересчитали сравнение, исключив все 1 179 запросов ручной подвыборки. Из 101 093 осталось 99 914. На каждой проверенной глубине преимущество осталось у той же системы, что и до исключения. Это говорит об устойчивости сравнения к такому пересечению, но не заменяет независимый тест судьи.</ns1:t>
            </ns1:r>
          </ns1:p>
          <ns2:p xmlns:ns2="http://schemas.openxmlformats.org/drawingml/2006/main">
            <ns2:r>
              <ns2:t>Ограничения сохраняются. Человек видел известный релевантный ответ, а судья получает только запрос и кандидата. Согласие между разметчиками не измерялось. Более глубокие пулы не проходили независимую ручную проверку.</ns2:t>
            </ns2:r>
          </ns2:p>
          <ns3:p xmlns:ns3="http://schemas.openxmlformats.org/drawingml/2006/main">
            <ns3:r>
              <ns3:t>Наши численные выводы относятся к выбранным англоязычным пулам MS MARCO. Их перенос на другие языки, предметные области и поисковые сервисы еще предстоит проверить.</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ns0:t>
            </ns0:r>
          </ns0:p>
          <ns1:p xmlns:ns1="http://schemas.openxmlformats.org/drawingml/2006/main">
            <ns1:r>
              <ns1: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моделью-судьей и зависит от ее оценок.</ns1:t>
            </ns1:r>
          </ns1:p>
          <ns2:p xmlns:ns2="http://schemas.openxmlformats.org/drawingml/2006/main">
            <ns2:r>
              <ns2:t>Поэтому вместе с метрикой качества поиска нужно указывать пул разметки, источник меток и настройки слияния. Направления дальнейшего исследования: сравнить более сильных судей, проверить пользу известного релевантного ответа на входе и оценить результаты по независимой человеческой разметке. Результатов этих новых экспериментов пока нет.</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ручном сравнении поисковая выдача не менялась. Изменились метки, по которым мы ее оцениваем: ранее неоцененные полезные ответы стали давать вклад в метрику. Поэтому выросла измеренная оценка качества, а не возможности самой поисковой модели. NDCG@10 учитывает релевантность в первой десятке с большим весом верхних позиций и нормирует ее относительно идеальной выдачи.</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ns0:t>
            </ns0:r>
          </ns0:p>
          <ns1:p xmlns:ns1="http://schemas.openxmlformats.org/drawingml/2006/main">
            <ns1:r>
              <ns1:t>На 5 002 тестовых парах получены 2 882 верных положительных и 1 300 верных отрицательных решения, 506 ложноположительных и 314 ложноотрицательных.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Wang et al. MiniLM. 2020. https://arxiv.org/abs/2002.10957</ns4:t>
            </ns4:r>
          </ns4:p>
          <ns5:p xmlns:ns5="http://schemas.openxmlformats.org/drawingml/2006/main">
            <ns5:r>
              <ns5:t>Исходная модель: https://huggingface.co/cross-encoder/ms-marco-MiniLM-L6-v2</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ns0:t>
            </ns0:r>
          </ns0:p>
          <ns1:p xmlns:ns1="http://schemas.openxmlformats.org/drawingml/2006/main">
            <ns1:r>
              <ns1: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дает вклад 1/61. Судья используется отдельно для оценки полученного списка.</ns1:t>
            </ns1:r>
          </ns1:p>
          <ns2:p xmlns:ns2="http://schemas.openxmlformats.org/drawingml/2006/main">
            <ns2:r>
              <ns2: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всем корпусе.</ns2:t>
            </ns2:r>
          </ns2:p>
          <ns3:p xmlns:ns3="http://schemas.openxmlformats.org/drawingml/2006/main">
            <ns3:r>
              <ns3:t>L ограничивает входные списки BM25, E5 и BGE до слияния. NDCG@10 оценивает первые десять позиций уже получившегося списка RRF. Это разные этапы.</ns3:t>
            </ns3:r>
          </ns3:p>
          <ns4:p xmlns:ns4="http://schemas.openxmlformats.org/drawingml/2006/main">
            <ns4:r>
              <ns4:t>Условный пример: в первых десяти результатах трех систем нет общих фрагментов, но один и тот же фрагмент стоит одиннадцатым у всех трех. При L = 10 его нет среди кандидатов RRF. При L = 11 его сумма равна 3/(60 + 11), примерно 0,0423. У фрагмента, который стоит первым только в одном списке, сумма 1/(60 + 1), примерно 0,0164. Общий фрагмент становится первым в RRF. Поэтому L &gt; 10 может менять итоговый топ-10. При этом дальнейшее увеличение L не обязано менять выдачу на каждом запросе.</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Cormack, Clarke, Büttcher. Reciprocal Rank Fusion outperforms Condorcet and individual Rank Learning Methods. SIGIR 2009. https://doi.org/10.1145/1571941.1572114</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исходных записях нашли 29 пар с кодами меток вне принятой шкалы 0/1/2: 26 меток со значением 3, две со значением 20 и одну со значением 22. Эти записи относятся к 18 запросам. Значение таких кодов не установлено, поэтому их нельзя произвольно считать подтвержденными положительными или отрицательными оценками.</ns0:t>
            </ns0:r>
          </ns0:p>
          <ns1:p xmlns:ns1="http://schemas.openxmlformats.org/drawingml/2006/main">
            <ns1:r>
              <ns1:t>Еще у пяти других запросов обнаружили по одному кандидату с пустым текстом. Всего затронуты 23 запроса. В дополнительном расчете исключили эти запросы целиком, осталось 1 156. Порядок поисковых систем по человеческим оценкам не изменился. В основном расчете нестандартные метки не считались подтвержденными положительными оценками и давали нулевой вклад. Исключение служит проверкой чувствительности результата, а не новой разметкой.</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Человек видел запрос, оцениваемый фрагмент и известный релевантный ответ. Подготовка ручных кандидатов также использовала сходство E5 с этим ответом. Судья получает только тексты запроса и кандидата. Он не получает известного ответа, позиций, баллов BM25, E5 или BGE и заранее рассчитанных эмбеддингов. Добавление эталонного ответа ко входу судьи предложено как следующий эксперимент.</ns0:t>
            </ns0:r>
          </ns0:p>
          <ns1:p xmlns:ns1="http://schemas.openxmlformats.org/drawingml/2006/main">
            <ns1:r>
              <ns1:t>Судья нужен как доступный способ получить много дополнительных оценок и исследовать зависимость метрик от охвата. Он не заменяет поисковые системы и не считается безошибочным эталоном. BM25, E5 и BGE по-прежнему находят и ранжируют кандидатов. На ручных данных их сравнение опирается на человеческие оценки. Масштабные выводы с MiniLM условны и требуют проверки более сильными судьями и независимой ручной разметкой.</ns1:t>
            </ns1:r>
          </ns1:p>
          <ns2:p xmlns:ns2="http://schemas.openxmlformats.org/drawingml/2006/main">
            <ns2:r>
              <ns2:t>Это компактная исходная модель cross-encoder/ms-marco-MiniLM-L6-v2, пригодная для оценки большого числа пар. В представленном эксперименте ее дообучили на ручных оценках. Сравнения нескольких судей и модели со входом «запрос, эталонный ответ, кандидат» пока не выполнены. Результаты таких сравнений не заявляются.</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переходим от ручной подвыборки к полной dev-части MS MARCO Passage Ranking. Она содержит 101 093 запроса. Для каждого запроса поисковые модели заранее нашли фрагменты-кандидаты, а обученный судья оценивает их релевантность. Это число запросов; фрагментов и пар «запрос-фрагмент» намного больше.</ns0:t>
            </ns0:r>
          </ns0:p>
          <ns1:p xmlns:ns1="http://schemas.openxmlformats.org/drawingml/2006/main">
            <ns1:r>
              <ns1:t>Внутри полной dev-части есть стандартная оценочная подвыборка dev/small из 6 980 запросов. Из нее взяты наши 1 179 запросов с расширенной ручной разметкой. Судью дообучали только на обучающей части этой ручной подвыборки. Теперь используем его предсказания для кандидатов по всем 101 093 запросам. Человеческими метками эти предсказания не подменяем. Отдельно проверим, сохраняются ли результаты без запросов из ручной подвыборки.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Пул для судьи строится так. Для каждого запроса берем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ns0:t>
            </ns0:r>
          </ns0:p>
          <ns1:p xmlns:ns1="http://schemas.openxmlformats.org/drawingml/2006/main">
            <ns1:r>
              <ns1: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BM25: https://doi.org/10.1561/1500000019</ns4:t>
            </ns4:r>
          </ns4:p>
          <ns5:p xmlns:ns5="http://schemas.openxmlformats.org/drawingml/2006/main">
            <ns5:r>
              <ns5:t>E5: https://arxiv.org/abs/2212.03533</ns5:t>
            </ns5:r>
          </ns5:p>
          <ns6:p xmlns:ns6="http://schemas.openxmlformats.org/drawingml/2006/main">
            <ns6:r>
              <ns6:t>Модель E5: https://huggingface.co/intfloat/e5-small-v2</ns6:t>
            </ns6:r>
          </ns6:p>
          <ns7:p xmlns:ns7="http://schemas.openxmlformats.org/drawingml/2006/main">
            <ns7:r>
              <ns7:t>Модель BGE: https://huggingface.co/BAAI/bge-small-en-v1.5</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ns0:t>
            </ns0:r>
          </ns0:p>
          <ns1:p xmlns:ns1="http://schemas.openxmlformats.org/drawingml/2006/main">
            <ns1:r>
              <ns1:t>RRF означает слияние по обратным рангам. Для каждого фрагмента смотрим его место в выдаче BM25, E5 и BGE. Каждый список, в котором он найден, добавляет один, деленный на шестьдесят плюс место. Эти вклады складываем и сортируем фрагменты по сумме. У трех систем одинаковый вес.</ns1:t>
            </ns1:r>
          </ns1:p>
          <ns2:p xmlns:ns2="http://schemas.openxmlformats.org/drawingml/2006/main">
            <ns2:r>
              <ns2:t>Например, фрагмент попал в первые L результатов E5 и BGE, но не попал в первые L результатов BM25. Тогда складываются только два вклада: от E5 и BGE. BM25 этому фрагменту ничего не добавляет. Фрагмент при этом остается кандидатом для итоговой выдачи RRF.</ns2:t>
            </ns2:r>
          </ns2:p>
          <ns3:p xmlns:ns3="http://schemas.openxmlformats.org/drawingml/2006/main">
            <ns3:r>
              <ns3:t>Поэтому RRF объединяет позиции, а не усредняет исходные баллы трех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На слайде приведены основные работы и ссылки на использованные методы и наборы данных.</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ns3:p xmlns:ns3="http://schemas.openxmlformats.org/drawingml/2006/main">
            <ns3:r>
              <ns3:t>MS MARCO: https://arxiv.org/abs/1611.09268</ns3:t>
            </ns3:r>
          </ns3:p>
          <ns4:p xmlns:ns4="http://schemas.openxmlformats.org/drawingml/2006/main">
            <ns4:r>
              <ns4:t>Natural Questions: https://aclanthology.org/Q19-1026/</ns4:t>
            </ns4:r>
          </ns4:p>
          <ns5:p xmlns:ns5="http://schemas.openxmlformats.org/drawingml/2006/main">
            <ns5:r>
              <ns5:t>BEIR: https://arxiv.org/abs/2104.08663</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Wang et al. MiniLM. 2020. https://arxiv.org/abs/2002.10957</ns10:t>
            </ns10:r>
          </ns10:p>
          <ns11:p xmlns:ns11="http://schemas.openxmlformats.org/drawingml/2006/main">
            <ns11:r>
              <ns11:t>Исходная модель: https://huggingface.co/cross-encoder/ms-marco-MiniLM-L6-v2</ns11:t>
            </ns11:r>
          </ns11:p>
          <ns12:p xmlns:ns12="http://schemas.openxmlformats.org/drawingml/2006/main">
            <ns12:r>
              <ns12:t>Cormack, Clarke, Büttcher. Reciprocal Rank Fusion outperforms Condorcet and individual Rank Learning Methods. SIGIR 2009. https://doi.org/10.1145/1571941.1572114</ns12:t>
            </ns12:r>
          </ns12:p>
          <ns13:p xmlns:ns13="http://schemas.openxmlformats.org/drawingml/2006/main">
            <ns13:r>
              <ns13:t>MS MARCO Passage Ranking v1. https://ir-datasets.com/msmarco-passage.html#msmarco-passage/dev</ns13:t>
            </ns13:r>
          </ns13:p>
          <ns14:p xmlns:ns14="http://schemas.openxmlformats.org/drawingml/2006/main">
            <ns14:r>
              <ns14:t>Архив запросов: https://msmarco.z22.web.core.windows.net/msmarcoranking/queries.tar.gz</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101 093 запроса содержит полная dev-часть MS MARCO Passage Ranking v1. Мы использовали именно этот набор, без отбора до 101 тысячи из более крупной выборки. Его стандартная оценочная подвыборка dev/small содержит 6 980 запросов. Число около 140 тысяч к этому набору не относится.</ns0:t>
            </ns0:r>
          </ns0:p>
          <ns1:p xmlns:ns1="http://schemas.openxmlformats.org/drawingml/2006/main">
            <ns1:r>
              <ns1: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ns1:t>
            </ns1:r>
          </ns1:p>
          <ns2:p xmlns:ns2="http://schemas.openxmlformats.org/drawingml/2006/main">
            <ns2:r>
              <ns2:t>Дообучение нашего судьи и его локальная проверка выполнялись на ручной подвыборке из dev/small. Мы отдельно разделили ее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ns2:t>
            </ns2:r>
          </ns2:p>
          <ns3:p xmlns:ns3="http://schemas.openxmlformats.org/drawingml/2006/main">
            <ns3:r>
              <ns3:t>Это объем подготовленной ручной подвыборки, на которой выполнен эксперимент. Ее принадлежность dev/small проверена по идентификаторам. Мы не рассматриваем ее как случайную или репрезентативную выборку из всего MS MARCO. Выводы ручного эксперимента относятся к этой подвыборке и ее кандидатным пулам.</ns3:t>
            </ns3:r>
          </ns3:p>
          <ns4:p xmlns:ns4="http://schemas.openxmlformats.org/drawingml/2006/main">
            <ns4:r>
              <ns4:t>Для E5 и BGE сохранены выдачи для всех 101 093 запросов. У BM25 нет выдач для трех запросов, а некоторые списки короче заданной глубины. Используем доступные результаты. Если фрагмент не попал в первые L результатов одной системы, она не добавляет ему балл RRF, но другие системы могут его добавить.</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MS MARCO Passage Ranking v1. https://ir-datasets.com/msmarco-passage.html#msmarco-passage/dev</ns7:t>
            </ns7:r>
          </ns7:p>
          <ns8:p xmlns:ns8="http://schemas.openxmlformats.org/drawingml/2006/main">
            <ns8:r>
              <ns8:t>Архив запросов: https://msmarco.z22.web.core.windows.net/msmarcoranking/queries.tar.gz</ns8:t>
            </ns8:r>
          </ns8:p>
          <ns9:p xmlns:ns9="http://schemas.openxmlformats.org/drawingml/2006/main">
            <ns9:r>
              <ns9:t>MS MARCO Passage Ranking dev/small. https://ir-datasets.com/msmarco-passage.html#msmarco-passage/dev/small</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_rels/slide2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1.xml"/></Relationships>
</file>

<file path=ppt/slides/_rels/slide22.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2.xml"/></Relationships>
</file>

<file path=ppt/slides/_rels/slide23.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3.xml"/></Relationships>
</file>

<file path=ppt/slides/_rels/slide24.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4.xml"/><Relationship Id="rLink4" Type="http://schemas.openxmlformats.org/officeDocument/2006/relationships/hyperlink" Target="https://arxiv.org/abs/1611.09268" TargetMode="External"/><Relationship Id="rLink7" Type="http://schemas.openxmlformats.org/officeDocument/2006/relationships/hyperlink" Target="https://aclanthology.org/Q19-1026" TargetMode="External"/><Relationship Id="rLink10" Type="http://schemas.openxmlformats.org/officeDocument/2006/relationships/hyperlink" Target="https://arxiv.org/abs/2104.08663" TargetMode="External"/><Relationship Id="rLink13" Type="http://schemas.openxmlformats.org/officeDocument/2006/relationships/hyperlink" Target="https://doi.org/10.1561/1500000019" TargetMode="External"/><Relationship Id="rLink16" Type="http://schemas.openxmlformats.org/officeDocument/2006/relationships/hyperlink" Target="https://arxiv.org/abs/2212.03533" TargetMode="External"/><Relationship Id="rLink19" Type="http://schemas.openxmlformats.org/officeDocument/2006/relationships/hyperlink" Target="https://huggingface.co/BAAI/bge-small-en-v1.5" TargetMode="External"/><Relationship Id="rLink22" Type="http://schemas.openxmlformats.org/officeDocument/2006/relationships/hyperlink" Target="https://arxiv.org/abs/2002.10957" TargetMode="External"/><Relationship Id="rLink25" Type="http://schemas.openxmlformats.org/officeDocument/2006/relationships/hyperlink" Target="https://doi.org/10.1145/1571941.1572114" TargetMode="External"/></Relationships>
</file>

<file path=ppt/slides/_rels/slide25.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5.xml"/></Relationships>
</file>

<file path=ppt/slides/_rels/slide26.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C95236"/>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анные для ручной доразметки">
            <a:extLst xmlns:a="http://schemas.openxmlformats.org/drawingml/2006/main">
              <a:ext uri="{FF2B5EF4-FFF2-40B4-BE49-F238E27FC236}">
                <a16:creationId xmlns:a16="http://schemas.microsoft.com/office/drawing/2014/main" id="{A34BA3CC-C0E2-4636-87E7-42AF23E254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xmlns:a="http://schemas.openxmlformats.org/drawingml/2006/main">
              <a:ext uri="{FF2B5EF4-FFF2-40B4-BE49-F238E27FC236}">
                <a16:creationId xmlns:a16="http://schemas.microsoft.com/office/drawing/2014/main" id="{2353822A-C676-4110-936E-E30726F7D8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xmlns:a="http://schemas.openxmlformats.org/drawingml/2006/main">
              <a:ext uri="{FF2B5EF4-FFF2-40B4-BE49-F238E27FC236}">
                <a16:creationId xmlns:a16="http://schemas.microsoft.com/office/drawing/2014/main" id="{C4E448FC-7633-44A8-ACC7-B8922870AD71}"/>
              </a:ext>
            </a:extLst>
          </p:cNvPr>
          <p:cNvSpPr>
            <a:spLocks xmlns:a="http://schemas.openxmlformats.org/drawingml/2006/main" noGrp="1"/>
          </p:cNvSpPr>
          <p:nvPr/>
        </p:nvSpPr>
        <p:spPr>
          <a:xfrm xmlns:a="http://schemas.openxmlformats.org/drawingml/2006/main">
            <a:off x="609600" y="1609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xmlns:a="http://schemas.openxmlformats.org/drawingml/2006/main">
              <a:ext uri="{FF2B5EF4-FFF2-40B4-BE49-F238E27FC236}">
                <a16:creationId xmlns:a16="http://schemas.microsoft.com/office/drawing/2014/main" id="{2ED41703-E32F-4B8B-8DCC-4A841119316C}"/>
              </a:ext>
            </a:extLst>
          </p:cNvPr>
          <p:cNvSpPr>
            <a:spLocks xmlns:a="http://schemas.openxmlformats.org/drawingml/2006/main" noGrp="1"/>
          </p:cNvSpPr>
          <p:nvPr/>
        </p:nvSpPr>
        <p:spPr>
          <a:xfrm xmlns:a="http://schemas.openxmlformats.org/drawingml/2006/main">
            <a:off x="609600" y="2476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xmlns:a="http://schemas.openxmlformats.org/drawingml/2006/main">
              <a:ext uri="{FF2B5EF4-FFF2-40B4-BE49-F238E27FC236}">
                <a16:creationId xmlns:a16="http://schemas.microsoft.com/office/drawing/2014/main" id="{2DB9E5FA-2063-4D9D-8B35-5CB16277C07E}"/>
              </a:ext>
            </a:extLst>
          </p:cNvPr>
          <p:cNvSpPr>
            <a:spLocks xmlns:a="http://schemas.openxmlformats.org/drawingml/2006/main" noGrp="1"/>
          </p:cNvSpPr>
          <p:nvPr/>
        </p:nvSpPr>
        <p:spPr>
          <a:xfrm xmlns:a="http://schemas.openxmlformats.org/drawingml/2006/main">
            <a:off x="60960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xmlns:a="http://schemas.openxmlformats.org/drawingml/2006/main">
              <a:ext uri="{FF2B5EF4-FFF2-40B4-BE49-F238E27FC236}">
                <a16:creationId xmlns:a16="http://schemas.microsoft.com/office/drawing/2014/main" id="{0C2A625A-9F0D-46DA-B13E-5D29811BAA5B}"/>
              </a:ext>
            </a:extLst>
          </p:cNvPr>
          <p:cNvSpPr>
            <a:spLocks xmlns:a="http://schemas.openxmlformats.org/drawingml/2006/main" noGrp="1"/>
          </p:cNvSpPr>
          <p:nvPr/>
        </p:nvSpPr>
        <p:spPr>
          <a:xfrm xmlns:a="http://schemas.openxmlformats.org/drawingml/2006/main">
            <a:off x="609600" y="38481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xmlns:a="http://schemas.openxmlformats.org/drawingml/2006/main">
              <a:ext uri="{FF2B5EF4-FFF2-40B4-BE49-F238E27FC236}">
                <a16:creationId xmlns:a16="http://schemas.microsoft.com/office/drawing/2014/main" id="{334388CF-080F-4290-9A46-4B6903A25C6E}"/>
              </a:ext>
            </a:extLst>
          </p:cNvPr>
          <p:cNvSpPr>
            <a:spLocks xmlns:a="http://schemas.openxmlformats.org/drawingml/2006/main" noGrp="1"/>
          </p:cNvSpPr>
          <p:nvPr/>
        </p:nvSpPr>
        <p:spPr>
          <a:xfrm xmlns:a="http://schemas.openxmlformats.org/drawingml/2006/main">
            <a:off x="609600" y="5000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xmlns:a="http://schemas.openxmlformats.org/drawingml/2006/main">
              <a:ext uri="{FF2B5EF4-FFF2-40B4-BE49-F238E27FC236}">
                <a16:creationId xmlns:a16="http://schemas.microsoft.com/office/drawing/2014/main" id="{22B42E78-BD55-4445-A8FE-4309BC4BC35B}"/>
              </a:ext>
            </a:extLst>
          </p:cNvPr>
          <p:cNvSpPr>
            <a:spLocks xmlns:a="http://schemas.openxmlformats.org/drawingml/2006/main" noGrp="1"/>
          </p:cNvSpPr>
          <p:nvPr/>
        </p:nvSpPr>
        <p:spPr>
          <a:xfrm xmlns:a="http://schemas.openxmlformats.org/drawingml/2006/main">
            <a:off x="6229350" y="2476500"/>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xmlns:a="http://schemas.openxmlformats.org/drawingml/2006/main">
              <a:ext uri="{FF2B5EF4-FFF2-40B4-BE49-F238E27FC236}">
                <a16:creationId xmlns:a16="http://schemas.microsoft.com/office/drawing/2014/main" id="{59C256A8-9894-4A34-8A0F-574E12AFEF55}"/>
              </a:ext>
            </a:extLst>
          </p:cNvPr>
          <p:cNvSpPr>
            <a:spLocks xmlns:a="http://schemas.openxmlformats.org/drawingml/2006/main" noGrp="1"/>
          </p:cNvSpPr>
          <p:nvPr/>
        </p:nvSpPr>
        <p:spPr>
          <a:xfrm xmlns:a="http://schemas.openxmlformats.org/drawingml/2006/main">
            <a:off x="622935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xmlns:a="http://schemas.openxmlformats.org/drawingml/2006/main">
              <a:ext uri="{FF2B5EF4-FFF2-40B4-BE49-F238E27FC236}">
                <a16:creationId xmlns:a16="http://schemas.microsoft.com/office/drawing/2014/main" id="{CBA07B85-828A-40A0-83EE-7F24D9A0ADCF}"/>
              </a:ext>
            </a:extLst>
          </p:cNvPr>
          <p:cNvSpPr>
            <a:spLocks xmlns:a="http://schemas.openxmlformats.org/drawingml/2006/main" noGrp="1"/>
          </p:cNvSpPr>
          <p:nvPr/>
        </p:nvSpPr>
        <p:spPr>
          <a:xfrm xmlns:a="http://schemas.openxmlformats.org/drawingml/2006/main">
            <a:off x="6229350" y="38481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xmlns:a="http://schemas.openxmlformats.org/drawingml/2006/main">
              <a:ext uri="{FF2B5EF4-FFF2-40B4-BE49-F238E27FC236}">
                <a16:creationId xmlns:a16="http://schemas.microsoft.com/office/drawing/2014/main" id="{0CA45C8D-9073-4691-848F-B62AC53E5DFD}"/>
              </a:ext>
            </a:extLst>
          </p:cNvPr>
          <p:cNvSpPr>
            <a:spLocks xmlns:a="http://schemas.openxmlformats.org/drawingml/2006/main" noGrp="1"/>
          </p:cNvSpPr>
          <p:nvPr/>
        </p:nvSpPr>
        <p:spPr>
          <a:xfrm xmlns:a="http://schemas.openxmlformats.org/drawingml/2006/main">
            <a:off x="6229350" y="5000625"/>
            <a:ext cx="5353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
            <a:extLst xmlns:a="http://schemas.openxmlformats.org/drawingml/2006/main">
              <a:ext uri="{FF2B5EF4-FFF2-40B4-BE49-F238E27FC236}">
                <a16:creationId xmlns:a16="http://schemas.microsoft.com/office/drawing/2014/main" id="{5F53ADBC-1693-4423-8E87-5C9EA3A3EE22}"/>
              </a:ext>
            </a:extLst>
          </p:cNvPr>
          <p:cNvSpPr>
            <a:spLocks xmlns:a="http://schemas.openxmlformats.org/drawingml/2006/main" noGrp="1"/>
          </p:cNvSpPr>
          <p:nvPr/>
        </p:nvSpPr>
        <p:spPr>
          <a:xfrm xmlns:a="http://schemas.openxmlformats.org/drawingml/2006/main">
            <a:off x="609600" y="221932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13" name="Доразметка охватывает отобранных кандидатов для каждого запроса.">
            <a:extLst xmlns:a="http://schemas.openxmlformats.org/drawingml/2006/main">
              <a:ext uri="{FF2B5EF4-FFF2-40B4-BE49-F238E27FC236}">
                <a16:creationId xmlns:a16="http://schemas.microsoft.com/office/drawing/2014/main" id="{1E9E408D-C93E-45C3-95F9-3F5EC4587A20}"/>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E5EEFA26-A836-4D17-B606-DFD02F5001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175" b="1">
                <ns0:solidFill>
                  <ns0:srgbClr val="C95236"/>
                </ns0:solidFill>
                <ns0:latin typeface="Arial"/>
                <ns0:ea typeface="Arial"/>
                <ns0:cs typeface="Arial"/>
              </ns0:defRPr>
            </ns0:pPr>
            <ns0:r>
              <ns0:rPr sz="2175" b="1">
                <ns0:solidFill>
                  <ns0:srgbClr val="C95236"/>
                </ns0:solidFill>
                <ns0:latin typeface="Arial"/>
                <ns0:ea typeface="Arial"/>
                <ns0:cs typeface="Arial"/>
              </ns0:rPr>
              <ns0:t>L = K. Более глубокие списки могут менять итоговый топ-10.</ns0:t>
            </ns0:r>
          </ns0: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725" b="0">
                <ns0:solidFill>
                  <ns0:srgbClr val="526970"/>
                </ns0:solidFill>
                <ns0:latin typeface="Arial"/>
                <ns0:ea typeface="Arial"/>
                <ns0:cs typeface="Arial"/>
              </ns0:defRPr>
            </ns0:pPr>
            <ns0:r>
              <ns0:rPr sz="1725" b="0">
                <ns0:solidFill>
                  <ns0:srgbClr val="526970"/>
                </ns0:solidFill>
                <ns0:latin typeface="Arial"/>
                <ns0:ea typeface="Arial"/>
                <ns0:cs typeface="Arial"/>
              </ns0:rPr>
              <ns0:t>Отсутствие оценки дает нулевой вклад в метрику, но не означает нерелевантность.</ns0:t>
            </ns0:r>
          </ns0: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325" b="1">
                <ns0:solidFill>
                  <ns0:srgbClr val="007F78"/>
                </ns0:solidFill>
                <ns0:latin typeface="Arial"/>
                <ns0:ea typeface="Arial"/>
                <ns0:cs typeface="Arial"/>
              </ns0:defRPr>
            </ns0:pPr>
            <ns0:r>
              <ns0:rPr sz="2325" b="1">
                <ns0:solidFill>
                  <ns0:srgbClr val="007F78"/>
                </ns0:solidFill>
                <ns0:latin typeface="Arial"/>
                <ns0:ea typeface="Arial"/>
                <ns0:cs typeface="Arial"/>
              </ns0:rPr>
              <ns0:t>В обоих расчетах используются только псевдометки судьи</ns0:t>
            </ns0:r>
          </ns0: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Число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Сравнение RRF и E5</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Базовое сравнение</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Без 1 179 запросов</a:t>
                      </a:r>
                    </a:p>
                    <a:p>
                      <a:r>
                        <a:rPr sz="1875" b="0">
                          <a:solidFill>
                            <a:srgbClr val="182B30"/>
                          </a:solidFill>
                          <a:latin typeface="Arial"/>
                          <a:ea typeface="Arial"/>
                          <a:cs typeface="Arial"/>
                        </a:rPr>
                        <a:t>ручной подвыборки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На тех же K лидирует</a:t>
                      </a:r>
                    </a:p>
                    <a:p>
                      <a:r>
                        <a:rPr sz="1875" b="0">
                          <a:solidFill>
                            <a:srgbClr val="182B30"/>
                          </a:solidFill>
                          <a:latin typeface="Arial"/>
                          <a:ea typeface="Arial"/>
                          <a:cs typeface="Arial"/>
                        </a:rPr>
                        <a:t>та же система</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950" b="0">
                <ns0:solidFill>
                  <ns0:srgbClr val="C9DDDA"/>
                </ns0:solidFill>
                <ns0:latin typeface="Arial"/>
                <ns0:ea typeface="Arial"/>
                <ns0:cs typeface="Arial"/>
              </ns0:defRPr>
            </ns0:pPr>
            <ns0:r>
              <ns0:rPr sz="1950" b="0">
                <ns0:solidFill>
                  <ns0:srgbClr val="C9DDDA"/>
                </ns0:solidFill>
                <ns0:latin typeface="Arial"/>
                <ns0:ea typeface="Arial"/>
                <ns0:cs typeface="Arial"/>
              </ns0:rPr>
              <ns0:t>Направления дальнейшего исследования</ns0:t>
            </ns0:r>
          </ns0:p>
          <ns1:p xmlns:ns1="http://schemas.openxmlformats.org/drawingml/2006/main">
            <ns1:pPr algn="l">
              <ns1:defRPr sz="1950" b="0">
                <ns1:solidFill>
                  <ns1:srgbClr val="C9DDDA"/>
                </ns1:solidFill>
                <ns1:latin typeface="Arial"/>
                <ns1:ea typeface="Arial"/>
                <ns1:cs typeface="Arial"/>
              </ns1:defRPr>
            </ns1:pPr>
            <ns1:r>
              <ns1:rPr sz="1950" b="0">
                <ns1:solidFill>
                  <ns1:srgbClr val="C9DDDA"/>
                </ns1:solidFill>
                <ns1:latin typeface="Arial"/>
                <ns1:ea typeface="Arial"/>
                <ns1:cs typeface="Arial"/>
              </ns1:rPr>
              <ns1:t>Более сильные судьи, эталонный ответ, независимая ручная проверка.</ns1:t>
            </ns1:r>
          </ns1: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Проверка качества ручных данных</ns0:t>
            </ns0:r>
          </ns0: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defRPr sz="2025" b="0">
                <ns1:solidFill>
                  <ns1:srgbClr val="526970"/>
                </ns1:solidFill>
                <ns1:latin typeface="Arial"/>
                <ns1:ea typeface="Arial"/>
                <ns1:cs typeface="Arial"/>
              </ns1:defRPr>
            </ns1:pPr>
            <ns1:r>
              <ns1:rPr sz="2025" b="0">
                <ns1:solidFill>
                  <ns1:srgbClr val="526970"/>
                </ns1:solidFill>
                <ns1:latin typeface="Arial"/>
                <ns1:ea typeface="Arial"/>
                <ns1:cs typeface="Arial"/>
              </ns1:rPr>
              <ns1:t>Ручная разметка: проверка без 23 запросов</ns1:t>
            </ns1:r>
          </ns1: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defRPr sz="2250" b="1">
                <ns2:solidFill>
                  <ns2:srgbClr val="007F78"/>
                </ns2:solidFill>
                <ns2:latin typeface="Arial"/>
                <ns2:ea typeface="Arial"/>
                <ns2:cs typeface="Arial"/>
              </ns2:defRPr>
            </ns2:pPr>
            <ns2:r>
              <ns2:rPr sz="2250" b="1">
                <ns2:solidFill>
                  <ns2:srgbClr val="007F78"/>
                </ns2:solidFill>
                <ns2:latin typeface="Arial"/>
                <ns2:ea typeface="Arial"/>
                <ns2:cs typeface="Arial"/>
              </ns2:rPr>
              <ns2:t>29 пар с метками 3, 20 или 22; 5 пар без текста</ns2:t>
            </ns2:r>
          </ns2: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defRPr sz="2100" b="0">
                <ns3:solidFill>
                  <ns3:srgbClr val="182B30"/>
                </ns3:solidFill>
                <ns3:latin typeface="Arial"/>
                <ns3:ea typeface="Arial"/>
                <ns3:cs typeface="Arial"/>
              </ns3:defRPr>
            </ns3:pPr>
            <ns3:r>
              <ns3:rPr sz="2100" b="0">
                <ns3:solidFill>
                  <ns3:srgbClr val="182B30"/>
                </ns3:solidFill>
                <ns3:latin typeface="Arial"/>
                <ns3:ea typeface="Arial"/>
                <ns3:cs typeface="Arial"/>
              </ns3:rPr>
              <ns3:t>Затронуты 23 запроса. После исключения осталось 1 156.</ns3:t>
            </ns3:r>
          </ns3: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defRPr sz="1575" b="0">
                <ns4:solidFill>
                  <ns4:srgbClr val="526970"/>
                </ns4:solidFill>
                <ns4:latin typeface="Arial"/>
                <ns4:ea typeface="Arial"/>
                <ns4:cs typeface="Arial"/>
              </ns4:defRPr>
            </ns4:pPr>
            <ns4:r>
              <ns4:rPr sz="1575" b="0">
                <ns4:solidFill>
                  <ns4:srgbClr val="526970"/>
                </ns4:solidFill>
                <ns4:latin typeface="Arial"/>
                <ns4:ea typeface="Arial"/>
                <ns4:cs typeface="Arial"/>
              </ns4:rPr>
              <ns4:t>Коды вне шкалы 0/1/2 не считали подтвержденными оценками.</ns4:t>
            </ns4:r>
          </ns4: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Судья с эталонным ответом</ns0:t>
            </ns0:r>
          </ns0: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Полная dev-часть для масштабной оценки">
            <a:extLst xmlns:a="http://schemas.openxmlformats.org/drawingml/2006/main">
              <a:ext uri="{FF2B5EF4-FFF2-40B4-BE49-F238E27FC236}">
                <a16:creationId xmlns:a16="http://schemas.microsoft.com/office/drawing/2014/main" id="{2B9A8261-9949-4488-9D48-53C08C66182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xmlns:a="http://schemas.openxmlformats.org/drawingml/2006/main">
              <a:ext uri="{FF2B5EF4-FFF2-40B4-BE49-F238E27FC236}">
                <a16:creationId xmlns:a16="http://schemas.microsoft.com/office/drawing/2014/main" id="{15478C3A-5184-42AE-8DFA-18DE758B61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xmlns:a="http://schemas.openxmlformats.org/drawingml/2006/main">
              <a:ext uri="{FF2B5EF4-FFF2-40B4-BE49-F238E27FC236}">
                <a16:creationId xmlns:a16="http://schemas.microsoft.com/office/drawing/2014/main" id="{2077CA7F-B524-4CC1-842C-6AF4B2D39327}"/>
              </a:ext>
            </a:extLst>
          </p:cNvPr>
          <p:cNvSpPr>
            <a:spLocks xmlns:a="http://schemas.openxmlformats.org/drawingml/2006/main" noGrp="1"/>
          </p:cNvSpPr>
          <p:nvPr/>
        </p:nvSpPr>
        <p:spPr>
          <a:xfrm xmlns:a="http://schemas.openxmlformats.org/drawingml/2006/main">
            <a:off x="609600" y="16954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7F78"/>
                </a:solidFill>
                <a:latin typeface="Arial"/>
                <a:ea typeface="Arial"/>
                <a:cs typeface="Arial"/>
              </a:defRPr>
            </a:defPPr>
          </a:lstStyle>
          <a:p xmlns:a="http://schemas.openxmlformats.org/drawingml/2006/main">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xmlns:a="http://schemas.openxmlformats.org/drawingml/2006/main">
              <a:ext uri="{FF2B5EF4-FFF2-40B4-BE49-F238E27FC236}">
                <a16:creationId xmlns:a16="http://schemas.microsoft.com/office/drawing/2014/main" id="{69389898-20D0-4BEF-9DC9-B302A76FDE4C}"/>
              </a:ext>
            </a:extLst>
          </p:cNvPr>
          <p:cNvSpPr>
            <a:spLocks xmlns:a="http://schemas.openxmlformats.org/drawingml/2006/main" noGrp="1"/>
          </p:cNvSpPr>
          <p:nvPr/>
        </p:nvSpPr>
        <p:spPr>
          <a:xfrm xmlns:a="http://schemas.openxmlformats.org/drawingml/2006/main">
            <a:off x="609600" y="28575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82B30"/>
                </a:solidFill>
                <a:latin typeface="Arial"/>
                <a:ea typeface="Arial"/>
                <a:cs typeface="Arial"/>
              </a:defRPr>
            </a:defPPr>
          </a:lstStyle>
          <ns0:p xmlns:ns0="http://schemas.openxmlformats.org/drawingml/2006/main">
            <ns0:pPr algn="l">
              <ns0:defRPr sz="2625" b="1">
                <ns0:solidFill>
                  <ns0:srgbClr val="182B30"/>
                </ns0:solidFill>
                <ns0:latin typeface="Arial"/>
                <ns0:ea typeface="Arial"/>
                <ns0:cs typeface="Arial"/>
              </ns0:defRPr>
            </ns0:pPr>
            <ns0:r>
              <ns0:rPr sz="2625" b="1">
                <ns0:solidFill>
                  <ns0:srgbClr val="182B30"/>
                </ns0:solidFill>
                <ns0:latin typeface="Arial"/>
                <ns0:ea typeface="Arial"/>
                <ns0:cs typeface="Arial"/>
              </ns0:rPr>
              <ns0:t>запроса в полной dev-части</ns0:t>
            </ns0:r>
          </ns0:p>
        </p:txBody>
      </p:sp>
      <p:sp>
        <p:nvSpPr>
          <p:cNvPr id="5" name="MS MARCO Passage Ranking v1">
            <a:extLst xmlns:a="http://schemas.openxmlformats.org/drawingml/2006/main">
              <a:ext uri="{FF2B5EF4-FFF2-40B4-BE49-F238E27FC236}">
                <a16:creationId xmlns:a16="http://schemas.microsoft.com/office/drawing/2014/main" id="{51CC0684-1327-4BC3-A025-1397E4CE659B}"/>
              </a:ext>
            </a:extLst>
          </p:cNvPr>
          <p:cNvSpPr>
            <a:spLocks xmlns:a="http://schemas.openxmlformats.org/drawingml/2006/main" noGrp="1"/>
          </p:cNvSpPr>
          <p:nvPr/>
        </p:nvSpPr>
        <p:spPr>
          <a:xfrm xmlns:a="http://schemas.openxmlformats.org/drawingml/2006/main">
            <a:off x="609600" y="34575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
            <a:extLst xmlns:a="http://schemas.openxmlformats.org/drawingml/2006/main">
              <a:ext uri="{FF2B5EF4-FFF2-40B4-BE49-F238E27FC236}">
                <a16:creationId xmlns:a16="http://schemas.microsoft.com/office/drawing/2014/main" id="{700D9565-FB0D-48DF-A6A6-5CB34B98F20D}"/>
              </a:ext>
            </a:extLst>
          </p:cNvPr>
          <p:cNvSpPr>
            <a:spLocks xmlns:a="http://schemas.openxmlformats.org/drawingml/2006/main" noGrp="1"/>
          </p:cNvSpPr>
          <p:nvPr/>
        </p:nvSpPr>
        <p:spPr>
          <a:xfrm xmlns:a="http://schemas.openxmlformats.org/drawingml/2006/main">
            <a:off x="609600" y="4114800"/>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7" name="Для этих запросов подготовили поисковые выдачи.&#10;После обучения судья о">
            <a:extLst xmlns:a="http://schemas.openxmlformats.org/drawingml/2006/main">
              <a:ext uri="{FF2B5EF4-FFF2-40B4-BE49-F238E27FC236}">
                <a16:creationId xmlns:a16="http://schemas.microsoft.com/office/drawing/2014/main" id="{6A8F38E8-5CB3-4209-9F32-3162AF293AF6}"/>
              </a:ext>
            </a:extLst>
          </p:cNvPr>
          <p:cNvSpPr>
            <a:spLocks xmlns:a="http://schemas.openxmlformats.org/drawingml/2006/main" noGrp="1"/>
          </p:cNvSpPr>
          <p:nvPr/>
        </p:nvSpPr>
        <p:spPr>
          <a:xfrm xmlns:a="http://schemas.openxmlformats.org/drawingml/2006/main">
            <a:off x="609600" y="44291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0"/>
                </a:solidFill>
                <a:latin typeface="Arial"/>
                <a:ea typeface="Arial"/>
                <a:cs typeface="Arial"/>
              </a:defRPr>
            </a:defPPr>
          </a:lstStyle>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
        <p:nvSpPr>
          <p:cNvPr id="8" name="101 093 запроса в эксперименте совпадают с полной dev-частью по иденти">
            <a:extLst xmlns:a="http://schemas.openxmlformats.org/drawingml/2006/main">
              <a:ext uri="{FF2B5EF4-FFF2-40B4-BE49-F238E27FC236}">
                <a16:creationId xmlns:a16="http://schemas.microsoft.com/office/drawing/2014/main" id="{9F975805-5422-4909-8A78-974A095BC933}"/>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ns1:p xmlns:ns1="http://schemas.openxmlformats.org/drawingml/2006/main">
            <ns1:pPr algn="l">
              <ns1:defRPr sz="1575" b="0">
                <ns1:solidFill>
                  <ns1:srgbClr val="526970"/>
                </ns1:solidFill>
                <ns1:latin typeface="Arial"/>
                <ns1:ea typeface="Arial"/>
                <ns1:cs typeface="Arial"/>
              </ns1:defRPr>
            </ns1:pPr>
            <ns1:r>
              <ns1:rPr sz="1575" b="0">
                <ns1:solidFill>
                  <ns1:srgbClr val="526970"/>
                </ns1:solidFill>
                <ns1:latin typeface="Arial"/>
                <ns1:ea typeface="Arial"/>
                <ns1:cs typeface="Arial"/>
              </ns1:rPr>
              <ns1:t>Судья оценивает всю dev-часть; дообучение проходило на ручной подвыборке.</ns1:t>
            </ns1:r>
          </ns1:p>
        </p:txBody>
      </p:sp>
    </p:spTree>
    <p:extLst>
      <p:ext uri="{BB962C8B-B14F-4D97-AF65-F5344CB8AC3E}">
        <p14:creationId xmlns:p14="http://schemas.microsoft.com/office/powerpoint/2010/main" val="17833355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D5774A0-A021-4D39-82EC-B8310EB78AF8}"/>
              </a:ext>
            </a:extLst>
          </p:cNvPr>
          <p:cNvCxnSpPr>
            <a:stCxn xmlns:a="http://schemas.openxmlformats.org/drawingml/2006/main" id="8" idx="3"/>
            <a:endCxn xmlns:a="http://schemas.openxmlformats.org/drawingml/2006/main" id="9" idx="1"/>
          </p:cNvCxnSpPr>
          <p:nvPr/>
        </p:nvCxnSpPr>
        <p:spPr>
          <a:xfrm xmlns:a="http://schemas.openxmlformats.org/drawingml/2006/main">
            <a:off x="8810625"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3" name="">
            <a:extLst xmlns:a="http://schemas.openxmlformats.org/drawingml/2006/main">
              <a:ext uri="{FF2B5EF4-FFF2-40B4-BE49-F238E27FC236}">
                <a16:creationId xmlns:a16="http://schemas.microsoft.com/office/drawing/2014/main" id="{94519830-39EE-49CE-8B96-37BCA4255EF2}"/>
              </a:ext>
            </a:extLst>
          </p:cNvPr>
          <p:cNvCxnSpPr>
            <a:stCxn xmlns:a="http://schemas.openxmlformats.org/drawingml/2006/main" id="7" idx="3"/>
            <a:endCxn xmlns:a="http://schemas.openxmlformats.org/drawingml/2006/main" id="8" idx="1"/>
          </p:cNvCxnSpPr>
          <p:nvPr/>
        </p:nvCxnSpPr>
        <p:spPr>
          <a:xfrm xmlns:a="http://schemas.openxmlformats.org/drawingml/2006/main">
            <a:off x="6210300"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2" name="">
            <a:extLst xmlns:a="http://schemas.openxmlformats.org/drawingml/2006/main">
              <a:ext uri="{FF2B5EF4-FFF2-40B4-BE49-F238E27FC236}">
                <a16:creationId xmlns:a16="http://schemas.microsoft.com/office/drawing/2014/main" id="{97DB1A34-F3A2-4ADF-B8B5-118B3E58EE3E}"/>
              </a:ext>
            </a:extLst>
          </p:cNvPr>
          <p:cNvCxnSpPr>
            <a:stCxn xmlns:a="http://schemas.openxmlformats.org/drawingml/2006/main" id="6" idx="3"/>
            <a:endCxn xmlns:a="http://schemas.openxmlformats.org/drawingml/2006/main" id="7" idx="1"/>
          </p:cNvCxnSpPr>
          <p:nvPr/>
        </p:nvCxnSpPr>
        <p:spPr>
          <a:xfrm xmlns:a="http://schemas.openxmlformats.org/drawingml/2006/main" flipV="1">
            <a:off x="2800350" y="356235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C5A5CD1C-C7B9-4EF6-82BE-EC948942575C}"/>
              </a:ext>
            </a:extLst>
          </p:cNvPr>
          <p:cNvCxnSpPr>
            <a:stCxn xmlns:a="http://schemas.openxmlformats.org/drawingml/2006/main" id="5" idx="3"/>
            <a:endCxn xmlns:a="http://schemas.openxmlformats.org/drawingml/2006/main" id="7" idx="1"/>
          </p:cNvCxnSpPr>
          <p:nvPr/>
        </p:nvCxnSpPr>
        <p:spPr>
          <a:xfrm xmlns:a="http://schemas.openxmlformats.org/drawingml/2006/main">
            <a:off x="2800350" y="3562350"/>
            <a:ext cx="8382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D63E2B75-ED35-40FB-B910-C5AF73868780}"/>
              </a:ext>
            </a:extLst>
          </p:cNvPr>
          <p:cNvCxnSpPr>
            <a:stCxn xmlns:a="http://schemas.openxmlformats.org/drawingml/2006/main" id="4" idx="3"/>
            <a:endCxn xmlns:a="http://schemas.openxmlformats.org/drawingml/2006/main" id="7" idx="1"/>
          </p:cNvCxnSpPr>
          <p:nvPr/>
        </p:nvCxnSpPr>
        <p:spPr>
          <a:xfrm xmlns:a="http://schemas.openxmlformats.org/drawingml/2006/main">
            <a:off x="2800350" y="262890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7" name="Пулы кандидатов для модели-судьи">
            <a:extLst xmlns:a="http://schemas.openxmlformats.org/drawingml/2006/main">
              <a:ext uri="{FF2B5EF4-FFF2-40B4-BE49-F238E27FC236}">
                <a16:creationId xmlns:a16="http://schemas.microsoft.com/office/drawing/2014/main" id="{41E850F8-10CA-44D8-BE1F-EE579E3500D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xmlns:a="http://schemas.openxmlformats.org/drawingml/2006/main">
              <a:ext uri="{FF2B5EF4-FFF2-40B4-BE49-F238E27FC236}">
                <a16:creationId xmlns:a16="http://schemas.microsoft.com/office/drawing/2014/main" id="{B8524155-95B6-4806-94B3-99C08507C3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xmlns:a="http://schemas.openxmlformats.org/drawingml/2006/main">
              <a:ext uri="{FF2B5EF4-FFF2-40B4-BE49-F238E27FC236}">
                <a16:creationId xmlns:a16="http://schemas.microsoft.com/office/drawing/2014/main" id="{BA938D0F-D1C3-4577-BBA3-93D726C721B6}"/>
              </a:ext>
            </a:extLst>
          </p:cNvPr>
          <p:cNvSpPr>
            <a:spLocks xmlns:a="http://schemas.openxmlformats.org/drawingml/2006/main" noGrp="1"/>
          </p:cNvSpPr>
          <p:nvPr/>
        </p:nvSpPr>
        <p:spPr>
          <a:xfrm xmlns:a="http://schemas.openxmlformats.org/drawingml/2006/main">
            <a:off x="609600" y="154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K задаёт число результатов от каждого поискового метода</a:t>
            </a:r>
          </a:p>
        </p:txBody>
      </p:sp>
      <p:sp>
        <p:nvSpPr>
          <p:cNvPr id="4" name="BM25&#10;первые K">
            <a:extLst xmlns:a="http://schemas.openxmlformats.org/drawingml/2006/main">
              <a:ext uri="{FF2B5EF4-FFF2-40B4-BE49-F238E27FC236}">
                <a16:creationId xmlns:a16="http://schemas.microsoft.com/office/drawing/2014/main" id="{D1493ED4-A8A6-456B-BE4A-A6C59408A12F}"/>
              </a:ext>
            </a:extLst>
          </p:cNvPr>
          <p:cNvSpPr>
            <a:spLocks xmlns:a="http://schemas.openxmlformats.org/drawingml/2006/main" noGrp="1"/>
          </p:cNvSpPr>
          <p:nvPr/>
        </p:nvSpPr>
        <p:spPr>
          <a:xfrm xmlns:a="http://schemas.openxmlformats.org/drawingml/2006/main">
            <a:off x="609600" y="22383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xmlns:a="http://schemas.openxmlformats.org/drawingml/2006/main">
              <a:ext uri="{FF2B5EF4-FFF2-40B4-BE49-F238E27FC236}">
                <a16:creationId xmlns:a16="http://schemas.microsoft.com/office/drawing/2014/main" id="{9B4EC669-F96C-4AF6-BCE6-FB69AF2E0436}"/>
              </a:ext>
            </a:extLst>
          </p:cNvPr>
          <p:cNvSpPr>
            <a:spLocks xmlns:a="http://schemas.openxmlformats.org/drawingml/2006/main" noGrp="1"/>
          </p:cNvSpPr>
          <p:nvPr/>
        </p:nvSpPr>
        <p:spPr>
          <a:xfrm xmlns:a="http://schemas.openxmlformats.org/drawingml/2006/main">
            <a:off x="609600" y="317182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xmlns:a="http://schemas.openxmlformats.org/drawingml/2006/main">
              <a:ext uri="{FF2B5EF4-FFF2-40B4-BE49-F238E27FC236}">
                <a16:creationId xmlns:a16="http://schemas.microsoft.com/office/drawing/2014/main" id="{4C8AD222-7201-480C-8B29-CAE6DB242A58}"/>
              </a:ext>
            </a:extLst>
          </p:cNvPr>
          <p:cNvSpPr>
            <a:spLocks xmlns:a="http://schemas.openxmlformats.org/drawingml/2006/main" noGrp="1"/>
          </p:cNvSpPr>
          <p:nvPr/>
        </p:nvSpPr>
        <p:spPr>
          <a:xfrm xmlns:a="http://schemas.openxmlformats.org/drawingml/2006/main">
            <a:off x="609600" y="41052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xmlns:a="http://schemas.openxmlformats.org/drawingml/2006/main">
              <a:ext uri="{FF2B5EF4-FFF2-40B4-BE49-F238E27FC236}">
                <a16:creationId xmlns:a16="http://schemas.microsoft.com/office/drawing/2014/main" id="{F11F59E8-3113-4FE5-9058-E52D8596CCF5}"/>
              </a:ext>
            </a:extLst>
          </p:cNvPr>
          <p:cNvSpPr>
            <a:spLocks xmlns:a="http://schemas.openxmlformats.org/drawingml/2006/main" noGrp="1"/>
          </p:cNvSpPr>
          <p:nvPr/>
        </p:nvSpPr>
        <p:spPr>
          <a:xfrm xmlns:a="http://schemas.openxmlformats.org/drawingml/2006/main">
            <a:off x="3638550" y="2990850"/>
            <a:ext cx="2571750" cy="114300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xmlns:a="http://schemas.openxmlformats.org/drawingml/2006/main">
              <a:ext uri="{FF2B5EF4-FFF2-40B4-BE49-F238E27FC236}">
                <a16:creationId xmlns:a16="http://schemas.microsoft.com/office/drawing/2014/main" id="{CA3440FA-9196-4E18-9E03-FBF19BA14987}"/>
              </a:ext>
            </a:extLst>
          </p:cNvPr>
          <p:cNvSpPr>
            <a:spLocks xmlns:a="http://schemas.openxmlformats.org/drawingml/2006/main" noGrp="1"/>
          </p:cNvSpPr>
          <p:nvPr/>
        </p:nvSpPr>
        <p:spPr>
          <a:xfrm xmlns:a="http://schemas.openxmlformats.org/drawingml/2006/main">
            <a:off x="6905625" y="2990850"/>
            <a:ext cx="190500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xmlns:a="http://schemas.openxmlformats.org/drawingml/2006/main">
              <a:ext uri="{FF2B5EF4-FFF2-40B4-BE49-F238E27FC236}">
                <a16:creationId xmlns:a16="http://schemas.microsoft.com/office/drawing/2014/main" id="{8D3E6DBD-0EE9-466E-B812-C69FE0AD4199}"/>
              </a:ext>
            </a:extLst>
          </p:cNvPr>
          <p:cNvSpPr>
            <a:spLocks xmlns:a="http://schemas.openxmlformats.org/drawingml/2006/main" noGrp="1"/>
          </p:cNvSpPr>
          <p:nvPr/>
        </p:nvSpPr>
        <p:spPr>
          <a:xfrm xmlns:a="http://schemas.openxmlformats.org/drawingml/2006/main">
            <a:off x="9505950" y="2990850"/>
            <a:ext cx="207645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xmlns:a="http://schemas.openxmlformats.org/drawingml/2006/main">
              <a:ext uri="{FF2B5EF4-FFF2-40B4-BE49-F238E27FC236}">
                <a16:creationId xmlns:a16="http://schemas.microsoft.com/office/drawing/2014/main" id="{042F81F9-3D36-49A5-9BA1-6952EED02685}"/>
              </a:ext>
            </a:extLst>
          </p:cNvPr>
          <p:cNvSpPr>
            <a:spLocks xmlns:a="http://schemas.openxmlformats.org/drawingml/2006/main" noGrp="1"/>
          </p:cNvSpPr>
          <p:nvPr/>
        </p:nvSpPr>
        <p:spPr>
          <a:xfrm xmlns:a="http://schemas.openxmlformats.org/drawingml/2006/main">
            <a:off x="609600" y="5314950"/>
            <a:ext cx="647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7F78"/>
                </a:solidFill>
                <a:latin typeface="Arial"/>
                <a:ea typeface="Arial"/>
                <a:cs typeface="Arial"/>
              </a:defRPr>
            </a:defPPr>
          </a:lstStyle>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xmlns:a="http://schemas.openxmlformats.org/drawingml/2006/main">
              <a:ext uri="{FF2B5EF4-FFF2-40B4-BE49-F238E27FC236}">
                <a16:creationId xmlns:a16="http://schemas.microsoft.com/office/drawing/2014/main" id="{50259D60-B4FE-49AC-BF2A-02DE5163D21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23822FD-5B19-4010-A14D-25DCC8F9DF76}"/>
              </a:ext>
            </a:extLst>
          </p:cNvPr>
          <p:cNvCxnSpPr>
            <a:stCxn xmlns:a="http://schemas.openxmlformats.org/drawingml/2006/main" id="7" idx="3"/>
            <a:endCxn xmlns:a="http://schemas.openxmlformats.org/drawingml/2006/main" id="8" idx="1"/>
          </p:cNvCxnSpPr>
          <p:nvPr/>
        </p:nvCxnSpPr>
        <p:spPr>
          <a:xfrm xmlns:a="http://schemas.openxmlformats.org/drawingml/2006/main">
            <a:off x="7172325" y="3533775"/>
            <a:ext cx="10287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7D1FDB77-9180-48A9-923F-97DEB5891B4A}"/>
              </a:ext>
            </a:extLst>
          </p:cNvPr>
          <p:cNvCxnSpPr>
            <a:stCxn xmlns:a="http://schemas.openxmlformats.org/drawingml/2006/main" id="6" idx="3"/>
            <a:endCxn xmlns:a="http://schemas.openxmlformats.org/drawingml/2006/main" id="7" idx="1"/>
          </p:cNvCxnSpPr>
          <p:nvPr/>
        </p:nvCxnSpPr>
        <p:spPr>
          <a:xfrm xmlns:a="http://schemas.openxmlformats.org/drawingml/2006/main" flipV="1">
            <a:off x="2752725" y="3533775"/>
            <a:ext cx="971550" cy="72390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321996B1-57F6-4A8C-8368-A24CB67B9C1A}"/>
              </a:ext>
            </a:extLst>
          </p:cNvPr>
          <p:cNvCxnSpPr>
            <a:stCxn xmlns:a="http://schemas.openxmlformats.org/drawingml/2006/main" id="5" idx="3"/>
            <a:endCxn xmlns:a="http://schemas.openxmlformats.org/drawingml/2006/main" id="7" idx="1"/>
          </p:cNvCxnSpPr>
          <p:nvPr/>
        </p:nvCxnSpPr>
        <p:spPr>
          <a:xfrm xmlns:a="http://schemas.openxmlformats.org/drawingml/2006/main">
            <a:off x="2752725" y="3448050"/>
            <a:ext cx="971550" cy="85725"/>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9" name="">
            <a:extLst xmlns:a="http://schemas.openxmlformats.org/drawingml/2006/main">
              <a:ext uri="{FF2B5EF4-FFF2-40B4-BE49-F238E27FC236}">
                <a16:creationId xmlns:a16="http://schemas.microsoft.com/office/drawing/2014/main" id="{3884D392-3471-4718-B882-F023CD6D1926}"/>
              </a:ext>
            </a:extLst>
          </p:cNvPr>
          <p:cNvCxnSpPr>
            <a:stCxn xmlns:a="http://schemas.openxmlformats.org/drawingml/2006/main" id="4" idx="3"/>
            <a:endCxn xmlns:a="http://schemas.openxmlformats.org/drawingml/2006/main" id="7" idx="1"/>
          </p:cNvCxnSpPr>
          <p:nvPr/>
        </p:nvCxnSpPr>
        <p:spPr>
          <a:xfrm xmlns:a="http://schemas.openxmlformats.org/drawingml/2006/main">
            <a:off x="2752725" y="2638425"/>
            <a:ext cx="971550" cy="8953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6" name="Зачем объединять результаты с помощью RRF">
            <a:extLst xmlns:a="http://schemas.openxmlformats.org/drawingml/2006/main">
              <a:ext uri="{FF2B5EF4-FFF2-40B4-BE49-F238E27FC236}">
                <a16:creationId xmlns:a16="http://schemas.microsoft.com/office/drawing/2014/main" id="{6FAAFDDA-7410-4DB1-9544-F04C6185D44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xmlns:a="http://schemas.openxmlformats.org/drawingml/2006/main">
              <a:ext uri="{FF2B5EF4-FFF2-40B4-BE49-F238E27FC236}">
                <a16:creationId xmlns:a16="http://schemas.microsoft.com/office/drawing/2014/main" id="{C3224F00-6630-4665-9B48-C8CE5059F9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xmlns:a="http://schemas.openxmlformats.org/drawingml/2006/main">
              <a:ext uri="{FF2B5EF4-FFF2-40B4-BE49-F238E27FC236}">
                <a16:creationId xmlns:a16="http://schemas.microsoft.com/office/drawing/2014/main" id="{EF2A1E1A-A731-4158-B6D4-9B9DACF921BE}"/>
              </a:ext>
            </a:extLst>
          </p:cNvPr>
          <p:cNvSpPr>
            <a:spLocks xmlns:a="http://schemas.openxmlformats.org/drawingml/2006/main" noGrp="1"/>
          </p:cNvSpPr>
          <p:nvPr/>
        </p:nvSpPr>
        <p:spPr>
          <a:xfrm xmlns:a="http://schemas.openxmlformats.org/drawingml/2006/main">
            <a:off x="609600" y="153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xmlns:a="http://schemas.openxmlformats.org/drawingml/2006/main">
              <a:ext uri="{FF2B5EF4-FFF2-40B4-BE49-F238E27FC236}">
                <a16:creationId xmlns:a16="http://schemas.microsoft.com/office/drawing/2014/main" id="{7EBB8D5F-B2FB-4CA8-B757-853CB185E97D}"/>
              </a:ext>
            </a:extLst>
          </p:cNvPr>
          <p:cNvSpPr>
            <a:spLocks xmlns:a="http://schemas.openxmlformats.org/drawingml/2006/main" noGrp="1"/>
          </p:cNvSpPr>
          <p:nvPr/>
        </p:nvSpPr>
        <p:spPr>
          <a:xfrm xmlns:a="http://schemas.openxmlformats.org/drawingml/2006/main">
            <a:off x="609600" y="230505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xmlns:a="http://schemas.openxmlformats.org/drawingml/2006/main">
              <a:ext uri="{FF2B5EF4-FFF2-40B4-BE49-F238E27FC236}">
                <a16:creationId xmlns:a16="http://schemas.microsoft.com/office/drawing/2014/main" id="{370C3F5C-0D77-4F2B-A7A7-A53AD71433C8}"/>
              </a:ext>
            </a:extLst>
          </p:cNvPr>
          <p:cNvSpPr>
            <a:spLocks xmlns:a="http://schemas.openxmlformats.org/drawingml/2006/main" noGrp="1"/>
          </p:cNvSpPr>
          <p:nvPr/>
        </p:nvSpPr>
        <p:spPr>
          <a:xfrm xmlns:a="http://schemas.openxmlformats.org/drawingml/2006/main">
            <a:off x="609600" y="3114675"/>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xmlns:a="http://schemas.openxmlformats.org/drawingml/2006/main">
              <a:ext uri="{FF2B5EF4-FFF2-40B4-BE49-F238E27FC236}">
                <a16:creationId xmlns:a16="http://schemas.microsoft.com/office/drawing/2014/main" id="{B049F26B-A2DC-4F8A-9D83-80ABE0A0138B}"/>
              </a:ext>
            </a:extLst>
          </p:cNvPr>
          <p:cNvSpPr>
            <a:spLocks xmlns:a="http://schemas.openxmlformats.org/drawingml/2006/main" noGrp="1"/>
          </p:cNvSpPr>
          <p:nvPr/>
        </p:nvSpPr>
        <p:spPr>
          <a:xfrm xmlns:a="http://schemas.openxmlformats.org/drawingml/2006/main">
            <a:off x="609600" y="392430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xmlns:a="http://schemas.openxmlformats.org/drawingml/2006/main">
              <a:ext uri="{FF2B5EF4-FFF2-40B4-BE49-F238E27FC236}">
                <a16:creationId xmlns:a16="http://schemas.microsoft.com/office/drawing/2014/main" id="{1EDE10D0-6BAA-4082-AE1B-FE8DD2717CCE}"/>
              </a:ext>
            </a:extLst>
          </p:cNvPr>
          <p:cNvSpPr>
            <a:spLocks xmlns:a="http://schemas.openxmlformats.org/drawingml/2006/main" noGrp="1"/>
          </p:cNvSpPr>
          <p:nvPr/>
        </p:nvSpPr>
        <p:spPr>
          <a:xfrm xmlns:a="http://schemas.openxmlformats.org/drawingml/2006/main">
            <a:off x="3724275" y="2914650"/>
            <a:ext cx="3448050" cy="123825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75">
                <a:solidFill>
                  <a:srgbClr val="182B30"/>
                </a:solidFill>
                <a:latin typeface="Arial"/>
                <a:ea typeface="Arial"/>
                <a:cs typeface="Arial"/>
              </a:defRPr>
            </a:defPPr>
          </a:lstStyle>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RRF</a:t>
            </a:r>
          </a:p>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xmlns:a="http://schemas.openxmlformats.org/drawingml/2006/main">
              <a:ext uri="{FF2B5EF4-FFF2-40B4-BE49-F238E27FC236}">
                <a16:creationId xmlns:a16="http://schemas.microsoft.com/office/drawing/2014/main" id="{7054BE41-EDF8-4B5C-8C4E-6B1BD86B2376}"/>
              </a:ext>
            </a:extLst>
          </p:cNvPr>
          <p:cNvSpPr>
            <a:spLocks xmlns:a="http://schemas.openxmlformats.org/drawingml/2006/main" noGrp="1"/>
          </p:cNvSpPr>
          <p:nvPr/>
        </p:nvSpPr>
        <p:spPr>
          <a:xfrm xmlns:a="http://schemas.openxmlformats.org/drawingml/2006/main">
            <a:off x="8201025" y="2914650"/>
            <a:ext cx="3381375" cy="12382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xmlns:a="http://schemas.openxmlformats.org/drawingml/2006/main">
              <a:ext uri="{FF2B5EF4-FFF2-40B4-BE49-F238E27FC236}">
                <a16:creationId xmlns:a16="http://schemas.microsoft.com/office/drawing/2014/main" id="{AA6B5DCC-14AF-49EE-82AD-6C3EF2007A01}"/>
              </a:ext>
            </a:extLst>
          </p:cNvPr>
          <p:cNvSpPr>
            <a:spLocks xmlns:a="http://schemas.openxmlformats.org/drawingml/2006/main" noGrp="1"/>
          </p:cNvSpPr>
          <p:nvPr/>
        </p:nvSpPr>
        <p:spPr>
          <a:xfrm xmlns:a="http://schemas.openxmlformats.org/drawingml/2006/main">
            <a:off x="609600" y="50101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8"/>
                </a:solidFill>
                <a:latin typeface="Arial"/>
                <a:ea typeface="Arial"/>
                <a:cs typeface="Arial"/>
              </a:defRPr>
            </a:defPPr>
          </a:lstStyle>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xmlns:a="http://schemas.openxmlformats.org/drawingml/2006/main">
              <a:ext uri="{FF2B5EF4-FFF2-40B4-BE49-F238E27FC236}">
                <a16:creationId xmlns:a16="http://schemas.microsoft.com/office/drawing/2014/main" id="{1BBC45CA-E952-41F3-A2D6-11B7FC246334}"/>
              </a:ext>
            </a:extLst>
          </p:cNvPr>
          <p:cNvSpPr>
            <a:spLocks xmlns:a="http://schemas.openxmlformats.org/drawingml/2006/main" noGrp="1"/>
          </p:cNvSpPr>
          <p:nvPr/>
        </p:nvSpPr>
        <p:spPr>
          <a:xfrm xmlns:a="http://schemas.openxmlformats.org/drawingml/2006/main">
            <a:off x="609600" y="5581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B30"/>
                </a:solidFill>
                <a:latin typeface="Arial"/>
                <a:ea typeface="Arial"/>
                <a:cs typeface="Arial"/>
              </a:defRPr>
            </a:defPPr>
          </a:lstStyle>
          <ns0:p xmlns:ns0="http://schemas.openxmlformats.org/drawingml/2006/main">
            <ns0:pPr algn="l">
              <ns0:defRPr sz="1950" b="0">
                <ns0:solidFill>
                  <ns0:srgbClr val="182B30"/>
                </ns0:solidFill>
                <ns0:latin typeface="Arial"/>
                <ns0:ea typeface="Arial"/>
                <ns0:cs typeface="Arial"/>
              </ns0:defRPr>
            </ns0:pPr>
            <ns0:r>
              <ns0:rPr sz="1950" b="0">
                <ns0:solidFill>
                  <ns0:srgbClr val="182B30"/>
                </ns0:solidFill>
                <ns0:latin typeface="Arial"/>
                <ns0:ea typeface="Arial"/>
                <ns0:cs typeface="Arial"/>
              </ns0:rPr>
              <ns0:t>Равный вес источников. Учитываем списки, в которых найден фрагмент.</ns0:t>
            </ns0:r>
          </ns0:p>
        </p:txBody>
      </p:sp>
      <p:sp>
        <p:nvSpPr>
          <p:cNvPr id="15" name="Cormack, Clarke, Büttcher, SIGIR 2009. Оценки судьи не входят в формул">
            <a:extLst xmlns:a="http://schemas.openxmlformats.org/drawingml/2006/main">
              <a:ext uri="{FF2B5EF4-FFF2-40B4-BE49-F238E27FC236}">
                <a16:creationId xmlns:a16="http://schemas.microsoft.com/office/drawing/2014/main" id="{636AD666-D12C-4C23-811C-64F8A3807468}"/>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Литература и ресурсы">
            <a:extLst xmlns:a="http://schemas.openxmlformats.org/drawingml/2006/main">
              <a:ext uri="{FF2B5EF4-FFF2-40B4-BE49-F238E27FC236}">
                <a16:creationId xmlns:a16="http://schemas.microsoft.com/office/drawing/2014/main" id="{A4A0C6BD-6351-4B31-8728-75022184EC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xmlns:a="http://schemas.openxmlformats.org/drawingml/2006/main">
              <a:ext uri="{FF2B5EF4-FFF2-40B4-BE49-F238E27FC236}">
                <a16:creationId xmlns:a16="http://schemas.microsoft.com/office/drawing/2014/main" id="{63609DAA-536A-428E-9283-7D7FB820E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xmlns:a="http://schemas.openxmlformats.org/drawingml/2006/main">
              <a:ext uri="{FF2B5EF4-FFF2-40B4-BE49-F238E27FC236}">
                <a16:creationId xmlns:a16="http://schemas.microsoft.com/office/drawing/2014/main" id="{2C9655CF-4325-444F-A190-BE05EC9AFC9B}"/>
              </a:ext>
            </a:extLst>
          </p:cNvPr>
          <p:cNvSpPr>
            <a:spLocks xmlns:a="http://schemas.openxmlformats.org/drawingml/2006/main" noGrp="1"/>
          </p:cNvSpPr>
          <p:nvPr/>
        </p:nvSpPr>
        <p:spPr>
          <a:xfrm xmlns:a="http://schemas.openxmlformats.org/drawingml/2006/main">
            <a:off x="60960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xmlns:a="http://schemas.openxmlformats.org/drawingml/2006/main">
              <a:ext uri="{FF2B5EF4-FFF2-40B4-BE49-F238E27FC236}">
                <a16:creationId xmlns:a16="http://schemas.microsoft.com/office/drawing/2014/main" id="{5E02D452-7B6E-497E-8A39-D1BCC94C4B66}"/>
              </a:ext>
            </a:extLst>
          </p:cNvPr>
          <p:cNvSpPr>
            <a:spLocks xmlns:a="http://schemas.openxmlformats.org/drawingml/2006/main" noGrp="1"/>
          </p:cNvSpPr>
          <p:nvPr/>
        </p:nvSpPr>
        <p:spPr>
          <a:xfrm xmlns:a="http://schemas.openxmlformats.org/drawingml/2006/main">
            <a:off x="60960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xmlns:a="http://schemas.openxmlformats.org/drawingml/2006/main">
              <a:ext uri="{FF2B5EF4-FFF2-40B4-BE49-F238E27FC236}">
                <a16:creationId xmlns:a16="http://schemas.microsoft.com/office/drawing/2014/main" id="{1770FB05-F0FE-40A9-89B7-4C3A26F6F8B5}"/>
              </a:ext>
            </a:extLst>
          </p:cNvPr>
          <p:cNvSpPr>
            <a:spLocks xmlns:a="http://schemas.openxmlformats.org/drawingml/2006/main" noGrp="1"/>
          </p:cNvSpPr>
          <p:nvPr/>
        </p:nvSpPr>
        <p:spPr>
          <a:xfrm xmlns:a="http://schemas.openxmlformats.org/drawingml/2006/main">
            <a:off x="60960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0="http://schemas.openxmlformats.org/officeDocument/2006/relationships" ns0:id="rLink4"/>
              </a:rPr>
              <a:t>arxiv.org/abs/1611.09268</a:t>
            </a:r>
          </a:p>
        </p:txBody>
      </p:sp>
      <p:sp>
        <p:nvSpPr>
          <p:cNvPr id="6" name="Natural Questions">
            <a:extLst xmlns:a="http://schemas.openxmlformats.org/drawingml/2006/main">
              <a:ext uri="{FF2B5EF4-FFF2-40B4-BE49-F238E27FC236}">
                <a16:creationId xmlns:a16="http://schemas.microsoft.com/office/drawing/2014/main" id="{F97DE8AF-F43B-4795-AB1B-21C457CED273}"/>
              </a:ext>
            </a:extLst>
          </p:cNvPr>
          <p:cNvSpPr>
            <a:spLocks xmlns:a="http://schemas.openxmlformats.org/drawingml/2006/main" noGrp="1"/>
          </p:cNvSpPr>
          <p:nvPr/>
        </p:nvSpPr>
        <p:spPr>
          <a:xfrm xmlns:a="http://schemas.openxmlformats.org/drawingml/2006/main">
            <a:off x="60960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xmlns:a="http://schemas.openxmlformats.org/drawingml/2006/main">
              <a:ext uri="{FF2B5EF4-FFF2-40B4-BE49-F238E27FC236}">
                <a16:creationId xmlns:a16="http://schemas.microsoft.com/office/drawing/2014/main" id="{14F5A30A-8EC3-4BB8-B2E0-703B758312E7}"/>
              </a:ext>
            </a:extLst>
          </p:cNvPr>
          <p:cNvSpPr>
            <a:spLocks xmlns:a="http://schemas.openxmlformats.org/drawingml/2006/main" noGrp="1"/>
          </p:cNvSpPr>
          <p:nvPr/>
        </p:nvSpPr>
        <p:spPr>
          <a:xfrm xmlns:a="http://schemas.openxmlformats.org/drawingml/2006/main">
            <a:off x="60960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xmlns:a="http://schemas.openxmlformats.org/drawingml/2006/main">
              <a:ext uri="{FF2B5EF4-FFF2-40B4-BE49-F238E27FC236}">
                <a16:creationId xmlns:a16="http://schemas.microsoft.com/office/drawing/2014/main" id="{60F6F0E0-553C-42CD-8E3C-BBA7B11F21B8}"/>
              </a:ext>
            </a:extLst>
          </p:cNvPr>
          <p:cNvSpPr>
            <a:spLocks xmlns:a="http://schemas.openxmlformats.org/drawingml/2006/main" noGrp="1"/>
          </p:cNvSpPr>
          <p:nvPr/>
        </p:nvSpPr>
        <p:spPr>
          <a:xfrm xmlns:a="http://schemas.openxmlformats.org/drawingml/2006/main">
            <a:off x="60960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1="http://schemas.openxmlformats.org/officeDocument/2006/relationships" ns1:id="rLink7"/>
              </a:rPr>
              <a:t>aclanthology.org/Q19-1026</a:t>
            </a:r>
          </a:p>
        </p:txBody>
      </p:sp>
      <p:sp>
        <p:nvSpPr>
          <p:cNvPr id="9" name="BEIR">
            <a:extLst xmlns:a="http://schemas.openxmlformats.org/drawingml/2006/main">
              <a:ext uri="{FF2B5EF4-FFF2-40B4-BE49-F238E27FC236}">
                <a16:creationId xmlns:a16="http://schemas.microsoft.com/office/drawing/2014/main" id="{A59B7C08-F44F-420A-B890-509F2587EBF4}"/>
              </a:ext>
            </a:extLst>
          </p:cNvPr>
          <p:cNvSpPr>
            <a:spLocks xmlns:a="http://schemas.openxmlformats.org/drawingml/2006/main" noGrp="1"/>
          </p:cNvSpPr>
          <p:nvPr/>
        </p:nvSpPr>
        <p:spPr>
          <a:xfrm xmlns:a="http://schemas.openxmlformats.org/drawingml/2006/main">
            <a:off x="60960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xmlns:a="http://schemas.openxmlformats.org/drawingml/2006/main">
              <a:ext uri="{FF2B5EF4-FFF2-40B4-BE49-F238E27FC236}">
                <a16:creationId xmlns:a16="http://schemas.microsoft.com/office/drawing/2014/main" id="{EEE046B8-919E-4D3A-BEA3-1491F9EBBDE4}"/>
              </a:ext>
            </a:extLst>
          </p:cNvPr>
          <p:cNvSpPr>
            <a:spLocks xmlns:a="http://schemas.openxmlformats.org/drawingml/2006/main" noGrp="1"/>
          </p:cNvSpPr>
          <p:nvPr/>
        </p:nvSpPr>
        <p:spPr>
          <a:xfrm xmlns:a="http://schemas.openxmlformats.org/drawingml/2006/main">
            <a:off x="60960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xmlns:a="http://schemas.openxmlformats.org/drawingml/2006/main">
              <a:ext uri="{FF2B5EF4-FFF2-40B4-BE49-F238E27FC236}">
                <a16:creationId xmlns:a16="http://schemas.microsoft.com/office/drawing/2014/main" id="{6ED52645-A687-4B8C-B757-A7B3B4C68145}"/>
              </a:ext>
            </a:extLst>
          </p:cNvPr>
          <p:cNvSpPr>
            <a:spLocks xmlns:a="http://schemas.openxmlformats.org/drawingml/2006/main" noGrp="1"/>
          </p:cNvSpPr>
          <p:nvPr/>
        </p:nvSpPr>
        <p:spPr>
          <a:xfrm xmlns:a="http://schemas.openxmlformats.org/drawingml/2006/main">
            <a:off x="60960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2="http://schemas.openxmlformats.org/officeDocument/2006/relationships" ns2:id="rLink10"/>
              </a:rPr>
              <a:t>arxiv.org/abs/2104.08663</a:t>
            </a:r>
          </a:p>
        </p:txBody>
      </p:sp>
      <p:sp>
        <p:nvSpPr>
          <p:cNvPr id="12" name="BM25">
            <a:extLst xmlns:a="http://schemas.openxmlformats.org/drawingml/2006/main">
              <a:ext uri="{FF2B5EF4-FFF2-40B4-BE49-F238E27FC236}">
                <a16:creationId xmlns:a16="http://schemas.microsoft.com/office/drawing/2014/main" id="{495A2F35-8ABE-47A5-A9EC-F4C677D71BFE}"/>
              </a:ext>
            </a:extLst>
          </p:cNvPr>
          <p:cNvSpPr>
            <a:spLocks xmlns:a="http://schemas.openxmlformats.org/drawingml/2006/main" noGrp="1"/>
          </p:cNvSpPr>
          <p:nvPr/>
        </p:nvSpPr>
        <p:spPr>
          <a:xfrm xmlns:a="http://schemas.openxmlformats.org/drawingml/2006/main">
            <a:off x="60960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xmlns:a="http://schemas.openxmlformats.org/drawingml/2006/main">
              <a:ext uri="{FF2B5EF4-FFF2-40B4-BE49-F238E27FC236}">
                <a16:creationId xmlns:a16="http://schemas.microsoft.com/office/drawing/2014/main" id="{FBE4DAC5-48FC-4CD0-BB1C-65DFDC9FD50B}"/>
              </a:ext>
            </a:extLst>
          </p:cNvPr>
          <p:cNvSpPr>
            <a:spLocks xmlns:a="http://schemas.openxmlformats.org/drawingml/2006/main" noGrp="1"/>
          </p:cNvSpPr>
          <p:nvPr/>
        </p:nvSpPr>
        <p:spPr>
          <a:xfrm xmlns:a="http://schemas.openxmlformats.org/drawingml/2006/main">
            <a:off x="60960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xmlns:a="http://schemas.openxmlformats.org/drawingml/2006/main">
              <a:ext uri="{FF2B5EF4-FFF2-40B4-BE49-F238E27FC236}">
                <a16:creationId xmlns:a16="http://schemas.microsoft.com/office/drawing/2014/main" id="{1F79FCC9-A53A-41DD-B7BE-0A8DD9E757A7}"/>
              </a:ext>
            </a:extLst>
          </p:cNvPr>
          <p:cNvSpPr>
            <a:spLocks xmlns:a="http://schemas.openxmlformats.org/drawingml/2006/main" noGrp="1"/>
          </p:cNvSpPr>
          <p:nvPr/>
        </p:nvSpPr>
        <p:spPr>
          <a:xfrm xmlns:a="http://schemas.openxmlformats.org/drawingml/2006/main">
            <a:off x="60960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3="http://schemas.openxmlformats.org/officeDocument/2006/relationships" ns3:id="rLink13"/>
              </a:rPr>
              <a:t>doi.org/10.1561/1500000019</a:t>
            </a:r>
          </a:p>
        </p:txBody>
      </p:sp>
      <p:sp>
        <p:nvSpPr>
          <p:cNvPr id="15" name="E5">
            <a:extLst xmlns:a="http://schemas.openxmlformats.org/drawingml/2006/main">
              <a:ext uri="{FF2B5EF4-FFF2-40B4-BE49-F238E27FC236}">
                <a16:creationId xmlns:a16="http://schemas.microsoft.com/office/drawing/2014/main" id="{FF175FCC-EC7A-469E-836C-2D4F521A191A}"/>
              </a:ext>
            </a:extLst>
          </p:cNvPr>
          <p:cNvSpPr>
            <a:spLocks xmlns:a="http://schemas.openxmlformats.org/drawingml/2006/main" noGrp="1"/>
          </p:cNvSpPr>
          <p:nvPr/>
        </p:nvSpPr>
        <p:spPr>
          <a:xfrm xmlns:a="http://schemas.openxmlformats.org/drawingml/2006/main">
            <a:off x="64198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xmlns:a="http://schemas.openxmlformats.org/drawingml/2006/main">
              <a:ext uri="{FF2B5EF4-FFF2-40B4-BE49-F238E27FC236}">
                <a16:creationId xmlns:a16="http://schemas.microsoft.com/office/drawing/2014/main" id="{7F01C309-F4C0-42FA-A079-1886364956AA}"/>
              </a:ext>
            </a:extLst>
          </p:cNvPr>
          <p:cNvSpPr>
            <a:spLocks xmlns:a="http://schemas.openxmlformats.org/drawingml/2006/main" noGrp="1"/>
          </p:cNvSpPr>
          <p:nvPr/>
        </p:nvSpPr>
        <p:spPr>
          <a:xfrm xmlns:a="http://schemas.openxmlformats.org/drawingml/2006/main">
            <a:off x="641985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xmlns:a="http://schemas.openxmlformats.org/drawingml/2006/main">
              <a:ext uri="{FF2B5EF4-FFF2-40B4-BE49-F238E27FC236}">
                <a16:creationId xmlns:a16="http://schemas.microsoft.com/office/drawing/2014/main" id="{9926AAEA-3EAE-4442-8119-EB33DEF60548}"/>
              </a:ext>
            </a:extLst>
          </p:cNvPr>
          <p:cNvSpPr>
            <a:spLocks xmlns:a="http://schemas.openxmlformats.org/drawingml/2006/main" noGrp="1"/>
          </p:cNvSpPr>
          <p:nvPr/>
        </p:nvSpPr>
        <p:spPr>
          <a:xfrm xmlns:a="http://schemas.openxmlformats.org/drawingml/2006/main">
            <a:off x="641985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4="http://schemas.openxmlformats.org/officeDocument/2006/relationships" ns4:id="rLink16"/>
              </a:rPr>
              <a:t>arxiv.org/abs/2212.03533</a:t>
            </a:r>
          </a:p>
        </p:txBody>
      </p:sp>
      <p:sp>
        <p:nvSpPr>
          <p:cNvPr id="18" name="BGE / FlagEmbedding">
            <a:extLst xmlns:a="http://schemas.openxmlformats.org/drawingml/2006/main">
              <a:ext uri="{FF2B5EF4-FFF2-40B4-BE49-F238E27FC236}">
                <a16:creationId xmlns:a16="http://schemas.microsoft.com/office/drawing/2014/main" id="{27FCE838-924F-4181-9CAF-91650DCA4187}"/>
              </a:ext>
            </a:extLst>
          </p:cNvPr>
          <p:cNvSpPr>
            <a:spLocks xmlns:a="http://schemas.openxmlformats.org/drawingml/2006/main" noGrp="1"/>
          </p:cNvSpPr>
          <p:nvPr/>
        </p:nvSpPr>
        <p:spPr>
          <a:xfrm xmlns:a="http://schemas.openxmlformats.org/drawingml/2006/main">
            <a:off x="641985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xmlns:a="http://schemas.openxmlformats.org/drawingml/2006/main">
              <a:ext uri="{FF2B5EF4-FFF2-40B4-BE49-F238E27FC236}">
                <a16:creationId xmlns:a16="http://schemas.microsoft.com/office/drawing/2014/main" id="{B4171707-7635-4B0F-B51A-EFE373C06882}"/>
              </a:ext>
            </a:extLst>
          </p:cNvPr>
          <p:cNvSpPr>
            <a:spLocks xmlns:a="http://schemas.openxmlformats.org/drawingml/2006/main" noGrp="1"/>
          </p:cNvSpPr>
          <p:nvPr/>
        </p:nvSpPr>
        <p:spPr>
          <a:xfrm xmlns:a="http://schemas.openxmlformats.org/drawingml/2006/main">
            <a:off x="641985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xmlns:a="http://schemas.openxmlformats.org/drawingml/2006/main">
              <a:ext uri="{FF2B5EF4-FFF2-40B4-BE49-F238E27FC236}">
                <a16:creationId xmlns:a16="http://schemas.microsoft.com/office/drawing/2014/main" id="{E088F081-695F-44E4-A1D8-559B26477996}"/>
              </a:ext>
            </a:extLst>
          </p:cNvPr>
          <p:cNvSpPr>
            <a:spLocks xmlns:a="http://schemas.openxmlformats.org/drawingml/2006/main" noGrp="1"/>
          </p:cNvSpPr>
          <p:nvPr/>
        </p:nvSpPr>
        <p:spPr>
          <a:xfrm xmlns:a="http://schemas.openxmlformats.org/drawingml/2006/main">
            <a:off x="641985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5="http://schemas.openxmlformats.org/officeDocument/2006/relationships" ns5:id="rLink19"/>
              </a:rPr>
              <a:t>huggingface.co/BAAI/bge-small-en-v1.5</a:t>
            </a:r>
          </a:p>
        </p:txBody>
      </p:sp>
      <p:sp>
        <p:nvSpPr>
          <p:cNvPr id="21" name="MiniLM">
            <a:extLst xmlns:a="http://schemas.openxmlformats.org/drawingml/2006/main">
              <a:ext uri="{FF2B5EF4-FFF2-40B4-BE49-F238E27FC236}">
                <a16:creationId xmlns:a16="http://schemas.microsoft.com/office/drawing/2014/main" id="{D993E484-9C7F-4234-8825-8160F9D1DF3A}"/>
              </a:ext>
            </a:extLst>
          </p:cNvPr>
          <p:cNvSpPr>
            <a:spLocks xmlns:a="http://schemas.openxmlformats.org/drawingml/2006/main" noGrp="1"/>
          </p:cNvSpPr>
          <p:nvPr/>
        </p:nvSpPr>
        <p:spPr>
          <a:xfrm xmlns:a="http://schemas.openxmlformats.org/drawingml/2006/main">
            <a:off x="641985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xmlns:a="http://schemas.openxmlformats.org/drawingml/2006/main">
              <a:ext uri="{FF2B5EF4-FFF2-40B4-BE49-F238E27FC236}">
                <a16:creationId xmlns:a16="http://schemas.microsoft.com/office/drawing/2014/main" id="{BD6E0B2F-8AE6-4B08-BFBB-A539A08C24E4}"/>
              </a:ext>
            </a:extLst>
          </p:cNvPr>
          <p:cNvSpPr>
            <a:spLocks xmlns:a="http://schemas.openxmlformats.org/drawingml/2006/main" noGrp="1"/>
          </p:cNvSpPr>
          <p:nvPr/>
        </p:nvSpPr>
        <p:spPr>
          <a:xfrm xmlns:a="http://schemas.openxmlformats.org/drawingml/2006/main">
            <a:off x="641985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xmlns:a="http://schemas.openxmlformats.org/drawingml/2006/main">
              <a:ext uri="{FF2B5EF4-FFF2-40B4-BE49-F238E27FC236}">
                <a16:creationId xmlns:a16="http://schemas.microsoft.com/office/drawing/2014/main" id="{E553A558-A451-4FE1-827A-DDFB43FC90E0}"/>
              </a:ext>
            </a:extLst>
          </p:cNvPr>
          <p:cNvSpPr>
            <a:spLocks xmlns:a="http://schemas.openxmlformats.org/drawingml/2006/main" noGrp="1"/>
          </p:cNvSpPr>
          <p:nvPr/>
        </p:nvSpPr>
        <p:spPr>
          <a:xfrm xmlns:a="http://schemas.openxmlformats.org/drawingml/2006/main">
            <a:off x="641985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6="http://schemas.openxmlformats.org/officeDocument/2006/relationships" ns6:id="rLink22"/>
              </a:rPr>
              <a:t>arxiv.org/abs/2002.10957</a:t>
            </a:r>
          </a:p>
        </p:txBody>
      </p:sp>
      <p:sp>
        <p:nvSpPr>
          <p:cNvPr id="24" name="Reciprocal Rank Fusion">
            <a:extLst xmlns:a="http://schemas.openxmlformats.org/drawingml/2006/main">
              <a:ext uri="{FF2B5EF4-FFF2-40B4-BE49-F238E27FC236}">
                <a16:creationId xmlns:a16="http://schemas.microsoft.com/office/drawing/2014/main" id="{4F841DDF-A002-4DD4-9C35-3E5C31D38782}"/>
              </a:ext>
            </a:extLst>
          </p:cNvPr>
          <p:cNvSpPr>
            <a:spLocks xmlns:a="http://schemas.openxmlformats.org/drawingml/2006/main" noGrp="1"/>
          </p:cNvSpPr>
          <p:nvPr/>
        </p:nvSpPr>
        <p:spPr>
          <a:xfrm xmlns:a="http://schemas.openxmlformats.org/drawingml/2006/main">
            <a:off x="641985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xmlns:a="http://schemas.openxmlformats.org/drawingml/2006/main">
              <a:ext uri="{FF2B5EF4-FFF2-40B4-BE49-F238E27FC236}">
                <a16:creationId xmlns:a16="http://schemas.microsoft.com/office/drawing/2014/main" id="{4DFC7256-ABCB-42F0-8978-A9834133EE16}"/>
              </a:ext>
            </a:extLst>
          </p:cNvPr>
          <p:cNvSpPr>
            <a:spLocks xmlns:a="http://schemas.openxmlformats.org/drawingml/2006/main" noGrp="1"/>
          </p:cNvSpPr>
          <p:nvPr/>
        </p:nvSpPr>
        <p:spPr>
          <a:xfrm xmlns:a="http://schemas.openxmlformats.org/drawingml/2006/main">
            <a:off x="641985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xmlns:a="http://schemas.openxmlformats.org/drawingml/2006/main">
              <a:ext uri="{FF2B5EF4-FFF2-40B4-BE49-F238E27FC236}">
                <a16:creationId xmlns:a16="http://schemas.microsoft.com/office/drawing/2014/main" id="{27908AFA-1F0E-49CF-829C-9B6DB9B26163}"/>
              </a:ext>
            </a:extLst>
          </p:cNvPr>
          <p:cNvSpPr>
            <a:spLocks xmlns:a="http://schemas.openxmlformats.org/drawingml/2006/main" noGrp="1"/>
          </p:cNvSpPr>
          <p:nvPr/>
        </p:nvSpPr>
        <p:spPr>
          <a:xfrm xmlns:a="http://schemas.openxmlformats.org/drawingml/2006/main">
            <a:off x="641985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7="http://schemas.openxmlformats.org/officeDocument/2006/relationships" ns7:id="rLink25"/>
              </a:rPr>
              <a:t>doi.org/10.1145/1571941.1572114</a:t>
            </a:r>
          </a:p>
        </p:txBody>
      </p:sp>
      <p:sp>
        <p:nvSpPr>
          <p:cNvPr id="27" name="Спецификация dev и dev/small: ir-datasets.com/msmarco-passage.html">
            <a:extLst xmlns:a="http://schemas.openxmlformats.org/drawingml/2006/main">
              <a:ext uri="{FF2B5EF4-FFF2-40B4-BE49-F238E27FC236}">
                <a16:creationId xmlns:a16="http://schemas.microsoft.com/office/drawing/2014/main" id="{103B9138-7D3D-40AE-8875-641306956B76}"/>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707240-FA87-4C30-B4F7-BE3481571E2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r>
              <a:t/>
            </a:r>
          </a:p>
        </p:txBody>
      </p:sp>
      <p:sp>
        <p:nvSpPr>
          <p:cNvPr id="2" name="20">
            <a:extLst xmlns:a="http://schemas.openxmlformats.org/drawingml/2006/main">
              <a:ext uri="{FF2B5EF4-FFF2-40B4-BE49-F238E27FC236}">
                <a16:creationId xmlns:a16="http://schemas.microsoft.com/office/drawing/2014/main" id="{C5DC1C39-22EA-4EC5-AA48-52C01026FA6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xmlns:a="http://schemas.openxmlformats.org/drawingml/2006/main">
              <a:ext uri="{FF2B5EF4-FFF2-40B4-BE49-F238E27FC236}">
                <a16:creationId xmlns:a16="http://schemas.microsoft.com/office/drawing/2014/main" id="{F8430587-5841-4911-9959-76BCCDF1356C}"/>
              </a:ext>
            </a:extLst>
          </p:cNvPr>
          <p:cNvSpPr>
            <a:spLocks xmlns:a="http://schemas.openxmlformats.org/drawingml/2006/main" noGrp="1"/>
          </p:cNvSpPr>
          <p:nvPr/>
        </p:nvSpPr>
        <p:spPr>
          <a:xfrm xmlns:a="http://schemas.openxmlformats.org/drawingml/2006/main">
            <a:off x="609600" y="21336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82B30"/>
                </a:solidFill>
                <a:latin typeface="Arial"/>
                <a:ea typeface="Arial"/>
                <a:cs typeface="Arial"/>
              </a:defRPr>
            </a:defPPr>
          </a:lstStyle>
          <a:p xmlns:a="http://schemas.openxmlformats.org/drawingml/2006/main">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xmlns:a="http://schemas.openxmlformats.org/drawingml/2006/main">
              <a:ext uri="{FF2B5EF4-FFF2-40B4-BE49-F238E27FC236}">
                <a16:creationId xmlns:a16="http://schemas.microsoft.com/office/drawing/2014/main" id="{A07AFDC1-BA08-4BE3-AC49-915F59A6D1B3}"/>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7F78"/>
                </a:solidFill>
                <a:latin typeface="Arial"/>
                <a:ea typeface="Arial"/>
                <a:cs typeface="Arial"/>
              </a:defRPr>
            </a:defPPr>
          </a:lstStyle>
          <a:p xmlns:a="http://schemas.openxmlformats.org/drawingml/2006/main">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
            <a:extLst xmlns:a="http://schemas.openxmlformats.org/drawingml/2006/main">
              <a:ext uri="{FF2B5EF4-FFF2-40B4-BE49-F238E27FC236}">
                <a16:creationId xmlns:a16="http://schemas.microsoft.com/office/drawing/2014/main" id="{81A72BAF-F3E9-45C7-B352-61F535B1E1BE}"/>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6" name=", , ">
            <a:extLst xmlns:a="http://schemas.openxmlformats.org/drawingml/2006/main">
              <a:ext uri="{FF2B5EF4-FFF2-40B4-BE49-F238E27FC236}">
                <a16:creationId xmlns:a16="http://schemas.microsoft.com/office/drawing/2014/main" id="{5668CE3A-6A6F-4131-8944-CB3DA37B4E57}"/>
              </a:ext>
            </a:extLst>
          </p:cNvPr>
          <p:cNvSpPr>
            <a:spLocks xmlns:a="http://schemas.openxmlformats.org/drawingml/2006/main" noGrp="1"/>
          </p:cNvSpPr>
          <p:nvPr/>
        </p:nvSpPr>
        <p:spPr>
          <a:xfrm xmlns:a="http://schemas.openxmlformats.org/drawingml/2006/main">
            <a:off x="609600" y="4752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D9AE579D-4DAE-4505-BA45-380F0DA81AE5}"/>
              </a:ext>
            </a:extLst>
          </p:cNvPr>
          <p:cNvSpPr>
            <a:spLocks xmlns:a="http://schemas.openxmlformats.org/drawingml/2006/main" noGrp="1"/>
          </p:cNvSpPr>
          <p:nvPr/>
        </p:nvSpPr>
        <p:spPr>
          <a:xfrm xmlns:a="http://schemas.openxmlformats.org/drawingml/2006/main">
            <a:off x="609600" y="521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xmlns:a="http://schemas.openxmlformats.org/drawingml/2006/main">
              <a:ext uri="{FF2B5EF4-FFF2-40B4-BE49-F238E27FC236}">
                <a16:creationId xmlns:a16="http://schemas.microsoft.com/office/drawing/2014/main" id="{8F854F36-DC6C-4EFC-B609-BC1285F1ECF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Какие части данных мы использовали">
            <a:extLst xmlns:a="http://schemas.openxmlformats.org/drawingml/2006/main">
              <a:ext uri="{FF2B5EF4-FFF2-40B4-BE49-F238E27FC236}">
                <a16:creationId xmlns:a16="http://schemas.microsoft.com/office/drawing/2014/main" id="{C9192BF0-02DB-4776-8EED-9940866E3A6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xmlns:a="http://schemas.openxmlformats.org/drawingml/2006/main">
              <a:ext uri="{FF2B5EF4-FFF2-40B4-BE49-F238E27FC236}">
                <a16:creationId xmlns:a16="http://schemas.microsoft.com/office/drawing/2014/main" id="{6FB64FA0-FE5C-4760-8AD6-5AAB9A5377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
            <a:extLst xmlns:a="http://schemas.openxmlformats.org/drawingml/2006/main">
              <a:ext uri="{FF2B5EF4-FFF2-40B4-BE49-F238E27FC236}">
                <a16:creationId xmlns:a16="http://schemas.microsoft.com/office/drawing/2014/main" id="{472684F5-DDA2-4257-8EB6-3AA86FC08731}"/>
              </a:ext>
            </a:extLst>
          </p:cNvPr>
          <p:cNvGraphicFramePr/>
          <p:nvPr/>
        </p:nvGraphicFramePr>
        <p:xfrm>
          <a:off xmlns:a="http://schemas.openxmlformats.org/drawingml/2006/main" x="609600" y="1638300"/>
          <a:ext xmlns:a="http://schemas.openxmlformats.org/drawingml/2006/main" cx="10972800" cy="3867150"/>
        </p:xfrm>
        <a:graphic xmlns:a="http://schemas.openxmlformats.org/drawingml/2006/main">
          <a:graphicData uri="http://schemas.openxmlformats.org/drawingml/2006/table">
            <a:tbl>
              <a:tblPr firstRow="0" bandRow="0"/>
              <a:tblGrid>
                <a:gridCol w="3333750"/>
                <a:gridCol w="1905000"/>
                <a:gridCol w="5734050"/>
              </a:tblGrid>
              <a:tr h="552450">
                <a:tc>
                  <a:txBody>
                    <a:bodyPr lIns="114300" tIns="76200" rIns="114300" bIns="76200">
                      <a:noAutofit/>
                    </a:bodyPr>
                    <a:lstStyle/>
                    <a:p>
                      <a:r>
                        <a:rPr sz="1800" b="1">
                          <a:solidFill>
                            <a:srgbClr val="526970"/>
                          </a:solidFill>
                          <a:latin typeface="Arial"/>
                          <a:ea typeface="Arial"/>
                          <a:cs typeface="Arial"/>
                        </a:rPr>
                        <a:t>Набор</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Роль в исследовании</a:t>
                      </a:r>
                    </a:p>
                  </a:txBody>
                  <a:tcPr marL="91440" marR="91440" marT="45720" marB="45720" anchor="ctr">
                    <a:lnL w="0">
                      <a:noFill/>
                    </a:lnL>
                    <a:lnR w="0">
                      <a:noFill/>
                    </a:lnR>
                    <a:lnT w="0">
                      <a:noFill/>
                    </a:lnT>
                    <a:lnB w="7620">
                      <a:solidFill>
                        <a:srgbClr val="D4E1E0"/>
                      </a:solidFill>
                    </a:lnB>
                    <a:solidFill>
                      <a:srgbClr val="EFF5F5"/>
                    </a:solidFill>
                  </a:tcPr>
                </a:tc>
              </a:tr>
              <a:tr h="552450">
                <a:tc>
                  <a:txBody>
                    <a:bodyPr lIns="114300" tIns="76200" rIns="114300" bIns="7620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Масштабная оценка судьёй</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dev/small</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6 980</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Исходная оценочная подвыборка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Ручная подвыборка</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1 179</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Доразметка 33 667 пар</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Обучение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825</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Дообучение на ручных метках</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Валидация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Выбор порога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Тест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Проверка на отложенных запросах</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Ручная подвыборка входит в dev/small, а dev/small входит в полную dev-">
            <a:extLst xmlns:a="http://schemas.openxmlformats.org/drawingml/2006/main">
              <a:ext uri="{FF2B5EF4-FFF2-40B4-BE49-F238E27FC236}">
                <a16:creationId xmlns:a16="http://schemas.microsoft.com/office/drawing/2014/main" id="{C3F9466B-844F-4F05-ACF8-877FF5493F9F}"/>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26</ap:Slides>
  <ap:Notes>26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