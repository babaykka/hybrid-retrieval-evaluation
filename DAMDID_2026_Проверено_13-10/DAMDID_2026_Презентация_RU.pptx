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49"/>
  </p:normalViewPr>
  <p:slideViewPr>
    <p:cSldViewPr snapToGrid="0">
      <p:cViewPr varScale="1">
        <p:scale>
          <a:sx n="147" d="100"/>
          <a:sy n="147" d="100"/>
        </p:scale>
        <p:origin x="22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bar"/>
        <c:grouping val="clustered"/>
        <c:varyColors val="0"/>
        <c:ser>
          <c:idx val="0"/>
          <c:order val="0"/>
          <c:tx>
            <c:v>Исходные оценки</c:v>
          </c:tx>
          <c:spPr>
            <a:solidFill>
              <a:srgbClr val="C95236"/>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76F4-3D4E-AD08-91AF6152DC58}"/>
            </c:ext>
          </c:extLst>
        </c:ser>
        <c:ser>
          <c:idx val="1"/>
          <c:order val="1"/>
          <c:tx>
            <c:v>Оценки человека</c:v>
          </c:tx>
          <c:spPr>
            <a:solidFill>
              <a:srgbClr val="007F78"/>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76F4-3D4E-AD08-91AF6152DC58}"/>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auto val="1"/>
        <c:lblAlgn val="ctr"/>
        <c:lblOffset val="100"/>
        <c:noMultiLvlLbl val="1"/>
      </c:catAx>
      <c:valAx>
        <c:axId val="48672768"/>
        <c:scaling>
          <c:orientation val="minMax"/>
          <c:max val="1"/>
          <c:min val="0"/>
        </c:scaling>
        <c:delete val="0"/>
        <c:axPos val="b"/>
        <c:majorGridlines>
          <c:spPr>
            <a:ln w="9525">
              <a:solidFill>
                <a:srgbClr val="D4E1E0"/>
              </a:solidFill>
            </a:ln>
          </c:spPr>
        </c:majorGridlines>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autoZero"/>
        <c:crossBetween val="between"/>
        <c:majorUnit val="0.2"/>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Случайный классификатор</c:v>
          </c:tx>
          <c:spPr>
            <a:l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extLst>
            <c:ext xmlns:c16="http://schemas.microsoft.com/office/drawing/2014/chart" uri="{C3380CC4-5D6E-409C-BE32-E72D297353CC}">
              <c16:uniqueId val="{00000000-7940-2542-B356-BA738A89B443}"/>
            </c:ext>
          </c:extLst>
        </c:ser>
        <c:ser>
          <c:idx val="1"/>
          <c:order val="1"/>
          <c:tx>
            <c:v>ROC-кривая MiniLM</c:v>
          </c:tx>
          <c:spPr>
            <a:l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extLst>
            <c:ext xmlns:c16="http://schemas.microsoft.com/office/drawing/2014/chart" uri="{C3380CC4-5D6E-409C-BE32-E72D297353CC}">
              <c16:uniqueId val="{00000001-7940-2542-B356-BA738A89B443}"/>
            </c:ext>
          </c:extLst>
        </c:ser>
        <c:ser>
          <c:idx val="2"/>
          <c:order val="2"/>
          <c:tx>
            <c:v>Порог по валидации</c:v>
          </c:tx>
          <c:spPr>
            <a:ln w="0">
              <a:noFill/>
            </a:ln>
          </c:spPr>
          <c:marker>
            <c:symbol val="circle"/>
            <c:size val="11"/>
            <c:spPr>
              <a:solidFill>
                <a:srgbClr val="C95236"/>
              </a:solidFill>
              <a:ln w="0">
                <a:noFill/>
              </a: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extLst>
            <c:ext xmlns:c16="http://schemas.microsoft.com/office/drawing/2014/chart" uri="{C3380CC4-5D6E-409C-BE32-E72D297353CC}">
              <c16:uniqueId val="{00000002-7940-2542-B356-BA738A89B443}"/>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Доля истинноположительных</a:t>
                </a:r>
              </a:p>
            </c:rich>
          </c:tx>
          <c:overlay val="0"/>
        </c:title>
        <c:numFmt formatCode="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2"/>
      </c:valAx>
      <c:valAx>
        <c:axId val="48650112"/>
        <c:scaling>
          <c:orientation val="minMax"/>
          <c:max val="1"/>
          <c:min val="0"/>
        </c:scaling>
        <c:delete val="0"/>
        <c:axPos val="b"/>
        <c:title>
          <c:tx>
            <c:rich>
              <a:bodyPr/>
              <a:lstStyle/>
              <a:p>
                <a:r>
                  <a:rPr lang="ru-RU" sz="1800" b="0">
                    <a:solidFill>
                      <a:srgbClr val="526970"/>
                    </a:solidFill>
                    <a:latin typeface="Arial"/>
                    <a:ea typeface="Arial"/>
                    <a:cs typeface="Arial"/>
                  </a:rPr>
                  <a:t>Доля ложноположительных</a:t>
                </a:r>
              </a:p>
            </c:rich>
          </c:tx>
          <c:overlay val="0"/>
        </c:title>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Все кандидаты</c:v>
          </c:tx>
          <c:spPr>
            <a:ln w="28575">
              <a:solidFill>
                <a:srgbClr val="70858A"/>
              </a:solidFill>
            </a:ln>
          </c:spPr>
          <c:marker>
            <c:symbol val="circle"/>
            <c:size val="8"/>
            <c:spPr>
              <a:solidFill>
                <a:srgbClr val="70858A"/>
              </a:solidFill>
              <a:ln w="0">
                <a:noFill/>
              </a: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extLst>
            <c:ext xmlns:c16="http://schemas.microsoft.com/office/drawing/2014/chart" uri="{C3380CC4-5D6E-409C-BE32-E72D297353CC}">
              <c16:uniqueId val="{00000000-4F93-1744-8DB5-4AB66D35A218}"/>
            </c:ext>
          </c:extLst>
        </c:ser>
        <c:ser>
          <c:idx val="1"/>
          <c:order val="1"/>
          <c:tx>
            <c:v>Предсказаны релевантными</c:v>
          </c:tx>
          <c:spPr>
            <a:ln w="28575">
              <a:solidFill>
                <a:srgbClr val="C95236"/>
              </a:solidFill>
            </a:ln>
          </c:spPr>
          <c:marker>
            <c:symbol val="circle"/>
            <c:size val="8"/>
            <c:spPr>
              <a:solidFill>
                <a:srgbClr val="C95236"/>
              </a:solidFill>
              <a:ln w="0">
                <a:noFill/>
              </a: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extLst>
            <c:ext xmlns:c16="http://schemas.microsoft.com/office/drawing/2014/chart" uri="{C3380CC4-5D6E-409C-BE32-E72D297353CC}">
              <c16:uniqueId val="{00000001-4F93-1744-8DB5-4AB66D35A218}"/>
            </c:ext>
          </c:extLst>
        </c:ser>
        <c:dLbls>
          <c:showLegendKey val="0"/>
          <c:showVal val="0"/>
          <c:showCatName val="0"/>
          <c:showSerName val="0"/>
          <c:showPercent val="0"/>
          <c:showBubbleSize val="0"/>
        </c:dLbls>
        <c:axId val="48650112"/>
        <c:axId val="48672768"/>
      </c:scatterChart>
      <c:valAx>
        <c:axId val="48672768"/>
        <c:scaling>
          <c:orientation val="minMax"/>
          <c:max val="500"/>
          <c:min val="0"/>
        </c:scaling>
        <c:delete val="0"/>
        <c:axPos val="l"/>
        <c:majorGridlines>
          <c:spPr>
            <a:ln w="9525">
              <a:solidFill>
                <a:srgbClr val="D4E1E0"/>
              </a:solidFill>
            </a:ln>
          </c:spPr>
        </c:majorGridlines>
        <c:numFmt formatCode="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00"/>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выдачи каждой модели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extLst>
            <c:ext xmlns:c16="http://schemas.microsoft.com/office/drawing/2014/chart" uri="{C3380CC4-5D6E-409C-BE32-E72D297353CC}">
              <c16:uniqueId val="{00000000-556A-6141-B854-7F188D98849E}"/>
            </c:ext>
          </c:extLst>
        </c:ser>
        <c:ser>
          <c:idx val="1"/>
          <c:order val="1"/>
          <c:tx>
            <c:v>95%-ный парный ДИ при K=10</c:v>
          </c:tx>
          <c:spPr>
            <a:l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extLst>
            <c:ext xmlns:c16="http://schemas.microsoft.com/office/drawing/2014/chart" uri="{C3380CC4-5D6E-409C-BE32-E72D297353CC}">
              <c16:uniqueId val="{00000001-556A-6141-B854-7F188D98849E}"/>
            </c:ext>
          </c:extLst>
        </c:ser>
        <c:ser>
          <c:idx val="2"/>
          <c:order val="2"/>
          <c:tx>
            <c:v>95%-ный парный ДИ при K=30</c:v>
          </c:tx>
          <c:spPr>
            <a:l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extLst>
            <c:ext xmlns:c16="http://schemas.microsoft.com/office/drawing/2014/chart" uri="{C3380CC4-5D6E-409C-BE32-E72D297353CC}">
              <c16:uniqueId val="{00000002-556A-6141-B854-7F188D98849E}"/>
            </c:ext>
          </c:extLst>
        </c:ser>
        <c:ser>
          <c:idx val="3"/>
          <c:order val="3"/>
          <c:tx>
            <c:v>95%-ный парный ДИ при K=50</c:v>
          </c:tx>
          <c:spPr>
            <a:l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extLst>
            <c:ext xmlns:c16="http://schemas.microsoft.com/office/drawing/2014/chart" uri="{C3380CC4-5D6E-409C-BE32-E72D297353CC}">
              <c16:uniqueId val="{00000003-556A-6141-B854-7F188D98849E}"/>
            </c:ext>
          </c:extLst>
        </c:ser>
        <c:ser>
          <c:idx val="4"/>
          <c:order val="4"/>
          <c:tx>
            <c:v>95%-ный парный ДИ при K=100</c:v>
          </c:tx>
          <c:spPr>
            <a:l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extLst>
            <c:ext xmlns:c16="http://schemas.microsoft.com/office/drawing/2014/chart" uri="{C3380CC4-5D6E-409C-BE32-E72D297353CC}">
              <c16:uniqueId val="{00000004-556A-6141-B854-7F188D98849E}"/>
            </c:ext>
          </c:extLst>
        </c:ser>
        <c:ser>
          <c:idx val="5"/>
          <c:order val="5"/>
          <c:tx>
            <c:v>95%-ный парный ДИ при K=200</c:v>
          </c:tx>
          <c:spPr>
            <a:l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extLst>
            <c:ext xmlns:c16="http://schemas.microsoft.com/office/drawing/2014/chart" uri="{C3380CC4-5D6E-409C-BE32-E72D297353CC}">
              <c16:uniqueId val="{00000005-556A-6141-B854-7F188D98849E}"/>
            </c:ext>
          </c:extLst>
        </c:ser>
        <c:ser>
          <c:idx val="6"/>
          <c:order val="6"/>
          <c:tx>
            <c:v>Нижняя граница ДИ при K=10</c:v>
          </c:tx>
          <c:spPr>
            <a:l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extLst>
            <c:ext xmlns:c16="http://schemas.microsoft.com/office/drawing/2014/chart" uri="{C3380CC4-5D6E-409C-BE32-E72D297353CC}">
              <c16:uniqueId val="{00000006-556A-6141-B854-7F188D98849E}"/>
            </c:ext>
          </c:extLst>
        </c:ser>
        <c:ser>
          <c:idx val="7"/>
          <c:order val="7"/>
          <c:tx>
            <c:v>Верхняя граница ДИ при K=10</c:v>
          </c:tx>
          <c:spPr>
            <a:l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extLst>
            <c:ext xmlns:c16="http://schemas.microsoft.com/office/drawing/2014/chart" uri="{C3380CC4-5D6E-409C-BE32-E72D297353CC}">
              <c16:uniqueId val="{00000007-556A-6141-B854-7F188D98849E}"/>
            </c:ext>
          </c:extLst>
        </c:ser>
        <c:ser>
          <c:idx val="8"/>
          <c:order val="8"/>
          <c:tx>
            <c:v>Нижняя граница ДИ при K=30</c:v>
          </c:tx>
          <c:spPr>
            <a:l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extLst>
            <c:ext xmlns:c16="http://schemas.microsoft.com/office/drawing/2014/chart" uri="{C3380CC4-5D6E-409C-BE32-E72D297353CC}">
              <c16:uniqueId val="{00000008-556A-6141-B854-7F188D98849E}"/>
            </c:ext>
          </c:extLst>
        </c:ser>
        <c:ser>
          <c:idx val="9"/>
          <c:order val="9"/>
          <c:tx>
            <c:v>Верхняя граница ДИ при K=30</c:v>
          </c:tx>
          <c:spPr>
            <a:l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extLst>
            <c:ext xmlns:c16="http://schemas.microsoft.com/office/drawing/2014/chart" uri="{C3380CC4-5D6E-409C-BE32-E72D297353CC}">
              <c16:uniqueId val="{00000009-556A-6141-B854-7F188D98849E}"/>
            </c:ext>
          </c:extLst>
        </c:ser>
        <c:ser>
          <c:idx val="10"/>
          <c:order val="10"/>
          <c:tx>
            <c:v>Нижняя граница ДИ при K=50</c:v>
          </c:tx>
          <c:spPr>
            <a:l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extLst>
            <c:ext xmlns:c16="http://schemas.microsoft.com/office/drawing/2014/chart" uri="{C3380CC4-5D6E-409C-BE32-E72D297353CC}">
              <c16:uniqueId val="{0000000A-556A-6141-B854-7F188D98849E}"/>
            </c:ext>
          </c:extLst>
        </c:ser>
        <c:ser>
          <c:idx val="11"/>
          <c:order val="11"/>
          <c:tx>
            <c:v>Верхняя граница ДИ при K=50</c:v>
          </c:tx>
          <c:spPr>
            <a:l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extLst>
            <c:ext xmlns:c16="http://schemas.microsoft.com/office/drawing/2014/chart" uri="{C3380CC4-5D6E-409C-BE32-E72D297353CC}">
              <c16:uniqueId val="{0000000B-556A-6141-B854-7F188D98849E}"/>
            </c:ext>
          </c:extLst>
        </c:ser>
        <c:ser>
          <c:idx val="12"/>
          <c:order val="12"/>
          <c:tx>
            <c:v>Нижняя граница ДИ при K=100</c:v>
          </c:tx>
          <c:spPr>
            <a:l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extLst>
            <c:ext xmlns:c16="http://schemas.microsoft.com/office/drawing/2014/chart" uri="{C3380CC4-5D6E-409C-BE32-E72D297353CC}">
              <c16:uniqueId val="{0000000C-556A-6141-B854-7F188D98849E}"/>
            </c:ext>
          </c:extLst>
        </c:ser>
        <c:ser>
          <c:idx val="13"/>
          <c:order val="13"/>
          <c:tx>
            <c:v>Верхняя граница ДИ при K=100</c:v>
          </c:tx>
          <c:spPr>
            <a:l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extLst>
            <c:ext xmlns:c16="http://schemas.microsoft.com/office/drawing/2014/chart" uri="{C3380CC4-5D6E-409C-BE32-E72D297353CC}">
              <c16:uniqueId val="{0000000D-556A-6141-B854-7F188D98849E}"/>
            </c:ext>
          </c:extLst>
        </c:ser>
        <c:ser>
          <c:idx val="14"/>
          <c:order val="14"/>
          <c:tx>
            <c:v>Нижняя граница ДИ при K=200</c:v>
          </c:tx>
          <c:spPr>
            <a:l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extLst>
            <c:ext xmlns:c16="http://schemas.microsoft.com/office/drawing/2014/chart" uri="{C3380CC4-5D6E-409C-BE32-E72D297353CC}">
              <c16:uniqueId val="{0000000E-556A-6141-B854-7F188D98849E}"/>
            </c:ext>
          </c:extLst>
        </c:ser>
        <c:ser>
          <c:idx val="15"/>
          <c:order val="15"/>
          <c:tx>
            <c:v>Верхняя граница ДИ при K=200</c:v>
          </c:tx>
          <c:spPr>
            <a:l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extLst>
            <c:ext xmlns:c16="http://schemas.microsoft.com/office/drawing/2014/chart" uri="{C3380CC4-5D6E-409C-BE32-E72D297353CC}">
              <c16:uniqueId val="{0000000F-556A-6141-B854-7F188D98849E}"/>
            </c:ext>
          </c:extLst>
        </c:ser>
        <c:ser>
          <c:idx val="16"/>
          <c:order val="16"/>
          <c:tx>
            <c:v>Глубина пула</c:v>
          </c:tx>
          <c:spPr>
            <a:ln w="0">
              <a:noFill/>
            </a:ln>
          </c:spPr>
          <c:marker>
            <c:symbol val="none"/>
          </c:marker>
          <c:dLbls>
            <c:dLbl>
              <c:idx val="0"/>
              <c:tx>
                <c:rich>
                  <a:bodyPr/>
                  <a:lstStyle/>
                  <a:p>
                    <a:r>
                      <a:rPr lang="en" sz="1950">
                        <a:solidFill>
                          <a:srgbClr val="526970"/>
                        </a:solidFill>
                        <a:latin typeface="Arial"/>
                        <a:ea typeface="Arial"/>
                        <a:cs typeface="Arial"/>
                      </a:rPr>
                      <a:t>K = 10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556A-6141-B854-7F188D98849E}"/>
                </c:ext>
              </c:extLst>
            </c:dLbl>
            <c:dLbl>
              <c:idx val="1"/>
              <c:tx>
                <c:rich>
                  <a:bodyPr/>
                  <a:lstStyle/>
                  <a:p>
                    <a:r>
                      <a:rPr lang="en" sz="1950">
                        <a:solidFill>
                          <a:srgbClr val="526970"/>
                        </a:solidFill>
                        <a:latin typeface="Arial"/>
                        <a:ea typeface="Arial"/>
                        <a:cs typeface="Arial"/>
                      </a:rPr>
                      <a:t>K = 30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556A-6141-B854-7F188D98849E}"/>
                </c:ext>
              </c:extLst>
            </c:dLbl>
            <c:dLbl>
              <c:idx val="2"/>
              <c:tx>
                <c:rich>
                  <a:bodyPr/>
                  <a:lstStyle/>
                  <a:p>
                    <a:r>
                      <a:rPr lang="en" sz="1950">
                        <a:solidFill>
                          <a:srgbClr val="526970"/>
                        </a:solidFill>
                        <a:latin typeface="Arial"/>
                        <a:ea typeface="Arial"/>
                        <a:cs typeface="Arial"/>
                      </a:rPr>
                      <a:t>K = 50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556A-6141-B854-7F188D98849E}"/>
                </c:ext>
              </c:extLst>
            </c:dLbl>
            <c:dLbl>
              <c:idx val="3"/>
              <c:tx>
                <c:rich>
                  <a:bodyPr/>
                  <a:lstStyle/>
                  <a:p>
                    <a:r>
                      <a:rPr lang="en" sz="1950">
                        <a:solidFill>
                          <a:srgbClr val="526970"/>
                        </a:solidFill>
                        <a:latin typeface="Arial"/>
                        <a:ea typeface="Arial"/>
                        <a:cs typeface="Arial"/>
                      </a:rPr>
                      <a:t>K = 100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556A-6141-B854-7F188D98849E}"/>
                </c:ext>
              </c:extLst>
            </c:dLbl>
            <c:dLbl>
              <c:idx val="4"/>
              <c:tx>
                <c:rich>
                  <a:bodyPr/>
                  <a:lstStyle/>
                  <a:p>
                    <a:r>
                      <a:rPr lang="en" sz="1950">
                        <a:solidFill>
                          <a:srgbClr val="526970"/>
                        </a:solidFill>
                        <a:latin typeface="Arial"/>
                        <a:ea typeface="Arial"/>
                        <a:cs typeface="Arial"/>
                      </a:rPr>
                      <a:t>K = 200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556A-6141-B854-7F188D98849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5-556A-6141-B854-7F188D98849E}"/>
            </c:ext>
          </c:extLst>
        </c:ser>
        <c:ser>
          <c:idx val="17"/>
          <c:order val="17"/>
          <c:tx>
            <c:v>RRF минус E5 по горизонтали</c:v>
          </c:tx>
          <c:spPr>
            <a:ln w="0">
              <a:noFill/>
            </a:ln>
          </c:spPr>
          <c:marker>
            <c:symbol val="circle"/>
            <c:size val="4"/>
            <c:spPr>
              <a:solidFill>
                <a:srgbClr val="C95236"/>
              </a:solidFill>
              <a:ln w="0">
                <a:noFill/>
              </a:ln>
            </c:spPr>
          </c:marker>
          <c:errBars>
            <c:errDir val="x"/>
            <c:errBarType val="both"/>
            <c:errValType val="cust"/>
            <c:noEndCap val="0"/>
            <c:plus>
              <c:numLit>
                <c:formatCode>0.00000000</c:formatCode>
                <c:ptCount val="5"/>
                <c:pt idx="0">
                  <c:v>6.9373999999999998E-4</c:v>
                </c:pt>
                <c:pt idx="1">
                  <c:v>6.4972999999999995E-4</c:v>
                </c:pt>
                <c:pt idx="2">
                  <c:v>7.1120000000000005E-4</c:v>
                </c:pt>
                <c:pt idx="3">
                  <c:v>7.2097000000000003E-4</c:v>
                </c:pt>
                <c:pt idx="4">
                  <c:v>7.0509999999999995E-4</c:v>
                </c:pt>
              </c:numLit>
            </c:plus>
            <c:minus>
              <c:numLit>
                <c:formatCode>0.00000000</c:formatCode>
                <c:ptCount val="5"/>
                <c:pt idx="0">
                  <c:v>7.1513999999999996E-4</c:v>
                </c:pt>
                <c:pt idx="1">
                  <c:v>6.4189E-4</c:v>
                </c:pt>
                <c:pt idx="2">
                  <c:v>6.9870999999999996E-4</c:v>
                </c:pt>
                <c:pt idx="3">
                  <c:v>7.0184999999999996E-4</c:v>
                </c:pt>
                <c:pt idx="4">
                  <c:v>6.7312999999999997E-4</c:v>
                </c:pt>
              </c:numLit>
            </c:minus>
            <c:spPr>
              <a:ln w="22860">
                <a:solidFill>
                  <a:srgbClr val="C95236"/>
                </a:solidFill>
              </a: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6-556A-6141-B854-7F188D98849E}"/>
            </c:ext>
          </c:extLst>
        </c:ser>
        <c:dLbls>
          <c:showLegendKey val="0"/>
          <c:showVal val="0"/>
          <c:showCatName val="0"/>
          <c:showSerName val="0"/>
          <c:showPercent val="0"/>
          <c:showBubbleSize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w="0">
            <a:no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
      </c:valAx>
      <c:valAx>
        <c:axId val="48650112"/>
        <c:scaling>
          <c:orientation val="minMax"/>
          <c:max val="0.02"/>
          <c:min val="-0.03"/>
        </c:scaling>
        <c:delete val="0"/>
        <c:axPos val="b"/>
        <c:title>
          <c:tx>
            <c:rich>
              <a:bodyPr/>
              <a:lstStyle/>
              <a:p>
                <a:r>
                  <a:rPr lang="en" sz="1800" b="0">
                    <a:solidFill>
                      <a:srgbClr val="526970"/>
                    </a:solidFill>
                    <a:latin typeface="Arial"/>
                    <a:ea typeface="Arial"/>
                    <a:cs typeface="Arial"/>
                  </a:rPr>
                  <a:t>NDCG@10</a:t>
                </a:r>
                <a:r>
                  <a:rPr lang="en" sz="1800" b="0" baseline="-25000">
                    <a:solidFill>
                      <a:srgbClr val="526970"/>
                    </a:solidFill>
                    <a:latin typeface="Arial"/>
                    <a:ea typeface="Arial"/>
                    <a:cs typeface="Arial"/>
                  </a:rPr>
                  <a:t>RRF</a:t>
                </a:r>
                <a:r>
                  <a:rPr lang="en" sz="1800" b="0">
                    <a:solidFill>
                      <a:srgbClr val="526970"/>
                    </a:solidFill>
                    <a:latin typeface="Arial"/>
                    <a:ea typeface="Arial"/>
                    <a:cs typeface="Arial"/>
                  </a:rPr>
                  <a:t> − NDCG@10</a:t>
                </a:r>
                <a:r>
                  <a:rPr lang="en" sz="1800" b="0" baseline="-25000">
                    <a:solidFill>
                      <a:srgbClr val="526970"/>
                    </a:solidFill>
                    <a:latin typeface="Arial"/>
                    <a:ea typeface="Arial"/>
                    <a:cs typeface="Arial"/>
                  </a:rPr>
                  <a:t>E5</a:t>
                </a:r>
              </a:p>
            </c:rich>
          </c:tx>
          <c:overlay val="0"/>
        </c:title>
        <c:numFmt formatCode="\+0.00;\-0.0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0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extLst>
            <c:ext xmlns:c16="http://schemas.microsoft.com/office/drawing/2014/chart" uri="{C3380CC4-5D6E-409C-BE32-E72D297353CC}">
              <c16:uniqueId val="{00000000-5113-0241-9301-39E7D94AC771}"/>
            </c:ext>
          </c:extLst>
        </c:ser>
        <c:ser>
          <c:idx val="1"/>
          <c:order val="1"/>
          <c:tx>
            <c:v>RRF минус E5</c:v>
          </c:tx>
          <c:spPr>
            <a:ln w="28575">
              <a:solidFill>
                <a:srgbClr val="007F78"/>
              </a:solidFill>
            </a:ln>
          </c:spPr>
          <c:marker>
            <c:symbol val="circle"/>
            <c:size val="3"/>
            <c:spPr>
              <a:solidFill>
                <a:srgbClr val="007F78"/>
              </a:solidFill>
              <a:ln w="0">
                <a:noFill/>
              </a:ln>
            </c:spPr>
          </c:marker>
          <c:errBars>
            <c:errDir val="y"/>
            <c:errBarType val="both"/>
            <c:errValType val="cust"/>
            <c:noEndCap val="0"/>
            <c:plus>
              <c:numLit>
                <c:formatCode>0.00000000</c:formatCode>
                <c:ptCount val="5"/>
                <c:pt idx="0">
                  <c:v>9.4826999999999997E-4</c:v>
                </c:pt>
                <c:pt idx="1">
                  <c:v>7.4348999999999997E-4</c:v>
                </c:pt>
                <c:pt idx="2">
                  <c:v>7.1776999999999995E-4</c:v>
                </c:pt>
                <c:pt idx="3">
                  <c:v>7.1668000000000003E-4</c:v>
                </c:pt>
                <c:pt idx="4">
                  <c:v>7.0509999999999995E-4</c:v>
                </c:pt>
              </c:numLit>
            </c:plus>
            <c:minus>
              <c:numLit>
                <c:formatCode>0.00000000</c:formatCode>
                <c:ptCount val="5"/>
                <c:pt idx="0">
                  <c:v>9.5151000000000003E-4</c:v>
                </c:pt>
                <c:pt idx="1">
                  <c:v>7.3647999999999997E-4</c:v>
                </c:pt>
                <c:pt idx="2">
                  <c:v>7.0542000000000001E-4</c:v>
                </c:pt>
                <c:pt idx="3">
                  <c:v>6.8097999999999998E-4</c:v>
                </c:pt>
                <c:pt idx="4">
                  <c:v>6.7312999999999997E-4</c:v>
                </c:pt>
              </c:numLit>
            </c:minus>
            <c:spPr>
              <a:ln w="22860">
                <a:solidFill>
                  <a:srgbClr val="007F78"/>
                </a:solidFill>
              </a: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extLst>
            <c:ext xmlns:c16="http://schemas.microsoft.com/office/drawing/2014/chart" uri="{C3380CC4-5D6E-409C-BE32-E72D297353CC}">
              <c16:uniqueId val="{00000001-5113-0241-9301-39E7D94AC771}"/>
            </c:ext>
          </c:extLst>
        </c:ser>
        <c:dLbls>
          <c:showLegendKey val="0"/>
          <c:showVal val="0"/>
          <c:showCatName val="0"/>
          <c:showSerName val="0"/>
          <c:showPercent val="0"/>
          <c:showBubbleSize val="0"/>
        </c:dLbls>
        <c:axId val="48650112"/>
        <c:axId val="48672768"/>
      </c:scatterChart>
      <c:valAx>
        <c:axId val="48672768"/>
        <c:scaling>
          <c:orientation val="minMax"/>
          <c:max val="0.02"/>
          <c:min val="-0.08"/>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Разность </a:t>
                </a:r>
                <a:r>
                  <a:rPr lang="en" sz="1800" b="0">
                    <a:solidFill>
                      <a:srgbClr val="526970"/>
                    </a:solidFill>
                    <a:latin typeface="Arial"/>
                    <a:ea typeface="Arial"/>
                    <a:cs typeface="Arial"/>
                  </a:rPr>
                  <a:t>NDCG@10</a:t>
                </a:r>
              </a:p>
            </c:rich>
          </c:tx>
          <c:overlay val="0"/>
        </c:title>
        <c:numFmt formatCode="\+0.00;\-0.0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02"/>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оценочного пула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Здравствуйте!  Я представлю нашу работу по углубленной доразметке MS MARCO и оценке поиска на контролируемых пулах кандидатов, .</a:t>
            </a:r>
          </a:p>
          <a:p>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a:r>
              <a: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a:t>
            </a:r>
          </a:p>
          <a:p>
            <a:r>
              <a:t>Источники</a:t>
            </a:r>
          </a:p>
          <a:p>
            <a:r>
              <a:t>, G. , N. . Deep Re-annotation and Controlled Candidate Pools for Re-evaluating Ranking Models on MS MARCO. DAMDID 2026. Результаты экспериментов в контролируемых пулах.</a:t>
            </a:r>
          </a:p>
          <a:p>
            <a:r>
              <a:t>Историческая таблица MS MARCO Passage Ranking, срез 30 ноября 2022 года. https://github.com/microsoft/MSMARCO-Passage-Ranking-Submissions/blob/abb44144f563e7972d5131f5d6acc2092877964c/leaderboard/leaderboard.csv</a:t>
            </a:r>
          </a:p>
          <a:p>
            <a:r>
              <a: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a:t>
            </a:r>
          </a:p>
          <a:p>
            <a:r>
              <a: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a:t>
            </a:r>
          </a:p>
          <a:p>
            <a:r>
              <a: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a:t>
            </a:r>
          </a:p>
          <a:p>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a:r>
              <a: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a:t>
            </a:r>
          </a:p>
          <a:p>
            <a:r>
              <a: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a:t>
            </a:r>
          </a:p>
          <a:p>
            <a:r>
              <a: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a:t>
            </a:r>
          </a:p>
          <a:p>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a:r>
              <a: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a:t>
            </a:r>
          </a:p>
          <a:p>
            <a:r>
              <a: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a:t>
            </a:r>
          </a:p>
          <a:p>
            <a:r>
              <a: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a:t>
            </a:r>
          </a:p>
          <a:p>
            <a:r>
              <a: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a:t>
            </a:r>
          </a:p>
          <a:p>
            <a:r>
              <a: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a:t>
            </a:r>
          </a:p>
          <a:p>
            <a:r>
              <a: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a:t>
            </a:r>
          </a:p>
          <a:p>
            <a:r>
              <a: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a:t>
            </a:r>
          </a:p>
          <a:p>
            <a:r>
              <a: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a:t>
            </a:r>
          </a:p>
          <a:p>
            <a:r>
              <a: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a:t>
            </a:r>
          </a:p>
          <a:p>
            <a:r>
              <a: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a:t>
            </a:r>
          </a:p>
          <a:p>
            <a:r>
              <a: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a:r>
              <a: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a:t>
            </a:r>
          </a:p>
          <a:p>
            <a:r>
              <a: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a:t>
            </a:r>
          </a:p>
          <a:p>
            <a:r>
              <a: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a:t>
            </a:r>
          </a:p>
          <a:p>
            <a:r>
              <a: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a:t>
            </a:r>
          </a:p>
          <a:p>
            <a:r>
              <a: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a:t>
            </a:r>
          </a:p>
          <a:p>
            <a:r>
              <a: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a:t>
            </a:r>
          </a:p>
          <a:p>
            <a:r>
              <a: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a:t>
            </a:r>
          </a:p>
          <a:p>
            <a:r>
              <a: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a:t>
            </a:r>
          </a:p>
          <a:p>
            <a:r>
              <a: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На слайде приведены основные работы и ссылки на использованные методы и наборы данных.</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a:p>
            <a:r>
              <a:t>BM25: https://doi.org/10.1561/1500000019</a:t>
            </a:r>
          </a:p>
          <a:p>
            <a:r>
              <a:t>E5: https://arxiv.org/abs/2212.03533</a:t>
            </a:r>
          </a:p>
          <a:p>
            <a:r>
              <a:t>Модель E5: https://huggingface.co/intfloat/e5-small-v2</a:t>
            </a:r>
          </a:p>
          <a:p>
            <a:r>
              <a:t>Модель BGE: https://huggingface.co/BAAI/bge-small-en-v1.5</a:t>
            </a:r>
          </a:p>
          <a:p>
            <a:r>
              <a:t>Wang et al. MiniLM. 2020. https://arxiv.org/abs/2002.10957</a:t>
            </a:r>
          </a:p>
          <a:p>
            <a:r>
              <a:t>Исходная модель: https://huggingface.co/cross-encoder/ms-marco-MiniLM-L6-v2</a:t>
            </a:r>
          </a:p>
          <a:p>
            <a:r>
              <a:t>Cormack, Clarke, Büttcher. Reciprocal Rank Fusion outperforms Condorcet and individual Rank Learning Methods. SIGIR 2009. https://doi.org/10.1145/1571941.1572114</a:t>
            </a:r>
          </a:p>
          <a:p>
            <a:r>
              <a:t>MS MARCO Passage Ranking v1. https://ir-datasets.com/msmarco-passage.html#msmarco-passage/dev</a:t>
            </a:r>
          </a:p>
          <a:p>
            <a:r>
              <a:t>Архив запросов: https://msmarco.z22.web.core.windows.net/msmarcoranking/queries.tar.gz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a:t>
            </a:r>
          </a:p>
          <a:p>
            <a:r>
              <a: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a:t>
            </a:r>
          </a:p>
          <a:p>
            <a:r>
              <a: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a:t>
            </a:r>
          </a:p>
          <a:p>
            <a:r>
              <a: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a:t>
            </a:r>
          </a:p>
          <a:p>
            <a:r>
              <a: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оценка качества, а возможности самой поисковой модели остались прежними. NDCG@10 учитывает релевантность в первой десятке с большим весом верхних позиций и нормирует ее относительно идеальной выдачи.</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a:t>
            </a:r>
          </a:p>
          <a:p>
            <a:r>
              <a:t>На 5 002 тестовых парах получены 2 882 верных положительных решения и 1 300 верных отрицательных решений. Ошибок двух типов соответственно 506 и 314: ложноположительные и ложноотрицательные.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a:t>
            </a:r>
          </a:p>
          <a:p>
            <a:r>
              <a: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a:t>
            </a:r>
          </a:p>
          <a:p>
            <a:r>
              <a: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a:t>
            </a:r>
          </a:p>
          <a:p>
            <a:r>
              <a:t>L ограничивает входные списки BM25, E5 и BGE до слияния. NDCG@10 оценивает первые десять позиций уже получившегося списка RRF. Это разные этапы.</a:t>
            </a:r>
          </a:p>
          <a:p>
            <a:r>
              <a: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a:t>
            </a:r>
          </a:p>
          <a:p>
            <a:r>
              <a: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Человек</a:t>
            </a:r>
            <a:r>
              <a:rPr dirty="0"/>
              <a:t> </a:t>
            </a:r>
            <a:r>
              <a:rPr dirty="0" err="1"/>
              <a:t>видел</a:t>
            </a:r>
            <a:r>
              <a:rPr dirty="0"/>
              <a:t> </a:t>
            </a:r>
            <a:r>
              <a:rPr dirty="0" err="1"/>
              <a:t>запрос</a:t>
            </a:r>
            <a:r>
              <a:rPr dirty="0"/>
              <a:t>, </a:t>
            </a:r>
            <a:r>
              <a:rPr dirty="0" err="1"/>
              <a:t>оцениваемый</a:t>
            </a:r>
            <a:r>
              <a:rPr dirty="0"/>
              <a:t> </a:t>
            </a:r>
            <a:r>
              <a:rPr dirty="0" err="1"/>
              <a:t>фрагмент</a:t>
            </a:r>
            <a:r>
              <a:rPr dirty="0"/>
              <a:t> </a:t>
            </a:r>
            <a:r>
              <a:rPr dirty="0" err="1"/>
              <a:t>и</a:t>
            </a:r>
            <a:r>
              <a:rPr dirty="0"/>
              <a:t> </a:t>
            </a:r>
            <a:r>
              <a:rPr dirty="0" err="1"/>
              <a:t>известный</a:t>
            </a:r>
            <a:r>
              <a:rPr dirty="0"/>
              <a:t> </a:t>
            </a:r>
            <a:r>
              <a:rPr dirty="0" err="1"/>
              <a:t>релевантный</a:t>
            </a:r>
            <a:r>
              <a:rPr dirty="0"/>
              <a:t> </a:t>
            </a:r>
            <a:r>
              <a:rPr dirty="0" err="1"/>
              <a:t>ответ</a:t>
            </a:r>
            <a:r>
              <a:rPr dirty="0"/>
              <a:t>. </a:t>
            </a:r>
            <a:r>
              <a:rPr dirty="0" err="1"/>
              <a:t>Подготовка</a:t>
            </a:r>
            <a:r>
              <a:rPr dirty="0"/>
              <a:t> </a:t>
            </a:r>
            <a:r>
              <a:rPr dirty="0" err="1"/>
              <a:t>ручных</a:t>
            </a:r>
            <a:r>
              <a:rPr dirty="0"/>
              <a:t> </a:t>
            </a:r>
            <a:r>
              <a:rPr dirty="0" err="1"/>
              <a:t>кандидатов</a:t>
            </a:r>
            <a:r>
              <a:rPr dirty="0"/>
              <a:t> </a:t>
            </a:r>
            <a:r>
              <a:rPr dirty="0" err="1"/>
              <a:t>также</a:t>
            </a:r>
            <a:r>
              <a:rPr dirty="0"/>
              <a:t> </a:t>
            </a:r>
            <a:r>
              <a:rPr dirty="0" err="1"/>
              <a:t>использовала</a:t>
            </a:r>
            <a:r>
              <a:rPr dirty="0"/>
              <a:t> </a:t>
            </a:r>
            <a:r>
              <a:rPr dirty="0" err="1"/>
              <a:t>сходство</a:t>
            </a:r>
            <a:r>
              <a:rPr dirty="0"/>
              <a:t> E5 </a:t>
            </a:r>
            <a:r>
              <a:rPr dirty="0" err="1"/>
              <a:t>с</a:t>
            </a:r>
            <a:r>
              <a:rPr dirty="0"/>
              <a:t> </a:t>
            </a:r>
            <a:r>
              <a:rPr dirty="0" err="1"/>
              <a:t>этим</a:t>
            </a:r>
            <a:r>
              <a:rPr dirty="0"/>
              <a:t> </a:t>
            </a:r>
            <a:r>
              <a:rPr dirty="0" err="1"/>
              <a:t>ответом</a:t>
            </a:r>
            <a:r>
              <a:rPr dirty="0"/>
              <a:t>. </a:t>
            </a:r>
            <a:r>
              <a:rPr dirty="0" err="1"/>
              <a:t>Судья</a:t>
            </a:r>
            <a:r>
              <a:rPr dirty="0"/>
              <a:t> </a:t>
            </a:r>
            <a:r>
              <a:rPr dirty="0" err="1"/>
              <a:t>получает</a:t>
            </a:r>
            <a:r>
              <a:rPr dirty="0"/>
              <a:t> </a:t>
            </a:r>
            <a:r>
              <a:rPr dirty="0" err="1"/>
              <a:t>только</a:t>
            </a:r>
            <a:r>
              <a:rPr dirty="0"/>
              <a:t> </a:t>
            </a:r>
            <a:r>
              <a:rPr dirty="0" err="1"/>
              <a:t>тексты</a:t>
            </a:r>
            <a:r>
              <a:rPr dirty="0"/>
              <a:t> </a:t>
            </a:r>
            <a:r>
              <a:rPr dirty="0" err="1"/>
              <a:t>запроса</a:t>
            </a:r>
            <a:r>
              <a:rPr dirty="0"/>
              <a:t> </a:t>
            </a:r>
            <a:r>
              <a:rPr dirty="0" err="1"/>
              <a:t>и</a:t>
            </a:r>
            <a:r>
              <a:rPr dirty="0"/>
              <a:t> </a:t>
            </a:r>
            <a:r>
              <a:rPr dirty="0" err="1"/>
              <a:t>кандидата</a:t>
            </a:r>
            <a:r>
              <a:rPr dirty="0"/>
              <a:t>. </a:t>
            </a:r>
            <a:r>
              <a:rPr dirty="0" err="1"/>
              <a:t>Он</a:t>
            </a:r>
            <a:r>
              <a:rPr dirty="0"/>
              <a:t> </a:t>
            </a:r>
            <a:r>
              <a:rPr dirty="0" err="1"/>
              <a:t>не</a:t>
            </a:r>
            <a:r>
              <a:rPr dirty="0"/>
              <a:t> </a:t>
            </a:r>
            <a:r>
              <a:rPr dirty="0" err="1"/>
              <a:t>получает</a:t>
            </a:r>
            <a:r>
              <a:rPr dirty="0"/>
              <a:t> </a:t>
            </a:r>
            <a:r>
              <a:rPr dirty="0" err="1"/>
              <a:t>известного</a:t>
            </a:r>
            <a:r>
              <a:rPr dirty="0"/>
              <a:t> </a:t>
            </a:r>
            <a:r>
              <a:rPr dirty="0" err="1"/>
              <a:t>ответа</a:t>
            </a:r>
            <a:r>
              <a:rPr dirty="0"/>
              <a:t>, </a:t>
            </a:r>
            <a:r>
              <a:rPr dirty="0" err="1"/>
              <a:t>позиций</a:t>
            </a:r>
            <a:r>
              <a:rPr dirty="0"/>
              <a:t>, </a:t>
            </a:r>
            <a:r>
              <a:rPr dirty="0" err="1"/>
              <a:t>баллов</a:t>
            </a:r>
            <a:r>
              <a:rPr dirty="0"/>
              <a:t> BM25, E5 </a:t>
            </a:r>
            <a:r>
              <a:rPr dirty="0" err="1"/>
              <a:t>или</a:t>
            </a:r>
            <a:r>
              <a:rPr dirty="0"/>
              <a:t> BGE </a:t>
            </a:r>
            <a:r>
              <a:rPr dirty="0" err="1"/>
              <a:t>и</a:t>
            </a:r>
            <a:r>
              <a:rPr dirty="0"/>
              <a:t> </a:t>
            </a:r>
            <a:r>
              <a:rPr dirty="0" err="1"/>
              <a:t>заранее</a:t>
            </a:r>
            <a:r>
              <a:rPr dirty="0"/>
              <a:t> </a:t>
            </a:r>
            <a:r>
              <a:rPr dirty="0" err="1"/>
              <a:t>рассчитанных</a:t>
            </a:r>
            <a:r>
              <a:rPr dirty="0"/>
              <a:t> </a:t>
            </a:r>
            <a:r>
              <a:rPr dirty="0" err="1"/>
              <a:t>эмбеддингов</a:t>
            </a:r>
            <a:r>
              <a:rPr dirty="0"/>
              <a:t>. </a:t>
            </a:r>
            <a:r>
              <a:rPr dirty="0" err="1"/>
              <a:t>Добавление</a:t>
            </a:r>
            <a:r>
              <a:rPr dirty="0"/>
              <a:t> </a:t>
            </a:r>
            <a:r>
              <a:rPr dirty="0" err="1"/>
              <a:t>эталонного</a:t>
            </a:r>
            <a:r>
              <a:rPr dirty="0"/>
              <a:t> </a:t>
            </a:r>
            <a:r>
              <a:rPr dirty="0" err="1"/>
              <a:t>ответа</a:t>
            </a:r>
            <a:r>
              <a:rPr dirty="0"/>
              <a:t> </a:t>
            </a:r>
            <a:r>
              <a:rPr dirty="0" err="1"/>
              <a:t>ко</a:t>
            </a:r>
            <a:r>
              <a:rPr dirty="0"/>
              <a:t> </a:t>
            </a:r>
            <a:r>
              <a:rPr dirty="0" err="1"/>
              <a:t>входу</a:t>
            </a:r>
            <a:r>
              <a:rPr dirty="0"/>
              <a:t> </a:t>
            </a:r>
            <a:r>
              <a:rPr dirty="0" err="1"/>
              <a:t>судьи</a:t>
            </a:r>
            <a:r>
              <a:rPr dirty="0"/>
              <a:t> </a:t>
            </a:r>
            <a:r>
              <a:rPr dirty="0" err="1"/>
              <a:t>предложено</a:t>
            </a:r>
            <a:r>
              <a:rPr dirty="0"/>
              <a:t> </a:t>
            </a:r>
            <a:r>
              <a:rPr dirty="0" err="1"/>
              <a:t>как</a:t>
            </a:r>
            <a:r>
              <a:rPr dirty="0"/>
              <a:t> </a:t>
            </a:r>
            <a:r>
              <a:rPr dirty="0" err="1"/>
              <a:t>следующий</a:t>
            </a:r>
            <a:r>
              <a:rPr dirty="0"/>
              <a:t> </a:t>
            </a:r>
            <a:r>
              <a:rPr dirty="0" err="1"/>
              <a:t>эксперимент</a:t>
            </a:r>
            <a:r>
              <a:rPr dirty="0"/>
              <a:t>.</a:t>
            </a:r>
          </a:p>
          <a:p>
            <a:r>
              <a:rPr dirty="0" err="1"/>
              <a:t>Судья</a:t>
            </a:r>
            <a:r>
              <a:rPr dirty="0"/>
              <a:t> </a:t>
            </a:r>
            <a:r>
              <a:rPr dirty="0" err="1"/>
              <a:t>нужен</a:t>
            </a:r>
            <a:r>
              <a:rPr dirty="0"/>
              <a:t> </a:t>
            </a:r>
            <a:r>
              <a:rPr dirty="0" err="1"/>
              <a:t>как</a:t>
            </a:r>
            <a:r>
              <a:rPr dirty="0"/>
              <a:t> </a:t>
            </a:r>
            <a:r>
              <a:rPr dirty="0" err="1"/>
              <a:t>доступный</a:t>
            </a:r>
            <a:r>
              <a:rPr dirty="0"/>
              <a:t> </a:t>
            </a:r>
            <a:r>
              <a:rPr dirty="0" err="1"/>
              <a:t>способ</a:t>
            </a:r>
            <a:r>
              <a:rPr dirty="0"/>
              <a:t> </a:t>
            </a:r>
            <a:r>
              <a:rPr dirty="0" err="1"/>
              <a:t>получить</a:t>
            </a:r>
            <a:r>
              <a:rPr dirty="0"/>
              <a:t> </a:t>
            </a:r>
            <a:r>
              <a:rPr dirty="0" err="1"/>
              <a:t>много</a:t>
            </a:r>
            <a:r>
              <a:rPr dirty="0"/>
              <a:t> </a:t>
            </a:r>
            <a:r>
              <a:rPr dirty="0" err="1"/>
              <a:t>дополнительных</a:t>
            </a:r>
            <a:r>
              <a:rPr dirty="0"/>
              <a:t> </a:t>
            </a:r>
            <a:r>
              <a:rPr dirty="0" err="1"/>
              <a:t>оценок</a:t>
            </a:r>
            <a:r>
              <a:rPr dirty="0"/>
              <a:t> </a:t>
            </a:r>
            <a:r>
              <a:rPr dirty="0" err="1"/>
              <a:t>и</a:t>
            </a:r>
            <a:r>
              <a:rPr dirty="0"/>
              <a:t> </a:t>
            </a:r>
            <a:r>
              <a:rPr dirty="0" err="1"/>
              <a:t>исследовать</a:t>
            </a:r>
            <a:r>
              <a:rPr dirty="0"/>
              <a:t> </a:t>
            </a:r>
            <a:r>
              <a:rPr dirty="0" err="1"/>
              <a:t>зависимость</a:t>
            </a:r>
            <a:r>
              <a:rPr dirty="0"/>
              <a:t> </a:t>
            </a:r>
            <a:r>
              <a:rPr dirty="0" err="1"/>
              <a:t>метрик</a:t>
            </a:r>
            <a:r>
              <a:rPr dirty="0"/>
              <a:t> </a:t>
            </a:r>
            <a:r>
              <a:rPr dirty="0" err="1"/>
              <a:t>от</a:t>
            </a:r>
            <a:r>
              <a:rPr dirty="0"/>
              <a:t> </a:t>
            </a:r>
            <a:r>
              <a:rPr dirty="0" err="1"/>
              <a:t>охвата</a:t>
            </a:r>
            <a:r>
              <a:rPr dirty="0"/>
              <a:t>. </a:t>
            </a:r>
            <a:r>
              <a:rPr dirty="0" err="1"/>
              <a:t>Он</a:t>
            </a:r>
            <a:r>
              <a:rPr dirty="0"/>
              <a:t> </a:t>
            </a:r>
            <a:r>
              <a:rPr dirty="0" err="1"/>
              <a:t>не</a:t>
            </a:r>
            <a:r>
              <a:rPr dirty="0"/>
              <a:t> </a:t>
            </a:r>
            <a:r>
              <a:rPr dirty="0" err="1"/>
              <a:t>заменяет</a:t>
            </a:r>
            <a:r>
              <a:rPr dirty="0"/>
              <a:t> </a:t>
            </a:r>
            <a:r>
              <a:rPr dirty="0" err="1"/>
              <a:t>поисковые</a:t>
            </a:r>
            <a:r>
              <a:rPr dirty="0"/>
              <a:t> </a:t>
            </a:r>
            <a:r>
              <a:rPr dirty="0" err="1"/>
              <a:t>системы</a:t>
            </a:r>
            <a:r>
              <a:rPr dirty="0"/>
              <a:t> </a:t>
            </a:r>
            <a:r>
              <a:rPr dirty="0" err="1"/>
              <a:t>и</a:t>
            </a:r>
            <a:r>
              <a:rPr dirty="0"/>
              <a:t> </a:t>
            </a:r>
            <a:r>
              <a:rPr dirty="0" err="1"/>
              <a:t>не</a:t>
            </a:r>
            <a:r>
              <a:rPr dirty="0"/>
              <a:t> </a:t>
            </a:r>
            <a:r>
              <a:rPr dirty="0" err="1"/>
              <a:t>считается</a:t>
            </a:r>
            <a:r>
              <a:rPr dirty="0"/>
              <a:t> </a:t>
            </a:r>
            <a:r>
              <a:rPr dirty="0" err="1"/>
              <a:t>безошибочным</a:t>
            </a:r>
            <a:r>
              <a:rPr dirty="0"/>
              <a:t> </a:t>
            </a:r>
            <a:r>
              <a:rPr dirty="0" err="1"/>
              <a:t>эталоном</a:t>
            </a:r>
            <a:r>
              <a:rPr dirty="0"/>
              <a:t>. BM25, E5 </a:t>
            </a:r>
            <a:r>
              <a:rPr dirty="0" err="1"/>
              <a:t>и</a:t>
            </a:r>
            <a:r>
              <a:rPr dirty="0"/>
              <a:t> BGE </a:t>
            </a:r>
            <a:r>
              <a:rPr dirty="0" err="1"/>
              <a:t>по-прежнему</a:t>
            </a:r>
            <a:r>
              <a:rPr dirty="0"/>
              <a:t> </a:t>
            </a:r>
            <a:r>
              <a:rPr dirty="0" err="1"/>
              <a:t>находят</a:t>
            </a:r>
            <a:r>
              <a:rPr dirty="0"/>
              <a:t> </a:t>
            </a:r>
            <a:r>
              <a:rPr dirty="0" err="1"/>
              <a:t>и</a:t>
            </a:r>
            <a:r>
              <a:rPr dirty="0"/>
              <a:t> </a:t>
            </a:r>
            <a:r>
              <a:rPr dirty="0" err="1"/>
              <a:t>ранжируют</a:t>
            </a:r>
            <a:r>
              <a:rPr dirty="0"/>
              <a:t> </a:t>
            </a:r>
            <a:r>
              <a:rPr dirty="0" err="1"/>
              <a:t>кандидатов</a:t>
            </a:r>
            <a:r>
              <a:rPr dirty="0"/>
              <a:t>. </a:t>
            </a:r>
            <a:r>
              <a:rPr dirty="0" err="1"/>
              <a:t>На</a:t>
            </a:r>
            <a:r>
              <a:rPr dirty="0"/>
              <a:t> </a:t>
            </a:r>
            <a:r>
              <a:rPr dirty="0" err="1"/>
              <a:t>ручных</a:t>
            </a:r>
            <a:r>
              <a:rPr dirty="0"/>
              <a:t> </a:t>
            </a:r>
            <a:r>
              <a:rPr dirty="0" err="1"/>
              <a:t>данных</a:t>
            </a:r>
            <a:r>
              <a:rPr dirty="0"/>
              <a:t> </a:t>
            </a:r>
            <a:r>
              <a:rPr dirty="0" err="1"/>
              <a:t>их</a:t>
            </a:r>
            <a:r>
              <a:rPr dirty="0"/>
              <a:t> </a:t>
            </a:r>
            <a:r>
              <a:rPr dirty="0" err="1"/>
              <a:t>сравнение</a:t>
            </a:r>
            <a:r>
              <a:rPr dirty="0"/>
              <a:t> </a:t>
            </a:r>
            <a:r>
              <a:rPr dirty="0" err="1"/>
              <a:t>опирается</a:t>
            </a:r>
            <a:r>
              <a:rPr dirty="0"/>
              <a:t> </a:t>
            </a:r>
            <a:r>
              <a:rPr dirty="0" err="1"/>
              <a:t>на</a:t>
            </a:r>
            <a:r>
              <a:rPr dirty="0"/>
              <a:t> </a:t>
            </a:r>
            <a:r>
              <a:rPr dirty="0" err="1"/>
              <a:t>человеческие</a:t>
            </a:r>
            <a:r>
              <a:rPr dirty="0"/>
              <a:t> </a:t>
            </a:r>
            <a:r>
              <a:rPr dirty="0" err="1"/>
              <a:t>оценки</a:t>
            </a:r>
            <a:r>
              <a:rPr dirty="0"/>
              <a:t>. </a:t>
            </a:r>
            <a:r>
              <a:rPr dirty="0" err="1"/>
              <a:t>Масштабные</a:t>
            </a:r>
            <a:r>
              <a:rPr dirty="0"/>
              <a:t> </a:t>
            </a:r>
            <a:r>
              <a:rPr dirty="0" err="1"/>
              <a:t>выводы</a:t>
            </a:r>
            <a:r>
              <a:rPr dirty="0"/>
              <a:t> </a:t>
            </a:r>
            <a:r>
              <a:rPr dirty="0" err="1"/>
              <a:t>с</a:t>
            </a:r>
            <a:r>
              <a:rPr dirty="0"/>
              <a:t> </a:t>
            </a:r>
            <a:r>
              <a:rPr dirty="0" err="1"/>
              <a:t>MiniLM</a:t>
            </a:r>
            <a:r>
              <a:rPr dirty="0"/>
              <a:t> </a:t>
            </a:r>
            <a:r>
              <a:rPr dirty="0" err="1"/>
              <a:t>условны</a:t>
            </a:r>
            <a:r>
              <a:rPr dirty="0"/>
              <a:t> </a:t>
            </a:r>
            <a:r>
              <a:rPr dirty="0" err="1"/>
              <a:t>и</a:t>
            </a:r>
            <a:r>
              <a:rPr dirty="0"/>
              <a:t> </a:t>
            </a:r>
            <a:r>
              <a:rPr dirty="0" err="1"/>
              <a:t>требуют</a:t>
            </a:r>
            <a:r>
              <a:rPr dirty="0"/>
              <a:t> </a:t>
            </a:r>
            <a:r>
              <a:rPr dirty="0" err="1"/>
              <a:t>проверки</a:t>
            </a:r>
            <a:r>
              <a:rPr dirty="0"/>
              <a:t> </a:t>
            </a:r>
            <a:r>
              <a:rPr dirty="0" err="1"/>
              <a:t>более</a:t>
            </a:r>
            <a:r>
              <a:rPr dirty="0"/>
              <a:t> </a:t>
            </a:r>
            <a:r>
              <a:rPr dirty="0" err="1"/>
              <a:t>сильными</a:t>
            </a:r>
            <a:r>
              <a:rPr dirty="0"/>
              <a:t> </a:t>
            </a:r>
            <a:r>
              <a:rPr dirty="0" err="1"/>
              <a:t>судьями</a:t>
            </a:r>
            <a:r>
              <a:rPr dirty="0"/>
              <a:t> </a:t>
            </a:r>
            <a:r>
              <a:rPr dirty="0" err="1"/>
              <a:t>и</a:t>
            </a:r>
            <a:r>
              <a:rPr dirty="0"/>
              <a:t> </a:t>
            </a:r>
            <a:r>
              <a:rPr dirty="0" err="1"/>
              <a:t>независимой</a:t>
            </a:r>
            <a:r>
              <a:rPr dirty="0"/>
              <a:t> </a:t>
            </a:r>
            <a:r>
              <a:rPr dirty="0" err="1"/>
              <a:t>ручной</a:t>
            </a:r>
            <a:r>
              <a:rPr dirty="0"/>
              <a:t> </a:t>
            </a:r>
            <a:r>
              <a:rPr dirty="0" err="1"/>
              <a:t>разметкой</a:t>
            </a:r>
            <a:r>
              <a:rPr dirty="0"/>
              <a:t>.</a:t>
            </a:r>
          </a:p>
          <a:p>
            <a:r>
              <a:rPr dirty="0" err="1"/>
              <a:t>Это</a:t>
            </a:r>
            <a:r>
              <a:rPr dirty="0"/>
              <a:t> </a:t>
            </a:r>
            <a:r>
              <a:rPr dirty="0" err="1"/>
              <a:t>компактная</a:t>
            </a:r>
            <a:r>
              <a:rPr dirty="0"/>
              <a:t> </a:t>
            </a:r>
            <a:r>
              <a:rPr dirty="0" err="1"/>
              <a:t>исходная</a:t>
            </a:r>
            <a:r>
              <a:rPr dirty="0"/>
              <a:t> </a:t>
            </a:r>
            <a:r>
              <a:rPr dirty="0" err="1"/>
              <a:t>модель</a:t>
            </a:r>
            <a:r>
              <a:rPr dirty="0"/>
              <a:t> cross-encoder/ms-marco-MiniLM-L6-v2, </a:t>
            </a:r>
            <a:r>
              <a:rPr dirty="0" err="1"/>
              <a:t>пригодная</a:t>
            </a:r>
            <a:r>
              <a:rPr dirty="0"/>
              <a:t> </a:t>
            </a:r>
            <a:r>
              <a:rPr dirty="0" err="1"/>
              <a:t>для</a:t>
            </a:r>
            <a:r>
              <a:rPr dirty="0"/>
              <a:t> </a:t>
            </a:r>
            <a:r>
              <a:rPr dirty="0" err="1"/>
              <a:t>оценки</a:t>
            </a:r>
            <a:r>
              <a:rPr dirty="0"/>
              <a:t> </a:t>
            </a:r>
            <a:r>
              <a:rPr dirty="0" err="1"/>
              <a:t>большого</a:t>
            </a:r>
            <a:r>
              <a:rPr dirty="0"/>
              <a:t> </a:t>
            </a:r>
            <a:r>
              <a:rPr dirty="0" err="1"/>
              <a:t>числа</a:t>
            </a:r>
            <a:r>
              <a:rPr dirty="0"/>
              <a:t> </a:t>
            </a:r>
            <a:r>
              <a:rPr dirty="0" err="1"/>
              <a:t>пар</a:t>
            </a:r>
            <a:r>
              <a:rPr dirty="0"/>
              <a:t>. </a:t>
            </a:r>
            <a:r>
              <a:rPr dirty="0" err="1"/>
              <a:t>В</a:t>
            </a:r>
            <a:r>
              <a:rPr dirty="0"/>
              <a:t> </a:t>
            </a:r>
            <a:r>
              <a:rPr dirty="0" err="1"/>
              <a:t>представленном</a:t>
            </a:r>
            <a:r>
              <a:rPr dirty="0"/>
              <a:t> </a:t>
            </a:r>
            <a:r>
              <a:rPr dirty="0" err="1"/>
              <a:t>эксперименте</a:t>
            </a:r>
            <a:r>
              <a:rPr dirty="0"/>
              <a:t> </a:t>
            </a:r>
            <a:r>
              <a:rPr dirty="0" err="1"/>
              <a:t>ее</a:t>
            </a:r>
            <a:r>
              <a:rPr dirty="0"/>
              <a:t> </a:t>
            </a:r>
            <a:r>
              <a:rPr dirty="0" err="1"/>
              <a:t>дообучили</a:t>
            </a:r>
            <a:r>
              <a:rPr dirty="0"/>
              <a:t> </a:t>
            </a:r>
            <a:r>
              <a:rPr dirty="0" err="1"/>
              <a:t>на</a:t>
            </a:r>
            <a:r>
              <a:rPr dirty="0"/>
              <a:t> </a:t>
            </a:r>
            <a:r>
              <a:rPr dirty="0" err="1"/>
              <a:t>ручных</a:t>
            </a:r>
            <a:r>
              <a:rPr dirty="0"/>
              <a:t> </a:t>
            </a:r>
            <a:r>
              <a:rPr dirty="0" err="1"/>
              <a:t>оценках</a:t>
            </a:r>
            <a:r>
              <a:rPr dirty="0"/>
              <a:t>. </a:t>
            </a:r>
            <a:r>
              <a:rPr dirty="0" err="1"/>
              <a:t>Сравнения</a:t>
            </a:r>
            <a:r>
              <a:rPr dirty="0"/>
              <a:t> </a:t>
            </a:r>
            <a:r>
              <a:rPr dirty="0" err="1"/>
              <a:t>нескольких</a:t>
            </a:r>
            <a:r>
              <a:rPr dirty="0"/>
              <a:t> </a:t>
            </a:r>
            <a:r>
              <a:rPr dirty="0" err="1"/>
              <a:t>судей</a:t>
            </a:r>
            <a:r>
              <a:rPr dirty="0"/>
              <a:t> </a:t>
            </a:r>
            <a:r>
              <a:rPr dirty="0" err="1"/>
              <a:t>и</a:t>
            </a:r>
            <a:r>
              <a:rPr dirty="0"/>
              <a:t> </a:t>
            </a:r>
            <a:r>
              <a:rPr dirty="0" err="1"/>
              <a:t>модели</a:t>
            </a:r>
            <a:r>
              <a:rPr dirty="0"/>
              <a:t> </a:t>
            </a:r>
            <a:r>
              <a:rPr dirty="0" err="1"/>
              <a:t>со</a:t>
            </a:r>
            <a:r>
              <a:rPr dirty="0"/>
              <a:t> </a:t>
            </a:r>
            <a:r>
              <a:rPr dirty="0" err="1"/>
              <a:t>входом</a:t>
            </a:r>
            <a:r>
              <a:rPr dirty="0"/>
              <a:t> «</a:t>
            </a:r>
            <a:r>
              <a:rPr dirty="0" err="1"/>
              <a:t>запрос</a:t>
            </a:r>
            <a:r>
              <a:rPr dirty="0"/>
              <a:t>, </a:t>
            </a:r>
            <a:r>
              <a:rPr dirty="0" err="1"/>
              <a:t>эталонный</a:t>
            </a:r>
            <a:r>
              <a:rPr dirty="0"/>
              <a:t> </a:t>
            </a:r>
            <a:r>
              <a:rPr dirty="0" err="1"/>
              <a:t>ответ</a:t>
            </a:r>
            <a:r>
              <a:rPr dirty="0"/>
              <a:t>, </a:t>
            </a:r>
            <a:r>
              <a:rPr dirty="0" err="1"/>
              <a:t>кандидат</a:t>
            </a:r>
            <a:r>
              <a:rPr dirty="0"/>
              <a:t>» </a:t>
            </a:r>
            <a:r>
              <a:rPr dirty="0" err="1"/>
              <a:t>пока</a:t>
            </a:r>
            <a:r>
              <a:rPr dirty="0"/>
              <a:t> </a:t>
            </a:r>
            <a:r>
              <a:rPr dirty="0" err="1"/>
              <a:t>не</a:t>
            </a:r>
            <a:r>
              <a:rPr dirty="0"/>
              <a:t> </a:t>
            </a:r>
            <a:r>
              <a:rPr dirty="0" err="1"/>
              <a:t>выполнены</a:t>
            </a:r>
            <a:r>
              <a:rPr dirty="0"/>
              <a:t>. </a:t>
            </a:r>
            <a:r>
              <a:rPr dirty="0" err="1"/>
              <a:t>Результаты</a:t>
            </a:r>
            <a:r>
              <a:rPr dirty="0"/>
              <a:t> </a:t>
            </a:r>
            <a:r>
              <a:rPr dirty="0" err="1"/>
              <a:t>таких</a:t>
            </a:r>
            <a:r>
              <a:rPr dirty="0"/>
              <a:t> </a:t>
            </a:r>
            <a:r>
              <a:rPr dirty="0" err="1"/>
              <a:t>сравнений</a:t>
            </a:r>
            <a:r>
              <a:rPr dirty="0"/>
              <a:t> </a:t>
            </a:r>
            <a:r>
              <a:rPr dirty="0" err="1"/>
              <a:t>не</a:t>
            </a:r>
            <a:r>
              <a:rPr dirty="0"/>
              <a:t> </a:t>
            </a:r>
            <a:r>
              <a:rPr dirty="0" err="1"/>
              <a:t>заявляются</a:t>
            </a:r>
            <a:r>
              <a:rPr dirty="0"/>
              <a:t>.</a:t>
            </a:r>
          </a:p>
          <a:p>
            <a:r>
              <a:rPr dirty="0" err="1"/>
              <a:t>Источники</a:t>
            </a:r>
            <a:endParaRPr dirty="0"/>
          </a:p>
          <a:p>
            <a:r>
              <a:rPr dirty="0"/>
              <a:t/>
            </a:r>
            <a:r>
              <a:rPr dirty="0" err="1"/>
              <a:t/>
            </a:r>
            <a:r>
              <a:rPr dirty="0"/>
              <a:t>, G. , N. </a:t>
            </a:r>
            <a:r>
              <a:rPr dirty="0" err="1"/>
              <a:t/>
            </a:r>
            <a:r>
              <a:rPr dirty="0"/>
              <a:t>. Deep Re-annotation and Controlled Candidate Pools for Re-evaluating Ranking Models on MS MARCO. DAMDID 2026. </a:t>
            </a:r>
            <a:r>
              <a:rPr dirty="0" err="1"/>
              <a:t>Результаты</a:t>
            </a:r>
            <a:r>
              <a:rPr dirty="0"/>
              <a:t> </a:t>
            </a:r>
            <a:r>
              <a:rPr dirty="0" err="1"/>
              <a:t>экспериментов</a:t>
            </a:r>
            <a:r>
              <a:rPr dirty="0"/>
              <a:t> </a:t>
            </a:r>
            <a:r>
              <a:rPr dirty="0" err="1"/>
              <a:t>в</a:t>
            </a:r>
            <a:r>
              <a:rPr dirty="0"/>
              <a:t> </a:t>
            </a:r>
            <a:r>
              <a:rPr dirty="0" err="1"/>
              <a:t>контролируемых</a:t>
            </a:r>
            <a:r>
              <a:rPr dirty="0"/>
              <a:t> </a:t>
            </a:r>
            <a:r>
              <a:rPr dirty="0" err="1"/>
              <a:t>пулах</a:t>
            </a:r>
            <a:r>
              <a:rPr dirty="0"/>
              <a:t>.</a:t>
            </a:r>
          </a:p>
          <a:p>
            <a:r>
              <a:rPr dirty="0"/>
              <a:t>Wang et al. </a:t>
            </a:r>
            <a:r>
              <a:rPr dirty="0" err="1"/>
              <a:t>MiniLM</a:t>
            </a:r>
            <a:r>
              <a:rPr dirty="0"/>
              <a:t>. 2020. https://</a:t>
            </a:r>
            <a:r>
              <a:rPr dirty="0" err="1"/>
              <a:t>arxiv.org</a:t>
            </a:r>
            <a:r>
              <a:rPr dirty="0"/>
              <a:t>/abs/2002.10957</a:t>
            </a:r>
          </a:p>
          <a:p>
            <a:r>
              <a:rPr dirty="0" err="1"/>
              <a:t>Исходная</a:t>
            </a:r>
            <a:r>
              <a:rPr dirty="0"/>
              <a:t> </a:t>
            </a:r>
            <a:r>
              <a:rPr dirty="0" err="1"/>
              <a:t>модель</a:t>
            </a:r>
            <a:r>
              <a:rPr dirty="0"/>
              <a:t>: https://</a:t>
            </a:r>
            <a:r>
              <a:rPr dirty="0" err="1"/>
              <a:t>huggingface.co</a:t>
            </a:r>
            <a:r>
              <a:rPr dirty="0"/>
              <a:t>/cross-encoder/ms-marco-MiniLM-L6-v2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huggingface.co/BAAI/bge-small-en-v1.5" TargetMode="External"/><Relationship Id="rId3" Type="http://schemas.openxmlformats.org/officeDocument/2006/relationships/hyperlink" Target="https://arxiv.org/abs/1611.09268" TargetMode="External"/><Relationship Id="rId7" Type="http://schemas.openxmlformats.org/officeDocument/2006/relationships/hyperlink" Target="https://arxiv.org/abs/2212.03533"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oi.org/10.1561/1500000019" TargetMode="External"/><Relationship Id="rId5" Type="http://schemas.openxmlformats.org/officeDocument/2006/relationships/hyperlink" Target="https://arxiv.org/abs/2104.08663" TargetMode="External"/><Relationship Id="rId10" Type="http://schemas.openxmlformats.org/officeDocument/2006/relationships/hyperlink" Target="https://doi.org/10.1145/1571941.1572114" TargetMode="External"/><Relationship Id="rId4" Type="http://schemas.openxmlformats.org/officeDocument/2006/relationships/hyperlink" Target="https://aclanthology.org/Q19-1026" TargetMode="External"/><Relationship Id="rId9" Type="http://schemas.openxmlformats.org/officeDocument/2006/relationships/hyperlink" Target="https://arxiv.org/abs/2002.10957"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8" name="01">
            <a:extLst>
              <a:ext uri="{FF2B5EF4-FFF2-40B4-BE49-F238E27FC236}">
                <a16:creationId xmlns:a16="http://schemas.microsoft.com/office/drawing/2014/main" id="{C7C3492E-22AD-4920-9426-661B04211C7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Рисунок 8"/>
          <p:cNvPicPr>
            <a:picLocks noChangeAspect="1"/>
          </p:cNvPicPr>
          <p:nvPr/>
        </p:nvPicPr>
        <p:blipFill>
          <a:blip r:embed="rId3"/>
          <a:srcRect t="27" b="27"/>
          <a:stretch>
            <a:fillRect/>
          </a:stretch>
        </p:blipFill>
        <p:spPr>
          <a:xfrm>
            <a:off x="0" y="0"/>
            <a:ext cx="12192000" cy="6858000"/>
          </a:xfrm>
          <a:prstGeom prst="rect">
            <a:avLst/>
          </a:prstGeom>
        </p:spPr>
      </p:pic>
      <p:sp>
        <p:nvSpPr>
          <p:cNvPr id="3" name="DAMDID 2026">
            <a:extLst>
              <a:ext uri="{FF2B5EF4-FFF2-40B4-BE49-F238E27FC236}">
                <a16:creationId xmlns:a16="http://schemas.microsoft.com/office/drawing/2014/main" id="{662EF985-391F-4637-9390-D87891E31A43}"/>
              </a:ext>
            </a:extLst>
          </p:cNvPr>
          <p:cNvSpPr>
            <a:spLocks noGrp="1"/>
          </p:cNvSpPr>
          <p:nvPr/>
        </p:nvSpPr>
        <p:spPr>
          <a:xfrm>
            <a:off x="609600" y="466725"/>
            <a:ext cx="6191250" cy="333375"/>
          </a:xfrm>
          <a:prstGeom prst="rect">
            <a:avLst/>
          </a:prstGeom>
          <a:noFill/>
          <a:ln w="0">
            <a:noFill/>
          </a:ln>
        </p:spPr>
        <p:txBody>
          <a:bodyPr wrap="square" lIns="0" tIns="0" rIns="0" bIns="0" anchor="t">
            <a:noAutofit/>
          </a:bodyPr>
          <a:lstStyle/>
          <a:p>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a:ext uri="{FF2B5EF4-FFF2-40B4-BE49-F238E27FC236}">
                <a16:creationId xmlns:a16="http://schemas.microsoft.com/office/drawing/2014/main" id="{3D019271-32C9-4AF9-8EF4-51B4064403FA}"/>
              </a:ext>
            </a:extLst>
          </p:cNvPr>
          <p:cNvSpPr>
            <a:spLocks noGrp="1"/>
          </p:cNvSpPr>
          <p:nvPr/>
        </p:nvSpPr>
        <p:spPr>
          <a:xfrm>
            <a:off x="609600" y="1247775"/>
            <a:ext cx="8096250" cy="2190750"/>
          </a:xfrm>
          <a:prstGeom prst="rect">
            <a:avLst/>
          </a:prstGeom>
          <a:noFill/>
          <a:ln w="0">
            <a:noFill/>
          </a:ln>
        </p:spPr>
        <p:txBody>
          <a:bodyPr wrap="square" lIns="0" tIns="0" rIns="0" bIns="0" anchor="t">
            <a:noAutofit/>
          </a:bodyPr>
          <a:lstStyle/>
          <a:p>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a:ext uri="{FF2B5EF4-FFF2-40B4-BE49-F238E27FC236}">
                <a16:creationId xmlns:a16="http://schemas.microsoft.com/office/drawing/2014/main" id="{675C4EB1-99BD-4526-A2E3-B972B3697B9A}"/>
              </a:ext>
            </a:extLst>
          </p:cNvPr>
          <p:cNvSpPr>
            <a:spLocks noGrp="1"/>
          </p:cNvSpPr>
          <p:nvPr/>
        </p:nvSpPr>
        <p:spPr>
          <a:xfrm>
            <a:off x="609600" y="3762375"/>
            <a:ext cx="7524750" cy="809625"/>
          </a:xfrm>
          <a:prstGeom prst="rect">
            <a:avLst/>
          </a:prstGeom>
          <a:noFill/>
          <a:ln w="0">
            <a:noFill/>
          </a:ln>
        </p:spPr>
        <p:txBody>
          <a:bodyPr wrap="square" lIns="0" tIns="0" rIns="0" bIns="0" anchor="t">
            <a:noAutofit/>
          </a:bodyPr>
          <a:lstStyle/>
          <a:p>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a:ext uri="{FF2B5EF4-FFF2-40B4-BE49-F238E27FC236}">
                <a16:creationId xmlns:a16="http://schemas.microsoft.com/office/drawing/2014/main" id="{7575EC79-5D15-4F4D-9594-619B04EC5CEE}"/>
              </a:ext>
            </a:extLst>
          </p:cNvPr>
          <p:cNvSpPr>
            <a:spLocks noGrp="1"/>
          </p:cNvSpPr>
          <p:nvPr/>
        </p:nvSpPr>
        <p:spPr>
          <a:xfrm>
            <a:off x="609600" y="5305425"/>
            <a:ext cx="7572375" cy="647700"/>
          </a:xfrm>
          <a:prstGeom prst="rect">
            <a:avLst/>
          </a:prstGeom>
          <a:noFill/>
          <a:ln w="0">
            <a:noFill/>
          </a:ln>
        </p:spPr>
        <p:txBody>
          <a:bodyPr wrap="square"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
            </a:r>
          </a:p>
          <a:p>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a:ext uri="{FF2B5EF4-FFF2-40B4-BE49-F238E27FC236}">
                <a16:creationId xmlns:a16="http://schemas.microsoft.com/office/drawing/2014/main" id="{B723C650-29AC-460C-924A-EEFBBDA61F9D}"/>
              </a:ext>
            </a:extLst>
          </p:cNvPr>
          <p:cNvSpPr>
            <a:spLocks noGrp="1"/>
          </p:cNvSpPr>
          <p:nvPr/>
        </p:nvSpPr>
        <p:spPr>
          <a:xfrm>
            <a:off x="609600" y="6162675"/>
            <a:ext cx="8763000" cy="285750"/>
          </a:xfrm>
          <a:prstGeom prst="rect">
            <a:avLst/>
          </a:prstGeom>
          <a:noFill/>
          <a:ln w="0">
            <a:noFill/>
          </a:ln>
        </p:spPr>
        <p:txBody>
          <a:bodyPr wrap="square" lIns="0" tIns="0" rIns="0" bIns="0" anchor="t">
            <a:noAutofit/>
          </a:bodyPr>
          <a:lstStyle/>
          <a:p>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Наборы данных для оценки поиска">
            <a:extLst>
              <a:ext uri="{FF2B5EF4-FFF2-40B4-BE49-F238E27FC236}">
                <a16:creationId xmlns:a16="http://schemas.microsoft.com/office/drawing/2014/main" id="{2F891781-5CE2-402D-B581-022173137B10}"/>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a:ext uri="{FF2B5EF4-FFF2-40B4-BE49-F238E27FC236}">
                <a16:creationId xmlns:a16="http://schemas.microsoft.com/office/drawing/2014/main" id="{F71D1E0E-97BF-4C4F-9DE0-2D5D488903B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Таблица 8"/>
          <p:cNvGraphicFramePr/>
          <p:nvPr/>
        </p:nvGraphicFramePr>
        <p:xfrm>
          <a:off x="609600" y="1790700"/>
          <a:ext cx="10972800" cy="2657475"/>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523875">
                <a:tc>
                  <a:txBody>
                    <a:bodyPr/>
                    <a:lstStyle/>
                    <a:p>
                      <a:r>
                        <a:rPr sz="1950" b="1">
                          <a:solidFill>
                            <a:srgbClr val="526970"/>
                          </a:solidFill>
                          <a:latin typeface="Arial"/>
                          <a:ea typeface="Arial"/>
                          <a:cs typeface="Arial"/>
                        </a:rPr>
                        <a:t>Набор / бенчмарк</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Источник и задача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685800">
                <a:tc>
                  <a:txBody>
                    <a:bodyPr/>
                    <a:lstStyle/>
                    <a:p>
                      <a:r>
                        <a:rPr sz="2100" b="0">
                          <a:solidFill>
                            <a:srgbClr val="182B30"/>
                          </a:solidFill>
                          <a:latin typeface="Arial"/>
                          <a:ea typeface="Arial"/>
                          <a:cs typeface="Arial"/>
                        </a:rPr>
                        <a:t>Natural Questions</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Запросы Google, ответы в Wikipedia</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685800">
                <a:tc>
                  <a:txBody>
                    <a:bodyPr/>
                    <a:lstStyle/>
                    <a:p>
                      <a:r>
                        <a:rPr sz="2100" b="0">
                          <a:solidFill>
                            <a:srgbClr val="182B30"/>
                          </a:solidFill>
                          <a:latin typeface="Arial"/>
                          <a:ea typeface="Arial"/>
                          <a:cs typeface="Arial"/>
                        </a:rPr>
                        <a:t>BEIR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Разные задачи и домены поиска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762000">
                <a:tc>
                  <a:txBody>
                    <a:bodyPr/>
                    <a:lstStyle/>
                    <a:p>
                      <a:r>
                        <a:rPr sz="2100" b="1">
                          <a:solidFill>
                            <a:srgbClr val="007F78"/>
                          </a:solidFill>
                          <a:latin typeface="Arial"/>
                          <a:ea typeface="Arial"/>
                          <a:cs typeface="Arial"/>
                        </a:rPr>
                        <a:t>MS MARCO</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100" b="1">
                          <a:solidFill>
                            <a:srgbClr val="007F78"/>
                          </a:solidFill>
                          <a:latin typeface="Arial"/>
                          <a:ea typeface="Arial"/>
                          <a:cs typeface="Arial"/>
                        </a:rPr>
                        <a:t>Запросы Bing, поиск по веб-фрагментам</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3"/>
                  </a:ext>
                </a:extLst>
              </a:tr>
            </a:tbl>
          </a:graphicData>
        </a:graphic>
      </p:graphicFrame>
      <p:sp>
        <p:nvSpPr>
          <p:cNvPr id="4" name="Почему MS MARCO">
            <a:extLst>
              <a:ext uri="{FF2B5EF4-FFF2-40B4-BE49-F238E27FC236}">
                <a16:creationId xmlns:a16="http://schemas.microsoft.com/office/drawing/2014/main" id="{11577D97-8375-4866-8E73-2C5B2185B64D}"/>
              </a:ext>
            </a:extLst>
          </p:cNvPr>
          <p:cNvSpPr>
            <a:spLocks noGrp="1"/>
          </p:cNvSpPr>
          <p:nvPr/>
        </p:nvSpPr>
        <p:spPr>
          <a:xfrm>
            <a:off x="609600" y="4867275"/>
            <a:ext cx="10972800" cy="419100"/>
          </a:xfrm>
          <a:prstGeom prst="rect">
            <a:avLst/>
          </a:prstGeom>
          <a:noFill/>
          <a:ln w="0">
            <a:noFill/>
          </a:ln>
        </p:spPr>
        <p:txBody>
          <a:bodyPr wrap="square" lIns="0" tIns="0" rIns="0" bIns="0" anchor="t">
            <a:noAutofit/>
          </a:bodyPr>
          <a:lstStyle/>
          <a:p>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a:ext uri="{FF2B5EF4-FFF2-40B4-BE49-F238E27FC236}">
                <a16:creationId xmlns:a16="http://schemas.microsoft.com/office/drawing/2014/main" id="{0C879FB9-9E24-461A-B2A7-2CF3B2C2FAAA}"/>
              </a:ext>
            </a:extLst>
          </p:cNvPr>
          <p:cNvSpPr>
            <a:spLocks noGrp="1"/>
          </p:cNvSpPr>
          <p:nvPr/>
        </p:nvSpPr>
        <p:spPr>
          <a:xfrm>
            <a:off x="609600" y="5419725"/>
            <a:ext cx="10972800" cy="419100"/>
          </a:xfrm>
          <a:prstGeom prst="rect">
            <a:avLst/>
          </a:prstGeom>
          <a:noFill/>
          <a:ln w="0">
            <a:noFill/>
          </a:ln>
        </p:spPr>
        <p:txBody>
          <a:bodyPr wrap="square" lIns="0" tIns="0" rIns="0" bIns="0" anchor="t">
            <a:noAutofit/>
          </a:bodyPr>
          <a:lstStyle/>
          <a:p>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a:ext uri="{FF2B5EF4-FFF2-40B4-BE49-F238E27FC236}">
                <a16:creationId xmlns:a16="http://schemas.microsoft.com/office/drawing/2014/main" id="{D5E59AFC-D6DF-4887-8DEB-CA19C471F9A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Близкие результаты ведущих систем">
            <a:extLst>
              <a:ext uri="{FF2B5EF4-FFF2-40B4-BE49-F238E27FC236}">
                <a16:creationId xmlns:a16="http://schemas.microsoft.com/office/drawing/2014/main" id="{3E439587-929A-43B0-A800-C37A233BB77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a:ext uri="{FF2B5EF4-FFF2-40B4-BE49-F238E27FC236}">
                <a16:creationId xmlns:a16="http://schemas.microsoft.com/office/drawing/2014/main" id="{2D522899-17C5-4EDB-8AF6-8CC754F73FB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a:ext uri="{FF2B5EF4-FFF2-40B4-BE49-F238E27FC236}">
                <a16:creationId xmlns:a16="http://schemas.microsoft.com/office/drawing/2014/main" id="{5E183FEF-C4D0-4B49-9D47-7E2B26800B2C}"/>
              </a:ext>
            </a:extLst>
          </p:cNvPr>
          <p:cNvSpPr>
            <a:spLocks noGrp="1"/>
          </p:cNvSpPr>
          <p:nvPr/>
        </p:nvSpPr>
        <p:spPr>
          <a:xfrm>
            <a:off x="609600" y="1600200"/>
            <a:ext cx="10972800" cy="34290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Таблица 12"/>
          <p:cNvGraphicFramePr/>
          <p:nvPr/>
        </p:nvGraphicFramePr>
        <p:xfrm>
          <a:off x="609600" y="2219325"/>
          <a:ext cx="7762875" cy="2800350"/>
        </p:xfrm>
        <a:graphic>
          <a:graphicData uri="http://schemas.openxmlformats.org/drawingml/2006/table">
            <a:tbl>
              <a:tblPr/>
              <a:tblGrid>
                <a:gridCol w="581025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tblGrid>
              <a:tr h="514350">
                <a:tc>
                  <a:txBody>
                    <a:bodyPr/>
                    <a:lstStyle/>
                    <a:p>
                      <a:r>
                        <a:rPr sz="1950"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MRR@10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71500">
                <a:tc>
                  <a:txBody>
                    <a:bodyPr/>
                    <a:lstStyle/>
                    <a:p>
                      <a:r>
                        <a:rPr sz="2100" b="0">
                          <a:solidFill>
                            <a:srgbClr val="182B30"/>
                          </a:solidFill>
                          <a:latin typeface="Arial"/>
                          <a:ea typeface="Arial"/>
                          <a:cs typeface="Arial"/>
                        </a:rPr>
                        <a:t>AliceMind SLM + HLAR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71500">
                <a:tc>
                  <a:txBody>
                    <a:bodyPr/>
                    <a:lstStyle/>
                    <a:p>
                      <a:r>
                        <a:rPr sz="2100" b="0">
                          <a:solidFill>
                            <a:srgbClr val="182B30"/>
                          </a:solidFill>
                          <a:latin typeface="Arial"/>
                          <a:ea typeface="Arial"/>
                          <a:cs typeface="Arial"/>
                        </a:rPr>
                        <a:t>Listwise + Fusion</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0,440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71500">
                <a:tc>
                  <a:txBody>
                    <a:bodyPr/>
                    <a:lstStyle/>
                    <a:p>
                      <a:r>
                        <a:rPr sz="2100" b="0">
                          <a:solidFill>
                            <a:srgbClr val="182B30"/>
                          </a:solidFill>
                          <a:latin typeface="Arial"/>
                          <a:ea typeface="Arial"/>
                          <a:cs typeface="Arial"/>
                        </a:rPr>
                        <a:t>CoT-MAE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71500">
                <a:tc>
                  <a:txBody>
                    <a:bodyPr/>
                    <a:lstStyle/>
                    <a:p>
                      <a:r>
                        <a:rPr sz="2100" b="0">
                          <a:solidFill>
                            <a:srgbClr val="182B30"/>
                          </a:solidFill>
                          <a:latin typeface="Arial"/>
                          <a:ea typeface="Arial"/>
                          <a:cs typeface="Arial"/>
                        </a:rPr>
                        <a:t>Lichee + DeBERTa + reranking</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0,014">
            <a:extLst>
              <a:ext uri="{FF2B5EF4-FFF2-40B4-BE49-F238E27FC236}">
                <a16:creationId xmlns:a16="http://schemas.microsoft.com/office/drawing/2014/main" id="{16BBCA8E-49CC-4B48-9AC3-22D2A94136BF}"/>
              </a:ext>
            </a:extLst>
          </p:cNvPr>
          <p:cNvSpPr>
            <a:spLocks noGrp="1"/>
          </p:cNvSpPr>
          <p:nvPr/>
        </p:nvSpPr>
        <p:spPr>
          <a:xfrm>
            <a:off x="8858250" y="2476500"/>
            <a:ext cx="2714625" cy="828675"/>
          </a:xfrm>
          <a:prstGeom prst="rect">
            <a:avLst/>
          </a:prstGeom>
          <a:noFill/>
          <a:ln w="0">
            <a:noFill/>
          </a:ln>
        </p:spPr>
        <p:txBody>
          <a:bodyPr wrap="square" lIns="0" tIns="0" rIns="0" bIns="0" anchor="t">
            <a:noAutofit/>
          </a:bodyPr>
          <a:lstStyle/>
          <a:p>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a:ext uri="{FF2B5EF4-FFF2-40B4-BE49-F238E27FC236}">
                <a16:creationId xmlns:a16="http://schemas.microsoft.com/office/drawing/2014/main" id="{81A875BD-9CD0-4DD7-B28C-5BA27F5D0ACC}"/>
              </a:ext>
            </a:extLst>
          </p:cNvPr>
          <p:cNvSpPr>
            <a:spLocks noGrp="1"/>
          </p:cNvSpPr>
          <p:nvPr/>
        </p:nvSpPr>
        <p:spPr>
          <a:xfrm>
            <a:off x="8858250" y="3390900"/>
            <a:ext cx="2714625" cy="790575"/>
          </a:xfrm>
          <a:prstGeom prst="rect">
            <a:avLst/>
          </a:prstGeom>
          <a:noFill/>
          <a:ln w="0">
            <a:noFill/>
          </a:ln>
        </p:spPr>
        <p:txBody>
          <a:bodyPr wrap="square" lIns="0" tIns="0" rIns="0" bIns="0" anchor="t">
            <a:noAutofit/>
          </a:bodyPr>
          <a:lstStyle/>
          <a:p>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a:ext uri="{FF2B5EF4-FFF2-40B4-BE49-F238E27FC236}">
                <a16:creationId xmlns:a16="http://schemas.microsoft.com/office/drawing/2014/main" id="{60D1B159-625C-4AD4-86D0-3B3E3554BF40}"/>
              </a:ext>
            </a:extLst>
          </p:cNvPr>
          <p:cNvSpPr>
            <a:spLocks noGrp="1"/>
          </p:cNvSpPr>
          <p:nvPr/>
        </p:nvSpPr>
        <p:spPr>
          <a:xfrm>
            <a:off x="609600" y="5286375"/>
            <a:ext cx="10972800" cy="600075"/>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a:ext uri="{FF2B5EF4-FFF2-40B4-BE49-F238E27FC236}">
                <a16:creationId xmlns:a16="http://schemas.microsoft.com/office/drawing/2014/main" id="{03E99439-7468-4708-941D-E7EBD0800A2F}"/>
              </a:ext>
            </a:extLst>
          </p:cNvPr>
          <p:cNvSpPr>
            <a:spLocks noGrp="1"/>
          </p:cNvSpPr>
          <p:nvPr/>
        </p:nvSpPr>
        <p:spPr>
          <a:xfrm>
            <a:off x="609600" y="5800725"/>
            <a:ext cx="10972800" cy="333375"/>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a:ext uri="{FF2B5EF4-FFF2-40B4-BE49-F238E27FC236}">
                <a16:creationId xmlns:a16="http://schemas.microsoft.com/office/drawing/2014/main" id="{C56C3BAF-1E96-4ED7-9B13-1B805B164267}"/>
              </a:ext>
            </a:extLst>
          </p:cNvPr>
          <p:cNvSpPr>
            <a:spLocks noGrp="1"/>
          </p:cNvSpPr>
          <p:nvPr/>
        </p:nvSpPr>
        <p:spPr>
          <a:xfrm>
            <a:off x="609600" y="6267450"/>
            <a:ext cx="10001250" cy="276225"/>
          </a:xfrm>
          <a:prstGeom prst="rect">
            <a:avLst/>
          </a:prstGeom>
          <a:noFill/>
          <a:ln w="0">
            <a:noFill/>
          </a:ln>
        </p:spPr>
        <p:txBody>
          <a:bodyPr wrap="square" lIns="0" tIns="0" rIns="0" bIns="0" anchor="t">
            <a:noAutofit/>
          </a:bodyPr>
          <a:lstStyle/>
          <a:p>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Релевантный ответ без оценки">
            <a:extLst>
              <a:ext uri="{FF2B5EF4-FFF2-40B4-BE49-F238E27FC236}">
                <a16:creationId xmlns:a16="http://schemas.microsoft.com/office/drawing/2014/main" id="{334DD0EA-0A05-4641-AA05-35F3A325D91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a:ext uri="{FF2B5EF4-FFF2-40B4-BE49-F238E27FC236}">
                <a16:creationId xmlns:a16="http://schemas.microsoft.com/office/drawing/2014/main" id="{88277A78-B55B-40D3-BB92-46D7F0436CF3}"/>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a:ext uri="{FF2B5EF4-FFF2-40B4-BE49-F238E27FC236}">
                <a16:creationId xmlns:a16="http://schemas.microsoft.com/office/drawing/2014/main" id="{94134873-7E97-45CA-BA35-450C12C190E2}"/>
              </a:ext>
            </a:extLst>
          </p:cNvPr>
          <p:cNvSpPr>
            <a:spLocks noGrp="1"/>
          </p:cNvSpPr>
          <p:nvPr/>
        </p:nvSpPr>
        <p:spPr>
          <a:xfrm>
            <a:off x="609600" y="1762125"/>
            <a:ext cx="10972800" cy="485775"/>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Таблица 8"/>
          <p:cNvGraphicFramePr/>
          <p:nvPr/>
        </p:nvGraphicFramePr>
        <p:xfrm>
          <a:off x="609600" y="2533650"/>
          <a:ext cx="10972800" cy="3086100"/>
        </p:xfrm>
        <a:graphic>
          <a:graphicData uri="http://schemas.openxmlformats.org/drawingml/2006/table">
            <a:tbl>
              <a:tblPr/>
              <a:tblGrid>
                <a:gridCol w="6400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533400">
                <a:tc>
                  <a:txBody>
                    <a:bodyPr/>
                    <a:lstStyle/>
                    <a:p>
                      <a:r>
                        <a:rPr sz="1650" b="1">
                          <a:solidFill>
                            <a:srgbClr val="526970"/>
                          </a:solidFill>
                          <a:latin typeface="Arial"/>
                          <a:ea typeface="Arial"/>
                          <a:cs typeface="Arial"/>
                        </a:rPr>
                        <a:t>Сокращенный пересказ фрагмента</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Исходные оценки</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Оценка человека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971550">
                <a:tc>
                  <a:txBody>
                    <a:bodyPr/>
                    <a:lstStyle/>
                    <a:p>
                      <a:r>
                        <a:rPr sz="1800" b="1">
                          <a:solidFill>
                            <a:srgbClr val="007F78"/>
                          </a:solidFill>
                          <a:latin typeface="Arial"/>
                          <a:ea typeface="Arial"/>
                          <a:cs typeface="Arial"/>
                        </a:rPr>
                        <a:t>7399382   Нелетучее растворенное вещество</a:t>
                      </a:r>
                    </a:p>
                    <a:p>
                      <a:r>
                        <a:rPr sz="1800" b="1">
                          <a:solidFill>
                            <a:srgbClr val="007F78"/>
                          </a:solidFill>
                          <a:latin typeface="Arial"/>
                          <a:ea typeface="Arial"/>
                          <a:cs typeface="Arial"/>
                        </a:rPr>
                        <a:t>повышает 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1">
                          <a:solidFill>
                            <a:srgbClr val="007F78"/>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r h="742950">
                <a:tc>
                  <a:txBody>
                    <a:bodyPr/>
                    <a:lstStyle/>
                    <a:p>
                      <a:r>
                        <a:rPr sz="1800" b="0">
                          <a:solidFill>
                            <a:srgbClr val="182B30"/>
                          </a:solidFill>
                          <a:latin typeface="Arial"/>
                          <a:ea typeface="Arial"/>
                          <a:cs typeface="Arial"/>
                        </a:rPr>
                        <a:t>987600   Температура кипения ацетона.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bl>
          </a:graphicData>
        </a:graphic>
      </p:graphicFrame>
      <p:sp>
        <p:nvSpPr>
          <p:cNvPr id="5" name="qrels: оценки релевантности. Нет оценки: нулевой">
            <a:extLst>
              <a:ext uri="{FF2B5EF4-FFF2-40B4-BE49-F238E27FC236}">
                <a16:creationId xmlns:a16="http://schemas.microsoft.com/office/drawing/2014/main" id="{1D3E2C44-7336-4B9D-BD9F-DCB71CA25FA6}"/>
              </a:ext>
            </a:extLst>
          </p:cNvPr>
          <p:cNvSpPr>
            <a:spLocks noGrp="1"/>
          </p:cNvSpPr>
          <p:nvPr/>
        </p:nvSpPr>
        <p:spPr>
          <a:xfrm>
            <a:off x="609600" y="6019800"/>
            <a:ext cx="10810875" cy="523875"/>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Данные для ручной доразметки">
            <a:extLst>
              <a:ext uri="{FF2B5EF4-FFF2-40B4-BE49-F238E27FC236}">
                <a16:creationId xmlns:a16="http://schemas.microsoft.com/office/drawing/2014/main" id="{A34BA3CC-C0E2-4636-87E7-42AF23E254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a:ext uri="{FF2B5EF4-FFF2-40B4-BE49-F238E27FC236}">
                <a16:creationId xmlns:a16="http://schemas.microsoft.com/office/drawing/2014/main" id="{2353822A-C676-4110-936E-E30726F7D8D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a:ext uri="{FF2B5EF4-FFF2-40B4-BE49-F238E27FC236}">
                <a16:creationId xmlns:a16="http://schemas.microsoft.com/office/drawing/2014/main" id="{C4E448FC-7633-44A8-ACC7-B8922870AD71}"/>
              </a:ext>
            </a:extLst>
          </p:cNvPr>
          <p:cNvSpPr>
            <a:spLocks noGrp="1"/>
          </p:cNvSpPr>
          <p:nvPr/>
        </p:nvSpPr>
        <p:spPr>
          <a:xfrm>
            <a:off x="609600" y="1609725"/>
            <a:ext cx="10972800" cy="457200"/>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a:ext uri="{FF2B5EF4-FFF2-40B4-BE49-F238E27FC236}">
                <a16:creationId xmlns:a16="http://schemas.microsoft.com/office/drawing/2014/main" id="{2ED41703-E32F-4B8B-8DCC-4A841119316C}"/>
              </a:ext>
            </a:extLst>
          </p:cNvPr>
          <p:cNvSpPr>
            <a:spLocks noGrp="1"/>
          </p:cNvSpPr>
          <p:nvPr/>
        </p:nvSpPr>
        <p:spPr>
          <a:xfrm>
            <a:off x="609600" y="2476500"/>
            <a:ext cx="457200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a:ext uri="{FF2B5EF4-FFF2-40B4-BE49-F238E27FC236}">
                <a16:creationId xmlns:a16="http://schemas.microsoft.com/office/drawing/2014/main" id="{2DB9E5FA-2063-4D9D-8B35-5CB16277C07E}"/>
              </a:ext>
            </a:extLst>
          </p:cNvPr>
          <p:cNvSpPr>
            <a:spLocks noGrp="1"/>
          </p:cNvSpPr>
          <p:nvPr/>
        </p:nvSpPr>
        <p:spPr>
          <a:xfrm>
            <a:off x="60960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a:ext uri="{FF2B5EF4-FFF2-40B4-BE49-F238E27FC236}">
                <a16:creationId xmlns:a16="http://schemas.microsoft.com/office/drawing/2014/main" id="{0C2A625A-9F0D-46DA-B13E-5D29811BAA5B}"/>
              </a:ext>
            </a:extLst>
          </p:cNvPr>
          <p:cNvSpPr>
            <a:spLocks noGrp="1"/>
          </p:cNvSpPr>
          <p:nvPr/>
        </p:nvSpPr>
        <p:spPr>
          <a:xfrm>
            <a:off x="609600" y="3848100"/>
            <a:ext cx="4572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a:ext uri="{FF2B5EF4-FFF2-40B4-BE49-F238E27FC236}">
                <a16:creationId xmlns:a16="http://schemas.microsoft.com/office/drawing/2014/main" id="{334388CF-080F-4290-9A46-4B6903A25C6E}"/>
              </a:ext>
            </a:extLst>
          </p:cNvPr>
          <p:cNvSpPr>
            <a:spLocks noGrp="1"/>
          </p:cNvSpPr>
          <p:nvPr/>
        </p:nvSpPr>
        <p:spPr>
          <a:xfrm>
            <a:off x="609600" y="5000625"/>
            <a:ext cx="476250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a:ext uri="{FF2B5EF4-FFF2-40B4-BE49-F238E27FC236}">
                <a16:creationId xmlns:a16="http://schemas.microsoft.com/office/drawing/2014/main" id="{22B42E78-BD55-4445-A8FE-4309BC4BC35B}"/>
              </a:ext>
            </a:extLst>
          </p:cNvPr>
          <p:cNvSpPr>
            <a:spLocks noGrp="1"/>
          </p:cNvSpPr>
          <p:nvPr/>
        </p:nvSpPr>
        <p:spPr>
          <a:xfrm>
            <a:off x="6229350" y="2476500"/>
            <a:ext cx="535305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a:ext uri="{FF2B5EF4-FFF2-40B4-BE49-F238E27FC236}">
                <a16:creationId xmlns:a16="http://schemas.microsoft.com/office/drawing/2014/main" id="{59C256A8-9894-4A34-8A0F-574E12AFEF55}"/>
              </a:ext>
            </a:extLst>
          </p:cNvPr>
          <p:cNvSpPr>
            <a:spLocks noGrp="1"/>
          </p:cNvSpPr>
          <p:nvPr/>
        </p:nvSpPr>
        <p:spPr>
          <a:xfrm>
            <a:off x="622935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a:ext uri="{FF2B5EF4-FFF2-40B4-BE49-F238E27FC236}">
                <a16:creationId xmlns:a16="http://schemas.microsoft.com/office/drawing/2014/main" id="{CBA07B85-828A-40A0-83EE-7F24D9A0ADCF}"/>
              </a:ext>
            </a:extLst>
          </p:cNvPr>
          <p:cNvSpPr>
            <a:spLocks noGrp="1"/>
          </p:cNvSpPr>
          <p:nvPr/>
        </p:nvSpPr>
        <p:spPr>
          <a:xfrm>
            <a:off x="6229350" y="3848100"/>
            <a:ext cx="5334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a:ext uri="{FF2B5EF4-FFF2-40B4-BE49-F238E27FC236}">
                <a16:creationId xmlns:a16="http://schemas.microsoft.com/office/drawing/2014/main" id="{0CA45C8D-9073-4691-848F-B62AC53E5DFD}"/>
              </a:ext>
            </a:extLst>
          </p:cNvPr>
          <p:cNvSpPr>
            <a:spLocks noGrp="1"/>
          </p:cNvSpPr>
          <p:nvPr/>
        </p:nvSpPr>
        <p:spPr>
          <a:xfrm>
            <a:off x="6229350" y="5000625"/>
            <a:ext cx="535305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Прямая соединительная линия 11">
            <a:extLst>
              <a:ext uri="{FF2B5EF4-FFF2-40B4-BE49-F238E27FC236}">
                <a16:creationId xmlns:a16="http://schemas.microsoft.com/office/drawing/2014/main" id="{5F53ADBC-1693-4423-8E87-5C9EA3A3EE22}"/>
              </a:ext>
            </a:extLst>
          </p:cNvPr>
          <p:cNvSpPr>
            <a:spLocks noGrp="1"/>
          </p:cNvSpPr>
          <p:nvPr/>
        </p:nvSpPr>
        <p:spPr>
          <a:xfrm>
            <a:off x="609600" y="2219325"/>
            <a:ext cx="10972800" cy="0"/>
          </a:xfrm>
          <a:prstGeom prst="line">
            <a:avLst/>
          </a:prstGeom>
          <a:noFill/>
          <a:ln w="12383">
            <a:solidFill>
              <a:srgbClr val="D4E1E0"/>
            </a:solidFill>
          </a:ln>
        </p:spPr>
      </p:sp>
      <p:sp>
        <p:nvSpPr>
          <p:cNvPr id="13" name="Доразметка охватывает отобранных кандидатов для каждого запроса.">
            <a:extLst>
              <a:ext uri="{FF2B5EF4-FFF2-40B4-BE49-F238E27FC236}">
                <a16:creationId xmlns:a16="http://schemas.microsoft.com/office/drawing/2014/main" id="{1E9E408D-C93E-45C3-95F9-3F5EC4587A20}"/>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Разметка с известным релевантным ответом">
            <a:extLst>
              <a:ext uri="{FF2B5EF4-FFF2-40B4-BE49-F238E27FC236}">
                <a16:creationId xmlns:a16="http://schemas.microsoft.com/office/drawing/2014/main" id="{4F08E455-965E-4FD3-8FB7-D561BA763F75}"/>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a:ext uri="{FF2B5EF4-FFF2-40B4-BE49-F238E27FC236}">
                <a16:creationId xmlns:a16="http://schemas.microsoft.com/office/drawing/2014/main" id="{9F6A7005-F48E-49E7-A616-E8BA12856E9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a:ext uri="{FF2B5EF4-FFF2-40B4-BE49-F238E27FC236}">
                <a16:creationId xmlns:a16="http://schemas.microsoft.com/office/drawing/2014/main" id="{E06B08BB-DEBF-4476-A79E-EC33232EEF82}"/>
              </a:ext>
            </a:extLst>
          </p:cNvPr>
          <p:cNvSpPr>
            <a:spLocks noGrp="1"/>
          </p:cNvSpPr>
          <p:nvPr/>
        </p:nvSpPr>
        <p:spPr>
          <a:xfrm>
            <a:off x="609600" y="1885950"/>
            <a:ext cx="3095625" cy="11430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a:ext uri="{FF2B5EF4-FFF2-40B4-BE49-F238E27FC236}">
                <a16:creationId xmlns:a16="http://schemas.microsoft.com/office/drawing/2014/main" id="{B5224D1A-E575-427A-AC94-52A3C3695468}"/>
              </a:ext>
            </a:extLst>
          </p:cNvPr>
          <p:cNvSpPr>
            <a:spLocks noGrp="1"/>
          </p:cNvSpPr>
          <p:nvPr/>
        </p:nvSpPr>
        <p:spPr>
          <a:xfrm>
            <a:off x="609600" y="3895725"/>
            <a:ext cx="3095625" cy="1219200"/>
          </a:xfrm>
          <a:prstGeom prst="rect">
            <a:avLst/>
          </a:prstGeom>
          <a:solidFill>
            <a:srgbClr val="FAEFE9"/>
          </a:solidFill>
          <a:ln w="11430">
            <a:solidFill>
              <a:srgbClr val="D4E1E0"/>
            </a:solidFill>
          </a:ln>
        </p:spPr>
        <p:txBody>
          <a:bodyPr lIns="133350" tIns="114300" rIns="133350" bIns="114300" anchor="ctr">
            <a:noAutofit/>
          </a:bodyPr>
          <a:lstStyle/>
          <a:p>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a:ext uri="{FF2B5EF4-FFF2-40B4-BE49-F238E27FC236}">
                <a16:creationId xmlns:a16="http://schemas.microsoft.com/office/drawing/2014/main" id="{5118D0C7-C21D-4D05-8EE0-3051D5EB73E6}"/>
              </a:ext>
            </a:extLst>
          </p:cNvPr>
          <p:cNvSpPr>
            <a:spLocks noGrp="1"/>
          </p:cNvSpPr>
          <p:nvPr/>
        </p:nvSpPr>
        <p:spPr>
          <a:xfrm>
            <a:off x="4619625" y="2733675"/>
            <a:ext cx="2647950" cy="121920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a:ext uri="{FF2B5EF4-FFF2-40B4-BE49-F238E27FC236}">
                <a16:creationId xmlns:a16="http://schemas.microsoft.com/office/drawing/2014/main" id="{2CBD2ADC-55FF-4AB8-A47A-DE8B60C304FD}"/>
              </a:ext>
            </a:extLst>
          </p:cNvPr>
          <p:cNvSpPr>
            <a:spLocks noGrp="1"/>
          </p:cNvSpPr>
          <p:nvPr/>
        </p:nvSpPr>
        <p:spPr>
          <a:xfrm>
            <a:off x="8201025" y="2733675"/>
            <a:ext cx="2809875" cy="1219200"/>
          </a:xfrm>
          <a:prstGeom prst="rect">
            <a:avLst/>
          </a:prstGeom>
          <a:solidFill>
            <a:srgbClr val="E2F1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Соединительная линия уступом 18"/>
          <p:cNvCxnSpPr>
            <a:stCxn id="3" idx="3"/>
            <a:endCxn id="5" idx="0"/>
          </p:cNvCxnSpPr>
          <p:nvPr/>
        </p:nvCxnSpPr>
        <p:spPr>
          <a:xfrm>
            <a:off x="3705225" y="2457450"/>
            <a:ext cx="2238375" cy="276225"/>
          </a:xfrm>
          <a:prstGeom prst="bentConnector2">
            <a:avLst/>
          </a:prstGeom>
          <a:ln w="28575">
            <a:solidFill>
              <a:srgbClr val="526970"/>
            </a:solidFill>
            <a:tailEnd type="triangle" w="med" len="med"/>
          </a:ln>
        </p:spPr>
      </p:cxnSp>
      <p:cxnSp>
        <p:nvCxnSpPr>
          <p:cNvPr id="20" name="Соединительная линия уступом 19"/>
          <p:cNvCxnSpPr>
            <a:stCxn id="4" idx="3"/>
            <a:endCxn id="5" idx="1"/>
          </p:cNvCxnSpPr>
          <p:nvPr/>
        </p:nvCxnSpPr>
        <p:spPr>
          <a:xfrm flipV="1">
            <a:off x="3705225" y="3343275"/>
            <a:ext cx="914400" cy="1162050"/>
          </a:xfrm>
          <a:prstGeom prst="bentConnector3">
            <a:avLst>
              <a:gd name="adj1" fmla="val 50000"/>
            </a:avLst>
          </a:prstGeom>
          <a:ln w="28575">
            <a:solidFill>
              <a:srgbClr val="C95236"/>
            </a:solidFill>
            <a:tailEnd type="triangle" w="med" len="med"/>
          </a:ln>
        </p:spPr>
      </p:cxnSp>
      <p:cxnSp>
        <p:nvCxnSpPr>
          <p:cNvPr id="21" name="Прямая со стрелкой 20"/>
          <p:cNvCxnSpPr>
            <a:stCxn id="5" idx="3"/>
            <a:endCxn id="6" idx="1"/>
          </p:cNvCxnSpPr>
          <p:nvPr/>
        </p:nvCxnSpPr>
        <p:spPr>
          <a:xfrm>
            <a:off x="7267575" y="3343275"/>
            <a:ext cx="933450" cy="0"/>
          </a:xfrm>
          <a:prstGeom prst="straightConnector1">
            <a:avLst/>
          </a:prstGeom>
          <a:ln w="28575">
            <a:solidFill>
              <a:srgbClr val="526970"/>
            </a:solidFill>
            <a:tailEnd type="triangle" w="med" len="med"/>
          </a:ln>
        </p:spPr>
      </p:cxnSp>
      <p:sp>
        <p:nvSpPr>
          <p:cNvPr id="10" name="Запрос + кандидат +&#10;релевантный ответ">
            <a:extLst>
              <a:ext uri="{FF2B5EF4-FFF2-40B4-BE49-F238E27FC236}">
                <a16:creationId xmlns:a16="http://schemas.microsoft.com/office/drawing/2014/main" id="{03F078DF-D752-4928-AC8C-02CEC1C0B7A2}"/>
              </a:ext>
            </a:extLst>
          </p:cNvPr>
          <p:cNvSpPr>
            <a:spLocks noGrp="1"/>
          </p:cNvSpPr>
          <p:nvPr/>
        </p:nvSpPr>
        <p:spPr>
          <a:xfrm>
            <a:off x="8201025" y="4476750"/>
            <a:ext cx="3114675" cy="8001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a:ext uri="{FF2B5EF4-FFF2-40B4-BE49-F238E27FC236}">
                <a16:creationId xmlns:a16="http://schemas.microsoft.com/office/drawing/2014/main" id="{A96799E4-5CA0-4D48-9EF5-BD74CD3F2D58}"/>
              </a:ext>
            </a:extLst>
          </p:cNvPr>
          <p:cNvSpPr>
            <a:spLocks noGrp="1"/>
          </p:cNvSpPr>
          <p:nvPr/>
        </p:nvSpPr>
        <p:spPr>
          <a:xfrm>
            <a:off x="4562475" y="4448175"/>
            <a:ext cx="2857500" cy="8191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a:ext uri="{FF2B5EF4-FFF2-40B4-BE49-F238E27FC236}">
                <a16:creationId xmlns:a16="http://schemas.microsoft.com/office/drawing/2014/main" id="{2149C239-EB6B-47AB-BCF5-DD07EC739EEE}"/>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Больше оценок в тех же пулах">
            <a:extLst>
              <a:ext uri="{FF2B5EF4-FFF2-40B4-BE49-F238E27FC236}">
                <a16:creationId xmlns:a16="http://schemas.microsoft.com/office/drawing/2014/main" id="{1CF79C95-B654-4F76-82D3-8E5010CEDC5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a:ext uri="{FF2B5EF4-FFF2-40B4-BE49-F238E27FC236}">
                <a16:creationId xmlns:a16="http://schemas.microsoft.com/office/drawing/2014/main" id="{D6E70AE6-5793-4E2A-AA54-5849FD26316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a:ext uri="{FF2B5EF4-FFF2-40B4-BE49-F238E27FC236}">
                <a16:creationId xmlns:a16="http://schemas.microsoft.com/office/drawing/2014/main" id="{692B7626-67E4-4142-B831-A1FCB9F7BC73}"/>
              </a:ext>
            </a:extLst>
          </p:cNvPr>
          <p:cNvSpPr>
            <a:spLocks noGrp="1"/>
          </p:cNvSpPr>
          <p:nvPr/>
        </p:nvSpPr>
        <p:spPr>
          <a:xfrm>
            <a:off x="609600" y="1781175"/>
            <a:ext cx="10477500" cy="409575"/>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a:ext uri="{FF2B5EF4-FFF2-40B4-BE49-F238E27FC236}">
                <a16:creationId xmlns:a16="http://schemas.microsoft.com/office/drawing/2014/main" id="{0A936E03-03E7-4610-925F-691691EB830C}"/>
              </a:ext>
            </a:extLst>
          </p:cNvPr>
          <p:cNvSpPr>
            <a:spLocks noGrp="1"/>
          </p:cNvSpPr>
          <p:nvPr/>
        </p:nvSpPr>
        <p:spPr>
          <a:xfrm>
            <a:off x="609600" y="2590800"/>
            <a:ext cx="4286250" cy="1152525"/>
          </a:xfrm>
          <a:prstGeom prst="rect">
            <a:avLst/>
          </a:prstGeom>
          <a:noFill/>
          <a:ln w="0">
            <a:noFill/>
          </a:ln>
        </p:spPr>
        <p:txBody>
          <a:bodyPr wrap="square" lIns="0" tIns="0" rIns="0" bIns="0" anchor="t">
            <a:noAutofit/>
          </a:bodyPr>
          <a:lstStyle/>
          <a:p>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a:ext uri="{FF2B5EF4-FFF2-40B4-BE49-F238E27FC236}">
                <a16:creationId xmlns:a16="http://schemas.microsoft.com/office/drawing/2014/main" id="{86802D41-005F-4A54-BC81-35AC162315B9}"/>
              </a:ext>
            </a:extLst>
          </p:cNvPr>
          <p:cNvSpPr>
            <a:spLocks noGrp="1"/>
          </p:cNvSpPr>
          <p:nvPr/>
        </p:nvSpPr>
        <p:spPr>
          <a:xfrm>
            <a:off x="6705600" y="2590800"/>
            <a:ext cx="4762500" cy="1152525"/>
          </a:xfrm>
          <a:prstGeom prst="rect">
            <a:avLst/>
          </a:prstGeom>
          <a:noFill/>
          <a:ln w="0">
            <a:noFill/>
          </a:ln>
        </p:spPr>
        <p:txBody>
          <a:bodyPr wrap="square" lIns="0" tIns="0" rIns="0" bIns="0" anchor="t">
            <a:noAutofit/>
          </a:bodyPr>
          <a:lstStyle/>
          <a:p>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Прямая соединительная линия 5">
            <a:extLst>
              <a:ext uri="{FF2B5EF4-FFF2-40B4-BE49-F238E27FC236}">
                <a16:creationId xmlns:a16="http://schemas.microsoft.com/office/drawing/2014/main" id="{875058B1-BFE6-4833-AF53-6EE18183FFF3}"/>
              </a:ext>
            </a:extLst>
          </p:cNvPr>
          <p:cNvSpPr>
            <a:spLocks noGrp="1"/>
          </p:cNvSpPr>
          <p:nvPr/>
        </p:nvSpPr>
        <p:spPr>
          <a:xfrm>
            <a:off x="609600" y="4076700"/>
            <a:ext cx="10972800" cy="0"/>
          </a:xfrm>
          <a:prstGeom prst="line">
            <a:avLst/>
          </a:prstGeom>
          <a:noFill/>
          <a:ln w="11430">
            <a:solidFill>
              <a:srgbClr val="D4E1E0"/>
            </a:solidFill>
          </a:ln>
        </p:spPr>
      </p:sp>
      <p:sp>
        <p:nvSpPr>
          <p:cNvPr id="7" name="Исходные оценки">
            <a:extLst>
              <a:ext uri="{FF2B5EF4-FFF2-40B4-BE49-F238E27FC236}">
                <a16:creationId xmlns:a16="http://schemas.microsoft.com/office/drawing/2014/main" id="{C5FC8E12-57E2-4AA9-88DF-91540478064A}"/>
              </a:ext>
            </a:extLst>
          </p:cNvPr>
          <p:cNvSpPr>
            <a:spLocks noGrp="1"/>
          </p:cNvSpPr>
          <p:nvPr/>
        </p:nvSpPr>
        <p:spPr>
          <a:xfrm>
            <a:off x="609600" y="4438650"/>
            <a:ext cx="4762500" cy="428625"/>
          </a:xfrm>
          <a:prstGeom prst="rect">
            <a:avLst/>
          </a:prstGeom>
          <a:noFill/>
          <a:ln w="0">
            <a:noFill/>
          </a:ln>
        </p:spPr>
        <p:txBody>
          <a:bodyPr wrap="square" lIns="0" tIns="0" rIns="0" bIns="0" anchor="t">
            <a:noAutofit/>
          </a:bodyPr>
          <a:lstStyle/>
          <a:p>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a:ext uri="{FF2B5EF4-FFF2-40B4-BE49-F238E27FC236}">
                <a16:creationId xmlns:a16="http://schemas.microsoft.com/office/drawing/2014/main" id="{0098175C-E3E2-42CF-8B6F-AC0938AC4158}"/>
              </a:ext>
            </a:extLst>
          </p:cNvPr>
          <p:cNvSpPr>
            <a:spLocks noGrp="1"/>
          </p:cNvSpPr>
          <p:nvPr/>
        </p:nvSpPr>
        <p:spPr>
          <a:xfrm>
            <a:off x="609600" y="5029200"/>
            <a:ext cx="49530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a:ext uri="{FF2B5EF4-FFF2-40B4-BE49-F238E27FC236}">
                <a16:creationId xmlns:a16="http://schemas.microsoft.com/office/drawing/2014/main" id="{B9260C2C-7876-4DC8-A068-81AA1DBFCCDC}"/>
              </a:ext>
            </a:extLst>
          </p:cNvPr>
          <p:cNvSpPr>
            <a:spLocks noGrp="1"/>
          </p:cNvSpPr>
          <p:nvPr/>
        </p:nvSpPr>
        <p:spPr>
          <a:xfrm>
            <a:off x="6705600" y="4438650"/>
            <a:ext cx="4876800" cy="762000"/>
          </a:xfrm>
          <a:prstGeom prst="rect">
            <a:avLst/>
          </a:prstGeom>
          <a:noFill/>
          <a:ln w="0">
            <a:noFill/>
          </a:ln>
        </p:spPr>
        <p:txBody>
          <a:bodyPr wrap="square" lIns="0" tIns="0" rIns="0" bIns="0" anchor="t">
            <a:noAutofit/>
          </a:bodyPr>
          <a:lstStyle/>
          <a:p>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a:ext uri="{FF2B5EF4-FFF2-40B4-BE49-F238E27FC236}">
                <a16:creationId xmlns:a16="http://schemas.microsoft.com/office/drawing/2014/main" id="{F2D0DE64-5F0F-4C0D-B7E2-4EDA124CD26E}"/>
              </a:ext>
            </a:extLst>
          </p:cNvPr>
          <p:cNvSpPr>
            <a:spLocks noGrp="1"/>
          </p:cNvSpPr>
          <p:nvPr/>
        </p:nvSpPr>
        <p:spPr>
          <a:xfrm>
            <a:off x="6705600" y="5029200"/>
            <a:ext cx="48768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a:ext uri="{FF2B5EF4-FFF2-40B4-BE49-F238E27FC236}">
                <a16:creationId xmlns:a16="http://schemas.microsoft.com/office/drawing/2014/main" id="{FE3F3B17-B292-4BF7-9744-1EBFB2D6019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Доразметка меняет оценку NDCG@10">
            <a:extLst>
              <a:ext uri="{FF2B5EF4-FFF2-40B4-BE49-F238E27FC236}">
                <a16:creationId xmlns:a16="http://schemas.microsoft.com/office/drawing/2014/main" id="{C57A67B4-84D5-4B46-A2C5-3620CDE8A41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a:ext uri="{FF2B5EF4-FFF2-40B4-BE49-F238E27FC236}">
                <a16:creationId xmlns:a16="http://schemas.microsoft.com/office/drawing/2014/main" id="{92AF1EEE-C890-41AD-A2FE-87D635EAB21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a:ext uri="{FF2B5EF4-FFF2-40B4-BE49-F238E27FC236}">
                <a16:creationId xmlns:a16="http://schemas.microsoft.com/office/drawing/2014/main" id="{83F10504-FD85-4B19-94F7-D2971BBEB240}"/>
              </a:ext>
            </a:extLst>
          </p:cNvPr>
          <p:cNvSpPr>
            <a:spLocks noGrp="1"/>
          </p:cNvSpPr>
          <p:nvPr/>
        </p:nvSpPr>
        <p:spPr>
          <a:xfrm>
            <a:off x="609600" y="1543050"/>
            <a:ext cx="10972800" cy="333375"/>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609600" y="1952625"/>
          <a:ext cx="10972800" cy="3495675"/>
        </p:xfrm>
        <a:graphic>
          <a:graphicData uri="http://schemas.openxmlformats.org/drawingml/2006/chart">
            <c:chart xmlns:c="http://schemas.openxmlformats.org/drawingml/2006/chart" xmlns:r="http://schemas.openxmlformats.org/officeDocument/2006/relationships" r:id="rId3"/>
          </a:graphicData>
        </a:graphic>
      </p:graphicFrame>
      <p:sp>
        <p:nvSpPr>
          <p:cNvPr id="5" name="Изменение E5: +0,391   95%-ный ДИ [0,365; 0,417]">
            <a:extLst>
              <a:ext uri="{FF2B5EF4-FFF2-40B4-BE49-F238E27FC236}">
                <a16:creationId xmlns:a16="http://schemas.microsoft.com/office/drawing/2014/main" id="{2F8596F9-2EF5-4D66-B616-218A321BDDE7}"/>
              </a:ext>
            </a:extLst>
          </p:cNvPr>
          <p:cNvSpPr>
            <a:spLocks noGrp="1"/>
          </p:cNvSpPr>
          <p:nvPr/>
        </p:nvSpPr>
        <p:spPr>
          <a:xfrm>
            <a:off x="609600" y="5657850"/>
            <a:ext cx="10906125" cy="400050"/>
          </a:xfrm>
          <a:prstGeom prst="rect">
            <a:avLst/>
          </a:prstGeom>
          <a:noFill/>
          <a:ln w="0">
            <a:noFill/>
          </a:ln>
        </p:spPr>
        <p:txBody>
          <a:bodyPr wrap="square" lIns="0" tIns="0" rIns="0" bIns="0" anchor="t">
            <a:noAutofit/>
          </a:bodyPr>
          <a:lstStyle/>
          <a:p>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ДИ 95% [0,365; 0,417]</a:t>
            </a:r>
          </a:p>
        </p:txBody>
      </p:sp>
      <p:sp>
        <p:nvSpPr>
          <p:cNvPr id="6" name="NDCG@10 внутри пулов. Общий идеальный знаменател">
            <a:extLst>
              <a:ext uri="{FF2B5EF4-FFF2-40B4-BE49-F238E27FC236}">
                <a16:creationId xmlns:a16="http://schemas.microsoft.com/office/drawing/2014/main" id="{C8EFE03B-381A-44C7-A6A9-44590528263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Модель-судья для больших пулов">
            <a:extLst>
              <a:ext uri="{FF2B5EF4-FFF2-40B4-BE49-F238E27FC236}">
                <a16:creationId xmlns:a16="http://schemas.microsoft.com/office/drawing/2014/main" id="{1C317943-E193-4781-8893-B0FAB927128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a:ext uri="{FF2B5EF4-FFF2-40B4-BE49-F238E27FC236}">
                <a16:creationId xmlns:a16="http://schemas.microsoft.com/office/drawing/2014/main" id="{4272979E-E477-4A23-AD5D-D41B7931E92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a:ext uri="{FF2B5EF4-FFF2-40B4-BE49-F238E27FC236}">
                <a16:creationId xmlns:a16="http://schemas.microsoft.com/office/drawing/2014/main" id="{26D13347-3281-4F06-BDAF-8D5A0F7294AB}"/>
              </a:ext>
            </a:extLst>
          </p:cNvPr>
          <p:cNvSpPr>
            <a:spLocks noGrp="1"/>
          </p:cNvSpPr>
          <p:nvPr/>
        </p:nvSpPr>
        <p:spPr>
          <a:xfrm>
            <a:off x="609600" y="2286000"/>
            <a:ext cx="3057525" cy="135255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a:ext uri="{FF2B5EF4-FFF2-40B4-BE49-F238E27FC236}">
                <a16:creationId xmlns:a16="http://schemas.microsoft.com/office/drawing/2014/main" id="{242EFFE6-5830-4D14-A815-9CCC678FCCF5}"/>
              </a:ext>
            </a:extLst>
          </p:cNvPr>
          <p:cNvSpPr>
            <a:spLocks noGrp="1"/>
          </p:cNvSpPr>
          <p:nvPr/>
        </p:nvSpPr>
        <p:spPr>
          <a:xfrm>
            <a:off x="609600" y="1609725"/>
            <a:ext cx="10972800" cy="40005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a:ext uri="{FF2B5EF4-FFF2-40B4-BE49-F238E27FC236}">
                <a16:creationId xmlns:a16="http://schemas.microsoft.com/office/drawing/2014/main" id="{39881BD3-3F33-4537-A1CD-D7255EA0F3E2}"/>
              </a:ext>
            </a:extLst>
          </p:cNvPr>
          <p:cNvSpPr>
            <a:spLocks noGrp="1"/>
          </p:cNvSpPr>
          <p:nvPr/>
        </p:nvSpPr>
        <p:spPr>
          <a:xfrm>
            <a:off x="4600575" y="2286000"/>
            <a:ext cx="3057525" cy="1352550"/>
          </a:xfrm>
          <a:prstGeom prst="rect">
            <a:avLst/>
          </a:prstGeom>
          <a:solidFill>
            <a:srgbClr val="E3F0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a:ext uri="{FF2B5EF4-FFF2-40B4-BE49-F238E27FC236}">
                <a16:creationId xmlns:a16="http://schemas.microsoft.com/office/drawing/2014/main" id="{8253BA28-6F62-41FF-8CB6-14C83D0EBC2C}"/>
              </a:ext>
            </a:extLst>
          </p:cNvPr>
          <p:cNvSpPr>
            <a:spLocks noGrp="1"/>
          </p:cNvSpPr>
          <p:nvPr/>
        </p:nvSpPr>
        <p:spPr>
          <a:xfrm>
            <a:off x="8591550" y="2286000"/>
            <a:ext cx="2714625" cy="1352550"/>
          </a:xfrm>
          <a:prstGeom prst="rect">
            <a:avLst/>
          </a:prstGeom>
          <a:solidFill>
            <a:srgbClr val="FAEFE9"/>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Прямая со стрелкой 18"/>
          <p:cNvCxnSpPr>
            <a:stCxn id="3" idx="3"/>
            <a:endCxn id="5" idx="1"/>
          </p:cNvCxnSpPr>
          <p:nvPr/>
        </p:nvCxnSpPr>
        <p:spPr>
          <a:xfrm>
            <a:off x="3667125" y="2962275"/>
            <a:ext cx="933450" cy="0"/>
          </a:xfrm>
          <a:prstGeom prst="straightConnector1">
            <a:avLst/>
          </a:prstGeom>
          <a:ln w="28575">
            <a:solidFill>
              <a:srgbClr val="526970"/>
            </a:solidFill>
            <a:tailEnd type="triangle" w="med" len="med"/>
          </a:ln>
        </p:spPr>
      </p:cxnSp>
      <p:cxnSp>
        <p:nvCxnSpPr>
          <p:cNvPr id="20" name="Прямая со стрелкой 19"/>
          <p:cNvCxnSpPr>
            <a:stCxn id="5" idx="3"/>
            <a:endCxn id="6" idx="1"/>
          </p:cNvCxnSpPr>
          <p:nvPr/>
        </p:nvCxnSpPr>
        <p:spPr>
          <a:xfrm>
            <a:off x="7658100" y="2962275"/>
            <a:ext cx="933450" cy="0"/>
          </a:xfrm>
          <a:prstGeom prst="straightConnector1">
            <a:avLst/>
          </a:prstGeom>
          <a:ln w="28575">
            <a:solidFill>
              <a:srgbClr val="C95236"/>
            </a:solidFill>
            <a:tailEnd type="triangle" w="med" len="med"/>
          </a:ln>
        </p:spPr>
      </p:cxnSp>
      <p:sp>
        <p:nvSpPr>
          <p:cNvPr id="9" name="Совместно оценивает два текста">
            <a:extLst>
              <a:ext uri="{FF2B5EF4-FFF2-40B4-BE49-F238E27FC236}">
                <a16:creationId xmlns:a16="http://schemas.microsoft.com/office/drawing/2014/main" id="{A625AD98-7162-453C-9409-BAFAE9A765FA}"/>
              </a:ext>
            </a:extLst>
          </p:cNvPr>
          <p:cNvSpPr>
            <a:spLocks noGrp="1"/>
          </p:cNvSpPr>
          <p:nvPr/>
        </p:nvSpPr>
        <p:spPr>
          <a:xfrm>
            <a:off x="4600575" y="3971925"/>
            <a:ext cx="6191250" cy="3810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Прямая соединительная линия 9">
            <a:extLst>
              <a:ext uri="{FF2B5EF4-FFF2-40B4-BE49-F238E27FC236}">
                <a16:creationId xmlns:a16="http://schemas.microsoft.com/office/drawing/2014/main" id="{DDA8774B-F006-4CA7-8007-2BB4FEE1EF0D}"/>
              </a:ext>
            </a:extLst>
          </p:cNvPr>
          <p:cNvSpPr>
            <a:spLocks noGrp="1"/>
          </p:cNvSpPr>
          <p:nvPr/>
        </p:nvSpPr>
        <p:spPr>
          <a:xfrm>
            <a:off x="609600" y="4686300"/>
            <a:ext cx="10972800" cy="0"/>
          </a:xfrm>
          <a:prstGeom prst="line">
            <a:avLst/>
          </a:prstGeom>
          <a:noFill/>
          <a:ln w="11430">
            <a:solidFill>
              <a:srgbClr val="D4E1E0"/>
            </a:solidFill>
          </a:ln>
        </p:spPr>
      </p:sp>
      <p:sp>
        <p:nvSpPr>
          <p:cNvPr id="11" name="На входе нет эталонного ответа, рангов и баллов ">
            <a:extLst>
              <a:ext uri="{FF2B5EF4-FFF2-40B4-BE49-F238E27FC236}">
                <a16:creationId xmlns:a16="http://schemas.microsoft.com/office/drawing/2014/main" id="{29D5D23C-9396-4EFC-AE80-F4BC37555AE5}"/>
              </a:ext>
            </a:extLst>
          </p:cNvPr>
          <p:cNvSpPr>
            <a:spLocks noGrp="1"/>
          </p:cNvSpPr>
          <p:nvPr/>
        </p:nvSpPr>
        <p:spPr>
          <a:xfrm>
            <a:off x="609600" y="5095875"/>
            <a:ext cx="10972800" cy="704850"/>
          </a:xfrm>
          <a:prstGeom prst="rect">
            <a:avLst/>
          </a:prstGeom>
          <a:noFill/>
          <a:ln w="0">
            <a:noFill/>
          </a:ln>
        </p:spPr>
        <p:txBody>
          <a:bodyPr wrap="square" lIns="0" tIns="0" rIns="0" bIns="0" anchor="t">
            <a:noAutofit/>
          </a:body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Согласие судьи с ручной разметкой">
            <a:extLst>
              <a:ext uri="{FF2B5EF4-FFF2-40B4-BE49-F238E27FC236}">
                <a16:creationId xmlns:a16="http://schemas.microsoft.com/office/drawing/2014/main" id="{91AE5F0E-201B-432D-9D85-E8354F5F328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a:ext uri="{FF2B5EF4-FFF2-40B4-BE49-F238E27FC236}">
                <a16:creationId xmlns:a16="http://schemas.microsoft.com/office/drawing/2014/main" id="{B0AD9B9A-DFEE-4C8F-B7F9-0CFA820FE76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a:ext uri="{FF2B5EF4-FFF2-40B4-BE49-F238E27FC236}">
                <a16:creationId xmlns:a16="http://schemas.microsoft.com/office/drawing/2014/main" id="{9042F927-B8D5-4B44-B3A6-50ED190B368F}"/>
              </a:ext>
            </a:extLst>
          </p:cNvPr>
          <p:cNvSpPr>
            <a:spLocks noGrp="1"/>
          </p:cNvSpPr>
          <p:nvPr/>
        </p:nvSpPr>
        <p:spPr>
          <a:xfrm>
            <a:off x="609600" y="15621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609600" y="2000250"/>
          <a:ext cx="706755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5" name="0,907">
            <a:extLst>
              <a:ext uri="{FF2B5EF4-FFF2-40B4-BE49-F238E27FC236}">
                <a16:creationId xmlns:a16="http://schemas.microsoft.com/office/drawing/2014/main" id="{D609A069-22B6-45C0-9AC3-4FF25D06A9E2}"/>
              </a:ext>
            </a:extLst>
          </p:cNvPr>
          <p:cNvSpPr>
            <a:spLocks noGrp="1"/>
          </p:cNvSpPr>
          <p:nvPr/>
        </p:nvSpPr>
        <p:spPr>
          <a:xfrm>
            <a:off x="8324850" y="2066925"/>
            <a:ext cx="3048000" cy="762000"/>
          </a:xfrm>
          <a:prstGeom prst="rect">
            <a:avLst/>
          </a:prstGeom>
          <a:noFill/>
          <a:ln w="0">
            <a:noFill/>
          </a:ln>
        </p:spPr>
        <p:txBody>
          <a:bodyPr wrap="square" lIns="0" tIns="0" rIns="0" bIns="0" anchor="t">
            <a:noAutofit/>
          </a:bodyPr>
          <a:lstStyle/>
          <a:p>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a:ext uri="{FF2B5EF4-FFF2-40B4-BE49-F238E27FC236}">
                <a16:creationId xmlns:a16="http://schemas.microsoft.com/office/drawing/2014/main" id="{CB736417-86A8-4067-B9D2-41DE95789CF6}"/>
              </a:ext>
            </a:extLst>
          </p:cNvPr>
          <p:cNvSpPr>
            <a:spLocks noGrp="1"/>
          </p:cNvSpPr>
          <p:nvPr/>
        </p:nvSpPr>
        <p:spPr>
          <a:xfrm>
            <a:off x="8324850" y="2886075"/>
            <a:ext cx="3048000" cy="38100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a:ext uri="{FF2B5EF4-FFF2-40B4-BE49-F238E27FC236}">
                <a16:creationId xmlns:a16="http://schemas.microsoft.com/office/drawing/2014/main" id="{FD18F278-C87E-4D99-BB55-FF9A4E0700C5}"/>
              </a:ext>
            </a:extLst>
          </p:cNvPr>
          <p:cNvSpPr>
            <a:spLocks noGrp="1"/>
          </p:cNvSpPr>
          <p:nvPr/>
        </p:nvSpPr>
        <p:spPr>
          <a:xfrm>
            <a:off x="8324850" y="3781425"/>
            <a:ext cx="3048000" cy="666750"/>
          </a:xfrm>
          <a:prstGeom prst="rect">
            <a:avLst/>
          </a:prstGeom>
          <a:noFill/>
          <a:ln w="0">
            <a:noFill/>
          </a:ln>
        </p:spPr>
        <p:txBody>
          <a:bodyPr wrap="square" lIns="0" tIns="0" rIns="0" bIns="0" anchor="t">
            <a:noAutofit/>
          </a:bodyPr>
          <a:lstStyle/>
          <a:p>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a:ext uri="{FF2B5EF4-FFF2-40B4-BE49-F238E27FC236}">
                <a16:creationId xmlns:a16="http://schemas.microsoft.com/office/drawing/2014/main" id="{1DFC7CC4-AFEE-491F-B1BB-531DBBFA3A07}"/>
              </a:ext>
            </a:extLst>
          </p:cNvPr>
          <p:cNvSpPr>
            <a:spLocks noGrp="1"/>
          </p:cNvSpPr>
          <p:nvPr/>
        </p:nvSpPr>
        <p:spPr>
          <a:xfrm>
            <a:off x="8324850" y="4524375"/>
            <a:ext cx="3048000" cy="6858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a:ext uri="{FF2B5EF4-FFF2-40B4-BE49-F238E27FC236}">
                <a16:creationId xmlns:a16="http://schemas.microsoft.com/office/drawing/2014/main" id="{C2A3BF9E-2D7E-4DCA-B4D5-AF30022F1DBA}"/>
              </a:ext>
            </a:extLst>
          </p:cNvPr>
          <p:cNvSpPr>
            <a:spLocks noGrp="1"/>
          </p:cNvSpPr>
          <p:nvPr/>
        </p:nvSpPr>
        <p:spPr>
          <a:xfrm>
            <a:off x="609600" y="5686425"/>
            <a:ext cx="9525000" cy="323850"/>
          </a:xfrm>
          <a:prstGeom prst="rect">
            <a:avLst/>
          </a:prstGeom>
          <a:noFill/>
          <a:ln w="0">
            <a:noFill/>
          </a:ln>
        </p:spPr>
        <p:txBody>
          <a:bodyPr wrap="square" lIns="0" tIns="0" rIns="0" bIns="0" anchor="t">
            <a:noAutofit/>
          </a:bodyPr>
          <a:lstStyle/>
          <a:p>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a:ext uri="{FF2B5EF4-FFF2-40B4-BE49-F238E27FC236}">
                <a16:creationId xmlns:a16="http://schemas.microsoft.com/office/drawing/2014/main" id="{CF57EB44-E413-4E54-8664-3AB5C45CF7C9}"/>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олная dev-часть для масштабной оценки">
            <a:extLst>
              <a:ext uri="{FF2B5EF4-FFF2-40B4-BE49-F238E27FC236}">
                <a16:creationId xmlns:a16="http://schemas.microsoft.com/office/drawing/2014/main" id="{2B9A8261-9949-4488-9D48-53C08C66182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a:ext uri="{FF2B5EF4-FFF2-40B4-BE49-F238E27FC236}">
                <a16:creationId xmlns:a16="http://schemas.microsoft.com/office/drawing/2014/main" id="{15478C3A-5184-42AE-8DFA-18DE758B6120}"/>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a:ext uri="{FF2B5EF4-FFF2-40B4-BE49-F238E27FC236}">
                <a16:creationId xmlns:a16="http://schemas.microsoft.com/office/drawing/2014/main" id="{2077CA7F-B524-4CC1-842C-6AF4B2D39327}"/>
              </a:ext>
            </a:extLst>
          </p:cNvPr>
          <p:cNvSpPr>
            <a:spLocks noGrp="1"/>
          </p:cNvSpPr>
          <p:nvPr/>
        </p:nvSpPr>
        <p:spPr>
          <a:xfrm>
            <a:off x="609600" y="1695450"/>
            <a:ext cx="5905500" cy="1047750"/>
          </a:xfrm>
          <a:prstGeom prst="rect">
            <a:avLst/>
          </a:prstGeom>
          <a:noFill/>
          <a:ln w="0">
            <a:noFill/>
          </a:ln>
        </p:spPr>
        <p:txBody>
          <a:bodyPr wrap="square" lIns="0" tIns="0" rIns="0" bIns="0" anchor="t">
            <a:noAutofit/>
          </a:bodyPr>
          <a:lstStyle>
            <a:defPPr algn="l">
              <a:defRPr sz="6600" b="1">
                <a:solidFill>
                  <a:srgbClr val="007F78"/>
                </a:solidFill>
                <a:latin typeface="Arial"/>
                <a:ea typeface="Arial"/>
                <a:cs typeface="Arial"/>
              </a:defRPr>
            </a:defPPr>
          </a:lstStyle>
          <a:p>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a:ext uri="{FF2B5EF4-FFF2-40B4-BE49-F238E27FC236}">
                <a16:creationId xmlns:a16="http://schemas.microsoft.com/office/drawing/2014/main" id="{69389898-20D0-4BEF-9DC9-B302A76FDE4C}"/>
              </a:ext>
            </a:extLst>
          </p:cNvPr>
          <p:cNvSpPr>
            <a:spLocks noGrp="1"/>
          </p:cNvSpPr>
          <p:nvPr/>
        </p:nvSpPr>
        <p:spPr>
          <a:xfrm>
            <a:off x="609600" y="2857500"/>
            <a:ext cx="7239000" cy="523875"/>
          </a:xfrm>
          <a:prstGeom prst="rect">
            <a:avLst/>
          </a:prstGeom>
          <a:noFill/>
          <a:ln w="0">
            <a:noFill/>
          </a:ln>
        </p:spPr>
        <p:txBody>
          <a:bodyPr wrap="square" lIns="0" tIns="0" rIns="0" bIns="0" anchor="t">
            <a:noAutofit/>
          </a:bodyPr>
          <a:lstStyle>
            <a:defPPr algn="l">
              <a:defRPr sz="2625" b="1">
                <a:solidFill>
                  <a:srgbClr val="182B30"/>
                </a:solidFill>
                <a:latin typeface="Arial"/>
                <a:ea typeface="Arial"/>
                <a:cs typeface="Arial"/>
              </a:defRPr>
            </a:defPPr>
          </a:lstStyle>
          <a:p>
            <a:pPr algn="l">
              <a:defRPr sz="2625" b="1">
                <a:solidFill>
                  <a:srgbClr val="182B30"/>
                </a:solidFill>
                <a:latin typeface="Arial"/>
                <a:ea typeface="Arial"/>
                <a:cs typeface="Arial"/>
              </a:defRPr>
            </a:pPr>
            <a:r>
              <a:rPr sz="2625" b="1">
                <a:solidFill>
                  <a:srgbClr val="182B30"/>
                </a:solidFill>
                <a:latin typeface="Arial"/>
                <a:ea typeface="Arial"/>
                <a:cs typeface="Arial"/>
              </a:rPr>
              <a:t>запроса в полной dev-части</a:t>
            </a:r>
          </a:p>
        </p:txBody>
      </p:sp>
      <p:sp>
        <p:nvSpPr>
          <p:cNvPr id="5" name="MS MARCO Passage Ranking v1">
            <a:extLst>
              <a:ext uri="{FF2B5EF4-FFF2-40B4-BE49-F238E27FC236}">
                <a16:creationId xmlns:a16="http://schemas.microsoft.com/office/drawing/2014/main" id="{51CC0684-1327-4BC3-A025-1397E4CE659B}"/>
              </a:ext>
            </a:extLst>
          </p:cNvPr>
          <p:cNvSpPr>
            <a:spLocks noGrp="1"/>
          </p:cNvSpPr>
          <p:nvPr/>
        </p:nvSpPr>
        <p:spPr>
          <a:xfrm>
            <a:off x="609600" y="3457575"/>
            <a:ext cx="8096250" cy="428625"/>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Прямая соединительная линия 5">
            <a:extLst>
              <a:ext uri="{FF2B5EF4-FFF2-40B4-BE49-F238E27FC236}">
                <a16:creationId xmlns:a16="http://schemas.microsoft.com/office/drawing/2014/main" id="{700D9565-FB0D-48DF-A6A6-5CB34B98F20D}"/>
              </a:ext>
            </a:extLst>
          </p:cNvPr>
          <p:cNvSpPr>
            <a:spLocks noGrp="1"/>
          </p:cNvSpPr>
          <p:nvPr/>
        </p:nvSpPr>
        <p:spPr>
          <a:xfrm>
            <a:off x="609600" y="4114800"/>
            <a:ext cx="10972800" cy="0"/>
          </a:xfrm>
          <a:prstGeom prst="line">
            <a:avLst/>
          </a:prstGeom>
          <a:noFill/>
          <a:ln w="12383">
            <a:solidFill>
              <a:srgbClr val="D4E1E0"/>
            </a:solidFill>
          </a:ln>
        </p:spPr>
      </p:sp>
      <p:sp>
        <p:nvSpPr>
          <p:cNvPr id="7" name="Для этих запросов подготовили поисковые выдачи.&#10;После обучения судья о">
            <a:extLst>
              <a:ext uri="{FF2B5EF4-FFF2-40B4-BE49-F238E27FC236}">
                <a16:creationId xmlns:a16="http://schemas.microsoft.com/office/drawing/2014/main" id="{6A8F38E8-5CB3-4209-9F32-3162AF293AF6}"/>
              </a:ext>
            </a:extLst>
          </p:cNvPr>
          <p:cNvSpPr>
            <a:spLocks noGrp="1"/>
          </p:cNvSpPr>
          <p:nvPr/>
        </p:nvSpPr>
        <p:spPr>
          <a:xfrm>
            <a:off x="609600" y="4429125"/>
            <a:ext cx="10972800" cy="895350"/>
          </a:xfrm>
          <a:prstGeom prst="rect">
            <a:avLst/>
          </a:prstGeom>
          <a:noFill/>
          <a:ln w="0">
            <a:noFill/>
          </a:ln>
        </p:spPr>
        <p:txBody>
          <a:bodyPr wrap="square" lIns="0" tIns="0" rIns="0" bIns="0" anchor="t">
            <a:noAutofit/>
          </a:bodyPr>
          <a:lstStyle>
            <a:defPPr algn="l">
              <a:defRPr sz="2250" b="0">
                <a:solidFill>
                  <a:srgbClr val="182B30"/>
                </a:solidFill>
                <a:latin typeface="Arial"/>
                <a:ea typeface="Arial"/>
                <a:cs typeface="Arial"/>
              </a:defRPr>
            </a:defP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Прямая со стрелкой 13">
            <a:extLst>
              <a:ext uri="{FF2B5EF4-FFF2-40B4-BE49-F238E27FC236}">
                <a16:creationId xmlns:a16="http://schemas.microsoft.com/office/drawing/2014/main" id="{DD5774A0-A021-4D39-82EC-B8310EB78AF8}"/>
              </a:ext>
            </a:extLst>
          </p:cNvPr>
          <p:cNvCxnSpPr>
            <a:stCxn id="8" idx="3"/>
            <a:endCxn id="9" idx="1"/>
          </p:cNvCxnSpPr>
          <p:nvPr/>
        </p:nvCxnSpPr>
        <p:spPr>
          <a:xfrm>
            <a:off x="8810625" y="3562350"/>
            <a:ext cx="695325" cy="0"/>
          </a:xfrm>
          <a:prstGeom prst="straightConnector1">
            <a:avLst/>
          </a:prstGeom>
          <a:ln w="23813">
            <a:solidFill>
              <a:srgbClr val="526970"/>
            </a:solidFill>
            <a:tailEnd type="triangle" w="med" len="med"/>
          </a:ln>
        </p:spPr>
      </p:cxnSp>
      <p:cxnSp>
        <p:nvCxnSpPr>
          <p:cNvPr id="13" name="Прямая со стрелкой 12">
            <a:extLst>
              <a:ext uri="{FF2B5EF4-FFF2-40B4-BE49-F238E27FC236}">
                <a16:creationId xmlns:a16="http://schemas.microsoft.com/office/drawing/2014/main" id="{94519830-39EE-49CE-8B96-37BCA4255EF2}"/>
              </a:ext>
            </a:extLst>
          </p:cNvPr>
          <p:cNvCxnSpPr>
            <a:stCxn id="7" idx="3"/>
            <a:endCxn id="8" idx="1"/>
          </p:cNvCxnSpPr>
          <p:nvPr/>
        </p:nvCxnSpPr>
        <p:spPr>
          <a:xfrm>
            <a:off x="6210300" y="3562350"/>
            <a:ext cx="695325" cy="0"/>
          </a:xfrm>
          <a:prstGeom prst="straightConnector1">
            <a:avLst/>
          </a:prstGeom>
          <a:ln w="23813">
            <a:solidFill>
              <a:srgbClr val="526970"/>
            </a:solidFill>
            <a:tailEnd type="triangle" w="med" len="med"/>
          </a:ln>
        </p:spPr>
      </p:cxnSp>
      <p:cxnSp>
        <p:nvCxnSpPr>
          <p:cNvPr id="12" name="Прямая со стрелкой 11">
            <a:extLst>
              <a:ext uri="{FF2B5EF4-FFF2-40B4-BE49-F238E27FC236}">
                <a16:creationId xmlns:a16="http://schemas.microsoft.com/office/drawing/2014/main" id="{97DB1A34-F3A2-4ADF-B8B5-118B3E58EE3E}"/>
              </a:ext>
            </a:extLst>
          </p:cNvPr>
          <p:cNvCxnSpPr>
            <a:stCxn id="6" idx="3"/>
            <a:endCxn id="7" idx="1"/>
          </p:cNvCxnSpPr>
          <p:nvPr/>
        </p:nvCxnSpPr>
        <p:spPr>
          <a:xfrm flipV="1">
            <a:off x="2800350" y="3562350"/>
            <a:ext cx="838200" cy="93345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C5A5CD1C-C7B9-4EF6-82BE-EC948942575C}"/>
              </a:ext>
            </a:extLst>
          </p:cNvPr>
          <p:cNvCxnSpPr>
            <a:stCxn id="5" idx="3"/>
            <a:endCxn id="7" idx="1"/>
          </p:cNvCxnSpPr>
          <p:nvPr/>
        </p:nvCxnSpPr>
        <p:spPr>
          <a:xfrm>
            <a:off x="2800350" y="3562350"/>
            <a:ext cx="838200" cy="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D63E2B75-ED35-40FB-B910-C5AF73868780}"/>
              </a:ext>
            </a:extLst>
          </p:cNvPr>
          <p:cNvCxnSpPr>
            <a:stCxn id="4" idx="3"/>
            <a:endCxn id="7" idx="1"/>
          </p:cNvCxnSpPr>
          <p:nvPr/>
        </p:nvCxnSpPr>
        <p:spPr>
          <a:xfrm>
            <a:off x="2800350" y="2628900"/>
            <a:ext cx="838200" cy="933450"/>
          </a:xfrm>
          <a:prstGeom prst="straightConnector1">
            <a:avLst/>
          </a:prstGeom>
          <a:ln w="23813">
            <a:solidFill>
              <a:srgbClr val="526970"/>
            </a:solidFill>
            <a:tailEnd type="triangle" w="med" len="med"/>
          </a:ln>
        </p:spPr>
      </p:cxnSp>
      <p:sp>
        <p:nvSpPr>
          <p:cNvPr id="17" name="Пулы кандидатов для модели-судьи">
            <a:extLst>
              <a:ext uri="{FF2B5EF4-FFF2-40B4-BE49-F238E27FC236}">
                <a16:creationId xmlns:a16="http://schemas.microsoft.com/office/drawing/2014/main" id="{41E850F8-10CA-44D8-BE1F-EE579E3500DB}"/>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a:ext uri="{FF2B5EF4-FFF2-40B4-BE49-F238E27FC236}">
                <a16:creationId xmlns:a16="http://schemas.microsoft.com/office/drawing/2014/main" id="{B8524155-95B6-4806-94B3-99C08507C3F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a:ext uri="{FF2B5EF4-FFF2-40B4-BE49-F238E27FC236}">
                <a16:creationId xmlns:a16="http://schemas.microsoft.com/office/drawing/2014/main" id="{BA938D0F-D1C3-4577-BBA3-93D726C721B6}"/>
              </a:ext>
            </a:extLst>
          </p:cNvPr>
          <p:cNvSpPr>
            <a:spLocks noGrp="1"/>
          </p:cNvSpPr>
          <p:nvPr/>
        </p:nvSpPr>
        <p:spPr>
          <a:xfrm>
            <a:off x="609600" y="1543050"/>
            <a:ext cx="10972800" cy="428625"/>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K задает число результатов от каждого поискового метода</a:t>
            </a:r>
          </a:p>
        </p:txBody>
      </p:sp>
      <p:sp>
        <p:nvSpPr>
          <p:cNvPr id="4" name="BM25&#10;первые K">
            <a:extLst>
              <a:ext uri="{FF2B5EF4-FFF2-40B4-BE49-F238E27FC236}">
                <a16:creationId xmlns:a16="http://schemas.microsoft.com/office/drawing/2014/main" id="{D1493ED4-A8A6-456B-BE4A-A6C59408A12F}"/>
              </a:ext>
            </a:extLst>
          </p:cNvPr>
          <p:cNvSpPr>
            <a:spLocks noGrp="1"/>
          </p:cNvSpPr>
          <p:nvPr/>
        </p:nvSpPr>
        <p:spPr>
          <a:xfrm>
            <a:off x="609600" y="22383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a:ext uri="{FF2B5EF4-FFF2-40B4-BE49-F238E27FC236}">
                <a16:creationId xmlns:a16="http://schemas.microsoft.com/office/drawing/2014/main" id="{9B4EC669-F96C-4AF6-BCE6-FB69AF2E0436}"/>
              </a:ext>
            </a:extLst>
          </p:cNvPr>
          <p:cNvSpPr>
            <a:spLocks noGrp="1"/>
          </p:cNvSpPr>
          <p:nvPr/>
        </p:nvSpPr>
        <p:spPr>
          <a:xfrm>
            <a:off x="609600" y="317182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a:ext uri="{FF2B5EF4-FFF2-40B4-BE49-F238E27FC236}">
                <a16:creationId xmlns:a16="http://schemas.microsoft.com/office/drawing/2014/main" id="{4C8AD222-7201-480C-8B29-CAE6DB242A58}"/>
              </a:ext>
            </a:extLst>
          </p:cNvPr>
          <p:cNvSpPr>
            <a:spLocks noGrp="1"/>
          </p:cNvSpPr>
          <p:nvPr/>
        </p:nvSpPr>
        <p:spPr>
          <a:xfrm>
            <a:off x="609600" y="41052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a:ext uri="{FF2B5EF4-FFF2-40B4-BE49-F238E27FC236}">
                <a16:creationId xmlns:a16="http://schemas.microsoft.com/office/drawing/2014/main" id="{F11F59E8-3113-4FE5-9058-E52D8596CCF5}"/>
              </a:ext>
            </a:extLst>
          </p:cNvPr>
          <p:cNvSpPr>
            <a:spLocks noGrp="1"/>
          </p:cNvSpPr>
          <p:nvPr/>
        </p:nvSpPr>
        <p:spPr>
          <a:xfrm>
            <a:off x="3638550" y="2990850"/>
            <a:ext cx="2571750" cy="114300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a:ext uri="{FF2B5EF4-FFF2-40B4-BE49-F238E27FC236}">
                <a16:creationId xmlns:a16="http://schemas.microsoft.com/office/drawing/2014/main" id="{CA3440FA-9196-4E18-9E03-FBF19BA14987}"/>
              </a:ext>
            </a:extLst>
          </p:cNvPr>
          <p:cNvSpPr>
            <a:spLocks noGrp="1"/>
          </p:cNvSpPr>
          <p:nvPr/>
        </p:nvSpPr>
        <p:spPr>
          <a:xfrm>
            <a:off x="6905625" y="2990850"/>
            <a:ext cx="190500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a:ext uri="{FF2B5EF4-FFF2-40B4-BE49-F238E27FC236}">
                <a16:creationId xmlns:a16="http://schemas.microsoft.com/office/drawing/2014/main" id="{8D3E6DBD-0EE9-466E-B812-C69FE0AD4199}"/>
              </a:ext>
            </a:extLst>
          </p:cNvPr>
          <p:cNvSpPr>
            <a:spLocks noGrp="1"/>
          </p:cNvSpPr>
          <p:nvPr/>
        </p:nvSpPr>
        <p:spPr>
          <a:xfrm>
            <a:off x="9505950" y="2990850"/>
            <a:ext cx="207645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a:ext uri="{FF2B5EF4-FFF2-40B4-BE49-F238E27FC236}">
                <a16:creationId xmlns:a16="http://schemas.microsoft.com/office/drawing/2014/main" id="{042F81F9-3D36-49A5-9BA1-6952EED02685}"/>
              </a:ext>
            </a:extLst>
          </p:cNvPr>
          <p:cNvSpPr>
            <a:spLocks noGrp="1"/>
          </p:cNvSpPr>
          <p:nvPr/>
        </p:nvSpPr>
        <p:spPr>
          <a:xfrm>
            <a:off x="609600" y="5314950"/>
            <a:ext cx="6477000" cy="447675"/>
          </a:xfrm>
          <a:prstGeom prst="rect">
            <a:avLst/>
          </a:prstGeom>
          <a:noFill/>
          <a:ln w="0">
            <a:noFill/>
          </a:ln>
        </p:spPr>
        <p:txBody>
          <a:bodyPr wrap="square" lIns="0" tIns="0" rIns="0" bIns="0" anchor="t">
            <a:noAutofit/>
          </a:bodyPr>
          <a:lstStyle>
            <a:defPPr algn="l">
              <a:defRPr sz="2550" b="1">
                <a:solidFill>
                  <a:srgbClr val="007F78"/>
                </a:solidFill>
                <a:latin typeface="Arial"/>
                <a:ea typeface="Arial"/>
                <a:cs typeface="Arial"/>
              </a:defRPr>
            </a:defPPr>
          </a:lstStyle>
          <a:p>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a:ext uri="{FF2B5EF4-FFF2-40B4-BE49-F238E27FC236}">
                <a16:creationId xmlns:a16="http://schemas.microsoft.com/office/drawing/2014/main" id="{50259D60-B4FE-49AC-BF2A-02DE5163D21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Размер пула и предсказанная релевантность">
            <a:extLst>
              <a:ext uri="{FF2B5EF4-FFF2-40B4-BE49-F238E27FC236}">
                <a16:creationId xmlns:a16="http://schemas.microsoft.com/office/drawing/2014/main" id="{C455C868-F2F3-4957-A6F4-0C5264002E18}"/>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a:ext uri="{FF2B5EF4-FFF2-40B4-BE49-F238E27FC236}">
                <a16:creationId xmlns:a16="http://schemas.microsoft.com/office/drawing/2014/main" id="{78598B3E-D80F-499A-B0C4-6E304FFF437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a:ext uri="{FF2B5EF4-FFF2-40B4-BE49-F238E27FC236}">
                <a16:creationId xmlns:a16="http://schemas.microsoft.com/office/drawing/2014/main" id="{E0E9E0F1-9EE7-413A-A5B5-031516151B0B}"/>
              </a:ext>
            </a:extLst>
          </p:cNvPr>
          <p:cNvSpPr>
            <a:spLocks noGrp="1"/>
          </p:cNvSpPr>
          <p:nvPr/>
        </p:nvSpPr>
        <p:spPr>
          <a:xfrm>
            <a:off x="609600" y="1543050"/>
            <a:ext cx="10972800" cy="3429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a:ext uri="{FF2B5EF4-FFF2-40B4-BE49-F238E27FC236}">
                <a16:creationId xmlns:a16="http://schemas.microsoft.com/office/drawing/2014/main" id="{51415D26-0F44-457D-8163-AEEA791D86DF}"/>
              </a:ext>
            </a:extLst>
          </p:cNvPr>
          <p:cNvSpPr>
            <a:spLocks noGrp="1"/>
          </p:cNvSpPr>
          <p:nvPr/>
        </p:nvSpPr>
        <p:spPr>
          <a:xfrm>
            <a:off x="609600" y="1952625"/>
            <a:ext cx="8096250" cy="3238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609600" y="2371725"/>
          <a:ext cx="83153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6" name="451,5">
            <a:extLst>
              <a:ext uri="{FF2B5EF4-FFF2-40B4-BE49-F238E27FC236}">
                <a16:creationId xmlns:a16="http://schemas.microsoft.com/office/drawing/2014/main" id="{96D6F927-3939-4335-991E-B65CAC387627}"/>
              </a:ext>
            </a:extLst>
          </p:cNvPr>
          <p:cNvSpPr>
            <a:spLocks noGrp="1"/>
          </p:cNvSpPr>
          <p:nvPr/>
        </p:nvSpPr>
        <p:spPr>
          <a:xfrm>
            <a:off x="9296400" y="2362200"/>
            <a:ext cx="2143125" cy="685800"/>
          </a:xfrm>
          <a:prstGeom prst="rect">
            <a:avLst/>
          </a:prstGeom>
          <a:noFill/>
          <a:ln w="0">
            <a:noFill/>
          </a:ln>
        </p:spPr>
        <p:txBody>
          <a:bodyPr wrap="square" lIns="0" tIns="0" rIns="0" bIns="0" anchor="t">
            <a:noAutofit/>
          </a:bodyPr>
          <a:lstStyle/>
          <a:p>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a:ext uri="{FF2B5EF4-FFF2-40B4-BE49-F238E27FC236}">
                <a16:creationId xmlns:a16="http://schemas.microsoft.com/office/drawing/2014/main" id="{8C9050D0-5434-40B3-8DBB-D8ED964C3687}"/>
              </a:ext>
            </a:extLst>
          </p:cNvPr>
          <p:cNvSpPr>
            <a:spLocks noGrp="1"/>
          </p:cNvSpPr>
          <p:nvPr/>
        </p:nvSpPr>
        <p:spPr>
          <a:xfrm>
            <a:off x="9296400" y="3095625"/>
            <a:ext cx="2171700" cy="40005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a:ext uri="{FF2B5EF4-FFF2-40B4-BE49-F238E27FC236}">
                <a16:creationId xmlns:a16="http://schemas.microsoft.com/office/drawing/2014/main" id="{8A09CABC-B85B-4D1B-92FD-F63F6AA3E62C}"/>
              </a:ext>
            </a:extLst>
          </p:cNvPr>
          <p:cNvSpPr>
            <a:spLocks noGrp="1"/>
          </p:cNvSpPr>
          <p:nvPr/>
        </p:nvSpPr>
        <p:spPr>
          <a:xfrm>
            <a:off x="9296400" y="4067175"/>
            <a:ext cx="2143125" cy="685800"/>
          </a:xfrm>
          <a:prstGeom prst="rect">
            <a:avLst/>
          </a:prstGeom>
          <a:noFill/>
          <a:ln w="0">
            <a:noFill/>
          </a:ln>
        </p:spPr>
        <p:txBody>
          <a:bodyPr wrap="square" lIns="0" tIns="0" rIns="0" bIns="0" anchor="t">
            <a:noAutofit/>
          </a:bodyPr>
          <a:lstStyle/>
          <a:p>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a:ext uri="{FF2B5EF4-FFF2-40B4-BE49-F238E27FC236}">
                <a16:creationId xmlns:a16="http://schemas.microsoft.com/office/drawing/2014/main" id="{4718A07C-8E0D-4B57-94E0-0C883610EC22}"/>
              </a:ext>
            </a:extLst>
          </p:cNvPr>
          <p:cNvSpPr>
            <a:spLocks noGrp="1"/>
          </p:cNvSpPr>
          <p:nvPr/>
        </p:nvSpPr>
        <p:spPr>
          <a:xfrm>
            <a:off x="9296400" y="4810125"/>
            <a:ext cx="2171700" cy="771525"/>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a:ext uri="{FF2B5EF4-FFF2-40B4-BE49-F238E27FC236}">
                <a16:creationId xmlns:a16="http://schemas.microsoft.com/office/drawing/2014/main" id="{EF4AF13C-4075-4A33-AB6F-7CDE0F2A94B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Прямая со стрелкой 11">
            <a:extLst>
              <a:ext uri="{FF2B5EF4-FFF2-40B4-BE49-F238E27FC236}">
                <a16:creationId xmlns:a16="http://schemas.microsoft.com/office/drawing/2014/main" id="{323822FD-5B19-4010-A14D-25DCC8F9DF76}"/>
              </a:ext>
            </a:extLst>
          </p:cNvPr>
          <p:cNvCxnSpPr>
            <a:stCxn id="7" idx="3"/>
            <a:endCxn id="8" idx="1"/>
          </p:cNvCxnSpPr>
          <p:nvPr/>
        </p:nvCxnSpPr>
        <p:spPr>
          <a:xfrm>
            <a:off x="7172325" y="3533775"/>
            <a:ext cx="1028700" cy="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7D1FDB77-9180-48A9-923F-97DEB5891B4A}"/>
              </a:ext>
            </a:extLst>
          </p:cNvPr>
          <p:cNvCxnSpPr>
            <a:stCxn id="6" idx="3"/>
            <a:endCxn id="7" idx="1"/>
          </p:cNvCxnSpPr>
          <p:nvPr/>
        </p:nvCxnSpPr>
        <p:spPr>
          <a:xfrm flipV="1">
            <a:off x="2752725" y="3533775"/>
            <a:ext cx="971550" cy="72390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321996B1-57F6-4A8C-8368-A24CB67B9C1A}"/>
              </a:ext>
            </a:extLst>
          </p:cNvPr>
          <p:cNvCxnSpPr>
            <a:stCxn id="5" idx="3"/>
            <a:endCxn id="7" idx="1"/>
          </p:cNvCxnSpPr>
          <p:nvPr/>
        </p:nvCxnSpPr>
        <p:spPr>
          <a:xfrm>
            <a:off x="2752725" y="3448050"/>
            <a:ext cx="971550" cy="85725"/>
          </a:xfrm>
          <a:prstGeom prst="straightConnector1">
            <a:avLst/>
          </a:prstGeom>
          <a:ln w="23813">
            <a:solidFill>
              <a:srgbClr val="526970"/>
            </a:solidFill>
            <a:tailEnd type="triangle" w="med" len="med"/>
          </a:ln>
        </p:spPr>
      </p:cxnSp>
      <p:cxnSp>
        <p:nvCxnSpPr>
          <p:cNvPr id="9" name="Прямая со стрелкой 8">
            <a:extLst>
              <a:ext uri="{FF2B5EF4-FFF2-40B4-BE49-F238E27FC236}">
                <a16:creationId xmlns:a16="http://schemas.microsoft.com/office/drawing/2014/main" id="{3884D392-3471-4718-B882-F023CD6D1926}"/>
              </a:ext>
            </a:extLst>
          </p:cNvPr>
          <p:cNvCxnSpPr>
            <a:stCxn id="4" idx="3"/>
            <a:endCxn id="7" idx="1"/>
          </p:cNvCxnSpPr>
          <p:nvPr/>
        </p:nvCxnSpPr>
        <p:spPr>
          <a:xfrm>
            <a:off x="2752725" y="2638425"/>
            <a:ext cx="971550" cy="895350"/>
          </a:xfrm>
          <a:prstGeom prst="straightConnector1">
            <a:avLst/>
          </a:prstGeom>
          <a:ln w="23813">
            <a:solidFill>
              <a:srgbClr val="526970"/>
            </a:solidFill>
            <a:tailEnd type="triangle" w="med" len="med"/>
          </a:ln>
        </p:spPr>
      </p:cxnSp>
      <p:sp>
        <p:nvSpPr>
          <p:cNvPr id="16" name="Зачем объединять результаты с помощью RRF">
            <a:extLst>
              <a:ext uri="{FF2B5EF4-FFF2-40B4-BE49-F238E27FC236}">
                <a16:creationId xmlns:a16="http://schemas.microsoft.com/office/drawing/2014/main" id="{6FAAFDDA-7410-4DB1-9544-F04C6185D44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a:ext uri="{FF2B5EF4-FFF2-40B4-BE49-F238E27FC236}">
                <a16:creationId xmlns:a16="http://schemas.microsoft.com/office/drawing/2014/main" id="{C3224F00-6630-4665-9B48-C8CE5059F94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a:ext uri="{FF2B5EF4-FFF2-40B4-BE49-F238E27FC236}">
                <a16:creationId xmlns:a16="http://schemas.microsoft.com/office/drawing/2014/main" id="{EF2A1E1A-A731-4158-B6D4-9B9DACF921BE}"/>
              </a:ext>
            </a:extLst>
          </p:cNvPr>
          <p:cNvSpPr>
            <a:spLocks noGrp="1"/>
          </p:cNvSpPr>
          <p:nvPr/>
        </p:nvSpPr>
        <p:spPr>
          <a:xfrm>
            <a:off x="609600" y="1533525"/>
            <a:ext cx="10972800" cy="457200"/>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a:ext uri="{FF2B5EF4-FFF2-40B4-BE49-F238E27FC236}">
                <a16:creationId xmlns:a16="http://schemas.microsoft.com/office/drawing/2014/main" id="{7EBB8D5F-B2FB-4CA8-B757-853CB185E97D}"/>
              </a:ext>
            </a:extLst>
          </p:cNvPr>
          <p:cNvSpPr>
            <a:spLocks noGrp="1"/>
          </p:cNvSpPr>
          <p:nvPr/>
        </p:nvSpPr>
        <p:spPr>
          <a:xfrm>
            <a:off x="609600" y="230505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a:ext uri="{FF2B5EF4-FFF2-40B4-BE49-F238E27FC236}">
                <a16:creationId xmlns:a16="http://schemas.microsoft.com/office/drawing/2014/main" id="{370C3F5C-0D77-4F2B-A7A7-A53AD71433C8}"/>
              </a:ext>
            </a:extLst>
          </p:cNvPr>
          <p:cNvSpPr>
            <a:spLocks noGrp="1"/>
          </p:cNvSpPr>
          <p:nvPr/>
        </p:nvSpPr>
        <p:spPr>
          <a:xfrm>
            <a:off x="609600" y="3114675"/>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a:ext uri="{FF2B5EF4-FFF2-40B4-BE49-F238E27FC236}">
                <a16:creationId xmlns:a16="http://schemas.microsoft.com/office/drawing/2014/main" id="{B049F26B-A2DC-4F8A-9D83-80ABE0A0138B}"/>
              </a:ext>
            </a:extLst>
          </p:cNvPr>
          <p:cNvSpPr>
            <a:spLocks noGrp="1"/>
          </p:cNvSpPr>
          <p:nvPr/>
        </p:nvSpPr>
        <p:spPr>
          <a:xfrm>
            <a:off x="609600" y="392430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a:ext uri="{FF2B5EF4-FFF2-40B4-BE49-F238E27FC236}">
                <a16:creationId xmlns:a16="http://schemas.microsoft.com/office/drawing/2014/main" id="{1EDE10D0-6BAA-4082-AE1B-FE8DD2717CCE}"/>
              </a:ext>
            </a:extLst>
          </p:cNvPr>
          <p:cNvSpPr>
            <a:spLocks noGrp="1"/>
          </p:cNvSpPr>
          <p:nvPr/>
        </p:nvSpPr>
        <p:spPr>
          <a:xfrm>
            <a:off x="3724275" y="2914650"/>
            <a:ext cx="3448050" cy="1238250"/>
          </a:xfrm>
          <a:prstGeom prst="rect">
            <a:avLst/>
          </a:prstGeom>
          <a:solidFill>
            <a:srgbClr val="E3F1EF"/>
          </a:solidFill>
          <a:ln w="11430">
            <a:solidFill>
              <a:srgbClr val="D4E1E0"/>
            </a:solidFill>
          </a:ln>
        </p:spPr>
        <p:txBody>
          <a:bodyPr lIns="152400" tIns="114300" rIns="152400" bIns="114300" anchor="ctr">
            <a:noAutofit/>
          </a:bodyPr>
          <a:lstStyle>
            <a:defPPr algn="ctr">
              <a:defRPr sz="2175">
                <a:solidFill>
                  <a:srgbClr val="182B30"/>
                </a:solidFill>
                <a:latin typeface="Arial"/>
                <a:ea typeface="Arial"/>
                <a:cs typeface="Arial"/>
              </a:defRPr>
            </a:defPPr>
          </a:lstStyle>
          <a:p>
            <a:pPr algn="ctr">
              <a:defRPr sz="2175">
                <a:solidFill>
                  <a:srgbClr val="182B30"/>
                </a:solidFill>
                <a:latin typeface="Arial"/>
                <a:ea typeface="Arial"/>
                <a:cs typeface="Arial"/>
              </a:defRPr>
            </a:pPr>
            <a:r>
              <a:rPr sz="2175">
                <a:solidFill>
                  <a:srgbClr val="182B30"/>
                </a:solidFill>
                <a:latin typeface="Arial"/>
                <a:ea typeface="Arial"/>
                <a:cs typeface="Arial"/>
              </a:rPr>
              <a:t>RRF</a:t>
            </a:r>
          </a:p>
          <a:p>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a:ext uri="{FF2B5EF4-FFF2-40B4-BE49-F238E27FC236}">
                <a16:creationId xmlns:a16="http://schemas.microsoft.com/office/drawing/2014/main" id="{7054BE41-EDF8-4B5C-8C4E-6B1BD86B2376}"/>
              </a:ext>
            </a:extLst>
          </p:cNvPr>
          <p:cNvSpPr>
            <a:spLocks noGrp="1"/>
          </p:cNvSpPr>
          <p:nvPr/>
        </p:nvSpPr>
        <p:spPr>
          <a:xfrm>
            <a:off x="8201025" y="2914650"/>
            <a:ext cx="3381375" cy="12382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a:ext uri="{FF2B5EF4-FFF2-40B4-BE49-F238E27FC236}">
                <a16:creationId xmlns:a16="http://schemas.microsoft.com/office/drawing/2014/main" id="{AA6B5DCC-14AF-49EE-82AD-6C3EF2007A01}"/>
              </a:ext>
            </a:extLst>
          </p:cNvPr>
          <p:cNvSpPr>
            <a:spLocks noGrp="1"/>
          </p:cNvSpPr>
          <p:nvPr/>
        </p:nvSpPr>
        <p:spPr>
          <a:xfrm>
            <a:off x="609600" y="5010150"/>
            <a:ext cx="7715250" cy="495300"/>
          </a:xfrm>
          <a:prstGeom prst="rect">
            <a:avLst/>
          </a:prstGeom>
          <a:noFill/>
          <a:ln w="0">
            <a:noFill/>
          </a:ln>
        </p:spPr>
        <p:txBody>
          <a:bodyPr wrap="square" lIns="0" tIns="0" rIns="0" bIns="0" anchor="t">
            <a:noAutofit/>
          </a:bodyPr>
          <a:lstStyle>
            <a:defPPr algn="l">
              <a:defRPr sz="2625" b="1">
                <a:solidFill>
                  <a:srgbClr val="007F78"/>
                </a:solidFill>
                <a:latin typeface="Arial"/>
                <a:ea typeface="Arial"/>
                <a:cs typeface="Arial"/>
              </a:defRPr>
            </a:defPPr>
          </a:lstStyle>
          <a:p>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a:ext uri="{FF2B5EF4-FFF2-40B4-BE49-F238E27FC236}">
                <a16:creationId xmlns:a16="http://schemas.microsoft.com/office/drawing/2014/main" id="{1BBC45CA-E952-41F3-A2D6-11B7FC246334}"/>
              </a:ext>
            </a:extLst>
          </p:cNvPr>
          <p:cNvSpPr>
            <a:spLocks noGrp="1"/>
          </p:cNvSpPr>
          <p:nvPr/>
        </p:nvSpPr>
        <p:spPr>
          <a:xfrm>
            <a:off x="609600" y="5581650"/>
            <a:ext cx="10972800" cy="419100"/>
          </a:xfrm>
          <a:prstGeom prst="rect">
            <a:avLst/>
          </a:prstGeom>
          <a:noFill/>
          <a:ln w="0">
            <a:noFill/>
          </a:ln>
        </p:spPr>
        <p:txBody>
          <a:bodyPr wrap="square" lIns="0" tIns="0" rIns="0" bIns="0" anchor="t">
            <a:noAutofit/>
          </a:bodyPr>
          <a:lstStyle>
            <a:defPPr algn="l">
              <a:defRPr sz="1950" b="0">
                <a:solidFill>
                  <a:srgbClr val="182B30"/>
                </a:solidFill>
                <a:latin typeface="Arial"/>
                <a:ea typeface="Arial"/>
                <a:cs typeface="Arial"/>
              </a:defRPr>
            </a:defPPr>
          </a:lstStyle>
          <a:p>
            <a:pPr algn="l">
              <a:defRPr sz="1950" b="0">
                <a:solidFill>
                  <a:srgbClr val="182B30"/>
                </a:solidFill>
                <a:latin typeface="Arial"/>
                <a:ea typeface="Arial"/>
                <a:cs typeface="Arial"/>
              </a:defRPr>
            </a:pPr>
            <a:r>
              <a:rPr sz="1950" b="0">
                <a:solidFill>
                  <a:srgbClr val="182B30"/>
                </a:solidFill>
                <a:latin typeface="Arial"/>
                <a:ea typeface="Arial"/>
                <a:cs typeface="Arial"/>
              </a:rPr>
              <a:t>Равный вес источников. Учитываем списки, в которых найден фрагмент.</a:t>
            </a:r>
          </a:p>
        </p:txBody>
      </p:sp>
      <p:sp>
        <p:nvSpPr>
          <p:cNvPr id="15" name="Cormack, Clarke, Büttcher, SIGIR 2009. Оценки судьи не входят в формул">
            <a:extLst>
              <a:ext uri="{FF2B5EF4-FFF2-40B4-BE49-F238E27FC236}">
                <a16:creationId xmlns:a16="http://schemas.microsoft.com/office/drawing/2014/main" id="{636AD666-D12C-4C23-811C-64F8A3807468}"/>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Меняются пул и входные списки RRF">
            <a:extLst>
              <a:ext uri="{FF2B5EF4-FFF2-40B4-BE49-F238E27FC236}">
                <a16:creationId xmlns:a16="http://schemas.microsoft.com/office/drawing/2014/main" id="{A649FAD2-0A4D-43D3-9E07-083A9E66B95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a:ext uri="{FF2B5EF4-FFF2-40B4-BE49-F238E27FC236}">
                <a16:creationId xmlns:a16="http://schemas.microsoft.com/office/drawing/2014/main" id="{75292B7D-DD7F-4711-8811-95C01F7F692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a:ext uri="{FF2B5EF4-FFF2-40B4-BE49-F238E27FC236}">
                <a16:creationId xmlns:a16="http://schemas.microsoft.com/office/drawing/2014/main" id="{1575DE7C-E89A-4CD2-9645-7FC1AF9FA2A8}"/>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a:ext uri="{FF2B5EF4-FFF2-40B4-BE49-F238E27FC236}">
                <a16:creationId xmlns:a16="http://schemas.microsoft.com/office/drawing/2014/main" id="{78742252-A3B0-49E0-A036-61D3688E36C7}"/>
              </a:ext>
            </a:extLst>
          </p:cNvPr>
          <p:cNvSpPr>
            <a:spLocks noGrp="1"/>
          </p:cNvSpPr>
          <p:nvPr/>
        </p:nvSpPr>
        <p:spPr>
          <a:xfrm>
            <a:off x="609600" y="1943100"/>
            <a:ext cx="10972800" cy="400050"/>
          </a:xfrm>
          <a:prstGeom prst="rect">
            <a:avLst/>
          </a:prstGeom>
          <a:noFill/>
          <a:ln w="0">
            <a:noFill/>
          </a:ln>
        </p:spPr>
        <p:txBody>
          <a:bodyPr wrap="square" lIns="0" tIns="0" rIns="0" bIns="0" anchor="t">
            <a:noAutofit/>
          </a:bodyPr>
          <a:lstStyle/>
          <a:p>
            <a:pPr algn="l">
              <a:defRPr sz="2175" b="1">
                <a:solidFill>
                  <a:srgbClr val="C95236"/>
                </a:solidFill>
                <a:latin typeface="Arial"/>
                <a:ea typeface="Arial"/>
                <a:cs typeface="Arial"/>
              </a:defRPr>
            </a:pPr>
            <a:r>
              <a:rPr sz="2175" b="1">
                <a:solidFill>
                  <a:srgbClr val="C95236"/>
                </a:solidFill>
                <a:latin typeface="Arial"/>
                <a:ea typeface="Arial"/>
                <a:cs typeface="Arial"/>
              </a:rPr>
              <a:t>L = K. Более глубокие списки могут менять итоговый топ-10.</a:t>
            </a:r>
          </a:p>
        </p:txBody>
      </p:sp>
      <p:graphicFrame>
        <p:nvGraphicFramePr>
          <p:cNvPr id="12" name="Chart"/>
          <p:cNvGraphicFramePr/>
          <p:nvPr/>
        </p:nvGraphicFramePr>
        <p:xfrm>
          <a:off x="609600" y="2400300"/>
          <a:ext cx="10972800" cy="3076575"/>
        </p:xfrm>
        <a:graphic>
          <a:graphicData uri="http://schemas.openxmlformats.org/drawingml/2006/chart">
            <c:chart xmlns:c="http://schemas.openxmlformats.org/drawingml/2006/chart" xmlns:r="http://schemas.openxmlformats.org/officeDocument/2006/relationships" r:id="rId3"/>
          </a:graphicData>
        </a:graphic>
      </p:graphicFrame>
      <p:sp>
        <p:nvSpPr>
          <p:cNvPr id="6" name="При K = 200 разность NDCG@10 составляет +0,0088">
            <a:extLst>
              <a:ext uri="{FF2B5EF4-FFF2-40B4-BE49-F238E27FC236}">
                <a16:creationId xmlns:a16="http://schemas.microsoft.com/office/drawing/2014/main" id="{17A6A8B7-B3CF-42A7-B59B-E38F298709FA}"/>
              </a:ext>
            </a:extLst>
          </p:cNvPr>
          <p:cNvSpPr>
            <a:spLocks noGrp="1"/>
          </p:cNvSpPr>
          <p:nvPr/>
        </p:nvSpPr>
        <p:spPr>
          <a:xfrm>
            <a:off x="609600" y="5600700"/>
            <a:ext cx="10972800" cy="361950"/>
          </a:xfrm>
          <a:prstGeom prst="rect">
            <a:avLst/>
          </a:prstGeom>
          <a:noFill/>
          <a:ln w="0">
            <a:noFill/>
          </a:ln>
        </p:spPr>
        <p:txBody>
          <a:bodyPr wrap="square" lIns="0" tIns="0" rIns="0" bIns="0" anchor="t">
            <a:noAutofit/>
          </a:bodyPr>
          <a:lstStyle/>
          <a:p>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a:ext uri="{FF2B5EF4-FFF2-40B4-BE49-F238E27FC236}">
                <a16:creationId xmlns:a16="http://schemas.microsoft.com/office/drawing/2014/main" id="{1B66ED6F-573C-49DA-8081-829286359296}"/>
              </a:ext>
            </a:extLst>
          </p:cNvPr>
          <p:cNvSpPr>
            <a:spLocks noGrp="1"/>
          </p:cNvSpPr>
          <p:nvPr/>
        </p:nvSpPr>
        <p:spPr>
          <a:xfrm>
            <a:off x="609600" y="6019800"/>
            <a:ext cx="10572750" cy="56197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Парный ДИ 95% [0,0082; 0,0095].</a:t>
            </a:r>
          </a:p>
        </p:txBody>
      </p:sp>
    </p:spTree>
    <p:extLst>
      <p:ext uri="{BB962C8B-B14F-4D97-AF65-F5344CB8AC3E}">
        <p14:creationId xmlns:p14="http://schemas.microsoft.com/office/powerpoint/2010/main" val="153183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Покрытие разметкой меняет сравнение">
            <a:extLst>
              <a:ext uri="{FF2B5EF4-FFF2-40B4-BE49-F238E27FC236}">
                <a16:creationId xmlns:a16="http://schemas.microsoft.com/office/drawing/2014/main" id="{893DC6B4-8608-4DD7-B6E8-3D10ACC2E6D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a:ext uri="{FF2B5EF4-FFF2-40B4-BE49-F238E27FC236}">
                <a16:creationId xmlns:a16="http://schemas.microsoft.com/office/drawing/2014/main" id="{25ED950A-71A0-49BD-9DD9-CDAA7E5E23D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a:ext uri="{FF2B5EF4-FFF2-40B4-BE49-F238E27FC236}">
                <a16:creationId xmlns:a16="http://schemas.microsoft.com/office/drawing/2014/main" id="{8D233C68-BA22-4150-B1DD-4948CD9BF1DC}"/>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950"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950" b="0" baseline="-25000">
                <a:solidFill>
                  <a:srgbClr val="526970"/>
                </a:solidFill>
                <a:latin typeface="Arial"/>
                <a:ea typeface="Arial"/>
                <a:cs typeface="Arial"/>
              </a:rPr>
              <a:t>E5</a:t>
            </a:r>
          </a:p>
        </p:txBody>
      </p:sp>
      <p:sp>
        <p:nvSpPr>
          <p:cNvPr id="4" name="Меняется только K. L = 200, обе выдачи зафиксиро">
            <a:extLst>
              <a:ext uri="{FF2B5EF4-FFF2-40B4-BE49-F238E27FC236}">
                <a16:creationId xmlns:a16="http://schemas.microsoft.com/office/drawing/2014/main" id="{A803AB49-181C-45E5-B2EB-A609645252FC}"/>
              </a:ext>
            </a:extLst>
          </p:cNvPr>
          <p:cNvSpPr>
            <a:spLocks noGrp="1"/>
          </p:cNvSpPr>
          <p:nvPr/>
        </p:nvSpPr>
        <p:spPr>
          <a:xfrm>
            <a:off x="609600" y="1943100"/>
            <a:ext cx="10972800" cy="419100"/>
          </a:xfrm>
          <a:prstGeom prst="rect">
            <a:avLst/>
          </a:prstGeom>
          <a:noFill/>
          <a:ln w="0">
            <a:noFill/>
          </a:ln>
        </p:spPr>
        <p:txBody>
          <a:bodyPr wrap="square" lIns="0" tIns="0" rIns="0" bIns="0" anchor="t">
            <a:noAutofit/>
          </a:bodyPr>
          <a:lstStyle/>
          <a:p>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609600" y="2571750"/>
          <a:ext cx="7829550"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6" name="14,4%">
            <a:extLst>
              <a:ext uri="{FF2B5EF4-FFF2-40B4-BE49-F238E27FC236}">
                <a16:creationId xmlns:a16="http://schemas.microsoft.com/office/drawing/2014/main" id="{A9582D6B-B9D1-4F70-A5A4-302326BDB6F7}"/>
              </a:ext>
            </a:extLst>
          </p:cNvPr>
          <p:cNvSpPr>
            <a:spLocks noGrp="1"/>
          </p:cNvSpPr>
          <p:nvPr/>
        </p:nvSpPr>
        <p:spPr>
          <a:xfrm>
            <a:off x="8963025" y="2724150"/>
            <a:ext cx="2619375" cy="790575"/>
          </a:xfrm>
          <a:prstGeom prst="rect">
            <a:avLst/>
          </a:prstGeom>
          <a:noFill/>
          <a:ln w="0">
            <a:noFill/>
          </a:ln>
        </p:spPr>
        <p:txBody>
          <a:bodyPr wrap="square" lIns="0" tIns="0" rIns="0" bIns="0" anchor="t">
            <a:noAutofit/>
          </a:body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a:ext uri="{FF2B5EF4-FFF2-40B4-BE49-F238E27FC236}">
                <a16:creationId xmlns:a16="http://schemas.microsoft.com/office/drawing/2014/main" id="{BE80F4F9-C505-4D8C-94A5-43C1C7E4EF6F}"/>
              </a:ext>
            </a:extLst>
          </p:cNvPr>
          <p:cNvSpPr>
            <a:spLocks noGrp="1"/>
          </p:cNvSpPr>
          <p:nvPr/>
        </p:nvSpPr>
        <p:spPr>
          <a:xfrm>
            <a:off x="8963025" y="3514725"/>
            <a:ext cx="2619375" cy="1200150"/>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a:ext uri="{FF2B5EF4-FFF2-40B4-BE49-F238E27FC236}">
                <a16:creationId xmlns:a16="http://schemas.microsoft.com/office/drawing/2014/main" id="{83A123AE-1E5D-46B6-9406-C806F0168066}"/>
              </a:ext>
            </a:extLst>
          </p:cNvPr>
          <p:cNvSpPr>
            <a:spLocks noGrp="1"/>
          </p:cNvSpPr>
          <p:nvPr/>
        </p:nvSpPr>
        <p:spPr>
          <a:xfrm>
            <a:off x="8963025" y="4905375"/>
            <a:ext cx="2619375" cy="69532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a:ext uri="{FF2B5EF4-FFF2-40B4-BE49-F238E27FC236}">
                <a16:creationId xmlns:a16="http://schemas.microsoft.com/office/drawing/2014/main" id="{17FCF1BB-7E14-4A43-949A-1FA1EE242DD2}"/>
              </a:ext>
            </a:extLst>
          </p:cNvPr>
          <p:cNvSpPr>
            <a:spLocks noGrp="1"/>
          </p:cNvSpPr>
          <p:nvPr/>
        </p:nvSpPr>
        <p:spPr>
          <a:xfrm>
            <a:off x="866775"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a:ext uri="{FF2B5EF4-FFF2-40B4-BE49-F238E27FC236}">
                <a16:creationId xmlns:a16="http://schemas.microsoft.com/office/drawing/2014/main" id="{3B777154-EAE9-42A6-BE19-1EB05E481127}"/>
              </a:ext>
            </a:extLst>
          </p:cNvPr>
          <p:cNvSpPr>
            <a:spLocks noGrp="1"/>
          </p:cNvSpPr>
          <p:nvPr/>
        </p:nvSpPr>
        <p:spPr>
          <a:xfrm>
            <a:off x="4629150"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a:ext uri="{FF2B5EF4-FFF2-40B4-BE49-F238E27FC236}">
                <a16:creationId xmlns:a16="http://schemas.microsoft.com/office/drawing/2014/main" id="{B3A6ED8C-8FF2-4B68-85FD-C3F9AF55778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Отсутствие оценки дает нулевой вклад в метрику, но не означает нерелевантность.</a:t>
            </a:r>
          </a:p>
        </p:txBody>
      </p:sp>
    </p:spTree>
    <p:extLst>
      <p:ext uri="{BB962C8B-B14F-4D97-AF65-F5344CB8AC3E}">
        <p14:creationId xmlns:p14="http://schemas.microsoft.com/office/powerpoint/2010/main" val="91239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Устойчивость и ограничения">
            <a:extLst>
              <a:ext uri="{FF2B5EF4-FFF2-40B4-BE49-F238E27FC236}">
                <a16:creationId xmlns:a16="http://schemas.microsoft.com/office/drawing/2014/main" id="{ED891985-AEA3-4505-AE91-B93BB800593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a:ext uri="{FF2B5EF4-FFF2-40B4-BE49-F238E27FC236}">
                <a16:creationId xmlns:a16="http://schemas.microsoft.com/office/drawing/2014/main" id="{FAD774E1-05AF-439C-B3C6-CB817BA38A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a:ext uri="{FF2B5EF4-FFF2-40B4-BE49-F238E27FC236}">
                <a16:creationId xmlns:a16="http://schemas.microsoft.com/office/drawing/2014/main" id="{17A5C90D-B0D7-4AE0-AFF2-A360B61BEAC0}"/>
              </a:ext>
            </a:extLst>
          </p:cNvPr>
          <p:cNvSpPr>
            <a:spLocks noGrp="1"/>
          </p:cNvSpPr>
          <p:nvPr/>
        </p:nvSpPr>
        <p:spPr>
          <a:xfrm>
            <a:off x="609600" y="1695450"/>
            <a:ext cx="10477500" cy="419100"/>
          </a:xfrm>
          <a:prstGeom prst="rect">
            <a:avLst/>
          </a:prstGeom>
          <a:noFill/>
          <a:ln w="0">
            <a:noFill/>
          </a:ln>
        </p:spPr>
        <p:txBody>
          <a:bodyPr wrap="square" lIns="0" tIns="0" rIns="0" bIns="0" anchor="t">
            <a:noAutofit/>
          </a:bodyPr>
          <a:lstStyle/>
          <a:p>
            <a:pPr algn="l">
              <a:defRPr sz="2325" b="1">
                <a:solidFill>
                  <a:srgbClr val="007F78"/>
                </a:solidFill>
                <a:latin typeface="Arial"/>
                <a:ea typeface="Arial"/>
                <a:cs typeface="Arial"/>
              </a:defRPr>
            </a:pPr>
            <a:r>
              <a:rPr sz="2325" b="1">
                <a:solidFill>
                  <a:srgbClr val="007F78"/>
                </a:solidFill>
                <a:latin typeface="Arial"/>
                <a:ea typeface="Arial"/>
                <a:cs typeface="Arial"/>
              </a:rPr>
              <a:t>В обоих расчетах используются только псевдометки судьи</a:t>
            </a:r>
          </a:p>
        </p:txBody>
      </p:sp>
      <p:graphicFrame>
        <p:nvGraphicFramePr>
          <p:cNvPr id="12" name="Таблица 11"/>
          <p:cNvGraphicFramePr/>
          <p:nvPr/>
        </p:nvGraphicFramePr>
        <p:xfrm>
          <a:off x="609600" y="2266950"/>
          <a:ext cx="10972800" cy="2181225"/>
        </p:xfrm>
        <a:graphic>
          <a:graphicData uri="http://schemas.openxmlformats.org/drawingml/2006/table">
            <a:tbl>
              <a:tblPr/>
              <a:tblGrid>
                <a:gridCol w="43338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04825">
                <a:tc>
                  <a:txBody>
                    <a:bodyPr/>
                    <a:lstStyle/>
                    <a:p>
                      <a:r>
                        <a:rPr sz="1725"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Число</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Сравнение RRF и E5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Базовое сравнение</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838200">
                <a:tc>
                  <a:txBody>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99 914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bl>
          </a:graphicData>
        </a:graphic>
      </p:graphicFrame>
      <p:sp>
        <p:nvSpPr>
          <p:cNvPr id="5" name="Прямая соединительная линия 4">
            <a:extLst>
              <a:ext uri="{FF2B5EF4-FFF2-40B4-BE49-F238E27FC236}">
                <a16:creationId xmlns:a16="http://schemas.microsoft.com/office/drawing/2014/main" id="{B788E524-F7E7-4ED6-9EDA-036F133EB5A0}"/>
              </a:ext>
            </a:extLst>
          </p:cNvPr>
          <p:cNvSpPr>
            <a:spLocks noGrp="1"/>
          </p:cNvSpPr>
          <p:nvPr/>
        </p:nvSpPr>
        <p:spPr>
          <a:xfrm>
            <a:off x="609600" y="4686300"/>
            <a:ext cx="10972800" cy="0"/>
          </a:xfrm>
          <a:prstGeom prst="line">
            <a:avLst/>
          </a:prstGeom>
          <a:noFill/>
          <a:ln w="11430">
            <a:solidFill>
              <a:srgbClr val="D4E1E0"/>
            </a:solidFill>
          </a:ln>
        </p:spPr>
      </p:sp>
      <p:sp>
        <p:nvSpPr>
          <p:cNvPr id="6" name="Ручные пулы: известный ответ, согласие экспертов">
            <a:extLst>
              <a:ext uri="{FF2B5EF4-FFF2-40B4-BE49-F238E27FC236}">
                <a16:creationId xmlns:a16="http://schemas.microsoft.com/office/drawing/2014/main" id="{855EF571-426E-4635-B0A8-1BF73A0F96FD}"/>
              </a:ext>
            </a:extLst>
          </p:cNvPr>
          <p:cNvSpPr>
            <a:spLocks noGrp="1"/>
          </p:cNvSpPr>
          <p:nvPr/>
        </p:nvSpPr>
        <p:spPr>
          <a:xfrm>
            <a:off x="609600" y="4962525"/>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a:ext uri="{FF2B5EF4-FFF2-40B4-BE49-F238E27FC236}">
                <a16:creationId xmlns:a16="http://schemas.microsoft.com/office/drawing/2014/main" id="{D23353FC-8C22-457C-A88D-23DDFD95D67E}"/>
              </a:ext>
            </a:extLst>
          </p:cNvPr>
          <p:cNvSpPr>
            <a:spLocks noGrp="1"/>
          </p:cNvSpPr>
          <p:nvPr/>
        </p:nvSpPr>
        <p:spPr>
          <a:xfrm>
            <a:off x="609600" y="5467350"/>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a:ext uri="{FF2B5EF4-FFF2-40B4-BE49-F238E27FC236}">
                <a16:creationId xmlns:a16="http://schemas.microsoft.com/office/drawing/2014/main" id="{1C7B951B-135F-4F65-9E3D-38B3C826B54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12" name="Полнота разметки влияет на оценку поиска">
            <a:extLst>
              <a:ext uri="{FF2B5EF4-FFF2-40B4-BE49-F238E27FC236}">
                <a16:creationId xmlns:a16="http://schemas.microsoft.com/office/drawing/2014/main" id="{5E6830FA-6B24-4FC5-B4B8-1E33AC381A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сравнение систем</a:t>
            </a:r>
          </a:p>
        </p:txBody>
      </p:sp>
      <p:sp>
        <p:nvSpPr>
          <p:cNvPr id="2" name="15">
            <a:extLst>
              <a:ext uri="{FF2B5EF4-FFF2-40B4-BE49-F238E27FC236}">
                <a16:creationId xmlns:a16="http://schemas.microsoft.com/office/drawing/2014/main" id="{0EA51AD1-5EF4-4C59-8B10-AFC1683CD85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a:ext uri="{FF2B5EF4-FFF2-40B4-BE49-F238E27FC236}">
                <a16:creationId xmlns:a16="http://schemas.microsoft.com/office/drawing/2014/main" id="{824567DE-3DC6-409F-91CE-43F54635805E}"/>
              </a:ext>
            </a:extLst>
          </p:cNvPr>
          <p:cNvSpPr>
            <a:spLocks noGrp="1"/>
          </p:cNvSpPr>
          <p:nvPr/>
        </p:nvSpPr>
        <p:spPr>
          <a:xfrm>
            <a:off x="609600" y="1695450"/>
            <a:ext cx="10763250" cy="409575"/>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Ручная доразметка меняет оценку качества</a:t>
            </a:r>
          </a:p>
        </p:txBody>
      </p:sp>
      <p:sp>
        <p:nvSpPr>
          <p:cNvPr id="4" name="E5 NDCG@10: с 0,488 до 0,879">
            <a:extLst>
              <a:ext uri="{FF2B5EF4-FFF2-40B4-BE49-F238E27FC236}">
                <a16:creationId xmlns:a16="http://schemas.microsoft.com/office/drawing/2014/main" id="{1318D601-01BA-4BC1-925B-84BB893A453B}"/>
              </a:ext>
            </a:extLst>
          </p:cNvPr>
          <p:cNvSpPr>
            <a:spLocks noGrp="1"/>
          </p:cNvSpPr>
          <p:nvPr/>
        </p:nvSpPr>
        <p:spPr>
          <a:xfrm>
            <a:off x="609600" y="2238375"/>
            <a:ext cx="10763250" cy="666750"/>
          </a:xfrm>
          <a:prstGeom prst="rect">
            <a:avLst/>
          </a:prstGeom>
          <a:noFill/>
          <a:ln w="0">
            <a:noFill/>
          </a:ln>
        </p:spPr>
        <p:txBody>
          <a:bodyPr wrap="square" lIns="0" tIns="0" rIns="0" bIns="0" anchor="t">
            <a:noAutofit/>
          </a:bodyPr>
          <a:lstStyle/>
          <a:p>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a:ext uri="{FF2B5EF4-FFF2-40B4-BE49-F238E27FC236}">
                <a16:creationId xmlns:a16="http://schemas.microsoft.com/office/drawing/2014/main" id="{F253C9CE-8A3A-4965-A712-FA468C91C31B}"/>
              </a:ext>
            </a:extLst>
          </p:cNvPr>
          <p:cNvSpPr>
            <a:spLocks noGrp="1"/>
          </p:cNvSpPr>
          <p:nvPr/>
        </p:nvSpPr>
        <p:spPr>
          <a:xfrm>
            <a:off x="609600" y="3048000"/>
            <a:ext cx="10763250" cy="447675"/>
          </a:xfrm>
          <a:prstGeom prst="rect">
            <a:avLst/>
          </a:prstGeom>
          <a:noFill/>
          <a:ln w="0">
            <a:noFill/>
          </a:ln>
        </p:spPr>
        <p:txBody>
          <a:bodyPr wrap="square" lIns="0" tIns="0" rIns="0" bIns="0" anchor="t">
            <a:noAutofit/>
          </a:bodyPr>
          <a:lstStyle/>
          <a:p>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Прямая соединительная линия 5">
            <a:extLst>
              <a:ext uri="{FF2B5EF4-FFF2-40B4-BE49-F238E27FC236}">
                <a16:creationId xmlns:a16="http://schemas.microsoft.com/office/drawing/2014/main" id="{89E06602-392C-4B92-9D8A-29BBBEC2FC4A}"/>
              </a:ext>
            </a:extLst>
          </p:cNvPr>
          <p:cNvSpPr>
            <a:spLocks noGrp="1"/>
          </p:cNvSpPr>
          <p:nvPr/>
        </p:nvSpPr>
        <p:spPr>
          <a:xfrm>
            <a:off x="609600" y="3714750"/>
            <a:ext cx="10972800" cy="0"/>
          </a:xfrm>
          <a:prstGeom prst="line">
            <a:avLst/>
          </a:prstGeom>
          <a:noFill/>
          <a:ln w="11430">
            <a:solidFill>
              <a:srgbClr val="3F5558"/>
            </a:solidFill>
          </a:ln>
        </p:spPr>
      </p:sp>
      <p:sp>
        <p:nvSpPr>
          <p:cNvPr id="7" name="Фиксированные выдачи, один судья">
            <a:extLst>
              <a:ext uri="{FF2B5EF4-FFF2-40B4-BE49-F238E27FC236}">
                <a16:creationId xmlns:a16="http://schemas.microsoft.com/office/drawing/2014/main" id="{3F7ABDF7-8C0D-47F5-B05A-ACE52D31CF60}"/>
              </a:ext>
            </a:extLst>
          </p:cNvPr>
          <p:cNvSpPr>
            <a:spLocks noGrp="1"/>
          </p:cNvSpPr>
          <p:nvPr/>
        </p:nvSpPr>
        <p:spPr>
          <a:xfrm>
            <a:off x="609600" y="3962400"/>
            <a:ext cx="10972800" cy="419100"/>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При фиксированной выдаче и одном судье</a:t>
            </a:r>
          </a:p>
        </p:txBody>
      </p:sp>
      <p:sp>
        <p:nvSpPr>
          <p:cNvPr id="8" name="Расширение пула может изменить порядок RRF и E5">
            <a:extLst>
              <a:ext uri="{FF2B5EF4-FFF2-40B4-BE49-F238E27FC236}">
                <a16:creationId xmlns:a16="http://schemas.microsoft.com/office/drawing/2014/main" id="{CE0F19DB-D496-41FD-BDFF-9FE31E3C40D4}"/>
              </a:ext>
            </a:extLst>
          </p:cNvPr>
          <p:cNvSpPr>
            <a:spLocks noGrp="1"/>
          </p:cNvSpPr>
          <p:nvPr/>
        </p:nvSpPr>
        <p:spPr>
          <a:xfrm>
            <a:off x="609600" y="4495800"/>
            <a:ext cx="10972800" cy="619125"/>
          </a:xfrm>
          <a:prstGeom prst="rect">
            <a:avLst/>
          </a:prstGeom>
          <a:noFill/>
          <a:ln w="0">
            <a:noFill/>
          </a:ln>
        </p:spPr>
        <p:txBody>
          <a:bodyPr wrap="square" lIns="0" tIns="0" rIns="0" bIns="0" anchor="t">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Вывод о лучшей системе зависит от охвата разметки</a:t>
            </a:r>
          </a:p>
        </p:txBody>
      </p:sp>
      <p:sp>
        <p:nvSpPr>
          <p:cNvPr id="9" name="Прямая соединительная линия 8">
            <a:extLst>
              <a:ext uri="{FF2B5EF4-FFF2-40B4-BE49-F238E27FC236}">
                <a16:creationId xmlns:a16="http://schemas.microsoft.com/office/drawing/2014/main" id="{FFBB8109-9405-409B-B231-D129FD718FE5}"/>
              </a:ext>
            </a:extLst>
          </p:cNvPr>
          <p:cNvSpPr>
            <a:spLocks noGrp="1"/>
          </p:cNvSpPr>
          <p:nvPr/>
        </p:nvSpPr>
        <p:spPr>
          <a:xfrm>
            <a:off x="609600" y="5257800"/>
            <a:ext cx="10972800" cy="0"/>
          </a:xfrm>
          <a:prstGeom prst="line">
            <a:avLst/>
          </a:prstGeom>
          <a:noFill/>
          <a:ln w="11430">
            <a:solidFill>
              <a:srgbClr val="3F5558"/>
            </a:solidFill>
          </a:ln>
        </p:spPr>
      </p:sp>
      <p:sp>
        <p:nvSpPr>
          <p:cNvPr id="10" name="Далее: более сильные судьи с эталонным ответом и">
            <a:extLst>
              <a:ext uri="{FF2B5EF4-FFF2-40B4-BE49-F238E27FC236}">
                <a16:creationId xmlns:a16="http://schemas.microsoft.com/office/drawing/2014/main" id="{35AA4F24-D638-4451-9E6A-83C26E37B82F}"/>
              </a:ext>
            </a:extLst>
          </p:cNvPr>
          <p:cNvSpPr>
            <a:spLocks noGrp="1"/>
          </p:cNvSpPr>
          <p:nvPr/>
        </p:nvSpPr>
        <p:spPr>
          <a:xfrm>
            <a:off x="609600" y="5457825"/>
            <a:ext cx="10972800" cy="600075"/>
          </a:xfrm>
          <a:prstGeom prst="rect">
            <a:avLst/>
          </a:prstGeom>
          <a:noFill/>
          <a:ln w="0">
            <a:noFill/>
          </a:ln>
        </p:spPr>
        <p:txBody>
          <a:bodyPr wrap="square" lIns="0" tIns="0" rIns="0" bIns="0" anchor="t">
            <a:noAutofit/>
          </a:bodyPr>
          <a:lstStyle/>
          <a:p>
            <a:pPr algn="l">
              <a:defRPr sz="1950" b="0">
                <a:solidFill>
                  <a:srgbClr val="C9DDDA"/>
                </a:solidFill>
                <a:latin typeface="Arial"/>
                <a:ea typeface="Arial"/>
                <a:cs typeface="Arial"/>
              </a:defRPr>
            </a:pPr>
            <a:r>
              <a:rPr sz="1950" b="0">
                <a:solidFill>
                  <a:srgbClr val="C9DDDA"/>
                </a:solidFill>
                <a:latin typeface="Arial"/>
                <a:ea typeface="Arial"/>
                <a:cs typeface="Arial"/>
              </a:rPr>
              <a:t>Направления дальнейшего исследования</a:t>
            </a:r>
          </a:p>
          <a:p>
            <a:pPr algn="l">
              <a:defRPr sz="1950" b="0">
                <a:solidFill>
                  <a:srgbClr val="C9DDDA"/>
                </a:solidFill>
                <a:latin typeface="Arial"/>
                <a:ea typeface="Arial"/>
                <a:cs typeface="Arial"/>
              </a:defRPr>
            </a:pPr>
            <a:r>
              <a:rPr sz="1950" b="0">
                <a:solidFill>
                  <a:srgbClr val="C9DDDA"/>
                </a:solidFill>
                <a:latin typeface="Arial"/>
                <a:ea typeface="Arial"/>
                <a:cs typeface="Arial"/>
              </a:rPr>
              <a:t>Улучшить судью и проверить доразметку по оценкам человека</a:t>
            </a:r>
          </a:p>
        </p:txBody>
      </p:sp>
      <p:sp>
        <p:nvSpPr>
          <p:cNvPr id="11" name="Результаты для выбранных пулов английского MS MA">
            <a:extLst>
              <a:ext uri="{FF2B5EF4-FFF2-40B4-BE49-F238E27FC236}">
                <a16:creationId xmlns:a16="http://schemas.microsoft.com/office/drawing/2014/main" id="{C2512A4B-93FA-4003-AF07-347F969F8FC5}"/>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Литература и ресурсы">
            <a:extLst>
              <a:ext uri="{FF2B5EF4-FFF2-40B4-BE49-F238E27FC236}">
                <a16:creationId xmlns:a16="http://schemas.microsoft.com/office/drawing/2014/main" id="{A4A0C6BD-6351-4B31-8728-75022184EC6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a:ext uri="{FF2B5EF4-FFF2-40B4-BE49-F238E27FC236}">
                <a16:creationId xmlns:a16="http://schemas.microsoft.com/office/drawing/2014/main" id="{63609DAA-536A-428E-9283-7D7FB820E1A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a:ext uri="{FF2B5EF4-FFF2-40B4-BE49-F238E27FC236}">
                <a16:creationId xmlns:a16="http://schemas.microsoft.com/office/drawing/2014/main" id="{2C9655CF-4325-444F-A190-BE05EC9AFC9B}"/>
              </a:ext>
            </a:extLst>
          </p:cNvPr>
          <p:cNvSpPr>
            <a:spLocks noGrp="1"/>
          </p:cNvSpPr>
          <p:nvPr/>
        </p:nvSpPr>
        <p:spPr>
          <a:xfrm>
            <a:off x="60960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a:ext uri="{FF2B5EF4-FFF2-40B4-BE49-F238E27FC236}">
                <a16:creationId xmlns:a16="http://schemas.microsoft.com/office/drawing/2014/main" id="{5E02D452-7B6E-497E-8A39-D1BCC94C4B66}"/>
              </a:ext>
            </a:extLst>
          </p:cNvPr>
          <p:cNvSpPr>
            <a:spLocks noGrp="1"/>
          </p:cNvSpPr>
          <p:nvPr/>
        </p:nvSpPr>
        <p:spPr>
          <a:xfrm>
            <a:off x="60960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a:ext uri="{FF2B5EF4-FFF2-40B4-BE49-F238E27FC236}">
                <a16:creationId xmlns:a16="http://schemas.microsoft.com/office/drawing/2014/main" id="{1770FB05-F0FE-40A9-89B7-4C3A26F6F8B5}"/>
              </a:ext>
            </a:extLst>
          </p:cNvPr>
          <p:cNvSpPr>
            <a:spLocks noGrp="1"/>
          </p:cNvSpPr>
          <p:nvPr/>
        </p:nvSpPr>
        <p:spPr>
          <a:xfrm>
            <a:off x="60960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3"/>
              </a:rPr>
              <a:t>arxiv.org/abs/1611.09268</a:t>
            </a:r>
          </a:p>
        </p:txBody>
      </p:sp>
      <p:sp>
        <p:nvSpPr>
          <p:cNvPr id="6" name="Natural Questions">
            <a:extLst>
              <a:ext uri="{FF2B5EF4-FFF2-40B4-BE49-F238E27FC236}">
                <a16:creationId xmlns:a16="http://schemas.microsoft.com/office/drawing/2014/main" id="{F97DE8AF-F43B-4795-AB1B-21C457CED273}"/>
              </a:ext>
            </a:extLst>
          </p:cNvPr>
          <p:cNvSpPr>
            <a:spLocks noGrp="1"/>
          </p:cNvSpPr>
          <p:nvPr/>
        </p:nvSpPr>
        <p:spPr>
          <a:xfrm>
            <a:off x="60960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a:ext uri="{FF2B5EF4-FFF2-40B4-BE49-F238E27FC236}">
                <a16:creationId xmlns:a16="http://schemas.microsoft.com/office/drawing/2014/main" id="{14F5A30A-8EC3-4BB8-B2E0-703B758312E7}"/>
              </a:ext>
            </a:extLst>
          </p:cNvPr>
          <p:cNvSpPr>
            <a:spLocks noGrp="1"/>
          </p:cNvSpPr>
          <p:nvPr/>
        </p:nvSpPr>
        <p:spPr>
          <a:xfrm>
            <a:off x="60960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a:ext uri="{FF2B5EF4-FFF2-40B4-BE49-F238E27FC236}">
                <a16:creationId xmlns:a16="http://schemas.microsoft.com/office/drawing/2014/main" id="{60F6F0E0-553C-42CD-8E3C-BBA7B11F21B8}"/>
              </a:ext>
            </a:extLst>
          </p:cNvPr>
          <p:cNvSpPr>
            <a:spLocks noGrp="1"/>
          </p:cNvSpPr>
          <p:nvPr/>
        </p:nvSpPr>
        <p:spPr>
          <a:xfrm>
            <a:off x="60960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4"/>
              </a:rPr>
              <a:t>aclanthology.org/Q19-1026</a:t>
            </a:r>
          </a:p>
        </p:txBody>
      </p:sp>
      <p:sp>
        <p:nvSpPr>
          <p:cNvPr id="9" name="BEIR">
            <a:extLst>
              <a:ext uri="{FF2B5EF4-FFF2-40B4-BE49-F238E27FC236}">
                <a16:creationId xmlns:a16="http://schemas.microsoft.com/office/drawing/2014/main" id="{A59B7C08-F44F-420A-B890-509F2587EBF4}"/>
              </a:ext>
            </a:extLst>
          </p:cNvPr>
          <p:cNvSpPr>
            <a:spLocks noGrp="1"/>
          </p:cNvSpPr>
          <p:nvPr/>
        </p:nvSpPr>
        <p:spPr>
          <a:xfrm>
            <a:off x="60960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a:ext uri="{FF2B5EF4-FFF2-40B4-BE49-F238E27FC236}">
                <a16:creationId xmlns:a16="http://schemas.microsoft.com/office/drawing/2014/main" id="{EEE046B8-919E-4D3A-BEA3-1491F9EBBDE4}"/>
              </a:ext>
            </a:extLst>
          </p:cNvPr>
          <p:cNvSpPr>
            <a:spLocks noGrp="1"/>
          </p:cNvSpPr>
          <p:nvPr/>
        </p:nvSpPr>
        <p:spPr>
          <a:xfrm>
            <a:off x="60960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a:ext uri="{FF2B5EF4-FFF2-40B4-BE49-F238E27FC236}">
                <a16:creationId xmlns:a16="http://schemas.microsoft.com/office/drawing/2014/main" id="{6ED52645-A687-4B8C-B757-A7B3B4C68145}"/>
              </a:ext>
            </a:extLst>
          </p:cNvPr>
          <p:cNvSpPr>
            <a:spLocks noGrp="1"/>
          </p:cNvSpPr>
          <p:nvPr/>
        </p:nvSpPr>
        <p:spPr>
          <a:xfrm>
            <a:off x="60960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5"/>
              </a:rPr>
              <a:t>arxiv.org/abs/2104.08663</a:t>
            </a:r>
          </a:p>
        </p:txBody>
      </p:sp>
      <p:sp>
        <p:nvSpPr>
          <p:cNvPr id="12" name="BM25">
            <a:extLst>
              <a:ext uri="{FF2B5EF4-FFF2-40B4-BE49-F238E27FC236}">
                <a16:creationId xmlns:a16="http://schemas.microsoft.com/office/drawing/2014/main" id="{495A2F35-8ABE-47A5-A9EC-F4C677D71BFE}"/>
              </a:ext>
            </a:extLst>
          </p:cNvPr>
          <p:cNvSpPr>
            <a:spLocks noGrp="1"/>
          </p:cNvSpPr>
          <p:nvPr/>
        </p:nvSpPr>
        <p:spPr>
          <a:xfrm>
            <a:off x="60960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a:ext uri="{FF2B5EF4-FFF2-40B4-BE49-F238E27FC236}">
                <a16:creationId xmlns:a16="http://schemas.microsoft.com/office/drawing/2014/main" id="{FBE4DAC5-48FC-4CD0-BB1C-65DFDC9FD50B}"/>
              </a:ext>
            </a:extLst>
          </p:cNvPr>
          <p:cNvSpPr>
            <a:spLocks noGrp="1"/>
          </p:cNvSpPr>
          <p:nvPr/>
        </p:nvSpPr>
        <p:spPr>
          <a:xfrm>
            <a:off x="60960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a:ext uri="{FF2B5EF4-FFF2-40B4-BE49-F238E27FC236}">
                <a16:creationId xmlns:a16="http://schemas.microsoft.com/office/drawing/2014/main" id="{1F79FCC9-A53A-41DD-B7BE-0A8DD9E757A7}"/>
              </a:ext>
            </a:extLst>
          </p:cNvPr>
          <p:cNvSpPr>
            <a:spLocks noGrp="1"/>
          </p:cNvSpPr>
          <p:nvPr/>
        </p:nvSpPr>
        <p:spPr>
          <a:xfrm>
            <a:off x="60960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6"/>
              </a:rPr>
              <a:t>doi.org/10.1561/1500000019</a:t>
            </a:r>
          </a:p>
        </p:txBody>
      </p:sp>
      <p:sp>
        <p:nvSpPr>
          <p:cNvPr id="15" name="E5">
            <a:extLst>
              <a:ext uri="{FF2B5EF4-FFF2-40B4-BE49-F238E27FC236}">
                <a16:creationId xmlns:a16="http://schemas.microsoft.com/office/drawing/2014/main" id="{FF175FCC-EC7A-469E-836C-2D4F521A191A}"/>
              </a:ext>
            </a:extLst>
          </p:cNvPr>
          <p:cNvSpPr>
            <a:spLocks noGrp="1"/>
          </p:cNvSpPr>
          <p:nvPr/>
        </p:nvSpPr>
        <p:spPr>
          <a:xfrm>
            <a:off x="641985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a:ext uri="{FF2B5EF4-FFF2-40B4-BE49-F238E27FC236}">
                <a16:creationId xmlns:a16="http://schemas.microsoft.com/office/drawing/2014/main" id="{7F01C309-F4C0-42FA-A079-1886364956AA}"/>
              </a:ext>
            </a:extLst>
          </p:cNvPr>
          <p:cNvSpPr>
            <a:spLocks noGrp="1"/>
          </p:cNvSpPr>
          <p:nvPr/>
        </p:nvSpPr>
        <p:spPr>
          <a:xfrm>
            <a:off x="641985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a:ext uri="{FF2B5EF4-FFF2-40B4-BE49-F238E27FC236}">
                <a16:creationId xmlns:a16="http://schemas.microsoft.com/office/drawing/2014/main" id="{9926AAEA-3EAE-4442-8119-EB33DEF60548}"/>
              </a:ext>
            </a:extLst>
          </p:cNvPr>
          <p:cNvSpPr>
            <a:spLocks noGrp="1"/>
          </p:cNvSpPr>
          <p:nvPr/>
        </p:nvSpPr>
        <p:spPr>
          <a:xfrm>
            <a:off x="641985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7"/>
              </a:rPr>
              <a:t>arxiv.org/abs/2212.03533</a:t>
            </a:r>
          </a:p>
        </p:txBody>
      </p:sp>
      <p:sp>
        <p:nvSpPr>
          <p:cNvPr id="18" name="BGE / FlagEmbedding">
            <a:extLst>
              <a:ext uri="{FF2B5EF4-FFF2-40B4-BE49-F238E27FC236}">
                <a16:creationId xmlns:a16="http://schemas.microsoft.com/office/drawing/2014/main" id="{27FCE838-924F-4181-9CAF-91650DCA4187}"/>
              </a:ext>
            </a:extLst>
          </p:cNvPr>
          <p:cNvSpPr>
            <a:spLocks noGrp="1"/>
          </p:cNvSpPr>
          <p:nvPr/>
        </p:nvSpPr>
        <p:spPr>
          <a:xfrm>
            <a:off x="641985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a:ext uri="{FF2B5EF4-FFF2-40B4-BE49-F238E27FC236}">
                <a16:creationId xmlns:a16="http://schemas.microsoft.com/office/drawing/2014/main" id="{B4171707-7635-4B0F-B51A-EFE373C06882}"/>
              </a:ext>
            </a:extLst>
          </p:cNvPr>
          <p:cNvSpPr>
            <a:spLocks noGrp="1"/>
          </p:cNvSpPr>
          <p:nvPr/>
        </p:nvSpPr>
        <p:spPr>
          <a:xfrm>
            <a:off x="641985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a:ext uri="{FF2B5EF4-FFF2-40B4-BE49-F238E27FC236}">
                <a16:creationId xmlns:a16="http://schemas.microsoft.com/office/drawing/2014/main" id="{E088F081-695F-44E4-A1D8-559B26477996}"/>
              </a:ext>
            </a:extLst>
          </p:cNvPr>
          <p:cNvSpPr>
            <a:spLocks noGrp="1"/>
          </p:cNvSpPr>
          <p:nvPr/>
        </p:nvSpPr>
        <p:spPr>
          <a:xfrm>
            <a:off x="641985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8"/>
              </a:rPr>
              <a:t>huggingface.co/BAAI/bge-small-en-v1.5</a:t>
            </a:r>
          </a:p>
        </p:txBody>
      </p:sp>
      <p:sp>
        <p:nvSpPr>
          <p:cNvPr id="21" name="MiniLM">
            <a:extLst>
              <a:ext uri="{FF2B5EF4-FFF2-40B4-BE49-F238E27FC236}">
                <a16:creationId xmlns:a16="http://schemas.microsoft.com/office/drawing/2014/main" id="{D993E484-9C7F-4234-8825-8160F9D1DF3A}"/>
              </a:ext>
            </a:extLst>
          </p:cNvPr>
          <p:cNvSpPr>
            <a:spLocks noGrp="1"/>
          </p:cNvSpPr>
          <p:nvPr/>
        </p:nvSpPr>
        <p:spPr>
          <a:xfrm>
            <a:off x="641985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a:ext uri="{FF2B5EF4-FFF2-40B4-BE49-F238E27FC236}">
                <a16:creationId xmlns:a16="http://schemas.microsoft.com/office/drawing/2014/main" id="{BD6E0B2F-8AE6-4B08-BFBB-A539A08C24E4}"/>
              </a:ext>
            </a:extLst>
          </p:cNvPr>
          <p:cNvSpPr>
            <a:spLocks noGrp="1"/>
          </p:cNvSpPr>
          <p:nvPr/>
        </p:nvSpPr>
        <p:spPr>
          <a:xfrm>
            <a:off x="641985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a:ext uri="{FF2B5EF4-FFF2-40B4-BE49-F238E27FC236}">
                <a16:creationId xmlns:a16="http://schemas.microsoft.com/office/drawing/2014/main" id="{E553A558-A451-4FE1-827A-DDFB43FC90E0}"/>
              </a:ext>
            </a:extLst>
          </p:cNvPr>
          <p:cNvSpPr>
            <a:spLocks noGrp="1"/>
          </p:cNvSpPr>
          <p:nvPr/>
        </p:nvSpPr>
        <p:spPr>
          <a:xfrm>
            <a:off x="641985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9"/>
              </a:rPr>
              <a:t>arxiv.org/abs/2002.10957</a:t>
            </a:r>
          </a:p>
        </p:txBody>
      </p:sp>
      <p:sp>
        <p:nvSpPr>
          <p:cNvPr id="24" name="Reciprocal Rank Fusion">
            <a:extLst>
              <a:ext uri="{FF2B5EF4-FFF2-40B4-BE49-F238E27FC236}">
                <a16:creationId xmlns:a16="http://schemas.microsoft.com/office/drawing/2014/main" id="{4F841DDF-A002-4DD4-9C35-3E5C31D38782}"/>
              </a:ext>
            </a:extLst>
          </p:cNvPr>
          <p:cNvSpPr>
            <a:spLocks noGrp="1"/>
          </p:cNvSpPr>
          <p:nvPr/>
        </p:nvSpPr>
        <p:spPr>
          <a:xfrm>
            <a:off x="641985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a:ext uri="{FF2B5EF4-FFF2-40B4-BE49-F238E27FC236}">
                <a16:creationId xmlns:a16="http://schemas.microsoft.com/office/drawing/2014/main" id="{4DFC7256-ABCB-42F0-8978-A9834133EE16}"/>
              </a:ext>
            </a:extLst>
          </p:cNvPr>
          <p:cNvSpPr>
            <a:spLocks noGrp="1"/>
          </p:cNvSpPr>
          <p:nvPr/>
        </p:nvSpPr>
        <p:spPr>
          <a:xfrm>
            <a:off x="641985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a:ext uri="{FF2B5EF4-FFF2-40B4-BE49-F238E27FC236}">
                <a16:creationId xmlns:a16="http://schemas.microsoft.com/office/drawing/2014/main" id="{27908AFA-1F0E-49CF-829C-9B6DB9B26163}"/>
              </a:ext>
            </a:extLst>
          </p:cNvPr>
          <p:cNvSpPr>
            <a:spLocks noGrp="1"/>
          </p:cNvSpPr>
          <p:nvPr/>
        </p:nvSpPr>
        <p:spPr>
          <a:xfrm>
            <a:off x="641985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10"/>
              </a:rPr>
              <a:t>doi.org/10.1145/1571941.1572114</a:t>
            </a:r>
          </a:p>
        </p:txBody>
      </p:sp>
      <p:sp>
        <p:nvSpPr>
          <p:cNvPr id="27" name="Спецификация dev и dev/small: ir-datasets.com/msmarco-passage.html">
            <a:extLst>
              <a:ext uri="{FF2B5EF4-FFF2-40B4-BE49-F238E27FC236}">
                <a16:creationId xmlns:a16="http://schemas.microsoft.com/office/drawing/2014/main" id="{103B9138-7D3D-40AE-8875-641306956B76}"/>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0D707240-FA87-4C30-B4F7-BE3481571E2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endParaRPr/>
          </a:p>
        </p:txBody>
      </p:sp>
      <p:sp>
        <p:nvSpPr>
          <p:cNvPr id="2" name="20">
            <a:extLst>
              <a:ext uri="{FF2B5EF4-FFF2-40B4-BE49-F238E27FC236}">
                <a16:creationId xmlns:a16="http://schemas.microsoft.com/office/drawing/2014/main" id="{C5DC1C39-22EA-4EC5-AA48-52C01026FA6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a:ext uri="{FF2B5EF4-FFF2-40B4-BE49-F238E27FC236}">
                <a16:creationId xmlns:a16="http://schemas.microsoft.com/office/drawing/2014/main" id="{F8430587-5841-4911-9959-76BCCDF1356C}"/>
              </a:ext>
            </a:extLst>
          </p:cNvPr>
          <p:cNvSpPr>
            <a:spLocks noGrp="1"/>
          </p:cNvSpPr>
          <p:nvPr/>
        </p:nvSpPr>
        <p:spPr>
          <a:xfrm>
            <a:off x="609600" y="2133600"/>
            <a:ext cx="10972800" cy="895350"/>
          </a:xfrm>
          <a:prstGeom prst="rect">
            <a:avLst/>
          </a:prstGeom>
          <a:noFill/>
          <a:ln w="0">
            <a:noFill/>
          </a:ln>
        </p:spPr>
        <p:txBody>
          <a:bodyPr wrap="square" lIns="0" tIns="0" rIns="0" bIns="0" anchor="t">
            <a:noAutofit/>
          </a:bodyPr>
          <a:lstStyle>
            <a:defPPr algn="l">
              <a:defRPr sz="4950" b="1">
                <a:solidFill>
                  <a:srgbClr val="182B30"/>
                </a:solidFill>
                <a:latin typeface="Arial"/>
                <a:ea typeface="Arial"/>
                <a:cs typeface="Arial"/>
              </a:defRPr>
            </a:defPPr>
          </a:lstStyle>
          <a:p>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a:ext uri="{FF2B5EF4-FFF2-40B4-BE49-F238E27FC236}">
                <a16:creationId xmlns:a16="http://schemas.microsoft.com/office/drawing/2014/main" id="{A07AFDC1-BA08-4BE3-AC49-915F59A6D1B3}"/>
              </a:ext>
            </a:extLst>
          </p:cNvPr>
          <p:cNvSpPr>
            <a:spLocks noGrp="1"/>
          </p:cNvSpPr>
          <p:nvPr/>
        </p:nvSpPr>
        <p:spPr>
          <a:xfrm>
            <a:off x="609600" y="3295650"/>
            <a:ext cx="10972800" cy="495300"/>
          </a:xfrm>
          <a:prstGeom prst="rect">
            <a:avLst/>
          </a:prstGeom>
          <a:noFill/>
          <a:ln w="0">
            <a:noFill/>
          </a:ln>
        </p:spPr>
        <p:txBody>
          <a:bodyPr wrap="square" lIns="0" tIns="0" rIns="0" bIns="0" anchor="t">
            <a:noAutofit/>
          </a:bodyPr>
          <a:lstStyle>
            <a:defPPr algn="l">
              <a:defRPr sz="2550" b="0">
                <a:solidFill>
                  <a:srgbClr val="007F78"/>
                </a:solidFill>
                <a:latin typeface="Arial"/>
                <a:ea typeface="Arial"/>
                <a:cs typeface="Arial"/>
              </a:defRPr>
            </a:defPPr>
          </a:lstStyle>
          <a:p>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Прямая соединительная линия 4">
            <a:extLst>
              <a:ext uri="{FF2B5EF4-FFF2-40B4-BE49-F238E27FC236}">
                <a16:creationId xmlns:a16="http://schemas.microsoft.com/office/drawing/2014/main" id="{81A72BAF-F3E9-45C7-B352-61F535B1E1BE}"/>
              </a:ext>
            </a:extLst>
          </p:cNvPr>
          <p:cNvSpPr>
            <a:spLocks noGrp="1"/>
          </p:cNvSpPr>
          <p:nvPr/>
        </p:nvSpPr>
        <p:spPr>
          <a:xfrm>
            <a:off x="609600" y="4410075"/>
            <a:ext cx="10972800" cy="0"/>
          </a:xfrm>
          <a:prstGeom prst="line">
            <a:avLst/>
          </a:prstGeom>
          <a:noFill/>
          <a:ln w="12383">
            <a:solidFill>
              <a:srgbClr val="D4E1E0"/>
            </a:solidFill>
          </a:ln>
        </p:spPr>
      </p:sp>
      <p:sp>
        <p:nvSpPr>
          <p:cNvPr id="6" name=", , ">
            <a:extLst>
              <a:ext uri="{FF2B5EF4-FFF2-40B4-BE49-F238E27FC236}">
                <a16:creationId xmlns:a16="http://schemas.microsoft.com/office/drawing/2014/main" id="{5668CE3A-6A6F-4131-8944-CB3DA37B4E57}"/>
              </a:ext>
            </a:extLst>
          </p:cNvPr>
          <p:cNvSpPr>
            <a:spLocks noGrp="1"/>
          </p:cNvSpPr>
          <p:nvPr/>
        </p:nvSpPr>
        <p:spPr>
          <a:xfrm>
            <a:off x="609600" y="4752975"/>
            <a:ext cx="10972800" cy="409575"/>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a:ext uri="{FF2B5EF4-FFF2-40B4-BE49-F238E27FC236}">
                <a16:creationId xmlns:a16="http://schemas.microsoft.com/office/drawing/2014/main" id="{D9AE579D-4DAE-4505-BA45-380F0DA81AE5}"/>
              </a:ext>
            </a:extLst>
          </p:cNvPr>
          <p:cNvSpPr>
            <a:spLocks noGrp="1"/>
          </p:cNvSpPr>
          <p:nvPr/>
        </p:nvSpPr>
        <p:spPr>
          <a:xfrm>
            <a:off x="609600" y="5210175"/>
            <a:ext cx="10972800" cy="38100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a:ext uri="{FF2B5EF4-FFF2-40B4-BE49-F238E27FC236}">
                <a16:creationId xmlns:a16="http://schemas.microsoft.com/office/drawing/2014/main" id="{8F854F36-DC6C-4EFC-B609-BC1285F1ECF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Какие части данных мы использовали">
            <a:extLst>
              <a:ext uri="{FF2B5EF4-FFF2-40B4-BE49-F238E27FC236}">
                <a16:creationId xmlns:a16="http://schemas.microsoft.com/office/drawing/2014/main" id="{C9192BF0-02DB-4776-8EED-9940866E3A6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a:ext uri="{FF2B5EF4-FFF2-40B4-BE49-F238E27FC236}">
                <a16:creationId xmlns:a16="http://schemas.microsoft.com/office/drawing/2014/main" id="{6FB64FA0-FE5C-4760-8AD6-5AAB9A5377E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Таблица 2">
            <a:extLst>
              <a:ext uri="{FF2B5EF4-FFF2-40B4-BE49-F238E27FC236}">
                <a16:creationId xmlns:a16="http://schemas.microsoft.com/office/drawing/2014/main" id="{472684F5-DDA2-4257-8EB6-3AA86FC08731}"/>
              </a:ext>
            </a:extLst>
          </p:cNvPr>
          <p:cNvGraphicFramePr/>
          <p:nvPr/>
        </p:nvGraphicFramePr>
        <p:xfrm>
          <a:off x="609600" y="1638300"/>
          <a:ext cx="10972800" cy="3867150"/>
        </p:xfrm>
        <a:graphic>
          <a:graphicData uri="http://schemas.openxmlformats.org/drawingml/2006/table">
            <a:tbl>
              <a:tblPr/>
              <a:tblGrid>
                <a:gridCol w="33337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5734050">
                  <a:extLst>
                    <a:ext uri="{9D8B030D-6E8A-4147-A177-3AD203B41FA5}">
                      <a16:colId xmlns:a16="http://schemas.microsoft.com/office/drawing/2014/main" val="20002"/>
                    </a:ext>
                  </a:extLst>
                </a:gridCol>
              </a:tblGrid>
              <a:tr h="552450">
                <a:tc>
                  <a:txBody>
                    <a:bodyPr/>
                    <a:lstStyle/>
                    <a:p>
                      <a:r>
                        <a:rPr sz="1800" b="1">
                          <a:solidFill>
                            <a:srgbClr val="526970"/>
                          </a:solidFill>
                          <a:latin typeface="Arial"/>
                          <a:ea typeface="Arial"/>
                          <a:cs typeface="Arial"/>
                        </a:rPr>
                        <a:t>Набор</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Роль в исследовании</a:t>
                      </a:r>
                    </a:p>
                  </a:txBody>
                  <a:tcPr anchor="ctr">
                    <a:lnL w="0">
                      <a:noFill/>
                    </a:lnL>
                    <a:lnR w="0">
                      <a:noFill/>
                    </a:lnR>
                    <a:lnT w="0">
                      <a:noFill/>
                    </a:lnT>
                    <a:lnB w="7620">
                      <a:solidFill>
                        <a:srgbClr val="D4E1E0"/>
                      </a:solidFill>
                    </a:lnB>
                    <a:solidFill>
                      <a:srgbClr val="EFF5F5"/>
                    </a:solidFill>
                  </a:tcPr>
                </a:tc>
                <a:extLst>
                  <a:ext uri="{0D108BD9-81ED-4DB2-BD59-A6C34878D82A}">
                    <a16:rowId xmlns:a16="http://schemas.microsoft.com/office/drawing/2014/main" val="10000"/>
                  </a:ext>
                </a:extLst>
              </a:tr>
              <a:tr h="55245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Масштабная оценка судьей</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1875" b="0">
                          <a:solidFill>
                            <a:srgbClr val="182B30"/>
                          </a:solidFill>
                          <a:latin typeface="Arial"/>
                          <a:ea typeface="Arial"/>
                          <a:cs typeface="Arial"/>
                        </a:rPr>
                        <a:t>dev/small</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6 980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Исходная оценочная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1875" b="0">
                          <a:solidFill>
                            <a:srgbClr val="182B30"/>
                          </a:solidFill>
                          <a:latin typeface="Arial"/>
                          <a:ea typeface="Arial"/>
                          <a:cs typeface="Arial"/>
                        </a:rPr>
                        <a:t>Ручная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1 179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Доразметка 33 667 пар</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1875" b="0">
                          <a:solidFill>
                            <a:srgbClr val="182B30"/>
                          </a:solidFill>
                          <a:latin typeface="Arial"/>
                          <a:ea typeface="Arial"/>
                          <a:cs typeface="Arial"/>
                        </a:rPr>
                        <a:t>Обучение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825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Дообучение на ручных метках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52450">
                <a:tc>
                  <a:txBody>
                    <a:bodyPr/>
                    <a:lstStyle/>
                    <a:p>
                      <a:r>
                        <a:rPr sz="1875" b="0">
                          <a:solidFill>
                            <a:srgbClr val="182B30"/>
                          </a:solidFill>
                          <a:latin typeface="Arial"/>
                          <a:ea typeface="Arial"/>
                          <a:cs typeface="Arial"/>
                        </a:rPr>
                        <a:t>Валидация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Выбор порога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r h="552450">
                <a:tc>
                  <a:txBody>
                    <a:bodyPr/>
                    <a:lstStyle/>
                    <a:p>
                      <a:r>
                        <a:rPr sz="1875" b="0">
                          <a:solidFill>
                            <a:srgbClr val="182B30"/>
                          </a:solidFill>
                          <a:latin typeface="Arial"/>
                          <a:ea typeface="Arial"/>
                          <a:cs typeface="Arial"/>
                        </a:rPr>
                        <a:t>Тест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Проверка на отложенных запросах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6"/>
                  </a:ext>
                </a:extLst>
              </a:tr>
            </a:tbl>
          </a:graphicData>
        </a:graphic>
      </p:graphicFrame>
      <p:sp>
        <p:nvSpPr>
          <p:cNvPr id="4" name="Ручная подвыборка входит в dev/small, а dev/small входит в полную dev-">
            <a:extLst>
              <a:ext uri="{FF2B5EF4-FFF2-40B4-BE49-F238E27FC236}">
                <a16:creationId xmlns:a16="http://schemas.microsoft.com/office/drawing/2014/main" id="{C3F9466B-844F-4F05-ACF8-877FF5493F9F}"/>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NDCG@10 и эффект доразметки">
            <a:extLst>
              <a:ext uri="{FF2B5EF4-FFF2-40B4-BE49-F238E27FC236}">
                <a16:creationId xmlns:a16="http://schemas.microsoft.com/office/drawing/2014/main" id="{64FE41A2-C4AF-474F-9FCD-6E005D0E7492}"/>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a:ext uri="{FF2B5EF4-FFF2-40B4-BE49-F238E27FC236}">
                <a16:creationId xmlns:a16="http://schemas.microsoft.com/office/drawing/2014/main" id="{F2A4A689-EBF7-4448-B9DA-188EB09E151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a:ext uri="{FF2B5EF4-FFF2-40B4-BE49-F238E27FC236}">
                <a16:creationId xmlns:a16="http://schemas.microsoft.com/office/drawing/2014/main" id="{3BF60AEC-1E9C-4DBE-8080-352F9360DD8D}"/>
              </a:ext>
            </a:extLst>
          </p:cNvPr>
          <p:cNvSpPr>
            <a:spLocks noGrp="1"/>
          </p:cNvSpPr>
          <p:nvPr/>
        </p:nvSpPr>
        <p:spPr>
          <a:xfrm>
            <a:off x="609600" y="1733550"/>
            <a:ext cx="10972800" cy="495300"/>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Таблица 8"/>
          <p:cNvGraphicFramePr/>
          <p:nvPr/>
        </p:nvGraphicFramePr>
        <p:xfrm>
          <a:off x="609600" y="2533650"/>
          <a:ext cx="10972800" cy="2733675"/>
        </p:xfrm>
        <a:graphic>
          <a:graphicData uri="http://schemas.openxmlformats.org/drawingml/2006/table">
            <a:tbl>
              <a:tblPr/>
              <a:tblGrid>
                <a:gridCol w="3238500">
                  <a:extLst>
                    <a:ext uri="{9D8B030D-6E8A-4147-A177-3AD203B41FA5}">
                      <a16:colId xmlns:a16="http://schemas.microsoft.com/office/drawing/2014/main" val="20000"/>
                    </a:ext>
                  </a:extLst>
                </a:gridCol>
                <a:gridCol w="34480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23875">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После − до</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Парный ДИ 95%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52450">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0,372 ... 0,419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0,365 ... 0,417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0,369 ... 0,419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0,371 ... 0,419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5 000 парных бутстрэп-выборок по запросам. Для в">
            <a:extLst>
              <a:ext uri="{FF2B5EF4-FFF2-40B4-BE49-F238E27FC236}">
                <a16:creationId xmlns:a16="http://schemas.microsoft.com/office/drawing/2014/main" id="{76F32C76-7D7A-4648-9125-EF0A8A2087D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четырех эффектов p &lt; 0,001.</a:t>
            </a:r>
          </a:p>
        </p:txBody>
      </p:sp>
    </p:spTree>
    <p:extLst>
      <p:ext uri="{BB962C8B-B14F-4D97-AF65-F5344CB8AC3E}">
        <p14:creationId xmlns:p14="http://schemas.microsoft.com/office/powerpoint/2010/main" val="19341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Проверка судьи и ошибки">
            <a:extLst>
              <a:ext uri="{FF2B5EF4-FFF2-40B4-BE49-F238E27FC236}">
                <a16:creationId xmlns:a16="http://schemas.microsoft.com/office/drawing/2014/main" id="{A3FB63F2-E26E-413E-8184-A81F9BEEC75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a:ext uri="{FF2B5EF4-FFF2-40B4-BE49-F238E27FC236}">
                <a16:creationId xmlns:a16="http://schemas.microsoft.com/office/drawing/2014/main" id="{6B14EBB8-D421-4371-8104-CD6B661AA88C}"/>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a:ext uri="{FF2B5EF4-FFF2-40B4-BE49-F238E27FC236}">
                <a16:creationId xmlns:a16="http://schemas.microsoft.com/office/drawing/2014/main" id="{B0074F6B-BF66-498C-B1D7-2C91D75F8F28}"/>
              </a:ext>
            </a:extLst>
          </p:cNvPr>
          <p:cNvSpPr>
            <a:spLocks noGrp="1"/>
          </p:cNvSpPr>
          <p:nvPr/>
        </p:nvSpPr>
        <p:spPr>
          <a:xfrm>
            <a:off x="60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a:ext uri="{FF2B5EF4-FFF2-40B4-BE49-F238E27FC236}">
                <a16:creationId xmlns:a16="http://schemas.microsoft.com/office/drawing/2014/main" id="{8E61C322-1DEF-41B8-9C56-18BB35F7EED8}"/>
              </a:ext>
            </a:extLst>
          </p:cNvPr>
          <p:cNvSpPr>
            <a:spLocks noGrp="1"/>
          </p:cNvSpPr>
          <p:nvPr/>
        </p:nvSpPr>
        <p:spPr>
          <a:xfrm>
            <a:off x="60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a:ext uri="{FF2B5EF4-FFF2-40B4-BE49-F238E27FC236}">
                <a16:creationId xmlns:a16="http://schemas.microsoft.com/office/drawing/2014/main" id="{ECB98A03-7A65-4522-BDE0-ED9F853CAA94}"/>
              </a:ext>
            </a:extLst>
          </p:cNvPr>
          <p:cNvSpPr>
            <a:spLocks noGrp="1"/>
          </p:cNvSpPr>
          <p:nvPr/>
        </p:nvSpPr>
        <p:spPr>
          <a:xfrm>
            <a:off x="441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a:ext uri="{FF2B5EF4-FFF2-40B4-BE49-F238E27FC236}">
                <a16:creationId xmlns:a16="http://schemas.microsoft.com/office/drawing/2014/main" id="{5356EB37-426F-4574-B034-2B55A21C3FBA}"/>
              </a:ext>
            </a:extLst>
          </p:cNvPr>
          <p:cNvSpPr>
            <a:spLocks noGrp="1"/>
          </p:cNvSpPr>
          <p:nvPr/>
        </p:nvSpPr>
        <p:spPr>
          <a:xfrm>
            <a:off x="441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a:ext uri="{FF2B5EF4-FFF2-40B4-BE49-F238E27FC236}">
                <a16:creationId xmlns:a16="http://schemas.microsoft.com/office/drawing/2014/main" id="{209C21D2-231E-447C-80B4-DFFC8C8951CB}"/>
              </a:ext>
            </a:extLst>
          </p:cNvPr>
          <p:cNvSpPr>
            <a:spLocks noGrp="1"/>
          </p:cNvSpPr>
          <p:nvPr/>
        </p:nvSpPr>
        <p:spPr>
          <a:xfrm>
            <a:off x="822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a:ext uri="{FF2B5EF4-FFF2-40B4-BE49-F238E27FC236}">
                <a16:creationId xmlns:a16="http://schemas.microsoft.com/office/drawing/2014/main" id="{930BE2EA-BC06-4989-8BAF-11F1871EDEE4}"/>
              </a:ext>
            </a:extLst>
          </p:cNvPr>
          <p:cNvSpPr>
            <a:spLocks noGrp="1"/>
          </p:cNvSpPr>
          <p:nvPr/>
        </p:nvSpPr>
        <p:spPr>
          <a:xfrm>
            <a:off x="822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Таблица 21"/>
          <p:cNvGraphicFramePr/>
          <p:nvPr/>
        </p:nvGraphicFramePr>
        <p:xfrm>
          <a:off x="609600" y="3000375"/>
          <a:ext cx="10972800" cy="2171700"/>
        </p:xfrm>
        <a:graphic>
          <a:graphicData uri="http://schemas.openxmlformats.org/drawingml/2006/table">
            <a:tbl>
              <a:tblPr/>
              <a:tblGrid>
                <a:gridCol w="4476750">
                  <a:extLst>
                    <a:ext uri="{9D8B030D-6E8A-4147-A177-3AD203B41FA5}">
                      <a16:colId xmlns:a16="http://schemas.microsoft.com/office/drawing/2014/main" val="20000"/>
                    </a:ext>
                  </a:extLst>
                </a:gridCol>
                <a:gridCol w="3248025">
                  <a:extLst>
                    <a:ext uri="{9D8B030D-6E8A-4147-A177-3AD203B41FA5}">
                      <a16:colId xmlns:a16="http://schemas.microsoft.com/office/drawing/2014/main" val="20001"/>
                    </a:ext>
                  </a:extLst>
                </a:gridCol>
                <a:gridCol w="3248025">
                  <a:extLst>
                    <a:ext uri="{9D8B030D-6E8A-4147-A177-3AD203B41FA5}">
                      <a16:colId xmlns:a16="http://schemas.microsoft.com/office/drawing/2014/main" val="20002"/>
                    </a:ext>
                  </a:extLst>
                </a:gridCol>
              </a:tblGrid>
              <a:tr h="561975">
                <a:tc>
                  <a:txBody>
                    <a:bodyPr/>
                    <a:lstStyle/>
                    <a:p>
                      <a:r>
                        <a:rPr sz="1875" b="1">
                          <a:solidFill>
                            <a:srgbClr val="526970"/>
                          </a:solidFill>
                          <a:latin typeface="Arial"/>
                          <a:ea typeface="Arial"/>
                          <a:cs typeface="Arial"/>
                        </a:rPr>
                        <a:t>Метка в тесте</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нет</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да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95350">
                <a:tc>
                  <a:txBody>
                    <a:bodyPr/>
                    <a:lstStyle/>
                    <a:p>
                      <a:r>
                        <a:rPr sz="2025" b="0">
                          <a:solidFill>
                            <a:srgbClr val="182B30"/>
                          </a:solidFill>
                          <a:latin typeface="Arial"/>
                          <a:ea typeface="Arial"/>
                          <a:cs typeface="Arial"/>
                        </a:rPr>
                        <a:t>Отрицательная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007F78"/>
                          </a:solidFill>
                          <a:latin typeface="Arial"/>
                          <a:ea typeface="Arial"/>
                          <a:cs typeface="Arial"/>
                        </a:rPr>
                        <a:t>1 300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025" b="1">
                          <a:solidFill>
                            <a:srgbClr val="C95236"/>
                          </a:solidFill>
                          <a:latin typeface="Arial"/>
                          <a:ea typeface="Arial"/>
                          <a:cs typeface="Arial"/>
                        </a:rPr>
                        <a:t>506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extLst>
                  <a:ext uri="{0D108BD9-81ED-4DB2-BD59-A6C34878D82A}">
                    <a16:rowId xmlns:a16="http://schemas.microsoft.com/office/drawing/2014/main" val="10001"/>
                  </a:ext>
                </a:extLst>
              </a:tr>
              <a:tr h="714375">
                <a:tc>
                  <a:txBody>
                    <a:bodyPr/>
                    <a:lstStyle/>
                    <a:p>
                      <a:r>
                        <a:rPr sz="2025" b="0">
                          <a:solidFill>
                            <a:srgbClr val="182B30"/>
                          </a:solidFill>
                          <a:latin typeface="Arial"/>
                          <a:ea typeface="Arial"/>
                          <a:cs typeface="Arial"/>
                        </a:rPr>
                        <a:t>Положительная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C95236"/>
                          </a:solidFill>
                          <a:latin typeface="Arial"/>
                          <a:ea typeface="Arial"/>
                          <a:cs typeface="Arial"/>
                        </a:rPr>
                        <a:t>314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tc>
                  <a:txBody>
                    <a:bodyPr/>
                    <a:lstStyle/>
                    <a:p>
                      <a:r>
                        <a:rPr sz="2025" b="1">
                          <a:solidFill>
                            <a:srgbClr val="007F78"/>
                          </a:solidFill>
                          <a:latin typeface="Arial"/>
                          <a:ea typeface="Arial"/>
                          <a:cs typeface="Arial"/>
                        </a:rPr>
                        <a:t>2 882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bl>
          </a:graphicData>
        </a:graphic>
      </p:graphicFrame>
      <p:sp>
        <p:nvSpPr>
          <p:cNvPr id="10" name="Точность 0,851">
            <a:extLst>
              <a:ext uri="{FF2B5EF4-FFF2-40B4-BE49-F238E27FC236}">
                <a16:creationId xmlns:a16="http://schemas.microsoft.com/office/drawing/2014/main" id="{51871FC4-4325-4F0A-BB63-2F4555F3CFE6}"/>
              </a:ext>
            </a:extLst>
          </p:cNvPr>
          <p:cNvSpPr>
            <a:spLocks noGrp="1"/>
          </p:cNvSpPr>
          <p:nvPr/>
        </p:nvSpPr>
        <p:spPr>
          <a:xfrm>
            <a:off x="609600" y="5524500"/>
            <a:ext cx="34671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a:ext uri="{FF2B5EF4-FFF2-40B4-BE49-F238E27FC236}">
                <a16:creationId xmlns:a16="http://schemas.microsoft.com/office/drawing/2014/main" id="{CBCF0C21-0199-4E9E-9FD9-4ABD228C9B61}"/>
              </a:ext>
            </a:extLst>
          </p:cNvPr>
          <p:cNvSpPr>
            <a:spLocks noGrp="1"/>
          </p:cNvSpPr>
          <p:nvPr/>
        </p:nvSpPr>
        <p:spPr>
          <a:xfrm>
            <a:off x="4410075" y="5524500"/>
            <a:ext cx="31623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a:ext uri="{FF2B5EF4-FFF2-40B4-BE49-F238E27FC236}">
                <a16:creationId xmlns:a16="http://schemas.microsoft.com/office/drawing/2014/main" id="{3EEF060C-A63C-407F-BEDE-CC7248B1450A}"/>
              </a:ext>
            </a:extLst>
          </p:cNvPr>
          <p:cNvSpPr>
            <a:spLocks noGrp="1"/>
          </p:cNvSpPr>
          <p:nvPr/>
        </p:nvSpPr>
        <p:spPr>
          <a:xfrm>
            <a:off x="8096250" y="5524500"/>
            <a:ext cx="337185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a:ext uri="{FF2B5EF4-FFF2-40B4-BE49-F238E27FC236}">
                <a16:creationId xmlns:a16="http://schemas.microsoft.com/office/drawing/2014/main" id="{D147A019-82BB-4C5C-AA20-6594216524C1}"/>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нулем, у 1 записи пустой текст.</a:t>
            </a:r>
          </a:p>
        </p:txBody>
      </p:sp>
    </p:spTree>
    <p:extLst>
      <p:ext uri="{BB962C8B-B14F-4D97-AF65-F5344CB8AC3E}">
        <p14:creationId xmlns:p14="http://schemas.microsoft.com/office/powerpoint/2010/main" val="1282689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Результаты при разной глубине пула">
            <a:extLst>
              <a:ext uri="{FF2B5EF4-FFF2-40B4-BE49-F238E27FC236}">
                <a16:creationId xmlns:a16="http://schemas.microsoft.com/office/drawing/2014/main" id="{9878F464-4720-471F-A708-DF0DEB2B4613}"/>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a:ext uri="{FF2B5EF4-FFF2-40B4-BE49-F238E27FC236}">
                <a16:creationId xmlns:a16="http://schemas.microsoft.com/office/drawing/2014/main" id="{6922032D-AECA-4ADA-9F40-A46B079DE07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Таблица 6"/>
          <p:cNvGraphicFramePr/>
          <p:nvPr/>
        </p:nvGraphicFramePr>
        <p:xfrm>
          <a:off x="609600" y="1857375"/>
          <a:ext cx="10972800" cy="3857625"/>
        </p:xfrm>
        <a:graphic>
          <a:graphicData uri="http://schemas.openxmlformats.org/drawingml/2006/table">
            <a:tbl>
              <a:tblPr/>
              <a:tblGrid>
                <a:gridCol w="79057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gridCol w="2162175">
                  <a:extLst>
                    <a:ext uri="{9D8B030D-6E8A-4147-A177-3AD203B41FA5}">
                      <a16:colId xmlns:a16="http://schemas.microsoft.com/office/drawing/2014/main" val="20005"/>
                    </a:ext>
                  </a:extLst>
                </a:gridCol>
              </a:tblGrid>
              <a:tr h="952500">
                <a:tc>
                  <a:txBody>
                    <a:bodyPr/>
                    <a:lstStyle/>
                    <a:p>
                      <a:r>
                        <a:rPr sz="1650" b="1">
                          <a:solidFill>
                            <a:srgbClr val="526970"/>
                          </a:solidFill>
                          <a:latin typeface="Arial"/>
                          <a:ea typeface="Arial"/>
                          <a:cs typeface="Arial"/>
                        </a:rPr>
                        <a:t>K</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81025">
                <a:tc>
                  <a:txBody>
                    <a:bodyPr/>
                    <a:lstStyle/>
                    <a:p>
                      <a:r>
                        <a:rPr sz="1800" b="0">
                          <a:solidFill>
                            <a:srgbClr val="182B30"/>
                          </a:solidFill>
                          <a:latin typeface="Arial"/>
                          <a:ea typeface="Arial"/>
                          <a:cs typeface="Arial"/>
                        </a:rPr>
                        <a:t>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0,871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0,805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81025">
                <a:tc>
                  <a:txBody>
                    <a:bodyPr/>
                    <a:lstStyle/>
                    <a:p>
                      <a:r>
                        <a:rPr sz="1800" b="0">
                          <a:solidFill>
                            <a:srgbClr val="182B30"/>
                          </a:solidFill>
                          <a:latin typeface="Arial"/>
                          <a:ea typeface="Arial"/>
                          <a:cs typeface="Arial"/>
                        </a:rPr>
                        <a:t>30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65,8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33,7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0,862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81025">
                <a:tc>
                  <a:txBody>
                    <a:bodyPr/>
                    <a:lstStyle/>
                    <a:p>
                      <a:r>
                        <a:rPr sz="1800" b="0">
                          <a:solidFill>
                            <a:srgbClr val="182B30"/>
                          </a:solidFill>
                          <a:latin typeface="Arial"/>
                          <a:ea typeface="Arial"/>
                          <a:cs typeface="Arial"/>
                        </a:rPr>
                        <a:t>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110,4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49,4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81025">
                <a:tc>
                  <a:txBody>
                    <a:bodyPr/>
                    <a:lstStyle/>
                    <a:p>
                      <a:r>
                        <a:rPr sz="1800" b="0">
                          <a:solidFill>
                            <a:srgbClr val="182B30"/>
                          </a:solidFill>
                          <a:latin typeface="Arial"/>
                          <a:ea typeface="Arial"/>
                          <a:cs typeface="Arial"/>
                        </a:rPr>
                        <a:t>100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222,9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81,0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81025">
                <a:tc>
                  <a:txBody>
                    <a:bodyPr/>
                    <a:lstStyle/>
                    <a:p>
                      <a:r>
                        <a:rPr sz="1800" b="0">
                          <a:solidFill>
                            <a:srgbClr val="182B30"/>
                          </a:solidFill>
                          <a:latin typeface="Arial"/>
                          <a:ea typeface="Arial"/>
                          <a:cs typeface="Arial"/>
                        </a:rPr>
                        <a:t>200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451,5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128,6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bl>
          </a:graphicData>
        </a:graphic>
      </p:graphicFrame>
      <p:sp>
        <p:nvSpPr>
          <p:cNvPr id="4" name="Псевдометки одного судьи. В каждом среднем учтен">
            <a:extLst>
              <a:ext uri="{FF2B5EF4-FFF2-40B4-BE49-F238E27FC236}">
                <a16:creationId xmlns:a16="http://schemas.microsoft.com/office/drawing/2014/main" id="{824170C2-6150-4E0A-BEA0-1D0CAFC232C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Чувствительность к исключению запросов">
            <a:extLst>
              <a:ext uri="{FF2B5EF4-FFF2-40B4-BE49-F238E27FC236}">
                <a16:creationId xmlns:a16="http://schemas.microsoft.com/office/drawing/2014/main" id="{28FCC684-DC91-4AC3-9B9E-EE8BFD54C1F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качества ручных данных</a:t>
            </a:r>
          </a:p>
        </p:txBody>
      </p:sp>
      <p:sp>
        <p:nvSpPr>
          <p:cNvPr id="2" name="РЕЗЕРВ 4">
            <a:extLst>
              <a:ext uri="{FF2B5EF4-FFF2-40B4-BE49-F238E27FC236}">
                <a16:creationId xmlns:a16="http://schemas.microsoft.com/office/drawing/2014/main" id="{40560BA3-F950-4501-86BB-6BBB20FBFCD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a:ext uri="{FF2B5EF4-FFF2-40B4-BE49-F238E27FC236}">
                <a16:creationId xmlns:a16="http://schemas.microsoft.com/office/drawing/2014/main" id="{5BC7CF8A-8A66-4D2B-BB84-31D65FD675C8}"/>
              </a:ext>
            </a:extLst>
          </p:cNvPr>
          <p:cNvSpPr>
            <a:spLocks noGrp="1"/>
          </p:cNvSpPr>
          <p:nvPr/>
        </p:nvSpPr>
        <p:spPr>
          <a:xfrm>
            <a:off x="609600" y="1581150"/>
            <a:ext cx="10972800" cy="3810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Ручная разметка: проверка без 23 запросов</a:t>
            </a:r>
          </a:p>
        </p:txBody>
      </p:sp>
      <p:graphicFrame>
        <p:nvGraphicFramePr>
          <p:cNvPr id="11" name="Таблица 10"/>
          <p:cNvGraphicFramePr/>
          <p:nvPr/>
        </p:nvGraphicFramePr>
        <p:xfrm>
          <a:off x="609600" y="2105025"/>
          <a:ext cx="10972800" cy="2705100"/>
        </p:xfrm>
        <a:graphic>
          <a:graphicData uri="http://schemas.openxmlformats.org/drawingml/2006/table">
            <a:tbl>
              <a:tblPr/>
              <a:tblGrid>
                <a:gridCol w="323850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3867150">
                  <a:extLst>
                    <a:ext uri="{9D8B030D-6E8A-4147-A177-3AD203B41FA5}">
                      <a16:colId xmlns:a16="http://schemas.microsoft.com/office/drawing/2014/main" val="20002"/>
                    </a:ext>
                  </a:extLst>
                </a:gridCol>
              </a:tblGrid>
              <a:tr h="533400">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Все 1 179 запросов</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1 156 после исключения</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42925">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42925">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42925">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42925">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Большой набор без ручных запросов: N = 99 914">
            <a:extLst>
              <a:ext uri="{FF2B5EF4-FFF2-40B4-BE49-F238E27FC236}">
                <a16:creationId xmlns:a16="http://schemas.microsoft.com/office/drawing/2014/main" id="{58E8A587-3CA8-40FD-AF5E-3E8C552C0C17}"/>
              </a:ext>
            </a:extLst>
          </p:cNvPr>
          <p:cNvSpPr>
            <a:spLocks noGrp="1"/>
          </p:cNvSpPr>
          <p:nvPr/>
        </p:nvSpPr>
        <p:spPr>
          <a:xfrm>
            <a:off x="609600" y="5076825"/>
            <a:ext cx="10972800" cy="428625"/>
          </a:xfrm>
          <a:prstGeom prst="rect">
            <a:avLst/>
          </a:prstGeom>
          <a:noFill/>
          <a:ln w="0">
            <a:noFill/>
          </a:ln>
        </p:spPr>
        <p:txBody>
          <a:bodyPr wrap="square" lIns="0" tIns="0" rIns="0" bIns="0" anchor="t">
            <a:noAutofit/>
          </a:bodyPr>
          <a:lstStyle/>
          <a:p>
            <a:pPr algn="l">
              <a:defRPr sz="2250" b="1">
                <a:solidFill>
                  <a:srgbClr val="007F78"/>
                </a:solidFill>
                <a:latin typeface="Arial"/>
                <a:ea typeface="Arial"/>
                <a:cs typeface="Arial"/>
              </a:defRPr>
            </a:pPr>
            <a:r>
              <a:rPr sz="2250" b="1">
                <a:solidFill>
                  <a:srgbClr val="007F78"/>
                </a:solidFill>
                <a:latin typeface="Arial"/>
                <a:ea typeface="Arial"/>
                <a:cs typeface="Arial"/>
              </a:rPr>
              <a:t>29 пар с метками 3, 20 или 22; 5 пар без текста</a:t>
            </a:r>
          </a:p>
        </p:txBody>
      </p:sp>
      <p:sp>
        <p:nvSpPr>
          <p:cNvPr id="6" name="При K = 200: RRF − E5 = +0,00877">
            <a:extLst>
              <a:ext uri="{FF2B5EF4-FFF2-40B4-BE49-F238E27FC236}">
                <a16:creationId xmlns:a16="http://schemas.microsoft.com/office/drawing/2014/main" id="{9CF32D85-4613-482F-8B19-0DEEF1AB81FA}"/>
              </a:ext>
            </a:extLst>
          </p:cNvPr>
          <p:cNvSpPr>
            <a:spLocks noGrp="1"/>
          </p:cNvSpPr>
          <p:nvPr/>
        </p:nvSpPr>
        <p:spPr>
          <a:xfrm>
            <a:off x="609600" y="5629275"/>
            <a:ext cx="10972800" cy="400050"/>
          </a:xfrm>
          <a:prstGeom prst="rect">
            <a:avLst/>
          </a:prstGeom>
          <a:noFill/>
          <a:ln w="0">
            <a:noFill/>
          </a:ln>
        </p:spPr>
        <p:txBody>
          <a:bodyPr wrap="square" lIns="0" tIns="0" rIns="0" bIns="0" anchor="t">
            <a:noAutofit/>
          </a:body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Затронуты 23 запроса. После исключения осталось 1 156.</a:t>
            </a:r>
          </a:p>
        </p:txBody>
      </p:sp>
      <p:sp>
        <p:nvSpPr>
          <p:cNvPr id="7" name="Проверки исключением не заменяют независимую руч">
            <a:extLst>
              <a:ext uri="{FF2B5EF4-FFF2-40B4-BE49-F238E27FC236}">
                <a16:creationId xmlns:a16="http://schemas.microsoft.com/office/drawing/2014/main" id="{CDBB4910-106E-4D8F-B12B-42CCE277D5C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dirty="0" err="1">
                <a:solidFill>
                  <a:srgbClr val="526970"/>
                </a:solidFill>
                <a:latin typeface="Arial"/>
                <a:ea typeface="Arial"/>
                <a:cs typeface="Arial"/>
              </a:rPr>
              <a:t>Коды</a:t>
            </a:r>
            <a:r>
              <a:rPr sz="1575" b="0" dirty="0">
                <a:solidFill>
                  <a:srgbClr val="526970"/>
                </a:solidFill>
                <a:latin typeface="Arial"/>
                <a:ea typeface="Arial"/>
                <a:cs typeface="Arial"/>
              </a:rPr>
              <a:t> </a:t>
            </a:r>
            <a:r>
              <a:rPr sz="1575" b="0" dirty="0" err="1">
                <a:solidFill>
                  <a:srgbClr val="526970"/>
                </a:solidFill>
                <a:latin typeface="Arial"/>
                <a:ea typeface="Arial"/>
                <a:cs typeface="Arial"/>
              </a:rPr>
              <a:t>вне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шкалы</a:t>
            </a:r>
            <a:r>
              <a:rPr sz="1575" b="0" dirty="0">
                <a:solidFill>
                  <a:srgbClr val="526970"/>
                </a:solidFill>
                <a:latin typeface="Arial"/>
                <a:ea typeface="Arial"/>
                <a:cs typeface="Arial"/>
              </a:rPr>
              <a:t> 0/1/2 </a:t>
            </a:r>
            <a:r>
              <a:rPr sz="1575" b="0" dirty="0" err="1">
                <a:solidFill>
                  <a:srgbClr val="526970"/>
                </a:solidFill>
                <a:latin typeface="Arial"/>
                <a:ea typeface="Arial"/>
                <a:cs typeface="Arial"/>
              </a:rPr>
              <a:t>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считали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подтвержденными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оценками</a:t>
            </a:r>
            <a:r>
              <a:rPr sz="1575" b="0" dirty="0">
                <a:solidFill>
                  <a:srgbClr val="526970"/>
                </a:solidFill>
                <a:latin typeface="Arial"/>
                <a:ea typeface="Arial"/>
                <a:cs typeface="Arial"/>
              </a:rPr>
              <a:t>.</a:t>
            </a:r>
          </a:p>
        </p:txBody>
      </p:sp>
    </p:spTree>
    <p:extLst>
      <p:ext uri="{BB962C8B-B14F-4D97-AF65-F5344CB8AC3E}">
        <p14:creationId xmlns:p14="http://schemas.microsoft.com/office/powerpoint/2010/main" val="686037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Следующий шаг: судья с эталонным ответом">
            <a:extLst>
              <a:ext uri="{FF2B5EF4-FFF2-40B4-BE49-F238E27FC236}">
                <a16:creationId xmlns:a16="http://schemas.microsoft.com/office/drawing/2014/main" id="{8BB88DBE-1FA1-4812-A58B-00395E190D0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Судья с эталонным ответом</a:t>
            </a:r>
          </a:p>
        </p:txBody>
      </p:sp>
      <p:sp>
        <p:nvSpPr>
          <p:cNvPr id="2" name="РЕЗЕРВ 5">
            <a:extLst>
              <a:ext uri="{FF2B5EF4-FFF2-40B4-BE49-F238E27FC236}">
                <a16:creationId xmlns:a16="http://schemas.microsoft.com/office/drawing/2014/main" id="{1C286169-48C8-4BF7-B807-41C16EF962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a:ext uri="{FF2B5EF4-FFF2-40B4-BE49-F238E27FC236}">
                <a16:creationId xmlns:a16="http://schemas.microsoft.com/office/drawing/2014/main" id="{E3C7D543-2F1E-43A6-BC62-EBAB217B6D65}"/>
              </a:ext>
            </a:extLst>
          </p:cNvPr>
          <p:cNvSpPr>
            <a:spLocks noGrp="1"/>
          </p:cNvSpPr>
          <p:nvPr/>
        </p:nvSpPr>
        <p:spPr>
          <a:xfrm>
            <a:off x="609600" y="1752600"/>
            <a:ext cx="10477500" cy="419100"/>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a:ext uri="{FF2B5EF4-FFF2-40B4-BE49-F238E27FC236}">
                <a16:creationId xmlns:a16="http://schemas.microsoft.com/office/drawing/2014/main" id="{90118D05-C33A-416F-8B29-520EE248E66E}"/>
              </a:ext>
            </a:extLst>
          </p:cNvPr>
          <p:cNvSpPr>
            <a:spLocks noGrp="1"/>
          </p:cNvSpPr>
          <p:nvPr/>
        </p:nvSpPr>
        <p:spPr>
          <a:xfrm>
            <a:off x="609600" y="2476500"/>
            <a:ext cx="4695825" cy="16764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a:ext uri="{FF2B5EF4-FFF2-40B4-BE49-F238E27FC236}">
                <a16:creationId xmlns:a16="http://schemas.microsoft.com/office/drawing/2014/main" id="{30F17433-3B9E-4FAE-A8FA-52B6AA615CC4}"/>
              </a:ext>
            </a:extLst>
          </p:cNvPr>
          <p:cNvSpPr>
            <a:spLocks noGrp="1"/>
          </p:cNvSpPr>
          <p:nvPr/>
        </p:nvSpPr>
        <p:spPr>
          <a:xfrm>
            <a:off x="6496050" y="2476500"/>
            <a:ext cx="4791075" cy="1676400"/>
          </a:xfrm>
          <a:prstGeom prst="rect">
            <a:avLst/>
          </a:prstGeom>
          <a:solidFill>
            <a:srgbClr val="E3F0ED"/>
          </a:solidFill>
          <a:ln w="11430">
            <a:solidFill>
              <a:srgbClr val="D4E1E0"/>
            </a:solidFill>
          </a:ln>
        </p:spPr>
        <p:txBody>
          <a:bodyPr lIns="133350" tIns="114300" rIns="133350" bIns="114300" anchor="ctr">
            <a:noAutofit/>
          </a:bodyPr>
          <a:lstStyle/>
          <a:p>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Прямая со стрелкой 13"/>
          <p:cNvCxnSpPr>
            <a:stCxn id="4" idx="3"/>
            <a:endCxn id="5" idx="1"/>
          </p:cNvCxnSpPr>
          <p:nvPr/>
        </p:nvCxnSpPr>
        <p:spPr>
          <a:xfrm>
            <a:off x="5305425" y="3314700"/>
            <a:ext cx="1190625" cy="0"/>
          </a:xfrm>
          <a:prstGeom prst="straightConnector1">
            <a:avLst/>
          </a:prstGeom>
          <a:ln w="28575">
            <a:solidFill>
              <a:srgbClr val="526970"/>
            </a:solidFill>
            <a:tailEnd type="triangle" w="med" len="med"/>
          </a:ln>
        </p:spPr>
      </p:cxnSp>
      <p:sp>
        <p:nvSpPr>
          <p:cNvPr id="7" name="Сравнение более сильных судей&#10;по независимым чел">
            <a:extLst>
              <a:ext uri="{FF2B5EF4-FFF2-40B4-BE49-F238E27FC236}">
                <a16:creationId xmlns:a16="http://schemas.microsoft.com/office/drawing/2014/main" id="{A105146A-D8EA-4210-99A3-4C12DEC0F712}"/>
              </a:ext>
            </a:extLst>
          </p:cNvPr>
          <p:cNvSpPr>
            <a:spLocks noGrp="1"/>
          </p:cNvSpPr>
          <p:nvPr/>
        </p:nvSpPr>
        <p:spPr>
          <a:xfrm>
            <a:off x="609600" y="4848225"/>
            <a:ext cx="10972800" cy="809625"/>
          </a:xfrm>
          <a:prstGeom prst="rect">
            <a:avLst/>
          </a:prstGeom>
          <a:noFill/>
          <a:ln w="0">
            <a:noFill/>
          </a:ln>
        </p:spPr>
        <p:txBody>
          <a:bodyPr wrap="square" lIns="0" tIns="0" rIns="0" bIns="0" anchor="t">
            <a:noAutofit/>
          </a:bodyPr>
          <a:lstStyle/>
          <a:p>
            <a:pPr algn="l">
              <a:defRPr sz="2475" b="1">
                <a:solidFill>
                  <a:srgbClr val="007F78"/>
                </a:solidFill>
                <a:latin typeface="Arial"/>
                <a:ea typeface="Arial"/>
                <a:cs typeface="Arial"/>
              </a:defRPr>
            </a:pPr>
            <a:r>
              <a:rPr sz="2475" b="1" dirty="0" err="1">
                <a:solidFill>
                  <a:srgbClr val="007F78"/>
                </a:solidFill>
                <a:latin typeface="Arial"/>
                <a:ea typeface="Arial"/>
                <a:cs typeface="Arial"/>
              </a:rPr>
              <a:t>Сравнение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более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сильных</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судей</a:t>
            </a:r>
            <a:endParaRPr sz="2475" b="1" dirty="0">
              <a:solidFill>
                <a:srgbClr val="007F78"/>
              </a:solidFill>
              <a:latin typeface="Arial"/>
              <a:ea typeface="Arial"/>
              <a:cs typeface="Arial"/>
            </a:endParaRPr>
          </a:p>
          <a:p>
            <a:pPr algn="l">
              <a:defRPr sz="2475" b="1">
                <a:solidFill>
                  <a:srgbClr val="007F78"/>
                </a:solidFill>
                <a:latin typeface="Arial"/>
                <a:ea typeface="Arial"/>
                <a:cs typeface="Arial"/>
              </a:defRPr>
            </a:pPr>
            <a:r>
              <a:rPr sz="2475" b="1" dirty="0" err="1">
                <a:solidFill>
                  <a:srgbClr val="007F78"/>
                </a:solidFill>
                <a:latin typeface="Arial"/>
                <a:ea typeface="Arial"/>
                <a:cs typeface="Arial"/>
              </a:rPr>
              <a:t>по</a:t>
            </a:r>
            <a:r>
              <a:rPr sz="2475" b="1" dirty="0">
                <a:solidFill>
                  <a:srgbClr val="007F78"/>
                </a:solidFill>
                <a:latin typeface="Arial"/>
                <a:ea typeface="Arial"/>
                <a:cs typeface="Arial"/>
              </a:rPr>
              <a:t> </a:t>
            </a:r>
            <a:r>
              <a:rPr sz="2475" b="1" dirty="0" err="1">
                <a:solidFill>
                  <a:srgbClr val="007F78"/>
                </a:solidFill>
                <a:latin typeface="Arial"/>
                <a:ea typeface="Arial"/>
                <a:cs typeface="Arial"/>
              </a:rPr>
              <a:t>независимым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человеческим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оценкам</a:t>
            </a:r>
            <a:endParaRPr sz="2475" b="1" dirty="0">
              <a:solidFill>
                <a:srgbClr val="007F78"/>
              </a:solidFill>
              <a:latin typeface="Arial"/>
              <a:ea typeface="Arial"/>
              <a:cs typeface="Arial"/>
            </a:endParaRPr>
          </a:p>
        </p:txBody>
      </p:sp>
      <p:sp>
        <p:nvSpPr>
          <p:cNvPr id="8" name="Запланированный эксперимент. Результаты для тако">
            <a:extLst>
              <a:ext uri="{FF2B5EF4-FFF2-40B4-BE49-F238E27FC236}">
                <a16:creationId xmlns:a16="http://schemas.microsoft.com/office/drawing/2014/main" id="{E0AF8946-8C97-46ED-8055-EDF230D8EF77}"/>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endParaRPr lang="ru-RU" sz="1575" b="0" dirty="0">
              <a:solidFill>
                <a:srgbClr val="526970"/>
              </a:solidFill>
              <a:latin typeface="Arial"/>
              <a:ea typeface="Arial"/>
              <a:cs typeface="Arial"/>
            </a:endParaRPr>
          </a:p>
        </p:txBody>
      </p:sp>
    </p:spTree>
    <p:extLst>
      <p:ext uri="{BB962C8B-B14F-4D97-AF65-F5344CB8AC3E}">
        <p14:creationId xmlns:p14="http://schemas.microsoft.com/office/powerpoint/2010/main" val="15179722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6932</Words>
  <Application>Microsoft Macintosh PowerPoint</Application>
  <DocSecurity>0</DocSecurity>
  <PresentationFormat>Широкоэкранный</PresentationFormat>
  <Paragraphs>582</Paragraphs>
  <Slides>26</Slides>
  <Notes>26</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26</vt:i4>
      </vt:variant>
    </vt:vector>
  </HeadingPairs>
  <TitlesOfParts>
    <vt:vector size="29" baseType="lpstr">
      <vt:lpstr>Arial</vt:lpstr>
      <vt:lpstr>Calibri</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Re-annotation and Controlled Candidate Pools for Re-evaluating Ranking Models on MS MARCO</dc:title>
  <dc:subject>Доклад на конференции DAMDID 2026</dc:subject>
  <dc:creator/>
  <cp:lastModifiedBy/>
  <cp:revision>2</cp:revision>
  <dcterms:created xsi:type="dcterms:W3CDTF"/>
  <dcterms:modified xsi:type="dcterms:W3CDTF"/>
  <dc:language>ru-RU</dc:language>
</cp:coreProperties>
</file>