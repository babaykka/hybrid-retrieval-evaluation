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Type="http://schemas.openxmlformats.org/package/2006/relationships/metadata/core-properties" Target="/docProps/core.xml" Id="R6b2ce3f9c4e047bd"/><Relationship Type="http://schemas.openxmlformats.org/officeDocument/2006/relationships/extended-properties" Target="/docProps/app.xml" Id="R31b71b07642b4ca1"/><Relationship Type="http://schemas.openxmlformats.org/officeDocument/2006/relationships/officeDocument" Target="/ppt/presentation.xml" Id="R3c7db3e224e049ea"/></Relationships>
</file>

<file path=ppt/presentation.xml><?xml version="1.0" encoding="utf-8"?>
<p:presentation xmlns:p="http://schemas.openxmlformats.org/presentationml/2006/main">
  <p:sldMasterIdLst>
    <p:sldMasterId xmlns:r="http://schemas.openxmlformats.org/officeDocument/2006/relationships" id="2147483648" r:id="R48eecdb52fa64844"/>
  </p:sldMasterIdLst>
  <p:notesMasterIdLst>
    <p:notesMasterId xmlns:r="http://schemas.openxmlformats.org/officeDocument/2006/relationships" r:id="Rb5df17f439d24ede"/>
  </p:notesMasterIdLst>
  <p:sldIdLst>
    <p:sldId xmlns:r="http://schemas.openxmlformats.org/officeDocument/2006/relationships" id="256" r:id="R39cd615cd92643a0"/>
    <p:sldId xmlns:r="http://schemas.openxmlformats.org/officeDocument/2006/relationships" id="257" r:id="R8c7a285e3eef4803"/>
    <p:sldId xmlns:r="http://schemas.openxmlformats.org/officeDocument/2006/relationships" id="258" r:id="R4e06c755c1c64acd"/>
    <p:sldId xmlns:r="http://schemas.openxmlformats.org/officeDocument/2006/relationships" id="259" r:id="R4660445b33604e88"/>
    <p:sldId xmlns:r="http://schemas.openxmlformats.org/officeDocument/2006/relationships" id="260" r:id="R1a66d19ee872432a"/>
    <p:sldId xmlns:r="http://schemas.openxmlformats.org/officeDocument/2006/relationships" id="261" r:id="R9c752702478f4066"/>
    <p:sldId xmlns:r="http://schemas.openxmlformats.org/officeDocument/2006/relationships" id="262" r:id="Rce7a7f2386784917"/>
    <p:sldId xmlns:r="http://schemas.openxmlformats.org/officeDocument/2006/relationships" id="263" r:id="Rc8c543b77a9048d4"/>
    <p:sldId xmlns:r="http://schemas.openxmlformats.org/officeDocument/2006/relationships" id="264" r:id="R57cb18c6cfcc4ba0"/>
    <p:sldId xmlns:r="http://schemas.openxmlformats.org/officeDocument/2006/relationships" id="265" r:id="R3b520d46f660496d"/>
    <p:sldId xmlns:r="http://schemas.openxmlformats.org/officeDocument/2006/relationships" id="266" r:id="R478442837c11499c"/>
    <p:sldId xmlns:r="http://schemas.openxmlformats.org/officeDocument/2006/relationships" id="267" r:id="Rb0a6006c26cb4a66"/>
    <p:sldId xmlns:r="http://schemas.openxmlformats.org/officeDocument/2006/relationships" id="268" r:id="R9915628a0a214c07"/>
    <p:sldId xmlns:r="http://schemas.openxmlformats.org/officeDocument/2006/relationships" id="269" r:id="R22921ee1468c4ac8"/>
    <p:sldId xmlns:r="http://schemas.openxmlformats.org/officeDocument/2006/relationships" id="270" r:id="R555ce8c7aca945ed"/>
    <p:sldId xmlns:r="http://schemas.openxmlformats.org/officeDocument/2006/relationships" id="271" r:id="R91922d9f6237406a"/>
    <p:sldId xmlns:r="http://schemas.openxmlformats.org/officeDocument/2006/relationships" id="272" r:id="Rb8d76aea41ae418b"/>
    <p:sldId xmlns:r="http://schemas.openxmlformats.org/officeDocument/2006/relationships" id="273" r:id="Rdfc3b5d4b07443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09a93651e9154256"/><Relationship Type="http://schemas.openxmlformats.org/officeDocument/2006/relationships/slideMaster" Target="/ppt/slideMasters/slideMaster1.xml" Id="R48eecdb52fa64844"/><Relationship Type="http://schemas.openxmlformats.org/officeDocument/2006/relationships/notesMaster" Target="/ppt/notesMasters/notesMaster1.xml" Id="Rb5df17f439d24ede"/><Relationship Type="http://schemas.openxmlformats.org/officeDocument/2006/relationships/presProps" Target="/ppt/presProps.xml" Id="R49304c6bcdf24f84"/><Relationship Type="http://schemas.openxmlformats.org/officeDocument/2006/relationships/tableStyles" Target="/ppt/tableStyles.xml" Id="Rfae37e89a6aa4948"/><Relationship Type="http://schemas.openxmlformats.org/officeDocument/2006/relationships/slide" Target="/ppt/slides/slide1.xml" Id="R39cd615cd92643a0"/><Relationship Type="http://schemas.openxmlformats.org/officeDocument/2006/relationships/slide" Target="/ppt/slides/slide2.xml" Id="R8c7a285e3eef4803"/><Relationship Type="http://schemas.openxmlformats.org/officeDocument/2006/relationships/slide" Target="/ppt/slides/slide3.xml" Id="R4e06c755c1c64acd"/><Relationship Type="http://schemas.openxmlformats.org/officeDocument/2006/relationships/slide" Target="/ppt/slides/slide4.xml" Id="R4660445b33604e88"/><Relationship Type="http://schemas.openxmlformats.org/officeDocument/2006/relationships/slide" Target="/ppt/slides/slide5.xml" Id="R1a66d19ee872432a"/><Relationship Type="http://schemas.openxmlformats.org/officeDocument/2006/relationships/slide" Target="/ppt/slides/slide6.xml" Id="R9c752702478f4066"/><Relationship Type="http://schemas.openxmlformats.org/officeDocument/2006/relationships/slide" Target="/ppt/slides/slide7.xml" Id="Rce7a7f2386784917"/><Relationship Type="http://schemas.openxmlformats.org/officeDocument/2006/relationships/slide" Target="/ppt/slides/slide8.xml" Id="Rc8c543b77a9048d4"/><Relationship Type="http://schemas.openxmlformats.org/officeDocument/2006/relationships/slide" Target="/ppt/slides/slide9.xml" Id="R57cb18c6cfcc4ba0"/><Relationship Type="http://schemas.openxmlformats.org/officeDocument/2006/relationships/slide" Target="/ppt/slides/slide10.xml" Id="R3b520d46f660496d"/><Relationship Type="http://schemas.openxmlformats.org/officeDocument/2006/relationships/slide" Target="/ppt/slides/slide11.xml" Id="R478442837c11499c"/><Relationship Type="http://schemas.openxmlformats.org/officeDocument/2006/relationships/slide" Target="/ppt/slides/slide12.xml" Id="Rb0a6006c26cb4a66"/><Relationship Type="http://schemas.openxmlformats.org/officeDocument/2006/relationships/slide" Target="/ppt/slides/slide13.xml" Id="R9915628a0a214c07"/><Relationship Type="http://schemas.openxmlformats.org/officeDocument/2006/relationships/slide" Target="/ppt/slides/slide14.xml" Id="R22921ee1468c4ac8"/><Relationship Type="http://schemas.openxmlformats.org/officeDocument/2006/relationships/slide" Target="/ppt/slides/slide15.xml" Id="R555ce8c7aca945ed"/><Relationship Type="http://schemas.openxmlformats.org/officeDocument/2006/relationships/slide" Target="/ppt/slides/slide16.xml" Id="R91922d9f6237406a"/><Relationship Type="http://schemas.openxmlformats.org/officeDocument/2006/relationships/slide" Target="/ppt/slides/slide17.xml" Id="Rb8d76aea41ae418b"/><Relationship Type="http://schemas.openxmlformats.org/officeDocument/2006/relationships/slide" Target="/ppt/slides/slide18.xml" Id="Rdfc3b5d4b074435a"/></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2ad2c46875b242e3"/></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54a4f6e48ddd42ed"/><Relationship Type="http://schemas.openxmlformats.org/officeDocument/2006/relationships/notesMaster" Target="/ppt/notesMasters/notesMaster1.xml" Id="R80778152a41a4907"/></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b4b7ab1c0f0a487a"/><Relationship Type="http://schemas.openxmlformats.org/officeDocument/2006/relationships/notesMaster" Target="/ppt/notesMasters/notesMaster1.xml" Id="R6288e0b534fd45b9"/></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e9ab2e7cc0824d86"/><Relationship Type="http://schemas.openxmlformats.org/officeDocument/2006/relationships/notesMaster" Target="/ppt/notesMasters/notesMaster1.xml" Id="R9a20c67163284ed3"/></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8255c972e2024028"/><Relationship Type="http://schemas.openxmlformats.org/officeDocument/2006/relationships/notesMaster" Target="/ppt/notesMasters/notesMaster1.xml" Id="R74fc01da96554f01"/></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8e0cb90554734907"/><Relationship Type="http://schemas.openxmlformats.org/officeDocument/2006/relationships/notesMaster" Target="/ppt/notesMasters/notesMaster1.xml" Id="R757f18d3a13e4660"/></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b2edea4939194189"/><Relationship Type="http://schemas.openxmlformats.org/officeDocument/2006/relationships/notesMaster" Target="/ppt/notesMasters/notesMaster1.xml" Id="R3999fe0313f04e2c"/></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99634472ab864c8e"/><Relationship Type="http://schemas.openxmlformats.org/officeDocument/2006/relationships/notesMaster" Target="/ppt/notesMasters/notesMaster1.xml" Id="R6d5ca16a88704a42"/></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8379ba713a8f49de"/><Relationship Type="http://schemas.openxmlformats.org/officeDocument/2006/relationships/notesMaster" Target="/ppt/notesMasters/notesMaster1.xml" Id="Raa6a9d31a56e4086"/></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ed8cc0844387487e"/><Relationship Type="http://schemas.openxmlformats.org/officeDocument/2006/relationships/notesMaster" Target="/ppt/notesMasters/notesMaster1.xml" Id="Rb38d598be01649ed"/></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958a26af56564aca"/><Relationship Type="http://schemas.openxmlformats.org/officeDocument/2006/relationships/notesMaster" Target="/ppt/notesMasters/notesMaster1.xml" Id="R7d7fc1fdbbf14038"/></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2c8097785c6443d9"/><Relationship Type="http://schemas.openxmlformats.org/officeDocument/2006/relationships/notesMaster" Target="/ppt/notesMasters/notesMaster1.xml" Id="R3cd5a1306ba849e3"/></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41559fd1462c4152"/><Relationship Type="http://schemas.openxmlformats.org/officeDocument/2006/relationships/notesMaster" Target="/ppt/notesMasters/notesMaster1.xml" Id="R3466839ddd374ace"/></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76b2e3eafad14bfa"/><Relationship Type="http://schemas.openxmlformats.org/officeDocument/2006/relationships/notesMaster" Target="/ppt/notesMasters/notesMaster1.xml" Id="R472b47acfa5a403d"/></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2bb5ded27b1d4170"/><Relationship Type="http://schemas.openxmlformats.org/officeDocument/2006/relationships/notesMaster" Target="/ppt/notesMasters/notesMaster1.xml" Id="R515cfef163ee4a58"/></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27cf640aa60c4a47"/><Relationship Type="http://schemas.openxmlformats.org/officeDocument/2006/relationships/notesMaster" Target="/ppt/notesMasters/notesMaster1.xml" Id="Re1cb53551af84f40"/></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4456e002eb364bde"/><Relationship Type="http://schemas.openxmlformats.org/officeDocument/2006/relationships/notesMaster" Target="/ppt/notesMasters/notesMaster1.xml" Id="Ra2c5a15c41d94be6"/></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e1cc698a34e4432e"/><Relationship Type="http://schemas.openxmlformats.org/officeDocument/2006/relationships/notesMaster" Target="/ppt/notesMasters/notesMaster1.xml" Id="Rdb500c77ea7e4375"/></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c11bde66d42e4509"/><Relationship Type="http://schemas.openxmlformats.org/officeDocument/2006/relationships/notesMaster" Target="/ppt/notesMasters/notesMaster1.xml" Id="R020e13d63b1e40ca"/></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e1a7b2f836004223"/></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2c37ddc133884e29"/><Relationship Type="http://schemas.openxmlformats.org/officeDocument/2006/relationships/slideLayout" Target="/ppt/slideLayouts/slideLayout1.xml" Id="R7e521e4f45c04769"/></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521e4f45c047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8ec4a90983ac406a"/><Relationship Type="http://schemas.openxmlformats.org/officeDocument/2006/relationships/image" Target="/ppt/media/image.png" Id="R1323499456be4d50"/><Relationship Type="http://schemas.openxmlformats.org/officeDocument/2006/relationships/notesSlide" Target="/ppt/notesSlides/notesSlide1.xml" Id="Rf483c8e8ac434feb"/></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6fb2accebb884a26"/><Relationship Type="http://schemas.openxmlformats.org/officeDocument/2006/relationships/notesSlide" Target="/ppt/notesSlides/notesSlide2.xml" Id="R920a763b328a420c"/></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fe38d500cb064d98"/><Relationship Type="http://schemas.openxmlformats.org/officeDocument/2006/relationships/notesSlide" Target="/ppt/notesSlides/notesSlide3.xml" Id="Rf02d59a23e904b33"/></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3b5439d0b7044ecd"/><Relationship Type="http://schemas.openxmlformats.org/officeDocument/2006/relationships/notesSlide" Target="/ppt/notesSlides/notesSlide4.xml" Id="R07e99e802d554099"/></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d06da4719bcb4778"/><Relationship Type="http://schemas.openxmlformats.org/officeDocument/2006/relationships/notesSlide" Target="/ppt/notesSlides/notesSlide5.xml" Id="R319c3d3af618419a"/></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9725202b060b49c0"/><Relationship Type="http://schemas.openxmlformats.org/officeDocument/2006/relationships/chart" Target="/ppt/slides/charts/chart1.xml" Id="Rbfc3b94603384b06"/><Relationship Type="http://schemas.openxmlformats.org/officeDocument/2006/relationships/notesSlide" Target="/ppt/notesSlides/notesSlide6.xml" Id="Ra924606563814f6b"/></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c584f6a7f2264df3"/><Relationship Type="http://schemas.openxmlformats.org/officeDocument/2006/relationships/notesSlide" Target="/ppt/notesSlides/notesSlide7.xml" Id="Ref5b1f5f8fc1408f"/></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5d91e939986a4d1f"/><Relationship Type="http://schemas.openxmlformats.org/officeDocument/2006/relationships/chart" Target="/ppt/slides/charts/chart2.xml" Id="R40633a3656ac435c"/><Relationship Type="http://schemas.openxmlformats.org/officeDocument/2006/relationships/notesSlide" Target="/ppt/notesSlides/notesSlide8.xml" Id="Rbafd1d9028ff4e25"/></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e93aa4d07c38442f"/><Relationship Type="http://schemas.openxmlformats.org/officeDocument/2006/relationships/chart" Target="/ppt/slides/charts/chart3.xml" Id="R2cd13fcee4f3474d"/><Relationship Type="http://schemas.openxmlformats.org/officeDocument/2006/relationships/notesSlide" Target="/ppt/notesSlides/notesSlide9.xml" Id="R0031896fc329442a"/></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eb4b1e0712854ac5"/><Relationship Type="http://schemas.openxmlformats.org/officeDocument/2006/relationships/chart" Target="/ppt/slides/charts/chart4.xml" Id="R7c9bb1ce70db4622"/><Relationship Type="http://schemas.openxmlformats.org/officeDocument/2006/relationships/notesSlide" Target="/ppt/notesSlides/notesSlide10.xml" Id="Rc93641f82cb84bfc"/></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5c02d3a1598a4398"/><Relationship Type="http://schemas.openxmlformats.org/officeDocument/2006/relationships/chart" Target="/ppt/slides/charts/chart5.xml" Id="R5fe7dfe9ad824ead"/><Relationship Type="http://schemas.openxmlformats.org/officeDocument/2006/relationships/notesSlide" Target="/ppt/notesSlides/notesSlide11.xml" Id="Rc1bbc69b3c3543cd"/></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0e30f3f7fbe34863"/><Relationship Type="http://schemas.openxmlformats.org/officeDocument/2006/relationships/notesSlide" Target="/ppt/notesSlides/notesSlide12.xml" Id="R47ff5ccc6d064379"/></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28909ea9c19a48d1"/><Relationship Type="http://schemas.openxmlformats.org/officeDocument/2006/relationships/notesSlide" Target="/ppt/notesSlides/notesSlide13.xml" Id="R20ea266beaef4df0"/></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f92776c0bfa44324"/><Relationship Type="http://schemas.openxmlformats.org/officeDocument/2006/relationships/notesSlide" Target="/ppt/notesSlides/notesSlide14.xml" Id="R67f939cecd1949d4"/></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d32f827cb19740af"/><Relationship Type="http://schemas.openxmlformats.org/officeDocument/2006/relationships/notesSlide" Target="/ppt/notesSlides/notesSlide15.xml" Id="R8f905770c8384a3f"/></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a74f558bb26b4760"/><Relationship Type="http://schemas.openxmlformats.org/officeDocument/2006/relationships/notesSlide" Target="/ppt/notesSlides/notesSlide16.xml" Id="R5eabb394575d4e3e"/></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fd46f4894449470c"/><Relationship Type="http://schemas.openxmlformats.org/officeDocument/2006/relationships/notesSlide" Target="/ppt/notesSlides/notesSlide17.xml" Id="R42bff50662fc4101"/></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1f2729534b2b4a04"/><Relationship Type="http://schemas.openxmlformats.org/officeDocument/2006/relationships/notesSlide" Target="/ppt/notesSlides/notesSlide18.xml" Id="R63a032e1bc4d4a5e"/></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Human judgments</c:v>
          </c:tx>
          <c:spPr>
            <a:solidFill xmlns:a="http://schemas.openxmlformats.org/drawingml/2006/main">
              <a:srgbClr val="007F78"/>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Ref>
              <c:f>'Chart Data'!$C$2:$C$6</c:f>
              <c:numCache>
                <c:formatCode>General</c:formatCode>
                <c:ptCount val="5"/>
                <c:pt idx="0">
                  <c:v>-0.02023617</c:v>
                </c:pt>
                <c:pt idx="1">
                  <c:v>-0.01882729</c:v>
                </c:pt>
                <c:pt idx="2">
                  <c:v>-0.01882729</c:v>
                </c:pt>
                <c:pt idx="3">
                  <c:v>-0.01882729</c:v>
                </c:pt>
                <c:pt idx="4">
                  <c:v>-0.01882729</c:v>
                </c:pt>
              </c:numCache>
            </c:numRef>
          </c:xVal>
          <c:yVal>
            <c:numRef>
              <c:f>'Chart Data'!$D$2:$D$6</c:f>
              <c:numCache>
                <c:formatCode>0.000</c:formatCode>
                <c:ptCount val="5"/>
                <c:pt idx="0">
                  <c:v>5</c:v>
                </c:pt>
                <c:pt idx="1">
                  <c:v>5</c:v>
                </c:pt>
                <c:pt idx="2">
                  <c:v>5</c:v>
                </c:pt>
                <c:pt idx="3">
                  <c:v>5</c:v>
                </c:pt>
                <c:pt idx="4">
                  <c:v>5</c:v>
                </c:pt>
              </c:numCache>
            </c:numRef>
          </c:yVal>
          <c:smooth val="0"/>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Ref>
              <c:f>'Chart Data'!$E$2:$E$6</c:f>
              <c:numCache>
                <c:formatCode>General</c:formatCode>
                <c:ptCount val="5"/>
                <c:pt idx="0">
                  <c:v>0.01021579</c:v>
                </c:pt>
                <c:pt idx="1">
                  <c:v>0.01150741</c:v>
                </c:pt>
                <c:pt idx="2">
                  <c:v>0.01150741</c:v>
                </c:pt>
                <c:pt idx="3">
                  <c:v>0.01150741</c:v>
                </c:pt>
                <c:pt idx="4">
                  <c:v>0.01150741</c:v>
                </c:pt>
              </c:numCache>
            </c:numRef>
          </c:xVal>
          <c:yVal>
            <c:numRef>
              <c:f>'Chart Data'!$F$2:$F$6</c:f>
              <c:numCache>
                <c:formatCode>0.000</c:formatCode>
                <c:ptCount val="5"/>
                <c:pt idx="0">
                  <c:v>4</c:v>
                </c:pt>
                <c:pt idx="1">
                  <c:v>4</c:v>
                </c:pt>
                <c:pt idx="2">
                  <c:v>4</c:v>
                </c:pt>
                <c:pt idx="3">
                  <c:v>4</c:v>
                </c:pt>
                <c:pt idx="4">
                  <c:v>4</c:v>
                </c:pt>
              </c:numCache>
            </c:numRef>
          </c:yVal>
          <c:smooth val="0"/>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Ref>
              <c:f>'Chart Data'!$G$2:$G$6</c:f>
              <c:numCache>
                <c:formatCode>General</c:formatCode>
                <c:ptCount val="5"/>
                <c:pt idx="0">
                  <c:v>0.00784398</c:v>
                </c:pt>
                <c:pt idx="1">
                  <c:v>0.00925389</c:v>
                </c:pt>
                <c:pt idx="2">
                  <c:v>0.00925389</c:v>
                </c:pt>
                <c:pt idx="3">
                  <c:v>0.00925389</c:v>
                </c:pt>
                <c:pt idx="4">
                  <c:v>0.00925389</c:v>
                </c:pt>
              </c:numCache>
            </c:numRef>
          </c:xVal>
          <c:yVal>
            <c:numRef>
              <c:f>'Chart Data'!$H$2:$H$6</c:f>
              <c:numCache>
                <c:formatCode>0.000</c:formatCode>
                <c:ptCount val="5"/>
                <c:pt idx="0">
                  <c:v>3</c:v>
                </c:pt>
                <c:pt idx="1">
                  <c:v>3</c:v>
                </c:pt>
                <c:pt idx="2">
                  <c:v>3</c:v>
                </c:pt>
                <c:pt idx="3">
                  <c:v>3</c:v>
                </c:pt>
                <c:pt idx="4">
                  <c:v>3</c:v>
                </c:pt>
              </c:numCache>
            </c:numRef>
          </c:yVal>
          <c:smooth val="0"/>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Data'!$I$2:$I$6</c:f>
              <c:numCache>
                <c:formatCode>General</c:formatCode>
                <c:ptCount val="5"/>
                <c:pt idx="0">
                  <c:v>0.00701006</c:v>
                </c:pt>
                <c:pt idx="1">
                  <c:v>0.00843288</c:v>
                </c:pt>
                <c:pt idx="2">
                  <c:v>0.00843288</c:v>
                </c:pt>
                <c:pt idx="3">
                  <c:v>0.00843288</c:v>
                </c:pt>
                <c:pt idx="4">
                  <c:v>0.00843288</c:v>
                </c:pt>
              </c:numCache>
            </c:numRef>
          </c:xVal>
          <c:yVal>
            <c:numRef>
              <c:f>'Chart Data'!$J$2:$J$6</c:f>
              <c:numCache>
                <c:formatCode>0.000</c:formatCode>
                <c:ptCount val="5"/>
                <c:pt idx="0">
                  <c:v>2</c:v>
                </c:pt>
                <c:pt idx="1">
                  <c:v>2</c:v>
                </c:pt>
                <c:pt idx="2">
                  <c:v>2</c:v>
                </c:pt>
                <c:pt idx="3">
                  <c:v>2</c:v>
                </c:pt>
                <c:pt idx="4">
                  <c:v>2</c:v>
                </c:pt>
              </c:numCache>
            </c:numRef>
          </c:yVal>
          <c:smooth val="0"/>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Data'!$K$2:$K$6</c:f>
              <c:numCache>
                <c:formatCode>General</c:formatCode>
                <c:ptCount val="5"/>
                <c:pt idx="0">
                  <c:v>0.0081588</c:v>
                </c:pt>
                <c:pt idx="1">
                  <c:v>0.00953703</c:v>
                </c:pt>
                <c:pt idx="2">
                  <c:v>0.00953703</c:v>
                </c:pt>
                <c:pt idx="3">
                  <c:v>0.00953703</c:v>
                </c:pt>
                <c:pt idx="4">
                  <c:v>0.00953703</c:v>
                </c:pt>
              </c:numCache>
            </c:numRef>
          </c:xVal>
          <c:yVal>
            <c:numRef>
              <c:f>'Chart Data'!$L$2:$L$6</c:f>
              <c:numCache>
                <c:formatCode>0.000</c:formatCode>
                <c:ptCount val="5"/>
                <c:pt idx="0">
                  <c:v>1</c:v>
                </c:pt>
                <c:pt idx="1">
                  <c:v>1</c:v>
                </c:pt>
                <c:pt idx="2">
                  <c:v>1</c:v>
                </c:pt>
                <c:pt idx="3">
                  <c:v>1</c:v>
                </c:pt>
                <c:pt idx="4">
                  <c:v>1</c:v>
                </c:pt>
              </c:numCache>
            </c:numRef>
          </c:yVal>
          <c:smooth val="0"/>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Data'!$M$2:$M$6</c:f>
              <c:numCache>
                <c:formatCode>General</c:formatCode>
                <c:ptCount val="5"/>
                <c:pt idx="0">
                  <c:v>-0.02023617</c:v>
                </c:pt>
                <c:pt idx="1">
                  <c:v>-0.02023617</c:v>
                </c:pt>
                <c:pt idx="2">
                  <c:v>-0.02023617</c:v>
                </c:pt>
                <c:pt idx="3">
                  <c:v>-0.02023617</c:v>
                </c:pt>
                <c:pt idx="4">
                  <c:v>-0.02023617</c:v>
                </c:pt>
              </c:numCache>
            </c:numRef>
          </c:xVal>
          <c:yVal>
            <c:numRef>
              <c:f>'Chart Data'!$N$2:$N$6</c:f>
              <c:numCache>
                <c:formatCode>0.000</c:formatCode>
                <c:ptCount val="5"/>
                <c:pt idx="0">
                  <c:v>4.935</c:v>
                </c:pt>
                <c:pt idx="1">
                  <c:v>5.065</c:v>
                </c:pt>
                <c:pt idx="2">
                  <c:v>5.065</c:v>
                </c:pt>
                <c:pt idx="3">
                  <c:v>5.065</c:v>
                </c:pt>
                <c:pt idx="4">
                  <c:v>5.065</c:v>
                </c:pt>
              </c:numCache>
            </c:numRef>
          </c:yVal>
          <c:smooth val="0"/>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Data'!$O$2:$O$6</c:f>
              <c:numCache>
                <c:formatCode>General</c:formatCode>
                <c:ptCount val="5"/>
                <c:pt idx="0">
                  <c:v>-0.01882729</c:v>
                </c:pt>
                <c:pt idx="1">
                  <c:v>-0.01882729</c:v>
                </c:pt>
                <c:pt idx="2">
                  <c:v>-0.01882729</c:v>
                </c:pt>
                <c:pt idx="3">
                  <c:v>-0.01882729</c:v>
                </c:pt>
                <c:pt idx="4">
                  <c:v>-0.01882729</c:v>
                </c:pt>
              </c:numCache>
            </c:numRef>
          </c:xVal>
          <c:yVal>
            <c:numRef>
              <c:f>'Chart Data'!$P$2:$P$6</c:f>
              <c:numCache>
                <c:formatCode>0.000</c:formatCode>
                <c:ptCount val="5"/>
                <c:pt idx="0">
                  <c:v>4.935</c:v>
                </c:pt>
                <c:pt idx="1">
                  <c:v>5.065</c:v>
                </c:pt>
                <c:pt idx="2">
                  <c:v>5.065</c:v>
                </c:pt>
                <c:pt idx="3">
                  <c:v>5.065</c:v>
                </c:pt>
                <c:pt idx="4">
                  <c:v>5.065</c:v>
                </c:pt>
              </c:numCache>
            </c:numRef>
          </c:yVal>
          <c:smooth val="0"/>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Data'!$Q$2:$Q$6</c:f>
              <c:numCache>
                <c:formatCode>General</c:formatCode>
                <c:ptCount val="5"/>
                <c:pt idx="0">
                  <c:v>0.01021579</c:v>
                </c:pt>
                <c:pt idx="1">
                  <c:v>0.01021579</c:v>
                </c:pt>
                <c:pt idx="2">
                  <c:v>0.01021579</c:v>
                </c:pt>
                <c:pt idx="3">
                  <c:v>0.01021579</c:v>
                </c:pt>
                <c:pt idx="4">
                  <c:v>0.01021579</c:v>
                </c:pt>
              </c:numCache>
            </c:numRef>
          </c:xVal>
          <c:yVal>
            <c:numRef>
              <c:f>'Chart Data'!$R$2:$R$6</c:f>
              <c:numCache>
                <c:formatCode>0.000</c:formatCode>
                <c:ptCount val="5"/>
                <c:pt idx="0">
                  <c:v>3.935</c:v>
                </c:pt>
                <c:pt idx="1">
                  <c:v>4.065</c:v>
                </c:pt>
                <c:pt idx="2">
                  <c:v>4.065</c:v>
                </c:pt>
                <c:pt idx="3">
                  <c:v>4.065</c:v>
                </c:pt>
                <c:pt idx="4">
                  <c:v>4.065</c:v>
                </c:pt>
              </c:numCache>
            </c:numRef>
          </c:yVal>
          <c:smooth val="0"/>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Data'!$S$2:$S$6</c:f>
              <c:numCache>
                <c:formatCode>General</c:formatCode>
                <c:ptCount val="5"/>
                <c:pt idx="0">
                  <c:v>0.01150741</c:v>
                </c:pt>
                <c:pt idx="1">
                  <c:v>0.01150741</c:v>
                </c:pt>
                <c:pt idx="2">
                  <c:v>0.01150741</c:v>
                </c:pt>
                <c:pt idx="3">
                  <c:v>0.01150741</c:v>
                </c:pt>
                <c:pt idx="4">
                  <c:v>0.01150741</c:v>
                </c:pt>
              </c:numCache>
            </c:numRef>
          </c:xVal>
          <c:yVal>
            <c:numRef>
              <c:f>'Chart Data'!$T$2:$T$6</c:f>
              <c:numCache>
                <c:formatCode>0.000</c:formatCode>
                <c:ptCount val="5"/>
                <c:pt idx="0">
                  <c:v>3.935</c:v>
                </c:pt>
                <c:pt idx="1">
                  <c:v>4.065</c:v>
                </c:pt>
                <c:pt idx="2">
                  <c:v>4.065</c:v>
                </c:pt>
                <c:pt idx="3">
                  <c:v>4.065</c:v>
                </c:pt>
                <c:pt idx="4">
                  <c:v>4.065</c:v>
                </c:pt>
              </c:numCache>
            </c:numRef>
          </c:yVal>
          <c:smooth val="0"/>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Data'!$U$2:$U$6</c:f>
              <c:numCache>
                <c:formatCode>General</c:formatCode>
                <c:ptCount val="5"/>
                <c:pt idx="0">
                  <c:v>0.00784398</c:v>
                </c:pt>
                <c:pt idx="1">
                  <c:v>0.00784398</c:v>
                </c:pt>
                <c:pt idx="2">
                  <c:v>0.00784398</c:v>
                </c:pt>
                <c:pt idx="3">
                  <c:v>0.00784398</c:v>
                </c:pt>
                <c:pt idx="4">
                  <c:v>0.00784398</c:v>
                </c:pt>
              </c:numCache>
            </c:numRef>
          </c:xVal>
          <c:yVal>
            <c:numRef>
              <c:f>'Chart Data'!$V$2:$V$6</c:f>
              <c:numCache>
                <c:formatCode>0.000</c:formatCode>
                <c:ptCount val="5"/>
                <c:pt idx="0">
                  <c:v>2.935</c:v>
                </c:pt>
                <c:pt idx="1">
                  <c:v>3.065</c:v>
                </c:pt>
                <c:pt idx="2">
                  <c:v>3.065</c:v>
                </c:pt>
                <c:pt idx="3">
                  <c:v>3.065</c:v>
                </c:pt>
                <c:pt idx="4">
                  <c:v>3.065</c:v>
                </c:pt>
              </c:numCache>
            </c:numRef>
          </c:yVal>
          <c:smooth val="0"/>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Data'!$W$2:$W$6</c:f>
              <c:numCache>
                <c:formatCode>General</c:formatCode>
                <c:ptCount val="5"/>
                <c:pt idx="0">
                  <c:v>0.00925389</c:v>
                </c:pt>
                <c:pt idx="1">
                  <c:v>0.00925389</c:v>
                </c:pt>
                <c:pt idx="2">
                  <c:v>0.00925389</c:v>
                </c:pt>
                <c:pt idx="3">
                  <c:v>0.00925389</c:v>
                </c:pt>
                <c:pt idx="4">
                  <c:v>0.00925389</c:v>
                </c:pt>
              </c:numCache>
            </c:numRef>
          </c:xVal>
          <c:yVal>
            <c:numRef>
              <c:f>'Chart Data'!$X$2:$X$6</c:f>
              <c:numCache>
                <c:formatCode>0.000</c:formatCode>
                <c:ptCount val="5"/>
                <c:pt idx="0">
                  <c:v>2.935</c:v>
                </c:pt>
                <c:pt idx="1">
                  <c:v>3.065</c:v>
                </c:pt>
                <c:pt idx="2">
                  <c:v>3.065</c:v>
                </c:pt>
                <c:pt idx="3">
                  <c:v>3.065</c:v>
                </c:pt>
                <c:pt idx="4">
                  <c:v>3.065</c:v>
                </c:pt>
              </c:numCache>
            </c:numRef>
          </c:yVal>
          <c:smooth val="0"/>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Data'!$Y$2:$Y$6</c:f>
              <c:numCache>
                <c:formatCode>General</c:formatCode>
                <c:ptCount val="5"/>
                <c:pt idx="0">
                  <c:v>0.00701006</c:v>
                </c:pt>
                <c:pt idx="1">
                  <c:v>0.00701006</c:v>
                </c:pt>
                <c:pt idx="2">
                  <c:v>0.00701006</c:v>
                </c:pt>
                <c:pt idx="3">
                  <c:v>0.00701006</c:v>
                </c:pt>
                <c:pt idx="4">
                  <c:v>0.00701006</c:v>
                </c:pt>
              </c:numCache>
            </c:numRef>
          </c:xVal>
          <c:yVal>
            <c:numRef>
              <c:f>'Chart Data'!$Z$2:$Z$6</c:f>
              <c:numCache>
                <c:formatCode>0.000</c:formatCode>
                <c:ptCount val="5"/>
                <c:pt idx="0">
                  <c:v>1.935</c:v>
                </c:pt>
                <c:pt idx="1">
                  <c:v>2.065</c:v>
                </c:pt>
                <c:pt idx="2">
                  <c:v>2.065</c:v>
                </c:pt>
                <c:pt idx="3">
                  <c:v>2.065</c:v>
                </c:pt>
                <c:pt idx="4">
                  <c:v>2.065</c:v>
                </c:pt>
              </c:numCache>
            </c:numRef>
          </c:yVal>
          <c:smooth val="0"/>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Data'!$AA$2:$AA$6</c:f>
              <c:numCache>
                <c:formatCode>General</c:formatCode>
                <c:ptCount val="5"/>
                <c:pt idx="0">
                  <c:v>0.00843288</c:v>
                </c:pt>
                <c:pt idx="1">
                  <c:v>0.00843288</c:v>
                </c:pt>
                <c:pt idx="2">
                  <c:v>0.00843288</c:v>
                </c:pt>
                <c:pt idx="3">
                  <c:v>0.00843288</c:v>
                </c:pt>
                <c:pt idx="4">
                  <c:v>0.00843288</c:v>
                </c:pt>
              </c:numCache>
            </c:numRef>
          </c:xVal>
          <c:yVal>
            <c:numRef>
              <c:f>'Chart Data'!$AB$2:$AB$6</c:f>
              <c:numCache>
                <c:formatCode>0.000</c:formatCode>
                <c:ptCount val="5"/>
                <c:pt idx="0">
                  <c:v>1.935</c:v>
                </c:pt>
                <c:pt idx="1">
                  <c:v>2.065</c:v>
                </c:pt>
                <c:pt idx="2">
                  <c:v>2.065</c:v>
                </c:pt>
                <c:pt idx="3">
                  <c:v>2.065</c:v>
                </c:pt>
                <c:pt idx="4">
                  <c:v>2.065</c:v>
                </c:pt>
              </c:numCache>
            </c:numRef>
          </c:yVal>
          <c:smooth val="0"/>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Data'!$AC$2:$AC$6</c:f>
              <c:numCache>
                <c:formatCode>General</c:formatCode>
                <c:ptCount val="5"/>
                <c:pt idx="0">
                  <c:v>0.0081588</c:v>
                </c:pt>
                <c:pt idx="1">
                  <c:v>0.0081588</c:v>
                </c:pt>
                <c:pt idx="2">
                  <c:v>0.0081588</c:v>
                </c:pt>
                <c:pt idx="3">
                  <c:v>0.0081588</c:v>
                </c:pt>
                <c:pt idx="4">
                  <c:v>0.0081588</c:v>
                </c:pt>
              </c:numCache>
            </c:numRef>
          </c:xVal>
          <c:yVal>
            <c:numRef>
              <c:f>'Chart Data'!$AD$2:$AD$6</c:f>
              <c:numCache>
                <c:formatCode>0.000</c:formatCode>
                <c:ptCount val="5"/>
                <c:pt idx="0">
                  <c:v>0.935</c:v>
                </c:pt>
                <c:pt idx="1">
                  <c:v>1.065</c:v>
                </c:pt>
                <c:pt idx="2">
                  <c:v>1.065</c:v>
                </c:pt>
                <c:pt idx="3">
                  <c:v>1.065</c:v>
                </c:pt>
                <c:pt idx="4">
                  <c:v>1.065</c:v>
                </c:pt>
              </c:numCache>
            </c:numRef>
          </c:yVal>
          <c:smooth val="0"/>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Data'!$AE$2:$AE$6</c:f>
              <c:numCache>
                <c:formatCode>General</c:formatCode>
                <c:ptCount val="5"/>
                <c:pt idx="0">
                  <c:v>0.00953703</c:v>
                </c:pt>
                <c:pt idx="1">
                  <c:v>0.00953703</c:v>
                </c:pt>
                <c:pt idx="2">
                  <c:v>0.00953703</c:v>
                </c:pt>
                <c:pt idx="3">
                  <c:v>0.00953703</c:v>
                </c:pt>
                <c:pt idx="4">
                  <c:v>0.00953703</c:v>
                </c:pt>
              </c:numCache>
            </c:numRef>
          </c:xVal>
          <c:yVal>
            <c:numRef>
              <c:f>'Chart Data'!$AF$2:$AF$6</c:f>
              <c:numCache>
                <c:formatCode>0.000</c:formatCode>
                <c:ptCount val="5"/>
                <c:pt idx="0">
                  <c:v>0.935</c:v>
                </c:pt>
                <c:pt idx="1">
                  <c:v>1.065</c:v>
                </c:pt>
                <c:pt idx="2">
                  <c:v>1.065</c:v>
                </c:pt>
                <c:pt idx="3">
                  <c:v>1.065</c:v>
                </c:pt>
                <c:pt idx="4">
                  <c:v>1.065</c:v>
                </c:pt>
              </c:numCache>
            </c:numRef>
          </c:yVal>
          <c:smooth val="0"/>
        </c:ser>
        <c:ser>
          <c:idx val="16"/>
          <c:order val="16"/>
          <c:tx>
            <c:v>Pool depth</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Ref>
              <c:f>'Chart Data'!$AG$2:$AG$6</c:f>
              <c:numCache>
                <c:formatCode>General</c:formatCode>
                <c:ptCount val="5"/>
                <c:pt idx="0">
                  <c:v>-0.03</c:v>
                </c:pt>
                <c:pt idx="1">
                  <c:v>-0.03</c:v>
                </c:pt>
                <c:pt idx="2">
                  <c:v>-0.03</c:v>
                </c:pt>
                <c:pt idx="3">
                  <c:v>-0.03</c:v>
                </c:pt>
                <c:pt idx="4">
                  <c:v>-0.03</c:v>
                </c:pt>
              </c:numCache>
            </c:numRef>
          </c:xVal>
          <c:yVal>
            <c:numRef>
              <c:f>'Chart Data'!$AH$2:$AH$6</c:f>
              <c:numCache>
                <c:formatCode>0.000</c:formatCode>
                <c:ptCount val="5"/>
                <c:pt idx="0">
                  <c:v>5</c:v>
                </c:pt>
                <c:pt idx="1">
                  <c:v>4</c:v>
                </c:pt>
                <c:pt idx="2">
                  <c:v>3</c:v>
                </c:pt>
                <c:pt idx="3">
                  <c:v>2</c:v>
                </c:pt>
                <c:pt idx="4">
                  <c:v>1</c:v>
                </c:pt>
              </c:numCache>
            </c:numRef>
          </c:yVal>
          <c:smooth val="0"/>
        </c:ser>
        <c:ser>
          <c:idx val="17"/>
          <c:order val="17"/>
          <c:tx>
            <c:v>RRF minus E5 (horizontal)</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Ref>
              <c:f>'Chart Data'!$AI$2:$AI$6</c:f>
              <c:numCache>
                <c:formatCode>General</c:formatCode>
                <c:ptCount val="5"/>
                <c:pt idx="0">
                  <c:v>-0.01952103</c:v>
                </c:pt>
                <c:pt idx="1">
                  <c:v>0.01085768</c:v>
                </c:pt>
                <c:pt idx="2">
                  <c:v>0.00854269</c:v>
                </c:pt>
                <c:pt idx="3">
                  <c:v>0.00771191</c:v>
                </c:pt>
                <c:pt idx="4">
                  <c:v>0.00883193</c:v>
                </c:pt>
              </c:numCache>
            </c:numRef>
          </c:xVal>
          <c:yVal>
            <c:numRef>
              <c:f>'Chart Data'!$AJ$2:$AJ$6</c:f>
              <c:numCache>
                <c:formatCode>0.000</c:formatCode>
                <c:ptCount val="5"/>
                <c:pt idx="0">
                  <c:v>5</c:v>
                </c:pt>
                <c:pt idx="1">
                  <c:v>4</c:v>
                </c:pt>
                <c:pt idx="2">
                  <c:v>3</c:v>
                </c:pt>
                <c:pt idx="3">
                  <c:v>2</c:v>
                </c:pt>
                <c:pt idx="4">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3734C435-CC3D-4FA4-9215-DFF97543521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323499456be4d5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E7FF005E-1365-4401-91D5-D41C9F5B81E8}"/>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D225D857-6817-41B1-AB14-52E4063DFB27}"/>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46AB345D-4EA7-4C97-8C11-F2A06DA16C28}"/>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BCC78A55-998F-4152-977E-2F28E31FAB66}"/>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0EC7872A-7C38-40CF-BCA1-E611B4AAEB78}"/>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5246278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B77AE0D9-1615-46F0-A4AC-3CF1844EA73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CE1977F7-368E-46A9-9CD8-EDB3133BC6B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E6B13A6C-918E-4ED9-AC70-167B9F3248F9}"/>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L w="0">
                      <a:noFill/>
                    </a:lnL>
                    <a:lnR w="0">
                      <a:noFill/>
                    </a:lnR>
                    <a:lnT w="0">
                      <a:noFill/>
                    </a:lnT>
                    <a:lnB w="7620">
                      <a:solidFill>
                        <a:srgbClr val="D4E1E0"/>
                      </a:solidFill>
                    </a:lnB>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3B118E99-E34F-47F1-97A8-B7852C53C67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5030612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CA627341-115A-4A9B-BB64-7284D530BA8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C78D521D-B65D-4AD9-B838-533CD20FF9B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AD6B7F8F-2053-491F-ABF2-FCE038E118A3}"/>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D3CF073F-0E70-4B44-AEBD-135A6A15D7A8}"/>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BC95EF97-62F5-4766-8C52-28C6357233F8}"/>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1F48A215-57E8-49B2-8E80-920F98A0F239}"/>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67038490-5903-4144-8113-58B7CF724D77}"/>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30ED89D5-E79E-4669-9ED5-6D9B9316F324}"/>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AD1E7F11-F2F2-4417-8FD8-EE410D7FEF7B}"/>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8BD8E295-3B5D-4DEC-BECA-CD8C177B3D6A}"/>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11D1835D-F905-43AA-9B40-C2F4EFA142FF}"/>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522217E8-88CF-490E-AE3A-0A8CEEE07E7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13100336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0B5C1FE6-E7C2-4F32-8863-AC9E3DDCD9A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CA3620DA-8D60-48A9-8362-BF746C7C3CE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97DF8664-8EFC-45CD-BE18-C53E61AABCDB}"/>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B093F217-F28C-4033-BF03-BB757609815A}"/>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0A2C7CD4-FE4C-4F41-BED3-6EEE40E61ED5}"/>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65C173ED-3C3D-40B1-A3C4-DBE8A611AC73}"/>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900FA02C-CA86-4CAC-9F84-CBCF8F19463F}"/>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1CB42C9D-7C36-4A3F-BE27-1803A22DEA0D}"/>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6E80B248-546E-403A-8C16-C986D9A6AFE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7981818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86F1F5D0-71FE-4F82-918B-158CF7C4AEA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86A93F6F-7870-4B8F-AFC2-BCFBCA9A86E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BACA15A0-68C2-4625-95C8-FB9E46A2D376}"/>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206265E5-C823-4E4B-B515-315224B6F158}"/>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D869E957-BF03-4B81-99EE-481F0FAB1CF0}"/>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E81A7D9D-50BE-421C-B645-C5AF1EDFC148}"/>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03FC7ED7-EE69-4F2B-BC9A-07AE54C34BB0}"/>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9BE8F847-CF13-4CC8-B805-AC2395248A1E}"/>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3E0C0C96-8F9E-47AB-AC1D-E6E4F4A3EC7F}"/>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4BE2597C-4082-496C-90D5-C352E4E95B75}"/>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2A5AF250-FD81-4024-A865-52E484BCE7A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5682394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More judgments change measured NDCG@10">
            <a:extLst xmlns:a="http://schemas.openxmlformats.org/drawingml/2006/main">
              <a:ext uri="{FF2B5EF4-FFF2-40B4-BE49-F238E27FC236}">
                <a16:creationId xmlns:a16="http://schemas.microsoft.com/office/drawing/2014/main" id="{A27DCF24-ED1B-494E-9B15-EB1629B3E44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judgments change measured NDCG@10</a:t>
            </a:r>
          </a:p>
        </p:txBody>
      </p:sp>
      <p:sp>
        <p:nvSpPr>
          <p:cNvPr id="2" name="06">
            <a:extLst xmlns:a="http://schemas.openxmlformats.org/drawingml/2006/main">
              <a:ext uri="{FF2B5EF4-FFF2-40B4-BE49-F238E27FC236}">
                <a16:creationId xmlns:a16="http://schemas.microsoft.com/office/drawing/2014/main" id="{50EB5B6F-289F-488E-A3C1-89AD9C21C32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RRF: reciprocal rank fusion of BM25, E5 and BGE">
            <a:extLst xmlns:a="http://schemas.openxmlformats.org/drawingml/2006/main">
              <a:ext uri="{FF2B5EF4-FFF2-40B4-BE49-F238E27FC236}">
                <a16:creationId xmlns:a16="http://schemas.microsoft.com/office/drawing/2014/main" id="{8C239267-8933-4030-8DD9-0050C94E2789}"/>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reciprocal rank fusion of BM25, E5 and BGE</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bfc3b94603384b06"/>
          </a:graphicData>
        </a:graphic>
      </p:graphicFrame>
      <p:sp>
        <p:nvSpPr>
          <p:cNvPr id="5" name="E5 paired change: +0.391   95% CI [0.365, 0.417]">
            <a:extLst xmlns:a="http://schemas.openxmlformats.org/drawingml/2006/main">
              <a:ext uri="{FF2B5EF4-FFF2-40B4-BE49-F238E27FC236}">
                <a16:creationId xmlns:a16="http://schemas.microsoft.com/office/drawing/2014/main" id="{DFB89622-9C11-4B08-B1B2-23ACD2DB02F2}"/>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6" name="Pooled NDCG@10. Same rankings; shared ideal deno">
            <a:extLst xmlns:a="http://schemas.openxmlformats.org/drawingml/2006/main">
              <a:ext uri="{FF2B5EF4-FFF2-40B4-BE49-F238E27FC236}">
                <a16:creationId xmlns:a16="http://schemas.microsoft.com/office/drawing/2014/main" id="{799C8857-4A73-4C4A-95A9-1049C6D69F4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1420523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 compact judge extends label coverage">
            <a:extLst xmlns:a="http://schemas.openxmlformats.org/drawingml/2006/main">
              <a:ext uri="{FF2B5EF4-FFF2-40B4-BE49-F238E27FC236}">
                <a16:creationId xmlns:a16="http://schemas.microsoft.com/office/drawing/2014/main" id="{77F6552A-F299-46B1-B59F-5A1C9D34429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98583260-1D7D-456D-82EA-CDB7073BEB2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250D492F-C2B3-48DE-92A1-01440D9BDF8D}"/>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Human labels train a judge for larger candidate ">
            <a:extLst xmlns:a="http://schemas.openxmlformats.org/drawingml/2006/main">
              <a:ext uri="{FF2B5EF4-FFF2-40B4-BE49-F238E27FC236}">
                <a16:creationId xmlns:a16="http://schemas.microsoft.com/office/drawing/2014/main" id="{1E086E6E-D40C-41EB-A9A4-39C1853B9A95}"/>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Human labels train a judge for larger candidate pools.</a:t>
            </a:r>
          </a:p>
        </p:txBody>
      </p:sp>
      <p:sp>
        <p:nvSpPr>
          <p:cNvPr id="5" name="MiniLM&#10;cross-encoder">
            <a:extLst xmlns:a="http://schemas.openxmlformats.org/drawingml/2006/main">
              <a:ext uri="{FF2B5EF4-FFF2-40B4-BE49-F238E27FC236}">
                <a16:creationId xmlns:a16="http://schemas.microsoft.com/office/drawing/2014/main" id="{80069760-E3BC-45B3-85C6-563AE6DD4618}"/>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6" name="Score&#10;Pseudo-label">
            <a:extLst xmlns:a="http://schemas.openxmlformats.org/drawingml/2006/main">
              <a:ext uri="{FF2B5EF4-FFF2-40B4-BE49-F238E27FC236}">
                <a16:creationId xmlns:a16="http://schemas.microsoft.com/office/drawing/2014/main" id="{3CF22E28-1313-4427-985D-A208584CA274}"/>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Jointly scores the two texts">
            <a:extLst xmlns:a="http://schemas.openxmlformats.org/drawingml/2006/main">
              <a:ext uri="{FF2B5EF4-FFF2-40B4-BE49-F238E27FC236}">
                <a16:creationId xmlns:a16="http://schemas.microsoft.com/office/drawing/2014/main" id="{7B0B4FAB-69B6-4231-9392-6C036408B9C1}"/>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10" name="">
            <a:extLst xmlns:a="http://schemas.openxmlformats.org/drawingml/2006/main">
              <a:ext uri="{FF2B5EF4-FFF2-40B4-BE49-F238E27FC236}">
                <a16:creationId xmlns:a16="http://schemas.microsoft.com/office/drawing/2014/main" id="{F797BB23-6CB2-4A3C-9B71-64B45DF209D7}"/>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Inputs exclude the reference answer, ranks and r">
            <a:extLst xmlns:a="http://schemas.openxmlformats.org/drawingml/2006/main">
              <a:ext uri="{FF2B5EF4-FFF2-40B4-BE49-F238E27FC236}">
                <a16:creationId xmlns:a16="http://schemas.microsoft.com/office/drawing/2014/main" id="{1E90D72C-9DA9-45AE-AB95-CC1DF0009B9D}"/>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2" name="Pseudo-labels are model predictions.">
            <a:extLst xmlns:a="http://schemas.openxmlformats.org/drawingml/2006/main">
              <a:ext uri="{FF2B5EF4-FFF2-40B4-BE49-F238E27FC236}">
                <a16:creationId xmlns:a16="http://schemas.microsoft.com/office/drawing/2014/main" id="{0672A62F-B280-4F88-AC02-C3C033ACCBF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18903057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Judge agreement on held-out queries">
            <a:extLst xmlns:a="http://schemas.openxmlformats.org/drawingml/2006/main">
              <a:ext uri="{FF2B5EF4-FFF2-40B4-BE49-F238E27FC236}">
                <a16:creationId xmlns:a16="http://schemas.microsoft.com/office/drawing/2014/main" id="{5B3E22B6-1CF2-4E4C-AE3C-3D3DA0C1F64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96DCF790-58F6-484F-9756-EF570C218B5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177 held-out manual-pool queries, 5,002 pairs">
            <a:extLst xmlns:a="http://schemas.openxmlformats.org/drawingml/2006/main">
              <a:ext uri="{FF2B5EF4-FFF2-40B4-BE49-F238E27FC236}">
                <a16:creationId xmlns:a16="http://schemas.microsoft.com/office/drawing/2014/main" id="{CCD7CC19-14FD-4D1E-8651-375101622687}"/>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177 held-out manual-pool queries, 5,002 pairs</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40633a3656ac435c"/>
          </a:graphicData>
        </a:graphic>
      </p:graphicFrame>
      <p:sp>
        <p:nvSpPr>
          <p:cNvPr id="5" name="0.907">
            <a:extLst xmlns:a="http://schemas.openxmlformats.org/drawingml/2006/main">
              <a:ext uri="{FF2B5EF4-FFF2-40B4-BE49-F238E27FC236}">
                <a16:creationId xmlns:a16="http://schemas.microsoft.com/office/drawing/2014/main" id="{911C36A2-355E-45FA-A298-BC2091D27EFC}"/>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5ADC9C2C-D4F0-4C6B-BB36-FBCB380394C4}"/>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EBE0C360-C281-4A97-ABCD-DEDE9A582282}"/>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at validation threshold">
            <a:extLst xmlns:a="http://schemas.openxmlformats.org/drawingml/2006/main">
              <a:ext uri="{FF2B5EF4-FFF2-40B4-BE49-F238E27FC236}">
                <a16:creationId xmlns:a16="http://schemas.microsoft.com/office/drawing/2014/main" id="{58B22279-3EFC-4C1F-8987-27F2598C2582}"/>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9" name="Marked point: threshold selected on validation q">
            <a:extLst xmlns:a="http://schemas.openxmlformats.org/drawingml/2006/main">
              <a:ext uri="{FF2B5EF4-FFF2-40B4-BE49-F238E27FC236}">
                <a16:creationId xmlns:a16="http://schemas.microsoft.com/office/drawing/2014/main" id="{3CE64F89-696B-46D7-8A6B-13BCA01BDAB4}"/>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10" name="Deeper pools have no independent human validatio">
            <a:extLst xmlns:a="http://schemas.openxmlformats.org/drawingml/2006/main">
              <a:ext uri="{FF2B5EF4-FFF2-40B4-BE49-F238E27FC236}">
                <a16:creationId xmlns:a16="http://schemas.microsoft.com/office/drawing/2014/main" id="{06BAB7E9-BDEC-4B01-B430-CB56E58CE39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875" b="1">
                <a:solidFill>
                  <a:srgbClr val="182B30"/>
                </a:solidFill>
                <a:latin typeface="Arial"/>
                <a:ea typeface="Arial"/>
                <a:cs typeface="Arial"/>
              </a:rPr>
              <a:t>Deeper pools have no independent human validation.</a:t>
            </a:r>
          </a:p>
        </p:txBody>
      </p:sp>
    </p:spTree>
    <p:extLst>
      <p:ext uri="{BB962C8B-B14F-4D97-AF65-F5344CB8AC3E}">
        <p14:creationId xmlns:p14="http://schemas.microsoft.com/office/powerpoint/2010/main" val="5474226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Larger pools contain more predicted positives">
            <a:extLst xmlns:a="http://schemas.openxmlformats.org/drawingml/2006/main">
              <a:ext uri="{FF2B5EF4-FFF2-40B4-BE49-F238E27FC236}">
                <a16:creationId xmlns:a16="http://schemas.microsoft.com/office/drawing/2014/main" id="{33975AE3-85C7-49D3-8A38-E8F55918C98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4CAAB1BF-B8D2-4FB0-A053-179BEBCA38E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K: results per retriever used to build the judgm">
            <a:extLst xmlns:a="http://schemas.openxmlformats.org/drawingml/2006/main">
              <a:ext uri="{FF2B5EF4-FFF2-40B4-BE49-F238E27FC236}">
                <a16:creationId xmlns:a16="http://schemas.microsoft.com/office/drawing/2014/main" id="{9E46D824-46AD-43F2-AB36-8FAF49118DBF}"/>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results per retriever used to build the judgment pool</a:t>
            </a:r>
          </a:p>
        </p:txBody>
      </p:sp>
      <p:sp>
        <p:nvSpPr>
          <p:cNvPr id="4" name="Mean passages per query">
            <a:extLst xmlns:a="http://schemas.openxmlformats.org/drawingml/2006/main">
              <a:ext uri="{FF2B5EF4-FFF2-40B4-BE49-F238E27FC236}">
                <a16:creationId xmlns:a16="http://schemas.microsoft.com/office/drawing/2014/main" id="{CD5D7D48-FE45-43C5-98F5-2BA934367683}"/>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Mean passages per query</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2cd13fcee4f3474d"/>
          </a:graphicData>
        </a:graphic>
      </p:graphicFrame>
      <p:sp>
        <p:nvSpPr>
          <p:cNvPr id="6" name="451.5">
            <a:extLst xmlns:a="http://schemas.openxmlformats.org/drawingml/2006/main">
              <a:ext uri="{FF2B5EF4-FFF2-40B4-BE49-F238E27FC236}">
                <a16:creationId xmlns:a16="http://schemas.microsoft.com/office/drawing/2014/main" id="{F35554A6-2196-4C99-8B1E-DA95AC6AA2FA}"/>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candidates">
            <a:extLst xmlns:a="http://schemas.openxmlformats.org/drawingml/2006/main">
              <a:ext uri="{FF2B5EF4-FFF2-40B4-BE49-F238E27FC236}">
                <a16:creationId xmlns:a16="http://schemas.microsoft.com/office/drawing/2014/main" id="{0D42A6F7-4649-4894-AD85-5CF151F4545E}"/>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8" name="128.6">
            <a:extLst xmlns:a="http://schemas.openxmlformats.org/drawingml/2006/main">
              <a:ext uri="{FF2B5EF4-FFF2-40B4-BE49-F238E27FC236}">
                <a16:creationId xmlns:a16="http://schemas.microsoft.com/office/drawing/2014/main" id="{224089E3-5427-45CA-A30B-A1387A703670}"/>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predicted relevant&#10;at K = 200">
            <a:extLst xmlns:a="http://schemas.openxmlformats.org/drawingml/2006/main">
              <a:ext uri="{FF2B5EF4-FFF2-40B4-BE49-F238E27FC236}">
                <a16:creationId xmlns:a16="http://schemas.microsoft.com/office/drawing/2014/main" id="{819C592C-31D6-4E94-89F3-0BCFFD9A08D8}"/>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10" name="101,093 queries, including zero-positive pools. ">
            <a:extLst xmlns:a="http://schemas.openxmlformats.org/drawingml/2006/main">
              <a:ext uri="{FF2B5EF4-FFF2-40B4-BE49-F238E27FC236}">
                <a16:creationId xmlns:a16="http://schemas.microsoft.com/office/drawing/2014/main" id="{BA908635-D017-4968-A5A0-A2B28110781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192326048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hanging the pool and fusion inputs">
            <a:extLst xmlns:a="http://schemas.openxmlformats.org/drawingml/2006/main">
              <a:ext uri="{FF2B5EF4-FFF2-40B4-BE49-F238E27FC236}">
                <a16:creationId xmlns:a16="http://schemas.microsoft.com/office/drawing/2014/main" id="{8A1558D7-0F27-458A-8796-3538862F2CF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Changing the pool and fusion inputs</a:t>
            </a:r>
          </a:p>
        </p:txBody>
      </p:sp>
      <p:sp>
        <p:nvSpPr>
          <p:cNvPr id="2" name="10">
            <a:extLst xmlns:a="http://schemas.openxmlformats.org/drawingml/2006/main">
              <a:ext uri="{FF2B5EF4-FFF2-40B4-BE49-F238E27FC236}">
                <a16:creationId xmlns:a16="http://schemas.microsoft.com/office/drawing/2014/main" id="{F41808F8-20CE-4FFE-B911-741A79ABA62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K: results per retriever in the pool     L: resu">
            <a:extLst xmlns:a="http://schemas.openxmlformats.org/drawingml/2006/main">
              <a:ext uri="{FF2B5EF4-FFF2-40B4-BE49-F238E27FC236}">
                <a16:creationId xmlns:a16="http://schemas.microsoft.com/office/drawing/2014/main" id="{F99A0D91-F3FE-4433-BB09-53359E41C1F4}"/>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results per retriever in the pool     L: results per retriever fed to RRF</a:t>
            </a:r>
          </a:p>
        </p:txBody>
      </p:sp>
      <p:sp>
        <p:nvSpPr>
          <p:cNvPr id="4" name="Both depths change together: L = K">
            <a:extLst xmlns:a="http://schemas.openxmlformats.org/drawingml/2006/main">
              <a:ext uri="{FF2B5EF4-FFF2-40B4-BE49-F238E27FC236}">
                <a16:creationId xmlns:a16="http://schemas.microsoft.com/office/drawing/2014/main" id="{77E9263D-E3D2-4FAE-8002-D24B0DFB34C7}"/>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95236"/>
                </a:solidFill>
                <a:latin typeface="Arial"/>
                <a:ea typeface="Arial"/>
                <a:cs typeface="Arial"/>
              </a:defRPr>
            </a:pPr>
            <a:r>
              <a:rPr sz="2175" b="1">
                <a:solidFill>
                  <a:srgbClr val="C95236"/>
                </a:solidFill>
                <a:latin typeface="Arial"/>
                <a:ea typeface="Arial"/>
                <a:cs typeface="Arial"/>
              </a:rPr>
              <a:t>Both depths change together: L = K</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7c9bb1ce70db4622"/>
          </a:graphicData>
        </a:graphic>
      </p:graphicFrame>
      <p:sp>
        <p:nvSpPr>
          <p:cNvPr id="6" name="At K = 200: a small gap of +0.0088 in pooled NDC">
            <a:extLst xmlns:a="http://schemas.openxmlformats.org/drawingml/2006/main">
              <a:ext uri="{FF2B5EF4-FFF2-40B4-BE49-F238E27FC236}">
                <a16:creationId xmlns:a16="http://schemas.microsoft.com/office/drawing/2014/main" id="{33C49B20-F3EF-47AE-886D-230D178745C7}"/>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At K = 200: a small gap of +0.0088 in pooled NDCG@10</a:t>
            </a:r>
          </a:p>
        </p:txBody>
      </p:sp>
      <p:sp>
        <p:nvSpPr>
          <p:cNvPr id="7" name="Pseudo-labels from one judge. 95% paired CI [0.0">
            <a:extLst xmlns:a="http://schemas.openxmlformats.org/drawingml/2006/main">
              <a:ext uri="{FF2B5EF4-FFF2-40B4-BE49-F238E27FC236}">
                <a16:creationId xmlns:a16="http://schemas.microsoft.com/office/drawing/2014/main" id="{528F1BFF-2DB5-489A-90B6-FAD080D68F74}"/>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Pseudo-labels from one judge. 95% paired CI [0.0082, 0.0095].</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Query-bootstrap intervals exclude judge uncertainty.</a:t>
            </a:r>
          </a:p>
        </p:txBody>
      </p:sp>
    </p:spTree>
    <p:extLst>
      <p:ext uri="{BB962C8B-B14F-4D97-AF65-F5344CB8AC3E}">
        <p14:creationId xmlns:p14="http://schemas.microsoft.com/office/powerpoint/2010/main" val="56763159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ool coverage can reverse a comparison">
            <a:extLst xmlns:a="http://schemas.openxmlformats.org/drawingml/2006/main">
              <a:ext uri="{FF2B5EF4-FFF2-40B4-BE49-F238E27FC236}">
                <a16:creationId xmlns:a16="http://schemas.microsoft.com/office/drawing/2014/main" id="{F31EE7F6-8F2F-4D36-9D3B-1B7016CC28C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4C8B35C3-C4DD-4E65-B896-7403973CC4B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K: results per retriever in the pool     L: resu">
            <a:extLst xmlns:a="http://schemas.openxmlformats.org/drawingml/2006/main">
              <a:ext uri="{FF2B5EF4-FFF2-40B4-BE49-F238E27FC236}">
                <a16:creationId xmlns:a16="http://schemas.microsoft.com/office/drawing/2014/main" id="{672A029E-A3BB-4386-8D0B-1A6FD62D5042}"/>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results per retriever in the pool     L: results per retriever fed to RRF</a:t>
            </a:r>
          </a:p>
        </p:txBody>
      </p:sp>
      <p:sp>
        <p:nvSpPr>
          <p:cNvPr id="4" name="Only K changes. L = 200 and both rankings stay f">
            <a:extLst xmlns:a="http://schemas.openxmlformats.org/drawingml/2006/main">
              <a:ext uri="{FF2B5EF4-FFF2-40B4-BE49-F238E27FC236}">
                <a16:creationId xmlns:a16="http://schemas.microsoft.com/office/drawing/2014/main" id="{4E03B992-DFFB-4D22-A250-30D58522E621}"/>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Only K changes. L = 200 and both rankings stay fixed.</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5fe7dfe9ad824ead"/>
          </a:graphicData>
        </a:graphic>
      </p:graphicFrame>
      <p:sp>
        <p:nvSpPr>
          <p:cNvPr id="6" name="14.4%">
            <a:extLst xmlns:a="http://schemas.openxmlformats.org/drawingml/2006/main">
              <a:ext uri="{FF2B5EF4-FFF2-40B4-BE49-F238E27FC236}">
                <a16:creationId xmlns:a16="http://schemas.microsoft.com/office/drawing/2014/main" id="{4E8A2CE5-CC6C-41CE-A3E9-172B4D81545F}"/>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of RRF top-10 pairs&#10;outside the pool&#10;at K = 10">
            <a:extLst xmlns:a="http://schemas.openxmlformats.org/drawingml/2006/main">
              <a:ext uri="{FF2B5EF4-FFF2-40B4-BE49-F238E27FC236}">
                <a16:creationId xmlns:a16="http://schemas.microsoft.com/office/drawing/2014/main" id="{E75684C4-254B-42D1-B61C-AFF29CFBB15E}"/>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8" name="145,643 query–passage pairs">
            <a:extLst xmlns:a="http://schemas.openxmlformats.org/drawingml/2006/main">
              <a:ext uri="{FF2B5EF4-FFF2-40B4-BE49-F238E27FC236}">
                <a16:creationId xmlns:a16="http://schemas.microsoft.com/office/drawing/2014/main" id="{5F8B339B-FFB6-4A45-A1CA-A4CC9696195F}"/>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9" name="K = 10: −0.0661">
            <a:extLst xmlns:a="http://schemas.openxmlformats.org/drawingml/2006/main">
              <a:ext uri="{FF2B5EF4-FFF2-40B4-BE49-F238E27FC236}">
                <a16:creationId xmlns:a16="http://schemas.microsoft.com/office/drawing/2014/main" id="{172D45CB-25DD-4274-B557-52925074F89B}"/>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FAAEDD3B-C7DB-44B5-AF91-46D94FAB8B3F}"/>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minus E5 under pseudo-labels. Unjudged passa">
            <a:extLst xmlns:a="http://schemas.openxmlformats.org/drawingml/2006/main">
              <a:ext uri="{FF2B5EF4-FFF2-40B4-BE49-F238E27FC236}">
                <a16:creationId xmlns:a16="http://schemas.microsoft.com/office/drawing/2014/main" id="{5D194CCD-C876-4470-95FB-FF8D5A4C826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RRF minus E5 under pseudo-labels. Unjudged passages receive zero gain.</a:t>
            </a:r>
          </a:p>
        </p:txBody>
      </p:sp>
    </p:spTree>
    <p:extLst>
      <p:ext uri="{BB962C8B-B14F-4D97-AF65-F5344CB8AC3E}">
        <p14:creationId xmlns:p14="http://schemas.microsoft.com/office/powerpoint/2010/main" val="99069998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cope and robustness">
            <a:extLst xmlns:a="http://schemas.openxmlformats.org/drawingml/2006/main">
              <a:ext uri="{FF2B5EF4-FFF2-40B4-BE49-F238E27FC236}">
                <a16:creationId xmlns:a16="http://schemas.microsoft.com/office/drawing/2014/main" id="{FC272CD6-6921-4D42-B58D-A9C15AE7002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D882351A-C4E9-4742-9FCB-485205CDB73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ystem comparisons after query exclusions">
            <a:extLst xmlns:a="http://schemas.openxmlformats.org/drawingml/2006/main">
              <a:ext uri="{FF2B5EF4-FFF2-40B4-BE49-F238E27FC236}">
                <a16:creationId xmlns:a16="http://schemas.microsoft.com/office/drawing/2014/main" id="{BA396C3B-C851-40F1-BD56-728DA3080901}"/>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System comparisons after query exclusions</a:t>
            </a:r>
          </a: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603CF55-69D0-4949-A3DF-149946AEBA2A}"/>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Manual pools: reference-assisted, with unmeasure">
            <a:extLst xmlns:a="http://schemas.openxmlformats.org/drawingml/2006/main">
              <a:ext uri="{FF2B5EF4-FFF2-40B4-BE49-F238E27FC236}">
                <a16:creationId xmlns:a16="http://schemas.microsoft.com/office/drawing/2014/main" id="{088E2E53-949B-4851-BED4-79943AAD5434}"/>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Manual pools: reference-assisted, with unmeasured assessor agreement.</a:t>
            </a:r>
          </a:p>
        </p:txBody>
      </p:sp>
      <p:sp>
        <p:nvSpPr>
          <p:cNvPr id="7" name="Large pools: one judge, without independent huma">
            <a:extLst xmlns:a="http://schemas.openxmlformats.org/drawingml/2006/main">
              <a:ext uri="{FF2B5EF4-FFF2-40B4-BE49-F238E27FC236}">
                <a16:creationId xmlns:a16="http://schemas.microsoft.com/office/drawing/2014/main" id="{9AFD4557-6937-4C4D-ADF1-411080AA255D}"/>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Large pools: one judge, without independent human validation.</a:t>
            </a:r>
          </a:p>
        </p:txBody>
      </p:sp>
      <p:sp>
        <p:nvSpPr>
          <p:cNvPr id="8" name="Generalization beyond selected English MS MARCO ">
            <a:extLst xmlns:a="http://schemas.openxmlformats.org/drawingml/2006/main">
              <a:ext uri="{FF2B5EF4-FFF2-40B4-BE49-F238E27FC236}">
                <a16:creationId xmlns:a16="http://schemas.microsoft.com/office/drawing/2014/main" id="{0C1631EA-98B4-4636-B14B-C6BAB34BC8E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Generalization beyond selected English MS MARCO pools remains untested.</a:t>
            </a:r>
          </a:p>
        </p:txBody>
      </p:sp>
    </p:spTree>
    <p:extLst>
      <p:ext uri="{BB962C8B-B14F-4D97-AF65-F5344CB8AC3E}">
        <p14:creationId xmlns:p14="http://schemas.microsoft.com/office/powerpoint/2010/main" val="1647516657"/>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Judgment coverage affects retrieval evaluation">
            <a:extLst xmlns:a="http://schemas.openxmlformats.org/drawingml/2006/main">
              <a:ext uri="{FF2B5EF4-FFF2-40B4-BE49-F238E27FC236}">
                <a16:creationId xmlns:a16="http://schemas.microsoft.com/office/drawing/2014/main" id="{C6A57C84-51B6-469C-9958-F08AB366BDF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45D82E8A-7B93-4C41-9257-D6612A0EB63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0374A277-D228-41F0-8E7C-B4C4263997A4}"/>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D97E990B-12C0-45A6-937F-A90EB7477CEB}"/>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55C3B212-EA6A-4FEB-9600-82249C1A97E6}"/>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E0371D46-98CB-4EA0-A4DF-D96B4ACAB080}"/>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one automatic judge">
            <a:extLst xmlns:a="http://schemas.openxmlformats.org/drawingml/2006/main">
              <a:ext uri="{FF2B5EF4-FFF2-40B4-BE49-F238E27FC236}">
                <a16:creationId xmlns:a16="http://schemas.microsoft.com/office/drawing/2014/main" id="{D51D3847-5FAE-4986-96ED-482F139963D0}"/>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Fixed rankings, one automatic judge</a:t>
            </a:r>
          </a:p>
        </p:txBody>
      </p:sp>
      <p:sp>
        <p:nvSpPr>
          <p:cNvPr id="8" name="Pool coverage can reverse the RRF vs E5 comparis">
            <a:extLst xmlns:a="http://schemas.openxmlformats.org/drawingml/2006/main">
              <a:ext uri="{FF2B5EF4-FFF2-40B4-BE49-F238E27FC236}">
                <a16:creationId xmlns:a16="http://schemas.microsoft.com/office/drawing/2014/main" id="{D5C7566D-898A-4E91-9FA1-B4171F605742}"/>
              </a:ext>
            </a:extLst>
          </p:cNvPr>
          <p:cNvSpPr>
            <a:spLocks xmlns:a="http://schemas.openxmlformats.org/drawingml/2006/main" noGrp="1"/>
          </p:cNvSpPr>
          <p:nvPr/>
        </p:nvSpPr>
        <p:spPr>
          <a:xfrm xmlns:a="http://schemas.openxmlformats.org/drawingml/2006/main">
            <a:off x="609600" y="449580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Pool coverage can reverse the RRF vs E5 comparison</a:t>
            </a:r>
          </a:p>
        </p:txBody>
      </p:sp>
      <p:sp>
        <p:nvSpPr>
          <p:cNvPr id="9" name="">
            <a:extLst xmlns:a="http://schemas.openxmlformats.org/drawingml/2006/main">
              <a:ext uri="{FF2B5EF4-FFF2-40B4-BE49-F238E27FC236}">
                <a16:creationId xmlns:a16="http://schemas.microsoft.com/office/drawing/2014/main" id="{2D7EA8DF-A5C7-4A36-95C1-51ACC8967EAF}"/>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Next: compare stronger judges with and without a">
            <a:extLst xmlns:a="http://schemas.openxmlformats.org/drawingml/2006/main">
              <a:ext uri="{FF2B5EF4-FFF2-40B4-BE49-F238E27FC236}">
                <a16:creationId xmlns:a16="http://schemas.microsoft.com/office/drawing/2014/main" id="{6AE1EB6E-6B68-4473-8193-C22300A525F1}"/>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Next: compare stronger judges with and without a reference passage.</a:t>
            </a:r>
          </a:p>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Validate predictions against independent human judgments.</a:t>
            </a:r>
          </a:p>
        </p:txBody>
      </p:sp>
      <p:sp>
        <p:nvSpPr>
          <p:cNvPr id="11" name="Evidence from selected English MS MARCO candidat">
            <a:extLst xmlns:a="http://schemas.openxmlformats.org/drawingml/2006/main">
              <a:ext uri="{FF2B5EF4-FFF2-40B4-BE49-F238E27FC236}">
                <a16:creationId xmlns:a16="http://schemas.microsoft.com/office/drawing/2014/main" id="{263A5D07-7CF2-4E45-AB68-4165B2772F7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132678532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F8A589DF-8014-42AB-B3A6-1397BFD2BA5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5CAF5261-9068-431A-8AFF-0A71AADAF14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BA2B5998-D424-4F36-991E-795B9A4DDA05}"/>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DCC6CE46-3530-4C11-9721-FE78B6D513C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20677459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6A2B3D53-2A93-4F0E-B66E-7A7A11F08B5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45AF6115-5F12-4C0E-A3A6-40026F6594C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6BACEB85-1D33-463C-850D-CCD449477363}"/>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B65CE0FE-0D1F-4325-B011-0F18A106C0D8}"/>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E798B8B4-D97C-4275-8CCF-CB17E4E167A7}"/>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2D705CFD-2B28-40E1-8AA7-61D2FAAADACC}"/>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E0E7CE89-B739-4846-858E-45AEB3AD38C7}"/>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B613F7B3-EB73-4F7E-9550-59826A550FE0}"/>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3286A637-9C03-4949-8B10-317341F43BFF}"/>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3C8981A8-BB71-4676-9916-0C11841F21A1}"/>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04AF80E3-FAEF-4064-81EC-67A93601CBF9}"/>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3A11EE84-C012-486F-BC59-8A63AC35A13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7671927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770EFE4B-6CA6-4B4F-BC42-3683320F9C5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44782DB5-D5A4-4841-86AC-0746732389A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83DBE516-37BD-464B-A4E8-A8D22ADEF63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67470622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9245B41C-3225-4E35-9B3F-8723644808C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EAE619D4-5A11-4B68-900F-965B7BA81B5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16D3474A-C33D-49A5-8E67-5F921207223D}"/>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B579C6A6-AB43-4218-A95B-EBEDCA2C9ED7}"/>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9E6DCA74-7826-46E6-BBD7-38B8ABA96319}"/>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B909B59A-1338-4FA8-B0E8-264EADBE0BB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142145270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75D91F60-A6EF-4F34-BD87-27712464864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0129F3DF-B024-4C52-AA11-AE8E8B33A9A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0F551810-87F2-47DD-8EF1-F4AFBD25FA37}"/>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108B2F4C-C591-4B11-8AA3-6C4257A9C700}"/>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7E4D031F-2CDE-402F-902E-3DECAE980E17}"/>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183B4C44-2918-427B-92CF-8884A6856F96}"/>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8CA32064-93DA-4C0A-BAD7-FC26EE891A6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4476671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