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2.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3.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4.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5.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xml version='1.0' encoding='UTF-8' standalone='yes'?>
<Relationships xmlns="http://schemas.openxmlformats.org/package/2006/relationships"><Relationship Type="http://schemas.openxmlformats.org/package/2006/relationships/metadata/core-properties" Target="/docProps/core.xml" Id="R78f254f19d094f67"/><Relationship Type="http://schemas.openxmlformats.org/officeDocument/2006/relationships/extended-properties" Target="/docProps/app.xml" Id="R52d698b0ccdb4a1a"/><Relationship Type="http://schemas.openxmlformats.org/officeDocument/2006/relationships/officeDocument" Target="/ppt/presentation.xml" Id="R194aeedec329481b"/></Relationships>
</file>

<file path=ppt/presentation.xml><?xml version="1.0" encoding="utf-8"?>
<p:presentation xmlns:p="http://schemas.openxmlformats.org/presentationml/2006/main">
  <p:sldMasterIdLst>
    <p:sldMasterId xmlns:r="http://schemas.openxmlformats.org/officeDocument/2006/relationships" id="2147483648" r:id="Ra04af5aa973144b6"/>
  </p:sldMasterIdLst>
  <p:notesMasterIdLst>
    <p:notesMasterId xmlns:r="http://schemas.openxmlformats.org/officeDocument/2006/relationships" r:id="R83a9871c656b476b"/>
  </p:notesMasterIdLst>
  <p:sldIdLst>
    <p:sldId xmlns:r="http://schemas.openxmlformats.org/officeDocument/2006/relationships" id="256" r:id="Ra0a975c26a8e4a99"/>
    <p:sldId xmlns:r="http://schemas.openxmlformats.org/officeDocument/2006/relationships" id="257" r:id="R3071c46658dc4b6e"/>
    <p:sldId xmlns:r="http://schemas.openxmlformats.org/officeDocument/2006/relationships" id="258" r:id="Rd05563c4ef13461a"/>
    <p:sldId xmlns:r="http://schemas.openxmlformats.org/officeDocument/2006/relationships" id="259" r:id="R5c5689371c4b451d"/>
    <p:sldId xmlns:r="http://schemas.openxmlformats.org/officeDocument/2006/relationships" id="260" r:id="Rba1383b6989e4ae4"/>
    <p:sldId xmlns:r="http://schemas.openxmlformats.org/officeDocument/2006/relationships" id="261" r:id="R1fdd2e1f6c424e38"/>
    <p:sldId xmlns:r="http://schemas.openxmlformats.org/officeDocument/2006/relationships" id="262" r:id="R8273d410338e49fe"/>
    <p:sldId xmlns:r="http://schemas.openxmlformats.org/officeDocument/2006/relationships" id="263" r:id="R221065bfacbb46c5"/>
    <p:sldId xmlns:r="http://schemas.openxmlformats.org/officeDocument/2006/relationships" id="264" r:id="R889f019515c24fd4"/>
    <p:sldId xmlns:r="http://schemas.openxmlformats.org/officeDocument/2006/relationships" id="265" r:id="R7217421bf6f04e5f"/>
    <p:sldId xmlns:r="http://schemas.openxmlformats.org/officeDocument/2006/relationships" id="266" r:id="R705ea897553d46ac"/>
    <p:sldId xmlns:r="http://schemas.openxmlformats.org/officeDocument/2006/relationships" id="267" r:id="R82129a133b2e4c28"/>
    <p:sldId xmlns:r="http://schemas.openxmlformats.org/officeDocument/2006/relationships" id="268" r:id="R9fdbc284215e449b"/>
    <p:sldId xmlns:r="http://schemas.openxmlformats.org/officeDocument/2006/relationships" id="269" r:id="R201ef78c96724806"/>
    <p:sldId xmlns:r="http://schemas.openxmlformats.org/officeDocument/2006/relationships" id="270" r:id="R1016dea2e5b4470d"/>
    <p:sldId xmlns:r="http://schemas.openxmlformats.org/officeDocument/2006/relationships" id="271" r:id="Rc6b6505e2932470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Type="http://schemas.openxmlformats.org/officeDocument/2006/relationships/theme" Target="/ppt/theme/theme1.xml" Id="Rcb92a26ab7a34b7c"/><Relationship Type="http://schemas.openxmlformats.org/officeDocument/2006/relationships/slideMaster" Target="/ppt/slideMasters/slideMaster1.xml" Id="Ra04af5aa973144b6"/><Relationship Type="http://schemas.openxmlformats.org/officeDocument/2006/relationships/notesMaster" Target="/ppt/notesMasters/notesMaster1.xml" Id="R83a9871c656b476b"/><Relationship Type="http://schemas.openxmlformats.org/officeDocument/2006/relationships/presProps" Target="/ppt/presProps.xml" Id="Ref231f629cf74645"/><Relationship Type="http://schemas.openxmlformats.org/officeDocument/2006/relationships/tableStyles" Target="/ppt/tableStyles.xml" Id="Rd069f3cb6f344b47"/><Relationship Type="http://schemas.openxmlformats.org/officeDocument/2006/relationships/slide" Target="/ppt/slides/slide1.xml" Id="Ra0a975c26a8e4a99"/><Relationship Type="http://schemas.openxmlformats.org/officeDocument/2006/relationships/slide" Target="/ppt/slides/slide2.xml" Id="R3071c46658dc4b6e"/><Relationship Type="http://schemas.openxmlformats.org/officeDocument/2006/relationships/slide" Target="/ppt/slides/slide3.xml" Id="Rd05563c4ef13461a"/><Relationship Type="http://schemas.openxmlformats.org/officeDocument/2006/relationships/slide" Target="/ppt/slides/slide4.xml" Id="R5c5689371c4b451d"/><Relationship Type="http://schemas.openxmlformats.org/officeDocument/2006/relationships/slide" Target="/ppt/slides/slide5.xml" Id="Rba1383b6989e4ae4"/><Relationship Type="http://schemas.openxmlformats.org/officeDocument/2006/relationships/slide" Target="/ppt/slides/slide6.xml" Id="R1fdd2e1f6c424e38"/><Relationship Type="http://schemas.openxmlformats.org/officeDocument/2006/relationships/slide" Target="/ppt/slides/slide7.xml" Id="R8273d410338e49fe"/><Relationship Type="http://schemas.openxmlformats.org/officeDocument/2006/relationships/slide" Target="/ppt/slides/slide8.xml" Id="R221065bfacbb46c5"/><Relationship Type="http://schemas.openxmlformats.org/officeDocument/2006/relationships/slide" Target="/ppt/slides/slide9.xml" Id="R889f019515c24fd4"/><Relationship Type="http://schemas.openxmlformats.org/officeDocument/2006/relationships/slide" Target="/ppt/slides/slide10.xml" Id="R7217421bf6f04e5f"/><Relationship Type="http://schemas.openxmlformats.org/officeDocument/2006/relationships/slide" Target="/ppt/slides/slide11.xml" Id="R705ea897553d46ac"/><Relationship Type="http://schemas.openxmlformats.org/officeDocument/2006/relationships/slide" Target="/ppt/slides/slide12.xml" Id="R82129a133b2e4c28"/><Relationship Type="http://schemas.openxmlformats.org/officeDocument/2006/relationships/slide" Target="/ppt/slides/slide13.xml" Id="R9fdbc284215e449b"/><Relationship Type="http://schemas.openxmlformats.org/officeDocument/2006/relationships/slide" Target="/ppt/slides/slide14.xml" Id="R201ef78c96724806"/><Relationship Type="http://schemas.openxmlformats.org/officeDocument/2006/relationships/slide" Target="/ppt/slides/slide15.xml" Id="R1016dea2e5b4470d"/><Relationship Type="http://schemas.openxmlformats.org/officeDocument/2006/relationships/slide" Target="/ppt/slides/slide16.xml" Id="Rc6b6505e29324706"/></Relationships>
</file>

<file path=ppt/notesMasters/_rels/notesMaster1.xml.rels><?xml version='1.0' encoding='UTF-8' standalone='yes'?>
<Relationships xmlns="http://schemas.openxmlformats.org/package/2006/relationships"><Relationship Type="http://schemas.openxmlformats.org/officeDocument/2006/relationships/theme" Target="/ppt/notesMasters/theme/theme3.xml" Id="Rc4494b047b75449a"/></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Type="http://schemas.openxmlformats.org/officeDocument/2006/relationships/slide" Target="/ppt/slides/slide1.xml" Id="R7a3d7bda8f0d4bb8"/><Relationship Type="http://schemas.openxmlformats.org/officeDocument/2006/relationships/notesMaster" Target="/ppt/notesMasters/notesMaster1.xml" Id="R16d49aab8b424f12"/></Relationships>
</file>

<file path=ppt/notesSlides/_rels/notesSlide2.xml.rels><?xml version='1.0' encoding='UTF-8' standalone='yes'?>
<Relationships xmlns="http://schemas.openxmlformats.org/package/2006/relationships"><Relationship Type="http://schemas.openxmlformats.org/officeDocument/2006/relationships/slide" Target="/ppt/slides/slide2.xml" Id="Rc6c38506b5324973"/><Relationship Type="http://schemas.openxmlformats.org/officeDocument/2006/relationships/notesMaster" Target="/ppt/notesMasters/notesMaster1.xml" Id="R71eded0f33a04892"/></Relationships>
</file>

<file path=ppt/notesSlides/_rels/notesSlide3.xml.rels><?xml version='1.0' encoding='UTF-8' standalone='yes'?>
<Relationships xmlns="http://schemas.openxmlformats.org/package/2006/relationships"><Relationship Type="http://schemas.openxmlformats.org/officeDocument/2006/relationships/slide" Target="/ppt/slides/slide3.xml" Id="R3b7d83ce84294032"/><Relationship Type="http://schemas.openxmlformats.org/officeDocument/2006/relationships/notesMaster" Target="/ppt/notesMasters/notesMaster1.xml" Id="R9504950f85a441e6"/></Relationships>
</file>

<file path=ppt/notesSlides/_rels/notesSlide4.xml.rels><?xml version='1.0' encoding='UTF-8' standalone='yes'?>
<Relationships xmlns="http://schemas.openxmlformats.org/package/2006/relationships"><Relationship Type="http://schemas.openxmlformats.org/officeDocument/2006/relationships/slide" Target="/ppt/slides/slide4.xml" Id="R8acdd297f4fb4436"/><Relationship Type="http://schemas.openxmlformats.org/officeDocument/2006/relationships/notesMaster" Target="/ppt/notesMasters/notesMaster1.xml" Id="Rbbcf1acff158465b"/></Relationships>
</file>

<file path=ppt/notesSlides/_rels/notesSlide5.xml.rels><?xml version='1.0' encoding='UTF-8' standalone='yes'?>
<Relationships xmlns="http://schemas.openxmlformats.org/package/2006/relationships"><Relationship Type="http://schemas.openxmlformats.org/officeDocument/2006/relationships/slide" Target="/ppt/slides/slide5.xml" Id="R3e0998853d8d4561"/><Relationship Type="http://schemas.openxmlformats.org/officeDocument/2006/relationships/notesMaster" Target="/ppt/notesMasters/notesMaster1.xml" Id="Re319cc9f0ba34f39"/></Relationships>
</file>

<file path=ppt/notesSlides/_rels/notesSlide6.xml.rels><?xml version='1.0' encoding='UTF-8' standalone='yes'?>
<Relationships xmlns="http://schemas.openxmlformats.org/package/2006/relationships"><Relationship Type="http://schemas.openxmlformats.org/officeDocument/2006/relationships/slide" Target="/ppt/slides/slide6.xml" Id="Re30d189b976443dc"/><Relationship Type="http://schemas.openxmlformats.org/officeDocument/2006/relationships/notesMaster" Target="/ppt/notesMasters/notesMaster1.xml" Id="Ra9c7475eb9504313"/></Relationships>
</file>

<file path=ppt/notesSlides/_rels/notesSlide7.xml.rels><?xml version='1.0' encoding='UTF-8' standalone='yes'?>
<Relationships xmlns="http://schemas.openxmlformats.org/package/2006/relationships"><Relationship Type="http://schemas.openxmlformats.org/officeDocument/2006/relationships/slide" Target="/ppt/slides/slide7.xml" Id="R402ae10240d4465a"/><Relationship Type="http://schemas.openxmlformats.org/officeDocument/2006/relationships/notesMaster" Target="/ppt/notesMasters/notesMaster1.xml" Id="R681b9fd7fa2b4dc1"/></Relationships>
</file>

<file path=ppt/notesSlides/_rels/notesSlide8.xml.rels><?xml version='1.0' encoding='UTF-8' standalone='yes'?>
<Relationships xmlns="http://schemas.openxmlformats.org/package/2006/relationships"><Relationship Type="http://schemas.openxmlformats.org/officeDocument/2006/relationships/slide" Target="/ppt/slides/slide8.xml" Id="R07e4b95dc5f44bcd"/><Relationship Type="http://schemas.openxmlformats.org/officeDocument/2006/relationships/notesMaster" Target="/ppt/notesMasters/notesMaster1.xml" Id="R62d18ed2dc7f42d2"/></Relationships>
</file>

<file path=ppt/notesSlides/_rels/notesSlide9.xml.rels><?xml version='1.0' encoding='UTF-8' standalone='yes'?>
<Relationships xmlns="http://schemas.openxmlformats.org/package/2006/relationships"><Relationship Type="http://schemas.openxmlformats.org/officeDocument/2006/relationships/slide" Target="/ppt/slides/slide9.xml" Id="R320f888e91c3425b"/><Relationship Type="http://schemas.openxmlformats.org/officeDocument/2006/relationships/notesMaster" Target="/ppt/notesMasters/notesMaster1.xml" Id="R39653d7ad0874a95"/></Relationships>
</file>

<file path=ppt/notesSlides/_rels/notesSlide10.xml.rels><?xml version='1.0' encoding='UTF-8' standalone='yes'?>
<Relationships xmlns="http://schemas.openxmlformats.org/package/2006/relationships"><Relationship Type="http://schemas.openxmlformats.org/officeDocument/2006/relationships/slide" Target="/ppt/slides/slide10.xml" Id="Re4825c355cf243fc"/><Relationship Type="http://schemas.openxmlformats.org/officeDocument/2006/relationships/notesMaster" Target="/ppt/notesMasters/notesMaster1.xml" Id="R455928c7f5f4441b"/></Relationships>
</file>

<file path=ppt/notesSlides/_rels/notesSlide11.xml.rels><?xml version='1.0' encoding='UTF-8' standalone='yes'?>
<Relationships xmlns="http://schemas.openxmlformats.org/package/2006/relationships"><Relationship Type="http://schemas.openxmlformats.org/officeDocument/2006/relationships/slide" Target="/ppt/slides/slide11.xml" Id="Ra5b77542f2524c78"/><Relationship Type="http://schemas.openxmlformats.org/officeDocument/2006/relationships/notesMaster" Target="/ppt/notesMasters/notesMaster1.xml" Id="Reacad3f15a7b4594"/></Relationships>
</file>

<file path=ppt/notesSlides/_rels/notesSlide12.xml.rels><?xml version='1.0' encoding='UTF-8' standalone='yes'?>
<Relationships xmlns="http://schemas.openxmlformats.org/package/2006/relationships"><Relationship Type="http://schemas.openxmlformats.org/officeDocument/2006/relationships/slide" Target="/ppt/slides/slide12.xml" Id="Rb84bdade975f4caf"/><Relationship Type="http://schemas.openxmlformats.org/officeDocument/2006/relationships/notesMaster" Target="/ppt/notesMasters/notesMaster1.xml" Id="R45c363ad83c94bcb"/></Relationships>
</file>

<file path=ppt/notesSlides/_rels/notesSlide13.xml.rels><?xml version='1.0' encoding='UTF-8' standalone='yes'?>
<Relationships xmlns="http://schemas.openxmlformats.org/package/2006/relationships"><Relationship Type="http://schemas.openxmlformats.org/officeDocument/2006/relationships/slide" Target="/ppt/slides/slide13.xml" Id="R5c3a3cb5a08441a8"/><Relationship Type="http://schemas.openxmlformats.org/officeDocument/2006/relationships/notesMaster" Target="/ppt/notesMasters/notesMaster1.xml" Id="R4db6e8d253654c3e"/></Relationships>
</file>

<file path=ppt/notesSlides/_rels/notesSlide14.xml.rels><?xml version='1.0' encoding='UTF-8' standalone='yes'?>
<Relationships xmlns="http://schemas.openxmlformats.org/package/2006/relationships"><Relationship Type="http://schemas.openxmlformats.org/officeDocument/2006/relationships/slide" Target="/ppt/slides/slide14.xml" Id="R1be6848c78824886"/><Relationship Type="http://schemas.openxmlformats.org/officeDocument/2006/relationships/notesMaster" Target="/ppt/notesMasters/notesMaster1.xml" Id="Rb5828184cd27455d"/></Relationships>
</file>

<file path=ppt/notesSlides/_rels/notesSlide15.xml.rels><?xml version='1.0' encoding='UTF-8' standalone='yes'?>
<Relationships xmlns="http://schemas.openxmlformats.org/package/2006/relationships"><Relationship Type="http://schemas.openxmlformats.org/officeDocument/2006/relationships/slide" Target="/ppt/slides/slide15.xml" Id="R7dbc1a291ae948e8"/><Relationship Type="http://schemas.openxmlformats.org/officeDocument/2006/relationships/notesMaster" Target="/ppt/notesMasters/notesMaster1.xml" Id="Rf22c4b54fd7246e5"/></Relationships>
</file>

<file path=ppt/notesSlides/_rels/notesSlide16.xml.rels><?xml version='1.0' encoding='UTF-8' standalone='yes'?>
<Relationships xmlns="http://schemas.openxmlformats.org/package/2006/relationships"><Relationship Type="http://schemas.openxmlformats.org/officeDocument/2006/relationships/slide" Target="/ppt/slides/slide16.xml" Id="R93a7fd4629a24e9a"/><Relationship Type="http://schemas.openxmlformats.org/officeDocument/2006/relationships/notesMaster" Target="/ppt/notesMasters/notesMaster1.xml" Id="R9a9c0fdbdfd24826"/></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35 секунд.</a:t>
            </a:r>
          </a:p>
          <a:p xmlns:a="http://schemas.openxmlformats.org/drawingml/2006/main">
            <a:r>
              <a:t/>
            </a:r>
          </a:p>
          <a:p xmlns:a="http://schemas.openxmlformats.org/drawingml/2006/main">
            <a:r>
              <a:t>Сегодня я расскажу, как неполная разметка влияет на оценку поиска. Мы исследуем MS MARCO, где у запроса часто указан только один правильный фрагмент, хотя подходящих ответов может быть несколько. Работа состоит из ручной доразметки и отдельного эксперимента с автоматическим судьёй. Основной вопрос: как меняется оценка уже существующей выдачи, когда мы расширяем набор известных релевантных ответов?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Study data and recomputed pool-based analysis.</a:t>
            </a:r>
          </a:p>
          <a:p xmlns:a="http://schemas.openxmlformats.org/drawingml/2006/main">
            <a:r>
              <a:t>Conference: https://damdid.unn.ru/overview/</a:t>
            </a:r>
          </a:p>
          <a:p xmlns:a="http://schemas.openxmlformats.org/drawingml/2006/main">
            <a:r>
              <a:t>Cover: editorial illustration of passage annotation, not experimental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75 секунд.</a:t>
            </a:r>
          </a:p>
          <a:p xmlns:a="http://schemas.openxmlformats.org/drawingml/2006/main">
            <a:r>
              <a:t/>
            </a:r>
          </a:p>
          <a:p xmlns:a="http://schemas.openxmlformats.org/drawingml/2006/main">
            <a:r>
              <a:t>Начнём с реального примера. Запрос спрашивает, что вызывает повышение температуры кипения. Исходная разметка содержит фрагмент про добавление соли. Другой фрагмент объясняет тот же эффект через нелетучее растворённое вещество. Человек считает его релевантным, однако в исходных qrels он отсутствует. Qrels означает query relevance judgments, то есть оценки релевантности документов запросам. Отсутствие записи даёт нулевой вклад в метрику, хотя ответ может быть правильным. Третий фрагмент сообщает температуру кипения ацетона и на вопрос о причине не отвечает. Тексты здесь сокращены, идентификаторы сохранены. Это пример конкретной ошибки оценки, а не оценка частоты таких ошибок во всём корпусе.</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Study data and recomputed pool-based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Исходный материал представляет собой англоязычную коллекцию MS MARCO Passage Ranking из примерно 8,84 миллиона фрагментов. В ручной части мы анализируем 1179 запросов и 33667 различных пар запрос–фрагмент. Затем применяем обученного судью к пулам для 101093 запросов. Это две разные основы оценки: ручные суждения и предсказания модели. Под deep re-annotation понимается более полное покрытие кандидатов внутри выбранного пула. Слово deep не означает глубину нейросети или полную разметку корпуса. Размер ручного пула в среднем составляет 28,56 кандидата на запрос, максимум 63. Коллекцию MS MARCO мы используем как воспроизводимую исследовательскую среду, не утверждая её универсальность для всех поисковых систем и аудиторий.</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Study data and recomputed pool-based analysis.</a:t>
            </a:r>
          </a:p>
          <a:p xmlns:a="http://schemas.openxmlformats.org/drawingml/2006/main">
            <a:r>
              <a:t>Bajaj et al. (2016), https://arxiv.org/abs/1611.09268</a:t>
            </a:r>
          </a:p>
          <a:p xmlns:a="http://schemas.openxmlformats.org/drawingml/2006/main">
            <a:r>
              <a:t>MS MARCO resources: https://microsoft.github.io/msmarco/Datasets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75 секунд.</a:t>
            </a:r>
          </a:p>
          <a:p xmlns:a="http://schemas.openxmlformats.org/drawingml/2006/main">
            <a:r>
              <a:t/>
            </a:r>
          </a:p>
          <a:p xmlns:a="http://schemas.openxmlformats.org/drawingml/2006/main">
            <a:r>
              <a:t>Для ручной разметки сначала выполняется пулинг: объединение кандидатов из нескольких источников с удалением дубликатов. Поиск по запросу представлен BM25, который сопоставляет термы, и плотными биэнкодерами E5 и BGE. Для каждого из трёх источников сохранены первые десять результатов. Дополнительные каналы включают сходство, вычисленное E5 между кандидатом и известным правильным ответом. Поэтому ручной пул содержит больше кандидатов, чем объединение только трёх выдач. Человек видит запрос, кандидата и исходный релевантный ответ. Это помогает согласовать доразметку с исходным пониманием релевантности. Сигнал известного ответа используется для подготовки и оценки кандидатов, но недоступен обычной модели поиска, работающей только по запросу. В сравнении систем участвуют три источника поиска и их RRF.</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Study data and recomputed pool-based analysis.</a:t>
            </a:r>
          </a:p>
          <a:p xmlns:a="http://schemas.openxmlformats.org/drawingml/2006/main">
            <a:r>
              <a:t>Robertson and Zaragoza (2009), The Probabilistic Relevance Framework: BM25 and Beyond.</a:t>
            </a:r>
          </a:p>
          <a:p xmlns:a="http://schemas.openxmlformats.org/drawingml/2006/main">
            <a:r>
              <a:t>E5: https://arxiv.org/abs/2212.03533</a:t>
            </a:r>
          </a:p>
          <a:p xmlns:a="http://schemas.openxmlformats.org/drawingml/2006/main">
            <a:r>
              <a:t>BGE full-set model: https://huggingface.co/BAAI/bge-small-en-v1.5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На одном и том же наборе из 1179 запросов число положительных пар увеличивается с 1243 до 20597. В среднем это переход с 1,05 до 17,47 релевантного фрагмента на запрос. Доразметка обнаруживает ещё 19354 положительные пары относительно пересечения исходных qrels с ручным пулом. Здесь важно точно понимать знаменатель: мы считаем документы внутри подготовленных пулов. Это не утверждение, что во всей коллекции у каждого запроса ровно семнадцать правильных ответов. Пул специально обогащён вероятно релевантными кандидатами, в том числе с использованием известного ответа. Результат показывает, насколько неполными были исходные оценки именно для этих кандидатов.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Study data and recomputed pool-based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70 секунд.</a:t>
            </a:r>
          </a:p>
          <a:p xmlns:a="http://schemas.openxmlformats.org/drawingml/2006/main">
            <a:r>
              <a:t/>
            </a:r>
          </a:p>
          <a:p xmlns:a="http://schemas.openxmlformats.org/drawingml/2006/main">
            <a:r>
              <a:t>Чтобы оценить влияние доразметки, мы сохраняем выдачи систем и меняем только оценки релевантности. Используется NDCG@10: нормированная мера качества первых десяти результатов, где релевантный документ на более высокой позиции даёт больший вклад. Для каждого запроса и набора разметки идеальный знаменатель рассчитывается по всему пулу и одинаков для всех систем. Он может измениться после доразметки. Все 1179 запросов входят в среднее, даже если система не нашла ни одного положительного документа. RRF, Reciprocal Rank Fusion, объединяет ранги BM25, E5 и BGE. В ручной части у каждого источника берём десять позиций, константа RRF равна 60. Рост метрики в таком сравнении означает более полную оценку существующих ответов, а не улучшение модели после обучения.</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Study data and recomputed pool-based analysis.</a:t>
            </a:r>
          </a:p>
          <a:p xmlns:a="http://schemas.openxmlformats.org/drawingml/2006/main">
            <a:r>
              <a:t>Cormack, Clarke and Buttcher (2009), Reciprocal Rank Fusion outperforms Condorcet and Individual Rank Learning Methods. SIGIR, pp. 758-759.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80 секунд.</a:t>
            </a:r>
          </a:p>
          <a:p xmlns:a="http://schemas.openxmlformats.org/drawingml/2006/main">
            <a:r>
              <a:t/>
            </a:r>
          </a:p>
          <a:p xmlns:a="http://schemas.openxmlformats.org/drawingml/2006/main">
            <a:r>
              <a:t>На графике показаны результаты для одинаковых выдач под исходной и ручной разметкой. Например, BM25 меняется с 0,248 до 0,644, а E5 с 0,488 до 0,879. Для всех четырёх вариантов средний прирост составляет около 0,39. Парные проверки по запросам дают p меньше 0,001, в том числе после поправки на множественные сравнения. Это сильный эффект полноты разметки, но не результат повторного обучения поисковых систем. E5 остаётся лучшей из трёх сравниваемых моделей поиска. Их объединение RRF находится между E5 и BGE и в ручном эксперименте не превосходит E5. Числа относятся к оценке внутри размеченных пулов с общим IDCG, поэтому их нельзя напрямую сравнивать с полнокорпусным лидербордом.</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Study data and recomputed pool-based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80 секунд.</a:t>
            </a:r>
          </a:p>
          <a:p xmlns:a="http://schemas.openxmlformats.org/drawingml/2006/main">
            <a:r>
              <a:t/>
            </a:r>
          </a:p>
          <a:p xmlns:a="http://schemas.openxmlformats.org/drawingml/2006/main">
            <a:r>
              <a:t>Ручная разметка остаётся основой для проверки качества судьи, а модель нужна для расширения эксперимента на гораздо большее число пар. Судья представляет собой компактный cross-encoder MiniLM: он совместно обрабатывает текст запроса и кандидата. Это отличается от биэнкодеров E5 и BGE, которые получают отдельные векторные представления. Судья не получает готовые эмбеддинги, оценки и ранги других моделей или правильный ответ. На отложенных 177 запросах, содержащих 5002 пары, ROC-AUC равен 0,907, precision 0,851, recall 0,902 и F1 0,875. Порог выбирается на валидации и фиксируется до теста. Это свидетельство согласия с ручной разметкой выбранных кандидатов, а не доказательство, что судья сильнее всех моделей поиска.</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Study data and recomputed pool-based analysis.</a:t>
            </a:r>
          </a:p>
          <a:p xmlns:a="http://schemas.openxmlformats.org/drawingml/2006/main">
            <a:r>
              <a:t>MiniLM model: https://huggingface.co/cross-encoder/ms-marco-MiniLM-L6-v2</a:t>
            </a:r>
          </a:p>
          <a:p xmlns:a="http://schemas.openxmlformats.org/drawingml/2006/main">
            <a:r>
              <a:t>Nogueira and Cho (2019), https://arxiv.org/abs/1901.04085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75 секунд.</a:t>
            </a:r>
          </a:p>
          <a:p xmlns:a="http://schemas.openxmlformats.org/drawingml/2006/main">
            <a:r>
              <a:t/>
            </a:r>
          </a:p>
          <a:p xmlns:a="http://schemas.openxmlformats.org/drawingml/2006/main">
            <a:r>
              <a:t>Во второй части берём 101093 запроса и объединяем первые K результатов BM25, E5 и BGE. Для всех глубин используется один судья и один порог. По мере расширения пула среднее число кандидатов растёт примерно с 22 до 452. Среднее число положительных предсказаний растёт с 14,2 до 128,6. На графике все средние рассчитаны по полному набору запросов, включая запросы без положительных предсказаний. Следовательно, утверждение о примерно 129 релевантных документах без описания метода было бы некорректным. Мы наблюдаем плотность положительных предсказаний конкретного судьи в конкретном пуле. Ошибки судьи и целенаправленный отбор кандидатов не позволяют интерпретировать эту величину как истинную релевантность всего корпуса.</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Study data and recomputed pool-based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85 секунд.</a:t>
            </a:r>
          </a:p>
          <a:p xmlns:a="http://schemas.openxmlformats.org/drawingml/2006/main">
            <a:r>
              <a:t/>
            </a:r>
          </a:p>
          <a:p xmlns:a="http://schemas.openxmlformats.org/drawingml/2006/main">
            <a:r>
              <a:t>Теперь сравним RRF и E5 под псевдоразметкой. При K, равном 10, RRF уступает E5 примерно на 0,020 NDCG. На четырёх более глубоких вариантах RRF немного выше E5. При K, равном 200, разница составляет около 0,009, а 95-процентный доверительный интервал примерно от 0,0082 до 0,0095. Здесь одновременно меняются пул оценки и глубина входных списков RRF. Поэтому наблюдение нельзя объяснять только расширением разметки. Выдача E5 в первых десяти позициях остаётся той же, но нормировка может изменяться. У RRF может изменяться и сама выдача. Наконец, оба результата измеряют согласие с этим судьёй. Это условный результат данного эксперимента, а не доказательство универсального превосходства RRF.</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Study data and recomputed pool-based analysis.</a:t>
            </a:r>
          </a:p>
          <a:p xmlns:a="http://schemas.openxmlformats.org/drawingml/2006/main">
            <a:r>
              <a:t>Cormack, Clarke and Buttcher (2009), Reciprocal Rank Fusion outperforms Condorcet and Individual Rank Learning Methods. SIGIR, pp. 758-759.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Текущий судья намеренно ограничен двумя текстами: запросом и кандидатом. Это простой базовый эксперимент, а не оптимальный способ аннотирования. У человека уже есть известный правильный ответ, и естественный следующий шаг состоит в том, чтобы дать эту информацию модели-судье. Планируемый формат входа: запрос, известный релевантный ответ и оцениваемый фрагмент. Такую модель следует сравнить с текущей и более сильными cross-encoder моделями на отложенной ручной разметке. В этой работе такого сравнения ещё нет. Важно также проверить перенос на другие коллекции: наши выводы ограничены английским MS MARCO, выбранными пулами и одним судьёй. Это особенно существенно для обобщений на другие языки, поисковые системы и типы запросов.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Study data and recomputed pool-based analysis.</a:t>
            </a:r>
          </a:p>
          <a:p xmlns:a="http://schemas.openxmlformats.org/drawingml/2006/main">
            <a:r>
              <a:t>MiniLM model: https://huggingface.co/cross-encoder/ms-marco-MiniLM-L6-v2</a:t>
            </a:r>
          </a:p>
          <a:p xmlns:a="http://schemas.openxmlformats.org/drawingml/2006/main">
            <a:r>
              <a:t>Nogueira and Cho (2019), https://arxiv.org/abs/1901.04085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45 секунд.</a:t>
            </a:r>
          </a:p>
          <a:p xmlns:a="http://schemas.openxmlformats.org/drawingml/2006/main">
            <a:r>
              <a:t/>
            </a:r>
          </a:p>
          <a:p xmlns:a="http://schemas.openxmlformats.org/drawingml/2006/main">
            <a:r>
              <a:t>Подведу итог. Ручная доразметка обнаруживает много подходящих ответов, которые отсутствовали в исходных qrels: в среднем 17,47 положительного фрагмента вместо 1,05 в наших пулах. Более полные оценки заметно повышают NDCG неизменных выдач. MiniLM позволяет расширить исследование, но его предсказания нужно отличать от человеческих суждений. Для интерпретации RRF необходимо одновременно указывать глубину пула и глубину входных списков. На более глубоких списках мы видим небольшой выигрыш относительно E5 под псевдоразметкой. Следующий эксперимент должен проверить более сильных судей и использование известного ответа. Спасибо, я готов к вопросам.</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Study data and recomputed pool-based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В расчёте используется бинарная релевантность. DCG@10 суммирует релевантности с логарифмическим дисконтированием позиции. IDCG@10 строится из всех положительных оценок пула, а не только из найденных системой документов. Для одного запроса и набора меток IDCG одинаков для всех сравниваемых систем. Если положительных оценок в пуле нет, NDCG задаётся равным нулю. Такие запросы не исключаются из среднего. Неразмеченные документы сохраняют позиции и получают нулевой вклад. В ручной части различия проверены парным бутстрэпом по запросам и sign-flip тестом. Полный набор использует те же принципы агрегации.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Study data and recomputed pool-based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Разбиение выполняется по запросам, чтобы пары одного запроса не попадали одновременно в обучающую и тестовую части. Использованы 825 обучающих, 177 валидационных и 177 тестовых запросов. После двух эпох дообучения порог выбирается на валидации. Значение примерно минус 0,2187 относится к сырому выходному баллу модели, а не к вероятности. Дополнительная проверка с переранжированием полного ручного пула на 177 тестовых запросах даёт NDCG@10 0,512 под исходными метками и 0,938 под человеческими. Это условное переранжирование заранее обогащённого пула. Его нельзя трактовать как качество первоначального поиска по всему корпусу или доказательство превосходства над всеми генераторами кандидатов.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Study data and recomputed pool-based analysis.</a:t>
            </a:r>
          </a:p>
          <a:p xmlns:a="http://schemas.openxmlformats.org/drawingml/2006/main">
            <a:r>
              <a:t>MiniLM model: https://huggingface.co/cross-encoder/ms-marco-MiniLM-L6-v2</a:t>
            </a:r>
          </a:p>
          <a:p xmlns:a="http://schemas.openxmlformats.org/drawingml/2006/main">
            <a:r>
              <a:t>Nogueira and Cho (2019), https://arxiv.org/abs/1901.04085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Ручной анализ повторён после исключения 23 запросов с нестандартными значениями меток или отсутствующим текстом кандидата. На оставшихся 1156 запросах порядок систем сохраняется, а округлённые оценки почти не меняются. Для большого эксперимента отдельно исключены все 1179 запросов ручной части. На оставшихся 99914 запросах знак разницы RRF и E5 сохраняется как на глубине 10, так и на глубине 200. Это снижает влияние пересечения ручной и автоматической частей, но не превращает псевдоразметку в независимую человеческую оценку. Также возможны общие смещения одного и того же судьи.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Study data and recomputed pool-based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Основные источники для вопросов о коллекции, способах поиска, RRF и архитектуре судьи. Неполные релевантностные оценки и пулинг являются давно известной проблемой информационного поиска. Вклад данной работы состоит в экспериментальной оценке конкретной доразметки и явном контроле условий сравнения. Полные ссылки и дополнительные источники приведены в статье.</a:t>
            </a:r>
          </a:p>
          <a:p xmlns:a="http://schemas.openxmlformats.org/drawingml/2006/main">
            <a:r>
              <a:t/>
            </a:r>
          </a:p>
          <a:p xmlns:a="http://schemas.openxmlformats.org/drawingml/2006/main">
            <a:r>
              <a:t>Источники:</a:t>
            </a:r>
          </a:p>
          <a:p xmlns:a="http://schemas.openxmlformats.org/drawingml/2006/main">
            <a:r>
              <a:t>Bajaj et al. (2016), https://arxiv.org/abs/1611.09268</a:t>
            </a:r>
          </a:p>
          <a:p xmlns:a="http://schemas.openxmlformats.org/drawingml/2006/main">
            <a:r>
              <a:t>MS MARCO resources: https://microsoft.github.io/msmarco/Datasets</a:t>
            </a:r>
          </a:p>
          <a:p xmlns:a="http://schemas.openxmlformats.org/drawingml/2006/main">
            <a:r>
              <a:t/>
            </a:r>
          </a:p>
          <a:p xmlns:a="http://schemas.openxmlformats.org/drawingml/2006/main">
            <a:r>
              <a:t>Robertson and Zaragoza (2009), The Probabilistic Relevance Framework: BM25 and Beyond.</a:t>
            </a:r>
          </a:p>
          <a:p xmlns:a="http://schemas.openxmlformats.org/drawingml/2006/main">
            <a:r>
              <a:t>E5: https://arxiv.org/abs/2212.03533</a:t>
            </a:r>
          </a:p>
          <a:p xmlns:a="http://schemas.openxmlformats.org/drawingml/2006/main">
            <a:r>
              <a:t>BGE full-set model: https://huggingface.co/BAAI/bge-small-en-v1.5</a:t>
            </a:r>
          </a:p>
          <a:p xmlns:a="http://schemas.openxmlformats.org/drawingml/2006/main">
            <a:r>
              <a:t/>
            </a:r>
          </a:p>
          <a:p xmlns:a="http://schemas.openxmlformats.org/drawingml/2006/main">
            <a:r>
              <a:t>Cormack, Clarke and Buttcher (2009), Reciprocal Rank Fusion outperforms Condorcet and Individual Rank Learning Methods. SIGIR, pp. 758-759.</a:t>
            </a:r>
          </a:p>
          <a:p xmlns:a="http://schemas.openxmlformats.org/drawingml/2006/main">
            <a:r>
              <a:t/>
            </a:r>
          </a:p>
          <a:p xmlns:a="http://schemas.openxmlformats.org/drawingml/2006/main">
            <a:r>
              <a:t>MiniLM model: https://huggingface.co/cross-encoder/ms-marco-MiniLM-L6-v2</a:t>
            </a:r>
          </a:p>
          <a:p xmlns:a="http://schemas.openxmlformats.org/drawingml/2006/main">
            <a:r>
              <a:t>Nogueira and Cho (2019), https://arxiv.org/abs/1901.04085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Type="http://schemas.openxmlformats.org/officeDocument/2006/relationships/slideMaster" Target="/ppt/slideMasters/slideMaster1.xml" Id="Rf8e5456f44c0447f"/></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Type="http://schemas.openxmlformats.org/officeDocument/2006/relationships/theme" Target="/ppt/slideMasters/theme/theme2.xml" Id="R4466acd5b2984c51"/><Relationship Type="http://schemas.openxmlformats.org/officeDocument/2006/relationships/slideLayout" Target="/ppt/slideLayouts/slideLayout1.xml" Id="Ra6d503ab5c2241ae"/></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6d503ab5c2241a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1.xml" Id="Ra598557c530c48cc"/><Relationship Type="http://schemas.openxmlformats.org/officeDocument/2006/relationships/image" Target="/ppt/media/image.png" Id="R298317b62e6c4305"/><Relationship Type="http://schemas.openxmlformats.org/officeDocument/2006/relationships/notesSlide" Target="/ppt/notesSlides/notesSlide1.xml" Id="Rb3558f3270284999"/></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1.xml" Id="R6fea07de954741b3"/><Relationship Type="http://schemas.openxmlformats.org/officeDocument/2006/relationships/notesSlide" Target="/ppt/notesSlides/notesSlide2.xml" Id="R4715bfdda7f64731"/></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1.xml" Id="Rd2ca207a75884623"/><Relationship Type="http://schemas.openxmlformats.org/officeDocument/2006/relationships/notesSlide" Target="/ppt/notesSlides/notesSlide3.xml" Id="R12223cbf104d40f6"/></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1.xml" Id="Rc128c89c6090457c"/><Relationship Type="http://schemas.openxmlformats.org/officeDocument/2006/relationships/notesSlide" Target="/ppt/notesSlides/notesSlide4.xml" Id="R8d33363071f647c6"/></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1.xml" Id="R858aa0666f43470b"/><Relationship Type="http://schemas.openxmlformats.org/officeDocument/2006/relationships/chart" Target="/ppt/slides/charts/chart1.xml" Id="Rdb7191125b594fe9"/><Relationship Type="http://schemas.openxmlformats.org/officeDocument/2006/relationships/notesSlide" Target="/ppt/notesSlides/notesSlide5.xml" Id="Rec0d905054454400"/></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1.xml" Id="R6b539b0704534b0d"/><Relationship Type="http://schemas.openxmlformats.org/officeDocument/2006/relationships/notesSlide" Target="/ppt/notesSlides/notesSlide6.xml" Id="R358ff0a150fc4ddf"/></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1.xml" Id="R5c1a25aff44449f6"/><Relationship Type="http://schemas.openxmlformats.org/officeDocument/2006/relationships/chart" Target="/ppt/slides/charts/chart2.xml" Id="Rb7130b3534a54984"/><Relationship Type="http://schemas.openxmlformats.org/officeDocument/2006/relationships/notesSlide" Target="/ppt/notesSlides/notesSlide7.xml" Id="Rf8e36adf794348ec"/></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1.xml" Id="R80899ffa45c34068"/><Relationship Type="http://schemas.openxmlformats.org/officeDocument/2006/relationships/chart" Target="/ppt/slides/charts/chart3.xml" Id="Rc1cf6720de9a4826"/><Relationship Type="http://schemas.openxmlformats.org/officeDocument/2006/relationships/notesSlide" Target="/ppt/notesSlides/notesSlide8.xml" Id="Rbe6bc8c2453c4cc9"/></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1.xml" Id="R93b41a6ace6e477d"/><Relationship Type="http://schemas.openxmlformats.org/officeDocument/2006/relationships/chart" Target="/ppt/slides/charts/chart4.xml" Id="R0cb78694c45d4fce"/><Relationship Type="http://schemas.openxmlformats.org/officeDocument/2006/relationships/notesSlide" Target="/ppt/notesSlides/notesSlide9.xml" Id="R2b007acd6d6046ef"/></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1.xml" Id="R32e55fbf442a4ba4"/><Relationship Type="http://schemas.openxmlformats.org/officeDocument/2006/relationships/chart" Target="/ppt/slides/charts/chart5.xml" Id="R8f67ece648074566"/><Relationship Type="http://schemas.openxmlformats.org/officeDocument/2006/relationships/notesSlide" Target="/ppt/notesSlides/notesSlide10.xml" Id="Ra3cd91d87dd44f19"/></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1.xml" Id="R5b1962ef497b4873"/><Relationship Type="http://schemas.openxmlformats.org/officeDocument/2006/relationships/notesSlide" Target="/ppt/notesSlides/notesSlide11.xml" Id="Rbc4f871f10d446a4"/></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1.xml" Id="Rb52c305bbf944f2f"/><Relationship Type="http://schemas.openxmlformats.org/officeDocument/2006/relationships/notesSlide" Target="/ppt/notesSlides/notesSlide12.xml" Id="R49a39670f6bc4a4b"/></Relationships>
</file>

<file path=ppt/slides/_rels/slide13.xml.rels><?xml version='1.0' encoding='UTF-8' standalone='yes'?>
<Relationships xmlns="http://schemas.openxmlformats.org/package/2006/relationships"><Relationship Type="http://schemas.openxmlformats.org/officeDocument/2006/relationships/slideLayout" Target="/ppt/slideLayouts/slideLayout1.xml" Id="R1595010f97d94ab6"/><Relationship Type="http://schemas.openxmlformats.org/officeDocument/2006/relationships/notesSlide" Target="/ppt/notesSlides/notesSlide13.xml" Id="R495f035cd91b4e58"/></Relationships>
</file>

<file path=ppt/slides/_rels/slide14.xml.rels><?xml version='1.0' encoding='UTF-8' standalone='yes'?>
<Relationships xmlns="http://schemas.openxmlformats.org/package/2006/relationships"><Relationship Type="http://schemas.openxmlformats.org/officeDocument/2006/relationships/slideLayout" Target="/ppt/slideLayouts/slideLayout1.xml" Id="Raf176841cb394f7d"/><Relationship Type="http://schemas.openxmlformats.org/officeDocument/2006/relationships/notesSlide" Target="/ppt/notesSlides/notesSlide14.xml" Id="R1bc2c494074943f7"/></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1.xml" Id="Raf210641d630472f"/><Relationship Type="http://schemas.openxmlformats.org/officeDocument/2006/relationships/notesSlide" Target="/ppt/notesSlides/notesSlide15.xml" Id="Rea3fae486caf4dd6"/></Relationships>
</file>

<file path=ppt/slides/_rels/slide16.xml.rels><?xml version='1.0' encoding='UTF-8' standalone='yes'?>
<Relationships xmlns="http://schemas.openxmlformats.org/package/2006/relationships"><Relationship Type="http://schemas.openxmlformats.org/officeDocument/2006/relationships/slideLayout" Target="/ppt/slideLayouts/slideLayout1.xml" Id="Re28d3a735ef74c21"/><Relationship Type="http://schemas.openxmlformats.org/officeDocument/2006/relationships/notesSlide" Target="/ppt/notesSlides/notesSlide16.xml" Id="Ra23a4559eeda464a"/></Relationships>
</file>

<file path=ppt/slides/charts/chart1.xml><?xml version="1.0" encoding="utf-8"?>
<c:chartSpace xmlns:c="http://schemas.openxmlformats.org/drawingml/2006/chart">
  <c:lang val="en-US"/>
  <c:chart>
    <c:plotArea>
      <c:barChart>
        <c:barDir val="col"/>
        <c:grouping val="clustered"/>
        <c:varyColors val="0"/>
        <c:ser>
          <c:idx val="0"/>
          <c:order val="0"/>
          <c:tx>
            <c:v>Relevant passages/query</c:v>
          </c:tx>
          <c:spPr>
            <a:solidFill xmlns:a="http://schemas.openxmlformats.org/drawingml/2006/main">
              <a:srgbClr val="087F82"/>
            </a:solidFill>
            <a:ln xmlns:a="http://schemas.openxmlformats.org/drawingml/2006/main" w="0">
              <a:noFill/>
            </a:ln>
          </c:spPr>
          <c:dPt>
            <c:idx val="0"/>
            <c:invertIfNegative val="0"/>
            <c:spPr>
              <a:solidFill xmlns:a="http://schemas.openxmlformats.org/drawingml/2006/main">
                <a:srgbClr val="83959D"/>
              </a:solidFill>
            </c:spPr>
          </c:dPt>
          <c:dPt>
            <c:idx val="1"/>
            <c:invertIfNegative val="0"/>
            <c:spPr>
              <a:solidFill xmlns:a="http://schemas.openxmlformats.org/drawingml/2006/main">
                <a:srgbClr val="087F82"/>
              </a:solidFill>
            </c:spPr>
          </c:dPt>
          <c:cat>
            <c:strLit>
              <c:ptCount val="2"/>
              <c:pt idx="0">
                <c:v>Original</c:v>
              </c:pt>
              <c:pt idx="1">
                <c:v>Human</c:v>
              </c:pt>
            </c:strLit>
          </c:cat>
          <c:val>
            <c:numLit>
              <c:formatCode>0.00</c:formatCode>
              <c:ptCount val="2"/>
              <c:pt idx="0">
                <c:v>1.05428329</c:v>
              </c:pt>
              <c:pt idx="1">
                <c:v>17.46988974</c:v>
              </c:pt>
            </c:numLit>
          </c:val>
        </c:ser>
        <c:dLbls>
          <c:txPr>
            <a:bodyPr xmlns:a="http://schemas.openxmlformats.org/drawingml/2006/main" anchorCtr="1"/>
            <a:lstStyle xmlns:a="http://schemas.openxmlformats.org/drawingml/2006/main"/>
            <a:p xmlns:a="http://schemas.openxmlformats.org/drawingml/2006/main">
              <a:pPr>
                <a:defRPr sz="2400" b="1">
                  <a:solidFill>
                    <a:srgbClr val="172B32"/>
                  </a:solidFill>
                  <a:latin typeface="Arial"/>
                  <a:ea typeface="Arial"/>
                  <a:cs typeface="Arial"/>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7E2E4"/>
            </a:solidFill>
          </a:ln>
        </c:spPr>
        <c:txPr>
          <a:bodyPr xmlns:a="http://schemas.openxmlformats.org/drawingml/2006/main" anchorCtr="1"/>
          <a:lstStyle xmlns:a="http://schemas.openxmlformats.org/drawingml/2006/main"/>
          <a:p xmlns:a="http://schemas.openxmlformats.org/drawingml/2006/main">
            <a:pPr>
              <a:defRPr sz="1725">
                <a:solidFill>
                  <a:srgbClr val="53676F"/>
                </a:solidFill>
                <a:latin typeface="Arial"/>
                <a:ea typeface="Arial"/>
                <a:cs typeface="Arial"/>
              </a:defRPr>
            </a:pPr>
          </a:p>
        </c:txPr>
        <c:crossAx val="48672768"/>
      </c:catAx>
      <c:valAx>
        <c:axId val="48672768"/>
        <c:scaling>
          <c:orientation val="minMax"/>
          <c:max val="20"/>
          <c:min val="0"/>
        </c:scaling>
        <c:delete val="0"/>
        <c:axPos val="l"/>
        <c:majorGridlines>
          <c:spPr>
            <a:ln xmlns:a="http://schemas.openxmlformats.org/drawingml/2006/main" w="9525">
              <a:solidFill>
                <a:srgbClr val="D7E2E4"/>
              </a:solidFill>
            </a:ln>
          </c:spPr>
        </c:majorGridlines>
        <c:numFmt formatCode="0"/>
        <c:majorTickMark val="none"/>
        <c:minorTickMark val="none"/>
        <c:spPr>
          <a:ln xmlns:a="http://schemas.openxmlformats.org/drawingml/2006/main" w="9525">
            <a:solidFill>
              <a:srgbClr val="D7E2E4"/>
            </a:solidFill>
          </a:ln>
        </c:spPr>
        <c:txPr>
          <a:bodyPr xmlns:a="http://schemas.openxmlformats.org/drawingml/2006/main" anchorCtr="1"/>
          <a:lstStyle xmlns:a="http://schemas.openxmlformats.org/drawingml/2006/main"/>
          <a:p xmlns:a="http://schemas.openxmlformats.org/drawingml/2006/main">
            <a:pPr>
              <a:defRPr sz="1725">
                <a:solidFill>
                  <a:srgbClr val="53676F"/>
                </a:solidFill>
                <a:latin typeface="Arial"/>
                <a:ea typeface="Arial"/>
                <a:cs typeface="Arial"/>
              </a:defRPr>
            </a:pPr>
          </a:p>
        </c:txPr>
        <c:crossAx val="48650112"/>
        <c:crossBetween val="between"/>
        <c:majorUnit val="5"/>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2.xml><?xml version="1.0" encoding="utf-8"?>
<c:chartSpace xmlns:c="http://schemas.openxmlformats.org/drawingml/2006/chart">
  <c:lang val="en-US"/>
  <c:chart>
    <c:plotArea>
      <c:barChart>
        <c:barDir val="col"/>
        <c:grouping val="clustered"/>
        <c:varyColors val="0"/>
        <c:ser>
          <c:idx val="0"/>
          <c:order val="0"/>
          <c:tx>
            <c:v>Original qrels</c:v>
          </c:tx>
          <c:spPr>
            <a:solidFill xmlns:a="http://schemas.openxmlformats.org/drawingml/2006/main">
              <a:srgbClr val="83959D"/>
            </a:solidFill>
            <a:ln xmlns:a="http://schemas.openxmlformats.org/drawingml/2006/main" w="0">
              <a:noFill/>
            </a:ln>
          </c:spPr>
          <c:cat>
            <c:strLit>
              <c:ptCount val="4"/>
              <c:pt idx="0">
                <c:v>BM25</c:v>
              </c:pt>
              <c:pt idx="1">
                <c:v>E5</c:v>
              </c:pt>
              <c:pt idx="2">
                <c:v>BGE</c:v>
              </c:pt>
              <c:pt idx="3">
                <c:v>RRF (3)</c:v>
              </c:pt>
            </c:strLit>
          </c:cat>
          <c:val>
            <c:numLit>
              <c:formatCode>0.000</c:formatCode>
              <c:ptCount val="4"/>
              <c:pt idx="0">
                <c:v>0.24818879</c:v>
              </c:pt>
              <c:pt idx="1">
                <c:v>0.48799936</c:v>
              </c:pt>
              <c:pt idx="2">
                <c:v>0.43322774</c:v>
              </c:pt>
              <c:pt idx="3">
                <c:v>0.4586425</c:v>
              </c:pt>
            </c:numLit>
          </c:val>
        </c:ser>
        <c:ser>
          <c:idx val="1"/>
          <c:order val="1"/>
          <c:tx>
            <c:v>Human judgments</c:v>
          </c:tx>
          <c:spPr>
            <a:solidFill xmlns:a="http://schemas.openxmlformats.org/drawingml/2006/main">
              <a:srgbClr val="087F82"/>
            </a:solidFill>
            <a:ln xmlns:a="http://schemas.openxmlformats.org/drawingml/2006/main" w="0">
              <a:noFill/>
            </a:ln>
          </c:spPr>
          <c:cat>
            <c:strLit>
              <c:ptCount val="4"/>
              <c:pt idx="0">
                <c:v>BM25</c:v>
              </c:pt>
              <c:pt idx="1">
                <c:v>E5</c:v>
              </c:pt>
              <c:pt idx="2">
                <c:v>BGE</c:v>
              </c:pt>
              <c:pt idx="3">
                <c:v>RRF (3)</c:v>
              </c:pt>
            </c:strLit>
          </c:cat>
          <c:val>
            <c:numLit>
              <c:formatCode>0.000</c:formatCode>
              <c:ptCount val="4"/>
              <c:pt idx="0">
                <c:v>0.64389299</c:v>
              </c:pt>
              <c:pt idx="1">
                <c:v>0.87934606</c:v>
              </c:pt>
              <c:pt idx="2">
                <c:v>0.82795094</c:v>
              </c:pt>
              <c:pt idx="3">
                <c:v>0.85384164</c:v>
              </c:pt>
            </c:numLit>
          </c:val>
        </c:ser>
        <c:dLbls>
          <c:txPr>
            <a:bodyPr xmlns:a="http://schemas.openxmlformats.org/drawingml/2006/main" anchorCtr="1"/>
            <a:lstStyle xmlns:a="http://schemas.openxmlformats.org/drawingml/2006/main"/>
            <a:p xmlns:a="http://schemas.openxmlformats.org/drawingml/2006/main">
              <a:pPr>
                <a:defRPr sz="1800">
                  <a:solidFill>
                    <a:srgbClr val="172B32"/>
                  </a:solidFill>
                  <a:latin typeface="Arial"/>
                  <a:ea typeface="Arial"/>
                  <a:cs typeface="Arial"/>
                </a:defRPr>
              </a:pPr>
            </a:p>
          </c:txPr>
          <c:dLblPos val="outEnd"/>
          <c:showLegendKey val="0"/>
          <c:showVal val="1"/>
          <c:showCatName val="0"/>
          <c:showSerName val="0"/>
          <c:showPercent val="0"/>
          <c:showBubbleSize val="0"/>
          <c:showLeaderLines val="0"/>
        </c:dLbls>
        <c:gapWidth val="11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7E2E4"/>
            </a:solidFill>
          </a:ln>
        </c:spPr>
        <c:txPr>
          <a:bodyPr xmlns:a="http://schemas.openxmlformats.org/drawingml/2006/main" anchorCtr="1"/>
          <a:lstStyle xmlns:a="http://schemas.openxmlformats.org/drawingml/2006/main"/>
          <a:p xmlns:a="http://schemas.openxmlformats.org/drawingml/2006/main">
            <a:pPr>
              <a:defRPr sz="1725">
                <a:solidFill>
                  <a:srgbClr val="53676F"/>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D7E2E4"/>
              </a:solidFill>
            </a:ln>
          </c:spPr>
        </c:majorGridlines>
        <c:numFmt formatCode="0.0"/>
        <c:majorTickMark val="none"/>
        <c:minorTickMark val="none"/>
        <c:spPr>
          <a:ln xmlns:a="http://schemas.openxmlformats.org/drawingml/2006/main" w="9525">
            <a:solidFill>
              <a:srgbClr val="D7E2E4"/>
            </a:solidFill>
          </a:ln>
        </c:spPr>
        <c:txPr>
          <a:bodyPr xmlns:a="http://schemas.openxmlformats.org/drawingml/2006/main" anchorCtr="1"/>
          <a:lstStyle xmlns:a="http://schemas.openxmlformats.org/drawingml/2006/main"/>
          <a:p xmlns:a="http://schemas.openxmlformats.org/drawingml/2006/main">
            <a:pPr>
              <a:defRPr sz="1725">
                <a:solidFill>
                  <a:srgbClr val="53676F"/>
                </a:solidFill>
                <a:latin typeface="Arial"/>
                <a:ea typeface="Arial"/>
                <a:cs typeface="Arial"/>
              </a:defRPr>
            </a:pPr>
          </a:p>
        </c:txPr>
        <c:crossAx val="48650112"/>
        <c:crossBetween val="between"/>
        <c:majorUnit val="0.2"/>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72B32"/>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chartSpace>
</file>

<file path=ppt/slides/charts/chart3.xml><?xml version="1.0" encoding="utf-8"?>
<c:chartSpace xmlns:c="http://schemas.openxmlformats.org/drawingml/2006/chart">
  <c:lang val="en-US"/>
  <c:chart>
    <c:plotArea>
      <c:barChart>
        <c:barDir val="col"/>
        <c:grouping val="clustered"/>
        <c:varyColors val="0"/>
        <c:ser>
          <c:idx val="0"/>
          <c:order val="0"/>
          <c:tx>
            <c:v>Held-out agreement</c:v>
          </c:tx>
          <c:spPr>
            <a:solidFill xmlns:a="http://schemas.openxmlformats.org/drawingml/2006/main">
              <a:srgbClr val="087F82"/>
            </a:solidFill>
            <a:ln xmlns:a="http://schemas.openxmlformats.org/drawingml/2006/main" w="0">
              <a:noFill/>
            </a:ln>
          </c:spPr>
          <c:cat>
            <c:strLit>
              <c:ptCount val="3"/>
              <c:pt idx="0">
                <c:v>Precision</c:v>
              </c:pt>
              <c:pt idx="1">
                <c:v>Recall</c:v>
              </c:pt>
              <c:pt idx="2">
                <c:v>F1</c:v>
              </c:pt>
            </c:strLit>
          </c:cat>
          <c:val>
            <c:numLit>
              <c:formatCode>0.000</c:formatCode>
              <c:ptCount val="3"/>
              <c:pt idx="0">
                <c:v>0.85064935</c:v>
              </c:pt>
              <c:pt idx="1">
                <c:v>0.90175219</c:v>
              </c:pt>
              <c:pt idx="2">
                <c:v>0.87545565</c:v>
              </c:pt>
            </c:numLit>
          </c:val>
        </c:ser>
        <c:dLbls>
          <c:txPr>
            <a:bodyPr xmlns:a="http://schemas.openxmlformats.org/drawingml/2006/main" anchorCtr="1"/>
            <a:lstStyle xmlns:a="http://schemas.openxmlformats.org/drawingml/2006/main"/>
            <a:p xmlns:a="http://schemas.openxmlformats.org/drawingml/2006/main">
              <a:pPr>
                <a:defRPr sz="1950">
                  <a:solidFill>
                    <a:srgbClr val="172B32"/>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7E2E4"/>
            </a:solidFill>
          </a:ln>
        </c:spPr>
        <c:txPr>
          <a:bodyPr xmlns:a="http://schemas.openxmlformats.org/drawingml/2006/main" anchorCtr="1"/>
          <a:lstStyle xmlns:a="http://schemas.openxmlformats.org/drawingml/2006/main"/>
          <a:p xmlns:a="http://schemas.openxmlformats.org/drawingml/2006/main">
            <a:pPr>
              <a:defRPr sz="1725">
                <a:solidFill>
                  <a:srgbClr val="53676F"/>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D7E2E4"/>
              </a:solidFill>
            </a:ln>
          </c:spPr>
        </c:majorGridlines>
        <c:numFmt formatCode="0.00"/>
        <c:majorTickMark val="none"/>
        <c:minorTickMark val="none"/>
        <c:spPr>
          <a:ln xmlns:a="http://schemas.openxmlformats.org/drawingml/2006/main" w="9525">
            <a:solidFill>
              <a:srgbClr val="D7E2E4"/>
            </a:solidFill>
          </a:ln>
        </c:spPr>
        <c:txPr>
          <a:bodyPr xmlns:a="http://schemas.openxmlformats.org/drawingml/2006/main" anchorCtr="1"/>
          <a:lstStyle xmlns:a="http://schemas.openxmlformats.org/drawingml/2006/main"/>
          <a:p xmlns:a="http://schemas.openxmlformats.org/drawingml/2006/main">
            <a:pPr>
              <a:defRPr sz="1725">
                <a:solidFill>
                  <a:srgbClr val="53676F"/>
                </a:solidFill>
                <a:latin typeface="Arial"/>
                <a:ea typeface="Arial"/>
                <a:cs typeface="Arial"/>
              </a:defRPr>
            </a:pPr>
          </a:p>
        </c:txPr>
        <c:crossAx val="48650112"/>
        <c:crossBetween val="between"/>
        <c:majorUnit val="0.25"/>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4.xml><?xml version="1.0" encoding="utf-8"?>
<c:chartSpace xmlns:c="http://schemas.openxmlformats.org/drawingml/2006/chart">
  <c:lang val="en-US"/>
  <c:chart>
    <c:plotArea>
      <c:scatterChart>
        <c:scatterStyle val="lineMarker"/>
        <c:ser>
          <c:idx val="0"/>
          <c:order val="0"/>
          <c:tx>
            <c:v>Candidates</c:v>
          </c:tx>
          <c:spPr>
            <a:solidFill xmlns:a="http://schemas.openxmlformats.org/drawingml/2006/main">
              <a:srgbClr val="83959D"/>
            </a:solidFill>
            <a:ln xmlns:a="http://schemas.openxmlformats.org/drawingml/2006/main" w="33338">
              <a:solidFill>
                <a:srgbClr val="83959D"/>
              </a:solidFill>
            </a:ln>
          </c:spPr>
          <c:marker>
            <c:symbol val="circle"/>
            <c:size val="8"/>
            <c:spPr>
              <a:solidFill xmlns:a="http://schemas.openxmlformats.org/drawingml/2006/main">
                <a:srgbClr val="83959D"/>
              </a:solidFill>
            </c:spPr>
          </c:marker>
          <c:xVal>
            <c:numLit>
              <c:formatCode>General</c:formatCode>
              <c:ptCount val="5"/>
              <c:pt idx="0">
                <c:v>10</c:v>
              </c:pt>
              <c:pt idx="1">
                <c:v>30</c:v>
              </c:pt>
              <c:pt idx="2">
                <c:v>50</c:v>
              </c:pt>
              <c:pt idx="3">
                <c:v>100</c:v>
              </c:pt>
              <c:pt idx="4">
                <c:v>200</c:v>
              </c:pt>
            </c:numLit>
          </c:xVal>
          <c:yVal>
            <c:numLit>
              <c:formatCode>0.0</c:formatCode>
              <c:ptCount val="5"/>
              <c:pt idx="0">
                <c:v>21.88063466</c:v>
              </c:pt>
              <c:pt idx="1">
                <c:v>65.84688356</c:v>
              </c:pt>
              <c:pt idx="2">
                <c:v>110.35612753</c:v>
              </c:pt>
              <c:pt idx="3">
                <c:v>222.9122689</c:v>
              </c:pt>
              <c:pt idx="4">
                <c:v>451.54053199</c:v>
              </c:pt>
            </c:numLit>
          </c:yVal>
          <c:smooth val="0"/>
        </c:ser>
        <c:ser>
          <c:idx val="1"/>
          <c:order val="1"/>
          <c:tx>
            <c:v>Pseudo-positive</c:v>
          </c:tx>
          <c:spPr>
            <a:solidFill xmlns:a="http://schemas.openxmlformats.org/drawingml/2006/main">
              <a:srgbClr val="087F82"/>
            </a:solidFill>
            <a:ln xmlns:a="http://schemas.openxmlformats.org/drawingml/2006/main" w="33338">
              <a:solidFill>
                <a:srgbClr val="087F82"/>
              </a:solidFill>
            </a:ln>
          </c:spPr>
          <c:marker>
            <c:symbol val="circle"/>
            <c:size val="8"/>
            <c:spPr>
              <a:solidFill xmlns:a="http://schemas.openxmlformats.org/drawingml/2006/main">
                <a:srgbClr val="087F82"/>
              </a:solidFill>
            </c:spPr>
          </c:marker>
          <c:xVal>
            <c:numLit>
              <c:formatCode>General</c:formatCode>
              <c:ptCount val="5"/>
              <c:pt idx="0">
                <c:v>10</c:v>
              </c:pt>
              <c:pt idx="1">
                <c:v>30</c:v>
              </c:pt>
              <c:pt idx="2">
                <c:v>50</c:v>
              </c:pt>
              <c:pt idx="3">
                <c:v>100</c:v>
              </c:pt>
              <c:pt idx="4">
                <c:v>200</c:v>
              </c:pt>
            </c:numLit>
          </c:xVal>
          <c:yVal>
            <c:numLit>
              <c:formatCode>0.0</c:formatCode>
              <c:ptCount val="5"/>
              <c:pt idx="0">
                <c:v>14.19208056</c:v>
              </c:pt>
              <c:pt idx="1">
                <c:v>33.7073289</c:v>
              </c:pt>
              <c:pt idx="2">
                <c:v>49.41692303</c:v>
              </c:pt>
              <c:pt idx="3">
                <c:v>81.01592593</c:v>
              </c:pt>
              <c:pt idx="4">
                <c:v>128.63735372</c:v>
              </c:pt>
            </c:numLit>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00"/>
          <c:min val="0"/>
        </c:scaling>
        <c:delete val="0"/>
        <c:axPos val="l"/>
        <c:majorGridlines>
          <c:spPr>
            <a:ln xmlns:a="http://schemas.openxmlformats.org/drawingml/2006/main" w="9525">
              <a:solidFill>
                <a:srgbClr val="D7E2E4"/>
              </a:solidFill>
            </a:ln>
          </c:spPr>
        </c:majorGridlines>
        <c:title>
          <c:tx>
            <c:rich>
              <a:bodyPr xmlns:a="http://schemas.openxmlformats.org/drawingml/2006/main"/>
              <a:lstStyle xmlns:a="http://schemas.openxmlformats.org/drawingml/2006/main"/>
              <a:p xmlns:a="http://schemas.openxmlformats.org/drawingml/2006/main">
                <a:r>
                  <a:rPr sz="1650">
                    <a:solidFill>
                      <a:srgbClr val="53676F"/>
                    </a:solidFill>
                    <a:latin typeface="Arial"/>
                    <a:ea typeface="Arial"/>
                    <a:cs typeface="Arial"/>
                  </a:rPr>
                  <a:t>Mean passages per query</a:t>
                </a:r>
              </a:p>
            </c:rich>
          </c:tx>
          <c:overlay val="0"/>
          <c:txPr>
            <a:bodyPr xmlns:a="http://schemas.openxmlformats.org/drawingml/2006/main" anchorCtr="1"/>
            <a:lstStyle xmlns:a="http://schemas.openxmlformats.org/drawingml/2006/main"/>
            <a:p xmlns:a="http://schemas.openxmlformats.org/drawingml/2006/main">
              <a:pPr>
                <a:defRPr sz="1650">
                  <a:solidFill>
                    <a:srgbClr val="53676F"/>
                  </a:solidFill>
                  <a:latin typeface="Arial"/>
                  <a:ea typeface="Arial"/>
                  <a:cs typeface="Arial"/>
                </a:defRPr>
              </a:pPr>
            </a:p>
          </c:txPr>
        </c:title>
        <c:numFmt formatCode="0"/>
        <c:majorTickMark val="none"/>
        <c:minorTickMark val="none"/>
        <c:spPr>
          <a:ln xmlns:a="http://schemas.openxmlformats.org/drawingml/2006/main" w="9525">
            <a:solidFill>
              <a:srgbClr val="D7E2E4"/>
            </a:solidFill>
          </a:ln>
        </c:spPr>
        <c:txPr>
          <a:bodyPr xmlns:a="http://schemas.openxmlformats.org/drawingml/2006/main" anchorCtr="1"/>
          <a:lstStyle xmlns:a="http://schemas.openxmlformats.org/drawingml/2006/main"/>
          <a:p xmlns:a="http://schemas.openxmlformats.org/drawingml/2006/main">
            <a:pPr>
              <a:defRPr sz="1725">
                <a:solidFill>
                  <a:srgbClr val="53676F"/>
                </a:solidFill>
                <a:latin typeface="Arial"/>
                <a:ea typeface="Arial"/>
                <a:cs typeface="Arial"/>
              </a:defRPr>
            </a:pPr>
          </a:p>
        </c:txPr>
        <c:crossAx val="48650112"/>
        <c:majorUnit val="100"/>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sz="1725">
                    <a:solidFill>
                      <a:srgbClr val="53676F"/>
                    </a:solidFill>
                    <a:latin typeface="Arial"/>
                    <a:ea typeface="Arial"/>
                    <a:cs typeface="Arial"/>
                  </a:rPr>
                  <a:t>Top K per retrieval source</a:t>
                </a:r>
              </a:p>
            </c:rich>
          </c:tx>
          <c:overlay val="0"/>
          <c:txPr>
            <a:bodyPr xmlns:a="http://schemas.openxmlformats.org/drawingml/2006/main" anchorCtr="1"/>
            <a:lstStyle xmlns:a="http://schemas.openxmlformats.org/drawingml/2006/main"/>
            <a:p xmlns:a="http://schemas.openxmlformats.org/drawingml/2006/main">
              <a:pPr>
                <a:defRPr sz="1725">
                  <a:solidFill>
                    <a:srgbClr val="53676F"/>
                  </a:solidFill>
                  <a:latin typeface="Arial"/>
                  <a:ea typeface="Arial"/>
                  <a:cs typeface="Arial"/>
                </a:defRPr>
              </a:pPr>
            </a:p>
          </c:txPr>
        </c:title>
        <c:numFmt formatCode="0"/>
        <c:majorTickMark val="none"/>
        <c:minorTickMark val="none"/>
        <c:spPr>
          <a:ln xmlns:a="http://schemas.openxmlformats.org/drawingml/2006/main" w="9525">
            <a:solidFill>
              <a:srgbClr val="D7E2E4"/>
            </a:solidFill>
          </a:ln>
        </c:spPr>
        <c:txPr>
          <a:bodyPr xmlns:a="http://schemas.openxmlformats.org/drawingml/2006/main" anchorCtr="1"/>
          <a:lstStyle xmlns:a="http://schemas.openxmlformats.org/drawingml/2006/main"/>
          <a:p xmlns:a="http://schemas.openxmlformats.org/drawingml/2006/main">
            <a:pPr>
              <a:defRPr sz="1725">
                <a:solidFill>
                  <a:srgbClr val="53676F"/>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72B32"/>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chartSpace>
</file>

<file path=ppt/slides/charts/chart5.xml><?xml version="1.0" encoding="utf-8"?>
<c:chartSpace xmlns:c="http://schemas.openxmlformats.org/drawingml/2006/chart">
  <c:lang val="en-US"/>
  <c:chart>
    <c:plotArea>
      <c:scatterChart>
        <c:scatterStyle val="lineMarker"/>
        <c:ser>
          <c:idx val="0"/>
          <c:order val="0"/>
          <c:tx>
            <c:v>E5</c:v>
          </c:tx>
          <c:spPr>
            <a:solidFill xmlns:a="http://schemas.openxmlformats.org/drawingml/2006/main">
              <a:srgbClr val="087F82"/>
            </a:solidFill>
            <a:ln xmlns:a="http://schemas.openxmlformats.org/drawingml/2006/main" w="33338">
              <a:solidFill>
                <a:srgbClr val="087F82"/>
              </a:solidFill>
            </a:ln>
          </c:spPr>
          <c:marker>
            <c:symbol val="circle"/>
            <c:size val="9"/>
            <c:spPr>
              <a:solidFill xmlns:a="http://schemas.openxmlformats.org/drawingml/2006/main">
                <a:srgbClr val="087F82"/>
              </a:solidFill>
            </c:spPr>
          </c:marker>
          <c:xVal>
            <c:numLit>
              <c:formatCode>General</c:formatCode>
              <c:ptCount val="5"/>
              <c:pt idx="0">
                <c:v>10</c:v>
              </c:pt>
              <c:pt idx="1">
                <c:v>30</c:v>
              </c:pt>
              <c:pt idx="2">
                <c:v>50</c:v>
              </c:pt>
              <c:pt idx="3">
                <c:v>100</c:v>
              </c:pt>
              <c:pt idx="4">
                <c:v>200</c:v>
              </c:pt>
            </c:numLit>
          </c:xVal>
          <c:yVal>
            <c:numLit>
              <c:formatCode>0.000</c:formatCode>
              <c:ptCount val="5"/>
              <c:pt idx="0">
                <c:v>0.87133204</c:v>
              </c:pt>
              <c:pt idx="1">
                <c:v>0.85097372</c:v>
              </c:pt>
              <c:pt idx="2">
                <c:v>0.84712359</c:v>
              </c:pt>
              <c:pt idx="3">
                <c:v>0.84373246</c:v>
              </c:pt>
              <c:pt idx="4">
                <c:v>0.84151862</c:v>
              </c:pt>
            </c:numLit>
          </c:yVal>
          <c:smooth val="0"/>
        </c:ser>
        <c:ser>
          <c:idx val="1"/>
          <c:order val="1"/>
          <c:tx>
            <c:v>RRF (3)</c:v>
          </c:tx>
          <c:spPr>
            <a:solidFill xmlns:a="http://schemas.openxmlformats.org/drawingml/2006/main">
              <a:srgbClr val="C84F37"/>
            </a:solidFill>
            <a:ln xmlns:a="http://schemas.openxmlformats.org/drawingml/2006/main" w="33338">
              <a:solidFill>
                <a:srgbClr val="C84F37"/>
              </a:solidFill>
            </a:ln>
          </c:spPr>
          <c:marker>
            <c:symbol val="square"/>
            <c:size val="9"/>
            <c:spPr>
              <a:solidFill xmlns:a="http://schemas.openxmlformats.org/drawingml/2006/main">
                <a:srgbClr val="C84F37"/>
              </a:solidFill>
            </c:spPr>
          </c:marker>
          <c:xVal>
            <c:numLit>
              <c:formatCode>General</c:formatCode>
              <c:ptCount val="5"/>
              <c:pt idx="0">
                <c:v>10</c:v>
              </c:pt>
              <c:pt idx="1">
                <c:v>30</c:v>
              </c:pt>
              <c:pt idx="2">
                <c:v>50</c:v>
              </c:pt>
              <c:pt idx="3">
                <c:v>100</c:v>
              </c:pt>
              <c:pt idx="4">
                <c:v>200</c:v>
              </c:pt>
            </c:numLit>
          </c:xVal>
          <c:yVal>
            <c:numLit>
              <c:formatCode>0.000</c:formatCode>
              <c:ptCount val="5"/>
              <c:pt idx="0">
                <c:v>0.85181101</c:v>
              </c:pt>
              <c:pt idx="1">
                <c:v>0.8618314</c:v>
              </c:pt>
              <c:pt idx="2">
                <c:v>0.85566628</c:v>
              </c:pt>
              <c:pt idx="3">
                <c:v>0.85144437</c:v>
              </c:pt>
              <c:pt idx="4">
                <c:v>0.85035055</c:v>
              </c:pt>
            </c:numLit>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89"/>
          <c:min val="0.82"/>
        </c:scaling>
        <c:delete val="0"/>
        <c:axPos val="l"/>
        <c:majorGridlines>
          <c:spPr>
            <a:ln xmlns:a="http://schemas.openxmlformats.org/drawingml/2006/main" w="9525">
              <a:solidFill>
                <a:srgbClr val="D7E2E4"/>
              </a:solidFill>
            </a:ln>
          </c:spPr>
        </c:majorGridlines>
        <c:title>
          <c:tx>
            <c:rich>
              <a:bodyPr xmlns:a="http://schemas.openxmlformats.org/drawingml/2006/main"/>
              <a:lstStyle xmlns:a="http://schemas.openxmlformats.org/drawingml/2006/main"/>
              <a:p xmlns:a="http://schemas.openxmlformats.org/drawingml/2006/main">
                <a:r>
                  <a:rPr sz="1650">
                    <a:solidFill>
                      <a:srgbClr val="53676F"/>
                    </a:solidFill>
                    <a:latin typeface="Arial"/>
                    <a:ea typeface="Arial"/>
                    <a:cs typeface="Arial"/>
                  </a:rPr>
                  <a:t>NDCG@10 under pseudo-labels</a:t>
                </a:r>
              </a:p>
            </c:rich>
          </c:tx>
          <c:overlay val="0"/>
          <c:txPr>
            <a:bodyPr xmlns:a="http://schemas.openxmlformats.org/drawingml/2006/main" anchorCtr="1"/>
            <a:lstStyle xmlns:a="http://schemas.openxmlformats.org/drawingml/2006/main"/>
            <a:p xmlns:a="http://schemas.openxmlformats.org/drawingml/2006/main">
              <a:pPr>
                <a:defRPr sz="1650">
                  <a:solidFill>
                    <a:srgbClr val="53676F"/>
                  </a:solidFill>
                  <a:latin typeface="Arial"/>
                  <a:ea typeface="Arial"/>
                  <a:cs typeface="Arial"/>
                </a:defRPr>
              </a:pPr>
            </a:p>
          </c:txPr>
        </c:title>
        <c:numFmt formatCode="0.00"/>
        <c:majorTickMark val="none"/>
        <c:minorTickMark val="none"/>
        <c:spPr>
          <a:ln xmlns:a="http://schemas.openxmlformats.org/drawingml/2006/main" w="9525">
            <a:solidFill>
              <a:srgbClr val="D7E2E4"/>
            </a:solidFill>
          </a:ln>
        </c:spPr>
        <c:txPr>
          <a:bodyPr xmlns:a="http://schemas.openxmlformats.org/drawingml/2006/main" anchorCtr="1"/>
          <a:lstStyle xmlns:a="http://schemas.openxmlformats.org/drawingml/2006/main"/>
          <a:p xmlns:a="http://schemas.openxmlformats.org/drawingml/2006/main">
            <a:pPr>
              <a:defRPr sz="1725">
                <a:solidFill>
                  <a:srgbClr val="53676F"/>
                </a:solidFill>
                <a:latin typeface="Arial"/>
                <a:ea typeface="Arial"/>
                <a:cs typeface="Arial"/>
              </a:defRPr>
            </a:pPr>
          </a:p>
        </c:txPr>
        <c:crossAx val="48650112"/>
        <c:majorUnit val="0.01"/>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sz="1725">
                    <a:solidFill>
                      <a:srgbClr val="53676F"/>
                    </a:solidFill>
                    <a:latin typeface="Arial"/>
                    <a:ea typeface="Arial"/>
                    <a:cs typeface="Arial"/>
                  </a:rPr>
                  <a:t>Top K for pooling and RRF inputs</a:t>
                </a:r>
              </a:p>
            </c:rich>
          </c:tx>
          <c:overlay val="0"/>
          <c:txPr>
            <a:bodyPr xmlns:a="http://schemas.openxmlformats.org/drawingml/2006/main" anchorCtr="1"/>
            <a:lstStyle xmlns:a="http://schemas.openxmlformats.org/drawingml/2006/main"/>
            <a:p xmlns:a="http://schemas.openxmlformats.org/drawingml/2006/main">
              <a:pPr>
                <a:defRPr sz="1725">
                  <a:solidFill>
                    <a:srgbClr val="53676F"/>
                  </a:solidFill>
                  <a:latin typeface="Arial"/>
                  <a:ea typeface="Arial"/>
                  <a:cs typeface="Arial"/>
                </a:defRPr>
              </a:pPr>
            </a:p>
          </c:txPr>
        </c:title>
        <c:numFmt formatCode="0"/>
        <c:majorTickMark val="none"/>
        <c:minorTickMark val="none"/>
        <c:spPr>
          <a:ln xmlns:a="http://schemas.openxmlformats.org/drawingml/2006/main" w="9525">
            <a:solidFill>
              <a:srgbClr val="D7E2E4"/>
            </a:solidFill>
          </a:ln>
        </c:spPr>
        <c:txPr>
          <a:bodyPr xmlns:a="http://schemas.openxmlformats.org/drawingml/2006/main" anchorCtr="1"/>
          <a:lstStyle xmlns:a="http://schemas.openxmlformats.org/drawingml/2006/main"/>
          <a:p xmlns:a="http://schemas.openxmlformats.org/drawingml/2006/main">
            <a:pPr>
              <a:defRPr sz="1725">
                <a:solidFill>
                  <a:srgbClr val="53676F"/>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72B32"/>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DAMDID 2026">
            <a:extLst xmlns:a="http://schemas.openxmlformats.org/drawingml/2006/main">
              <a:ext uri="{FF2B5EF4-FFF2-40B4-BE49-F238E27FC236}">
                <a16:creationId xmlns:a16="http://schemas.microsoft.com/office/drawing/2014/main" id="{F93212BE-EC4E-4C8F-A2F4-313865EC7A49}"/>
              </a:ext>
            </a:extLst>
          </p:cNvPr>
          <p:cNvSpPr>
            <a:spLocks xmlns:a="http://schemas.openxmlformats.org/drawingml/2006/main" noGrp="1"/>
          </p:cNvSpPr>
          <p:nvPr/>
        </p:nvSpPr>
        <p:spPr>
          <a:xfrm xmlns:a="http://schemas.openxmlformats.org/drawingml/2006/main">
            <a:off x="609600" y="285750"/>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F82"/>
                </a:solidFill>
                <a:latin typeface="Arial"/>
                <a:ea typeface="Arial"/>
                <a:cs typeface="Arial"/>
              </a:defRPr>
            </a:pPr>
            <a:r>
              <a:rPr sz="1350" b="1">
                <a:solidFill>
                  <a:srgbClr val="087F82"/>
                </a:solidFill>
                <a:latin typeface="Arial"/>
                <a:ea typeface="Arial"/>
                <a:cs typeface="Arial"/>
              </a:rPr>
              <a:t>DAMDID 2026</a:t>
            </a:r>
          </a:p>
        </p:txBody>
      </p:sp>
      <p:sp>
        <p:nvSpPr>
          <p:cNvPr id="2" name="">
            <a:extLst xmlns:a="http://schemas.openxmlformats.org/drawingml/2006/main">
              <a:ext uri="{FF2B5EF4-FFF2-40B4-BE49-F238E27FC236}">
                <a16:creationId xmlns:a16="http://schemas.microsoft.com/office/drawing/2014/main" id="{55245AFF-5599-4C2A-BCFB-F627E2329D37}"/>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12383">
            <a:solidFill>
              <a:srgbClr val="D7E2E4"/>
            </a:solidFill>
          </a:ln>
        </p:spPr>
      </p:sp>
      <p:sp>
        <p:nvSpPr>
          <p:cNvPr id="3" name="DAMDID 2026">
            <a:extLst xmlns:a="http://schemas.openxmlformats.org/drawingml/2006/main">
              <a:ext uri="{FF2B5EF4-FFF2-40B4-BE49-F238E27FC236}">
                <a16:creationId xmlns:a16="http://schemas.microsoft.com/office/drawing/2014/main" id="{628E118C-7AB9-4DE0-A43B-A562A1E914F4}"/>
              </a:ext>
            </a:extLst>
          </p:cNvPr>
          <p:cNvSpPr>
            <a:spLocks xmlns:a="http://schemas.openxmlformats.org/drawingml/2006/main" noGrp="1"/>
          </p:cNvSpPr>
          <p:nvPr/>
        </p:nvSpPr>
        <p:spPr>
          <a:xfrm xmlns:a="http://schemas.openxmlformats.org/drawingml/2006/main">
            <a:off x="609600" y="65055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3676F"/>
                </a:solidFill>
                <a:latin typeface="Arial"/>
                <a:ea typeface="Arial"/>
                <a:cs typeface="Arial"/>
              </a:defRPr>
            </a:pPr>
            <a:r>
              <a:rPr sz="1125" b="0">
                <a:solidFill>
                  <a:srgbClr val="53676F"/>
                </a:solidFill>
                <a:latin typeface="Arial"/>
                <a:ea typeface="Arial"/>
                <a:cs typeface="Arial"/>
              </a:rPr>
              <a:t>DAMDID 2026</a:t>
            </a:r>
          </a:p>
        </p:txBody>
      </p:sp>
      <p:sp>
        <p:nvSpPr>
          <p:cNvPr id="4" name="01">
            <a:extLst xmlns:a="http://schemas.openxmlformats.org/drawingml/2006/main">
              <a:ext uri="{FF2B5EF4-FFF2-40B4-BE49-F238E27FC236}">
                <a16:creationId xmlns:a16="http://schemas.microsoft.com/office/drawing/2014/main" id="{91B5BDC6-358A-4CF0-9282-91DBFF9C3D3E}"/>
              </a:ext>
            </a:extLst>
          </p:cNvPr>
          <p:cNvSpPr>
            <a:spLocks xmlns:a="http://schemas.openxmlformats.org/drawingml/2006/main" noGrp="1"/>
          </p:cNvSpPr>
          <p:nvPr/>
        </p:nvSpPr>
        <p:spPr>
          <a:xfrm xmlns:a="http://schemas.openxmlformats.org/drawingml/2006/main">
            <a:off x="11049000" y="64770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53676F"/>
                </a:solidFill>
                <a:latin typeface="Arial"/>
                <a:ea typeface="Arial"/>
                <a:cs typeface="Arial"/>
              </a:defRPr>
            </a:pPr>
            <a:r>
              <a:rPr sz="1350" b="0">
                <a:solidFill>
                  <a:srgbClr val="53676F"/>
                </a:solidFill>
                <a:latin typeface="Arial"/>
                <a:ea typeface="Arial"/>
                <a:cs typeface="Arial"/>
              </a:rPr>
              <a:t>01</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298317b62e6c4305"/>
          <a:srcRect xmlns:a="http://schemas.openxmlformats.org/drawingml/2006/main" l="6296" t="0" r="6296" b="0"/>
          <a:stretch xmlns:a="http://schemas.openxmlformats.org/drawingml/2006/main">
            <a:fillRect l="0" t="0" r="0" b="0"/>
          </a:stretch>
        </p:blipFill>
        <p:spPr>
          <a:xfrm xmlns:a="http://schemas.openxmlformats.org/drawingml/2006/main">
            <a:off x="6572250" y="1809750"/>
            <a:ext cx="5619750" cy="4286250"/>
          </a:xfrm>
          <a:prstGeom xmlns:a="http://schemas.openxmlformats.org/drawingml/2006/main" prst="rect">
            <a:avLst/>
          </a:prstGeom>
        </p:spPr>
      </p:pic>
      <p:sp>
        <p:nvSpPr>
          <p:cNvPr id="6" name="Deep Re-annotation&#10;and Controlled&#10;Candidate Pool">
            <a:extLst xmlns:a="http://schemas.openxmlformats.org/drawingml/2006/main">
              <a:ext uri="{FF2B5EF4-FFF2-40B4-BE49-F238E27FC236}">
                <a16:creationId xmlns:a16="http://schemas.microsoft.com/office/drawing/2014/main" id="{A5F3732F-AC6B-4091-8A7E-15CAC3FD7BAD}"/>
              </a:ext>
            </a:extLst>
          </p:cNvPr>
          <p:cNvSpPr>
            <a:spLocks xmlns:a="http://schemas.openxmlformats.org/drawingml/2006/main" noGrp="1"/>
          </p:cNvSpPr>
          <p:nvPr/>
        </p:nvSpPr>
        <p:spPr>
          <a:xfrm xmlns:a="http://schemas.openxmlformats.org/drawingml/2006/main">
            <a:off x="609600" y="1200150"/>
            <a:ext cx="80010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650" b="1">
                <a:solidFill>
                  <a:srgbClr val="172B32"/>
                </a:solidFill>
                <a:latin typeface="Arial"/>
                <a:ea typeface="Arial"/>
                <a:cs typeface="Arial"/>
              </a:defRPr>
            </a:pPr>
            <a:r>
              <a:rPr sz="4650" b="1">
                <a:solidFill>
                  <a:srgbClr val="172B32"/>
                </a:solidFill>
                <a:latin typeface="Arial"/>
                <a:ea typeface="Arial"/>
                <a:cs typeface="Arial"/>
              </a:rPr>
              <a:t>Deep Re-annotation</a:t>
            </a:r>
          </a:p>
          <a:p xmlns:a="http://schemas.openxmlformats.org/drawingml/2006/main">
            <a:pPr>
              <a:defRPr sz="4650" b="1">
                <a:solidFill>
                  <a:srgbClr val="172B32"/>
                </a:solidFill>
                <a:latin typeface="Arial"/>
                <a:ea typeface="Arial"/>
                <a:cs typeface="Arial"/>
              </a:defRPr>
            </a:pPr>
            <a:r>
              <a:rPr sz="4650" b="1">
                <a:solidFill>
                  <a:srgbClr val="172B32"/>
                </a:solidFill>
                <a:latin typeface="Arial"/>
                <a:ea typeface="Arial"/>
                <a:cs typeface="Arial"/>
              </a:rPr>
              <a:t>and Controlled</a:t>
            </a:r>
          </a:p>
          <a:p xmlns:a="http://schemas.openxmlformats.org/drawingml/2006/main">
            <a:pPr>
              <a:defRPr sz="4650" b="1">
                <a:solidFill>
                  <a:srgbClr val="172B32"/>
                </a:solidFill>
                <a:latin typeface="Arial"/>
                <a:ea typeface="Arial"/>
                <a:cs typeface="Arial"/>
              </a:defRPr>
            </a:pPr>
            <a:r>
              <a:rPr sz="4650" b="1">
                <a:solidFill>
                  <a:srgbClr val="172B32"/>
                </a:solidFill>
                <a:latin typeface="Arial"/>
                <a:ea typeface="Arial"/>
                <a:cs typeface="Arial"/>
              </a:rPr>
              <a:t>Candidate Pools</a:t>
            </a:r>
          </a:p>
        </p:txBody>
      </p:sp>
      <p:sp>
        <p:nvSpPr>
          <p:cNvPr id="7" name="Re-evaluating ranking models&#10;on MS MARCO">
            <a:extLst xmlns:a="http://schemas.openxmlformats.org/drawingml/2006/main">
              <a:ext uri="{FF2B5EF4-FFF2-40B4-BE49-F238E27FC236}">
                <a16:creationId xmlns:a16="http://schemas.microsoft.com/office/drawing/2014/main" id="{2699C584-AC0B-4D52-AD4F-5C618A9DBBCA}"/>
              </a:ext>
            </a:extLst>
          </p:cNvPr>
          <p:cNvSpPr>
            <a:spLocks xmlns:a="http://schemas.openxmlformats.org/drawingml/2006/main" noGrp="1"/>
          </p:cNvSpPr>
          <p:nvPr/>
        </p:nvSpPr>
        <p:spPr>
          <a:xfrm xmlns:a="http://schemas.openxmlformats.org/drawingml/2006/main">
            <a:off x="609600" y="3581400"/>
            <a:ext cx="704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0">
                <a:solidFill>
                  <a:srgbClr val="087F82"/>
                </a:solidFill>
                <a:latin typeface="Arial"/>
                <a:ea typeface="Arial"/>
                <a:cs typeface="Arial"/>
              </a:defRPr>
            </a:pPr>
            <a:r>
              <a:rPr sz="2400" b="0">
                <a:solidFill>
                  <a:srgbClr val="087F82"/>
                </a:solidFill>
                <a:latin typeface="Arial"/>
                <a:ea typeface="Arial"/>
                <a:cs typeface="Arial"/>
              </a:rPr>
              <a:t>Re-evaluating ranking models</a:t>
            </a:r>
          </a:p>
          <a:p xmlns:a="http://schemas.openxmlformats.org/drawingml/2006/main">
            <a:pPr>
              <a:defRPr sz="2400" b="0">
                <a:solidFill>
                  <a:srgbClr val="087F82"/>
                </a:solidFill>
                <a:latin typeface="Arial"/>
                <a:ea typeface="Arial"/>
                <a:cs typeface="Arial"/>
              </a:defRPr>
            </a:pPr>
            <a:r>
              <a:rPr sz="2400" b="0">
                <a:solidFill>
                  <a:srgbClr val="087F82"/>
                </a:solidFill>
                <a:latin typeface="Arial"/>
                <a:ea typeface="Arial"/>
                <a:cs typeface="Arial"/>
              </a:rPr>
              <a:t>on MS MARCO</a:t>
            </a:r>
          </a:p>
        </p:txBody>
      </p:sp>
      <p:sp>
        <p:nvSpPr>
          <p:cNvPr id="8" name="&#10; and  Loukach">
            <a:extLst xmlns:a="http://schemas.openxmlformats.org/drawingml/2006/main">
              <a:ext uri="{FF2B5EF4-FFF2-40B4-BE49-F238E27FC236}">
                <a16:creationId xmlns:a16="http://schemas.microsoft.com/office/drawing/2014/main" id="{56777B06-27DE-4D3B-BE7E-D12E20B44CF5}"/>
              </a:ext>
            </a:extLst>
          </p:cNvPr>
          <p:cNvSpPr>
            <a:spLocks xmlns:a="http://schemas.openxmlformats.org/drawingml/2006/main" noGrp="1"/>
          </p:cNvSpPr>
          <p:nvPr/>
        </p:nvSpPr>
        <p:spPr>
          <a:xfrm xmlns:a="http://schemas.openxmlformats.org/drawingml/2006/main">
            <a:off x="609600" y="5095875"/>
            <a:ext cx="7239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72B32"/>
                </a:solidFill>
                <a:latin typeface="Arial"/>
                <a:ea typeface="Arial"/>
                <a:cs typeface="Arial"/>
              </a:defRPr>
            </a:pPr>
            <a:r>
              <a:rPr sz="1725" b="0">
                <a:solidFill>
                  <a:srgbClr val="172B32"/>
                </a:solidFill>
                <a:latin typeface="Arial"/>
                <a:ea typeface="Arial"/>
                <a:cs typeface="Arial"/>
              </a:rPr>
              <a:t/>
            </a:r>
          </a:p>
          <a:p xmlns:a="http://schemas.openxmlformats.org/drawingml/2006/main">
            <a:pPr>
              <a:defRPr sz="1725" b="0">
                <a:solidFill>
                  <a:srgbClr val="172B32"/>
                </a:solidFill>
                <a:latin typeface="Arial"/>
                <a:ea typeface="Arial"/>
                <a:cs typeface="Arial"/>
              </a:defRPr>
            </a:pPr>
            <a:r>
              <a:rPr sz="1725" b="0">
                <a:solidFill>
                  <a:srgbClr val="172B32"/>
                </a:solidFill>
                <a:latin typeface="Arial"/>
                <a:ea typeface="Arial"/>
                <a:cs typeface="Arial"/>
              </a:rPr>
              <a:t/>
            </a:r>
          </a:p>
        </p:txBody>
      </p:sp>
      <p:sp>
        <p:nvSpPr>
          <p:cNvPr id="9" name="">
            <a:extLst xmlns:a="http://schemas.openxmlformats.org/drawingml/2006/main">
              <a:ext uri="{FF2B5EF4-FFF2-40B4-BE49-F238E27FC236}">
                <a16:creationId xmlns:a16="http://schemas.microsoft.com/office/drawing/2014/main" id="{30015B94-3E11-416D-81B7-234702810ED3}"/>
              </a:ext>
            </a:extLst>
          </p:cNvPr>
          <p:cNvSpPr>
            <a:spLocks xmlns:a="http://schemas.openxmlformats.org/drawingml/2006/main" noGrp="1"/>
          </p:cNvSpPr>
          <p:nvPr/>
        </p:nvSpPr>
        <p:spPr>
          <a:xfrm xmlns:a="http://schemas.openxmlformats.org/drawingml/2006/main">
            <a:off x="609600" y="5829300"/>
            <a:ext cx="723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53676F"/>
                </a:solidFill>
                <a:latin typeface="Arial"/>
                <a:ea typeface="Arial"/>
                <a:cs typeface="Arial"/>
              </a:defRPr>
            </a:pPr>
            <a:r>
              <a:rPr sz="1575" b="0">
                <a:solidFill>
                  <a:srgbClr val="53676F"/>
                </a:solidFill>
                <a:latin typeface="Arial"/>
                <a:ea typeface="Arial"/>
                <a:cs typeface="Arial"/>
              </a:rPr>
              <a:t/>
            </a:r>
          </a:p>
        </p:txBody>
      </p:sp>
    </p:spTree>
    <p:extLst>
      <p:ext uri="{BB962C8B-B14F-4D97-AF65-F5344CB8AC3E}">
        <p14:creationId xmlns:p14="http://schemas.microsoft.com/office/powerpoint/2010/main" val="42482004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ne query can have several correct answers">
            <a:extLst xmlns:a="http://schemas.openxmlformats.org/drawingml/2006/main">
              <a:ext uri="{FF2B5EF4-FFF2-40B4-BE49-F238E27FC236}">
                <a16:creationId xmlns:a16="http://schemas.microsoft.com/office/drawing/2014/main" id="{C3F9BC1C-64A7-45D1-B779-B87D8F0C8C1C}"/>
              </a:ext>
            </a:extLst>
          </p:cNvPr>
          <p:cNvSpPr>
            <a:spLocks xmlns:a="http://schemas.openxmlformats.org/drawingml/2006/main" noGrp="1"/>
          </p:cNvSpPr>
          <p:nvPr/>
        </p:nvSpPr>
        <p:spPr>
          <a:xfrm xmlns:a="http://schemas.openxmlformats.org/drawingml/2006/main">
            <a:off x="609600" y="7048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B32"/>
                </a:solidFill>
                <a:latin typeface="Arial"/>
                <a:ea typeface="Arial"/>
                <a:cs typeface="Arial"/>
              </a:defRPr>
            </a:pPr>
            <a:r>
              <a:rPr sz="3300" b="1">
                <a:solidFill>
                  <a:srgbClr val="172B32"/>
                </a:solidFill>
                <a:latin typeface="Arial"/>
                <a:ea typeface="Arial"/>
                <a:cs typeface="Arial"/>
              </a:rPr>
              <a:t>One query can have several correct answers</a:t>
            </a:r>
          </a:p>
        </p:txBody>
      </p:sp>
      <p:sp>
        <p:nvSpPr>
          <p:cNvPr id="2" name="THE PROBLEM">
            <a:extLst xmlns:a="http://schemas.openxmlformats.org/drawingml/2006/main">
              <a:ext uri="{FF2B5EF4-FFF2-40B4-BE49-F238E27FC236}">
                <a16:creationId xmlns:a16="http://schemas.microsoft.com/office/drawing/2014/main" id="{45B07A54-94EF-44E2-9DDF-365B01126145}"/>
              </a:ext>
            </a:extLst>
          </p:cNvPr>
          <p:cNvSpPr>
            <a:spLocks xmlns:a="http://schemas.openxmlformats.org/drawingml/2006/main" noGrp="1"/>
          </p:cNvSpPr>
          <p:nvPr/>
        </p:nvSpPr>
        <p:spPr>
          <a:xfrm xmlns:a="http://schemas.openxmlformats.org/drawingml/2006/main">
            <a:off x="609600" y="285750"/>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F82"/>
                </a:solidFill>
                <a:latin typeface="Arial"/>
                <a:ea typeface="Arial"/>
                <a:cs typeface="Arial"/>
              </a:defRPr>
            </a:pPr>
            <a:r>
              <a:rPr sz="1350" b="1">
                <a:solidFill>
                  <a:srgbClr val="087F82"/>
                </a:solidFill>
                <a:latin typeface="Arial"/>
                <a:ea typeface="Arial"/>
                <a:cs typeface="Arial"/>
              </a:rPr>
              <a:t>THE PROBLEM</a:t>
            </a:r>
          </a:p>
        </p:txBody>
      </p:sp>
      <p:sp>
        <p:nvSpPr>
          <p:cNvPr id="3" name="">
            <a:extLst xmlns:a="http://schemas.openxmlformats.org/drawingml/2006/main">
              <a:ext uri="{FF2B5EF4-FFF2-40B4-BE49-F238E27FC236}">
                <a16:creationId xmlns:a16="http://schemas.microsoft.com/office/drawing/2014/main" id="{0D285238-C131-46DD-883C-26B5EFA38FF9}"/>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12383">
            <a:solidFill>
              <a:srgbClr val="D7E2E4"/>
            </a:solidFill>
          </a:ln>
        </p:spPr>
      </p:sp>
      <p:sp>
        <p:nvSpPr>
          <p:cNvPr id="4" name="DAMDID 2026">
            <a:extLst xmlns:a="http://schemas.openxmlformats.org/drawingml/2006/main">
              <a:ext uri="{FF2B5EF4-FFF2-40B4-BE49-F238E27FC236}">
                <a16:creationId xmlns:a16="http://schemas.microsoft.com/office/drawing/2014/main" id="{07BB3182-8E1A-4D7E-89D5-996BAD20E7D9}"/>
              </a:ext>
            </a:extLst>
          </p:cNvPr>
          <p:cNvSpPr>
            <a:spLocks xmlns:a="http://schemas.openxmlformats.org/drawingml/2006/main" noGrp="1"/>
          </p:cNvSpPr>
          <p:nvPr/>
        </p:nvSpPr>
        <p:spPr>
          <a:xfrm xmlns:a="http://schemas.openxmlformats.org/drawingml/2006/main">
            <a:off x="609600" y="65055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3676F"/>
                </a:solidFill>
                <a:latin typeface="Arial"/>
                <a:ea typeface="Arial"/>
                <a:cs typeface="Arial"/>
              </a:defRPr>
            </a:pPr>
            <a:r>
              <a:rPr sz="1125" b="0">
                <a:solidFill>
                  <a:srgbClr val="53676F"/>
                </a:solidFill>
                <a:latin typeface="Arial"/>
                <a:ea typeface="Arial"/>
                <a:cs typeface="Arial"/>
              </a:rPr>
              <a:t>DAMDID 2026</a:t>
            </a:r>
          </a:p>
        </p:txBody>
      </p:sp>
      <p:sp>
        <p:nvSpPr>
          <p:cNvPr id="5" name="02">
            <a:extLst xmlns:a="http://schemas.openxmlformats.org/drawingml/2006/main">
              <a:ext uri="{FF2B5EF4-FFF2-40B4-BE49-F238E27FC236}">
                <a16:creationId xmlns:a16="http://schemas.microsoft.com/office/drawing/2014/main" id="{10CBC395-DA85-47D7-B018-CBEAAE3C9C4B}"/>
              </a:ext>
            </a:extLst>
          </p:cNvPr>
          <p:cNvSpPr>
            <a:spLocks xmlns:a="http://schemas.openxmlformats.org/drawingml/2006/main" noGrp="1"/>
          </p:cNvSpPr>
          <p:nvPr/>
        </p:nvSpPr>
        <p:spPr>
          <a:xfrm xmlns:a="http://schemas.openxmlformats.org/drawingml/2006/main">
            <a:off x="11049000" y="64770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53676F"/>
                </a:solidFill>
                <a:latin typeface="Arial"/>
                <a:ea typeface="Arial"/>
                <a:cs typeface="Arial"/>
              </a:defRPr>
            </a:pPr>
            <a:r>
              <a:rPr sz="1350" b="0">
                <a:solidFill>
                  <a:srgbClr val="53676F"/>
                </a:solidFill>
                <a:latin typeface="Arial"/>
                <a:ea typeface="Arial"/>
                <a:cs typeface="Arial"/>
              </a:rPr>
              <a:t>02</a:t>
            </a:r>
          </a:p>
        </p:txBody>
      </p:sp>
      <p:sp>
        <p:nvSpPr>
          <p:cNvPr id="6" name="“what causes boiling point to increase”">
            <a:extLst xmlns:a="http://schemas.openxmlformats.org/drawingml/2006/main">
              <a:ext uri="{FF2B5EF4-FFF2-40B4-BE49-F238E27FC236}">
                <a16:creationId xmlns:a16="http://schemas.microsoft.com/office/drawing/2014/main" id="{32D2967D-7430-46A3-AA33-4B0D6062BBA3}"/>
              </a:ext>
            </a:extLst>
          </p:cNvPr>
          <p:cNvSpPr>
            <a:spLocks xmlns:a="http://schemas.openxmlformats.org/drawingml/2006/main" noGrp="1"/>
          </p:cNvSpPr>
          <p:nvPr/>
        </p:nvSpPr>
        <p:spPr>
          <a:xfrm xmlns:a="http://schemas.openxmlformats.org/drawingml/2006/main">
            <a:off x="609600" y="1743075"/>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75" b="1">
                <a:solidFill>
                  <a:srgbClr val="087F82"/>
                </a:solidFill>
                <a:latin typeface="Arial"/>
                <a:ea typeface="Arial"/>
                <a:cs typeface="Arial"/>
              </a:defRPr>
            </a:pPr>
            <a:r>
              <a:rPr sz="2475" b="1">
                <a:solidFill>
                  <a:srgbClr val="087F82"/>
                </a:solidFill>
                <a:latin typeface="Arial"/>
                <a:ea typeface="Arial"/>
                <a:cs typeface="Arial"/>
              </a:rPr>
              <a:t>“what causes boiling point to increase”</a:t>
            </a:r>
          </a:p>
        </p:txBody>
      </p:sp>
      <p:graphicFrame>
        <p:nvGraphicFramePr>
          <p:cNvPr id="15" name=""/>
          <p:cNvGraphicFramePr/>
          <p:nvPr/>
        </p:nvGraphicFramePr>
        <p:xfrm>
          <a:off xmlns:a="http://schemas.openxmlformats.org/drawingml/2006/main" x="609600" y="2457450"/>
          <a:ext xmlns:a="http://schemas.openxmlformats.org/drawingml/2006/main" cx="10972800" cy="2800350"/>
        </p:xfrm>
        <a:graphic xmlns:a="http://schemas.openxmlformats.org/drawingml/2006/main">
          <a:graphicData uri="http://schemas.openxmlformats.org/drawingml/2006/table">
            <a:tbl>
              <a:tblPr firstRow="0" firstCol="0" lastRow="0" lastCol="0" bandRow="0" bandCol="0"/>
              <a:tblGrid>
                <a:gridCol w="6610350"/>
                <a:gridCol w="2114550"/>
                <a:gridCol w="2247900"/>
              </a:tblGrid>
              <a:tr h="514350">
                <a:tc>
                  <a:txBody>
                    <a:bodyPr lIns="171450" tIns="114300" rIns="171450" bIns="114300">
                      <a:noAutofit/>
                    </a:bodyPr>
                    <a:lstStyle/>
                    <a:p>
                      <a:r>
                        <a:rPr sz="1725" b="1">
                          <a:solidFill>
                            <a:srgbClr val="53676F"/>
                          </a:solidFill>
                          <a:latin typeface="Arial"/>
                          <a:ea typeface="Arial"/>
                          <a:cs typeface="Arial"/>
                        </a:rPr>
                        <a:t>Passage (shortened)</a:t>
                      </a:r>
                    </a:p>
                  </a:txBody>
                  <a:tcPr marL="91440" marR="91440" marT="45720" marB="45720" anchor="ctr">
                    <a:solidFill>
                      <a:srgbClr val="EDF5F4"/>
                    </a:solidFill>
                  </a:tcPr>
                </a:tc>
                <a:tc>
                  <a:txBody>
                    <a:bodyPr lIns="171450" tIns="114300" rIns="171450" bIns="114300">
                      <a:noAutofit/>
                    </a:bodyPr>
                    <a:lstStyle/>
                    <a:p>
                      <a:r>
                        <a:rPr sz="1725" b="1">
                          <a:solidFill>
                            <a:srgbClr val="53676F"/>
                          </a:solidFill>
                          <a:latin typeface="Arial"/>
                          <a:ea typeface="Arial"/>
                          <a:cs typeface="Arial"/>
                        </a:rPr>
                        <a:t>Original qrels</a:t>
                      </a:r>
                    </a:p>
                  </a:txBody>
                  <a:tcPr marL="91440" marR="91440" marT="45720" marB="45720" anchor="ctr">
                    <a:solidFill>
                      <a:srgbClr val="EDF5F4"/>
                    </a:solidFill>
                  </a:tcPr>
                </a:tc>
                <a:tc>
                  <a:txBody>
                    <a:bodyPr lIns="171450" tIns="114300" rIns="171450" bIns="114300">
                      <a:noAutofit/>
                    </a:bodyPr>
                    <a:lstStyle/>
                    <a:p>
                      <a:r>
                        <a:rPr sz="1725" b="1">
                          <a:solidFill>
                            <a:srgbClr val="53676F"/>
                          </a:solidFill>
                          <a:latin typeface="Arial"/>
                          <a:ea typeface="Arial"/>
                          <a:cs typeface="Arial"/>
                        </a:rPr>
                        <a:t>Human label</a:t>
                      </a:r>
                    </a:p>
                  </a:txBody>
                  <a:tcPr marL="91440" marR="91440" marT="45720" marB="45720" anchor="ctr">
                    <a:solidFill>
                      <a:srgbClr val="EDF5F4"/>
                    </a:solidFill>
                  </a:tcPr>
                </a:tc>
              </a:tr>
              <a:tr h="762000">
                <a:tc>
                  <a:txBody>
                    <a:bodyPr lIns="171450" tIns="114300" rIns="171450" bIns="114300">
                      <a:noAutofit/>
                    </a:bodyPr>
                    <a:lstStyle/>
                    <a:p>
                      <a:r>
                        <a:rPr sz="1875" b="0">
                          <a:solidFill>
                            <a:srgbClr val="172B32"/>
                          </a:solidFill>
                          <a:latin typeface="Arial"/>
                          <a:ea typeface="Arial"/>
                          <a:cs typeface="Arial"/>
                        </a:rPr>
                        <a:t>7112148  Adding salt raises the boiling point.</a:t>
                      </a:r>
                    </a:p>
                  </a:txBody>
                  <a:tcPr marL="91440" marR="91440" marT="45720" marB="45720" anchor="ctr">
                    <a:solidFill>
                      <a:srgbClr val="FFFFFF"/>
                    </a:solidFill>
                  </a:tcPr>
                </a:tc>
                <a:tc>
                  <a:txBody>
                    <a:bodyPr lIns="171450" tIns="114300" rIns="171450" bIns="114300">
                      <a:noAutofit/>
                    </a:bodyPr>
                    <a:lstStyle/>
                    <a:p>
                      <a:r>
                        <a:rPr sz="1875" b="0">
                          <a:solidFill>
                            <a:srgbClr val="172B32"/>
                          </a:solidFill>
                          <a:latin typeface="Arial"/>
                          <a:ea typeface="Arial"/>
                          <a:cs typeface="Arial"/>
                        </a:rPr>
                        <a:t>Relevant</a:t>
                      </a:r>
                    </a:p>
                  </a:txBody>
                  <a:tcPr marL="91440" marR="91440" marT="45720" marB="45720" anchor="ctr">
                    <a:solidFill>
                      <a:srgbClr val="FFFFFF"/>
                    </a:solidFill>
                  </a:tcPr>
                </a:tc>
                <a:tc>
                  <a:txBody>
                    <a:bodyPr lIns="171450" tIns="114300" rIns="171450" bIns="114300">
                      <a:noAutofit/>
                    </a:bodyPr>
                    <a:lstStyle/>
                    <a:p>
                      <a:r>
                        <a:rPr sz="1875" b="0">
                          <a:solidFill>
                            <a:srgbClr val="172B32"/>
                          </a:solidFill>
                          <a:latin typeface="Arial"/>
                          <a:ea typeface="Arial"/>
                          <a:cs typeface="Arial"/>
                        </a:rPr>
                        <a:t>Relevant</a:t>
                      </a:r>
                    </a:p>
                  </a:txBody>
                  <a:tcPr marL="91440" marR="91440" marT="45720" marB="45720" anchor="ctr">
                    <a:solidFill>
                      <a:srgbClr val="FFFFFF"/>
                    </a:solidFill>
                  </a:tcPr>
                </a:tc>
              </a:tr>
              <a:tr h="762000">
                <a:tc>
                  <a:txBody>
                    <a:bodyPr lIns="171450" tIns="114300" rIns="171450" bIns="114300">
                      <a:noAutofit/>
                    </a:bodyPr>
                    <a:lstStyle/>
                    <a:p>
                      <a:r>
                        <a:rPr sz="1875" b="0">
                          <a:solidFill>
                            <a:srgbClr val="172B32"/>
                          </a:solidFill>
                          <a:latin typeface="Arial"/>
                          <a:ea typeface="Arial"/>
                          <a:cs typeface="Arial"/>
                        </a:rPr>
                        <a:t>7399382  A non-volatile solute raises the boiling point.</a:t>
                      </a:r>
                    </a:p>
                  </a:txBody>
                  <a:tcPr marL="91440" marR="91440" marT="45720" marB="45720" anchor="ctr">
                    <a:solidFill>
                      <a:srgbClr val="FFFFFF"/>
                    </a:solidFill>
                  </a:tcPr>
                </a:tc>
                <a:tc>
                  <a:txBody>
                    <a:bodyPr lIns="171450" tIns="114300" rIns="171450" bIns="114300">
                      <a:noAutofit/>
                    </a:bodyPr>
                    <a:lstStyle/>
                    <a:p>
                      <a:r>
                        <a:rPr sz="1875" b="0">
                          <a:solidFill>
                            <a:srgbClr val="172B32"/>
                          </a:solidFill>
                          <a:latin typeface="Arial"/>
                          <a:ea typeface="Arial"/>
                          <a:cs typeface="Arial"/>
                        </a:rPr>
                        <a:t>Unjudged</a:t>
                      </a:r>
                    </a:p>
                  </a:txBody>
                  <a:tcPr marL="91440" marR="91440" marT="45720" marB="45720" anchor="ctr">
                    <a:solidFill>
                      <a:srgbClr val="FFFFFF"/>
                    </a:solidFill>
                  </a:tcPr>
                </a:tc>
                <a:tc>
                  <a:txBody>
                    <a:bodyPr lIns="171450" tIns="114300" rIns="171450" bIns="114300">
                      <a:noAutofit/>
                    </a:bodyPr>
                    <a:lstStyle/>
                    <a:p>
                      <a:r>
                        <a:rPr sz="1875" b="1">
                          <a:solidFill>
                            <a:srgbClr val="087F82"/>
                          </a:solidFill>
                          <a:latin typeface="Arial"/>
                          <a:ea typeface="Arial"/>
                          <a:cs typeface="Arial"/>
                        </a:rPr>
                        <a:t>Relevant</a:t>
                      </a:r>
                    </a:p>
                  </a:txBody>
                  <a:tcPr marL="91440" marR="91440" marT="45720" marB="45720" anchor="ctr">
                    <a:solidFill>
                      <a:srgbClr val="F2F8F7"/>
                    </a:solidFill>
                  </a:tcPr>
                </a:tc>
              </a:tr>
              <a:tr h="762000">
                <a:tc>
                  <a:txBody>
                    <a:bodyPr lIns="171450" tIns="114300" rIns="171450" bIns="114300">
                      <a:noAutofit/>
                    </a:bodyPr>
                    <a:lstStyle/>
                    <a:p>
                      <a:r>
                        <a:rPr sz="1875" b="0">
                          <a:solidFill>
                            <a:srgbClr val="172B32"/>
                          </a:solidFill>
                          <a:latin typeface="Arial"/>
                          <a:ea typeface="Arial"/>
                          <a:cs typeface="Arial"/>
                        </a:rPr>
                        <a:t>987600  The boiling temperature of acetone.</a:t>
                      </a:r>
                    </a:p>
                  </a:txBody>
                  <a:tcPr marL="91440" marR="91440" marT="45720" marB="45720" anchor="ctr">
                    <a:solidFill>
                      <a:srgbClr val="FFFFFF"/>
                    </a:solidFill>
                  </a:tcPr>
                </a:tc>
                <a:tc>
                  <a:txBody>
                    <a:bodyPr lIns="171450" tIns="114300" rIns="171450" bIns="114300">
                      <a:noAutofit/>
                    </a:bodyPr>
                    <a:lstStyle/>
                    <a:p>
                      <a:r>
                        <a:rPr sz="1875" b="0">
                          <a:solidFill>
                            <a:srgbClr val="172B32"/>
                          </a:solidFill>
                          <a:latin typeface="Arial"/>
                          <a:ea typeface="Arial"/>
                          <a:cs typeface="Arial"/>
                        </a:rPr>
                        <a:t>Unjudged</a:t>
                      </a:r>
                    </a:p>
                  </a:txBody>
                  <a:tcPr marL="91440" marR="91440" marT="45720" marB="45720" anchor="ctr">
                    <a:solidFill>
                      <a:srgbClr val="FFFFFF"/>
                    </a:solidFill>
                  </a:tcPr>
                </a:tc>
                <a:tc>
                  <a:txBody>
                    <a:bodyPr lIns="171450" tIns="114300" rIns="171450" bIns="114300">
                      <a:noAutofit/>
                    </a:bodyPr>
                    <a:lstStyle/>
                    <a:p>
                      <a:r>
                        <a:rPr sz="1875" b="0">
                          <a:solidFill>
                            <a:srgbClr val="172B32"/>
                          </a:solidFill>
                          <a:latin typeface="Arial"/>
                          <a:ea typeface="Arial"/>
                          <a:cs typeface="Arial"/>
                        </a:rPr>
                        <a:t>Not relevant</a:t>
                      </a:r>
                    </a:p>
                  </a:txBody>
                  <a:tcPr marL="91440" marR="91440" marT="45720" marB="45720" anchor="ctr">
                    <a:solidFill>
                      <a:srgbClr val="FFFFFF"/>
                    </a:solidFill>
                  </a:tcPr>
                </a:tc>
              </a:tr>
            </a:tbl>
          </a:graphicData>
        </a:graphic>
      </p:graphicFrame>
      <p:sp>
        <p:nvSpPr>
          <p:cNvPr id="8" name="qrels = query relevance judgments. Unjudged pass">
            <a:extLst xmlns:a="http://schemas.openxmlformats.org/drawingml/2006/main">
              <a:ext uri="{FF2B5EF4-FFF2-40B4-BE49-F238E27FC236}">
                <a16:creationId xmlns:a16="http://schemas.microsoft.com/office/drawing/2014/main" id="{121AA41D-196E-4964-AE21-07CD87459E44}"/>
              </a:ext>
            </a:extLst>
          </p:cNvPr>
          <p:cNvSpPr>
            <a:spLocks xmlns:a="http://schemas.openxmlformats.org/drawingml/2006/main" noGrp="1"/>
          </p:cNvSpPr>
          <p:nvPr/>
        </p:nvSpPr>
        <p:spPr>
          <a:xfrm xmlns:a="http://schemas.openxmlformats.org/drawingml/2006/main">
            <a:off x="609600" y="5638800"/>
            <a:ext cx="10858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72B32"/>
                </a:solidFill>
                <a:latin typeface="Arial"/>
                <a:ea typeface="Arial"/>
                <a:cs typeface="Arial"/>
              </a:defRPr>
            </a:pPr>
            <a:r>
              <a:rPr sz="1950" b="0">
                <a:solidFill>
                  <a:srgbClr val="172B32"/>
                </a:solidFill>
                <a:latin typeface="Arial"/>
                <a:ea typeface="Arial"/>
                <a:cs typeface="Arial"/>
              </a:rPr>
              <a:t>qrels = query relevance judgments. Unjudged passages receive zero gain.</a:t>
            </a:r>
          </a:p>
        </p:txBody>
      </p:sp>
    </p:spTree>
    <p:extLst>
      <p:ext uri="{BB962C8B-B14F-4D97-AF65-F5344CB8AC3E}">
        <p14:creationId xmlns:p14="http://schemas.microsoft.com/office/powerpoint/2010/main" val="25905134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Annotation coverage at two scales">
            <a:extLst xmlns:a="http://schemas.openxmlformats.org/drawingml/2006/main">
              <a:ext uri="{FF2B5EF4-FFF2-40B4-BE49-F238E27FC236}">
                <a16:creationId xmlns:a16="http://schemas.microsoft.com/office/drawing/2014/main" id="{999B655A-2297-48C5-ADC4-A01BD3A6E613}"/>
              </a:ext>
            </a:extLst>
          </p:cNvPr>
          <p:cNvSpPr>
            <a:spLocks xmlns:a="http://schemas.openxmlformats.org/drawingml/2006/main" noGrp="1"/>
          </p:cNvSpPr>
          <p:nvPr/>
        </p:nvSpPr>
        <p:spPr>
          <a:xfrm xmlns:a="http://schemas.openxmlformats.org/drawingml/2006/main">
            <a:off x="609600" y="7048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B32"/>
                </a:solidFill>
                <a:latin typeface="Arial"/>
                <a:ea typeface="Arial"/>
                <a:cs typeface="Arial"/>
              </a:defRPr>
            </a:pPr>
            <a:r>
              <a:rPr sz="3300" b="1">
                <a:solidFill>
                  <a:srgbClr val="172B32"/>
                </a:solidFill>
                <a:latin typeface="Arial"/>
                <a:ea typeface="Arial"/>
                <a:cs typeface="Arial"/>
              </a:rPr>
              <a:t>Annotation coverage at two scales</a:t>
            </a:r>
          </a:p>
        </p:txBody>
      </p:sp>
      <p:sp>
        <p:nvSpPr>
          <p:cNvPr id="2" name="STUDY DESIGN">
            <a:extLst xmlns:a="http://schemas.openxmlformats.org/drawingml/2006/main">
              <a:ext uri="{FF2B5EF4-FFF2-40B4-BE49-F238E27FC236}">
                <a16:creationId xmlns:a16="http://schemas.microsoft.com/office/drawing/2014/main" id="{7387397D-0DAC-4FE5-94AD-61F95191161F}"/>
              </a:ext>
            </a:extLst>
          </p:cNvPr>
          <p:cNvSpPr>
            <a:spLocks xmlns:a="http://schemas.openxmlformats.org/drawingml/2006/main" noGrp="1"/>
          </p:cNvSpPr>
          <p:nvPr/>
        </p:nvSpPr>
        <p:spPr>
          <a:xfrm xmlns:a="http://schemas.openxmlformats.org/drawingml/2006/main">
            <a:off x="609600" y="285750"/>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F82"/>
                </a:solidFill>
                <a:latin typeface="Arial"/>
                <a:ea typeface="Arial"/>
                <a:cs typeface="Arial"/>
              </a:defRPr>
            </a:pPr>
            <a:r>
              <a:rPr sz="1350" b="1">
                <a:solidFill>
                  <a:srgbClr val="087F82"/>
                </a:solidFill>
                <a:latin typeface="Arial"/>
                <a:ea typeface="Arial"/>
                <a:cs typeface="Arial"/>
              </a:rPr>
              <a:t>STUDY DESIGN</a:t>
            </a:r>
          </a:p>
        </p:txBody>
      </p:sp>
      <p:sp>
        <p:nvSpPr>
          <p:cNvPr id="3" name="">
            <a:extLst xmlns:a="http://schemas.openxmlformats.org/drawingml/2006/main">
              <a:ext uri="{FF2B5EF4-FFF2-40B4-BE49-F238E27FC236}">
                <a16:creationId xmlns:a16="http://schemas.microsoft.com/office/drawing/2014/main" id="{BF1AA784-5993-417F-B651-188BA1AF5A10}"/>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12383">
            <a:solidFill>
              <a:srgbClr val="D7E2E4"/>
            </a:solidFill>
          </a:ln>
        </p:spPr>
      </p:sp>
      <p:sp>
        <p:nvSpPr>
          <p:cNvPr id="4" name="DAMDID 2026">
            <a:extLst xmlns:a="http://schemas.openxmlformats.org/drawingml/2006/main">
              <a:ext uri="{FF2B5EF4-FFF2-40B4-BE49-F238E27FC236}">
                <a16:creationId xmlns:a16="http://schemas.microsoft.com/office/drawing/2014/main" id="{9D252444-FFFB-4538-9ACF-C16B1ACF70DB}"/>
              </a:ext>
            </a:extLst>
          </p:cNvPr>
          <p:cNvSpPr>
            <a:spLocks xmlns:a="http://schemas.openxmlformats.org/drawingml/2006/main" noGrp="1"/>
          </p:cNvSpPr>
          <p:nvPr/>
        </p:nvSpPr>
        <p:spPr>
          <a:xfrm xmlns:a="http://schemas.openxmlformats.org/drawingml/2006/main">
            <a:off x="609600" y="65055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3676F"/>
                </a:solidFill>
                <a:latin typeface="Arial"/>
                <a:ea typeface="Arial"/>
                <a:cs typeface="Arial"/>
              </a:defRPr>
            </a:pPr>
            <a:r>
              <a:rPr sz="1125" b="0">
                <a:solidFill>
                  <a:srgbClr val="53676F"/>
                </a:solidFill>
                <a:latin typeface="Arial"/>
                <a:ea typeface="Arial"/>
                <a:cs typeface="Arial"/>
              </a:rPr>
              <a:t>DAMDID 2026</a:t>
            </a:r>
          </a:p>
        </p:txBody>
      </p:sp>
      <p:sp>
        <p:nvSpPr>
          <p:cNvPr id="5" name="03">
            <a:extLst xmlns:a="http://schemas.openxmlformats.org/drawingml/2006/main">
              <a:ext uri="{FF2B5EF4-FFF2-40B4-BE49-F238E27FC236}">
                <a16:creationId xmlns:a16="http://schemas.microsoft.com/office/drawing/2014/main" id="{23271A6D-E3D8-409C-BA05-26DE162AD087}"/>
              </a:ext>
            </a:extLst>
          </p:cNvPr>
          <p:cNvSpPr>
            <a:spLocks xmlns:a="http://schemas.openxmlformats.org/drawingml/2006/main" noGrp="1"/>
          </p:cNvSpPr>
          <p:nvPr/>
        </p:nvSpPr>
        <p:spPr>
          <a:xfrm xmlns:a="http://schemas.openxmlformats.org/drawingml/2006/main">
            <a:off x="11049000" y="64770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53676F"/>
                </a:solidFill>
                <a:latin typeface="Arial"/>
                <a:ea typeface="Arial"/>
                <a:cs typeface="Arial"/>
              </a:defRPr>
            </a:pPr>
            <a:r>
              <a:rPr sz="1350" b="0">
                <a:solidFill>
                  <a:srgbClr val="53676F"/>
                </a:solidFill>
                <a:latin typeface="Arial"/>
                <a:ea typeface="Arial"/>
                <a:cs typeface="Arial"/>
              </a:rPr>
              <a:t>03</a:t>
            </a:r>
          </a:p>
        </p:txBody>
      </p:sp>
      <p:sp>
        <p:nvSpPr>
          <p:cNvPr id="6" name="MS MARCO Passage Ranking">
            <a:extLst xmlns:a="http://schemas.openxmlformats.org/drawingml/2006/main">
              <a:ext uri="{FF2B5EF4-FFF2-40B4-BE49-F238E27FC236}">
                <a16:creationId xmlns:a16="http://schemas.microsoft.com/office/drawing/2014/main" id="{4A2A8422-2A07-468A-A4B5-6CDF133F5B1F}"/>
              </a:ext>
            </a:extLst>
          </p:cNvPr>
          <p:cNvSpPr>
            <a:spLocks xmlns:a="http://schemas.openxmlformats.org/drawingml/2006/main" noGrp="1"/>
          </p:cNvSpPr>
          <p:nvPr/>
        </p:nvSpPr>
        <p:spPr>
          <a:xfrm xmlns:a="http://schemas.openxmlformats.org/drawingml/2006/main">
            <a:off x="609600" y="1809750"/>
            <a:ext cx="952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53676F"/>
                </a:solidFill>
                <a:latin typeface="Arial"/>
                <a:ea typeface="Arial"/>
                <a:cs typeface="Arial"/>
              </a:defRPr>
            </a:pPr>
            <a:r>
              <a:rPr sz="2250" b="0">
                <a:solidFill>
                  <a:srgbClr val="53676F"/>
                </a:solidFill>
                <a:latin typeface="Arial"/>
                <a:ea typeface="Arial"/>
                <a:cs typeface="Arial"/>
              </a:rPr>
              <a:t>MS MARCO Passage Ranking</a:t>
            </a:r>
          </a:p>
        </p:txBody>
      </p:sp>
      <p:sp>
        <p:nvSpPr>
          <p:cNvPr id="7" name="8.84 million English passages">
            <a:extLst xmlns:a="http://schemas.openxmlformats.org/drawingml/2006/main">
              <a:ext uri="{FF2B5EF4-FFF2-40B4-BE49-F238E27FC236}">
                <a16:creationId xmlns:a16="http://schemas.microsoft.com/office/drawing/2014/main" id="{0EB502A4-7E07-42BC-BCD0-D8247B7A2F9F}"/>
              </a:ext>
            </a:extLst>
          </p:cNvPr>
          <p:cNvSpPr>
            <a:spLocks xmlns:a="http://schemas.openxmlformats.org/drawingml/2006/main" noGrp="1"/>
          </p:cNvSpPr>
          <p:nvPr/>
        </p:nvSpPr>
        <p:spPr>
          <a:xfrm xmlns:a="http://schemas.openxmlformats.org/drawingml/2006/main">
            <a:off x="609600" y="2276475"/>
            <a:ext cx="10477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925" b="1">
                <a:solidFill>
                  <a:srgbClr val="172B32"/>
                </a:solidFill>
                <a:latin typeface="Arial"/>
                <a:ea typeface="Arial"/>
                <a:cs typeface="Arial"/>
              </a:defRPr>
            </a:pPr>
            <a:r>
              <a:rPr sz="2925" b="1">
                <a:solidFill>
                  <a:srgbClr val="172B32"/>
                </a:solidFill>
                <a:latin typeface="Arial"/>
                <a:ea typeface="Arial"/>
                <a:cs typeface="Arial"/>
              </a:rPr>
              <a:t>8.84 million English passages</a:t>
            </a:r>
          </a:p>
        </p:txBody>
      </p:sp>
      <p:sp>
        <p:nvSpPr>
          <p:cNvPr id="8" name="">
            <a:extLst xmlns:a="http://schemas.openxmlformats.org/drawingml/2006/main">
              <a:ext uri="{FF2B5EF4-FFF2-40B4-BE49-F238E27FC236}">
                <a16:creationId xmlns:a16="http://schemas.microsoft.com/office/drawing/2014/main" id="{9CBC06FE-9F65-4246-B22A-DFBB4208E092}"/>
              </a:ext>
            </a:extLst>
          </p:cNvPr>
          <p:cNvSpPr>
            <a:spLocks xmlns:a="http://schemas.openxmlformats.org/drawingml/2006/main" noGrp="1"/>
          </p:cNvSpPr>
          <p:nvPr/>
        </p:nvSpPr>
        <p:spPr>
          <a:xfrm xmlns:a="http://schemas.openxmlformats.org/drawingml/2006/main">
            <a:off x="609600" y="3133725"/>
            <a:ext cx="10972800" cy="0"/>
          </a:xfrm>
          <a:prstGeom xmlns:a="http://schemas.openxmlformats.org/drawingml/2006/main" prst="line">
            <a:avLst/>
          </a:prstGeom>
          <a:noFill xmlns:a="http://schemas.openxmlformats.org/drawingml/2006/main"/>
          <a:ln xmlns:a="http://schemas.openxmlformats.org/drawingml/2006/main" w="12383">
            <a:solidFill>
              <a:srgbClr val="D7E2E4"/>
            </a:solidFill>
          </a:ln>
        </p:spPr>
      </p:sp>
      <p:sp>
        <p:nvSpPr>
          <p:cNvPr id="9" name="1,179">
            <a:extLst xmlns:a="http://schemas.openxmlformats.org/drawingml/2006/main">
              <a:ext uri="{FF2B5EF4-FFF2-40B4-BE49-F238E27FC236}">
                <a16:creationId xmlns:a16="http://schemas.microsoft.com/office/drawing/2014/main" id="{8CC64F4B-459F-4B98-9162-2F7A2F59B484}"/>
              </a:ext>
            </a:extLst>
          </p:cNvPr>
          <p:cNvSpPr>
            <a:spLocks xmlns:a="http://schemas.openxmlformats.org/drawingml/2006/main" noGrp="1"/>
          </p:cNvSpPr>
          <p:nvPr/>
        </p:nvSpPr>
        <p:spPr>
          <a:xfrm xmlns:a="http://schemas.openxmlformats.org/drawingml/2006/main">
            <a:off x="609600" y="3505200"/>
            <a:ext cx="4762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5550" b="1">
                <a:solidFill>
                  <a:srgbClr val="087F82"/>
                </a:solidFill>
                <a:latin typeface="Arial"/>
                <a:ea typeface="Arial"/>
                <a:cs typeface="Arial"/>
              </a:defRPr>
            </a:pPr>
            <a:r>
              <a:rPr sz="5550" b="1">
                <a:solidFill>
                  <a:srgbClr val="087F82"/>
                </a:solidFill>
                <a:latin typeface="Arial"/>
                <a:ea typeface="Arial"/>
                <a:cs typeface="Arial"/>
              </a:rPr>
              <a:t>1,179</a:t>
            </a:r>
          </a:p>
        </p:txBody>
      </p:sp>
      <p:sp>
        <p:nvSpPr>
          <p:cNvPr id="10" name="queries with human judgments">
            <a:extLst xmlns:a="http://schemas.openxmlformats.org/drawingml/2006/main">
              <a:ext uri="{FF2B5EF4-FFF2-40B4-BE49-F238E27FC236}">
                <a16:creationId xmlns:a16="http://schemas.microsoft.com/office/drawing/2014/main" id="{5879F7D5-F683-44B9-A858-913A768EC7C4}"/>
              </a:ext>
            </a:extLst>
          </p:cNvPr>
          <p:cNvSpPr>
            <a:spLocks xmlns:a="http://schemas.openxmlformats.org/drawingml/2006/main" noGrp="1"/>
          </p:cNvSpPr>
          <p:nvPr/>
        </p:nvSpPr>
        <p:spPr>
          <a:xfrm xmlns:a="http://schemas.openxmlformats.org/drawingml/2006/main">
            <a:off x="609600" y="4429125"/>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2B32"/>
                </a:solidFill>
                <a:latin typeface="Arial"/>
                <a:ea typeface="Arial"/>
                <a:cs typeface="Arial"/>
              </a:defRPr>
            </a:pPr>
            <a:r>
              <a:rPr sz="2100" b="0">
                <a:solidFill>
                  <a:srgbClr val="172B32"/>
                </a:solidFill>
                <a:latin typeface="Arial"/>
                <a:ea typeface="Arial"/>
                <a:cs typeface="Arial"/>
              </a:rPr>
              <a:t>queries with human judgments</a:t>
            </a:r>
          </a:p>
        </p:txBody>
      </p:sp>
      <p:sp>
        <p:nvSpPr>
          <p:cNvPr id="11" name="33,667 query–passage pairs">
            <a:extLst xmlns:a="http://schemas.openxmlformats.org/drawingml/2006/main">
              <a:ext uri="{FF2B5EF4-FFF2-40B4-BE49-F238E27FC236}">
                <a16:creationId xmlns:a16="http://schemas.microsoft.com/office/drawing/2014/main" id="{E3FA83C9-F9C5-45C0-9874-FFEDCC7B344B}"/>
              </a:ext>
            </a:extLst>
          </p:cNvPr>
          <p:cNvSpPr>
            <a:spLocks xmlns:a="http://schemas.openxmlformats.org/drawingml/2006/main" noGrp="1"/>
          </p:cNvSpPr>
          <p:nvPr/>
        </p:nvSpPr>
        <p:spPr>
          <a:xfrm xmlns:a="http://schemas.openxmlformats.org/drawingml/2006/main">
            <a:off x="609600" y="4943475"/>
            <a:ext cx="4857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53676F"/>
                </a:solidFill>
                <a:latin typeface="Arial"/>
                <a:ea typeface="Arial"/>
                <a:cs typeface="Arial"/>
              </a:defRPr>
            </a:pPr>
            <a:r>
              <a:rPr sz="1875" b="0">
                <a:solidFill>
                  <a:srgbClr val="53676F"/>
                </a:solidFill>
                <a:latin typeface="Arial"/>
                <a:ea typeface="Arial"/>
                <a:cs typeface="Arial"/>
              </a:rPr>
              <a:t>33,667 query–passage pairs</a:t>
            </a:r>
          </a:p>
        </p:txBody>
      </p:sp>
      <p:sp>
        <p:nvSpPr>
          <p:cNvPr id="12" name="101,093">
            <a:extLst xmlns:a="http://schemas.openxmlformats.org/drawingml/2006/main">
              <a:ext uri="{FF2B5EF4-FFF2-40B4-BE49-F238E27FC236}">
                <a16:creationId xmlns:a16="http://schemas.microsoft.com/office/drawing/2014/main" id="{A1F1E57E-F773-4163-BA7D-DA6CA1472993}"/>
              </a:ext>
            </a:extLst>
          </p:cNvPr>
          <p:cNvSpPr>
            <a:spLocks xmlns:a="http://schemas.openxmlformats.org/drawingml/2006/main" noGrp="1"/>
          </p:cNvSpPr>
          <p:nvPr/>
        </p:nvSpPr>
        <p:spPr>
          <a:xfrm xmlns:a="http://schemas.openxmlformats.org/drawingml/2006/main">
            <a:off x="6667500" y="3505200"/>
            <a:ext cx="49149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5550" b="1">
                <a:solidFill>
                  <a:srgbClr val="C84F37"/>
                </a:solidFill>
                <a:latin typeface="Arial"/>
                <a:ea typeface="Arial"/>
                <a:cs typeface="Arial"/>
              </a:defRPr>
            </a:pPr>
            <a:r>
              <a:rPr sz="5550" b="1">
                <a:solidFill>
                  <a:srgbClr val="C84F37"/>
                </a:solidFill>
                <a:latin typeface="Arial"/>
                <a:ea typeface="Arial"/>
                <a:cs typeface="Arial"/>
              </a:rPr>
              <a:t>101,093</a:t>
            </a:r>
          </a:p>
        </p:txBody>
      </p:sp>
      <p:sp>
        <p:nvSpPr>
          <p:cNvPr id="13" name="queries with judge predictions">
            <a:extLst xmlns:a="http://schemas.openxmlformats.org/drawingml/2006/main">
              <a:ext uri="{FF2B5EF4-FFF2-40B4-BE49-F238E27FC236}">
                <a16:creationId xmlns:a16="http://schemas.microsoft.com/office/drawing/2014/main" id="{2C866ED5-4091-45CE-851A-F538954C8A41}"/>
              </a:ext>
            </a:extLst>
          </p:cNvPr>
          <p:cNvSpPr>
            <a:spLocks xmlns:a="http://schemas.openxmlformats.org/drawingml/2006/main" noGrp="1"/>
          </p:cNvSpPr>
          <p:nvPr/>
        </p:nvSpPr>
        <p:spPr>
          <a:xfrm xmlns:a="http://schemas.openxmlformats.org/drawingml/2006/main">
            <a:off x="6667500" y="4429125"/>
            <a:ext cx="4914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2B32"/>
                </a:solidFill>
                <a:latin typeface="Arial"/>
                <a:ea typeface="Arial"/>
                <a:cs typeface="Arial"/>
              </a:defRPr>
            </a:pPr>
            <a:r>
              <a:rPr sz="2100" b="0">
                <a:solidFill>
                  <a:srgbClr val="172B32"/>
                </a:solidFill>
                <a:latin typeface="Arial"/>
                <a:ea typeface="Arial"/>
                <a:cs typeface="Arial"/>
              </a:rPr>
              <a:t>queries with judge predictions</a:t>
            </a:r>
          </a:p>
        </p:txBody>
      </p:sp>
      <p:sp>
        <p:nvSpPr>
          <p:cNvPr id="14" name="Candidate depth varies from 10 to 200">
            <a:extLst xmlns:a="http://schemas.openxmlformats.org/drawingml/2006/main">
              <a:ext uri="{FF2B5EF4-FFF2-40B4-BE49-F238E27FC236}">
                <a16:creationId xmlns:a16="http://schemas.microsoft.com/office/drawing/2014/main" id="{711D88D7-50C3-4FA2-8EEC-9DE8F3ECDAFF}"/>
              </a:ext>
            </a:extLst>
          </p:cNvPr>
          <p:cNvSpPr>
            <a:spLocks xmlns:a="http://schemas.openxmlformats.org/drawingml/2006/main" noGrp="1"/>
          </p:cNvSpPr>
          <p:nvPr/>
        </p:nvSpPr>
        <p:spPr>
          <a:xfrm xmlns:a="http://schemas.openxmlformats.org/drawingml/2006/main">
            <a:off x="6667500" y="4943475"/>
            <a:ext cx="49149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53676F"/>
                </a:solidFill>
                <a:latin typeface="Arial"/>
                <a:ea typeface="Arial"/>
                <a:cs typeface="Arial"/>
              </a:defRPr>
            </a:pPr>
            <a:r>
              <a:rPr sz="1875" b="0">
                <a:solidFill>
                  <a:srgbClr val="53676F"/>
                </a:solidFill>
                <a:latin typeface="Arial"/>
                <a:ea typeface="Arial"/>
                <a:cs typeface="Arial"/>
              </a:rPr>
              <a:t>Candidate depth varies from 10 to 200</a:t>
            </a:r>
          </a:p>
        </p:txBody>
      </p:sp>
      <p:sp>
        <p:nvSpPr>
          <p:cNvPr id="15" name="“Deep” refers to judgment coverage within a defi">
            <a:extLst xmlns:a="http://schemas.openxmlformats.org/drawingml/2006/main">
              <a:ext uri="{FF2B5EF4-FFF2-40B4-BE49-F238E27FC236}">
                <a16:creationId xmlns:a16="http://schemas.microsoft.com/office/drawing/2014/main" id="{940CB084-85E6-4231-9AC9-035F7F3CCCE3}"/>
              </a:ext>
            </a:extLst>
          </p:cNvPr>
          <p:cNvSpPr>
            <a:spLocks xmlns:a="http://schemas.openxmlformats.org/drawingml/2006/main" noGrp="1"/>
          </p:cNvSpPr>
          <p:nvPr/>
        </p:nvSpPr>
        <p:spPr>
          <a:xfrm xmlns:a="http://schemas.openxmlformats.org/drawingml/2006/main">
            <a:off x="609600" y="5829300"/>
            <a:ext cx="10906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72B32"/>
                </a:solidFill>
                <a:latin typeface="Arial"/>
                <a:ea typeface="Arial"/>
                <a:cs typeface="Arial"/>
              </a:defRPr>
            </a:pPr>
            <a:r>
              <a:rPr sz="1875" b="0">
                <a:solidFill>
                  <a:srgbClr val="172B32"/>
                </a:solidFill>
                <a:latin typeface="Arial"/>
                <a:ea typeface="Arial"/>
                <a:cs typeface="Arial"/>
              </a:rPr>
              <a:t>“Deep” refers to judgment coverage within a defined candidate pool.</a:t>
            </a:r>
          </a:p>
        </p:txBody>
      </p:sp>
    </p:spTree>
    <p:extLst>
      <p:ext uri="{BB962C8B-B14F-4D97-AF65-F5344CB8AC3E}">
        <p14:creationId xmlns:p14="http://schemas.microsoft.com/office/powerpoint/2010/main" val="72252530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Pooling and human assessment">
            <a:extLst xmlns:a="http://schemas.openxmlformats.org/drawingml/2006/main">
              <a:ext uri="{FF2B5EF4-FFF2-40B4-BE49-F238E27FC236}">
                <a16:creationId xmlns:a16="http://schemas.microsoft.com/office/drawing/2014/main" id="{0BB98AD7-A7FC-4ED6-9AC3-B8E519FC6440}"/>
              </a:ext>
            </a:extLst>
          </p:cNvPr>
          <p:cNvSpPr>
            <a:spLocks xmlns:a="http://schemas.openxmlformats.org/drawingml/2006/main" noGrp="1"/>
          </p:cNvSpPr>
          <p:nvPr/>
        </p:nvSpPr>
        <p:spPr>
          <a:xfrm xmlns:a="http://schemas.openxmlformats.org/drawingml/2006/main">
            <a:off x="609600" y="7048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B32"/>
                </a:solidFill>
                <a:latin typeface="Arial"/>
                <a:ea typeface="Arial"/>
                <a:cs typeface="Arial"/>
              </a:defRPr>
            </a:pPr>
            <a:r>
              <a:rPr sz="3300" b="1">
                <a:solidFill>
                  <a:srgbClr val="172B32"/>
                </a:solidFill>
                <a:latin typeface="Arial"/>
                <a:ea typeface="Arial"/>
                <a:cs typeface="Arial"/>
              </a:rPr>
              <a:t>Pooling and human assessment</a:t>
            </a:r>
          </a:p>
        </p:txBody>
      </p:sp>
      <p:sp>
        <p:nvSpPr>
          <p:cNvPr id="2" name="MANUAL ANNOTATION">
            <a:extLst xmlns:a="http://schemas.openxmlformats.org/drawingml/2006/main">
              <a:ext uri="{FF2B5EF4-FFF2-40B4-BE49-F238E27FC236}">
                <a16:creationId xmlns:a16="http://schemas.microsoft.com/office/drawing/2014/main" id="{32F920AB-3496-4531-AFA7-D351F2488761}"/>
              </a:ext>
            </a:extLst>
          </p:cNvPr>
          <p:cNvSpPr>
            <a:spLocks xmlns:a="http://schemas.openxmlformats.org/drawingml/2006/main" noGrp="1"/>
          </p:cNvSpPr>
          <p:nvPr/>
        </p:nvSpPr>
        <p:spPr>
          <a:xfrm xmlns:a="http://schemas.openxmlformats.org/drawingml/2006/main">
            <a:off x="609600" y="285750"/>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F82"/>
                </a:solidFill>
                <a:latin typeface="Arial"/>
                <a:ea typeface="Arial"/>
                <a:cs typeface="Arial"/>
              </a:defRPr>
            </a:pPr>
            <a:r>
              <a:rPr sz="1350" b="1">
                <a:solidFill>
                  <a:srgbClr val="087F82"/>
                </a:solidFill>
                <a:latin typeface="Arial"/>
                <a:ea typeface="Arial"/>
                <a:cs typeface="Arial"/>
              </a:rPr>
              <a:t>MANUAL ANNOTATION</a:t>
            </a:r>
          </a:p>
        </p:txBody>
      </p:sp>
      <p:sp>
        <p:nvSpPr>
          <p:cNvPr id="3" name="">
            <a:extLst xmlns:a="http://schemas.openxmlformats.org/drawingml/2006/main">
              <a:ext uri="{FF2B5EF4-FFF2-40B4-BE49-F238E27FC236}">
                <a16:creationId xmlns:a16="http://schemas.microsoft.com/office/drawing/2014/main" id="{4EFD8A44-8612-44B6-BA74-8A3B56AB3B0E}"/>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12383">
            <a:solidFill>
              <a:srgbClr val="D7E2E4"/>
            </a:solidFill>
          </a:ln>
        </p:spPr>
      </p:sp>
      <p:sp>
        <p:nvSpPr>
          <p:cNvPr id="4" name="DAMDID 2026">
            <a:extLst xmlns:a="http://schemas.openxmlformats.org/drawingml/2006/main">
              <a:ext uri="{FF2B5EF4-FFF2-40B4-BE49-F238E27FC236}">
                <a16:creationId xmlns:a16="http://schemas.microsoft.com/office/drawing/2014/main" id="{C7EEE264-8FEC-40DC-9A08-DEB3C2F7AD88}"/>
              </a:ext>
            </a:extLst>
          </p:cNvPr>
          <p:cNvSpPr>
            <a:spLocks xmlns:a="http://schemas.openxmlformats.org/drawingml/2006/main" noGrp="1"/>
          </p:cNvSpPr>
          <p:nvPr/>
        </p:nvSpPr>
        <p:spPr>
          <a:xfrm xmlns:a="http://schemas.openxmlformats.org/drawingml/2006/main">
            <a:off x="609600" y="65055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3676F"/>
                </a:solidFill>
                <a:latin typeface="Arial"/>
                <a:ea typeface="Arial"/>
                <a:cs typeface="Arial"/>
              </a:defRPr>
            </a:pPr>
            <a:r>
              <a:rPr sz="1125" b="0">
                <a:solidFill>
                  <a:srgbClr val="53676F"/>
                </a:solidFill>
                <a:latin typeface="Arial"/>
                <a:ea typeface="Arial"/>
                <a:cs typeface="Arial"/>
              </a:rPr>
              <a:t>DAMDID 2026</a:t>
            </a:r>
          </a:p>
        </p:txBody>
      </p:sp>
      <p:sp>
        <p:nvSpPr>
          <p:cNvPr id="5" name="04">
            <a:extLst xmlns:a="http://schemas.openxmlformats.org/drawingml/2006/main">
              <a:ext uri="{FF2B5EF4-FFF2-40B4-BE49-F238E27FC236}">
                <a16:creationId xmlns:a16="http://schemas.microsoft.com/office/drawing/2014/main" id="{24C8E54A-C3CC-42B2-9D9B-177F1087C94A}"/>
              </a:ext>
            </a:extLst>
          </p:cNvPr>
          <p:cNvSpPr>
            <a:spLocks xmlns:a="http://schemas.openxmlformats.org/drawingml/2006/main" noGrp="1"/>
          </p:cNvSpPr>
          <p:nvPr/>
        </p:nvSpPr>
        <p:spPr>
          <a:xfrm xmlns:a="http://schemas.openxmlformats.org/drawingml/2006/main">
            <a:off x="11049000" y="64770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53676F"/>
                </a:solidFill>
                <a:latin typeface="Arial"/>
                <a:ea typeface="Arial"/>
                <a:cs typeface="Arial"/>
              </a:defRPr>
            </a:pPr>
            <a:r>
              <a:rPr sz="1350" b="0">
                <a:solidFill>
                  <a:srgbClr val="53676F"/>
                </a:solidFill>
                <a:latin typeface="Arial"/>
                <a:ea typeface="Arial"/>
                <a:cs typeface="Arial"/>
              </a:rPr>
              <a:t>04</a:t>
            </a:r>
          </a:p>
        </p:txBody>
      </p:sp>
      <p:sp>
        <p:nvSpPr>
          <p:cNvPr id="6" name="Query-based retrieval&#10;BM25, E5, BGE&#10;Top 10 from each">
            <a:extLst xmlns:a="http://schemas.openxmlformats.org/drawingml/2006/main">
              <a:ext uri="{FF2B5EF4-FFF2-40B4-BE49-F238E27FC236}">
                <a16:creationId xmlns:a16="http://schemas.microsoft.com/office/drawing/2014/main" id="{4734091A-0BDF-4B38-B3C5-C268703FF0DA}"/>
              </a:ext>
            </a:extLst>
          </p:cNvPr>
          <p:cNvSpPr>
            <a:spLocks xmlns:a="http://schemas.openxmlformats.org/drawingml/2006/main" noGrp="1"/>
          </p:cNvSpPr>
          <p:nvPr/>
        </p:nvSpPr>
        <p:spPr>
          <a:xfrm xmlns:a="http://schemas.openxmlformats.org/drawingml/2006/main">
            <a:off x="609600" y="2047875"/>
            <a:ext cx="3048000" cy="1524000"/>
          </a:xfrm>
          <a:prstGeom xmlns:a="http://schemas.openxmlformats.org/drawingml/2006/main" prst="rect">
            <a:avLst/>
          </a:prstGeom>
          <a:solidFill xmlns:a="http://schemas.openxmlformats.org/drawingml/2006/main">
            <a:srgbClr val="EDF5F4"/>
          </a:solidFill>
          <a:ln xmlns:a="http://schemas.openxmlformats.org/drawingml/2006/main" w="13335">
            <a:solidFill>
              <a:srgbClr val="D7E2E4"/>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defRPr sz="1950" b="0">
                <a:solidFill>
                  <a:srgbClr val="172B32"/>
                </a:solidFill>
                <a:latin typeface="Arial"/>
                <a:ea typeface="Arial"/>
                <a:cs typeface="Arial"/>
              </a:defRPr>
            </a:pPr>
            <a:r>
              <a:rPr sz="1950" b="0">
                <a:solidFill>
                  <a:srgbClr val="172B32"/>
                </a:solidFill>
                <a:latin typeface="Arial"/>
                <a:ea typeface="Arial"/>
                <a:cs typeface="Arial"/>
              </a:rPr>
              <a:t>Query-based retrieval</a:t>
            </a:r>
          </a:p>
          <a:p xmlns:a="http://schemas.openxmlformats.org/drawingml/2006/main">
            <a:pPr algn="ctr">
              <a:defRPr sz="1950" b="0">
                <a:solidFill>
                  <a:srgbClr val="172B32"/>
                </a:solidFill>
                <a:latin typeface="Arial"/>
                <a:ea typeface="Arial"/>
                <a:cs typeface="Arial"/>
              </a:defRPr>
            </a:pPr>
            <a:r>
              <a:rPr sz="1950" b="0">
                <a:solidFill>
                  <a:srgbClr val="172B32"/>
                </a:solidFill>
                <a:latin typeface="Arial"/>
                <a:ea typeface="Arial"/>
                <a:cs typeface="Arial"/>
              </a:rPr>
              <a:t>BM25, E5, BGE</a:t>
            </a:r>
          </a:p>
          <a:p xmlns:a="http://schemas.openxmlformats.org/drawingml/2006/main">
            <a:pPr algn="ctr">
              <a:defRPr sz="1950" b="0">
                <a:solidFill>
                  <a:srgbClr val="172B32"/>
                </a:solidFill>
                <a:latin typeface="Arial"/>
                <a:ea typeface="Arial"/>
                <a:cs typeface="Arial"/>
              </a:defRPr>
            </a:pPr>
            <a:r>
              <a:rPr sz="1950" b="0">
                <a:solidFill>
                  <a:srgbClr val="172B32"/>
                </a:solidFill>
                <a:latin typeface="Arial"/>
                <a:ea typeface="Arial"/>
                <a:cs typeface="Arial"/>
              </a:rPr>
              <a:t>Top 10 from each</a:t>
            </a:r>
          </a:p>
        </p:txBody>
      </p:sp>
      <p:sp>
        <p:nvSpPr>
          <p:cNvPr id="7" name="Auxiliary candidates&#10;including E5 similarity&#10;to a known relevant answer">
            <a:extLst xmlns:a="http://schemas.openxmlformats.org/drawingml/2006/main">
              <a:ext uri="{FF2B5EF4-FFF2-40B4-BE49-F238E27FC236}">
                <a16:creationId xmlns:a16="http://schemas.microsoft.com/office/drawing/2014/main" id="{4FB8BAB5-3F59-4A25-A871-A14E609F97AC}"/>
              </a:ext>
            </a:extLst>
          </p:cNvPr>
          <p:cNvSpPr>
            <a:spLocks xmlns:a="http://schemas.openxmlformats.org/drawingml/2006/main" noGrp="1"/>
          </p:cNvSpPr>
          <p:nvPr/>
        </p:nvSpPr>
        <p:spPr>
          <a:xfrm xmlns:a="http://schemas.openxmlformats.org/drawingml/2006/main">
            <a:off x="609600" y="4048125"/>
            <a:ext cx="3048000" cy="1428750"/>
          </a:xfrm>
          <a:prstGeom xmlns:a="http://schemas.openxmlformats.org/drawingml/2006/main" prst="rect">
            <a:avLst/>
          </a:prstGeom>
          <a:solidFill xmlns:a="http://schemas.openxmlformats.org/drawingml/2006/main">
            <a:srgbClr val="FAF0EC"/>
          </a:solidFill>
          <a:ln xmlns:a="http://schemas.openxmlformats.org/drawingml/2006/main" w="13335">
            <a:solidFill>
              <a:srgbClr val="D7E2E4"/>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defRPr sz="1875" b="0">
                <a:solidFill>
                  <a:srgbClr val="172B32"/>
                </a:solidFill>
                <a:latin typeface="Arial"/>
                <a:ea typeface="Arial"/>
                <a:cs typeface="Arial"/>
              </a:defRPr>
            </a:pPr>
            <a:r>
              <a:rPr sz="1875" b="0">
                <a:solidFill>
                  <a:srgbClr val="172B32"/>
                </a:solidFill>
                <a:latin typeface="Arial"/>
                <a:ea typeface="Arial"/>
                <a:cs typeface="Arial"/>
              </a:rPr>
              <a:t>Auxiliary candidates</a:t>
            </a:r>
          </a:p>
          <a:p xmlns:a="http://schemas.openxmlformats.org/drawingml/2006/main">
            <a:pPr algn="ctr">
              <a:defRPr sz="1875" b="0">
                <a:solidFill>
                  <a:srgbClr val="172B32"/>
                </a:solidFill>
                <a:latin typeface="Arial"/>
                <a:ea typeface="Arial"/>
                <a:cs typeface="Arial"/>
              </a:defRPr>
            </a:pPr>
            <a:r>
              <a:rPr sz="1875" b="0">
                <a:solidFill>
                  <a:srgbClr val="172B32"/>
                </a:solidFill>
                <a:latin typeface="Arial"/>
                <a:ea typeface="Arial"/>
                <a:cs typeface="Arial"/>
              </a:rPr>
              <a:t>including E5 similarity</a:t>
            </a:r>
          </a:p>
          <a:p xmlns:a="http://schemas.openxmlformats.org/drawingml/2006/main">
            <a:pPr algn="ctr">
              <a:defRPr sz="1875" b="0">
                <a:solidFill>
                  <a:srgbClr val="172B32"/>
                </a:solidFill>
                <a:latin typeface="Arial"/>
                <a:ea typeface="Arial"/>
                <a:cs typeface="Arial"/>
              </a:defRPr>
            </a:pPr>
            <a:r>
              <a:rPr sz="1875" b="0">
                <a:solidFill>
                  <a:srgbClr val="172B32"/>
                </a:solidFill>
                <a:latin typeface="Arial"/>
                <a:ea typeface="Arial"/>
                <a:cs typeface="Arial"/>
              </a:rPr>
              <a:t>to a known relevant answer</a:t>
            </a:r>
          </a:p>
        </p:txBody>
      </p:sp>
      <p:sp>
        <p:nvSpPr>
          <p:cNvPr id="8" name="Deduplicated&#10;candidate pool">
            <a:extLst xmlns:a="http://schemas.openxmlformats.org/drawingml/2006/main">
              <a:ext uri="{FF2B5EF4-FFF2-40B4-BE49-F238E27FC236}">
                <a16:creationId xmlns:a16="http://schemas.microsoft.com/office/drawing/2014/main" id="{DA5A4CF2-8B70-439A-B1E6-2EE71EBDA610}"/>
              </a:ext>
            </a:extLst>
          </p:cNvPr>
          <p:cNvSpPr>
            <a:spLocks xmlns:a="http://schemas.openxmlformats.org/drawingml/2006/main" noGrp="1"/>
          </p:cNvSpPr>
          <p:nvPr/>
        </p:nvSpPr>
        <p:spPr>
          <a:xfrm xmlns:a="http://schemas.openxmlformats.org/drawingml/2006/main">
            <a:off x="4781550" y="2790825"/>
            <a:ext cx="2343150" cy="1466850"/>
          </a:xfrm>
          <a:prstGeom xmlns:a="http://schemas.openxmlformats.org/drawingml/2006/main" prst="rect">
            <a:avLst/>
          </a:prstGeom>
          <a:solidFill xmlns:a="http://schemas.openxmlformats.org/drawingml/2006/main">
            <a:srgbClr val="EDF5F4"/>
          </a:solidFill>
          <a:ln xmlns:a="http://schemas.openxmlformats.org/drawingml/2006/main" w="13335">
            <a:solidFill>
              <a:srgbClr val="D7E2E4"/>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defRPr sz="1950" b="0">
                <a:solidFill>
                  <a:srgbClr val="172B32"/>
                </a:solidFill>
                <a:latin typeface="Arial"/>
                <a:ea typeface="Arial"/>
                <a:cs typeface="Arial"/>
              </a:defRPr>
            </a:pPr>
            <a:r>
              <a:rPr sz="1950" b="0">
                <a:solidFill>
                  <a:srgbClr val="172B32"/>
                </a:solidFill>
                <a:latin typeface="Arial"/>
                <a:ea typeface="Arial"/>
                <a:cs typeface="Arial"/>
              </a:rPr>
              <a:t>Deduplicated</a:t>
            </a:r>
          </a:p>
          <a:p xmlns:a="http://schemas.openxmlformats.org/drawingml/2006/main">
            <a:pPr algn="ctr">
              <a:defRPr sz="1950" b="0">
                <a:solidFill>
                  <a:srgbClr val="172B32"/>
                </a:solidFill>
                <a:latin typeface="Arial"/>
                <a:ea typeface="Arial"/>
                <a:cs typeface="Arial"/>
              </a:defRPr>
            </a:pPr>
            <a:r>
              <a:rPr sz="1950" b="0">
                <a:solidFill>
                  <a:srgbClr val="172B32"/>
                </a:solidFill>
                <a:latin typeface="Arial"/>
                <a:ea typeface="Arial"/>
                <a:cs typeface="Arial"/>
              </a:rPr>
              <a:t>candidate pool</a:t>
            </a:r>
          </a:p>
        </p:txBody>
      </p:sp>
      <p:sp>
        <p:nvSpPr>
          <p:cNvPr id="9" name="Human judgments">
            <a:extLst xmlns:a="http://schemas.openxmlformats.org/drawingml/2006/main">
              <a:ext uri="{FF2B5EF4-FFF2-40B4-BE49-F238E27FC236}">
                <a16:creationId xmlns:a16="http://schemas.microsoft.com/office/drawing/2014/main" id="{87D952D1-2151-4F24-9EB3-86575707DA3C}"/>
              </a:ext>
            </a:extLst>
          </p:cNvPr>
          <p:cNvSpPr>
            <a:spLocks xmlns:a="http://schemas.openxmlformats.org/drawingml/2006/main" noGrp="1"/>
          </p:cNvSpPr>
          <p:nvPr/>
        </p:nvSpPr>
        <p:spPr>
          <a:xfrm xmlns:a="http://schemas.openxmlformats.org/drawingml/2006/main">
            <a:off x="8362950" y="2790825"/>
            <a:ext cx="3219450" cy="1466850"/>
          </a:xfrm>
          <a:prstGeom xmlns:a="http://schemas.openxmlformats.org/drawingml/2006/main" prst="rect">
            <a:avLst/>
          </a:prstGeom>
          <a:solidFill xmlns:a="http://schemas.openxmlformats.org/drawingml/2006/main">
            <a:srgbClr val="DDEFEA"/>
          </a:solidFill>
          <a:ln xmlns:a="http://schemas.openxmlformats.org/drawingml/2006/main" w="13335">
            <a:solidFill>
              <a:srgbClr val="D7E2E4"/>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defRPr sz="1950" b="0">
                <a:solidFill>
                  <a:srgbClr val="172B32"/>
                </a:solidFill>
                <a:latin typeface="Arial"/>
                <a:ea typeface="Arial"/>
                <a:cs typeface="Arial"/>
              </a:defRPr>
            </a:pPr>
            <a:r>
              <a:rPr sz="1950" b="0">
                <a:solidFill>
                  <a:srgbClr val="172B32"/>
                </a:solidFill>
                <a:latin typeface="Arial"/>
                <a:ea typeface="Arial"/>
                <a:cs typeface="Arial"/>
              </a:rPr>
              <a:t>Human judgments</a:t>
            </a:r>
          </a:p>
        </p:txBody>
      </p:sp>
      <p:cxnSp>
        <p:nvCxnSpPr>
          <p:cNvPr id="25" name=""/>
          <p:cNvCxnSpPr>
            <a:stCxn xmlns:a="http://schemas.openxmlformats.org/drawingml/2006/main" id="6" idx="3"/>
            <a:endCxn xmlns:a="http://schemas.openxmlformats.org/drawingml/2006/main" id="8" idx="1"/>
          </p:cNvCxnSpPr>
          <p:nvPr/>
        </p:nvCxnSpPr>
        <p:spPr>
          <a:xfrm xmlns:a="http://schemas.openxmlformats.org/drawingml/2006/main">
            <a:off x="3657600" y="2809875"/>
            <a:ext cx="1123950" cy="714375"/>
          </a:xfrm>
          <a:prstGeom xmlns:a="http://schemas.openxmlformats.org/drawingml/2006/main" prst="straightConnector1">
            <a:avLst/>
          </a:prstGeom>
          <a:ln xmlns:a="http://schemas.openxmlformats.org/drawingml/2006/main" w="20955">
            <a:solidFill>
              <a:srgbClr val="53676F"/>
            </a:solidFill>
            <a:tailEnd type="triangle" w="sm" len="sm"/>
          </a:ln>
        </p:spPr>
      </p:cxnSp>
      <p:cxnSp>
        <p:nvCxnSpPr>
          <p:cNvPr id="26" name=""/>
          <p:cNvCxnSpPr>
            <a:stCxn xmlns:a="http://schemas.openxmlformats.org/drawingml/2006/main" id="7" idx="3"/>
            <a:endCxn xmlns:a="http://schemas.openxmlformats.org/drawingml/2006/main" id="8" idx="1"/>
          </p:cNvCxnSpPr>
          <p:nvPr/>
        </p:nvCxnSpPr>
        <p:spPr>
          <a:xfrm xmlns:a="http://schemas.openxmlformats.org/drawingml/2006/main" flipV="1">
            <a:off x="3657600" y="3524250"/>
            <a:ext cx="1123950" cy="1238250"/>
          </a:xfrm>
          <a:prstGeom xmlns:a="http://schemas.openxmlformats.org/drawingml/2006/main" prst="straightConnector1">
            <a:avLst/>
          </a:prstGeom>
          <a:ln xmlns:a="http://schemas.openxmlformats.org/drawingml/2006/main" w="20955">
            <a:solidFill>
              <a:srgbClr val="53676F"/>
            </a:solidFill>
            <a:tailEnd type="triangle" w="sm" len="sm"/>
          </a:ln>
        </p:spPr>
      </p:cxnSp>
      <p:cxnSp>
        <p:nvCxnSpPr>
          <p:cNvPr id="27" name=""/>
          <p:cNvCxnSpPr>
            <a:stCxn xmlns:a="http://schemas.openxmlformats.org/drawingml/2006/main" id="8" idx="3"/>
            <a:endCxn xmlns:a="http://schemas.openxmlformats.org/drawingml/2006/main" id="9" idx="1"/>
          </p:cNvCxnSpPr>
          <p:nvPr/>
        </p:nvCxnSpPr>
        <p:spPr>
          <a:xfrm xmlns:a="http://schemas.openxmlformats.org/drawingml/2006/main">
            <a:off x="7124700" y="3524250"/>
            <a:ext cx="1238250" cy="0"/>
          </a:xfrm>
          <a:prstGeom xmlns:a="http://schemas.openxmlformats.org/drawingml/2006/main" prst="straightConnector1">
            <a:avLst/>
          </a:prstGeom>
          <a:ln xmlns:a="http://schemas.openxmlformats.org/drawingml/2006/main" w="20955">
            <a:solidFill>
              <a:srgbClr val="53676F"/>
            </a:solidFill>
            <a:tailEnd type="triangle" w="sm" len="sm"/>
          </a:ln>
        </p:spPr>
      </p:cxnSp>
      <p:sp>
        <p:nvSpPr>
          <p:cNvPr id="13" name="28.56 candidates/query&#10;63 at most">
            <a:extLst xmlns:a="http://schemas.openxmlformats.org/drawingml/2006/main">
              <a:ext uri="{FF2B5EF4-FFF2-40B4-BE49-F238E27FC236}">
                <a16:creationId xmlns:a16="http://schemas.microsoft.com/office/drawing/2014/main" id="{5CF2B603-24B0-48A7-8C72-D66189CAABEC}"/>
              </a:ext>
            </a:extLst>
          </p:cNvPr>
          <p:cNvSpPr>
            <a:spLocks xmlns:a="http://schemas.openxmlformats.org/drawingml/2006/main" noGrp="1"/>
          </p:cNvSpPr>
          <p:nvPr/>
        </p:nvSpPr>
        <p:spPr>
          <a:xfrm xmlns:a="http://schemas.openxmlformats.org/drawingml/2006/main">
            <a:off x="4781550" y="4562475"/>
            <a:ext cx="2571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53676F"/>
                </a:solidFill>
                <a:latin typeface="Arial"/>
                <a:ea typeface="Arial"/>
                <a:cs typeface="Arial"/>
              </a:defRPr>
            </a:pPr>
            <a:r>
              <a:rPr sz="1875" b="0">
                <a:solidFill>
                  <a:srgbClr val="53676F"/>
                </a:solidFill>
                <a:latin typeface="Arial"/>
                <a:ea typeface="Arial"/>
                <a:cs typeface="Arial"/>
              </a:rPr>
              <a:t>28.56 candidates/query</a:t>
            </a:r>
          </a:p>
          <a:p xmlns:a="http://schemas.openxmlformats.org/drawingml/2006/main">
            <a:pPr>
              <a:defRPr sz="1875" b="0">
                <a:solidFill>
                  <a:srgbClr val="53676F"/>
                </a:solidFill>
                <a:latin typeface="Arial"/>
                <a:ea typeface="Arial"/>
                <a:cs typeface="Arial"/>
              </a:defRPr>
            </a:pPr>
            <a:r>
              <a:rPr sz="1875" b="0">
                <a:solidFill>
                  <a:srgbClr val="53676F"/>
                </a:solidFill>
                <a:latin typeface="Arial"/>
                <a:ea typeface="Arial"/>
                <a:cs typeface="Arial"/>
              </a:rPr>
              <a:t>63 at most</a:t>
            </a:r>
          </a:p>
        </p:txBody>
      </p:sp>
      <p:sp>
        <p:nvSpPr>
          <p:cNvPr id="14" name="Assessor sees:&#10;query, candidate,&#10;known relevant ">
            <a:extLst xmlns:a="http://schemas.openxmlformats.org/drawingml/2006/main">
              <a:ext uri="{FF2B5EF4-FFF2-40B4-BE49-F238E27FC236}">
                <a16:creationId xmlns:a16="http://schemas.microsoft.com/office/drawing/2014/main" id="{D651EEC1-75FD-4873-B4B0-9EF2DDE91405}"/>
              </a:ext>
            </a:extLst>
          </p:cNvPr>
          <p:cNvSpPr>
            <a:spLocks xmlns:a="http://schemas.openxmlformats.org/drawingml/2006/main" noGrp="1"/>
          </p:cNvSpPr>
          <p:nvPr/>
        </p:nvSpPr>
        <p:spPr>
          <a:xfrm xmlns:a="http://schemas.openxmlformats.org/drawingml/2006/main">
            <a:off x="8362950" y="4562475"/>
            <a:ext cx="32194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72B32"/>
                </a:solidFill>
                <a:latin typeface="Arial"/>
                <a:ea typeface="Arial"/>
                <a:cs typeface="Arial"/>
              </a:defRPr>
            </a:pPr>
            <a:r>
              <a:rPr sz="1875" b="0">
                <a:solidFill>
                  <a:srgbClr val="172B32"/>
                </a:solidFill>
                <a:latin typeface="Arial"/>
                <a:ea typeface="Arial"/>
                <a:cs typeface="Arial"/>
              </a:rPr>
              <a:t>Assessor sees:</a:t>
            </a:r>
          </a:p>
          <a:p xmlns:a="http://schemas.openxmlformats.org/drawingml/2006/main">
            <a:pPr>
              <a:defRPr sz="1875" b="0">
                <a:solidFill>
                  <a:srgbClr val="172B32"/>
                </a:solidFill>
                <a:latin typeface="Arial"/>
                <a:ea typeface="Arial"/>
                <a:cs typeface="Arial"/>
              </a:defRPr>
            </a:pPr>
            <a:r>
              <a:rPr sz="1875" b="0">
                <a:solidFill>
                  <a:srgbClr val="172B32"/>
                </a:solidFill>
                <a:latin typeface="Arial"/>
                <a:ea typeface="Arial"/>
                <a:cs typeface="Arial"/>
              </a:rPr>
              <a:t>query, candidate,</a:t>
            </a:r>
          </a:p>
          <a:p xmlns:a="http://schemas.openxmlformats.org/drawingml/2006/main">
            <a:pPr>
              <a:defRPr sz="1875" b="0">
                <a:solidFill>
                  <a:srgbClr val="172B32"/>
                </a:solidFill>
                <a:latin typeface="Arial"/>
                <a:ea typeface="Arial"/>
                <a:cs typeface="Arial"/>
              </a:defRPr>
            </a:pPr>
            <a:r>
              <a:rPr sz="1875" b="0">
                <a:solidFill>
                  <a:srgbClr val="172B32"/>
                </a:solidFill>
                <a:latin typeface="Arial"/>
                <a:ea typeface="Arial"/>
                <a:cs typeface="Arial"/>
              </a:rPr>
              <a:t>known relevant answer</a:t>
            </a:r>
          </a:p>
        </p:txBody>
      </p:sp>
      <p:sp>
        <p:nvSpPr>
          <p:cNvPr id="15" name="BM25: term matching. E5 and BGE: dense bi-encode">
            <a:extLst xmlns:a="http://schemas.openxmlformats.org/drawingml/2006/main">
              <a:ext uri="{FF2B5EF4-FFF2-40B4-BE49-F238E27FC236}">
                <a16:creationId xmlns:a16="http://schemas.microsoft.com/office/drawing/2014/main" id="{81786FEE-BCB9-4D2E-9659-5CC07EC9FA64}"/>
              </a:ext>
            </a:extLst>
          </p:cNvPr>
          <p:cNvSpPr>
            <a:spLocks xmlns:a="http://schemas.openxmlformats.org/drawingml/2006/main" noGrp="1"/>
          </p:cNvSpPr>
          <p:nvPr/>
        </p:nvSpPr>
        <p:spPr>
          <a:xfrm xmlns:a="http://schemas.openxmlformats.org/drawingml/2006/main">
            <a:off x="609600" y="5857875"/>
            <a:ext cx="1095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3676F"/>
                </a:solidFill>
                <a:latin typeface="Arial"/>
                <a:ea typeface="Arial"/>
                <a:cs typeface="Arial"/>
              </a:defRPr>
            </a:pPr>
            <a:r>
              <a:rPr sz="1800" b="0">
                <a:solidFill>
                  <a:srgbClr val="53676F"/>
                </a:solidFill>
                <a:latin typeface="Arial"/>
                <a:ea typeface="Arial"/>
                <a:cs typeface="Arial"/>
              </a:rPr>
              <a:t>BM25: term matching. E5 and BGE: dense bi-encoder retrieval.</a:t>
            </a:r>
          </a:p>
        </p:txBody>
      </p:sp>
    </p:spTree>
    <p:extLst>
      <p:ext uri="{BB962C8B-B14F-4D97-AF65-F5344CB8AC3E}">
        <p14:creationId xmlns:p14="http://schemas.microsoft.com/office/powerpoint/2010/main" val="118835066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Human judgments reveal many more positives">
            <a:extLst xmlns:a="http://schemas.openxmlformats.org/drawingml/2006/main">
              <a:ext uri="{FF2B5EF4-FFF2-40B4-BE49-F238E27FC236}">
                <a16:creationId xmlns:a16="http://schemas.microsoft.com/office/drawing/2014/main" id="{FCE0233B-3451-4F6B-ABA5-533F9645DD44}"/>
              </a:ext>
            </a:extLst>
          </p:cNvPr>
          <p:cNvSpPr>
            <a:spLocks xmlns:a="http://schemas.openxmlformats.org/drawingml/2006/main" noGrp="1"/>
          </p:cNvSpPr>
          <p:nvPr/>
        </p:nvSpPr>
        <p:spPr>
          <a:xfrm xmlns:a="http://schemas.openxmlformats.org/drawingml/2006/main">
            <a:off x="609600" y="7048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B32"/>
                </a:solidFill>
                <a:latin typeface="Arial"/>
                <a:ea typeface="Arial"/>
                <a:cs typeface="Arial"/>
              </a:defRPr>
            </a:pPr>
            <a:r>
              <a:rPr sz="3300" b="1">
                <a:solidFill>
                  <a:srgbClr val="172B32"/>
                </a:solidFill>
                <a:latin typeface="Arial"/>
                <a:ea typeface="Arial"/>
                <a:cs typeface="Arial"/>
              </a:rPr>
              <a:t>Human judgments reveal many more positives</a:t>
            </a:r>
          </a:p>
        </p:txBody>
      </p:sp>
      <p:sp>
        <p:nvSpPr>
          <p:cNvPr id="2" name="MANUAL RESULTS">
            <a:extLst xmlns:a="http://schemas.openxmlformats.org/drawingml/2006/main">
              <a:ext uri="{FF2B5EF4-FFF2-40B4-BE49-F238E27FC236}">
                <a16:creationId xmlns:a16="http://schemas.microsoft.com/office/drawing/2014/main" id="{8F11A91A-1FD1-4A94-9D22-1F060A3B93A9}"/>
              </a:ext>
            </a:extLst>
          </p:cNvPr>
          <p:cNvSpPr>
            <a:spLocks xmlns:a="http://schemas.openxmlformats.org/drawingml/2006/main" noGrp="1"/>
          </p:cNvSpPr>
          <p:nvPr/>
        </p:nvSpPr>
        <p:spPr>
          <a:xfrm xmlns:a="http://schemas.openxmlformats.org/drawingml/2006/main">
            <a:off x="609600" y="285750"/>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F82"/>
                </a:solidFill>
                <a:latin typeface="Arial"/>
                <a:ea typeface="Arial"/>
                <a:cs typeface="Arial"/>
              </a:defRPr>
            </a:pPr>
            <a:r>
              <a:rPr sz="1350" b="1">
                <a:solidFill>
                  <a:srgbClr val="087F82"/>
                </a:solidFill>
                <a:latin typeface="Arial"/>
                <a:ea typeface="Arial"/>
                <a:cs typeface="Arial"/>
              </a:rPr>
              <a:t>MANUAL RESULTS</a:t>
            </a:r>
          </a:p>
        </p:txBody>
      </p:sp>
      <p:sp>
        <p:nvSpPr>
          <p:cNvPr id="3" name="">
            <a:extLst xmlns:a="http://schemas.openxmlformats.org/drawingml/2006/main">
              <a:ext uri="{FF2B5EF4-FFF2-40B4-BE49-F238E27FC236}">
                <a16:creationId xmlns:a16="http://schemas.microsoft.com/office/drawing/2014/main" id="{D7216094-989C-4324-920C-1103B4CC8E5E}"/>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12383">
            <a:solidFill>
              <a:srgbClr val="D7E2E4"/>
            </a:solidFill>
          </a:ln>
        </p:spPr>
      </p:sp>
      <p:sp>
        <p:nvSpPr>
          <p:cNvPr id="4" name="DAMDID 2026">
            <a:extLst xmlns:a="http://schemas.openxmlformats.org/drawingml/2006/main">
              <a:ext uri="{FF2B5EF4-FFF2-40B4-BE49-F238E27FC236}">
                <a16:creationId xmlns:a16="http://schemas.microsoft.com/office/drawing/2014/main" id="{0A0E5085-1D4A-40FE-AFE4-1CACDE332C6F}"/>
              </a:ext>
            </a:extLst>
          </p:cNvPr>
          <p:cNvSpPr>
            <a:spLocks xmlns:a="http://schemas.openxmlformats.org/drawingml/2006/main" noGrp="1"/>
          </p:cNvSpPr>
          <p:nvPr/>
        </p:nvSpPr>
        <p:spPr>
          <a:xfrm xmlns:a="http://schemas.openxmlformats.org/drawingml/2006/main">
            <a:off x="609600" y="65055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3676F"/>
                </a:solidFill>
                <a:latin typeface="Arial"/>
                <a:ea typeface="Arial"/>
                <a:cs typeface="Arial"/>
              </a:defRPr>
            </a:pPr>
            <a:r>
              <a:rPr sz="1125" b="0">
                <a:solidFill>
                  <a:srgbClr val="53676F"/>
                </a:solidFill>
                <a:latin typeface="Arial"/>
                <a:ea typeface="Arial"/>
                <a:cs typeface="Arial"/>
              </a:rPr>
              <a:t>DAMDID 2026</a:t>
            </a:r>
          </a:p>
        </p:txBody>
      </p:sp>
      <p:sp>
        <p:nvSpPr>
          <p:cNvPr id="5" name="05">
            <a:extLst xmlns:a="http://schemas.openxmlformats.org/drawingml/2006/main">
              <a:ext uri="{FF2B5EF4-FFF2-40B4-BE49-F238E27FC236}">
                <a16:creationId xmlns:a16="http://schemas.microsoft.com/office/drawing/2014/main" id="{66EFE440-150C-4B5C-BAF0-0B1964B8C652}"/>
              </a:ext>
            </a:extLst>
          </p:cNvPr>
          <p:cNvSpPr>
            <a:spLocks xmlns:a="http://schemas.openxmlformats.org/drawingml/2006/main" noGrp="1"/>
          </p:cNvSpPr>
          <p:nvPr/>
        </p:nvSpPr>
        <p:spPr>
          <a:xfrm xmlns:a="http://schemas.openxmlformats.org/drawingml/2006/main">
            <a:off x="11049000" y="64770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53676F"/>
                </a:solidFill>
                <a:latin typeface="Arial"/>
                <a:ea typeface="Arial"/>
                <a:cs typeface="Arial"/>
              </a:defRPr>
            </a:pPr>
            <a:r>
              <a:rPr sz="1350" b="0">
                <a:solidFill>
                  <a:srgbClr val="53676F"/>
                </a:solidFill>
                <a:latin typeface="Arial"/>
                <a:ea typeface="Arial"/>
                <a:cs typeface="Arial"/>
              </a:rPr>
              <a:t>05</a:t>
            </a:r>
          </a:p>
        </p:txBody>
      </p:sp>
      <p:graphicFrame>
        <p:nvGraphicFramePr>
          <p:cNvPr id="16" name="Chart"/>
          <p:cNvGraphicFramePr/>
          <p:nvPr/>
        </p:nvGraphicFramePr>
        <p:xfrm>
          <a:off xmlns:a="http://schemas.openxmlformats.org/drawingml/2006/main" x="609600" y="1924050"/>
          <a:ext xmlns:a="http://schemas.openxmlformats.org/drawingml/2006/main" cx="7315200" cy="3905250"/>
        </p:xfrm>
        <a:graphic xmlns:a="http://schemas.openxmlformats.org/drawingml/2006/main">
          <a:graphicData uri="http://schemas.openxmlformats.org/drawingml/2006/chart">
            <c:chart xmlns:r="http://schemas.openxmlformats.org/officeDocument/2006/relationships" xmlns:c="http://schemas.openxmlformats.org/drawingml/2006/chart" r:id="Rdb7191125b594fe9"/>
          </a:graphicData>
        </a:graphic>
      </p:graphicFrame>
      <p:sp>
        <p:nvSpPr>
          <p:cNvPr id="7" name="20,597">
            <a:extLst xmlns:a="http://schemas.openxmlformats.org/drawingml/2006/main">
              <a:ext uri="{FF2B5EF4-FFF2-40B4-BE49-F238E27FC236}">
                <a16:creationId xmlns:a16="http://schemas.microsoft.com/office/drawing/2014/main" id="{F43B510D-DA9D-4BCE-94DC-9A1B19930280}"/>
              </a:ext>
            </a:extLst>
          </p:cNvPr>
          <p:cNvSpPr>
            <a:spLocks xmlns:a="http://schemas.openxmlformats.org/drawingml/2006/main" noGrp="1"/>
          </p:cNvSpPr>
          <p:nvPr/>
        </p:nvSpPr>
        <p:spPr>
          <a:xfrm xmlns:a="http://schemas.openxmlformats.org/drawingml/2006/main">
            <a:off x="8705850" y="2647950"/>
            <a:ext cx="285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350" b="1">
                <a:solidFill>
                  <a:srgbClr val="087F82"/>
                </a:solidFill>
                <a:latin typeface="Arial"/>
                <a:ea typeface="Arial"/>
                <a:cs typeface="Arial"/>
              </a:defRPr>
            </a:pPr>
            <a:r>
              <a:rPr sz="4350" b="1">
                <a:solidFill>
                  <a:srgbClr val="087F82"/>
                </a:solidFill>
                <a:latin typeface="Arial"/>
                <a:ea typeface="Arial"/>
                <a:cs typeface="Arial"/>
              </a:rPr>
              <a:t>20,597</a:t>
            </a:r>
          </a:p>
        </p:txBody>
      </p:sp>
      <p:sp>
        <p:nvSpPr>
          <p:cNvPr id="8" name="human-positive pairs">
            <a:extLst xmlns:a="http://schemas.openxmlformats.org/drawingml/2006/main">
              <a:ext uri="{FF2B5EF4-FFF2-40B4-BE49-F238E27FC236}">
                <a16:creationId xmlns:a16="http://schemas.microsoft.com/office/drawing/2014/main" id="{578F77BE-E478-4B2D-B761-CB77DEE232C4}"/>
              </a:ext>
            </a:extLst>
          </p:cNvPr>
          <p:cNvSpPr>
            <a:spLocks xmlns:a="http://schemas.openxmlformats.org/drawingml/2006/main" noGrp="1"/>
          </p:cNvSpPr>
          <p:nvPr/>
        </p:nvSpPr>
        <p:spPr>
          <a:xfrm xmlns:a="http://schemas.openxmlformats.org/drawingml/2006/main">
            <a:off x="8705850" y="3562350"/>
            <a:ext cx="285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72B32"/>
                </a:solidFill>
                <a:latin typeface="Arial"/>
                <a:ea typeface="Arial"/>
                <a:cs typeface="Arial"/>
              </a:defRPr>
            </a:pPr>
            <a:r>
              <a:rPr sz="2025" b="0">
                <a:solidFill>
                  <a:srgbClr val="172B32"/>
                </a:solidFill>
                <a:latin typeface="Arial"/>
                <a:ea typeface="Arial"/>
                <a:cs typeface="Arial"/>
              </a:rPr>
              <a:t>human-positive pairs</a:t>
            </a:r>
          </a:p>
        </p:txBody>
      </p:sp>
      <p:sp>
        <p:nvSpPr>
          <p:cNvPr id="9" name="1,243 original positives&#10;in the same pool">
            <a:extLst xmlns:a="http://schemas.openxmlformats.org/drawingml/2006/main">
              <a:ext uri="{FF2B5EF4-FFF2-40B4-BE49-F238E27FC236}">
                <a16:creationId xmlns:a16="http://schemas.microsoft.com/office/drawing/2014/main" id="{1A0D1274-FCAE-467D-BE2B-48ED7460EDAE}"/>
              </a:ext>
            </a:extLst>
          </p:cNvPr>
          <p:cNvSpPr>
            <a:spLocks xmlns:a="http://schemas.openxmlformats.org/drawingml/2006/main" noGrp="1"/>
          </p:cNvSpPr>
          <p:nvPr/>
        </p:nvSpPr>
        <p:spPr>
          <a:xfrm xmlns:a="http://schemas.openxmlformats.org/drawingml/2006/main">
            <a:off x="8705850" y="4562475"/>
            <a:ext cx="2857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3676F"/>
                </a:solidFill>
                <a:latin typeface="Arial"/>
                <a:ea typeface="Arial"/>
                <a:cs typeface="Arial"/>
              </a:defRPr>
            </a:pPr>
            <a:r>
              <a:rPr sz="1800" b="0">
                <a:solidFill>
                  <a:srgbClr val="53676F"/>
                </a:solidFill>
                <a:latin typeface="Arial"/>
                <a:ea typeface="Arial"/>
                <a:cs typeface="Arial"/>
              </a:rPr>
              <a:t>1,243 original positives</a:t>
            </a:r>
          </a:p>
          <a:p xmlns:a="http://schemas.openxmlformats.org/drawingml/2006/main">
            <a:pPr>
              <a:defRPr sz="1800" b="0">
                <a:solidFill>
                  <a:srgbClr val="53676F"/>
                </a:solidFill>
                <a:latin typeface="Arial"/>
                <a:ea typeface="Arial"/>
                <a:cs typeface="Arial"/>
              </a:defRPr>
            </a:pPr>
            <a:r>
              <a:rPr sz="1800" b="0">
                <a:solidFill>
                  <a:srgbClr val="53676F"/>
                </a:solidFill>
                <a:latin typeface="Arial"/>
                <a:ea typeface="Arial"/>
                <a:cs typeface="Arial"/>
              </a:rPr>
              <a:t>in the same pool</a:t>
            </a:r>
          </a:p>
        </p:txBody>
      </p:sp>
      <p:sp>
        <p:nvSpPr>
          <p:cNvPr id="10" name="1,179 queries. Counts describe selected candidat">
            <a:extLst xmlns:a="http://schemas.openxmlformats.org/drawingml/2006/main">
              <a:ext uri="{FF2B5EF4-FFF2-40B4-BE49-F238E27FC236}">
                <a16:creationId xmlns:a16="http://schemas.microsoft.com/office/drawing/2014/main" id="{488214AB-59B7-4DE6-8604-63F8BB14B796}"/>
              </a:ext>
            </a:extLst>
          </p:cNvPr>
          <p:cNvSpPr>
            <a:spLocks xmlns:a="http://schemas.openxmlformats.org/drawingml/2006/main" noGrp="1"/>
          </p:cNvSpPr>
          <p:nvPr/>
        </p:nvSpPr>
        <p:spPr>
          <a:xfrm xmlns:a="http://schemas.openxmlformats.org/drawingml/2006/main">
            <a:off x="609600" y="5876925"/>
            <a:ext cx="1095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3676F"/>
                </a:solidFill>
                <a:latin typeface="Arial"/>
                <a:ea typeface="Arial"/>
                <a:cs typeface="Arial"/>
              </a:defRPr>
            </a:pPr>
            <a:r>
              <a:rPr sz="1800" b="0">
                <a:solidFill>
                  <a:srgbClr val="53676F"/>
                </a:solidFill>
                <a:latin typeface="Arial"/>
                <a:ea typeface="Arial"/>
                <a:cs typeface="Arial"/>
              </a:rPr>
              <a:t>1,179 queries. Counts describe selected candidate pools.</a:t>
            </a:r>
          </a:p>
        </p:txBody>
      </p:sp>
    </p:spTree>
    <p:extLst>
      <p:ext uri="{BB962C8B-B14F-4D97-AF65-F5344CB8AC3E}">
        <p14:creationId xmlns:p14="http://schemas.microsoft.com/office/powerpoint/2010/main" val="55437839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Fixed rankings, different relevance labels">
            <a:extLst xmlns:a="http://schemas.openxmlformats.org/drawingml/2006/main">
              <a:ext uri="{FF2B5EF4-FFF2-40B4-BE49-F238E27FC236}">
                <a16:creationId xmlns:a16="http://schemas.microsoft.com/office/drawing/2014/main" id="{82E22CB3-A3F8-44BE-8730-4701A9ED7A01}"/>
              </a:ext>
            </a:extLst>
          </p:cNvPr>
          <p:cNvSpPr>
            <a:spLocks xmlns:a="http://schemas.openxmlformats.org/drawingml/2006/main" noGrp="1"/>
          </p:cNvSpPr>
          <p:nvPr/>
        </p:nvSpPr>
        <p:spPr>
          <a:xfrm xmlns:a="http://schemas.openxmlformats.org/drawingml/2006/main">
            <a:off x="609600" y="7048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B32"/>
                </a:solidFill>
                <a:latin typeface="Arial"/>
                <a:ea typeface="Arial"/>
                <a:cs typeface="Arial"/>
              </a:defRPr>
            </a:pPr>
            <a:r>
              <a:rPr sz="3300" b="1">
                <a:solidFill>
                  <a:srgbClr val="172B32"/>
                </a:solidFill>
                <a:latin typeface="Arial"/>
                <a:ea typeface="Arial"/>
                <a:cs typeface="Arial"/>
              </a:rPr>
              <a:t>Fixed rankings, different relevance labels</a:t>
            </a:r>
          </a:p>
        </p:txBody>
      </p:sp>
      <p:sp>
        <p:nvSpPr>
          <p:cNvPr id="2" name="EVALUATION">
            <a:extLst xmlns:a="http://schemas.openxmlformats.org/drawingml/2006/main">
              <a:ext uri="{FF2B5EF4-FFF2-40B4-BE49-F238E27FC236}">
                <a16:creationId xmlns:a16="http://schemas.microsoft.com/office/drawing/2014/main" id="{BD4F8F70-7C67-4524-BCE7-C0F0258F2448}"/>
              </a:ext>
            </a:extLst>
          </p:cNvPr>
          <p:cNvSpPr>
            <a:spLocks xmlns:a="http://schemas.openxmlformats.org/drawingml/2006/main" noGrp="1"/>
          </p:cNvSpPr>
          <p:nvPr/>
        </p:nvSpPr>
        <p:spPr>
          <a:xfrm xmlns:a="http://schemas.openxmlformats.org/drawingml/2006/main">
            <a:off x="609600" y="285750"/>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F82"/>
                </a:solidFill>
                <a:latin typeface="Arial"/>
                <a:ea typeface="Arial"/>
                <a:cs typeface="Arial"/>
              </a:defRPr>
            </a:pPr>
            <a:r>
              <a:rPr sz="1350" b="1">
                <a:solidFill>
                  <a:srgbClr val="087F82"/>
                </a:solidFill>
                <a:latin typeface="Arial"/>
                <a:ea typeface="Arial"/>
                <a:cs typeface="Arial"/>
              </a:rPr>
              <a:t>EVALUATION</a:t>
            </a:r>
          </a:p>
        </p:txBody>
      </p:sp>
      <p:sp>
        <p:nvSpPr>
          <p:cNvPr id="3" name="">
            <a:extLst xmlns:a="http://schemas.openxmlformats.org/drawingml/2006/main">
              <a:ext uri="{FF2B5EF4-FFF2-40B4-BE49-F238E27FC236}">
                <a16:creationId xmlns:a16="http://schemas.microsoft.com/office/drawing/2014/main" id="{7789E04B-81C7-436C-B306-5E6887230C28}"/>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12383">
            <a:solidFill>
              <a:srgbClr val="D7E2E4"/>
            </a:solidFill>
          </a:ln>
        </p:spPr>
      </p:sp>
      <p:sp>
        <p:nvSpPr>
          <p:cNvPr id="4" name="DAMDID 2026">
            <a:extLst xmlns:a="http://schemas.openxmlformats.org/drawingml/2006/main">
              <a:ext uri="{FF2B5EF4-FFF2-40B4-BE49-F238E27FC236}">
                <a16:creationId xmlns:a16="http://schemas.microsoft.com/office/drawing/2014/main" id="{8CB50018-08AF-432C-9CC9-73C0B2DBB703}"/>
              </a:ext>
            </a:extLst>
          </p:cNvPr>
          <p:cNvSpPr>
            <a:spLocks xmlns:a="http://schemas.openxmlformats.org/drawingml/2006/main" noGrp="1"/>
          </p:cNvSpPr>
          <p:nvPr/>
        </p:nvSpPr>
        <p:spPr>
          <a:xfrm xmlns:a="http://schemas.openxmlformats.org/drawingml/2006/main">
            <a:off x="609600" y="65055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3676F"/>
                </a:solidFill>
                <a:latin typeface="Arial"/>
                <a:ea typeface="Arial"/>
                <a:cs typeface="Arial"/>
              </a:defRPr>
            </a:pPr>
            <a:r>
              <a:rPr sz="1125" b="0">
                <a:solidFill>
                  <a:srgbClr val="53676F"/>
                </a:solidFill>
                <a:latin typeface="Arial"/>
                <a:ea typeface="Arial"/>
                <a:cs typeface="Arial"/>
              </a:rPr>
              <a:t>DAMDID 2026</a:t>
            </a:r>
          </a:p>
        </p:txBody>
      </p:sp>
      <p:sp>
        <p:nvSpPr>
          <p:cNvPr id="5" name="06">
            <a:extLst xmlns:a="http://schemas.openxmlformats.org/drawingml/2006/main">
              <a:ext uri="{FF2B5EF4-FFF2-40B4-BE49-F238E27FC236}">
                <a16:creationId xmlns:a16="http://schemas.microsoft.com/office/drawing/2014/main" id="{7FA86FF6-B4E8-46D3-93AC-925EA9C3E45D}"/>
              </a:ext>
            </a:extLst>
          </p:cNvPr>
          <p:cNvSpPr>
            <a:spLocks xmlns:a="http://schemas.openxmlformats.org/drawingml/2006/main" noGrp="1"/>
          </p:cNvSpPr>
          <p:nvPr/>
        </p:nvSpPr>
        <p:spPr>
          <a:xfrm xmlns:a="http://schemas.openxmlformats.org/drawingml/2006/main">
            <a:off x="11049000" y="64770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53676F"/>
                </a:solidFill>
                <a:latin typeface="Arial"/>
                <a:ea typeface="Arial"/>
                <a:cs typeface="Arial"/>
              </a:defRPr>
            </a:pPr>
            <a:r>
              <a:rPr sz="1350" b="0">
                <a:solidFill>
                  <a:srgbClr val="53676F"/>
                </a:solidFill>
                <a:latin typeface="Arial"/>
                <a:ea typeface="Arial"/>
                <a:cs typeface="Arial"/>
              </a:rPr>
              <a:t>06</a:t>
            </a:r>
          </a:p>
        </p:txBody>
      </p:sp>
      <p:sp>
        <p:nvSpPr>
          <p:cNvPr id="6" name="Same ranked results&#10;BM25, E5, BGE, RRF">
            <a:extLst xmlns:a="http://schemas.openxmlformats.org/drawingml/2006/main">
              <a:ext uri="{FF2B5EF4-FFF2-40B4-BE49-F238E27FC236}">
                <a16:creationId xmlns:a16="http://schemas.microsoft.com/office/drawing/2014/main" id="{0880A5FE-759C-4C35-B34F-E71401398395}"/>
              </a:ext>
            </a:extLst>
          </p:cNvPr>
          <p:cNvSpPr>
            <a:spLocks xmlns:a="http://schemas.openxmlformats.org/drawingml/2006/main" noGrp="1"/>
          </p:cNvSpPr>
          <p:nvPr/>
        </p:nvSpPr>
        <p:spPr>
          <a:xfrm xmlns:a="http://schemas.openxmlformats.org/drawingml/2006/main">
            <a:off x="609600" y="2447925"/>
            <a:ext cx="3429000" cy="1504950"/>
          </a:xfrm>
          <a:prstGeom xmlns:a="http://schemas.openxmlformats.org/drawingml/2006/main" prst="rect">
            <a:avLst/>
          </a:prstGeom>
          <a:solidFill xmlns:a="http://schemas.openxmlformats.org/drawingml/2006/main">
            <a:srgbClr val="FFFFFF"/>
          </a:solidFill>
          <a:ln xmlns:a="http://schemas.openxmlformats.org/drawingml/2006/main" w="13335">
            <a:solidFill>
              <a:srgbClr val="D7E2E4"/>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defRPr sz="1950" b="0">
                <a:solidFill>
                  <a:srgbClr val="172B32"/>
                </a:solidFill>
                <a:latin typeface="Arial"/>
                <a:ea typeface="Arial"/>
                <a:cs typeface="Arial"/>
              </a:defRPr>
            </a:pPr>
            <a:r>
              <a:rPr sz="1950" b="0">
                <a:solidFill>
                  <a:srgbClr val="172B32"/>
                </a:solidFill>
                <a:latin typeface="Arial"/>
                <a:ea typeface="Arial"/>
                <a:cs typeface="Arial"/>
              </a:rPr>
              <a:t>Same ranked results</a:t>
            </a:r>
          </a:p>
          <a:p xmlns:a="http://schemas.openxmlformats.org/drawingml/2006/main">
            <a:pPr algn="ctr">
              <a:defRPr sz="1950" b="0">
                <a:solidFill>
                  <a:srgbClr val="172B32"/>
                </a:solidFill>
                <a:latin typeface="Arial"/>
                <a:ea typeface="Arial"/>
                <a:cs typeface="Arial"/>
              </a:defRPr>
            </a:pPr>
            <a:r>
              <a:rPr sz="1950" b="0">
                <a:solidFill>
                  <a:srgbClr val="172B32"/>
                </a:solidFill>
                <a:latin typeface="Arial"/>
                <a:ea typeface="Arial"/>
                <a:cs typeface="Arial"/>
              </a:rPr>
              <a:t>BM25, E5, BGE, RRF</a:t>
            </a:r>
          </a:p>
        </p:txBody>
      </p:sp>
      <p:sp>
        <p:nvSpPr>
          <p:cNvPr id="7" name="Original qrels">
            <a:extLst xmlns:a="http://schemas.openxmlformats.org/drawingml/2006/main">
              <a:ext uri="{FF2B5EF4-FFF2-40B4-BE49-F238E27FC236}">
                <a16:creationId xmlns:a16="http://schemas.microsoft.com/office/drawing/2014/main" id="{38653041-07E7-49D4-8E55-7AB8F74BB2B7}"/>
              </a:ext>
            </a:extLst>
          </p:cNvPr>
          <p:cNvSpPr>
            <a:spLocks xmlns:a="http://schemas.openxmlformats.org/drawingml/2006/main" noGrp="1"/>
          </p:cNvSpPr>
          <p:nvPr/>
        </p:nvSpPr>
        <p:spPr>
          <a:xfrm xmlns:a="http://schemas.openxmlformats.org/drawingml/2006/main">
            <a:off x="5448300" y="2085975"/>
            <a:ext cx="2552700" cy="923925"/>
          </a:xfrm>
          <a:prstGeom xmlns:a="http://schemas.openxmlformats.org/drawingml/2006/main" prst="rect">
            <a:avLst/>
          </a:prstGeom>
          <a:solidFill xmlns:a="http://schemas.openxmlformats.org/drawingml/2006/main">
            <a:srgbClr val="EEF1F3"/>
          </a:solidFill>
          <a:ln xmlns:a="http://schemas.openxmlformats.org/drawingml/2006/main" w="13335">
            <a:solidFill>
              <a:srgbClr val="D7E2E4"/>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defRPr sz="1950" b="0">
                <a:solidFill>
                  <a:srgbClr val="172B32"/>
                </a:solidFill>
                <a:latin typeface="Arial"/>
                <a:ea typeface="Arial"/>
                <a:cs typeface="Arial"/>
              </a:defRPr>
            </a:pPr>
            <a:r>
              <a:rPr sz="1950" b="0">
                <a:solidFill>
                  <a:srgbClr val="172B32"/>
                </a:solidFill>
                <a:latin typeface="Arial"/>
                <a:ea typeface="Arial"/>
                <a:cs typeface="Arial"/>
              </a:rPr>
              <a:t>Original qrels</a:t>
            </a:r>
          </a:p>
        </p:txBody>
      </p:sp>
      <p:sp>
        <p:nvSpPr>
          <p:cNvPr id="8" name="Human judgments">
            <a:extLst xmlns:a="http://schemas.openxmlformats.org/drawingml/2006/main">
              <a:ext uri="{FF2B5EF4-FFF2-40B4-BE49-F238E27FC236}">
                <a16:creationId xmlns:a16="http://schemas.microsoft.com/office/drawing/2014/main" id="{5F5418EA-F3E4-4409-B2D1-973B7693584E}"/>
              </a:ext>
            </a:extLst>
          </p:cNvPr>
          <p:cNvSpPr>
            <a:spLocks xmlns:a="http://schemas.openxmlformats.org/drawingml/2006/main" noGrp="1"/>
          </p:cNvSpPr>
          <p:nvPr/>
        </p:nvSpPr>
        <p:spPr>
          <a:xfrm xmlns:a="http://schemas.openxmlformats.org/drawingml/2006/main">
            <a:off x="5448300" y="3552825"/>
            <a:ext cx="2552700" cy="923925"/>
          </a:xfrm>
          <a:prstGeom xmlns:a="http://schemas.openxmlformats.org/drawingml/2006/main" prst="rect">
            <a:avLst/>
          </a:prstGeom>
          <a:solidFill xmlns:a="http://schemas.openxmlformats.org/drawingml/2006/main">
            <a:srgbClr val="DDEFEA"/>
          </a:solidFill>
          <a:ln xmlns:a="http://schemas.openxmlformats.org/drawingml/2006/main" w="13335">
            <a:solidFill>
              <a:srgbClr val="D7E2E4"/>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defRPr sz="1950" b="0">
                <a:solidFill>
                  <a:srgbClr val="172B32"/>
                </a:solidFill>
                <a:latin typeface="Arial"/>
                <a:ea typeface="Arial"/>
                <a:cs typeface="Arial"/>
              </a:defRPr>
            </a:pPr>
            <a:r>
              <a:rPr sz="1950" b="0">
                <a:solidFill>
                  <a:srgbClr val="172B32"/>
                </a:solidFill>
                <a:latin typeface="Arial"/>
                <a:ea typeface="Arial"/>
                <a:cs typeface="Arial"/>
              </a:rPr>
              <a:t>Human judgments</a:t>
            </a:r>
          </a:p>
        </p:txBody>
      </p:sp>
      <p:sp>
        <p:nvSpPr>
          <p:cNvPr id="9" name="NDCG@10&#10;Quality of the top 10">
            <a:extLst xmlns:a="http://schemas.openxmlformats.org/drawingml/2006/main">
              <a:ext uri="{FF2B5EF4-FFF2-40B4-BE49-F238E27FC236}">
                <a16:creationId xmlns:a16="http://schemas.microsoft.com/office/drawing/2014/main" id="{87382B28-4CAD-4B37-9505-31914E7E8CB5}"/>
              </a:ext>
            </a:extLst>
          </p:cNvPr>
          <p:cNvSpPr>
            <a:spLocks xmlns:a="http://schemas.openxmlformats.org/drawingml/2006/main" noGrp="1"/>
          </p:cNvSpPr>
          <p:nvPr/>
        </p:nvSpPr>
        <p:spPr>
          <a:xfrm xmlns:a="http://schemas.openxmlformats.org/drawingml/2006/main">
            <a:off x="8953500" y="2800350"/>
            <a:ext cx="2628900" cy="1190625"/>
          </a:xfrm>
          <a:prstGeom xmlns:a="http://schemas.openxmlformats.org/drawingml/2006/main" prst="rect">
            <a:avLst/>
          </a:prstGeom>
          <a:solidFill xmlns:a="http://schemas.openxmlformats.org/drawingml/2006/main">
            <a:srgbClr val="FFFFFF"/>
          </a:solidFill>
          <a:ln xmlns:a="http://schemas.openxmlformats.org/drawingml/2006/main" w="13335">
            <a:solidFill>
              <a:srgbClr val="D7E2E4"/>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defRPr sz="2025" b="0">
                <a:solidFill>
                  <a:srgbClr val="172B32"/>
                </a:solidFill>
                <a:latin typeface="Arial"/>
                <a:ea typeface="Arial"/>
                <a:cs typeface="Arial"/>
              </a:defRPr>
            </a:pPr>
            <a:r>
              <a:rPr sz="2025" b="0">
                <a:solidFill>
                  <a:srgbClr val="172B32"/>
                </a:solidFill>
                <a:latin typeface="Arial"/>
                <a:ea typeface="Arial"/>
                <a:cs typeface="Arial"/>
              </a:rPr>
              <a:t>NDCG@10</a:t>
            </a:r>
          </a:p>
          <a:p xmlns:a="http://schemas.openxmlformats.org/drawingml/2006/main">
            <a:pPr algn="ctr">
              <a:defRPr sz="2025" b="0">
                <a:solidFill>
                  <a:srgbClr val="172B32"/>
                </a:solidFill>
                <a:latin typeface="Arial"/>
                <a:ea typeface="Arial"/>
                <a:cs typeface="Arial"/>
              </a:defRPr>
            </a:pPr>
            <a:r>
              <a:rPr sz="2025" b="0">
                <a:solidFill>
                  <a:srgbClr val="172B32"/>
                </a:solidFill>
                <a:latin typeface="Arial"/>
                <a:ea typeface="Arial"/>
                <a:cs typeface="Arial"/>
              </a:rPr>
              <a:t>Quality of the top 10</a:t>
            </a:r>
          </a:p>
        </p:txBody>
      </p:sp>
      <p:sp>
        <p:nvSpPr>
          <p:cNvPr id="10" name="NDCG: normalized discounted cumulative gain">
            <a:extLst xmlns:a="http://schemas.openxmlformats.org/drawingml/2006/main">
              <a:ext uri="{FF2B5EF4-FFF2-40B4-BE49-F238E27FC236}">
                <a16:creationId xmlns:a16="http://schemas.microsoft.com/office/drawing/2014/main" id="{7DA1ED17-E32A-4EB6-B7B7-E4BC3AA79C0D}"/>
              </a:ext>
            </a:extLst>
          </p:cNvPr>
          <p:cNvSpPr>
            <a:spLocks xmlns:a="http://schemas.openxmlformats.org/drawingml/2006/main" noGrp="1"/>
          </p:cNvSpPr>
          <p:nvPr/>
        </p:nvSpPr>
        <p:spPr>
          <a:xfrm xmlns:a="http://schemas.openxmlformats.org/drawingml/2006/main">
            <a:off x="609600" y="1714500"/>
            <a:ext cx="1095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53676F"/>
                </a:solidFill>
                <a:latin typeface="Arial"/>
                <a:ea typeface="Arial"/>
                <a:cs typeface="Arial"/>
              </a:defRPr>
            </a:pPr>
            <a:r>
              <a:rPr sz="2025" b="0">
                <a:solidFill>
                  <a:srgbClr val="53676F"/>
                </a:solidFill>
                <a:latin typeface="Arial"/>
                <a:ea typeface="Arial"/>
                <a:cs typeface="Arial"/>
              </a:rPr>
              <a:t>NDCG: normalized discounted cumulative gain</a:t>
            </a:r>
          </a:p>
        </p:txBody>
      </p:sp>
      <p:cxnSp>
        <p:nvCxnSpPr>
          <p:cNvPr id="27" name=""/>
          <p:cNvCxnSpPr>
            <a:stCxn xmlns:a="http://schemas.openxmlformats.org/drawingml/2006/main" id="6" idx="3"/>
            <a:endCxn xmlns:a="http://schemas.openxmlformats.org/drawingml/2006/main" id="7" idx="1"/>
          </p:cNvCxnSpPr>
          <p:nvPr/>
        </p:nvCxnSpPr>
        <p:spPr>
          <a:xfrm xmlns:a="http://schemas.openxmlformats.org/drawingml/2006/main" flipV="1">
            <a:off x="4038600" y="2547938"/>
            <a:ext cx="1409700" cy="652463"/>
          </a:xfrm>
          <a:prstGeom xmlns:a="http://schemas.openxmlformats.org/drawingml/2006/main" prst="straightConnector1">
            <a:avLst/>
          </a:prstGeom>
          <a:ln xmlns:a="http://schemas.openxmlformats.org/drawingml/2006/main" w="20955">
            <a:solidFill>
              <a:srgbClr val="53676F"/>
            </a:solidFill>
            <a:tailEnd type="triangle" w="sm" len="sm"/>
          </a:ln>
        </p:spPr>
      </p:cxnSp>
      <p:cxnSp>
        <p:nvCxnSpPr>
          <p:cNvPr id="28" name=""/>
          <p:cNvCxnSpPr>
            <a:stCxn xmlns:a="http://schemas.openxmlformats.org/drawingml/2006/main" id="6" idx="3"/>
            <a:endCxn xmlns:a="http://schemas.openxmlformats.org/drawingml/2006/main" id="8" idx="1"/>
          </p:cNvCxnSpPr>
          <p:nvPr/>
        </p:nvCxnSpPr>
        <p:spPr>
          <a:xfrm xmlns:a="http://schemas.openxmlformats.org/drawingml/2006/main">
            <a:off x="4038600" y="3200400"/>
            <a:ext cx="1409700" cy="814388"/>
          </a:xfrm>
          <a:prstGeom xmlns:a="http://schemas.openxmlformats.org/drawingml/2006/main" prst="straightConnector1">
            <a:avLst/>
          </a:prstGeom>
          <a:ln xmlns:a="http://schemas.openxmlformats.org/drawingml/2006/main" w="20955">
            <a:solidFill>
              <a:srgbClr val="53676F"/>
            </a:solidFill>
            <a:tailEnd type="triangle" w="sm" len="sm"/>
          </a:ln>
        </p:spPr>
      </p:cxnSp>
      <p:cxnSp>
        <p:nvCxnSpPr>
          <p:cNvPr id="29" name=""/>
          <p:cNvCxnSpPr>
            <a:stCxn xmlns:a="http://schemas.openxmlformats.org/drawingml/2006/main" id="7" idx="3"/>
            <a:endCxn xmlns:a="http://schemas.openxmlformats.org/drawingml/2006/main" id="9" idx="1"/>
          </p:cNvCxnSpPr>
          <p:nvPr/>
        </p:nvCxnSpPr>
        <p:spPr>
          <a:xfrm xmlns:a="http://schemas.openxmlformats.org/drawingml/2006/main">
            <a:off x="8001000" y="2547938"/>
            <a:ext cx="952500" cy="847725"/>
          </a:xfrm>
          <a:prstGeom xmlns:a="http://schemas.openxmlformats.org/drawingml/2006/main" prst="straightConnector1">
            <a:avLst/>
          </a:prstGeom>
          <a:ln xmlns:a="http://schemas.openxmlformats.org/drawingml/2006/main" w="20955">
            <a:solidFill>
              <a:srgbClr val="53676F"/>
            </a:solidFill>
            <a:tailEnd type="triangle" w="sm" len="sm"/>
          </a:ln>
        </p:spPr>
      </p:cxnSp>
      <p:cxnSp>
        <p:nvCxnSpPr>
          <p:cNvPr id="30" name=""/>
          <p:cNvCxnSpPr>
            <a:stCxn xmlns:a="http://schemas.openxmlformats.org/drawingml/2006/main" id="8" idx="3"/>
            <a:endCxn xmlns:a="http://schemas.openxmlformats.org/drawingml/2006/main" id="9" idx="1"/>
          </p:cNvCxnSpPr>
          <p:nvPr/>
        </p:nvCxnSpPr>
        <p:spPr>
          <a:xfrm xmlns:a="http://schemas.openxmlformats.org/drawingml/2006/main" flipV="1">
            <a:off x="8001000" y="3395663"/>
            <a:ext cx="952500" cy="619125"/>
          </a:xfrm>
          <a:prstGeom xmlns:a="http://schemas.openxmlformats.org/drawingml/2006/main" prst="straightConnector1">
            <a:avLst/>
          </a:prstGeom>
          <a:ln xmlns:a="http://schemas.openxmlformats.org/drawingml/2006/main" w="20955">
            <a:solidFill>
              <a:srgbClr val="53676F"/>
            </a:solidFill>
            <a:tailEnd type="triangle" w="sm" len="sm"/>
          </a:ln>
        </p:spPr>
      </p:cxnSp>
      <p:sp>
        <p:nvSpPr>
          <p:cNvPr id="15" name="One ideal denominator per query and label set, s">
            <a:extLst xmlns:a="http://schemas.openxmlformats.org/drawingml/2006/main">
              <a:ext uri="{FF2B5EF4-FFF2-40B4-BE49-F238E27FC236}">
                <a16:creationId xmlns:a16="http://schemas.microsoft.com/office/drawing/2014/main" id="{FCEBF7E4-53E6-4939-8748-D47549AE4002}"/>
              </a:ext>
            </a:extLst>
          </p:cNvPr>
          <p:cNvSpPr>
            <a:spLocks xmlns:a="http://schemas.openxmlformats.org/drawingml/2006/main" noGrp="1"/>
          </p:cNvSpPr>
          <p:nvPr/>
        </p:nvSpPr>
        <p:spPr>
          <a:xfrm xmlns:a="http://schemas.openxmlformats.org/drawingml/2006/main">
            <a:off x="609600" y="5029200"/>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72B32"/>
                </a:solidFill>
                <a:latin typeface="Arial"/>
                <a:ea typeface="Arial"/>
                <a:cs typeface="Arial"/>
              </a:defRPr>
            </a:pPr>
            <a:r>
              <a:rPr sz="2175" b="0">
                <a:solidFill>
                  <a:srgbClr val="172B32"/>
                </a:solidFill>
                <a:latin typeface="Arial"/>
                <a:ea typeface="Arial"/>
                <a:cs typeface="Arial"/>
              </a:rPr>
              <a:t>One ideal denominator per query and label set, shared by all systems.</a:t>
            </a:r>
          </a:p>
        </p:txBody>
      </p:sp>
      <p:sp>
        <p:nvSpPr>
          <p:cNvPr id="16" name="RRF = Reciprocal Rank Fusion. Here: BM25 + E5 + ">
            <a:extLst xmlns:a="http://schemas.openxmlformats.org/drawingml/2006/main">
              <a:ext uri="{FF2B5EF4-FFF2-40B4-BE49-F238E27FC236}">
                <a16:creationId xmlns:a16="http://schemas.microsoft.com/office/drawing/2014/main" id="{5A8D3F77-5B29-4088-A54B-A63C162696BE}"/>
              </a:ext>
            </a:extLst>
          </p:cNvPr>
          <p:cNvSpPr>
            <a:spLocks xmlns:a="http://schemas.openxmlformats.org/drawingml/2006/main" noGrp="1"/>
          </p:cNvSpPr>
          <p:nvPr/>
        </p:nvSpPr>
        <p:spPr>
          <a:xfrm xmlns:a="http://schemas.openxmlformats.org/drawingml/2006/main">
            <a:off x="609600" y="5772150"/>
            <a:ext cx="1095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3676F"/>
                </a:solidFill>
                <a:latin typeface="Arial"/>
                <a:ea typeface="Arial"/>
                <a:cs typeface="Arial"/>
              </a:defRPr>
            </a:pPr>
            <a:r>
              <a:rPr sz="1800" b="0">
                <a:solidFill>
                  <a:srgbClr val="53676F"/>
                </a:solidFill>
                <a:latin typeface="Arial"/>
                <a:ea typeface="Arial"/>
                <a:cs typeface="Arial"/>
              </a:rPr>
              <a:t>RRF = Reciprocal Rank Fusion. Here: BM25 + E5 + BGE, c = 60.</a:t>
            </a:r>
          </a:p>
        </p:txBody>
      </p:sp>
    </p:spTree>
    <p:extLst>
      <p:ext uri="{BB962C8B-B14F-4D97-AF65-F5344CB8AC3E}">
        <p14:creationId xmlns:p14="http://schemas.microsoft.com/office/powerpoint/2010/main" val="38206486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NDCG rises with denser human judgments">
            <a:extLst xmlns:a="http://schemas.openxmlformats.org/drawingml/2006/main">
              <a:ext uri="{FF2B5EF4-FFF2-40B4-BE49-F238E27FC236}">
                <a16:creationId xmlns:a16="http://schemas.microsoft.com/office/drawing/2014/main" id="{B00E1B61-8EAD-4159-9A9A-3CC679FEDD7C}"/>
              </a:ext>
            </a:extLst>
          </p:cNvPr>
          <p:cNvSpPr>
            <a:spLocks xmlns:a="http://schemas.openxmlformats.org/drawingml/2006/main" noGrp="1"/>
          </p:cNvSpPr>
          <p:nvPr/>
        </p:nvSpPr>
        <p:spPr>
          <a:xfrm xmlns:a="http://schemas.openxmlformats.org/drawingml/2006/main">
            <a:off x="609600" y="7048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B32"/>
                </a:solidFill>
                <a:latin typeface="Arial"/>
                <a:ea typeface="Arial"/>
                <a:cs typeface="Arial"/>
              </a:defRPr>
            </a:pPr>
            <a:r>
              <a:rPr sz="3300" b="1">
                <a:solidFill>
                  <a:srgbClr val="172B32"/>
                </a:solidFill>
                <a:latin typeface="Arial"/>
                <a:ea typeface="Arial"/>
                <a:cs typeface="Arial"/>
              </a:rPr>
              <a:t>NDCG rises with denser human judgments</a:t>
            </a:r>
          </a:p>
        </p:txBody>
      </p:sp>
      <p:sp>
        <p:nvSpPr>
          <p:cNvPr id="2" name="MANUAL RESULTS">
            <a:extLst xmlns:a="http://schemas.openxmlformats.org/drawingml/2006/main">
              <a:ext uri="{FF2B5EF4-FFF2-40B4-BE49-F238E27FC236}">
                <a16:creationId xmlns:a16="http://schemas.microsoft.com/office/drawing/2014/main" id="{7E056E73-5B5A-4A9B-B6DF-7B0247DC80AE}"/>
              </a:ext>
            </a:extLst>
          </p:cNvPr>
          <p:cNvSpPr>
            <a:spLocks xmlns:a="http://schemas.openxmlformats.org/drawingml/2006/main" noGrp="1"/>
          </p:cNvSpPr>
          <p:nvPr/>
        </p:nvSpPr>
        <p:spPr>
          <a:xfrm xmlns:a="http://schemas.openxmlformats.org/drawingml/2006/main">
            <a:off x="609600" y="285750"/>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F82"/>
                </a:solidFill>
                <a:latin typeface="Arial"/>
                <a:ea typeface="Arial"/>
                <a:cs typeface="Arial"/>
              </a:defRPr>
            </a:pPr>
            <a:r>
              <a:rPr sz="1350" b="1">
                <a:solidFill>
                  <a:srgbClr val="087F82"/>
                </a:solidFill>
                <a:latin typeface="Arial"/>
                <a:ea typeface="Arial"/>
                <a:cs typeface="Arial"/>
              </a:rPr>
              <a:t>MANUAL RESULTS</a:t>
            </a:r>
          </a:p>
        </p:txBody>
      </p:sp>
      <p:sp>
        <p:nvSpPr>
          <p:cNvPr id="3" name="">
            <a:extLst xmlns:a="http://schemas.openxmlformats.org/drawingml/2006/main">
              <a:ext uri="{FF2B5EF4-FFF2-40B4-BE49-F238E27FC236}">
                <a16:creationId xmlns:a16="http://schemas.microsoft.com/office/drawing/2014/main" id="{E13EB5C6-4D19-43EC-A0F4-6A7D21421A91}"/>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12383">
            <a:solidFill>
              <a:srgbClr val="D7E2E4"/>
            </a:solidFill>
          </a:ln>
        </p:spPr>
      </p:sp>
      <p:sp>
        <p:nvSpPr>
          <p:cNvPr id="4" name="DAMDID 2026">
            <a:extLst xmlns:a="http://schemas.openxmlformats.org/drawingml/2006/main">
              <a:ext uri="{FF2B5EF4-FFF2-40B4-BE49-F238E27FC236}">
                <a16:creationId xmlns:a16="http://schemas.microsoft.com/office/drawing/2014/main" id="{A5E4CE79-1C79-4FBC-97C7-5E3CA3169EA5}"/>
              </a:ext>
            </a:extLst>
          </p:cNvPr>
          <p:cNvSpPr>
            <a:spLocks xmlns:a="http://schemas.openxmlformats.org/drawingml/2006/main" noGrp="1"/>
          </p:cNvSpPr>
          <p:nvPr/>
        </p:nvSpPr>
        <p:spPr>
          <a:xfrm xmlns:a="http://schemas.openxmlformats.org/drawingml/2006/main">
            <a:off x="609600" y="65055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3676F"/>
                </a:solidFill>
                <a:latin typeface="Arial"/>
                <a:ea typeface="Arial"/>
                <a:cs typeface="Arial"/>
              </a:defRPr>
            </a:pPr>
            <a:r>
              <a:rPr sz="1125" b="0">
                <a:solidFill>
                  <a:srgbClr val="53676F"/>
                </a:solidFill>
                <a:latin typeface="Arial"/>
                <a:ea typeface="Arial"/>
                <a:cs typeface="Arial"/>
              </a:rPr>
              <a:t>DAMDID 2026</a:t>
            </a:r>
          </a:p>
        </p:txBody>
      </p:sp>
      <p:sp>
        <p:nvSpPr>
          <p:cNvPr id="5" name="07">
            <a:extLst xmlns:a="http://schemas.openxmlformats.org/drawingml/2006/main">
              <a:ext uri="{FF2B5EF4-FFF2-40B4-BE49-F238E27FC236}">
                <a16:creationId xmlns:a16="http://schemas.microsoft.com/office/drawing/2014/main" id="{C66F7398-1FD4-4CAB-B7DC-F022248F2400}"/>
              </a:ext>
            </a:extLst>
          </p:cNvPr>
          <p:cNvSpPr>
            <a:spLocks xmlns:a="http://schemas.openxmlformats.org/drawingml/2006/main" noGrp="1"/>
          </p:cNvSpPr>
          <p:nvPr/>
        </p:nvSpPr>
        <p:spPr>
          <a:xfrm xmlns:a="http://schemas.openxmlformats.org/drawingml/2006/main">
            <a:off x="11049000" y="64770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53676F"/>
                </a:solidFill>
                <a:latin typeface="Arial"/>
                <a:ea typeface="Arial"/>
                <a:cs typeface="Arial"/>
              </a:defRPr>
            </a:pPr>
            <a:r>
              <a:rPr sz="1350" b="0">
                <a:solidFill>
                  <a:srgbClr val="53676F"/>
                </a:solidFill>
                <a:latin typeface="Arial"/>
                <a:ea typeface="Arial"/>
                <a:cs typeface="Arial"/>
              </a:rPr>
              <a:t>07</a:t>
            </a:r>
          </a:p>
        </p:txBody>
      </p:sp>
      <p:graphicFrame>
        <p:nvGraphicFramePr>
          <p:cNvPr id="13" name="Chart"/>
          <p:cNvGraphicFramePr/>
          <p:nvPr/>
        </p:nvGraphicFramePr>
        <p:xfrm>
          <a:off xmlns:a="http://schemas.openxmlformats.org/drawingml/2006/main" x="552450" y="1838325"/>
          <a:ext xmlns:a="http://schemas.openxmlformats.org/drawingml/2006/main" cx="11029950" cy="3924300"/>
        </p:xfrm>
        <a:graphic xmlns:a="http://schemas.openxmlformats.org/drawingml/2006/main">
          <a:graphicData uri="http://schemas.openxmlformats.org/drawingml/2006/chart">
            <c:chart xmlns:r="http://schemas.openxmlformats.org/officeDocument/2006/relationships" xmlns:c="http://schemas.openxmlformats.org/drawingml/2006/chart" r:id="Rb7130b3534a54984"/>
          </a:graphicData>
        </a:graphic>
      </p:graphicFrame>
      <p:sp>
        <p:nvSpPr>
          <p:cNvPr id="7" name="All 1,179 queries. Common pool-based IDCG. Paire">
            <a:extLst xmlns:a="http://schemas.openxmlformats.org/drawingml/2006/main">
              <a:ext uri="{FF2B5EF4-FFF2-40B4-BE49-F238E27FC236}">
                <a16:creationId xmlns:a16="http://schemas.microsoft.com/office/drawing/2014/main" id="{5787AC08-379B-4107-BF75-71A7C3AF35BF}"/>
              </a:ext>
            </a:extLst>
          </p:cNvPr>
          <p:cNvSpPr>
            <a:spLocks xmlns:a="http://schemas.openxmlformats.org/drawingml/2006/main" noGrp="1"/>
          </p:cNvSpPr>
          <p:nvPr/>
        </p:nvSpPr>
        <p:spPr>
          <a:xfrm xmlns:a="http://schemas.openxmlformats.org/drawingml/2006/main">
            <a:off x="609600" y="5867400"/>
            <a:ext cx="1095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53676F"/>
                </a:solidFill>
                <a:latin typeface="Arial"/>
                <a:ea typeface="Arial"/>
                <a:cs typeface="Arial"/>
              </a:defRPr>
            </a:pPr>
            <a:r>
              <a:rPr sz="1725" b="0">
                <a:solidFill>
                  <a:srgbClr val="53676F"/>
                </a:solidFill>
                <a:latin typeface="Arial"/>
                <a:ea typeface="Arial"/>
                <a:cs typeface="Arial"/>
              </a:rPr>
              <a:t>All 1,179 queries. Common pool-based IDCG. Paired changes: p &lt; 0.001.</a:t>
            </a:r>
          </a:p>
        </p:txBody>
      </p:sp>
    </p:spTree>
    <p:extLst>
      <p:ext uri="{BB962C8B-B14F-4D97-AF65-F5344CB8AC3E}">
        <p14:creationId xmlns:p14="http://schemas.microsoft.com/office/powerpoint/2010/main" val="50977057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MiniLM cross-encoder as a relevance judge">
            <a:extLst xmlns:a="http://schemas.openxmlformats.org/drawingml/2006/main">
              <a:ext uri="{FF2B5EF4-FFF2-40B4-BE49-F238E27FC236}">
                <a16:creationId xmlns:a16="http://schemas.microsoft.com/office/drawing/2014/main" id="{307EB3EF-BAD9-42CE-AEC3-EE5598DA4833}"/>
              </a:ext>
            </a:extLst>
          </p:cNvPr>
          <p:cNvSpPr>
            <a:spLocks xmlns:a="http://schemas.openxmlformats.org/drawingml/2006/main" noGrp="1"/>
          </p:cNvSpPr>
          <p:nvPr/>
        </p:nvSpPr>
        <p:spPr>
          <a:xfrm xmlns:a="http://schemas.openxmlformats.org/drawingml/2006/main">
            <a:off x="609600" y="7048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B32"/>
                </a:solidFill>
                <a:latin typeface="Arial"/>
                <a:ea typeface="Arial"/>
                <a:cs typeface="Arial"/>
              </a:defRPr>
            </a:pPr>
            <a:r>
              <a:rPr sz="3300" b="1">
                <a:solidFill>
                  <a:srgbClr val="172B32"/>
                </a:solidFill>
                <a:latin typeface="Arial"/>
                <a:ea typeface="Arial"/>
                <a:cs typeface="Arial"/>
              </a:rPr>
              <a:t>MiniLM cross-encoder as a relevance judge</a:t>
            </a:r>
          </a:p>
        </p:txBody>
      </p:sp>
      <p:sp>
        <p:nvSpPr>
          <p:cNvPr id="2" name="AUTOMATIC ANNOTATION">
            <a:extLst xmlns:a="http://schemas.openxmlformats.org/drawingml/2006/main">
              <a:ext uri="{FF2B5EF4-FFF2-40B4-BE49-F238E27FC236}">
                <a16:creationId xmlns:a16="http://schemas.microsoft.com/office/drawing/2014/main" id="{329B78EE-42D3-4EAF-997B-E8731A468B71}"/>
              </a:ext>
            </a:extLst>
          </p:cNvPr>
          <p:cNvSpPr>
            <a:spLocks xmlns:a="http://schemas.openxmlformats.org/drawingml/2006/main" noGrp="1"/>
          </p:cNvSpPr>
          <p:nvPr/>
        </p:nvSpPr>
        <p:spPr>
          <a:xfrm xmlns:a="http://schemas.openxmlformats.org/drawingml/2006/main">
            <a:off x="609600" y="285750"/>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F82"/>
                </a:solidFill>
                <a:latin typeface="Arial"/>
                <a:ea typeface="Arial"/>
                <a:cs typeface="Arial"/>
              </a:defRPr>
            </a:pPr>
            <a:r>
              <a:rPr sz="1350" b="1">
                <a:solidFill>
                  <a:srgbClr val="087F82"/>
                </a:solidFill>
                <a:latin typeface="Arial"/>
                <a:ea typeface="Arial"/>
                <a:cs typeface="Arial"/>
              </a:rPr>
              <a:t>AUTOMATIC ANNOTATION</a:t>
            </a:r>
          </a:p>
        </p:txBody>
      </p:sp>
      <p:sp>
        <p:nvSpPr>
          <p:cNvPr id="3" name="">
            <a:extLst xmlns:a="http://schemas.openxmlformats.org/drawingml/2006/main">
              <a:ext uri="{FF2B5EF4-FFF2-40B4-BE49-F238E27FC236}">
                <a16:creationId xmlns:a16="http://schemas.microsoft.com/office/drawing/2014/main" id="{4EA70FCF-8E27-4ABE-B0E5-952B38B3C405}"/>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12383">
            <a:solidFill>
              <a:srgbClr val="D7E2E4"/>
            </a:solidFill>
          </a:ln>
        </p:spPr>
      </p:sp>
      <p:sp>
        <p:nvSpPr>
          <p:cNvPr id="4" name="DAMDID 2026">
            <a:extLst xmlns:a="http://schemas.openxmlformats.org/drawingml/2006/main">
              <a:ext uri="{FF2B5EF4-FFF2-40B4-BE49-F238E27FC236}">
                <a16:creationId xmlns:a16="http://schemas.microsoft.com/office/drawing/2014/main" id="{A4C73AEE-0CDD-4A37-B4EA-06255539D630}"/>
              </a:ext>
            </a:extLst>
          </p:cNvPr>
          <p:cNvSpPr>
            <a:spLocks xmlns:a="http://schemas.openxmlformats.org/drawingml/2006/main" noGrp="1"/>
          </p:cNvSpPr>
          <p:nvPr/>
        </p:nvSpPr>
        <p:spPr>
          <a:xfrm xmlns:a="http://schemas.openxmlformats.org/drawingml/2006/main">
            <a:off x="609600" y="65055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3676F"/>
                </a:solidFill>
                <a:latin typeface="Arial"/>
                <a:ea typeface="Arial"/>
                <a:cs typeface="Arial"/>
              </a:defRPr>
            </a:pPr>
            <a:r>
              <a:rPr sz="1125" b="0">
                <a:solidFill>
                  <a:srgbClr val="53676F"/>
                </a:solidFill>
                <a:latin typeface="Arial"/>
                <a:ea typeface="Arial"/>
                <a:cs typeface="Arial"/>
              </a:rPr>
              <a:t>DAMDID 2026</a:t>
            </a:r>
          </a:p>
        </p:txBody>
      </p:sp>
      <p:sp>
        <p:nvSpPr>
          <p:cNvPr id="5" name="08">
            <a:extLst xmlns:a="http://schemas.openxmlformats.org/drawingml/2006/main">
              <a:ext uri="{FF2B5EF4-FFF2-40B4-BE49-F238E27FC236}">
                <a16:creationId xmlns:a16="http://schemas.microsoft.com/office/drawing/2014/main" id="{D5C43172-0952-4BBD-9967-0824CC02B0C7}"/>
              </a:ext>
            </a:extLst>
          </p:cNvPr>
          <p:cNvSpPr>
            <a:spLocks xmlns:a="http://schemas.openxmlformats.org/drawingml/2006/main" noGrp="1"/>
          </p:cNvSpPr>
          <p:nvPr/>
        </p:nvSpPr>
        <p:spPr>
          <a:xfrm xmlns:a="http://schemas.openxmlformats.org/drawingml/2006/main">
            <a:off x="11049000" y="64770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53676F"/>
                </a:solidFill>
                <a:latin typeface="Arial"/>
                <a:ea typeface="Arial"/>
                <a:cs typeface="Arial"/>
              </a:defRPr>
            </a:pPr>
            <a:r>
              <a:rPr sz="1350" b="0">
                <a:solidFill>
                  <a:srgbClr val="53676F"/>
                </a:solidFill>
                <a:latin typeface="Arial"/>
                <a:ea typeface="Arial"/>
                <a:cs typeface="Arial"/>
              </a:rPr>
              <a:t>08</a:t>
            </a:r>
          </a:p>
        </p:txBody>
      </p:sp>
      <p:sp>
        <p:nvSpPr>
          <p:cNvPr id="6" name="Input: query text + candidate text">
            <a:extLst xmlns:a="http://schemas.openxmlformats.org/drawingml/2006/main">
              <a:ext uri="{FF2B5EF4-FFF2-40B4-BE49-F238E27FC236}">
                <a16:creationId xmlns:a16="http://schemas.microsoft.com/office/drawing/2014/main" id="{E3B33C35-7B91-449E-B051-8403CB8E102C}"/>
              </a:ext>
            </a:extLst>
          </p:cNvPr>
          <p:cNvSpPr>
            <a:spLocks xmlns:a="http://schemas.openxmlformats.org/drawingml/2006/main" noGrp="1"/>
          </p:cNvSpPr>
          <p:nvPr/>
        </p:nvSpPr>
        <p:spPr>
          <a:xfrm xmlns:a="http://schemas.openxmlformats.org/drawingml/2006/main">
            <a:off x="609600" y="1733550"/>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72B32"/>
                </a:solidFill>
                <a:latin typeface="Arial"/>
                <a:ea typeface="Arial"/>
                <a:cs typeface="Arial"/>
              </a:defRPr>
            </a:pPr>
            <a:r>
              <a:rPr sz="2325" b="0">
                <a:solidFill>
                  <a:srgbClr val="172B32"/>
                </a:solidFill>
                <a:latin typeface="Arial"/>
                <a:ea typeface="Arial"/>
                <a:cs typeface="Arial"/>
              </a:rPr>
              <a:t>Input: query text + candidate text</a:t>
            </a:r>
          </a:p>
        </p:txBody>
      </p:sp>
      <p:sp>
        <p:nvSpPr>
          <p:cNvPr id="7" name="0.907">
            <a:extLst xmlns:a="http://schemas.openxmlformats.org/drawingml/2006/main">
              <a:ext uri="{FF2B5EF4-FFF2-40B4-BE49-F238E27FC236}">
                <a16:creationId xmlns:a16="http://schemas.microsoft.com/office/drawing/2014/main" id="{C1221A85-3E79-4DA0-A202-88FC92EBABD3}"/>
              </a:ext>
            </a:extLst>
          </p:cNvPr>
          <p:cNvSpPr>
            <a:spLocks xmlns:a="http://schemas.openxmlformats.org/drawingml/2006/main" noGrp="1"/>
          </p:cNvSpPr>
          <p:nvPr/>
        </p:nvSpPr>
        <p:spPr>
          <a:xfrm xmlns:a="http://schemas.openxmlformats.org/drawingml/2006/main">
            <a:off x="609600" y="2657475"/>
            <a:ext cx="394335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6825" b="1">
                <a:solidFill>
                  <a:srgbClr val="087F82"/>
                </a:solidFill>
                <a:latin typeface="Arial"/>
                <a:ea typeface="Arial"/>
                <a:cs typeface="Arial"/>
              </a:defRPr>
            </a:pPr>
            <a:r>
              <a:rPr sz="6825" b="1">
                <a:solidFill>
                  <a:srgbClr val="087F82"/>
                </a:solidFill>
                <a:latin typeface="Arial"/>
                <a:ea typeface="Arial"/>
                <a:cs typeface="Arial"/>
              </a:rPr>
              <a:t>0.907</a:t>
            </a:r>
          </a:p>
        </p:txBody>
      </p:sp>
      <p:sp>
        <p:nvSpPr>
          <p:cNvPr id="8" name="ROC-AUC on held-out queries">
            <a:extLst xmlns:a="http://schemas.openxmlformats.org/drawingml/2006/main">
              <a:ext uri="{FF2B5EF4-FFF2-40B4-BE49-F238E27FC236}">
                <a16:creationId xmlns:a16="http://schemas.microsoft.com/office/drawing/2014/main" id="{964495AB-C85D-4261-83E1-79949DB4DBEA}"/>
              </a:ext>
            </a:extLst>
          </p:cNvPr>
          <p:cNvSpPr>
            <a:spLocks xmlns:a="http://schemas.openxmlformats.org/drawingml/2006/main" noGrp="1"/>
          </p:cNvSpPr>
          <p:nvPr/>
        </p:nvSpPr>
        <p:spPr>
          <a:xfrm xmlns:a="http://schemas.openxmlformats.org/drawingml/2006/main">
            <a:off x="609600" y="3867150"/>
            <a:ext cx="4476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2B32"/>
                </a:solidFill>
                <a:latin typeface="Arial"/>
                <a:ea typeface="Arial"/>
                <a:cs typeface="Arial"/>
              </a:defRPr>
            </a:pPr>
            <a:r>
              <a:rPr sz="2100" b="0">
                <a:solidFill>
                  <a:srgbClr val="172B32"/>
                </a:solidFill>
                <a:latin typeface="Arial"/>
                <a:ea typeface="Arial"/>
                <a:cs typeface="Arial"/>
              </a:rPr>
              <a:t>ROC-AUC on held-out queries</a:t>
            </a:r>
          </a:p>
        </p:txBody>
      </p:sp>
      <p:sp>
        <p:nvSpPr>
          <p:cNvPr id="9" name="177 queries&#10;5,002 query–passage pairs">
            <a:extLst xmlns:a="http://schemas.openxmlformats.org/drawingml/2006/main">
              <a:ext uri="{FF2B5EF4-FFF2-40B4-BE49-F238E27FC236}">
                <a16:creationId xmlns:a16="http://schemas.microsoft.com/office/drawing/2014/main" id="{18C2520C-C185-4418-8115-DCD73344BCC6}"/>
              </a:ext>
            </a:extLst>
          </p:cNvPr>
          <p:cNvSpPr>
            <a:spLocks xmlns:a="http://schemas.openxmlformats.org/drawingml/2006/main" noGrp="1"/>
          </p:cNvSpPr>
          <p:nvPr/>
        </p:nvSpPr>
        <p:spPr>
          <a:xfrm xmlns:a="http://schemas.openxmlformats.org/drawingml/2006/main">
            <a:off x="609600" y="4953000"/>
            <a:ext cx="4476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53676F"/>
                </a:solidFill>
                <a:latin typeface="Arial"/>
                <a:ea typeface="Arial"/>
                <a:cs typeface="Arial"/>
              </a:defRPr>
            </a:pPr>
            <a:r>
              <a:rPr sz="1950" b="0">
                <a:solidFill>
                  <a:srgbClr val="53676F"/>
                </a:solidFill>
                <a:latin typeface="Arial"/>
                <a:ea typeface="Arial"/>
                <a:cs typeface="Arial"/>
              </a:rPr>
              <a:t>177 queries</a:t>
            </a:r>
          </a:p>
          <a:p xmlns:a="http://schemas.openxmlformats.org/drawingml/2006/main">
            <a:pPr>
              <a:defRPr sz="1950" b="0">
                <a:solidFill>
                  <a:srgbClr val="53676F"/>
                </a:solidFill>
                <a:latin typeface="Arial"/>
                <a:ea typeface="Arial"/>
                <a:cs typeface="Arial"/>
              </a:defRPr>
            </a:pPr>
            <a:r>
              <a:rPr sz="1950" b="0">
                <a:solidFill>
                  <a:srgbClr val="53676F"/>
                </a:solidFill>
                <a:latin typeface="Arial"/>
                <a:ea typeface="Arial"/>
                <a:cs typeface="Arial"/>
              </a:rPr>
              <a:t>5,002 query–passage pairs</a:t>
            </a:r>
          </a:p>
        </p:txBody>
      </p:sp>
      <p:graphicFrame>
        <p:nvGraphicFramePr>
          <p:cNvPr id="21" name="Chart"/>
          <p:cNvGraphicFramePr/>
          <p:nvPr/>
        </p:nvGraphicFramePr>
        <p:xfrm>
          <a:off xmlns:a="http://schemas.openxmlformats.org/drawingml/2006/main" x="5410200" y="2466975"/>
          <a:ext xmlns:a="http://schemas.openxmlformats.org/drawingml/2006/main" cx="6172200" cy="3209925"/>
        </p:xfrm>
        <a:graphic xmlns:a="http://schemas.openxmlformats.org/drawingml/2006/main">
          <a:graphicData uri="http://schemas.openxmlformats.org/drawingml/2006/chart">
            <c:chart xmlns:r="http://schemas.openxmlformats.org/officeDocument/2006/relationships" xmlns:c="http://schemas.openxmlformats.org/drawingml/2006/chart" r:id="Rc1cf6720de9a4826"/>
          </a:graphicData>
        </a:graphic>
      </p:graphicFrame>
      <p:sp>
        <p:nvSpPr>
          <p:cNvPr id="11" name="No reference answer or retrieval scores. Thresho">
            <a:extLst xmlns:a="http://schemas.openxmlformats.org/drawingml/2006/main">
              <a:ext uri="{FF2B5EF4-FFF2-40B4-BE49-F238E27FC236}">
                <a16:creationId xmlns:a16="http://schemas.microsoft.com/office/drawing/2014/main" id="{B2E28D2C-57C9-47D2-88C3-84E7C011C918}"/>
              </a:ext>
            </a:extLst>
          </p:cNvPr>
          <p:cNvSpPr>
            <a:spLocks xmlns:a="http://schemas.openxmlformats.org/drawingml/2006/main" noGrp="1"/>
          </p:cNvSpPr>
          <p:nvPr/>
        </p:nvSpPr>
        <p:spPr>
          <a:xfrm xmlns:a="http://schemas.openxmlformats.org/drawingml/2006/main">
            <a:off x="609600" y="5895975"/>
            <a:ext cx="1095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53676F"/>
                </a:solidFill>
                <a:latin typeface="Arial"/>
                <a:ea typeface="Arial"/>
                <a:cs typeface="Arial"/>
              </a:defRPr>
            </a:pPr>
            <a:r>
              <a:rPr sz="1725" b="0">
                <a:solidFill>
                  <a:srgbClr val="53676F"/>
                </a:solidFill>
                <a:latin typeface="Arial"/>
                <a:ea typeface="Arial"/>
                <a:cs typeface="Arial"/>
              </a:rPr>
              <a:t>No reference answer or retrieval scores. Threshold selected on validation.</a:t>
            </a:r>
          </a:p>
        </p:txBody>
      </p:sp>
    </p:spTree>
    <p:extLst>
      <p:ext uri="{BB962C8B-B14F-4D97-AF65-F5344CB8AC3E}">
        <p14:creationId xmlns:p14="http://schemas.microsoft.com/office/powerpoint/2010/main" val="57710395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Pseudo-label counts depend on pool depth">
            <a:extLst xmlns:a="http://schemas.openxmlformats.org/drawingml/2006/main">
              <a:ext uri="{FF2B5EF4-FFF2-40B4-BE49-F238E27FC236}">
                <a16:creationId xmlns:a16="http://schemas.microsoft.com/office/drawing/2014/main" id="{C83FA780-493E-4209-B92A-DC0440C68DC2}"/>
              </a:ext>
            </a:extLst>
          </p:cNvPr>
          <p:cNvSpPr>
            <a:spLocks xmlns:a="http://schemas.openxmlformats.org/drawingml/2006/main" noGrp="1"/>
          </p:cNvSpPr>
          <p:nvPr/>
        </p:nvSpPr>
        <p:spPr>
          <a:xfrm xmlns:a="http://schemas.openxmlformats.org/drawingml/2006/main">
            <a:off x="609600" y="7048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B32"/>
                </a:solidFill>
                <a:latin typeface="Arial"/>
                <a:ea typeface="Arial"/>
                <a:cs typeface="Arial"/>
              </a:defRPr>
            </a:pPr>
            <a:r>
              <a:rPr sz="3300" b="1">
                <a:solidFill>
                  <a:srgbClr val="172B32"/>
                </a:solidFill>
                <a:latin typeface="Arial"/>
                <a:ea typeface="Arial"/>
                <a:cs typeface="Arial"/>
              </a:rPr>
              <a:t>Pseudo-label counts depend on pool depth</a:t>
            </a:r>
          </a:p>
        </p:txBody>
      </p:sp>
      <p:sp>
        <p:nvSpPr>
          <p:cNvPr id="2" name="LARGER EXPERIMENT">
            <a:extLst xmlns:a="http://schemas.openxmlformats.org/drawingml/2006/main">
              <a:ext uri="{FF2B5EF4-FFF2-40B4-BE49-F238E27FC236}">
                <a16:creationId xmlns:a16="http://schemas.microsoft.com/office/drawing/2014/main" id="{299A2C35-897B-4CDF-A488-4666C38D4257}"/>
              </a:ext>
            </a:extLst>
          </p:cNvPr>
          <p:cNvSpPr>
            <a:spLocks xmlns:a="http://schemas.openxmlformats.org/drawingml/2006/main" noGrp="1"/>
          </p:cNvSpPr>
          <p:nvPr/>
        </p:nvSpPr>
        <p:spPr>
          <a:xfrm xmlns:a="http://schemas.openxmlformats.org/drawingml/2006/main">
            <a:off x="609600" y="285750"/>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F82"/>
                </a:solidFill>
                <a:latin typeface="Arial"/>
                <a:ea typeface="Arial"/>
                <a:cs typeface="Arial"/>
              </a:defRPr>
            </a:pPr>
            <a:r>
              <a:rPr sz="1350" b="1">
                <a:solidFill>
                  <a:srgbClr val="087F82"/>
                </a:solidFill>
                <a:latin typeface="Arial"/>
                <a:ea typeface="Arial"/>
                <a:cs typeface="Arial"/>
              </a:rPr>
              <a:t>LARGER EXPERIMENT</a:t>
            </a:r>
          </a:p>
        </p:txBody>
      </p:sp>
      <p:sp>
        <p:nvSpPr>
          <p:cNvPr id="3" name="">
            <a:extLst xmlns:a="http://schemas.openxmlformats.org/drawingml/2006/main">
              <a:ext uri="{FF2B5EF4-FFF2-40B4-BE49-F238E27FC236}">
                <a16:creationId xmlns:a16="http://schemas.microsoft.com/office/drawing/2014/main" id="{A49B8BDA-FE2D-4533-8929-AE20EA8EB846}"/>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12383">
            <a:solidFill>
              <a:srgbClr val="D7E2E4"/>
            </a:solidFill>
          </a:ln>
        </p:spPr>
      </p:sp>
      <p:sp>
        <p:nvSpPr>
          <p:cNvPr id="4" name="DAMDID 2026">
            <a:extLst xmlns:a="http://schemas.openxmlformats.org/drawingml/2006/main">
              <a:ext uri="{FF2B5EF4-FFF2-40B4-BE49-F238E27FC236}">
                <a16:creationId xmlns:a16="http://schemas.microsoft.com/office/drawing/2014/main" id="{805E668C-15F8-4BCF-8F13-4D8C4B8887DB}"/>
              </a:ext>
            </a:extLst>
          </p:cNvPr>
          <p:cNvSpPr>
            <a:spLocks xmlns:a="http://schemas.openxmlformats.org/drawingml/2006/main" noGrp="1"/>
          </p:cNvSpPr>
          <p:nvPr/>
        </p:nvSpPr>
        <p:spPr>
          <a:xfrm xmlns:a="http://schemas.openxmlformats.org/drawingml/2006/main">
            <a:off x="609600" y="65055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3676F"/>
                </a:solidFill>
                <a:latin typeface="Arial"/>
                <a:ea typeface="Arial"/>
                <a:cs typeface="Arial"/>
              </a:defRPr>
            </a:pPr>
            <a:r>
              <a:rPr sz="1125" b="0">
                <a:solidFill>
                  <a:srgbClr val="53676F"/>
                </a:solidFill>
                <a:latin typeface="Arial"/>
                <a:ea typeface="Arial"/>
                <a:cs typeface="Arial"/>
              </a:rPr>
              <a:t>DAMDID 2026</a:t>
            </a:r>
          </a:p>
        </p:txBody>
      </p:sp>
      <p:sp>
        <p:nvSpPr>
          <p:cNvPr id="5" name="09">
            <a:extLst xmlns:a="http://schemas.openxmlformats.org/drawingml/2006/main">
              <a:ext uri="{FF2B5EF4-FFF2-40B4-BE49-F238E27FC236}">
                <a16:creationId xmlns:a16="http://schemas.microsoft.com/office/drawing/2014/main" id="{B493DD3A-01F9-4257-9FD2-FCFE06543F15}"/>
              </a:ext>
            </a:extLst>
          </p:cNvPr>
          <p:cNvSpPr>
            <a:spLocks xmlns:a="http://schemas.openxmlformats.org/drawingml/2006/main" noGrp="1"/>
          </p:cNvSpPr>
          <p:nvPr/>
        </p:nvSpPr>
        <p:spPr>
          <a:xfrm xmlns:a="http://schemas.openxmlformats.org/drawingml/2006/main">
            <a:off x="11049000" y="64770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53676F"/>
                </a:solidFill>
                <a:latin typeface="Arial"/>
                <a:ea typeface="Arial"/>
                <a:cs typeface="Arial"/>
              </a:defRPr>
            </a:pPr>
            <a:r>
              <a:rPr sz="1350" b="0">
                <a:solidFill>
                  <a:srgbClr val="53676F"/>
                </a:solidFill>
                <a:latin typeface="Arial"/>
                <a:ea typeface="Arial"/>
                <a:cs typeface="Arial"/>
              </a:rPr>
              <a:t>09</a:t>
            </a:r>
          </a:p>
        </p:txBody>
      </p:sp>
      <p:graphicFrame>
        <p:nvGraphicFramePr>
          <p:cNvPr id="15" name="Chart"/>
          <p:cNvGraphicFramePr/>
          <p:nvPr/>
        </p:nvGraphicFramePr>
        <p:xfrm>
          <a:off xmlns:a="http://schemas.openxmlformats.org/drawingml/2006/main" x="552450" y="1762125"/>
          <a:ext xmlns:a="http://schemas.openxmlformats.org/drawingml/2006/main" cx="7934325" cy="3933825"/>
        </p:xfrm>
        <a:graphic xmlns:a="http://schemas.openxmlformats.org/drawingml/2006/main">
          <a:graphicData uri="http://schemas.openxmlformats.org/drawingml/2006/chart">
            <c:chart xmlns:r="http://schemas.openxmlformats.org/officeDocument/2006/relationships" xmlns:c="http://schemas.openxmlformats.org/drawingml/2006/chart" r:id="R0cb78694c45d4fce"/>
          </a:graphicData>
        </a:graphic>
      </p:graphicFrame>
      <p:sp>
        <p:nvSpPr>
          <p:cNvPr id="7" name="128.6">
            <a:extLst xmlns:a="http://schemas.openxmlformats.org/drawingml/2006/main">
              <a:ext uri="{FF2B5EF4-FFF2-40B4-BE49-F238E27FC236}">
                <a16:creationId xmlns:a16="http://schemas.microsoft.com/office/drawing/2014/main" id="{A2E33461-5E1F-41AA-934F-DDF4ECCB292B}"/>
              </a:ext>
            </a:extLst>
          </p:cNvPr>
          <p:cNvSpPr>
            <a:spLocks xmlns:a="http://schemas.openxmlformats.org/drawingml/2006/main" noGrp="1"/>
          </p:cNvSpPr>
          <p:nvPr/>
        </p:nvSpPr>
        <p:spPr>
          <a:xfrm xmlns:a="http://schemas.openxmlformats.org/drawingml/2006/main">
            <a:off x="9010650" y="2609850"/>
            <a:ext cx="2571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5025" b="1">
                <a:solidFill>
                  <a:srgbClr val="087F82"/>
                </a:solidFill>
                <a:latin typeface="Arial"/>
                <a:ea typeface="Arial"/>
                <a:cs typeface="Arial"/>
              </a:defRPr>
            </a:pPr>
            <a:r>
              <a:rPr sz="5025" b="1">
                <a:solidFill>
                  <a:srgbClr val="087F82"/>
                </a:solidFill>
                <a:latin typeface="Arial"/>
                <a:ea typeface="Arial"/>
                <a:cs typeface="Arial"/>
              </a:rPr>
              <a:t>128.6</a:t>
            </a:r>
          </a:p>
        </p:txBody>
      </p:sp>
      <p:sp>
        <p:nvSpPr>
          <p:cNvPr id="8" name="pseudo-positive&#10;passages per query&#10;at K = 200">
            <a:extLst xmlns:a="http://schemas.openxmlformats.org/drawingml/2006/main">
              <a:ext uri="{FF2B5EF4-FFF2-40B4-BE49-F238E27FC236}">
                <a16:creationId xmlns:a16="http://schemas.microsoft.com/office/drawing/2014/main" id="{54C3DD85-CE1F-4983-B584-6FD2BC360D71}"/>
              </a:ext>
            </a:extLst>
          </p:cNvPr>
          <p:cNvSpPr>
            <a:spLocks xmlns:a="http://schemas.openxmlformats.org/drawingml/2006/main" noGrp="1"/>
          </p:cNvSpPr>
          <p:nvPr/>
        </p:nvSpPr>
        <p:spPr>
          <a:xfrm xmlns:a="http://schemas.openxmlformats.org/drawingml/2006/main">
            <a:off x="9010650" y="3609975"/>
            <a:ext cx="25717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72B32"/>
                </a:solidFill>
                <a:latin typeface="Arial"/>
                <a:ea typeface="Arial"/>
                <a:cs typeface="Arial"/>
              </a:defRPr>
            </a:pPr>
            <a:r>
              <a:rPr sz="2025" b="0">
                <a:solidFill>
                  <a:srgbClr val="172B32"/>
                </a:solidFill>
                <a:latin typeface="Arial"/>
                <a:ea typeface="Arial"/>
                <a:cs typeface="Arial"/>
              </a:rPr>
              <a:t>pseudo-positive</a:t>
            </a:r>
          </a:p>
          <a:p xmlns:a="http://schemas.openxmlformats.org/drawingml/2006/main">
            <a:pPr>
              <a:defRPr sz="2025" b="0">
                <a:solidFill>
                  <a:srgbClr val="172B32"/>
                </a:solidFill>
                <a:latin typeface="Arial"/>
                <a:ea typeface="Arial"/>
                <a:cs typeface="Arial"/>
              </a:defRPr>
            </a:pPr>
            <a:r>
              <a:rPr sz="2025" b="0">
                <a:solidFill>
                  <a:srgbClr val="172B32"/>
                </a:solidFill>
                <a:latin typeface="Arial"/>
                <a:ea typeface="Arial"/>
                <a:cs typeface="Arial"/>
              </a:rPr>
              <a:t>passages per query</a:t>
            </a:r>
          </a:p>
          <a:p xmlns:a="http://schemas.openxmlformats.org/drawingml/2006/main">
            <a:pPr>
              <a:defRPr sz="2025" b="0">
                <a:solidFill>
                  <a:srgbClr val="172B32"/>
                </a:solidFill>
                <a:latin typeface="Arial"/>
                <a:ea typeface="Arial"/>
                <a:cs typeface="Arial"/>
              </a:defRPr>
            </a:pPr>
            <a:r>
              <a:rPr sz="2025" b="0">
                <a:solidFill>
                  <a:srgbClr val="172B32"/>
                </a:solidFill>
                <a:latin typeface="Arial"/>
                <a:ea typeface="Arial"/>
                <a:cs typeface="Arial"/>
              </a:rPr>
              <a:t>at K = 200</a:t>
            </a:r>
          </a:p>
        </p:txBody>
      </p:sp>
      <p:sp>
        <p:nvSpPr>
          <p:cNvPr id="9" name="All 101,093 queries. Same judge and threshold at">
            <a:extLst xmlns:a="http://schemas.openxmlformats.org/drawingml/2006/main">
              <a:ext uri="{FF2B5EF4-FFF2-40B4-BE49-F238E27FC236}">
                <a16:creationId xmlns:a16="http://schemas.microsoft.com/office/drawing/2014/main" id="{2618A437-1371-4464-B080-351956ED1778}"/>
              </a:ext>
            </a:extLst>
          </p:cNvPr>
          <p:cNvSpPr>
            <a:spLocks xmlns:a="http://schemas.openxmlformats.org/drawingml/2006/main" noGrp="1"/>
          </p:cNvSpPr>
          <p:nvPr/>
        </p:nvSpPr>
        <p:spPr>
          <a:xfrm xmlns:a="http://schemas.openxmlformats.org/drawingml/2006/main">
            <a:off x="609600" y="5876925"/>
            <a:ext cx="1095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3676F"/>
                </a:solidFill>
                <a:latin typeface="Arial"/>
                <a:ea typeface="Arial"/>
                <a:cs typeface="Arial"/>
              </a:defRPr>
            </a:pPr>
            <a:r>
              <a:rPr sz="1800" b="0">
                <a:solidFill>
                  <a:srgbClr val="53676F"/>
                </a:solidFill>
                <a:latin typeface="Arial"/>
                <a:ea typeface="Arial"/>
                <a:cs typeface="Arial"/>
              </a:rPr>
              <a:t>All 101,093 queries. Same judge and threshold at every depth.</a:t>
            </a:r>
          </a:p>
        </p:txBody>
      </p:sp>
    </p:spTree>
    <p:extLst>
      <p:ext uri="{BB962C8B-B14F-4D97-AF65-F5344CB8AC3E}">
        <p14:creationId xmlns:p14="http://schemas.microsoft.com/office/powerpoint/2010/main" val="84908444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RRF depends on the depth of its input lists">
            <a:extLst xmlns:a="http://schemas.openxmlformats.org/drawingml/2006/main">
              <a:ext uri="{FF2B5EF4-FFF2-40B4-BE49-F238E27FC236}">
                <a16:creationId xmlns:a16="http://schemas.microsoft.com/office/drawing/2014/main" id="{6B9B9DF7-1334-486C-B810-CFEFD6A6FF9E}"/>
              </a:ext>
            </a:extLst>
          </p:cNvPr>
          <p:cNvSpPr>
            <a:spLocks xmlns:a="http://schemas.openxmlformats.org/drawingml/2006/main" noGrp="1"/>
          </p:cNvSpPr>
          <p:nvPr/>
        </p:nvSpPr>
        <p:spPr>
          <a:xfrm xmlns:a="http://schemas.openxmlformats.org/drawingml/2006/main">
            <a:off x="609600" y="7048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B32"/>
                </a:solidFill>
                <a:latin typeface="Arial"/>
                <a:ea typeface="Arial"/>
                <a:cs typeface="Arial"/>
              </a:defRPr>
            </a:pPr>
            <a:r>
              <a:rPr sz="3300" b="1">
                <a:solidFill>
                  <a:srgbClr val="172B32"/>
                </a:solidFill>
                <a:latin typeface="Arial"/>
                <a:ea typeface="Arial"/>
                <a:cs typeface="Arial"/>
              </a:rPr>
              <a:t>RRF depends on the depth of its input lists</a:t>
            </a:r>
          </a:p>
        </p:txBody>
      </p:sp>
      <p:sp>
        <p:nvSpPr>
          <p:cNvPr id="2" name="LARGER EXPERIMENT">
            <a:extLst xmlns:a="http://schemas.openxmlformats.org/drawingml/2006/main">
              <a:ext uri="{FF2B5EF4-FFF2-40B4-BE49-F238E27FC236}">
                <a16:creationId xmlns:a16="http://schemas.microsoft.com/office/drawing/2014/main" id="{1B018B37-589D-4078-A2B7-DDD9B8EB214E}"/>
              </a:ext>
            </a:extLst>
          </p:cNvPr>
          <p:cNvSpPr>
            <a:spLocks xmlns:a="http://schemas.openxmlformats.org/drawingml/2006/main" noGrp="1"/>
          </p:cNvSpPr>
          <p:nvPr/>
        </p:nvSpPr>
        <p:spPr>
          <a:xfrm xmlns:a="http://schemas.openxmlformats.org/drawingml/2006/main">
            <a:off x="609600" y="285750"/>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F82"/>
                </a:solidFill>
                <a:latin typeface="Arial"/>
                <a:ea typeface="Arial"/>
                <a:cs typeface="Arial"/>
              </a:defRPr>
            </a:pPr>
            <a:r>
              <a:rPr sz="1350" b="1">
                <a:solidFill>
                  <a:srgbClr val="087F82"/>
                </a:solidFill>
                <a:latin typeface="Arial"/>
                <a:ea typeface="Arial"/>
                <a:cs typeface="Arial"/>
              </a:rPr>
              <a:t>LARGER EXPERIMENT</a:t>
            </a:r>
          </a:p>
        </p:txBody>
      </p:sp>
      <p:sp>
        <p:nvSpPr>
          <p:cNvPr id="3" name="">
            <a:extLst xmlns:a="http://schemas.openxmlformats.org/drawingml/2006/main">
              <a:ext uri="{FF2B5EF4-FFF2-40B4-BE49-F238E27FC236}">
                <a16:creationId xmlns:a16="http://schemas.microsoft.com/office/drawing/2014/main" id="{072196E4-82BD-4142-AE8A-6E9DDF8343F8}"/>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12383">
            <a:solidFill>
              <a:srgbClr val="D7E2E4"/>
            </a:solidFill>
          </a:ln>
        </p:spPr>
      </p:sp>
      <p:sp>
        <p:nvSpPr>
          <p:cNvPr id="4" name="DAMDID 2026">
            <a:extLst xmlns:a="http://schemas.openxmlformats.org/drawingml/2006/main">
              <a:ext uri="{FF2B5EF4-FFF2-40B4-BE49-F238E27FC236}">
                <a16:creationId xmlns:a16="http://schemas.microsoft.com/office/drawing/2014/main" id="{49A88BBD-1378-4C4E-AAD1-8579B5F559F6}"/>
              </a:ext>
            </a:extLst>
          </p:cNvPr>
          <p:cNvSpPr>
            <a:spLocks xmlns:a="http://schemas.openxmlformats.org/drawingml/2006/main" noGrp="1"/>
          </p:cNvSpPr>
          <p:nvPr/>
        </p:nvSpPr>
        <p:spPr>
          <a:xfrm xmlns:a="http://schemas.openxmlformats.org/drawingml/2006/main">
            <a:off x="609600" y="65055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3676F"/>
                </a:solidFill>
                <a:latin typeface="Arial"/>
                <a:ea typeface="Arial"/>
                <a:cs typeface="Arial"/>
              </a:defRPr>
            </a:pPr>
            <a:r>
              <a:rPr sz="1125" b="0">
                <a:solidFill>
                  <a:srgbClr val="53676F"/>
                </a:solidFill>
                <a:latin typeface="Arial"/>
                <a:ea typeface="Arial"/>
                <a:cs typeface="Arial"/>
              </a:rPr>
              <a:t>DAMDID 2026</a:t>
            </a:r>
          </a:p>
        </p:txBody>
      </p:sp>
      <p:sp>
        <p:nvSpPr>
          <p:cNvPr id="5" name="10">
            <a:extLst xmlns:a="http://schemas.openxmlformats.org/drawingml/2006/main">
              <a:ext uri="{FF2B5EF4-FFF2-40B4-BE49-F238E27FC236}">
                <a16:creationId xmlns:a16="http://schemas.microsoft.com/office/drawing/2014/main" id="{08B50093-95D8-4148-B452-77057A8D9E26}"/>
              </a:ext>
            </a:extLst>
          </p:cNvPr>
          <p:cNvSpPr>
            <a:spLocks xmlns:a="http://schemas.openxmlformats.org/drawingml/2006/main" noGrp="1"/>
          </p:cNvSpPr>
          <p:nvPr/>
        </p:nvSpPr>
        <p:spPr>
          <a:xfrm xmlns:a="http://schemas.openxmlformats.org/drawingml/2006/main">
            <a:off x="11049000" y="64770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53676F"/>
                </a:solidFill>
                <a:latin typeface="Arial"/>
                <a:ea typeface="Arial"/>
                <a:cs typeface="Arial"/>
              </a:defRPr>
            </a:pPr>
            <a:r>
              <a:rPr sz="1350" b="0">
                <a:solidFill>
                  <a:srgbClr val="53676F"/>
                </a:solidFill>
                <a:latin typeface="Arial"/>
                <a:ea typeface="Arial"/>
                <a:cs typeface="Arial"/>
              </a:rPr>
              <a:t>10</a:t>
            </a:r>
          </a:p>
        </p:txBody>
      </p:sp>
      <p:graphicFrame>
        <p:nvGraphicFramePr>
          <p:cNvPr id="18" name="Chart"/>
          <p:cNvGraphicFramePr/>
          <p:nvPr/>
        </p:nvGraphicFramePr>
        <p:xfrm>
          <a:off xmlns:a="http://schemas.openxmlformats.org/drawingml/2006/main" x="552450" y="1809750"/>
          <a:ext xmlns:a="http://schemas.openxmlformats.org/drawingml/2006/main" cx="8086725" cy="3867150"/>
        </p:xfrm>
        <a:graphic xmlns:a="http://schemas.openxmlformats.org/drawingml/2006/main">
          <a:graphicData uri="http://schemas.openxmlformats.org/drawingml/2006/chart">
            <c:chart xmlns:r="http://schemas.openxmlformats.org/officeDocument/2006/relationships" xmlns:c="http://schemas.openxmlformats.org/drawingml/2006/chart" r:id="R8f67ece648074566"/>
          </a:graphicData>
        </a:graphic>
      </p:graphicFrame>
      <p:sp>
        <p:nvSpPr>
          <p:cNvPr id="7" name="RRF minus E5">
            <a:extLst xmlns:a="http://schemas.openxmlformats.org/drawingml/2006/main">
              <a:ext uri="{FF2B5EF4-FFF2-40B4-BE49-F238E27FC236}">
                <a16:creationId xmlns:a16="http://schemas.microsoft.com/office/drawing/2014/main" id="{F041256D-9914-45CB-8205-C02FA8D59941}"/>
              </a:ext>
            </a:extLst>
          </p:cNvPr>
          <p:cNvSpPr>
            <a:spLocks xmlns:a="http://schemas.openxmlformats.org/drawingml/2006/main" noGrp="1"/>
          </p:cNvSpPr>
          <p:nvPr/>
        </p:nvSpPr>
        <p:spPr>
          <a:xfrm xmlns:a="http://schemas.openxmlformats.org/drawingml/2006/main">
            <a:off x="8972550" y="2028825"/>
            <a:ext cx="26098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72B32"/>
                </a:solidFill>
                <a:latin typeface="Arial"/>
                <a:ea typeface="Arial"/>
                <a:cs typeface="Arial"/>
              </a:defRPr>
            </a:pPr>
            <a:r>
              <a:rPr sz="1950" b="1">
                <a:solidFill>
                  <a:srgbClr val="172B32"/>
                </a:solidFill>
                <a:latin typeface="Arial"/>
                <a:ea typeface="Arial"/>
                <a:cs typeface="Arial"/>
              </a:rPr>
              <a:t>RRF minus E5</a:t>
            </a:r>
          </a:p>
        </p:txBody>
      </p:sp>
      <p:sp>
        <p:nvSpPr>
          <p:cNvPr id="8" name="−0.020">
            <a:extLst xmlns:a="http://schemas.openxmlformats.org/drawingml/2006/main">
              <a:ext uri="{FF2B5EF4-FFF2-40B4-BE49-F238E27FC236}">
                <a16:creationId xmlns:a16="http://schemas.microsoft.com/office/drawing/2014/main" id="{4281E5C8-673C-46A1-84C5-EE8C51509CA0}"/>
              </a:ext>
            </a:extLst>
          </p:cNvPr>
          <p:cNvSpPr>
            <a:spLocks xmlns:a="http://schemas.openxmlformats.org/drawingml/2006/main" noGrp="1"/>
          </p:cNvSpPr>
          <p:nvPr/>
        </p:nvSpPr>
        <p:spPr>
          <a:xfrm xmlns:a="http://schemas.openxmlformats.org/drawingml/2006/main">
            <a:off x="8972550" y="2724150"/>
            <a:ext cx="2609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050" b="1">
                <a:solidFill>
                  <a:srgbClr val="53676F"/>
                </a:solidFill>
                <a:latin typeface="Arial"/>
                <a:ea typeface="Arial"/>
                <a:cs typeface="Arial"/>
              </a:defRPr>
            </a:pPr>
            <a:r>
              <a:rPr sz="4050" b="1">
                <a:solidFill>
                  <a:srgbClr val="53676F"/>
                </a:solidFill>
                <a:latin typeface="Arial"/>
                <a:ea typeface="Arial"/>
                <a:cs typeface="Arial"/>
              </a:rPr>
              <a:t>−0.020</a:t>
            </a:r>
          </a:p>
        </p:txBody>
      </p:sp>
      <p:sp>
        <p:nvSpPr>
          <p:cNvPr id="9" name="at K = 10">
            <a:extLst xmlns:a="http://schemas.openxmlformats.org/drawingml/2006/main">
              <a:ext uri="{FF2B5EF4-FFF2-40B4-BE49-F238E27FC236}">
                <a16:creationId xmlns:a16="http://schemas.microsoft.com/office/drawing/2014/main" id="{55DBBA0B-232E-4C32-B743-7D2E51F6B4D4}"/>
              </a:ext>
            </a:extLst>
          </p:cNvPr>
          <p:cNvSpPr>
            <a:spLocks xmlns:a="http://schemas.openxmlformats.org/drawingml/2006/main" noGrp="1"/>
          </p:cNvSpPr>
          <p:nvPr/>
        </p:nvSpPr>
        <p:spPr>
          <a:xfrm xmlns:a="http://schemas.openxmlformats.org/drawingml/2006/main">
            <a:off x="8972550" y="3514725"/>
            <a:ext cx="2609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53676F"/>
                </a:solidFill>
                <a:latin typeface="Arial"/>
                <a:ea typeface="Arial"/>
                <a:cs typeface="Arial"/>
              </a:defRPr>
            </a:pPr>
            <a:r>
              <a:rPr sz="1950" b="0">
                <a:solidFill>
                  <a:srgbClr val="53676F"/>
                </a:solidFill>
                <a:latin typeface="Arial"/>
                <a:ea typeface="Arial"/>
                <a:cs typeface="Arial"/>
              </a:rPr>
              <a:t>at K = 10</a:t>
            </a:r>
          </a:p>
        </p:txBody>
      </p:sp>
      <p:sp>
        <p:nvSpPr>
          <p:cNvPr id="10" name="+0.009">
            <a:extLst xmlns:a="http://schemas.openxmlformats.org/drawingml/2006/main">
              <a:ext uri="{FF2B5EF4-FFF2-40B4-BE49-F238E27FC236}">
                <a16:creationId xmlns:a16="http://schemas.microsoft.com/office/drawing/2014/main" id="{3992E887-559D-4AA3-9C13-01BFFF4F3060}"/>
              </a:ext>
            </a:extLst>
          </p:cNvPr>
          <p:cNvSpPr>
            <a:spLocks xmlns:a="http://schemas.openxmlformats.org/drawingml/2006/main" noGrp="1"/>
          </p:cNvSpPr>
          <p:nvPr/>
        </p:nvSpPr>
        <p:spPr>
          <a:xfrm xmlns:a="http://schemas.openxmlformats.org/drawingml/2006/main">
            <a:off x="8972550" y="4181475"/>
            <a:ext cx="2609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050" b="1">
                <a:solidFill>
                  <a:srgbClr val="C84F37"/>
                </a:solidFill>
                <a:latin typeface="Arial"/>
                <a:ea typeface="Arial"/>
                <a:cs typeface="Arial"/>
              </a:defRPr>
            </a:pPr>
            <a:r>
              <a:rPr sz="4050" b="1">
                <a:solidFill>
                  <a:srgbClr val="C84F37"/>
                </a:solidFill>
                <a:latin typeface="Arial"/>
                <a:ea typeface="Arial"/>
                <a:cs typeface="Arial"/>
              </a:rPr>
              <a:t>+0.009</a:t>
            </a:r>
          </a:p>
        </p:txBody>
      </p:sp>
      <p:sp>
        <p:nvSpPr>
          <p:cNvPr id="11" name="at K = 200">
            <a:extLst xmlns:a="http://schemas.openxmlformats.org/drawingml/2006/main">
              <a:ext uri="{FF2B5EF4-FFF2-40B4-BE49-F238E27FC236}">
                <a16:creationId xmlns:a16="http://schemas.microsoft.com/office/drawing/2014/main" id="{562C170C-2E07-45E0-817E-9BD990E7C2F2}"/>
              </a:ext>
            </a:extLst>
          </p:cNvPr>
          <p:cNvSpPr>
            <a:spLocks xmlns:a="http://schemas.openxmlformats.org/drawingml/2006/main" noGrp="1"/>
          </p:cNvSpPr>
          <p:nvPr/>
        </p:nvSpPr>
        <p:spPr>
          <a:xfrm xmlns:a="http://schemas.openxmlformats.org/drawingml/2006/main">
            <a:off x="8972550" y="4972050"/>
            <a:ext cx="2609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53676F"/>
                </a:solidFill>
                <a:latin typeface="Arial"/>
                <a:ea typeface="Arial"/>
                <a:cs typeface="Arial"/>
              </a:defRPr>
            </a:pPr>
            <a:r>
              <a:rPr sz="1950" b="0">
                <a:solidFill>
                  <a:srgbClr val="53676F"/>
                </a:solidFill>
                <a:latin typeface="Arial"/>
                <a:ea typeface="Arial"/>
                <a:cs typeface="Arial"/>
              </a:rPr>
              <a:t>at K = 200</a:t>
            </a:r>
          </a:p>
        </p:txBody>
      </p:sp>
      <p:sp>
        <p:nvSpPr>
          <p:cNvPr id="12" name="Pool depth and RRF input depth both vary. Vertic">
            <a:extLst xmlns:a="http://schemas.openxmlformats.org/drawingml/2006/main">
              <a:ext uri="{FF2B5EF4-FFF2-40B4-BE49-F238E27FC236}">
                <a16:creationId xmlns:a16="http://schemas.microsoft.com/office/drawing/2014/main" id="{B7378729-A579-483E-B97B-3EA6BB863D10}"/>
              </a:ext>
            </a:extLst>
          </p:cNvPr>
          <p:cNvSpPr>
            <a:spLocks xmlns:a="http://schemas.openxmlformats.org/drawingml/2006/main" noGrp="1"/>
          </p:cNvSpPr>
          <p:nvPr/>
        </p:nvSpPr>
        <p:spPr>
          <a:xfrm xmlns:a="http://schemas.openxmlformats.org/drawingml/2006/main">
            <a:off x="609600" y="5867400"/>
            <a:ext cx="1095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53676F"/>
                </a:solidFill>
                <a:latin typeface="Arial"/>
                <a:ea typeface="Arial"/>
                <a:cs typeface="Arial"/>
              </a:defRPr>
            </a:pPr>
            <a:r>
              <a:rPr sz="1725" b="0">
                <a:solidFill>
                  <a:srgbClr val="53676F"/>
                </a:solidFill>
                <a:latin typeface="Arial"/>
                <a:ea typeface="Arial"/>
                <a:cs typeface="Arial"/>
              </a:rPr>
              <a:t>Pool depth and RRF input depth both vary. Vertical axis shows a narrow range.</a:t>
            </a:r>
          </a:p>
        </p:txBody>
      </p:sp>
    </p:spTree>
    <p:extLst>
      <p:ext uri="{BB962C8B-B14F-4D97-AF65-F5344CB8AC3E}">
        <p14:creationId xmlns:p14="http://schemas.microsoft.com/office/powerpoint/2010/main" val="110311337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A judge with access to the known answer">
            <a:extLst xmlns:a="http://schemas.openxmlformats.org/drawingml/2006/main">
              <a:ext uri="{FF2B5EF4-FFF2-40B4-BE49-F238E27FC236}">
                <a16:creationId xmlns:a16="http://schemas.microsoft.com/office/drawing/2014/main" id="{137A0FE9-1544-4968-A7D1-CD8A677F2EF9}"/>
              </a:ext>
            </a:extLst>
          </p:cNvPr>
          <p:cNvSpPr>
            <a:spLocks xmlns:a="http://schemas.openxmlformats.org/drawingml/2006/main" noGrp="1"/>
          </p:cNvSpPr>
          <p:nvPr/>
        </p:nvSpPr>
        <p:spPr>
          <a:xfrm xmlns:a="http://schemas.openxmlformats.org/drawingml/2006/main">
            <a:off x="609600" y="7048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B32"/>
                </a:solidFill>
                <a:latin typeface="Arial"/>
                <a:ea typeface="Arial"/>
                <a:cs typeface="Arial"/>
              </a:defRPr>
            </a:pPr>
            <a:r>
              <a:rPr sz="3300" b="1">
                <a:solidFill>
                  <a:srgbClr val="172B32"/>
                </a:solidFill>
                <a:latin typeface="Arial"/>
                <a:ea typeface="Arial"/>
                <a:cs typeface="Arial"/>
              </a:rPr>
              <a:t>A judge with access to the known answer</a:t>
            </a:r>
          </a:p>
        </p:txBody>
      </p:sp>
      <p:sp>
        <p:nvSpPr>
          <p:cNvPr id="2" name="LIMITATIONS AND NEXT EXPERIMENT">
            <a:extLst xmlns:a="http://schemas.openxmlformats.org/drawingml/2006/main">
              <a:ext uri="{FF2B5EF4-FFF2-40B4-BE49-F238E27FC236}">
                <a16:creationId xmlns:a16="http://schemas.microsoft.com/office/drawing/2014/main" id="{DDEC0CFF-2A7C-4892-9F37-67FF292DAA5D}"/>
              </a:ext>
            </a:extLst>
          </p:cNvPr>
          <p:cNvSpPr>
            <a:spLocks xmlns:a="http://schemas.openxmlformats.org/drawingml/2006/main" noGrp="1"/>
          </p:cNvSpPr>
          <p:nvPr/>
        </p:nvSpPr>
        <p:spPr>
          <a:xfrm xmlns:a="http://schemas.openxmlformats.org/drawingml/2006/main">
            <a:off x="609600" y="285750"/>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F82"/>
                </a:solidFill>
                <a:latin typeface="Arial"/>
                <a:ea typeface="Arial"/>
                <a:cs typeface="Arial"/>
              </a:defRPr>
            </a:pPr>
            <a:r>
              <a:rPr sz="1350" b="1">
                <a:solidFill>
                  <a:srgbClr val="087F82"/>
                </a:solidFill>
                <a:latin typeface="Arial"/>
                <a:ea typeface="Arial"/>
                <a:cs typeface="Arial"/>
              </a:rPr>
              <a:t>LIMITATIONS AND NEXT EXPERIMENT</a:t>
            </a:r>
          </a:p>
        </p:txBody>
      </p:sp>
      <p:sp>
        <p:nvSpPr>
          <p:cNvPr id="3" name="">
            <a:extLst xmlns:a="http://schemas.openxmlformats.org/drawingml/2006/main">
              <a:ext uri="{FF2B5EF4-FFF2-40B4-BE49-F238E27FC236}">
                <a16:creationId xmlns:a16="http://schemas.microsoft.com/office/drawing/2014/main" id="{6D86522D-D69C-4488-936D-AA8BF788EF2A}"/>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12383">
            <a:solidFill>
              <a:srgbClr val="D7E2E4"/>
            </a:solidFill>
          </a:ln>
        </p:spPr>
      </p:sp>
      <p:sp>
        <p:nvSpPr>
          <p:cNvPr id="4" name="DAMDID 2026">
            <a:extLst xmlns:a="http://schemas.openxmlformats.org/drawingml/2006/main">
              <a:ext uri="{FF2B5EF4-FFF2-40B4-BE49-F238E27FC236}">
                <a16:creationId xmlns:a16="http://schemas.microsoft.com/office/drawing/2014/main" id="{69472D1F-8274-4C05-BB86-E5CEADABA540}"/>
              </a:ext>
            </a:extLst>
          </p:cNvPr>
          <p:cNvSpPr>
            <a:spLocks xmlns:a="http://schemas.openxmlformats.org/drawingml/2006/main" noGrp="1"/>
          </p:cNvSpPr>
          <p:nvPr/>
        </p:nvSpPr>
        <p:spPr>
          <a:xfrm xmlns:a="http://schemas.openxmlformats.org/drawingml/2006/main">
            <a:off x="609600" y="65055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3676F"/>
                </a:solidFill>
                <a:latin typeface="Arial"/>
                <a:ea typeface="Arial"/>
                <a:cs typeface="Arial"/>
              </a:defRPr>
            </a:pPr>
            <a:r>
              <a:rPr sz="1125" b="0">
                <a:solidFill>
                  <a:srgbClr val="53676F"/>
                </a:solidFill>
                <a:latin typeface="Arial"/>
                <a:ea typeface="Arial"/>
                <a:cs typeface="Arial"/>
              </a:rPr>
              <a:t>DAMDID 2026</a:t>
            </a:r>
          </a:p>
        </p:txBody>
      </p:sp>
      <p:sp>
        <p:nvSpPr>
          <p:cNvPr id="5" name="11">
            <a:extLst xmlns:a="http://schemas.openxmlformats.org/drawingml/2006/main">
              <a:ext uri="{FF2B5EF4-FFF2-40B4-BE49-F238E27FC236}">
                <a16:creationId xmlns:a16="http://schemas.microsoft.com/office/drawing/2014/main" id="{D78EAA7F-06D6-486A-A7B5-7922CA46728D}"/>
              </a:ext>
            </a:extLst>
          </p:cNvPr>
          <p:cNvSpPr>
            <a:spLocks xmlns:a="http://schemas.openxmlformats.org/drawingml/2006/main" noGrp="1"/>
          </p:cNvSpPr>
          <p:nvPr/>
        </p:nvSpPr>
        <p:spPr>
          <a:xfrm xmlns:a="http://schemas.openxmlformats.org/drawingml/2006/main">
            <a:off x="11049000" y="64770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53676F"/>
                </a:solidFill>
                <a:latin typeface="Arial"/>
                <a:ea typeface="Arial"/>
                <a:cs typeface="Arial"/>
              </a:defRPr>
            </a:pPr>
            <a:r>
              <a:rPr sz="1350" b="0">
                <a:solidFill>
                  <a:srgbClr val="53676F"/>
                </a:solidFill>
                <a:latin typeface="Arial"/>
                <a:ea typeface="Arial"/>
                <a:cs typeface="Arial"/>
              </a:rPr>
              <a:t>11</a:t>
            </a:r>
          </a:p>
        </p:txBody>
      </p:sp>
      <p:sp>
        <p:nvSpPr>
          <p:cNvPr id="6" name="Current baseline">
            <a:extLst xmlns:a="http://schemas.openxmlformats.org/drawingml/2006/main">
              <a:ext uri="{FF2B5EF4-FFF2-40B4-BE49-F238E27FC236}">
                <a16:creationId xmlns:a16="http://schemas.microsoft.com/office/drawing/2014/main" id="{541A06D5-530F-4AB9-BB8A-1E9987508A18}"/>
              </a:ext>
            </a:extLst>
          </p:cNvPr>
          <p:cNvSpPr>
            <a:spLocks xmlns:a="http://schemas.openxmlformats.org/drawingml/2006/main" noGrp="1"/>
          </p:cNvSpPr>
          <p:nvPr/>
        </p:nvSpPr>
        <p:spPr>
          <a:xfrm xmlns:a="http://schemas.openxmlformats.org/drawingml/2006/main">
            <a:off x="609600" y="2133600"/>
            <a:ext cx="4857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53676F"/>
                </a:solidFill>
                <a:latin typeface="Arial"/>
                <a:ea typeface="Arial"/>
                <a:cs typeface="Arial"/>
              </a:defRPr>
            </a:pPr>
            <a:r>
              <a:rPr sz="2250" b="1">
                <a:solidFill>
                  <a:srgbClr val="53676F"/>
                </a:solidFill>
                <a:latin typeface="Arial"/>
                <a:ea typeface="Arial"/>
                <a:cs typeface="Arial"/>
              </a:rPr>
              <a:t>Current baseline</a:t>
            </a:r>
          </a:p>
        </p:txBody>
      </p:sp>
      <p:sp>
        <p:nvSpPr>
          <p:cNvPr id="7" name="Query&#10;Candidate passage">
            <a:extLst xmlns:a="http://schemas.openxmlformats.org/drawingml/2006/main">
              <a:ext uri="{FF2B5EF4-FFF2-40B4-BE49-F238E27FC236}">
                <a16:creationId xmlns:a16="http://schemas.microsoft.com/office/drawing/2014/main" id="{0E3BFE27-F9D6-4554-9252-96D3557B6D6C}"/>
              </a:ext>
            </a:extLst>
          </p:cNvPr>
          <p:cNvSpPr>
            <a:spLocks xmlns:a="http://schemas.openxmlformats.org/drawingml/2006/main" noGrp="1"/>
          </p:cNvSpPr>
          <p:nvPr/>
        </p:nvSpPr>
        <p:spPr>
          <a:xfrm xmlns:a="http://schemas.openxmlformats.org/drawingml/2006/main">
            <a:off x="609600" y="2847975"/>
            <a:ext cx="48577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0">
                <a:solidFill>
                  <a:srgbClr val="172B32"/>
                </a:solidFill>
                <a:latin typeface="Arial"/>
                <a:ea typeface="Arial"/>
                <a:cs typeface="Arial"/>
              </a:defRPr>
            </a:pPr>
            <a:r>
              <a:rPr sz="3000" b="0">
                <a:solidFill>
                  <a:srgbClr val="172B32"/>
                </a:solidFill>
                <a:latin typeface="Arial"/>
                <a:ea typeface="Arial"/>
                <a:cs typeface="Arial"/>
              </a:rPr>
              <a:t>Query</a:t>
            </a:r>
          </a:p>
          <a:p xmlns:a="http://schemas.openxmlformats.org/drawingml/2006/main">
            <a:pPr>
              <a:defRPr sz="3000" b="0">
                <a:solidFill>
                  <a:srgbClr val="172B32"/>
                </a:solidFill>
                <a:latin typeface="Arial"/>
                <a:ea typeface="Arial"/>
                <a:cs typeface="Arial"/>
              </a:defRPr>
            </a:pPr>
            <a:r>
              <a:rPr sz="3000" b="0">
                <a:solidFill>
                  <a:srgbClr val="172B32"/>
                </a:solidFill>
                <a:latin typeface="Arial"/>
                <a:ea typeface="Arial"/>
                <a:cs typeface="Arial"/>
              </a:rPr>
              <a:t>Candidate passage</a:t>
            </a:r>
          </a:p>
        </p:txBody>
      </p:sp>
      <p:sp>
        <p:nvSpPr>
          <p:cNvPr id="8" name="Planned comparison">
            <a:extLst xmlns:a="http://schemas.openxmlformats.org/drawingml/2006/main">
              <a:ext uri="{FF2B5EF4-FFF2-40B4-BE49-F238E27FC236}">
                <a16:creationId xmlns:a16="http://schemas.microsoft.com/office/drawing/2014/main" id="{DBF21F17-20F8-4D9B-AAFB-C981593A04F4}"/>
              </a:ext>
            </a:extLst>
          </p:cNvPr>
          <p:cNvSpPr>
            <a:spLocks xmlns:a="http://schemas.openxmlformats.org/drawingml/2006/main" noGrp="1"/>
          </p:cNvSpPr>
          <p:nvPr/>
        </p:nvSpPr>
        <p:spPr>
          <a:xfrm xmlns:a="http://schemas.openxmlformats.org/drawingml/2006/main">
            <a:off x="6572250" y="2133600"/>
            <a:ext cx="50101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087F82"/>
                </a:solidFill>
                <a:latin typeface="Arial"/>
                <a:ea typeface="Arial"/>
                <a:cs typeface="Arial"/>
              </a:defRPr>
            </a:pPr>
            <a:r>
              <a:rPr sz="2250" b="1">
                <a:solidFill>
                  <a:srgbClr val="087F82"/>
                </a:solidFill>
                <a:latin typeface="Arial"/>
                <a:ea typeface="Arial"/>
                <a:cs typeface="Arial"/>
              </a:rPr>
              <a:t>Planned comparison</a:t>
            </a:r>
          </a:p>
        </p:txBody>
      </p:sp>
      <p:sp>
        <p:nvSpPr>
          <p:cNvPr id="9" name="Query&#10;Known relevant answer&#10;Candidate passage">
            <a:extLst xmlns:a="http://schemas.openxmlformats.org/drawingml/2006/main">
              <a:ext uri="{FF2B5EF4-FFF2-40B4-BE49-F238E27FC236}">
                <a16:creationId xmlns:a16="http://schemas.microsoft.com/office/drawing/2014/main" id="{8A1FE0A8-FE2C-4544-93EF-E6BC8CCC0889}"/>
              </a:ext>
            </a:extLst>
          </p:cNvPr>
          <p:cNvSpPr>
            <a:spLocks xmlns:a="http://schemas.openxmlformats.org/drawingml/2006/main" noGrp="1"/>
          </p:cNvSpPr>
          <p:nvPr/>
        </p:nvSpPr>
        <p:spPr>
          <a:xfrm xmlns:a="http://schemas.openxmlformats.org/drawingml/2006/main">
            <a:off x="6572250" y="2847975"/>
            <a:ext cx="5010150" cy="1781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0">
                <a:solidFill>
                  <a:srgbClr val="172B32"/>
                </a:solidFill>
                <a:latin typeface="Arial"/>
                <a:ea typeface="Arial"/>
                <a:cs typeface="Arial"/>
              </a:defRPr>
            </a:pPr>
            <a:r>
              <a:rPr sz="3000" b="0">
                <a:solidFill>
                  <a:srgbClr val="172B32"/>
                </a:solidFill>
                <a:latin typeface="Arial"/>
                <a:ea typeface="Arial"/>
                <a:cs typeface="Arial"/>
              </a:rPr>
              <a:t>Query</a:t>
            </a:r>
          </a:p>
          <a:p xmlns:a="http://schemas.openxmlformats.org/drawingml/2006/main">
            <a:pPr>
              <a:defRPr sz="3000" b="0">
                <a:solidFill>
                  <a:srgbClr val="172B32"/>
                </a:solidFill>
                <a:latin typeface="Arial"/>
                <a:ea typeface="Arial"/>
                <a:cs typeface="Arial"/>
              </a:defRPr>
            </a:pPr>
            <a:r>
              <a:rPr sz="3000" b="0">
                <a:solidFill>
                  <a:srgbClr val="172B32"/>
                </a:solidFill>
                <a:latin typeface="Arial"/>
                <a:ea typeface="Arial"/>
                <a:cs typeface="Arial"/>
              </a:rPr>
              <a:t>Known relevant answer</a:t>
            </a:r>
          </a:p>
          <a:p xmlns:a="http://schemas.openxmlformats.org/drawingml/2006/main">
            <a:pPr>
              <a:defRPr sz="3000" b="0">
                <a:solidFill>
                  <a:srgbClr val="172B32"/>
                </a:solidFill>
                <a:latin typeface="Arial"/>
                <a:ea typeface="Arial"/>
                <a:cs typeface="Arial"/>
              </a:defRPr>
            </a:pPr>
            <a:r>
              <a:rPr sz="3000" b="0">
                <a:solidFill>
                  <a:srgbClr val="172B32"/>
                </a:solidFill>
                <a:latin typeface="Arial"/>
                <a:ea typeface="Arial"/>
                <a:cs typeface="Arial"/>
              </a:rPr>
              <a:t>Candidate passage</a:t>
            </a:r>
          </a:p>
        </p:txBody>
      </p:sp>
      <p:sp>
        <p:nvSpPr>
          <p:cNvPr id="10" name="">
            <a:extLst xmlns:a="http://schemas.openxmlformats.org/drawingml/2006/main">
              <a:ext uri="{FF2B5EF4-FFF2-40B4-BE49-F238E27FC236}">
                <a16:creationId xmlns:a16="http://schemas.microsoft.com/office/drawing/2014/main" id="{2D3EDA9A-8CF2-42B9-B50D-FCAFD010412F}"/>
              </a:ext>
            </a:extLst>
          </p:cNvPr>
          <p:cNvSpPr>
            <a:spLocks xmlns:a="http://schemas.openxmlformats.org/drawingml/2006/main" noGrp="1"/>
          </p:cNvSpPr>
          <p:nvPr/>
        </p:nvSpPr>
        <p:spPr>
          <a:xfrm xmlns:a="http://schemas.openxmlformats.org/drawingml/2006/main">
            <a:off x="609600" y="5086350"/>
            <a:ext cx="10972800" cy="0"/>
          </a:xfrm>
          <a:prstGeom xmlns:a="http://schemas.openxmlformats.org/drawingml/2006/main" prst="line">
            <a:avLst/>
          </a:prstGeom>
          <a:noFill xmlns:a="http://schemas.openxmlformats.org/drawingml/2006/main"/>
          <a:ln xmlns:a="http://schemas.openxmlformats.org/drawingml/2006/main" w="12383">
            <a:solidFill>
              <a:srgbClr val="D7E2E4"/>
            </a:solidFill>
          </a:ln>
        </p:spPr>
      </p:sp>
      <p:sp>
        <p:nvSpPr>
          <p:cNvPr id="11" name="Stronger cross-encoders and held-out human evalu">
            <a:extLst xmlns:a="http://schemas.openxmlformats.org/drawingml/2006/main">
              <a:ext uri="{FF2B5EF4-FFF2-40B4-BE49-F238E27FC236}">
                <a16:creationId xmlns:a16="http://schemas.microsoft.com/office/drawing/2014/main" id="{37DB6DA2-9640-438B-BCFC-8DFE39DB436A}"/>
              </a:ext>
            </a:extLst>
          </p:cNvPr>
          <p:cNvSpPr>
            <a:spLocks xmlns:a="http://schemas.openxmlformats.org/drawingml/2006/main" noGrp="1"/>
          </p:cNvSpPr>
          <p:nvPr/>
        </p:nvSpPr>
        <p:spPr>
          <a:xfrm xmlns:a="http://schemas.openxmlformats.org/drawingml/2006/main">
            <a:off x="609600" y="5438775"/>
            <a:ext cx="1097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72B32"/>
                </a:solidFill>
                <a:latin typeface="Arial"/>
                <a:ea typeface="Arial"/>
                <a:cs typeface="Arial"/>
              </a:defRPr>
            </a:pPr>
            <a:r>
              <a:rPr sz="2325" b="0">
                <a:solidFill>
                  <a:srgbClr val="172B32"/>
                </a:solidFill>
                <a:latin typeface="Arial"/>
                <a:ea typeface="Arial"/>
                <a:cs typeface="Arial"/>
              </a:rPr>
              <a:t>Stronger cross-encoders and held-out human evaluation</a:t>
            </a:r>
          </a:p>
        </p:txBody>
      </p:sp>
      <p:sp>
        <p:nvSpPr>
          <p:cNvPr id="12" name="Evidence here is limited to English MS MARCO, se">
            <a:extLst xmlns:a="http://schemas.openxmlformats.org/drawingml/2006/main">
              <a:ext uri="{FF2B5EF4-FFF2-40B4-BE49-F238E27FC236}">
                <a16:creationId xmlns:a16="http://schemas.microsoft.com/office/drawing/2014/main" id="{22028D0A-53E5-4BD7-A9B5-7C07AAFA3D1F}"/>
              </a:ext>
            </a:extLst>
          </p:cNvPr>
          <p:cNvSpPr>
            <a:spLocks xmlns:a="http://schemas.openxmlformats.org/drawingml/2006/main" noGrp="1"/>
          </p:cNvSpPr>
          <p:nvPr/>
        </p:nvSpPr>
        <p:spPr>
          <a:xfrm xmlns:a="http://schemas.openxmlformats.org/drawingml/2006/main">
            <a:off x="609600" y="5934075"/>
            <a:ext cx="1095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53676F"/>
                </a:solidFill>
                <a:latin typeface="Arial"/>
                <a:ea typeface="Arial"/>
                <a:cs typeface="Arial"/>
              </a:defRPr>
            </a:pPr>
            <a:r>
              <a:rPr sz="1725" b="0">
                <a:solidFill>
                  <a:srgbClr val="53676F"/>
                </a:solidFill>
                <a:latin typeface="Arial"/>
                <a:ea typeface="Arial"/>
                <a:cs typeface="Arial"/>
              </a:rPr>
              <a:t>Evidence here is limited to English MS MARCO, selected pools and one judge.</a:t>
            </a:r>
          </a:p>
        </p:txBody>
      </p:sp>
    </p:spTree>
    <p:extLst>
      <p:ext uri="{BB962C8B-B14F-4D97-AF65-F5344CB8AC3E}">
        <p14:creationId xmlns:p14="http://schemas.microsoft.com/office/powerpoint/2010/main" val="1530138960"/>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Conclusions">
            <a:extLst xmlns:a="http://schemas.openxmlformats.org/drawingml/2006/main">
              <a:ext uri="{FF2B5EF4-FFF2-40B4-BE49-F238E27FC236}">
                <a16:creationId xmlns:a16="http://schemas.microsoft.com/office/drawing/2014/main" id="{45A3E717-1622-4CBE-97AB-504A37F0E0E2}"/>
              </a:ext>
            </a:extLst>
          </p:cNvPr>
          <p:cNvSpPr>
            <a:spLocks xmlns:a="http://schemas.openxmlformats.org/drawingml/2006/main" noGrp="1"/>
          </p:cNvSpPr>
          <p:nvPr/>
        </p:nvSpPr>
        <p:spPr>
          <a:xfrm xmlns:a="http://schemas.openxmlformats.org/drawingml/2006/main">
            <a:off x="609600" y="7048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B32"/>
                </a:solidFill>
                <a:latin typeface="Arial"/>
                <a:ea typeface="Arial"/>
                <a:cs typeface="Arial"/>
              </a:defRPr>
            </a:pPr>
            <a:r>
              <a:rPr sz="3300" b="1">
                <a:solidFill>
                  <a:srgbClr val="172B32"/>
                </a:solidFill>
                <a:latin typeface="Arial"/>
                <a:ea typeface="Arial"/>
                <a:cs typeface="Arial"/>
              </a:rPr>
              <a:t>Conclusions</a:t>
            </a:r>
          </a:p>
        </p:txBody>
      </p:sp>
      <p:sp>
        <p:nvSpPr>
          <p:cNvPr id="2" name="DISCUSSION">
            <a:extLst xmlns:a="http://schemas.openxmlformats.org/drawingml/2006/main">
              <a:ext uri="{FF2B5EF4-FFF2-40B4-BE49-F238E27FC236}">
                <a16:creationId xmlns:a16="http://schemas.microsoft.com/office/drawing/2014/main" id="{24022460-A066-440E-BF9E-D27E49168A8B}"/>
              </a:ext>
            </a:extLst>
          </p:cNvPr>
          <p:cNvSpPr>
            <a:spLocks xmlns:a="http://schemas.openxmlformats.org/drawingml/2006/main" noGrp="1"/>
          </p:cNvSpPr>
          <p:nvPr/>
        </p:nvSpPr>
        <p:spPr>
          <a:xfrm xmlns:a="http://schemas.openxmlformats.org/drawingml/2006/main">
            <a:off x="609600" y="285750"/>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F82"/>
                </a:solidFill>
                <a:latin typeface="Arial"/>
                <a:ea typeface="Arial"/>
                <a:cs typeface="Arial"/>
              </a:defRPr>
            </a:pPr>
            <a:r>
              <a:rPr sz="1350" b="1">
                <a:solidFill>
                  <a:srgbClr val="087F82"/>
                </a:solidFill>
                <a:latin typeface="Arial"/>
                <a:ea typeface="Arial"/>
                <a:cs typeface="Arial"/>
              </a:rPr>
              <a:t>DISCUSSION</a:t>
            </a:r>
          </a:p>
        </p:txBody>
      </p:sp>
      <p:sp>
        <p:nvSpPr>
          <p:cNvPr id="3" name="">
            <a:extLst xmlns:a="http://schemas.openxmlformats.org/drawingml/2006/main">
              <a:ext uri="{FF2B5EF4-FFF2-40B4-BE49-F238E27FC236}">
                <a16:creationId xmlns:a16="http://schemas.microsoft.com/office/drawing/2014/main" id="{22FBC78F-C06D-40DB-9EC9-BA0F7C4447FE}"/>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12383">
            <a:solidFill>
              <a:srgbClr val="D7E2E4"/>
            </a:solidFill>
          </a:ln>
        </p:spPr>
      </p:sp>
      <p:sp>
        <p:nvSpPr>
          <p:cNvPr id="4" name="DAMDID 2026">
            <a:extLst xmlns:a="http://schemas.openxmlformats.org/drawingml/2006/main">
              <a:ext uri="{FF2B5EF4-FFF2-40B4-BE49-F238E27FC236}">
                <a16:creationId xmlns:a16="http://schemas.microsoft.com/office/drawing/2014/main" id="{B4274564-E5B2-4FE7-8E75-13C8AD68D992}"/>
              </a:ext>
            </a:extLst>
          </p:cNvPr>
          <p:cNvSpPr>
            <a:spLocks xmlns:a="http://schemas.openxmlformats.org/drawingml/2006/main" noGrp="1"/>
          </p:cNvSpPr>
          <p:nvPr/>
        </p:nvSpPr>
        <p:spPr>
          <a:xfrm xmlns:a="http://schemas.openxmlformats.org/drawingml/2006/main">
            <a:off x="609600" y="65055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3676F"/>
                </a:solidFill>
                <a:latin typeface="Arial"/>
                <a:ea typeface="Arial"/>
                <a:cs typeface="Arial"/>
              </a:defRPr>
            </a:pPr>
            <a:r>
              <a:rPr sz="1125" b="0">
                <a:solidFill>
                  <a:srgbClr val="53676F"/>
                </a:solidFill>
                <a:latin typeface="Arial"/>
                <a:ea typeface="Arial"/>
                <a:cs typeface="Arial"/>
              </a:rPr>
              <a:t>DAMDID 2026</a:t>
            </a:r>
          </a:p>
        </p:txBody>
      </p:sp>
      <p:sp>
        <p:nvSpPr>
          <p:cNvPr id="5" name="12">
            <a:extLst xmlns:a="http://schemas.openxmlformats.org/drawingml/2006/main">
              <a:ext uri="{FF2B5EF4-FFF2-40B4-BE49-F238E27FC236}">
                <a16:creationId xmlns:a16="http://schemas.microsoft.com/office/drawing/2014/main" id="{3932F525-955A-43CD-BABA-451BED52C4AB}"/>
              </a:ext>
            </a:extLst>
          </p:cNvPr>
          <p:cNvSpPr>
            <a:spLocks xmlns:a="http://schemas.openxmlformats.org/drawingml/2006/main" noGrp="1"/>
          </p:cNvSpPr>
          <p:nvPr/>
        </p:nvSpPr>
        <p:spPr>
          <a:xfrm xmlns:a="http://schemas.openxmlformats.org/drawingml/2006/main">
            <a:off x="11049000" y="64770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53676F"/>
                </a:solidFill>
                <a:latin typeface="Arial"/>
                <a:ea typeface="Arial"/>
                <a:cs typeface="Arial"/>
              </a:defRPr>
            </a:pPr>
            <a:r>
              <a:rPr sz="1350" b="0">
                <a:solidFill>
                  <a:srgbClr val="53676F"/>
                </a:solidFill>
                <a:latin typeface="Arial"/>
                <a:ea typeface="Arial"/>
                <a:cs typeface="Arial"/>
              </a:rPr>
              <a:t>12</a:t>
            </a:r>
          </a:p>
        </p:txBody>
      </p:sp>
      <p:sp>
        <p:nvSpPr>
          <p:cNvPr id="6" name="1.05 to 17.47">
            <a:extLst xmlns:a="http://schemas.openxmlformats.org/drawingml/2006/main">
              <a:ext uri="{FF2B5EF4-FFF2-40B4-BE49-F238E27FC236}">
                <a16:creationId xmlns:a16="http://schemas.microsoft.com/office/drawing/2014/main" id="{8F44D7FD-C8B3-443A-8D95-DA466E74D5BD}"/>
              </a:ext>
            </a:extLst>
          </p:cNvPr>
          <p:cNvSpPr>
            <a:spLocks xmlns:a="http://schemas.openxmlformats.org/drawingml/2006/main" noGrp="1"/>
          </p:cNvSpPr>
          <p:nvPr/>
        </p:nvSpPr>
        <p:spPr>
          <a:xfrm xmlns:a="http://schemas.openxmlformats.org/drawingml/2006/main">
            <a:off x="609600" y="1981200"/>
            <a:ext cx="42100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050" b="1">
                <a:solidFill>
                  <a:srgbClr val="087F82"/>
                </a:solidFill>
                <a:latin typeface="Arial"/>
                <a:ea typeface="Arial"/>
                <a:cs typeface="Arial"/>
              </a:defRPr>
            </a:pPr>
            <a:r>
              <a:rPr sz="4050" b="1">
                <a:solidFill>
                  <a:srgbClr val="087F82"/>
                </a:solidFill>
                <a:latin typeface="Arial"/>
                <a:ea typeface="Arial"/>
                <a:cs typeface="Arial"/>
              </a:rPr>
              <a:t>1.05 to 17.47</a:t>
            </a:r>
          </a:p>
        </p:txBody>
      </p:sp>
      <p:sp>
        <p:nvSpPr>
          <p:cNvPr id="7" name="Human positives per query&#10;inside the annotated p">
            <a:extLst xmlns:a="http://schemas.openxmlformats.org/drawingml/2006/main">
              <a:ext uri="{FF2B5EF4-FFF2-40B4-BE49-F238E27FC236}">
                <a16:creationId xmlns:a16="http://schemas.microsoft.com/office/drawing/2014/main" id="{01FA360F-A15E-4834-B5E2-4BCF6D628995}"/>
              </a:ext>
            </a:extLst>
          </p:cNvPr>
          <p:cNvSpPr>
            <a:spLocks xmlns:a="http://schemas.openxmlformats.org/drawingml/2006/main" noGrp="1"/>
          </p:cNvSpPr>
          <p:nvPr/>
        </p:nvSpPr>
        <p:spPr>
          <a:xfrm xmlns:a="http://schemas.openxmlformats.org/drawingml/2006/main">
            <a:off x="5286375" y="2019300"/>
            <a:ext cx="60007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72B32"/>
                </a:solidFill>
                <a:latin typeface="Arial"/>
                <a:ea typeface="Arial"/>
                <a:cs typeface="Arial"/>
              </a:defRPr>
            </a:pPr>
            <a:r>
              <a:rPr sz="2250" b="0">
                <a:solidFill>
                  <a:srgbClr val="172B32"/>
                </a:solidFill>
                <a:latin typeface="Arial"/>
                <a:ea typeface="Arial"/>
                <a:cs typeface="Arial"/>
              </a:rPr>
              <a:t>Human positives per query</a:t>
            </a:r>
          </a:p>
          <a:p xmlns:a="http://schemas.openxmlformats.org/drawingml/2006/main">
            <a:pPr>
              <a:defRPr sz="2250" b="0">
                <a:solidFill>
                  <a:srgbClr val="172B32"/>
                </a:solidFill>
                <a:latin typeface="Arial"/>
                <a:ea typeface="Arial"/>
                <a:cs typeface="Arial"/>
              </a:defRPr>
            </a:pPr>
            <a:r>
              <a:rPr sz="2250" b="0">
                <a:solidFill>
                  <a:srgbClr val="172B32"/>
                </a:solidFill>
                <a:latin typeface="Arial"/>
                <a:ea typeface="Arial"/>
                <a:cs typeface="Arial"/>
              </a:rPr>
              <a:t>inside the annotated pools</a:t>
            </a:r>
          </a:p>
        </p:txBody>
      </p:sp>
      <p:sp>
        <p:nvSpPr>
          <p:cNvPr id="8" name="">
            <a:extLst xmlns:a="http://schemas.openxmlformats.org/drawingml/2006/main">
              <a:ext uri="{FF2B5EF4-FFF2-40B4-BE49-F238E27FC236}">
                <a16:creationId xmlns:a16="http://schemas.microsoft.com/office/drawing/2014/main" id="{7456EB88-198D-46BA-945A-8B213956A5B4}"/>
              </a:ext>
            </a:extLst>
          </p:cNvPr>
          <p:cNvSpPr>
            <a:spLocks xmlns:a="http://schemas.openxmlformats.org/drawingml/2006/main" noGrp="1"/>
          </p:cNvSpPr>
          <p:nvPr/>
        </p:nvSpPr>
        <p:spPr>
          <a:xfrm xmlns:a="http://schemas.openxmlformats.org/drawingml/2006/main">
            <a:off x="609600" y="3181350"/>
            <a:ext cx="10972800" cy="0"/>
          </a:xfrm>
          <a:prstGeom xmlns:a="http://schemas.openxmlformats.org/drawingml/2006/main" prst="line">
            <a:avLst/>
          </a:prstGeom>
          <a:noFill xmlns:a="http://schemas.openxmlformats.org/drawingml/2006/main"/>
          <a:ln xmlns:a="http://schemas.openxmlformats.org/drawingml/2006/main" w="12383">
            <a:solidFill>
              <a:srgbClr val="D7E2E4"/>
            </a:solidFill>
          </a:ln>
        </p:spPr>
      </p:sp>
      <p:sp>
        <p:nvSpPr>
          <p:cNvPr id="9" name="Higher NDCG">
            <a:extLst xmlns:a="http://schemas.openxmlformats.org/drawingml/2006/main">
              <a:ext uri="{FF2B5EF4-FFF2-40B4-BE49-F238E27FC236}">
                <a16:creationId xmlns:a16="http://schemas.microsoft.com/office/drawing/2014/main" id="{406887E8-3FDC-4B0A-B076-BD5D503E7438}"/>
              </a:ext>
            </a:extLst>
          </p:cNvPr>
          <p:cNvSpPr>
            <a:spLocks xmlns:a="http://schemas.openxmlformats.org/drawingml/2006/main" noGrp="1"/>
          </p:cNvSpPr>
          <p:nvPr/>
        </p:nvSpPr>
        <p:spPr>
          <a:xfrm xmlns:a="http://schemas.openxmlformats.org/drawingml/2006/main">
            <a:off x="609600" y="3571875"/>
            <a:ext cx="4210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B32"/>
                </a:solidFill>
                <a:latin typeface="Arial"/>
                <a:ea typeface="Arial"/>
                <a:cs typeface="Arial"/>
              </a:defRPr>
            </a:pPr>
            <a:r>
              <a:rPr sz="3300" b="1">
                <a:solidFill>
                  <a:srgbClr val="172B32"/>
                </a:solidFill>
                <a:latin typeface="Arial"/>
                <a:ea typeface="Arial"/>
                <a:cs typeface="Arial"/>
              </a:rPr>
              <a:t>Higher NDCG</a:t>
            </a:r>
          </a:p>
        </p:txBody>
      </p:sp>
      <p:sp>
        <p:nvSpPr>
          <p:cNvPr id="10" name="More complete judgments&#10;for the same ranked resu">
            <a:extLst xmlns:a="http://schemas.openxmlformats.org/drawingml/2006/main">
              <a:ext uri="{FF2B5EF4-FFF2-40B4-BE49-F238E27FC236}">
                <a16:creationId xmlns:a16="http://schemas.microsoft.com/office/drawing/2014/main" id="{38FA6401-A315-4D52-A380-4C0C9522A4A0}"/>
              </a:ext>
            </a:extLst>
          </p:cNvPr>
          <p:cNvSpPr>
            <a:spLocks xmlns:a="http://schemas.openxmlformats.org/drawingml/2006/main" noGrp="1"/>
          </p:cNvSpPr>
          <p:nvPr/>
        </p:nvSpPr>
        <p:spPr>
          <a:xfrm xmlns:a="http://schemas.openxmlformats.org/drawingml/2006/main">
            <a:off x="5286375" y="3571875"/>
            <a:ext cx="6000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72B32"/>
                </a:solidFill>
                <a:latin typeface="Arial"/>
                <a:ea typeface="Arial"/>
                <a:cs typeface="Arial"/>
              </a:defRPr>
            </a:pPr>
            <a:r>
              <a:rPr sz="2250" b="0">
                <a:solidFill>
                  <a:srgbClr val="172B32"/>
                </a:solidFill>
                <a:latin typeface="Arial"/>
                <a:ea typeface="Arial"/>
                <a:cs typeface="Arial"/>
              </a:rPr>
              <a:t>More complete judgments</a:t>
            </a:r>
          </a:p>
          <a:p xmlns:a="http://schemas.openxmlformats.org/drawingml/2006/main">
            <a:pPr>
              <a:defRPr sz="2250" b="0">
                <a:solidFill>
                  <a:srgbClr val="172B32"/>
                </a:solidFill>
                <a:latin typeface="Arial"/>
                <a:ea typeface="Arial"/>
                <a:cs typeface="Arial"/>
              </a:defRPr>
            </a:pPr>
            <a:r>
              <a:rPr sz="2250" b="0">
                <a:solidFill>
                  <a:srgbClr val="172B32"/>
                </a:solidFill>
                <a:latin typeface="Arial"/>
                <a:ea typeface="Arial"/>
                <a:cs typeface="Arial"/>
              </a:rPr>
              <a:t>for the same ranked results</a:t>
            </a:r>
          </a:p>
        </p:txBody>
      </p:sp>
      <p:sp>
        <p:nvSpPr>
          <p:cNvPr id="11" name="">
            <a:extLst xmlns:a="http://schemas.openxmlformats.org/drawingml/2006/main">
              <a:ext uri="{FF2B5EF4-FFF2-40B4-BE49-F238E27FC236}">
                <a16:creationId xmlns:a16="http://schemas.microsoft.com/office/drawing/2014/main" id="{9C7D12E1-6F4D-4AF4-83C9-6299C7DE0A9E}"/>
              </a:ext>
            </a:extLst>
          </p:cNvPr>
          <p:cNvSpPr>
            <a:spLocks xmlns:a="http://schemas.openxmlformats.org/drawingml/2006/main" noGrp="1"/>
          </p:cNvSpPr>
          <p:nvPr/>
        </p:nvSpPr>
        <p:spPr>
          <a:xfrm xmlns:a="http://schemas.openxmlformats.org/drawingml/2006/main">
            <a:off x="609600" y="4743450"/>
            <a:ext cx="10972800" cy="0"/>
          </a:xfrm>
          <a:prstGeom xmlns:a="http://schemas.openxmlformats.org/drawingml/2006/main" prst="line">
            <a:avLst/>
          </a:prstGeom>
          <a:noFill xmlns:a="http://schemas.openxmlformats.org/drawingml/2006/main"/>
          <a:ln xmlns:a="http://schemas.openxmlformats.org/drawingml/2006/main" w="12383">
            <a:solidFill>
              <a:srgbClr val="D7E2E4"/>
            </a:solidFill>
          </a:ln>
        </p:spPr>
      </p:sp>
      <p:sp>
        <p:nvSpPr>
          <p:cNvPr id="12" name="Conditional RRF gain">
            <a:extLst xmlns:a="http://schemas.openxmlformats.org/drawingml/2006/main">
              <a:ext uri="{FF2B5EF4-FFF2-40B4-BE49-F238E27FC236}">
                <a16:creationId xmlns:a16="http://schemas.microsoft.com/office/drawing/2014/main" id="{2007FE56-2409-49B3-9A2F-C6056414D775}"/>
              </a:ext>
            </a:extLst>
          </p:cNvPr>
          <p:cNvSpPr>
            <a:spLocks xmlns:a="http://schemas.openxmlformats.org/drawingml/2006/main" noGrp="1"/>
          </p:cNvSpPr>
          <p:nvPr/>
        </p:nvSpPr>
        <p:spPr>
          <a:xfrm xmlns:a="http://schemas.openxmlformats.org/drawingml/2006/main">
            <a:off x="609600" y="5114925"/>
            <a:ext cx="42100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850" b="1">
                <a:solidFill>
                  <a:srgbClr val="C84F37"/>
                </a:solidFill>
                <a:latin typeface="Arial"/>
                <a:ea typeface="Arial"/>
                <a:cs typeface="Arial"/>
              </a:defRPr>
            </a:pPr>
            <a:r>
              <a:rPr sz="2850" b="1">
                <a:solidFill>
                  <a:srgbClr val="C84F37"/>
                </a:solidFill>
                <a:latin typeface="Arial"/>
                <a:ea typeface="Arial"/>
                <a:cs typeface="Arial"/>
              </a:rPr>
              <a:t>Conditional RRF gain</a:t>
            </a:r>
          </a:p>
        </p:txBody>
      </p:sp>
      <p:sp>
        <p:nvSpPr>
          <p:cNvPr id="13" name="A small advantage at deeper inputs&#10;under the jud">
            <a:extLst xmlns:a="http://schemas.openxmlformats.org/drawingml/2006/main">
              <a:ext uri="{FF2B5EF4-FFF2-40B4-BE49-F238E27FC236}">
                <a16:creationId xmlns:a16="http://schemas.microsoft.com/office/drawing/2014/main" id="{414219B3-0AF3-4049-B42F-4D66CAD43912}"/>
              </a:ext>
            </a:extLst>
          </p:cNvPr>
          <p:cNvSpPr>
            <a:spLocks xmlns:a="http://schemas.openxmlformats.org/drawingml/2006/main" noGrp="1"/>
          </p:cNvSpPr>
          <p:nvPr/>
        </p:nvSpPr>
        <p:spPr>
          <a:xfrm xmlns:a="http://schemas.openxmlformats.org/drawingml/2006/main">
            <a:off x="5286375" y="5095875"/>
            <a:ext cx="60007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72B32"/>
                </a:solidFill>
                <a:latin typeface="Arial"/>
                <a:ea typeface="Arial"/>
                <a:cs typeface="Arial"/>
              </a:defRPr>
            </a:pPr>
            <a:r>
              <a:rPr sz="2250" b="0">
                <a:solidFill>
                  <a:srgbClr val="172B32"/>
                </a:solidFill>
                <a:latin typeface="Arial"/>
                <a:ea typeface="Arial"/>
                <a:cs typeface="Arial"/>
              </a:rPr>
              <a:t>A small advantage at deeper inputs</a:t>
            </a:r>
          </a:p>
          <a:p xmlns:a="http://schemas.openxmlformats.org/drawingml/2006/main">
            <a:pPr>
              <a:defRPr sz="2250" b="0">
                <a:solidFill>
                  <a:srgbClr val="172B32"/>
                </a:solidFill>
                <a:latin typeface="Arial"/>
                <a:ea typeface="Arial"/>
                <a:cs typeface="Arial"/>
              </a:defRPr>
            </a:pPr>
            <a:r>
              <a:rPr sz="2250" b="0">
                <a:solidFill>
                  <a:srgbClr val="172B32"/>
                </a:solidFill>
                <a:latin typeface="Arial"/>
                <a:ea typeface="Arial"/>
                <a:cs typeface="Arial"/>
              </a:rPr>
              <a:t>under the judge’s pseudo-labels</a:t>
            </a:r>
          </a:p>
        </p:txBody>
      </p:sp>
    </p:spTree>
    <p:extLst>
      <p:ext uri="{BB962C8B-B14F-4D97-AF65-F5344CB8AC3E}">
        <p14:creationId xmlns:p14="http://schemas.microsoft.com/office/powerpoint/2010/main" val="180601596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NDCG@10 and aggregation rules">
            <a:extLst xmlns:a="http://schemas.openxmlformats.org/drawingml/2006/main">
              <a:ext uri="{FF2B5EF4-FFF2-40B4-BE49-F238E27FC236}">
                <a16:creationId xmlns:a16="http://schemas.microsoft.com/office/drawing/2014/main" id="{CC83F8F7-B846-4CDD-A876-B549E5E3C3B0}"/>
              </a:ext>
            </a:extLst>
          </p:cNvPr>
          <p:cNvSpPr>
            <a:spLocks xmlns:a="http://schemas.openxmlformats.org/drawingml/2006/main" noGrp="1"/>
          </p:cNvSpPr>
          <p:nvPr/>
        </p:nvSpPr>
        <p:spPr>
          <a:xfrm xmlns:a="http://schemas.openxmlformats.org/drawingml/2006/main">
            <a:off x="609600" y="7048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B32"/>
                </a:solidFill>
                <a:latin typeface="Arial"/>
                <a:ea typeface="Arial"/>
                <a:cs typeface="Arial"/>
              </a:defRPr>
            </a:pPr>
            <a:r>
              <a:rPr sz="3300" b="1">
                <a:solidFill>
                  <a:srgbClr val="172B32"/>
                </a:solidFill>
                <a:latin typeface="Arial"/>
                <a:ea typeface="Arial"/>
                <a:cs typeface="Arial"/>
              </a:rPr>
              <a:t>NDCG@10 and aggregation rules</a:t>
            </a:r>
          </a:p>
        </p:txBody>
      </p:sp>
      <p:sp>
        <p:nvSpPr>
          <p:cNvPr id="2" name="APPENDIX A">
            <a:extLst xmlns:a="http://schemas.openxmlformats.org/drawingml/2006/main">
              <a:ext uri="{FF2B5EF4-FFF2-40B4-BE49-F238E27FC236}">
                <a16:creationId xmlns:a16="http://schemas.microsoft.com/office/drawing/2014/main" id="{F68EEAB3-919E-4EB3-943F-FAA219FA8FB7}"/>
              </a:ext>
            </a:extLst>
          </p:cNvPr>
          <p:cNvSpPr>
            <a:spLocks xmlns:a="http://schemas.openxmlformats.org/drawingml/2006/main" noGrp="1"/>
          </p:cNvSpPr>
          <p:nvPr/>
        </p:nvSpPr>
        <p:spPr>
          <a:xfrm xmlns:a="http://schemas.openxmlformats.org/drawingml/2006/main">
            <a:off x="609600" y="285750"/>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F82"/>
                </a:solidFill>
                <a:latin typeface="Arial"/>
                <a:ea typeface="Arial"/>
                <a:cs typeface="Arial"/>
              </a:defRPr>
            </a:pPr>
            <a:r>
              <a:rPr sz="1350" b="1">
                <a:solidFill>
                  <a:srgbClr val="087F82"/>
                </a:solidFill>
                <a:latin typeface="Arial"/>
                <a:ea typeface="Arial"/>
                <a:cs typeface="Arial"/>
              </a:rPr>
              <a:t>APPENDIX A</a:t>
            </a:r>
          </a:p>
        </p:txBody>
      </p:sp>
      <p:sp>
        <p:nvSpPr>
          <p:cNvPr id="3" name="">
            <a:extLst xmlns:a="http://schemas.openxmlformats.org/drawingml/2006/main">
              <a:ext uri="{FF2B5EF4-FFF2-40B4-BE49-F238E27FC236}">
                <a16:creationId xmlns:a16="http://schemas.microsoft.com/office/drawing/2014/main" id="{B93BADA5-587C-4072-8351-3C2F7A09128A}"/>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12383">
            <a:solidFill>
              <a:srgbClr val="D7E2E4"/>
            </a:solidFill>
          </a:ln>
        </p:spPr>
      </p:sp>
      <p:sp>
        <p:nvSpPr>
          <p:cNvPr id="4" name="DAMDID 2026">
            <a:extLst xmlns:a="http://schemas.openxmlformats.org/drawingml/2006/main">
              <a:ext uri="{FF2B5EF4-FFF2-40B4-BE49-F238E27FC236}">
                <a16:creationId xmlns:a16="http://schemas.microsoft.com/office/drawing/2014/main" id="{B5CAE79A-0AD0-4375-9D11-F64151B16027}"/>
              </a:ext>
            </a:extLst>
          </p:cNvPr>
          <p:cNvSpPr>
            <a:spLocks xmlns:a="http://schemas.openxmlformats.org/drawingml/2006/main" noGrp="1"/>
          </p:cNvSpPr>
          <p:nvPr/>
        </p:nvSpPr>
        <p:spPr>
          <a:xfrm xmlns:a="http://schemas.openxmlformats.org/drawingml/2006/main">
            <a:off x="609600" y="65055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3676F"/>
                </a:solidFill>
                <a:latin typeface="Arial"/>
                <a:ea typeface="Arial"/>
                <a:cs typeface="Arial"/>
              </a:defRPr>
            </a:pPr>
            <a:r>
              <a:rPr sz="1125" b="0">
                <a:solidFill>
                  <a:srgbClr val="53676F"/>
                </a:solidFill>
                <a:latin typeface="Arial"/>
                <a:ea typeface="Arial"/>
                <a:cs typeface="Arial"/>
              </a:rPr>
              <a:t>DAMDID 2026</a:t>
            </a:r>
          </a:p>
        </p:txBody>
      </p:sp>
      <p:sp>
        <p:nvSpPr>
          <p:cNvPr id="5" name="A1">
            <a:extLst xmlns:a="http://schemas.openxmlformats.org/drawingml/2006/main">
              <a:ext uri="{FF2B5EF4-FFF2-40B4-BE49-F238E27FC236}">
                <a16:creationId xmlns:a16="http://schemas.microsoft.com/office/drawing/2014/main" id="{0ADF439E-EBEF-4396-AB9C-675210F4847D}"/>
              </a:ext>
            </a:extLst>
          </p:cNvPr>
          <p:cNvSpPr>
            <a:spLocks xmlns:a="http://schemas.openxmlformats.org/drawingml/2006/main" noGrp="1"/>
          </p:cNvSpPr>
          <p:nvPr/>
        </p:nvSpPr>
        <p:spPr>
          <a:xfrm xmlns:a="http://schemas.openxmlformats.org/drawingml/2006/main">
            <a:off x="11049000" y="64770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53676F"/>
                </a:solidFill>
                <a:latin typeface="Arial"/>
                <a:ea typeface="Arial"/>
                <a:cs typeface="Arial"/>
              </a:defRPr>
            </a:pPr>
            <a:r>
              <a:rPr sz="1350" b="0">
                <a:solidFill>
                  <a:srgbClr val="53676F"/>
                </a:solidFill>
                <a:latin typeface="Arial"/>
                <a:ea typeface="Arial"/>
                <a:cs typeface="Arial"/>
              </a:rPr>
              <a:t>A1</a:t>
            </a:r>
          </a:p>
        </p:txBody>
      </p:sp>
      <p:sp>
        <p:nvSpPr>
          <p:cNvPr id="6" name="NDCG@10 = DCG@10 / IDCG@10">
            <a:extLst xmlns:a="http://schemas.openxmlformats.org/drawingml/2006/main">
              <a:ext uri="{FF2B5EF4-FFF2-40B4-BE49-F238E27FC236}">
                <a16:creationId xmlns:a16="http://schemas.microsoft.com/office/drawing/2014/main" id="{4596C822-97EA-4D34-B34E-FC502E9E331F}"/>
              </a:ext>
            </a:extLst>
          </p:cNvPr>
          <p:cNvSpPr>
            <a:spLocks xmlns:a="http://schemas.openxmlformats.org/drawingml/2006/main" noGrp="1"/>
          </p:cNvSpPr>
          <p:nvPr/>
        </p:nvSpPr>
        <p:spPr>
          <a:xfrm xmlns:a="http://schemas.openxmlformats.org/drawingml/2006/main">
            <a:off x="609600" y="1952625"/>
            <a:ext cx="10953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087F82"/>
                </a:solidFill>
                <a:latin typeface="Arial"/>
                <a:ea typeface="Arial"/>
                <a:cs typeface="Arial"/>
              </a:defRPr>
            </a:pPr>
            <a:r>
              <a:rPr sz="3600" b="1">
                <a:solidFill>
                  <a:srgbClr val="087F82"/>
                </a:solidFill>
                <a:latin typeface="Arial"/>
                <a:ea typeface="Arial"/>
                <a:cs typeface="Arial"/>
              </a:rPr>
              <a:t>NDCG@10 = DCG@10 / IDCG@10</a:t>
            </a:r>
          </a:p>
        </p:txBody>
      </p:sp>
      <p:graphicFrame>
        <p:nvGraphicFramePr>
          <p:cNvPr id="15" name=""/>
          <p:cNvGraphicFramePr/>
          <p:nvPr/>
        </p:nvGraphicFramePr>
        <p:xfrm>
          <a:off xmlns:a="http://schemas.openxmlformats.org/drawingml/2006/main" x="609600" y="2981325"/>
          <a:ext xmlns:a="http://schemas.openxmlformats.org/drawingml/2006/main" cx="10972800" cy="2705100"/>
        </p:xfrm>
        <a:graphic xmlns:a="http://schemas.openxmlformats.org/drawingml/2006/main">
          <a:graphicData uri="http://schemas.openxmlformats.org/drawingml/2006/table">
            <a:tbl>
              <a:tblPr firstRow="0" firstCol="0" lastRow="0" lastCol="0" bandRow="0" bandCol="0"/>
              <a:tblGrid>
                <a:gridCol w="3190875"/>
                <a:gridCol w="7781925"/>
              </a:tblGrid>
              <a:tr h="457200">
                <a:tc>
                  <a:txBody>
                    <a:bodyPr lIns="171450" tIns="114300" rIns="171450" bIns="114300">
                      <a:noAutofit/>
                    </a:bodyPr>
                    <a:lstStyle/>
                    <a:p>
                      <a:r>
                        <a:rPr sz="1725" b="1">
                          <a:solidFill>
                            <a:srgbClr val="53676F"/>
                          </a:solidFill>
                          <a:latin typeface="Arial"/>
                          <a:ea typeface="Arial"/>
                          <a:cs typeface="Arial"/>
                        </a:rPr>
                        <a:t>Rule</a:t>
                      </a:r>
                    </a:p>
                  </a:txBody>
                  <a:tcPr marL="91440" marR="91440" marT="45720" marB="45720" anchor="ctr">
                    <a:solidFill>
                      <a:srgbClr val="EDF5F4"/>
                    </a:solidFill>
                  </a:tcPr>
                </a:tc>
                <a:tc>
                  <a:txBody>
                    <a:bodyPr lIns="171450" tIns="114300" rIns="171450" bIns="114300">
                      <a:noAutofit/>
                    </a:bodyPr>
                    <a:lstStyle/>
                    <a:p>
                      <a:r>
                        <a:rPr sz="1725" b="1">
                          <a:solidFill>
                            <a:srgbClr val="53676F"/>
                          </a:solidFill>
                          <a:latin typeface="Arial"/>
                          <a:ea typeface="Arial"/>
                          <a:cs typeface="Arial"/>
                        </a:rPr>
                        <a:t>Definition</a:t>
                      </a:r>
                    </a:p>
                  </a:txBody>
                  <a:tcPr marL="91440" marR="91440" marT="45720" marB="45720" anchor="ctr">
                    <a:solidFill>
                      <a:srgbClr val="EDF5F4"/>
                    </a:solidFill>
                  </a:tcPr>
                </a:tc>
              </a:tr>
              <a:tr h="561975">
                <a:tc>
                  <a:txBody>
                    <a:bodyPr lIns="171450" tIns="114300" rIns="171450" bIns="114300">
                      <a:noAutofit/>
                    </a:bodyPr>
                    <a:lstStyle/>
                    <a:p>
                      <a:r>
                        <a:rPr sz="1875" b="0">
                          <a:solidFill>
                            <a:srgbClr val="172B32"/>
                          </a:solidFill>
                          <a:latin typeface="Arial"/>
                          <a:ea typeface="Arial"/>
                          <a:cs typeface="Arial"/>
                        </a:rPr>
                        <a:t>Ideal ranking</a:t>
                      </a:r>
                    </a:p>
                  </a:txBody>
                  <a:tcPr marL="91440" marR="91440" marT="45720" marB="45720" anchor="ctr">
                    <a:solidFill>
                      <a:srgbClr val="FFFFFF"/>
                    </a:solidFill>
                  </a:tcPr>
                </a:tc>
                <a:tc>
                  <a:txBody>
                    <a:bodyPr lIns="171450" tIns="114300" rIns="171450" bIns="114300">
                      <a:noAutofit/>
                    </a:bodyPr>
                    <a:lstStyle/>
                    <a:p>
                      <a:r>
                        <a:rPr sz="1875" b="0">
                          <a:solidFill>
                            <a:srgbClr val="172B32"/>
                          </a:solidFill>
                          <a:latin typeface="Arial"/>
                          <a:ea typeface="Arial"/>
                          <a:cs typeface="Arial"/>
                        </a:rPr>
                        <a:t>All positives in the query’s candidate pool</a:t>
                      </a:r>
                    </a:p>
                  </a:txBody>
                  <a:tcPr marL="91440" marR="91440" marT="45720" marB="45720" anchor="ctr">
                    <a:solidFill>
                      <a:srgbClr val="FFFFFF"/>
                    </a:solidFill>
                  </a:tcPr>
                </a:tc>
              </a:tr>
              <a:tr h="561975">
                <a:tc>
                  <a:txBody>
                    <a:bodyPr lIns="171450" tIns="114300" rIns="171450" bIns="114300">
                      <a:noAutofit/>
                    </a:bodyPr>
                    <a:lstStyle/>
                    <a:p>
                      <a:r>
                        <a:rPr sz="1875" b="0">
                          <a:solidFill>
                            <a:srgbClr val="172B32"/>
                          </a:solidFill>
                          <a:latin typeface="Arial"/>
                          <a:ea typeface="Arial"/>
                          <a:cs typeface="Arial"/>
                        </a:rPr>
                        <a:t>No positive judgments</a:t>
                      </a:r>
                    </a:p>
                  </a:txBody>
                  <a:tcPr marL="91440" marR="91440" marT="45720" marB="45720" anchor="ctr">
                    <a:solidFill>
                      <a:srgbClr val="FFFFFF"/>
                    </a:solidFill>
                  </a:tcPr>
                </a:tc>
                <a:tc>
                  <a:txBody>
                    <a:bodyPr lIns="171450" tIns="114300" rIns="171450" bIns="114300">
                      <a:noAutofit/>
                    </a:bodyPr>
                    <a:lstStyle/>
                    <a:p>
                      <a:r>
                        <a:rPr sz="1875" b="0">
                          <a:solidFill>
                            <a:srgbClr val="172B32"/>
                          </a:solidFill>
                          <a:latin typeface="Arial"/>
                          <a:ea typeface="Arial"/>
                          <a:cs typeface="Arial"/>
                        </a:rPr>
                        <a:t>NDCG = 0, query remains in the mean</a:t>
                      </a:r>
                    </a:p>
                  </a:txBody>
                  <a:tcPr marL="91440" marR="91440" marT="45720" marB="45720" anchor="ctr">
                    <a:solidFill>
                      <a:srgbClr val="FFFFFF"/>
                    </a:solidFill>
                  </a:tcPr>
                </a:tc>
              </a:tr>
              <a:tr h="561975">
                <a:tc>
                  <a:txBody>
                    <a:bodyPr lIns="171450" tIns="114300" rIns="171450" bIns="114300">
                      <a:noAutofit/>
                    </a:bodyPr>
                    <a:lstStyle/>
                    <a:p>
                      <a:r>
                        <a:rPr sz="1875" b="0">
                          <a:solidFill>
                            <a:srgbClr val="172B32"/>
                          </a:solidFill>
                          <a:latin typeface="Arial"/>
                          <a:ea typeface="Arial"/>
                          <a:cs typeface="Arial"/>
                        </a:rPr>
                        <a:t>Unjudged passage</a:t>
                      </a:r>
                    </a:p>
                  </a:txBody>
                  <a:tcPr marL="91440" marR="91440" marT="45720" marB="45720" anchor="ctr">
                    <a:solidFill>
                      <a:srgbClr val="FFFFFF"/>
                    </a:solidFill>
                  </a:tcPr>
                </a:tc>
                <a:tc>
                  <a:txBody>
                    <a:bodyPr lIns="171450" tIns="114300" rIns="171450" bIns="114300">
                      <a:noAutofit/>
                    </a:bodyPr>
                    <a:lstStyle/>
                    <a:p>
                      <a:r>
                        <a:rPr sz="1875" b="0">
                          <a:solidFill>
                            <a:srgbClr val="172B32"/>
                          </a:solidFill>
                          <a:latin typeface="Arial"/>
                          <a:ea typeface="Arial"/>
                          <a:cs typeface="Arial"/>
                        </a:rPr>
                        <a:t>Zero gain, original rank retained</a:t>
                      </a:r>
                    </a:p>
                  </a:txBody>
                  <a:tcPr marL="91440" marR="91440" marT="45720" marB="45720" anchor="ctr">
                    <a:solidFill>
                      <a:srgbClr val="FFFFFF"/>
                    </a:solidFill>
                  </a:tcPr>
                </a:tc>
              </a:tr>
              <a:tr h="561975">
                <a:tc>
                  <a:txBody>
                    <a:bodyPr lIns="171450" tIns="114300" rIns="171450" bIns="114300">
                      <a:noAutofit/>
                    </a:bodyPr>
                    <a:lstStyle/>
                    <a:p>
                      <a:r>
                        <a:rPr sz="1875" b="0">
                          <a:solidFill>
                            <a:srgbClr val="172B32"/>
                          </a:solidFill>
                          <a:latin typeface="Arial"/>
                          <a:ea typeface="Arial"/>
                          <a:cs typeface="Arial"/>
                        </a:rPr>
                        <a:t>Aggregation</a:t>
                      </a:r>
                    </a:p>
                  </a:txBody>
                  <a:tcPr marL="91440" marR="91440" marT="45720" marB="45720" anchor="ctr">
                    <a:solidFill>
                      <a:srgbClr val="FFFFFF"/>
                    </a:solidFill>
                  </a:tcPr>
                </a:tc>
                <a:tc>
                  <a:txBody>
                    <a:bodyPr lIns="171450" tIns="114300" rIns="171450" bIns="114300">
                      <a:noAutofit/>
                    </a:bodyPr>
                    <a:lstStyle/>
                    <a:p>
                      <a:r>
                        <a:rPr sz="1875" b="0">
                          <a:solidFill>
                            <a:srgbClr val="172B32"/>
                          </a:solidFill>
                          <a:latin typeface="Arial"/>
                          <a:ea typeface="Arial"/>
                          <a:cs typeface="Arial"/>
                        </a:rPr>
                        <a:t>Same query set for every system</a:t>
                      </a:r>
                    </a:p>
                  </a:txBody>
                  <a:tcPr marL="91440" marR="91440" marT="45720" marB="45720" anchor="ctr">
                    <a:solidFill>
                      <a:srgbClr val="FFFFFF"/>
                    </a:solidFill>
                  </a:tcPr>
                </a:tc>
              </a:tr>
            </a:tbl>
          </a:graphicData>
        </a:graphic>
      </p:graphicFrame>
      <p:sp>
        <p:nvSpPr>
          <p:cNvPr id="8" name="Manual uncertainty: 5,000 bootstrap resamples an">
            <a:extLst xmlns:a="http://schemas.openxmlformats.org/drawingml/2006/main">
              <a:ext uri="{FF2B5EF4-FFF2-40B4-BE49-F238E27FC236}">
                <a16:creationId xmlns:a16="http://schemas.microsoft.com/office/drawing/2014/main" id="{C0EB013C-65D8-49BB-AC0E-68544F95268C}"/>
              </a:ext>
            </a:extLst>
          </p:cNvPr>
          <p:cNvSpPr>
            <a:spLocks xmlns:a="http://schemas.openxmlformats.org/drawingml/2006/main" noGrp="1"/>
          </p:cNvSpPr>
          <p:nvPr/>
        </p:nvSpPr>
        <p:spPr>
          <a:xfrm xmlns:a="http://schemas.openxmlformats.org/drawingml/2006/main">
            <a:off x="609600" y="5905500"/>
            <a:ext cx="1095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53676F"/>
                </a:solidFill>
                <a:latin typeface="Arial"/>
                <a:ea typeface="Arial"/>
                <a:cs typeface="Arial"/>
              </a:defRPr>
            </a:pPr>
            <a:r>
              <a:rPr sz="1725" b="0">
                <a:solidFill>
                  <a:srgbClr val="53676F"/>
                </a:solidFill>
                <a:latin typeface="Arial"/>
                <a:ea typeface="Arial"/>
                <a:cs typeface="Arial"/>
              </a:rPr>
              <a:t>Manual uncertainty: 5,000 bootstrap resamples and 10,000 paired sign flips.</a:t>
            </a:r>
          </a:p>
        </p:txBody>
      </p:sp>
    </p:spTree>
    <p:extLst>
      <p:ext uri="{BB962C8B-B14F-4D97-AF65-F5344CB8AC3E}">
        <p14:creationId xmlns:p14="http://schemas.microsoft.com/office/powerpoint/2010/main" val="34010725"/>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Judge training and held-out evaluation">
            <a:extLst xmlns:a="http://schemas.openxmlformats.org/drawingml/2006/main">
              <a:ext uri="{FF2B5EF4-FFF2-40B4-BE49-F238E27FC236}">
                <a16:creationId xmlns:a16="http://schemas.microsoft.com/office/drawing/2014/main" id="{E7955228-265B-4DCE-B707-C95AFC3EAF64}"/>
              </a:ext>
            </a:extLst>
          </p:cNvPr>
          <p:cNvSpPr>
            <a:spLocks xmlns:a="http://schemas.openxmlformats.org/drawingml/2006/main" noGrp="1"/>
          </p:cNvSpPr>
          <p:nvPr/>
        </p:nvSpPr>
        <p:spPr>
          <a:xfrm xmlns:a="http://schemas.openxmlformats.org/drawingml/2006/main">
            <a:off x="609600" y="7048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B32"/>
                </a:solidFill>
                <a:latin typeface="Arial"/>
                <a:ea typeface="Arial"/>
                <a:cs typeface="Arial"/>
              </a:defRPr>
            </a:pPr>
            <a:r>
              <a:rPr sz="3300" b="1">
                <a:solidFill>
                  <a:srgbClr val="172B32"/>
                </a:solidFill>
                <a:latin typeface="Arial"/>
                <a:ea typeface="Arial"/>
                <a:cs typeface="Arial"/>
              </a:rPr>
              <a:t>Judge training and held-out evaluation</a:t>
            </a:r>
          </a:p>
        </p:txBody>
      </p:sp>
      <p:sp>
        <p:nvSpPr>
          <p:cNvPr id="2" name="APPENDIX B">
            <a:extLst xmlns:a="http://schemas.openxmlformats.org/drawingml/2006/main">
              <a:ext uri="{FF2B5EF4-FFF2-40B4-BE49-F238E27FC236}">
                <a16:creationId xmlns:a16="http://schemas.microsoft.com/office/drawing/2014/main" id="{FA756227-770D-4834-B973-D2C3D07A8164}"/>
              </a:ext>
            </a:extLst>
          </p:cNvPr>
          <p:cNvSpPr>
            <a:spLocks xmlns:a="http://schemas.openxmlformats.org/drawingml/2006/main" noGrp="1"/>
          </p:cNvSpPr>
          <p:nvPr/>
        </p:nvSpPr>
        <p:spPr>
          <a:xfrm xmlns:a="http://schemas.openxmlformats.org/drawingml/2006/main">
            <a:off x="609600" y="285750"/>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F82"/>
                </a:solidFill>
                <a:latin typeface="Arial"/>
                <a:ea typeface="Arial"/>
                <a:cs typeface="Arial"/>
              </a:defRPr>
            </a:pPr>
            <a:r>
              <a:rPr sz="1350" b="1">
                <a:solidFill>
                  <a:srgbClr val="087F82"/>
                </a:solidFill>
                <a:latin typeface="Arial"/>
                <a:ea typeface="Arial"/>
                <a:cs typeface="Arial"/>
              </a:rPr>
              <a:t>APPENDIX B</a:t>
            </a:r>
          </a:p>
        </p:txBody>
      </p:sp>
      <p:sp>
        <p:nvSpPr>
          <p:cNvPr id="3" name="">
            <a:extLst xmlns:a="http://schemas.openxmlformats.org/drawingml/2006/main">
              <a:ext uri="{FF2B5EF4-FFF2-40B4-BE49-F238E27FC236}">
                <a16:creationId xmlns:a16="http://schemas.microsoft.com/office/drawing/2014/main" id="{EC8B2049-35C6-470C-BF77-3CC943F647F8}"/>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12383">
            <a:solidFill>
              <a:srgbClr val="D7E2E4"/>
            </a:solidFill>
          </a:ln>
        </p:spPr>
      </p:sp>
      <p:sp>
        <p:nvSpPr>
          <p:cNvPr id="4" name="DAMDID 2026">
            <a:extLst xmlns:a="http://schemas.openxmlformats.org/drawingml/2006/main">
              <a:ext uri="{FF2B5EF4-FFF2-40B4-BE49-F238E27FC236}">
                <a16:creationId xmlns:a16="http://schemas.microsoft.com/office/drawing/2014/main" id="{9AF9CFDA-259A-4569-AC3A-057D49224F93}"/>
              </a:ext>
            </a:extLst>
          </p:cNvPr>
          <p:cNvSpPr>
            <a:spLocks xmlns:a="http://schemas.openxmlformats.org/drawingml/2006/main" noGrp="1"/>
          </p:cNvSpPr>
          <p:nvPr/>
        </p:nvSpPr>
        <p:spPr>
          <a:xfrm xmlns:a="http://schemas.openxmlformats.org/drawingml/2006/main">
            <a:off x="609600" y="65055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3676F"/>
                </a:solidFill>
                <a:latin typeface="Arial"/>
                <a:ea typeface="Arial"/>
                <a:cs typeface="Arial"/>
              </a:defRPr>
            </a:pPr>
            <a:r>
              <a:rPr sz="1125" b="0">
                <a:solidFill>
                  <a:srgbClr val="53676F"/>
                </a:solidFill>
                <a:latin typeface="Arial"/>
                <a:ea typeface="Arial"/>
                <a:cs typeface="Arial"/>
              </a:rPr>
              <a:t>DAMDID 2026</a:t>
            </a:r>
          </a:p>
        </p:txBody>
      </p:sp>
      <p:sp>
        <p:nvSpPr>
          <p:cNvPr id="5" name="A2">
            <a:extLst xmlns:a="http://schemas.openxmlformats.org/drawingml/2006/main">
              <a:ext uri="{FF2B5EF4-FFF2-40B4-BE49-F238E27FC236}">
                <a16:creationId xmlns:a16="http://schemas.microsoft.com/office/drawing/2014/main" id="{23AE796A-7445-48B0-8244-1C3A77846B1C}"/>
              </a:ext>
            </a:extLst>
          </p:cNvPr>
          <p:cNvSpPr>
            <a:spLocks xmlns:a="http://schemas.openxmlformats.org/drawingml/2006/main" noGrp="1"/>
          </p:cNvSpPr>
          <p:nvPr/>
        </p:nvSpPr>
        <p:spPr>
          <a:xfrm xmlns:a="http://schemas.openxmlformats.org/drawingml/2006/main">
            <a:off x="11049000" y="64770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53676F"/>
                </a:solidFill>
                <a:latin typeface="Arial"/>
                <a:ea typeface="Arial"/>
                <a:cs typeface="Arial"/>
              </a:defRPr>
            </a:pPr>
            <a:r>
              <a:rPr sz="1350" b="0">
                <a:solidFill>
                  <a:srgbClr val="53676F"/>
                </a:solidFill>
                <a:latin typeface="Arial"/>
                <a:ea typeface="Arial"/>
                <a:cs typeface="Arial"/>
              </a:rPr>
              <a:t>A2</a:t>
            </a:r>
          </a:p>
        </p:txBody>
      </p:sp>
      <p:graphicFrame>
        <p:nvGraphicFramePr>
          <p:cNvPr id="14" name=""/>
          <p:cNvGraphicFramePr/>
          <p:nvPr/>
        </p:nvGraphicFramePr>
        <p:xfrm>
          <a:off xmlns:a="http://schemas.openxmlformats.org/drawingml/2006/main" x="609600" y="1971675"/>
          <a:ext xmlns:a="http://schemas.openxmlformats.org/drawingml/2006/main" cx="10972800" cy="2533650"/>
        </p:xfrm>
        <a:graphic xmlns:a="http://schemas.openxmlformats.org/drawingml/2006/main">
          <a:graphicData uri="http://schemas.openxmlformats.org/drawingml/2006/table">
            <a:tbl>
              <a:tblPr firstRow="0" firstCol="0" lastRow="0" lastCol="0" bandRow="0" bandCol="0"/>
              <a:tblGrid>
                <a:gridCol w="4781550"/>
                <a:gridCol w="2571750"/>
                <a:gridCol w="3619500"/>
              </a:tblGrid>
              <a:tr h="523875">
                <a:tc>
                  <a:txBody>
                    <a:bodyPr lIns="171450" tIns="114300" rIns="171450" bIns="114300">
                      <a:noAutofit/>
                    </a:bodyPr>
                    <a:lstStyle/>
                    <a:p>
                      <a:r>
                        <a:rPr sz="1875" b="1">
                          <a:solidFill>
                            <a:srgbClr val="53676F"/>
                          </a:solidFill>
                          <a:latin typeface="Arial"/>
                          <a:ea typeface="Arial"/>
                          <a:cs typeface="Arial"/>
                        </a:rPr>
                        <a:t>Split by query</a:t>
                      </a:r>
                    </a:p>
                  </a:txBody>
                  <a:tcPr marL="91440" marR="91440" marT="45720" marB="45720" anchor="ctr">
                    <a:solidFill>
                      <a:srgbClr val="EDF5F4"/>
                    </a:solidFill>
                  </a:tcPr>
                </a:tc>
                <a:tc>
                  <a:txBody>
                    <a:bodyPr lIns="171450" tIns="114300" rIns="171450" bIns="114300">
                      <a:noAutofit/>
                    </a:bodyPr>
                    <a:lstStyle/>
                    <a:p>
                      <a:r>
                        <a:rPr sz="1875" b="1">
                          <a:solidFill>
                            <a:srgbClr val="53676F"/>
                          </a:solidFill>
                          <a:latin typeface="Arial"/>
                          <a:ea typeface="Arial"/>
                          <a:cs typeface="Arial"/>
                        </a:rPr>
                        <a:t>Queries</a:t>
                      </a:r>
                    </a:p>
                  </a:txBody>
                  <a:tcPr marL="91440" marR="91440" marT="45720" marB="45720" anchor="ctr">
                    <a:solidFill>
                      <a:srgbClr val="EDF5F4"/>
                    </a:solidFill>
                  </a:tcPr>
                </a:tc>
                <a:tc>
                  <a:txBody>
                    <a:bodyPr lIns="171450" tIns="114300" rIns="171450" bIns="114300">
                      <a:noAutofit/>
                    </a:bodyPr>
                    <a:lstStyle/>
                    <a:p>
                      <a:r>
                        <a:rPr sz="1875" b="1">
                          <a:solidFill>
                            <a:srgbClr val="53676F"/>
                          </a:solidFill>
                          <a:latin typeface="Arial"/>
                          <a:ea typeface="Arial"/>
                          <a:cs typeface="Arial"/>
                        </a:rPr>
                        <a:t>Pairs</a:t>
                      </a:r>
                    </a:p>
                  </a:txBody>
                  <a:tcPr marL="91440" marR="91440" marT="45720" marB="45720" anchor="ctr">
                    <a:solidFill>
                      <a:srgbClr val="EDF5F4"/>
                    </a:solidFill>
                  </a:tcPr>
                </a:tc>
              </a:tr>
              <a:tr h="666750">
                <a:tc>
                  <a:txBody>
                    <a:bodyPr lIns="171450" tIns="114300" rIns="171450" bIns="114300">
                      <a:noAutofit/>
                    </a:bodyPr>
                    <a:lstStyle/>
                    <a:p>
                      <a:r>
                        <a:rPr sz="2025" b="0">
                          <a:solidFill>
                            <a:srgbClr val="172B32"/>
                          </a:solidFill>
                          <a:latin typeface="Arial"/>
                          <a:ea typeface="Arial"/>
                          <a:cs typeface="Arial"/>
                        </a:rPr>
                        <a:t>Train</a:t>
                      </a:r>
                    </a:p>
                  </a:txBody>
                  <a:tcPr marL="91440" marR="91440" marT="45720" marB="45720" anchor="ctr">
                    <a:solidFill>
                      <a:srgbClr val="FFFFFF"/>
                    </a:solidFill>
                  </a:tcPr>
                </a:tc>
                <a:tc>
                  <a:txBody>
                    <a:bodyPr lIns="171450" tIns="114300" rIns="171450" bIns="114300">
                      <a:noAutofit/>
                    </a:bodyPr>
                    <a:lstStyle/>
                    <a:p>
                      <a:r>
                        <a:rPr sz="2025" b="0">
                          <a:solidFill>
                            <a:srgbClr val="172B32"/>
                          </a:solidFill>
                          <a:latin typeface="Arial"/>
                          <a:ea typeface="Arial"/>
                          <a:cs typeface="Arial"/>
                        </a:rPr>
                        <a:t>825</a:t>
                      </a:r>
                    </a:p>
                  </a:txBody>
                  <a:tcPr marL="91440" marR="91440" marT="45720" marB="45720" anchor="ctr">
                    <a:solidFill>
                      <a:srgbClr val="FFFFFF"/>
                    </a:solidFill>
                  </a:tcPr>
                </a:tc>
                <a:tc>
                  <a:txBody>
                    <a:bodyPr lIns="171450" tIns="114300" rIns="171450" bIns="114300">
                      <a:noAutofit/>
                    </a:bodyPr>
                    <a:lstStyle/>
                    <a:p>
                      <a:r>
                        <a:rPr sz="2025" b="0">
                          <a:solidFill>
                            <a:srgbClr val="172B32"/>
                          </a:solidFill>
                          <a:latin typeface="Arial"/>
                          <a:ea typeface="Arial"/>
                          <a:cs typeface="Arial"/>
                        </a:rPr>
                        <a:t>23,543</a:t>
                      </a:r>
                    </a:p>
                  </a:txBody>
                  <a:tcPr marL="91440" marR="91440" marT="45720" marB="45720" anchor="ctr">
                    <a:solidFill>
                      <a:srgbClr val="FFFFFF"/>
                    </a:solidFill>
                  </a:tcPr>
                </a:tc>
              </a:tr>
              <a:tr h="666750">
                <a:tc>
                  <a:txBody>
                    <a:bodyPr lIns="171450" tIns="114300" rIns="171450" bIns="114300">
                      <a:noAutofit/>
                    </a:bodyPr>
                    <a:lstStyle/>
                    <a:p>
                      <a:r>
                        <a:rPr sz="2025" b="0">
                          <a:solidFill>
                            <a:srgbClr val="172B32"/>
                          </a:solidFill>
                          <a:latin typeface="Arial"/>
                          <a:ea typeface="Arial"/>
                          <a:cs typeface="Arial"/>
                        </a:rPr>
                        <a:t>Validation</a:t>
                      </a:r>
                    </a:p>
                  </a:txBody>
                  <a:tcPr marL="91440" marR="91440" marT="45720" marB="45720" anchor="ctr">
                    <a:solidFill>
                      <a:srgbClr val="FFFFFF"/>
                    </a:solidFill>
                  </a:tcPr>
                </a:tc>
                <a:tc>
                  <a:txBody>
                    <a:bodyPr lIns="171450" tIns="114300" rIns="171450" bIns="114300">
                      <a:noAutofit/>
                    </a:bodyPr>
                    <a:lstStyle/>
                    <a:p>
                      <a:r>
                        <a:rPr sz="2025" b="0">
                          <a:solidFill>
                            <a:srgbClr val="172B32"/>
                          </a:solidFill>
                          <a:latin typeface="Arial"/>
                          <a:ea typeface="Arial"/>
                          <a:cs typeface="Arial"/>
                        </a:rPr>
                        <a:t>177</a:t>
                      </a:r>
                    </a:p>
                  </a:txBody>
                  <a:tcPr marL="91440" marR="91440" marT="45720" marB="45720" anchor="ctr">
                    <a:solidFill>
                      <a:srgbClr val="FFFFFF"/>
                    </a:solidFill>
                  </a:tcPr>
                </a:tc>
                <a:tc>
                  <a:txBody>
                    <a:bodyPr lIns="171450" tIns="114300" rIns="171450" bIns="114300">
                      <a:noAutofit/>
                    </a:bodyPr>
                    <a:lstStyle/>
                    <a:p>
                      <a:r>
                        <a:rPr sz="2025" b="0">
                          <a:solidFill>
                            <a:srgbClr val="172B32"/>
                          </a:solidFill>
                          <a:latin typeface="Arial"/>
                          <a:ea typeface="Arial"/>
                          <a:cs typeface="Arial"/>
                        </a:rPr>
                        <a:t>5,122</a:t>
                      </a:r>
                    </a:p>
                  </a:txBody>
                  <a:tcPr marL="91440" marR="91440" marT="45720" marB="45720" anchor="ctr">
                    <a:solidFill>
                      <a:srgbClr val="FFFFFF"/>
                    </a:solidFill>
                  </a:tcPr>
                </a:tc>
              </a:tr>
              <a:tr h="676275">
                <a:tc>
                  <a:txBody>
                    <a:bodyPr lIns="171450" tIns="114300" rIns="171450" bIns="114300">
                      <a:noAutofit/>
                    </a:bodyPr>
                    <a:lstStyle/>
                    <a:p>
                      <a:r>
                        <a:rPr sz="2025" b="0">
                          <a:solidFill>
                            <a:srgbClr val="172B32"/>
                          </a:solidFill>
                          <a:latin typeface="Arial"/>
                          <a:ea typeface="Arial"/>
                          <a:cs typeface="Arial"/>
                        </a:rPr>
                        <a:t>Test</a:t>
                      </a:r>
                    </a:p>
                  </a:txBody>
                  <a:tcPr marL="91440" marR="91440" marT="45720" marB="45720" anchor="ctr">
                    <a:solidFill>
                      <a:srgbClr val="FFFFFF"/>
                    </a:solidFill>
                  </a:tcPr>
                </a:tc>
                <a:tc>
                  <a:txBody>
                    <a:bodyPr lIns="171450" tIns="114300" rIns="171450" bIns="114300">
                      <a:noAutofit/>
                    </a:bodyPr>
                    <a:lstStyle/>
                    <a:p>
                      <a:r>
                        <a:rPr sz="2025" b="1">
                          <a:solidFill>
                            <a:srgbClr val="087F82"/>
                          </a:solidFill>
                          <a:latin typeface="Arial"/>
                          <a:ea typeface="Arial"/>
                          <a:cs typeface="Arial"/>
                        </a:rPr>
                        <a:t>177</a:t>
                      </a:r>
                    </a:p>
                  </a:txBody>
                  <a:tcPr marL="91440" marR="91440" marT="45720" marB="45720" anchor="ctr">
                    <a:solidFill>
                      <a:srgbClr val="F2F8F7"/>
                    </a:solidFill>
                  </a:tcPr>
                </a:tc>
                <a:tc>
                  <a:txBody>
                    <a:bodyPr lIns="171450" tIns="114300" rIns="171450" bIns="114300">
                      <a:noAutofit/>
                    </a:bodyPr>
                    <a:lstStyle/>
                    <a:p>
                      <a:r>
                        <a:rPr sz="2025" b="1">
                          <a:solidFill>
                            <a:srgbClr val="087F82"/>
                          </a:solidFill>
                          <a:latin typeface="Arial"/>
                          <a:ea typeface="Arial"/>
                          <a:cs typeface="Arial"/>
                        </a:rPr>
                        <a:t>5,002</a:t>
                      </a:r>
                    </a:p>
                  </a:txBody>
                  <a:tcPr marL="91440" marR="91440" marT="45720" marB="45720" anchor="ctr">
                    <a:solidFill>
                      <a:srgbClr val="F2F8F7"/>
                    </a:solidFill>
                  </a:tcPr>
                </a:tc>
              </a:tr>
            </a:tbl>
          </a:graphicData>
        </a:graphic>
      </p:graphicFrame>
      <p:sp>
        <p:nvSpPr>
          <p:cNvPr id="7" name="MiniLM-L6 cross-encoder, 2 epochs&#10;Validation-sel">
            <a:extLst xmlns:a="http://schemas.openxmlformats.org/drawingml/2006/main">
              <a:ext uri="{FF2B5EF4-FFF2-40B4-BE49-F238E27FC236}">
                <a16:creationId xmlns:a16="http://schemas.microsoft.com/office/drawing/2014/main" id="{9AE32806-E913-408B-962C-38284C7AA0FC}"/>
              </a:ext>
            </a:extLst>
          </p:cNvPr>
          <p:cNvSpPr>
            <a:spLocks xmlns:a="http://schemas.openxmlformats.org/drawingml/2006/main" noGrp="1"/>
          </p:cNvSpPr>
          <p:nvPr/>
        </p:nvSpPr>
        <p:spPr>
          <a:xfrm xmlns:a="http://schemas.openxmlformats.org/drawingml/2006/main">
            <a:off x="609600" y="4838700"/>
            <a:ext cx="1095375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2B32"/>
                </a:solidFill>
                <a:latin typeface="Arial"/>
                <a:ea typeface="Arial"/>
                <a:cs typeface="Arial"/>
              </a:defRPr>
            </a:pPr>
            <a:r>
              <a:rPr sz="2100" b="0">
                <a:solidFill>
                  <a:srgbClr val="172B32"/>
                </a:solidFill>
                <a:latin typeface="Arial"/>
                <a:ea typeface="Arial"/>
                <a:cs typeface="Arial"/>
              </a:rPr>
              <a:t>MiniLM-L6 cross-encoder, 2 epochs</a:t>
            </a:r>
          </a:p>
          <a:p xmlns:a="http://schemas.openxmlformats.org/drawingml/2006/main">
            <a:pPr>
              <a:defRPr sz="2100" b="0">
                <a:solidFill>
                  <a:srgbClr val="172B32"/>
                </a:solidFill>
                <a:latin typeface="Arial"/>
                <a:ea typeface="Arial"/>
                <a:cs typeface="Arial"/>
              </a:defRPr>
            </a:pPr>
            <a:r>
              <a:rPr sz="2100" b="0">
                <a:solidFill>
                  <a:srgbClr val="172B32"/>
                </a:solidFill>
                <a:latin typeface="Arial"/>
                <a:ea typeface="Arial"/>
                <a:cs typeface="Arial"/>
              </a:rPr>
              <a:t>Validation-selected raw-score threshold: −0.2187</a:t>
            </a:r>
          </a:p>
        </p:txBody>
      </p:sp>
      <p:sp>
        <p:nvSpPr>
          <p:cNvPr id="8" name="Held-out pool reranking: NDCG@10 = 0.512 (origin">
            <a:extLst xmlns:a="http://schemas.openxmlformats.org/drawingml/2006/main">
              <a:ext uri="{FF2B5EF4-FFF2-40B4-BE49-F238E27FC236}">
                <a16:creationId xmlns:a16="http://schemas.microsoft.com/office/drawing/2014/main" id="{42C711BA-54E9-46F2-800D-682721FAD11F}"/>
              </a:ext>
            </a:extLst>
          </p:cNvPr>
          <p:cNvSpPr>
            <a:spLocks xmlns:a="http://schemas.openxmlformats.org/drawingml/2006/main" noGrp="1"/>
          </p:cNvSpPr>
          <p:nvPr/>
        </p:nvSpPr>
        <p:spPr>
          <a:xfrm xmlns:a="http://schemas.openxmlformats.org/drawingml/2006/main">
            <a:off x="609600" y="5905500"/>
            <a:ext cx="1095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53676F"/>
                </a:solidFill>
                <a:latin typeface="Arial"/>
                <a:ea typeface="Arial"/>
                <a:cs typeface="Arial"/>
              </a:defRPr>
            </a:pPr>
            <a:r>
              <a:rPr sz="1725" b="0">
                <a:solidFill>
                  <a:srgbClr val="53676F"/>
                </a:solidFill>
                <a:latin typeface="Arial"/>
                <a:ea typeface="Arial"/>
                <a:cs typeface="Arial"/>
              </a:rPr>
              <a:t>Held-out pool reranking: NDCG@10 = 0.512 (original), 0.938 (human).</a:t>
            </a:r>
          </a:p>
        </p:txBody>
      </p:sp>
    </p:spTree>
    <p:extLst>
      <p:ext uri="{BB962C8B-B14F-4D97-AF65-F5344CB8AC3E}">
        <p14:creationId xmlns:p14="http://schemas.microsoft.com/office/powerpoint/2010/main" val="201645003"/>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Sensitivity to query selection">
            <a:extLst xmlns:a="http://schemas.openxmlformats.org/drawingml/2006/main">
              <a:ext uri="{FF2B5EF4-FFF2-40B4-BE49-F238E27FC236}">
                <a16:creationId xmlns:a16="http://schemas.microsoft.com/office/drawing/2014/main" id="{F10EEA35-1D50-4FDA-B7A9-53EEDC8D30FD}"/>
              </a:ext>
            </a:extLst>
          </p:cNvPr>
          <p:cNvSpPr>
            <a:spLocks xmlns:a="http://schemas.openxmlformats.org/drawingml/2006/main" noGrp="1"/>
          </p:cNvSpPr>
          <p:nvPr/>
        </p:nvSpPr>
        <p:spPr>
          <a:xfrm xmlns:a="http://schemas.openxmlformats.org/drawingml/2006/main">
            <a:off x="609600" y="7048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B32"/>
                </a:solidFill>
                <a:latin typeface="Arial"/>
                <a:ea typeface="Arial"/>
                <a:cs typeface="Arial"/>
              </a:defRPr>
            </a:pPr>
            <a:r>
              <a:rPr sz="3300" b="1">
                <a:solidFill>
                  <a:srgbClr val="172B32"/>
                </a:solidFill>
                <a:latin typeface="Arial"/>
                <a:ea typeface="Arial"/>
                <a:cs typeface="Arial"/>
              </a:rPr>
              <a:t>Sensitivity to query selection</a:t>
            </a:r>
          </a:p>
        </p:txBody>
      </p:sp>
      <p:sp>
        <p:nvSpPr>
          <p:cNvPr id="2" name="APPENDIX C">
            <a:extLst xmlns:a="http://schemas.openxmlformats.org/drawingml/2006/main">
              <a:ext uri="{FF2B5EF4-FFF2-40B4-BE49-F238E27FC236}">
                <a16:creationId xmlns:a16="http://schemas.microsoft.com/office/drawing/2014/main" id="{5D7E4E05-BF7E-41C1-949B-DB7B4179F879}"/>
              </a:ext>
            </a:extLst>
          </p:cNvPr>
          <p:cNvSpPr>
            <a:spLocks xmlns:a="http://schemas.openxmlformats.org/drawingml/2006/main" noGrp="1"/>
          </p:cNvSpPr>
          <p:nvPr/>
        </p:nvSpPr>
        <p:spPr>
          <a:xfrm xmlns:a="http://schemas.openxmlformats.org/drawingml/2006/main">
            <a:off x="609600" y="285750"/>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F82"/>
                </a:solidFill>
                <a:latin typeface="Arial"/>
                <a:ea typeface="Arial"/>
                <a:cs typeface="Arial"/>
              </a:defRPr>
            </a:pPr>
            <a:r>
              <a:rPr sz="1350" b="1">
                <a:solidFill>
                  <a:srgbClr val="087F82"/>
                </a:solidFill>
                <a:latin typeface="Arial"/>
                <a:ea typeface="Arial"/>
                <a:cs typeface="Arial"/>
              </a:rPr>
              <a:t>APPENDIX C</a:t>
            </a:r>
          </a:p>
        </p:txBody>
      </p:sp>
      <p:sp>
        <p:nvSpPr>
          <p:cNvPr id="3" name="">
            <a:extLst xmlns:a="http://schemas.openxmlformats.org/drawingml/2006/main">
              <a:ext uri="{FF2B5EF4-FFF2-40B4-BE49-F238E27FC236}">
                <a16:creationId xmlns:a16="http://schemas.microsoft.com/office/drawing/2014/main" id="{9A25AA69-8399-4069-9A94-1DA929AC8606}"/>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12383">
            <a:solidFill>
              <a:srgbClr val="D7E2E4"/>
            </a:solidFill>
          </a:ln>
        </p:spPr>
      </p:sp>
      <p:sp>
        <p:nvSpPr>
          <p:cNvPr id="4" name="DAMDID 2026">
            <a:extLst xmlns:a="http://schemas.openxmlformats.org/drawingml/2006/main">
              <a:ext uri="{FF2B5EF4-FFF2-40B4-BE49-F238E27FC236}">
                <a16:creationId xmlns:a16="http://schemas.microsoft.com/office/drawing/2014/main" id="{6F5BD5B3-6616-4A70-B09A-F1E69CFBCF82}"/>
              </a:ext>
            </a:extLst>
          </p:cNvPr>
          <p:cNvSpPr>
            <a:spLocks xmlns:a="http://schemas.openxmlformats.org/drawingml/2006/main" noGrp="1"/>
          </p:cNvSpPr>
          <p:nvPr/>
        </p:nvSpPr>
        <p:spPr>
          <a:xfrm xmlns:a="http://schemas.openxmlformats.org/drawingml/2006/main">
            <a:off x="609600" y="65055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3676F"/>
                </a:solidFill>
                <a:latin typeface="Arial"/>
                <a:ea typeface="Arial"/>
                <a:cs typeface="Arial"/>
              </a:defRPr>
            </a:pPr>
            <a:r>
              <a:rPr sz="1125" b="0">
                <a:solidFill>
                  <a:srgbClr val="53676F"/>
                </a:solidFill>
                <a:latin typeface="Arial"/>
                <a:ea typeface="Arial"/>
                <a:cs typeface="Arial"/>
              </a:rPr>
              <a:t>DAMDID 2026</a:t>
            </a:r>
          </a:p>
        </p:txBody>
      </p:sp>
      <p:sp>
        <p:nvSpPr>
          <p:cNvPr id="5" name="A3">
            <a:extLst xmlns:a="http://schemas.openxmlformats.org/drawingml/2006/main">
              <a:ext uri="{FF2B5EF4-FFF2-40B4-BE49-F238E27FC236}">
                <a16:creationId xmlns:a16="http://schemas.microsoft.com/office/drawing/2014/main" id="{3CDBCE28-4B90-4447-933C-A5B97F7814BF}"/>
              </a:ext>
            </a:extLst>
          </p:cNvPr>
          <p:cNvSpPr>
            <a:spLocks xmlns:a="http://schemas.openxmlformats.org/drawingml/2006/main" noGrp="1"/>
          </p:cNvSpPr>
          <p:nvPr/>
        </p:nvSpPr>
        <p:spPr>
          <a:xfrm xmlns:a="http://schemas.openxmlformats.org/drawingml/2006/main">
            <a:off x="11049000" y="64770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53676F"/>
                </a:solidFill>
                <a:latin typeface="Arial"/>
                <a:ea typeface="Arial"/>
                <a:cs typeface="Arial"/>
              </a:defRPr>
            </a:pPr>
            <a:r>
              <a:rPr sz="1350" b="0">
                <a:solidFill>
                  <a:srgbClr val="53676F"/>
                </a:solidFill>
                <a:latin typeface="Arial"/>
                <a:ea typeface="Arial"/>
                <a:cs typeface="Arial"/>
              </a:rPr>
              <a:t>A3</a:t>
            </a:r>
          </a:p>
        </p:txBody>
      </p:sp>
      <p:graphicFrame>
        <p:nvGraphicFramePr>
          <p:cNvPr id="15" name=""/>
          <p:cNvGraphicFramePr/>
          <p:nvPr/>
        </p:nvGraphicFramePr>
        <p:xfrm>
          <a:off xmlns:a="http://schemas.openxmlformats.org/drawingml/2006/main" x="609600" y="1838325"/>
          <a:ext xmlns:a="http://schemas.openxmlformats.org/drawingml/2006/main" cx="10972800" cy="2705100"/>
        </p:xfrm>
        <a:graphic xmlns:a="http://schemas.openxmlformats.org/drawingml/2006/main">
          <a:graphicData uri="http://schemas.openxmlformats.org/drawingml/2006/table">
            <a:tbl>
              <a:tblPr firstRow="0" firstCol="0" lastRow="0" lastCol="0" bandRow="0" bandCol="0"/>
              <a:tblGrid>
                <a:gridCol w="5238750"/>
                <a:gridCol w="2867025"/>
                <a:gridCol w="2867025"/>
              </a:tblGrid>
              <a:tr h="457200">
                <a:tc>
                  <a:txBody>
                    <a:bodyPr lIns="171450" tIns="114300" rIns="171450" bIns="114300">
                      <a:noAutofit/>
                    </a:bodyPr>
                    <a:lstStyle/>
                    <a:p>
                      <a:r>
                        <a:rPr sz="1725" b="1">
                          <a:solidFill>
                            <a:srgbClr val="53676F"/>
                          </a:solidFill>
                          <a:latin typeface="Arial"/>
                          <a:ea typeface="Arial"/>
                          <a:cs typeface="Arial"/>
                        </a:rPr>
                        <a:t>Human NDCG@10</a:t>
                      </a:r>
                    </a:p>
                  </a:txBody>
                  <a:tcPr marL="91440" marR="91440" marT="45720" marB="45720" anchor="ctr">
                    <a:solidFill>
                      <a:srgbClr val="EDF5F4"/>
                    </a:solidFill>
                  </a:tcPr>
                </a:tc>
                <a:tc>
                  <a:txBody>
                    <a:bodyPr lIns="171450" tIns="114300" rIns="171450" bIns="114300">
                      <a:noAutofit/>
                    </a:bodyPr>
                    <a:lstStyle/>
                    <a:p>
                      <a:r>
                        <a:rPr sz="1725" b="1">
                          <a:solidFill>
                            <a:srgbClr val="53676F"/>
                          </a:solidFill>
                          <a:latin typeface="Arial"/>
                          <a:ea typeface="Arial"/>
                          <a:cs typeface="Arial"/>
                        </a:rPr>
                        <a:t>All 1,179</a:t>
                      </a:r>
                    </a:p>
                  </a:txBody>
                  <a:tcPr marL="91440" marR="91440" marT="45720" marB="45720" anchor="ctr">
                    <a:solidFill>
                      <a:srgbClr val="EDF5F4"/>
                    </a:solidFill>
                  </a:tcPr>
                </a:tc>
                <a:tc>
                  <a:txBody>
                    <a:bodyPr lIns="171450" tIns="114300" rIns="171450" bIns="114300">
                      <a:noAutofit/>
                    </a:bodyPr>
                    <a:lstStyle/>
                    <a:p>
                      <a:r>
                        <a:rPr sz="1725" b="1">
                          <a:solidFill>
                            <a:srgbClr val="53676F"/>
                          </a:solidFill>
                          <a:latin typeface="Arial"/>
                          <a:ea typeface="Arial"/>
                          <a:cs typeface="Arial"/>
                        </a:rPr>
                        <a:t>Clean 1,156</a:t>
                      </a:r>
                    </a:p>
                  </a:txBody>
                  <a:tcPr marL="91440" marR="91440" marT="45720" marB="45720" anchor="ctr">
                    <a:solidFill>
                      <a:srgbClr val="EDF5F4"/>
                    </a:solidFill>
                  </a:tcPr>
                </a:tc>
              </a:tr>
              <a:tr h="561975">
                <a:tc>
                  <a:txBody>
                    <a:bodyPr lIns="171450" tIns="114300" rIns="171450" bIns="114300">
                      <a:noAutofit/>
                    </a:bodyPr>
                    <a:lstStyle/>
                    <a:p>
                      <a:r>
                        <a:rPr sz="1875" b="0">
                          <a:solidFill>
                            <a:srgbClr val="172B32"/>
                          </a:solidFill>
                          <a:latin typeface="Arial"/>
                          <a:ea typeface="Arial"/>
                          <a:cs typeface="Arial"/>
                        </a:rPr>
                        <a:t>BM25</a:t>
                      </a:r>
                    </a:p>
                  </a:txBody>
                  <a:tcPr marL="91440" marR="91440" marT="45720" marB="45720" anchor="ctr">
                    <a:solidFill>
                      <a:srgbClr val="FFFFFF"/>
                    </a:solidFill>
                  </a:tcPr>
                </a:tc>
                <a:tc>
                  <a:txBody>
                    <a:bodyPr lIns="171450" tIns="114300" rIns="171450" bIns="114300">
                      <a:noAutofit/>
                    </a:bodyPr>
                    <a:lstStyle/>
                    <a:p>
                      <a:r>
                        <a:rPr sz="1875" b="0">
                          <a:solidFill>
                            <a:srgbClr val="172B32"/>
                          </a:solidFill>
                          <a:latin typeface="Arial"/>
                          <a:ea typeface="Arial"/>
                          <a:cs typeface="Arial"/>
                        </a:rPr>
                        <a:t>0.644</a:t>
                      </a:r>
                    </a:p>
                  </a:txBody>
                  <a:tcPr marL="91440" marR="91440" marT="45720" marB="45720" anchor="ctr">
                    <a:solidFill>
                      <a:srgbClr val="FFFFFF"/>
                    </a:solidFill>
                  </a:tcPr>
                </a:tc>
                <a:tc>
                  <a:txBody>
                    <a:bodyPr lIns="171450" tIns="114300" rIns="171450" bIns="114300">
                      <a:noAutofit/>
                    </a:bodyPr>
                    <a:lstStyle/>
                    <a:p>
                      <a:r>
                        <a:rPr sz="1875" b="0">
                          <a:solidFill>
                            <a:srgbClr val="172B32"/>
                          </a:solidFill>
                          <a:latin typeface="Arial"/>
                          <a:ea typeface="Arial"/>
                          <a:cs typeface="Arial"/>
                        </a:rPr>
                        <a:t>0.644</a:t>
                      </a:r>
                    </a:p>
                  </a:txBody>
                  <a:tcPr marL="91440" marR="91440" marT="45720" marB="45720" anchor="ctr">
                    <a:solidFill>
                      <a:srgbClr val="FFFFFF"/>
                    </a:solidFill>
                  </a:tcPr>
                </a:tc>
              </a:tr>
              <a:tr h="561975">
                <a:tc>
                  <a:txBody>
                    <a:bodyPr lIns="171450" tIns="114300" rIns="171450" bIns="114300">
                      <a:noAutofit/>
                    </a:bodyPr>
                    <a:lstStyle/>
                    <a:p>
                      <a:r>
                        <a:rPr sz="1875" b="0">
                          <a:solidFill>
                            <a:srgbClr val="172B32"/>
                          </a:solidFill>
                          <a:latin typeface="Arial"/>
                          <a:ea typeface="Arial"/>
                          <a:cs typeface="Arial"/>
                        </a:rPr>
                        <a:t>E5</a:t>
                      </a:r>
                    </a:p>
                  </a:txBody>
                  <a:tcPr marL="91440" marR="91440" marT="45720" marB="45720" anchor="ctr">
                    <a:solidFill>
                      <a:srgbClr val="FFFFFF"/>
                    </a:solidFill>
                  </a:tcPr>
                </a:tc>
                <a:tc>
                  <a:txBody>
                    <a:bodyPr lIns="171450" tIns="114300" rIns="171450" bIns="114300">
                      <a:noAutofit/>
                    </a:bodyPr>
                    <a:lstStyle/>
                    <a:p>
                      <a:r>
                        <a:rPr sz="1875" b="0">
                          <a:solidFill>
                            <a:srgbClr val="172B32"/>
                          </a:solidFill>
                          <a:latin typeface="Arial"/>
                          <a:ea typeface="Arial"/>
                          <a:cs typeface="Arial"/>
                        </a:rPr>
                        <a:t>0.879</a:t>
                      </a:r>
                    </a:p>
                  </a:txBody>
                  <a:tcPr marL="91440" marR="91440" marT="45720" marB="45720" anchor="ctr">
                    <a:solidFill>
                      <a:srgbClr val="FFFFFF"/>
                    </a:solidFill>
                  </a:tcPr>
                </a:tc>
                <a:tc>
                  <a:txBody>
                    <a:bodyPr lIns="171450" tIns="114300" rIns="171450" bIns="114300">
                      <a:noAutofit/>
                    </a:bodyPr>
                    <a:lstStyle/>
                    <a:p>
                      <a:r>
                        <a:rPr sz="1875" b="0">
                          <a:solidFill>
                            <a:srgbClr val="172B32"/>
                          </a:solidFill>
                          <a:latin typeface="Arial"/>
                          <a:ea typeface="Arial"/>
                          <a:cs typeface="Arial"/>
                        </a:rPr>
                        <a:t>0.879</a:t>
                      </a:r>
                    </a:p>
                  </a:txBody>
                  <a:tcPr marL="91440" marR="91440" marT="45720" marB="45720" anchor="ctr">
                    <a:solidFill>
                      <a:srgbClr val="FFFFFF"/>
                    </a:solidFill>
                  </a:tcPr>
                </a:tc>
              </a:tr>
              <a:tr h="561975">
                <a:tc>
                  <a:txBody>
                    <a:bodyPr lIns="171450" tIns="114300" rIns="171450" bIns="114300">
                      <a:noAutofit/>
                    </a:bodyPr>
                    <a:lstStyle/>
                    <a:p>
                      <a:r>
                        <a:rPr sz="1875" b="0">
                          <a:solidFill>
                            <a:srgbClr val="172B32"/>
                          </a:solidFill>
                          <a:latin typeface="Arial"/>
                          <a:ea typeface="Arial"/>
                          <a:cs typeface="Arial"/>
                        </a:rPr>
                        <a:t>BGE</a:t>
                      </a:r>
                    </a:p>
                  </a:txBody>
                  <a:tcPr marL="91440" marR="91440" marT="45720" marB="45720" anchor="ctr">
                    <a:solidFill>
                      <a:srgbClr val="FFFFFF"/>
                    </a:solidFill>
                  </a:tcPr>
                </a:tc>
                <a:tc>
                  <a:txBody>
                    <a:bodyPr lIns="171450" tIns="114300" rIns="171450" bIns="114300">
                      <a:noAutofit/>
                    </a:bodyPr>
                    <a:lstStyle/>
                    <a:p>
                      <a:r>
                        <a:rPr sz="1875" b="0">
                          <a:solidFill>
                            <a:srgbClr val="172B32"/>
                          </a:solidFill>
                          <a:latin typeface="Arial"/>
                          <a:ea typeface="Arial"/>
                          <a:cs typeface="Arial"/>
                        </a:rPr>
                        <a:t>0.828</a:t>
                      </a:r>
                    </a:p>
                  </a:txBody>
                  <a:tcPr marL="91440" marR="91440" marT="45720" marB="45720" anchor="ctr">
                    <a:solidFill>
                      <a:srgbClr val="FFFFFF"/>
                    </a:solidFill>
                  </a:tcPr>
                </a:tc>
                <a:tc>
                  <a:txBody>
                    <a:bodyPr lIns="171450" tIns="114300" rIns="171450" bIns="114300">
                      <a:noAutofit/>
                    </a:bodyPr>
                    <a:lstStyle/>
                    <a:p>
                      <a:r>
                        <a:rPr sz="1875" b="0">
                          <a:solidFill>
                            <a:srgbClr val="172B32"/>
                          </a:solidFill>
                          <a:latin typeface="Arial"/>
                          <a:ea typeface="Arial"/>
                          <a:cs typeface="Arial"/>
                        </a:rPr>
                        <a:t>0.828</a:t>
                      </a:r>
                    </a:p>
                  </a:txBody>
                  <a:tcPr marL="91440" marR="91440" marT="45720" marB="45720" anchor="ctr">
                    <a:solidFill>
                      <a:srgbClr val="FFFFFF"/>
                    </a:solidFill>
                  </a:tcPr>
                </a:tc>
              </a:tr>
              <a:tr h="561975">
                <a:tc>
                  <a:txBody>
                    <a:bodyPr lIns="171450" tIns="114300" rIns="171450" bIns="114300">
                      <a:noAutofit/>
                    </a:bodyPr>
                    <a:lstStyle/>
                    <a:p>
                      <a:r>
                        <a:rPr sz="1875" b="0">
                          <a:solidFill>
                            <a:srgbClr val="172B32"/>
                          </a:solidFill>
                          <a:latin typeface="Arial"/>
                          <a:ea typeface="Arial"/>
                          <a:cs typeface="Arial"/>
                        </a:rPr>
                        <a:t>RRF (3)</a:t>
                      </a:r>
                    </a:p>
                  </a:txBody>
                  <a:tcPr marL="91440" marR="91440" marT="45720" marB="45720" anchor="ctr">
                    <a:solidFill>
                      <a:srgbClr val="FFFFFF"/>
                    </a:solidFill>
                  </a:tcPr>
                </a:tc>
                <a:tc>
                  <a:txBody>
                    <a:bodyPr lIns="171450" tIns="114300" rIns="171450" bIns="114300">
                      <a:noAutofit/>
                    </a:bodyPr>
                    <a:lstStyle/>
                    <a:p>
                      <a:r>
                        <a:rPr sz="1875" b="0">
                          <a:solidFill>
                            <a:srgbClr val="172B32"/>
                          </a:solidFill>
                          <a:latin typeface="Arial"/>
                          <a:ea typeface="Arial"/>
                          <a:cs typeface="Arial"/>
                        </a:rPr>
                        <a:t>0.854</a:t>
                      </a:r>
                    </a:p>
                  </a:txBody>
                  <a:tcPr marL="91440" marR="91440" marT="45720" marB="45720" anchor="ctr">
                    <a:solidFill>
                      <a:srgbClr val="FFFFFF"/>
                    </a:solidFill>
                  </a:tcPr>
                </a:tc>
                <a:tc>
                  <a:txBody>
                    <a:bodyPr lIns="171450" tIns="114300" rIns="171450" bIns="114300">
                      <a:noAutofit/>
                    </a:bodyPr>
                    <a:lstStyle/>
                    <a:p>
                      <a:r>
                        <a:rPr sz="1875" b="0">
                          <a:solidFill>
                            <a:srgbClr val="172B32"/>
                          </a:solidFill>
                          <a:latin typeface="Arial"/>
                          <a:ea typeface="Arial"/>
                          <a:cs typeface="Arial"/>
                        </a:rPr>
                        <a:t>0.855</a:t>
                      </a:r>
                    </a:p>
                  </a:txBody>
                  <a:tcPr marL="91440" marR="91440" marT="45720" marB="45720" anchor="ctr">
                    <a:solidFill>
                      <a:srgbClr val="FFFFFF"/>
                    </a:solidFill>
                  </a:tcPr>
                </a:tc>
              </a:tr>
            </a:tbl>
          </a:graphicData>
        </a:graphic>
      </p:graphicFrame>
      <p:sp>
        <p:nvSpPr>
          <p:cNvPr id="7" name="After excluding all manual queries: 99,914 queri">
            <a:extLst xmlns:a="http://schemas.openxmlformats.org/drawingml/2006/main">
              <a:ext uri="{FF2B5EF4-FFF2-40B4-BE49-F238E27FC236}">
                <a16:creationId xmlns:a16="http://schemas.microsoft.com/office/drawing/2014/main" id="{482DC96B-B668-437A-81BE-5903C18D2954}"/>
              </a:ext>
            </a:extLst>
          </p:cNvPr>
          <p:cNvSpPr>
            <a:spLocks xmlns:a="http://schemas.openxmlformats.org/drawingml/2006/main" noGrp="1"/>
          </p:cNvSpPr>
          <p:nvPr/>
        </p:nvSpPr>
        <p:spPr>
          <a:xfrm xmlns:a="http://schemas.openxmlformats.org/drawingml/2006/main">
            <a:off x="609600" y="4857750"/>
            <a:ext cx="10953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72B32"/>
                </a:solidFill>
                <a:latin typeface="Arial"/>
                <a:ea typeface="Arial"/>
                <a:cs typeface="Arial"/>
              </a:defRPr>
            </a:pPr>
            <a:r>
              <a:rPr sz="2250" b="1">
                <a:solidFill>
                  <a:srgbClr val="172B32"/>
                </a:solidFill>
                <a:latin typeface="Arial"/>
                <a:ea typeface="Arial"/>
                <a:cs typeface="Arial"/>
              </a:rPr>
              <a:t>After excluding all manual queries: 99,914 queries</a:t>
            </a:r>
          </a:p>
        </p:txBody>
      </p:sp>
      <p:sp>
        <p:nvSpPr>
          <p:cNvPr id="8" name="RRF minus E5: -0.020 at K = 10, +0.009 at K = 20">
            <a:extLst xmlns:a="http://schemas.openxmlformats.org/drawingml/2006/main">
              <a:ext uri="{FF2B5EF4-FFF2-40B4-BE49-F238E27FC236}">
                <a16:creationId xmlns:a16="http://schemas.microsoft.com/office/drawing/2014/main" id="{71FD68A7-2EF7-4D10-8A98-4D875018F40D}"/>
              </a:ext>
            </a:extLst>
          </p:cNvPr>
          <p:cNvSpPr>
            <a:spLocks xmlns:a="http://schemas.openxmlformats.org/drawingml/2006/main" noGrp="1"/>
          </p:cNvSpPr>
          <p:nvPr/>
        </p:nvSpPr>
        <p:spPr>
          <a:xfrm xmlns:a="http://schemas.openxmlformats.org/drawingml/2006/main">
            <a:off x="609600" y="5400675"/>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087F82"/>
                </a:solidFill>
                <a:latin typeface="Arial"/>
                <a:ea typeface="Arial"/>
                <a:cs typeface="Arial"/>
              </a:defRPr>
            </a:pPr>
            <a:r>
              <a:rPr sz="2175" b="0">
                <a:solidFill>
                  <a:srgbClr val="087F82"/>
                </a:solidFill>
                <a:latin typeface="Arial"/>
                <a:ea typeface="Arial"/>
                <a:cs typeface="Arial"/>
              </a:rPr>
              <a:t>RRF minus E5: -0.020 at K = 10, +0.009 at K = 200</a:t>
            </a:r>
          </a:p>
        </p:txBody>
      </p:sp>
      <p:sp>
        <p:nvSpPr>
          <p:cNvPr id="9" name="Pseudo-label dependence remains after this exclu">
            <a:extLst xmlns:a="http://schemas.openxmlformats.org/drawingml/2006/main">
              <a:ext uri="{FF2B5EF4-FFF2-40B4-BE49-F238E27FC236}">
                <a16:creationId xmlns:a16="http://schemas.microsoft.com/office/drawing/2014/main" id="{C601008A-6496-4A8A-A634-4D277D8B394D}"/>
              </a:ext>
            </a:extLst>
          </p:cNvPr>
          <p:cNvSpPr>
            <a:spLocks xmlns:a="http://schemas.openxmlformats.org/drawingml/2006/main" noGrp="1"/>
          </p:cNvSpPr>
          <p:nvPr/>
        </p:nvSpPr>
        <p:spPr>
          <a:xfrm xmlns:a="http://schemas.openxmlformats.org/drawingml/2006/main">
            <a:off x="609600" y="5972175"/>
            <a:ext cx="1095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53676F"/>
                </a:solidFill>
                <a:latin typeface="Arial"/>
                <a:ea typeface="Arial"/>
                <a:cs typeface="Arial"/>
              </a:defRPr>
            </a:pPr>
            <a:r>
              <a:rPr sz="1725" b="0">
                <a:solidFill>
                  <a:srgbClr val="53676F"/>
                </a:solidFill>
                <a:latin typeface="Arial"/>
                <a:ea typeface="Arial"/>
                <a:cs typeface="Arial"/>
              </a:rPr>
              <a:t>Pseudo-label dependence remains after this exclusion.</a:t>
            </a:r>
          </a:p>
        </p:txBody>
      </p:sp>
    </p:spTree>
    <p:extLst>
      <p:ext uri="{BB962C8B-B14F-4D97-AF65-F5344CB8AC3E}">
        <p14:creationId xmlns:p14="http://schemas.microsoft.com/office/powerpoint/2010/main" val="1718656208"/>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Selected references">
            <a:extLst xmlns:a="http://schemas.openxmlformats.org/drawingml/2006/main">
              <a:ext uri="{FF2B5EF4-FFF2-40B4-BE49-F238E27FC236}">
                <a16:creationId xmlns:a16="http://schemas.microsoft.com/office/drawing/2014/main" id="{FD8ED8A2-BC5B-4815-80FF-0B1543503AF0}"/>
              </a:ext>
            </a:extLst>
          </p:cNvPr>
          <p:cNvSpPr>
            <a:spLocks xmlns:a="http://schemas.openxmlformats.org/drawingml/2006/main" noGrp="1"/>
          </p:cNvSpPr>
          <p:nvPr/>
        </p:nvSpPr>
        <p:spPr>
          <a:xfrm xmlns:a="http://schemas.openxmlformats.org/drawingml/2006/main">
            <a:off x="609600" y="7048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B32"/>
                </a:solidFill>
                <a:latin typeface="Arial"/>
                <a:ea typeface="Arial"/>
                <a:cs typeface="Arial"/>
              </a:defRPr>
            </a:pPr>
            <a:r>
              <a:rPr sz="3300" b="1">
                <a:solidFill>
                  <a:srgbClr val="172B32"/>
                </a:solidFill>
                <a:latin typeface="Arial"/>
                <a:ea typeface="Arial"/>
                <a:cs typeface="Arial"/>
              </a:rPr>
              <a:t>Selected references</a:t>
            </a:r>
          </a:p>
        </p:txBody>
      </p:sp>
      <p:sp>
        <p:nvSpPr>
          <p:cNvPr id="2" name="APPENDIX D">
            <a:extLst xmlns:a="http://schemas.openxmlformats.org/drawingml/2006/main">
              <a:ext uri="{FF2B5EF4-FFF2-40B4-BE49-F238E27FC236}">
                <a16:creationId xmlns:a16="http://schemas.microsoft.com/office/drawing/2014/main" id="{9A69EB0C-6617-480F-90D3-C669E14C13FB}"/>
              </a:ext>
            </a:extLst>
          </p:cNvPr>
          <p:cNvSpPr>
            <a:spLocks xmlns:a="http://schemas.openxmlformats.org/drawingml/2006/main" noGrp="1"/>
          </p:cNvSpPr>
          <p:nvPr/>
        </p:nvSpPr>
        <p:spPr>
          <a:xfrm xmlns:a="http://schemas.openxmlformats.org/drawingml/2006/main">
            <a:off x="609600" y="285750"/>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F82"/>
                </a:solidFill>
                <a:latin typeface="Arial"/>
                <a:ea typeface="Arial"/>
                <a:cs typeface="Arial"/>
              </a:defRPr>
            </a:pPr>
            <a:r>
              <a:rPr sz="1350" b="1">
                <a:solidFill>
                  <a:srgbClr val="087F82"/>
                </a:solidFill>
                <a:latin typeface="Arial"/>
                <a:ea typeface="Arial"/>
                <a:cs typeface="Arial"/>
              </a:rPr>
              <a:t>APPENDIX D</a:t>
            </a:r>
          </a:p>
        </p:txBody>
      </p:sp>
      <p:sp>
        <p:nvSpPr>
          <p:cNvPr id="3" name="">
            <a:extLst xmlns:a="http://schemas.openxmlformats.org/drawingml/2006/main">
              <a:ext uri="{FF2B5EF4-FFF2-40B4-BE49-F238E27FC236}">
                <a16:creationId xmlns:a16="http://schemas.microsoft.com/office/drawing/2014/main" id="{6A3A8CB0-592D-47B6-8B02-17DA3FE2702D}"/>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12383">
            <a:solidFill>
              <a:srgbClr val="D7E2E4"/>
            </a:solidFill>
          </a:ln>
        </p:spPr>
      </p:sp>
      <p:sp>
        <p:nvSpPr>
          <p:cNvPr id="4" name="DAMDID 2026">
            <a:extLst xmlns:a="http://schemas.openxmlformats.org/drawingml/2006/main">
              <a:ext uri="{FF2B5EF4-FFF2-40B4-BE49-F238E27FC236}">
                <a16:creationId xmlns:a16="http://schemas.microsoft.com/office/drawing/2014/main" id="{3C00F12B-2634-4CA6-B006-9E7ADEB6F863}"/>
              </a:ext>
            </a:extLst>
          </p:cNvPr>
          <p:cNvSpPr>
            <a:spLocks xmlns:a="http://schemas.openxmlformats.org/drawingml/2006/main" noGrp="1"/>
          </p:cNvSpPr>
          <p:nvPr/>
        </p:nvSpPr>
        <p:spPr>
          <a:xfrm xmlns:a="http://schemas.openxmlformats.org/drawingml/2006/main">
            <a:off x="609600" y="65055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3676F"/>
                </a:solidFill>
                <a:latin typeface="Arial"/>
                <a:ea typeface="Arial"/>
                <a:cs typeface="Arial"/>
              </a:defRPr>
            </a:pPr>
            <a:r>
              <a:rPr sz="1125" b="0">
                <a:solidFill>
                  <a:srgbClr val="53676F"/>
                </a:solidFill>
                <a:latin typeface="Arial"/>
                <a:ea typeface="Arial"/>
                <a:cs typeface="Arial"/>
              </a:rPr>
              <a:t>DAMDID 2026</a:t>
            </a:r>
          </a:p>
        </p:txBody>
      </p:sp>
      <p:sp>
        <p:nvSpPr>
          <p:cNvPr id="5" name="A4">
            <a:extLst xmlns:a="http://schemas.openxmlformats.org/drawingml/2006/main">
              <a:ext uri="{FF2B5EF4-FFF2-40B4-BE49-F238E27FC236}">
                <a16:creationId xmlns:a16="http://schemas.microsoft.com/office/drawing/2014/main" id="{8523781A-0A89-4729-A299-1017DA048639}"/>
              </a:ext>
            </a:extLst>
          </p:cNvPr>
          <p:cNvSpPr>
            <a:spLocks xmlns:a="http://schemas.openxmlformats.org/drawingml/2006/main" noGrp="1"/>
          </p:cNvSpPr>
          <p:nvPr/>
        </p:nvSpPr>
        <p:spPr>
          <a:xfrm xmlns:a="http://schemas.openxmlformats.org/drawingml/2006/main">
            <a:off x="11049000" y="64770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53676F"/>
                </a:solidFill>
                <a:latin typeface="Arial"/>
                <a:ea typeface="Arial"/>
                <a:cs typeface="Arial"/>
              </a:defRPr>
            </a:pPr>
            <a:r>
              <a:rPr sz="1350" b="0">
                <a:solidFill>
                  <a:srgbClr val="53676F"/>
                </a:solidFill>
                <a:latin typeface="Arial"/>
                <a:ea typeface="Arial"/>
                <a:cs typeface="Arial"/>
              </a:rPr>
              <a:t>A4</a:t>
            </a:r>
          </a:p>
        </p:txBody>
      </p:sp>
      <p:sp>
        <p:nvSpPr>
          <p:cNvPr id="6" name="MS MARCO">
            <a:extLst xmlns:a="http://schemas.openxmlformats.org/drawingml/2006/main">
              <a:ext uri="{FF2B5EF4-FFF2-40B4-BE49-F238E27FC236}">
                <a16:creationId xmlns:a16="http://schemas.microsoft.com/office/drawing/2014/main" id="{E32FDE9A-D878-4F0F-B485-AFE7BDC57DF6}"/>
              </a:ext>
            </a:extLst>
          </p:cNvPr>
          <p:cNvSpPr>
            <a:spLocks xmlns:a="http://schemas.openxmlformats.org/drawingml/2006/main" noGrp="1"/>
          </p:cNvSpPr>
          <p:nvPr/>
        </p:nvSpPr>
        <p:spPr>
          <a:xfrm xmlns:a="http://schemas.openxmlformats.org/drawingml/2006/main">
            <a:off x="609600" y="1857375"/>
            <a:ext cx="285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87F82"/>
                </a:solidFill>
                <a:latin typeface="Arial"/>
                <a:ea typeface="Arial"/>
                <a:cs typeface="Arial"/>
              </a:defRPr>
            </a:pPr>
            <a:r>
              <a:rPr sz="2025" b="1">
                <a:solidFill>
                  <a:srgbClr val="087F82"/>
                </a:solidFill>
                <a:latin typeface="Arial"/>
                <a:ea typeface="Arial"/>
                <a:cs typeface="Arial"/>
              </a:rPr>
              <a:t>MS MARCO</a:t>
            </a:r>
          </a:p>
        </p:txBody>
      </p:sp>
      <p:sp>
        <p:nvSpPr>
          <p:cNvPr id="7" name="Bajaj et al., 2016. arXiv:1611.09268">
            <a:extLst xmlns:a="http://schemas.openxmlformats.org/drawingml/2006/main">
              <a:ext uri="{FF2B5EF4-FFF2-40B4-BE49-F238E27FC236}">
                <a16:creationId xmlns:a16="http://schemas.microsoft.com/office/drawing/2014/main" id="{33145C8D-5D39-42AD-9772-3E0C8BF69A94}"/>
              </a:ext>
            </a:extLst>
          </p:cNvPr>
          <p:cNvSpPr>
            <a:spLocks xmlns:a="http://schemas.openxmlformats.org/drawingml/2006/main" noGrp="1"/>
          </p:cNvSpPr>
          <p:nvPr/>
        </p:nvSpPr>
        <p:spPr>
          <a:xfrm xmlns:a="http://schemas.openxmlformats.org/drawingml/2006/main">
            <a:off x="3838575" y="1857375"/>
            <a:ext cx="77438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72B32"/>
                </a:solidFill>
                <a:latin typeface="Arial"/>
                <a:ea typeface="Arial"/>
                <a:cs typeface="Arial"/>
              </a:defRPr>
            </a:pPr>
            <a:r>
              <a:rPr sz="1875" b="0">
                <a:solidFill>
                  <a:srgbClr val="172B32"/>
                </a:solidFill>
                <a:latin typeface="Arial"/>
                <a:ea typeface="Arial"/>
                <a:cs typeface="Arial"/>
              </a:rPr>
              <a:t>Bajaj et al., 2016. arXiv:1611.09268</a:t>
            </a:r>
          </a:p>
        </p:txBody>
      </p:sp>
      <p:sp>
        <p:nvSpPr>
          <p:cNvPr id="8" name="">
            <a:extLst xmlns:a="http://schemas.openxmlformats.org/drawingml/2006/main">
              <a:ext uri="{FF2B5EF4-FFF2-40B4-BE49-F238E27FC236}">
                <a16:creationId xmlns:a16="http://schemas.microsoft.com/office/drawing/2014/main" id="{94780682-61F8-42E1-8916-74E6F39DF7E5}"/>
              </a:ext>
            </a:extLst>
          </p:cNvPr>
          <p:cNvSpPr>
            <a:spLocks xmlns:a="http://schemas.openxmlformats.org/drawingml/2006/main" noGrp="1"/>
          </p:cNvSpPr>
          <p:nvPr/>
        </p:nvSpPr>
        <p:spPr>
          <a:xfrm xmlns:a="http://schemas.openxmlformats.org/drawingml/2006/main">
            <a:off x="609600" y="2600325"/>
            <a:ext cx="10972800" cy="0"/>
          </a:xfrm>
          <a:prstGeom xmlns:a="http://schemas.openxmlformats.org/drawingml/2006/main" prst="line">
            <a:avLst/>
          </a:prstGeom>
          <a:noFill xmlns:a="http://schemas.openxmlformats.org/drawingml/2006/main"/>
          <a:ln xmlns:a="http://schemas.openxmlformats.org/drawingml/2006/main" w="12383">
            <a:solidFill>
              <a:srgbClr val="D7E2E4"/>
            </a:solidFill>
          </a:ln>
        </p:spPr>
      </p:sp>
      <p:sp>
        <p:nvSpPr>
          <p:cNvPr id="9" name="BM25">
            <a:extLst xmlns:a="http://schemas.openxmlformats.org/drawingml/2006/main">
              <a:ext uri="{FF2B5EF4-FFF2-40B4-BE49-F238E27FC236}">
                <a16:creationId xmlns:a16="http://schemas.microsoft.com/office/drawing/2014/main" id="{93771FED-7CA6-45C2-9C01-7E0D68931FC2}"/>
              </a:ext>
            </a:extLst>
          </p:cNvPr>
          <p:cNvSpPr>
            <a:spLocks xmlns:a="http://schemas.openxmlformats.org/drawingml/2006/main" noGrp="1"/>
          </p:cNvSpPr>
          <p:nvPr/>
        </p:nvSpPr>
        <p:spPr>
          <a:xfrm xmlns:a="http://schemas.openxmlformats.org/drawingml/2006/main">
            <a:off x="609600" y="2724150"/>
            <a:ext cx="285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87F82"/>
                </a:solidFill>
                <a:latin typeface="Arial"/>
                <a:ea typeface="Arial"/>
                <a:cs typeface="Arial"/>
              </a:defRPr>
            </a:pPr>
            <a:r>
              <a:rPr sz="2025" b="1">
                <a:solidFill>
                  <a:srgbClr val="087F82"/>
                </a:solidFill>
                <a:latin typeface="Arial"/>
                <a:ea typeface="Arial"/>
                <a:cs typeface="Arial"/>
              </a:rPr>
              <a:t>BM25</a:t>
            </a:r>
          </a:p>
        </p:txBody>
      </p:sp>
      <p:sp>
        <p:nvSpPr>
          <p:cNvPr id="10" name="Robertson and Zaragoza, 2009. BM25 and Beyond">
            <a:extLst xmlns:a="http://schemas.openxmlformats.org/drawingml/2006/main">
              <a:ext uri="{FF2B5EF4-FFF2-40B4-BE49-F238E27FC236}">
                <a16:creationId xmlns:a16="http://schemas.microsoft.com/office/drawing/2014/main" id="{DE49253B-BE65-4D8B-B017-B5E35117715B}"/>
              </a:ext>
            </a:extLst>
          </p:cNvPr>
          <p:cNvSpPr>
            <a:spLocks xmlns:a="http://schemas.openxmlformats.org/drawingml/2006/main" noGrp="1"/>
          </p:cNvSpPr>
          <p:nvPr/>
        </p:nvSpPr>
        <p:spPr>
          <a:xfrm xmlns:a="http://schemas.openxmlformats.org/drawingml/2006/main">
            <a:off x="3838575" y="2724150"/>
            <a:ext cx="77438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72B32"/>
                </a:solidFill>
                <a:latin typeface="Arial"/>
                <a:ea typeface="Arial"/>
                <a:cs typeface="Arial"/>
              </a:defRPr>
            </a:pPr>
            <a:r>
              <a:rPr sz="1875" b="0">
                <a:solidFill>
                  <a:srgbClr val="172B32"/>
                </a:solidFill>
                <a:latin typeface="Arial"/>
                <a:ea typeface="Arial"/>
                <a:cs typeface="Arial"/>
              </a:rPr>
              <a:t>Robertson and Zaragoza, 2009. BM25 and Beyond</a:t>
            </a:r>
          </a:p>
        </p:txBody>
      </p:sp>
      <p:sp>
        <p:nvSpPr>
          <p:cNvPr id="11" name="">
            <a:extLst xmlns:a="http://schemas.openxmlformats.org/drawingml/2006/main">
              <a:ext uri="{FF2B5EF4-FFF2-40B4-BE49-F238E27FC236}">
                <a16:creationId xmlns:a16="http://schemas.microsoft.com/office/drawing/2014/main" id="{05024CCD-1BBD-42F1-AE69-E8B6E7BB68C1}"/>
              </a:ext>
            </a:extLst>
          </p:cNvPr>
          <p:cNvSpPr>
            <a:spLocks xmlns:a="http://schemas.openxmlformats.org/drawingml/2006/main" noGrp="1"/>
          </p:cNvSpPr>
          <p:nvPr/>
        </p:nvSpPr>
        <p:spPr>
          <a:xfrm xmlns:a="http://schemas.openxmlformats.org/drawingml/2006/main">
            <a:off x="609600" y="3467100"/>
            <a:ext cx="10972800" cy="0"/>
          </a:xfrm>
          <a:prstGeom xmlns:a="http://schemas.openxmlformats.org/drawingml/2006/main" prst="line">
            <a:avLst/>
          </a:prstGeom>
          <a:noFill xmlns:a="http://schemas.openxmlformats.org/drawingml/2006/main"/>
          <a:ln xmlns:a="http://schemas.openxmlformats.org/drawingml/2006/main" w="12383">
            <a:solidFill>
              <a:srgbClr val="D7E2E4"/>
            </a:solidFill>
          </a:ln>
        </p:spPr>
      </p:sp>
      <p:sp>
        <p:nvSpPr>
          <p:cNvPr id="12" name="E5 and BGE">
            <a:extLst xmlns:a="http://schemas.openxmlformats.org/drawingml/2006/main">
              <a:ext uri="{FF2B5EF4-FFF2-40B4-BE49-F238E27FC236}">
                <a16:creationId xmlns:a16="http://schemas.microsoft.com/office/drawing/2014/main" id="{521B23C2-36B9-40AD-A4E2-A03872C40403}"/>
              </a:ext>
            </a:extLst>
          </p:cNvPr>
          <p:cNvSpPr>
            <a:spLocks xmlns:a="http://schemas.openxmlformats.org/drawingml/2006/main" noGrp="1"/>
          </p:cNvSpPr>
          <p:nvPr/>
        </p:nvSpPr>
        <p:spPr>
          <a:xfrm xmlns:a="http://schemas.openxmlformats.org/drawingml/2006/main">
            <a:off x="609600" y="3590925"/>
            <a:ext cx="285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87F82"/>
                </a:solidFill>
                <a:latin typeface="Arial"/>
                <a:ea typeface="Arial"/>
                <a:cs typeface="Arial"/>
              </a:defRPr>
            </a:pPr>
            <a:r>
              <a:rPr sz="2025" b="1">
                <a:solidFill>
                  <a:srgbClr val="087F82"/>
                </a:solidFill>
                <a:latin typeface="Arial"/>
                <a:ea typeface="Arial"/>
                <a:cs typeface="Arial"/>
              </a:rPr>
              <a:t>E5 and BGE</a:t>
            </a:r>
          </a:p>
        </p:txBody>
      </p:sp>
      <p:sp>
        <p:nvSpPr>
          <p:cNvPr id="13" name="Wang et al., 2022. E5&#10;BAAI/bge-small-en-v1.5 mod">
            <a:extLst xmlns:a="http://schemas.openxmlformats.org/drawingml/2006/main">
              <a:ext uri="{FF2B5EF4-FFF2-40B4-BE49-F238E27FC236}">
                <a16:creationId xmlns:a16="http://schemas.microsoft.com/office/drawing/2014/main" id="{352FAD90-4505-43D5-9FB9-C8C4AFDA8E1C}"/>
              </a:ext>
            </a:extLst>
          </p:cNvPr>
          <p:cNvSpPr>
            <a:spLocks xmlns:a="http://schemas.openxmlformats.org/drawingml/2006/main" noGrp="1"/>
          </p:cNvSpPr>
          <p:nvPr/>
        </p:nvSpPr>
        <p:spPr>
          <a:xfrm xmlns:a="http://schemas.openxmlformats.org/drawingml/2006/main">
            <a:off x="3838575" y="3590925"/>
            <a:ext cx="77438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72B32"/>
                </a:solidFill>
                <a:latin typeface="Arial"/>
                <a:ea typeface="Arial"/>
                <a:cs typeface="Arial"/>
              </a:defRPr>
            </a:pPr>
            <a:r>
              <a:rPr sz="1875" b="0">
                <a:solidFill>
                  <a:srgbClr val="172B32"/>
                </a:solidFill>
                <a:latin typeface="Arial"/>
                <a:ea typeface="Arial"/>
                <a:cs typeface="Arial"/>
              </a:rPr>
              <a:t>Wang et al., 2022. E5</a:t>
            </a:r>
          </a:p>
          <a:p xmlns:a="http://schemas.openxmlformats.org/drawingml/2006/main">
            <a:pPr>
              <a:defRPr sz="1875" b="0">
                <a:solidFill>
                  <a:srgbClr val="172B32"/>
                </a:solidFill>
                <a:latin typeface="Arial"/>
                <a:ea typeface="Arial"/>
                <a:cs typeface="Arial"/>
              </a:defRPr>
            </a:pPr>
            <a:r>
              <a:rPr sz="1875" b="0">
                <a:solidFill>
                  <a:srgbClr val="172B32"/>
                </a:solidFill>
                <a:latin typeface="Arial"/>
                <a:ea typeface="Arial"/>
                <a:cs typeface="Arial"/>
              </a:rPr>
              <a:t>BAAI/bge-small-en-v1.5 model card</a:t>
            </a:r>
          </a:p>
        </p:txBody>
      </p:sp>
      <p:sp>
        <p:nvSpPr>
          <p:cNvPr id="14" name="">
            <a:extLst xmlns:a="http://schemas.openxmlformats.org/drawingml/2006/main">
              <a:ext uri="{FF2B5EF4-FFF2-40B4-BE49-F238E27FC236}">
                <a16:creationId xmlns:a16="http://schemas.microsoft.com/office/drawing/2014/main" id="{514FB985-7CBD-4659-8A4C-A4A71AAA92F4}"/>
              </a:ext>
            </a:extLst>
          </p:cNvPr>
          <p:cNvSpPr>
            <a:spLocks xmlns:a="http://schemas.openxmlformats.org/drawingml/2006/main" noGrp="1"/>
          </p:cNvSpPr>
          <p:nvPr/>
        </p:nvSpPr>
        <p:spPr>
          <a:xfrm xmlns:a="http://schemas.openxmlformats.org/drawingml/2006/main">
            <a:off x="609600" y="4333875"/>
            <a:ext cx="10972800" cy="0"/>
          </a:xfrm>
          <a:prstGeom xmlns:a="http://schemas.openxmlformats.org/drawingml/2006/main" prst="line">
            <a:avLst/>
          </a:prstGeom>
          <a:noFill xmlns:a="http://schemas.openxmlformats.org/drawingml/2006/main"/>
          <a:ln xmlns:a="http://schemas.openxmlformats.org/drawingml/2006/main" w="12383">
            <a:solidFill>
              <a:srgbClr val="D7E2E4"/>
            </a:solidFill>
          </a:ln>
        </p:spPr>
      </p:sp>
      <p:sp>
        <p:nvSpPr>
          <p:cNvPr id="15" name="Rank fusion">
            <a:extLst xmlns:a="http://schemas.openxmlformats.org/drawingml/2006/main">
              <a:ext uri="{FF2B5EF4-FFF2-40B4-BE49-F238E27FC236}">
                <a16:creationId xmlns:a16="http://schemas.microsoft.com/office/drawing/2014/main" id="{F74E4971-2611-4119-B700-271C78C94142}"/>
              </a:ext>
            </a:extLst>
          </p:cNvPr>
          <p:cNvSpPr>
            <a:spLocks xmlns:a="http://schemas.openxmlformats.org/drawingml/2006/main" noGrp="1"/>
          </p:cNvSpPr>
          <p:nvPr/>
        </p:nvSpPr>
        <p:spPr>
          <a:xfrm xmlns:a="http://schemas.openxmlformats.org/drawingml/2006/main">
            <a:off x="609600" y="4457700"/>
            <a:ext cx="285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87F82"/>
                </a:solidFill>
                <a:latin typeface="Arial"/>
                <a:ea typeface="Arial"/>
                <a:cs typeface="Arial"/>
              </a:defRPr>
            </a:pPr>
            <a:r>
              <a:rPr sz="2025" b="1">
                <a:solidFill>
                  <a:srgbClr val="087F82"/>
                </a:solidFill>
                <a:latin typeface="Arial"/>
                <a:ea typeface="Arial"/>
                <a:cs typeface="Arial"/>
              </a:rPr>
              <a:t>Rank fusion</a:t>
            </a:r>
          </a:p>
        </p:txBody>
      </p:sp>
      <p:sp>
        <p:nvSpPr>
          <p:cNvPr id="16" name="Cormack, Clarke and Buttcher, 2009. SIGIR">
            <a:extLst xmlns:a="http://schemas.openxmlformats.org/drawingml/2006/main">
              <a:ext uri="{FF2B5EF4-FFF2-40B4-BE49-F238E27FC236}">
                <a16:creationId xmlns:a16="http://schemas.microsoft.com/office/drawing/2014/main" id="{982CFED7-5F95-4108-85AB-A9C45932A759}"/>
              </a:ext>
            </a:extLst>
          </p:cNvPr>
          <p:cNvSpPr>
            <a:spLocks xmlns:a="http://schemas.openxmlformats.org/drawingml/2006/main" noGrp="1"/>
          </p:cNvSpPr>
          <p:nvPr/>
        </p:nvSpPr>
        <p:spPr>
          <a:xfrm xmlns:a="http://schemas.openxmlformats.org/drawingml/2006/main">
            <a:off x="3838575" y="4457700"/>
            <a:ext cx="77438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72B32"/>
                </a:solidFill>
                <a:latin typeface="Arial"/>
                <a:ea typeface="Arial"/>
                <a:cs typeface="Arial"/>
              </a:defRPr>
            </a:pPr>
            <a:r>
              <a:rPr sz="1875" b="0">
                <a:solidFill>
                  <a:srgbClr val="172B32"/>
                </a:solidFill>
                <a:latin typeface="Arial"/>
                <a:ea typeface="Arial"/>
                <a:cs typeface="Arial"/>
              </a:rPr>
              <a:t>Cormack, Clarke and Buttcher, 2009. SIGIR</a:t>
            </a:r>
          </a:p>
        </p:txBody>
      </p:sp>
      <p:sp>
        <p:nvSpPr>
          <p:cNvPr id="17" name="">
            <a:extLst xmlns:a="http://schemas.openxmlformats.org/drawingml/2006/main">
              <a:ext uri="{FF2B5EF4-FFF2-40B4-BE49-F238E27FC236}">
                <a16:creationId xmlns:a16="http://schemas.microsoft.com/office/drawing/2014/main" id="{AB411D12-9875-4CF0-AD04-93C243F72168}"/>
              </a:ext>
            </a:extLst>
          </p:cNvPr>
          <p:cNvSpPr>
            <a:spLocks xmlns:a="http://schemas.openxmlformats.org/drawingml/2006/main" noGrp="1"/>
          </p:cNvSpPr>
          <p:nvPr/>
        </p:nvSpPr>
        <p:spPr>
          <a:xfrm xmlns:a="http://schemas.openxmlformats.org/drawingml/2006/main">
            <a:off x="609600" y="5200650"/>
            <a:ext cx="10972800" cy="0"/>
          </a:xfrm>
          <a:prstGeom xmlns:a="http://schemas.openxmlformats.org/drawingml/2006/main" prst="line">
            <a:avLst/>
          </a:prstGeom>
          <a:noFill xmlns:a="http://schemas.openxmlformats.org/drawingml/2006/main"/>
          <a:ln xmlns:a="http://schemas.openxmlformats.org/drawingml/2006/main" w="12383">
            <a:solidFill>
              <a:srgbClr val="D7E2E4"/>
            </a:solidFill>
          </a:ln>
        </p:spPr>
      </p:sp>
      <p:sp>
        <p:nvSpPr>
          <p:cNvPr id="18" name="Cross-encoder judge">
            <a:extLst xmlns:a="http://schemas.openxmlformats.org/drawingml/2006/main">
              <a:ext uri="{FF2B5EF4-FFF2-40B4-BE49-F238E27FC236}">
                <a16:creationId xmlns:a16="http://schemas.microsoft.com/office/drawing/2014/main" id="{AB3D7A24-9940-4599-BB72-9EC77E2EB9E5}"/>
              </a:ext>
            </a:extLst>
          </p:cNvPr>
          <p:cNvSpPr>
            <a:spLocks xmlns:a="http://schemas.openxmlformats.org/drawingml/2006/main" noGrp="1"/>
          </p:cNvSpPr>
          <p:nvPr/>
        </p:nvSpPr>
        <p:spPr>
          <a:xfrm xmlns:a="http://schemas.openxmlformats.org/drawingml/2006/main">
            <a:off x="609600" y="5324475"/>
            <a:ext cx="285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87F82"/>
                </a:solidFill>
                <a:latin typeface="Arial"/>
                <a:ea typeface="Arial"/>
                <a:cs typeface="Arial"/>
              </a:defRPr>
            </a:pPr>
            <a:r>
              <a:rPr sz="2025" b="1">
                <a:solidFill>
                  <a:srgbClr val="087F82"/>
                </a:solidFill>
                <a:latin typeface="Arial"/>
                <a:ea typeface="Arial"/>
                <a:cs typeface="Arial"/>
              </a:rPr>
              <a:t>Cross-encoder judge</a:t>
            </a:r>
          </a:p>
        </p:txBody>
      </p:sp>
      <p:sp>
        <p:nvSpPr>
          <p:cNvPr id="19" name="Nogueira and Cho, 2019. Passage Re-ranking with ">
            <a:extLst xmlns:a="http://schemas.openxmlformats.org/drawingml/2006/main">
              <a:ext uri="{FF2B5EF4-FFF2-40B4-BE49-F238E27FC236}">
                <a16:creationId xmlns:a16="http://schemas.microsoft.com/office/drawing/2014/main" id="{A83CAA4D-BAC7-4202-B133-AABBFA88CD3E}"/>
              </a:ext>
            </a:extLst>
          </p:cNvPr>
          <p:cNvSpPr>
            <a:spLocks xmlns:a="http://schemas.openxmlformats.org/drawingml/2006/main" noGrp="1"/>
          </p:cNvSpPr>
          <p:nvPr/>
        </p:nvSpPr>
        <p:spPr>
          <a:xfrm xmlns:a="http://schemas.openxmlformats.org/drawingml/2006/main">
            <a:off x="3838575" y="5324475"/>
            <a:ext cx="77438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72B32"/>
                </a:solidFill>
                <a:latin typeface="Arial"/>
                <a:ea typeface="Arial"/>
                <a:cs typeface="Arial"/>
              </a:defRPr>
            </a:pPr>
            <a:r>
              <a:rPr sz="1875" b="0">
                <a:solidFill>
                  <a:srgbClr val="172B32"/>
                </a:solidFill>
                <a:latin typeface="Arial"/>
                <a:ea typeface="Arial"/>
                <a:cs typeface="Arial"/>
              </a:rPr>
              <a:t>Nogueira and Cho, 2019. Passage Re-ranking with BERT</a:t>
            </a:r>
          </a:p>
          <a:p xmlns:a="http://schemas.openxmlformats.org/drawingml/2006/main">
            <a:pPr>
              <a:defRPr sz="1875" b="0">
                <a:solidFill>
                  <a:srgbClr val="172B32"/>
                </a:solidFill>
                <a:latin typeface="Arial"/>
                <a:ea typeface="Arial"/>
                <a:cs typeface="Arial"/>
              </a:defRPr>
            </a:pPr>
            <a:r>
              <a:rPr sz="1875" b="0">
                <a:solidFill>
                  <a:srgbClr val="172B32"/>
                </a:solidFill>
                <a:latin typeface="Arial"/>
                <a:ea typeface="Arial"/>
                <a:cs typeface="Arial"/>
              </a:rPr>
              <a:t>cross-encoder/ms-marco-MiniLM-L6-v2</a:t>
            </a:r>
          </a:p>
        </p:txBody>
      </p:sp>
    </p:spTree>
    <p:extLst>
      <p:ext uri="{BB962C8B-B14F-4D97-AF65-F5344CB8AC3E}">
        <p14:creationId xmlns:p14="http://schemas.microsoft.com/office/powerpoint/2010/main" val="151246958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
  <lastModifiedBy/>
  <dc:title>Deep Re-annotation and Controlled Candidate Pools for Re-evaluating Ranking Models on MS MARCO</dc:title>
  <dcterms:created xsi:type="dcterms:W3CDTF"/>
  <dcterms:modified xsi:type="dcterms:W3CDTF"/>
  <dc:subject>DAMDID 2026 conference presentation</dc:subject>
  <dc:language>en-US</dc:language>
</coreProperties>
</file>