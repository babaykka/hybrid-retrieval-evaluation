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55e137b649184361"/><Relationship Type="http://schemas.openxmlformats.org/officeDocument/2006/relationships/extended-properties" Target="/docProps/app.xml" Id="Re0602215edd44509"/><Relationship Type="http://schemas.openxmlformats.org/officeDocument/2006/relationships/officeDocument" Target="/ppt/presentation.xml" Id="R129e74069ea34f4e"/></Relationships>
</file>

<file path=ppt/presentation.xml><?xml version="1.0" encoding="utf-8"?>
<p:presentation xmlns:p="http://schemas.openxmlformats.org/presentationml/2006/main">
  <p:sldMasterIdLst>
    <p:sldMasterId xmlns:r="http://schemas.openxmlformats.org/officeDocument/2006/relationships" id="2147483648" r:id="Re6d64ed3671a4e4c"/>
  </p:sldMasterIdLst>
  <p:notesMasterIdLst>
    <p:notesMasterId xmlns:r="http://schemas.openxmlformats.org/officeDocument/2006/relationships" r:id="R5c8d5eea3e3349b6"/>
  </p:notesMasterIdLst>
  <p:sldIdLst>
    <p:sldId xmlns:r="http://schemas.openxmlformats.org/officeDocument/2006/relationships" id="256" r:id="Ra37c8283149d4e21"/>
    <p:sldId xmlns:r="http://schemas.openxmlformats.org/officeDocument/2006/relationships" id="257" r:id="Ra5764212614f42d0"/>
    <p:sldId xmlns:r="http://schemas.openxmlformats.org/officeDocument/2006/relationships" id="258" r:id="R94e67ce8cb6b4e91"/>
    <p:sldId xmlns:r="http://schemas.openxmlformats.org/officeDocument/2006/relationships" id="259" r:id="Ra175d6c001b540d0"/>
    <p:sldId xmlns:r="http://schemas.openxmlformats.org/officeDocument/2006/relationships" id="260" r:id="R37eb90e9b1c14f0e"/>
    <p:sldId xmlns:r="http://schemas.openxmlformats.org/officeDocument/2006/relationships" id="261" r:id="Rcce48c81bd2245c4"/>
    <p:sldId xmlns:r="http://schemas.openxmlformats.org/officeDocument/2006/relationships" id="262" r:id="R4a13ed6df44c4596"/>
    <p:sldId xmlns:r="http://schemas.openxmlformats.org/officeDocument/2006/relationships" id="263" r:id="R8a26559d35e3415c"/>
    <p:sldId xmlns:r="http://schemas.openxmlformats.org/officeDocument/2006/relationships" id="264" r:id="Rb08388e97fb54433"/>
    <p:sldId xmlns:r="http://schemas.openxmlformats.org/officeDocument/2006/relationships" id="265" r:id="Rf67ecf2f19544875"/>
    <p:sldId xmlns:r="http://schemas.openxmlformats.org/officeDocument/2006/relationships" id="266" r:id="R5312c2d083c14cc2"/>
    <p:sldId xmlns:r="http://schemas.openxmlformats.org/officeDocument/2006/relationships" id="267" r:id="R5fa28eabe9c94545"/>
    <p:sldId xmlns:r="http://schemas.openxmlformats.org/officeDocument/2006/relationships" id="268" r:id="Rcbfda16211044064"/>
    <p:sldId xmlns:r="http://schemas.openxmlformats.org/officeDocument/2006/relationships" id="269" r:id="R9b92120bec3a45bf"/>
    <p:sldId xmlns:r="http://schemas.openxmlformats.org/officeDocument/2006/relationships" id="270" r:id="R6d9500cfa3f4470f"/>
    <p:sldId xmlns:r="http://schemas.openxmlformats.org/officeDocument/2006/relationships" id="271" r:id="R4d636252389c4400"/>
    <p:sldId xmlns:r="http://schemas.openxmlformats.org/officeDocument/2006/relationships" id="272" r:id="R5da7730bfd444c87"/>
    <p:sldId xmlns:r="http://schemas.openxmlformats.org/officeDocument/2006/relationships" id="273" r:id="Re80bb8944de94100"/>
    <p:sldId xmlns:r="http://schemas.openxmlformats.org/officeDocument/2006/relationships" id="274" r:id="R5910dfdde9b84c23"/>
    <p:sldId xmlns:r="http://schemas.openxmlformats.org/officeDocument/2006/relationships" id="275" r:id="Rc0c936ec40134cc9"/>
    <p:sldId xmlns:r="http://schemas.openxmlformats.org/officeDocument/2006/relationships" id="276" r:id="Rde3bfdd61cee4a15"/>
    <p:sldId xmlns:r="http://schemas.openxmlformats.org/officeDocument/2006/relationships" id="277" r:id="Rd859b372c5504cb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5d940984e1594053"/><Relationship Type="http://schemas.openxmlformats.org/officeDocument/2006/relationships/slideMaster" Target="/ppt/slideMasters/slideMaster1.xml" Id="Re6d64ed3671a4e4c"/><Relationship Type="http://schemas.openxmlformats.org/officeDocument/2006/relationships/notesMaster" Target="/ppt/notesMasters/notesMaster1.xml" Id="R5c8d5eea3e3349b6"/><Relationship Type="http://schemas.openxmlformats.org/officeDocument/2006/relationships/presProps" Target="/ppt/presProps.xml" Id="R85cf2bfe3f184d1f"/><Relationship Type="http://schemas.openxmlformats.org/officeDocument/2006/relationships/tableStyles" Target="/ppt/tableStyles.xml" Id="Rd2abf208fec34cfd"/><Relationship Type="http://schemas.openxmlformats.org/officeDocument/2006/relationships/slide" Target="/ppt/slides/slide1.xml" Id="Ra37c8283149d4e21"/><Relationship Type="http://schemas.openxmlformats.org/officeDocument/2006/relationships/slide" Target="/ppt/slides/slide2.xml" Id="Ra5764212614f42d0"/><Relationship Type="http://schemas.openxmlformats.org/officeDocument/2006/relationships/slide" Target="/ppt/slides/slide3.xml" Id="R94e67ce8cb6b4e91"/><Relationship Type="http://schemas.openxmlformats.org/officeDocument/2006/relationships/slide" Target="/ppt/slides/slide4.xml" Id="Ra175d6c001b540d0"/><Relationship Type="http://schemas.openxmlformats.org/officeDocument/2006/relationships/slide" Target="/ppt/slides/slide5.xml" Id="R37eb90e9b1c14f0e"/><Relationship Type="http://schemas.openxmlformats.org/officeDocument/2006/relationships/slide" Target="/ppt/slides/slide6.xml" Id="Rcce48c81bd2245c4"/><Relationship Type="http://schemas.openxmlformats.org/officeDocument/2006/relationships/slide" Target="/ppt/slides/slide7.xml" Id="R4a13ed6df44c4596"/><Relationship Type="http://schemas.openxmlformats.org/officeDocument/2006/relationships/slide" Target="/ppt/slides/slide8.xml" Id="R8a26559d35e3415c"/><Relationship Type="http://schemas.openxmlformats.org/officeDocument/2006/relationships/slide" Target="/ppt/slides/slide9.xml" Id="Rb08388e97fb54433"/><Relationship Type="http://schemas.openxmlformats.org/officeDocument/2006/relationships/slide" Target="/ppt/slides/slide10.xml" Id="Rf67ecf2f19544875"/><Relationship Type="http://schemas.openxmlformats.org/officeDocument/2006/relationships/slide" Target="/ppt/slides/slide11.xml" Id="R5312c2d083c14cc2"/><Relationship Type="http://schemas.openxmlformats.org/officeDocument/2006/relationships/slide" Target="/ppt/slides/slide12.xml" Id="R5fa28eabe9c94545"/><Relationship Type="http://schemas.openxmlformats.org/officeDocument/2006/relationships/slide" Target="/ppt/slides/slide13.xml" Id="Rcbfda16211044064"/><Relationship Type="http://schemas.openxmlformats.org/officeDocument/2006/relationships/slide" Target="/ppt/slides/slide14.xml" Id="R9b92120bec3a45bf"/><Relationship Type="http://schemas.openxmlformats.org/officeDocument/2006/relationships/slide" Target="/ppt/slides/slide15.xml" Id="R6d9500cfa3f4470f"/><Relationship Type="http://schemas.openxmlformats.org/officeDocument/2006/relationships/slide" Target="/ppt/slides/slide16.xml" Id="R4d636252389c4400"/><Relationship Type="http://schemas.openxmlformats.org/officeDocument/2006/relationships/slide" Target="/ppt/slides/slide17.xml" Id="R5da7730bfd444c87"/><Relationship Type="http://schemas.openxmlformats.org/officeDocument/2006/relationships/slide" Target="/ppt/slides/slide18.xml" Id="Re80bb8944de94100"/><Relationship Type="http://schemas.openxmlformats.org/officeDocument/2006/relationships/slide" Target="/ppt/slides/slide19.xml" Id="R5910dfdde9b84c23"/><Relationship Type="http://schemas.openxmlformats.org/officeDocument/2006/relationships/slide" Target="/ppt/slides/slide20.xml" Id="Rc0c936ec40134cc9"/><Relationship Type="http://schemas.openxmlformats.org/officeDocument/2006/relationships/slide" Target="/ppt/slides/slide21.xml" Id="Rde3bfdd61cee4a15"/><Relationship Type="http://schemas.openxmlformats.org/officeDocument/2006/relationships/slide" Target="/ppt/slides/slide22.xml" Id="Rd859b372c5504cba"/></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bf9055d551244f39"/></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e5a4de957fde499c"/><Relationship Type="http://schemas.openxmlformats.org/officeDocument/2006/relationships/notesMaster" Target="/ppt/notesMasters/notesMaster1.xml" Id="R0b106e6a2feb459b"/></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46a2a32c960b4c14"/><Relationship Type="http://schemas.openxmlformats.org/officeDocument/2006/relationships/notesMaster" Target="/ppt/notesMasters/notesMaster1.xml" Id="R5381216ccfc942d0"/></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bc681185b1df4b72"/><Relationship Type="http://schemas.openxmlformats.org/officeDocument/2006/relationships/notesMaster" Target="/ppt/notesMasters/notesMaster1.xml" Id="Ra329274f63f64213"/></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9e378a6689914b9e"/><Relationship Type="http://schemas.openxmlformats.org/officeDocument/2006/relationships/notesMaster" Target="/ppt/notesMasters/notesMaster1.xml" Id="R0d51d69e575b4209"/></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318a605c706a4b6a"/><Relationship Type="http://schemas.openxmlformats.org/officeDocument/2006/relationships/notesMaster" Target="/ppt/notesMasters/notesMaster1.xml" Id="R53597dc2a32047f9"/></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c1bdb5b94aae4e5f"/><Relationship Type="http://schemas.openxmlformats.org/officeDocument/2006/relationships/notesMaster" Target="/ppt/notesMasters/notesMaster1.xml" Id="R7275a39a06804ff8"/></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e73fc7e2518c4f27"/><Relationship Type="http://schemas.openxmlformats.org/officeDocument/2006/relationships/notesMaster" Target="/ppt/notesMasters/notesMaster1.xml" Id="R115527ca0ebb4ce6"/></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f3d087669b504c9b"/><Relationship Type="http://schemas.openxmlformats.org/officeDocument/2006/relationships/notesMaster" Target="/ppt/notesMasters/notesMaster1.xml" Id="Recabd9969ce24296"/></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d3e3a64f2fba4817"/><Relationship Type="http://schemas.openxmlformats.org/officeDocument/2006/relationships/notesMaster" Target="/ppt/notesMasters/notesMaster1.xml" Id="Rb8143e9c39254d9c"/></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2996675fa4834421"/><Relationship Type="http://schemas.openxmlformats.org/officeDocument/2006/relationships/notesMaster" Target="/ppt/notesMasters/notesMaster1.xml" Id="Ra39c0fad588e46f2"/></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e264c058289f457b"/><Relationship Type="http://schemas.openxmlformats.org/officeDocument/2006/relationships/notesMaster" Target="/ppt/notesMasters/notesMaster1.xml" Id="R0fb07806ce274642"/></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6c7c158113cc4b86"/><Relationship Type="http://schemas.openxmlformats.org/officeDocument/2006/relationships/notesMaster" Target="/ppt/notesMasters/notesMaster1.xml" Id="Rf23d0e1472e94058"/></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3672a574f79440f6"/><Relationship Type="http://schemas.openxmlformats.org/officeDocument/2006/relationships/notesMaster" Target="/ppt/notesMasters/notesMaster1.xml" Id="Rd1338f8179d24e0d"/></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9ab640525eeb4eff"/><Relationship Type="http://schemas.openxmlformats.org/officeDocument/2006/relationships/notesMaster" Target="/ppt/notesMasters/notesMaster1.xml" Id="R43d79cd8cad5474c"/></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eb047e53e8d04bf3"/><Relationship Type="http://schemas.openxmlformats.org/officeDocument/2006/relationships/notesMaster" Target="/ppt/notesMasters/notesMaster1.xml" Id="R50abfa2b638848e9"/></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b063906c86df4e8c"/><Relationship Type="http://schemas.openxmlformats.org/officeDocument/2006/relationships/notesMaster" Target="/ppt/notesMasters/notesMaster1.xml" Id="R297ced9448124133"/></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4be7c466b1d14afa"/><Relationship Type="http://schemas.openxmlformats.org/officeDocument/2006/relationships/notesMaster" Target="/ppt/notesMasters/notesMaster1.xml" Id="Rb17e181141c34942"/></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522a63221df543e2"/><Relationship Type="http://schemas.openxmlformats.org/officeDocument/2006/relationships/notesMaster" Target="/ppt/notesMasters/notesMaster1.xml" Id="R554d257c5eed4d78"/></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3f3de2d1a4174bec"/><Relationship Type="http://schemas.openxmlformats.org/officeDocument/2006/relationships/notesMaster" Target="/ppt/notesMasters/notesMaster1.xml" Id="R490ef8ce75434885"/></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2d15e458a8b54b79"/><Relationship Type="http://schemas.openxmlformats.org/officeDocument/2006/relationships/notesMaster" Target="/ppt/notesMasters/notesMaster1.xml" Id="R2402f64c99c848b1"/></Relationships>
</file>

<file path=ppt/notesSlides/_rels/notesSlide21.xml.rels><?xml version='1.0' encoding='UTF-8' standalone='yes'?>
<Relationships xmlns="http://schemas.openxmlformats.org/package/2006/relationships"><Relationship Type="http://schemas.openxmlformats.org/officeDocument/2006/relationships/slide" Target="/ppt/slides/slide21.xml" Id="Re34dffea566049f1"/><Relationship Type="http://schemas.openxmlformats.org/officeDocument/2006/relationships/notesMaster" Target="/ppt/notesMasters/notesMaster1.xml" Id="R607a77c18e6a4d35"/></Relationships>
</file>

<file path=ppt/notesSlides/_rels/notesSlide22.xml.rels><?xml version='1.0' encoding='UTF-8' standalone='yes'?>
<Relationships xmlns="http://schemas.openxmlformats.org/package/2006/relationships"><Relationship Type="http://schemas.openxmlformats.org/officeDocument/2006/relationships/slide" Target="/ppt/slides/slide22.xml" Id="R4748d11db7fa4b50"/><Relationship Type="http://schemas.openxmlformats.org/officeDocument/2006/relationships/notesMaster" Target="/ppt/notesMasters/notesMaster1.xml" Id="R9ddc3f3041924c89"/></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Здравствуйте!  Я представлю работу об оценке поиска на MS MARCO, . Нас интересует простой вопрос: насколько результат сравнения поисковых систем зависит от того, какие найденные тексты получили оценку релевантности?</a:t>
            </a:r>
          </a:p>
          <a:p xmlns:a="http://schemas.openxmlformats.org/drawingml/2006/main">
            <a:r>
              <a:t/>
            </a:r>
          </a:p>
          <a:p xmlns:a="http://schemas.openxmlformats.org/drawingml/2006/main">
            <a:r>
              <a:t>В докладе используется уточнённый численный протокол: общий идеальный знаменатель метрики и единый набор запросов для сравниваемых систем. Поэтому некоторые значения и вывод о слиянии выдач отличаются от редакторской версии рукописи. Сегодня я последовательно покажу, что именно измеряется: сначала на человеческой разметке, затем на предсказаниях модели.</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Для оценки поиска существуют разные наборы данных. Natural Questions связывает реальные запросы Google с ответами в Википедии. BEIR объединяет задачи из разных предметных областей и помогает исследовать переносимость поисковых методов. Эти коллекции отвечают на разные исследовательские вопросы.</a:t>
            </a:r>
          </a:p>
          <a:p xmlns:a="http://schemas.openxmlformats.org/drawingml/2006/main">
            <a:r>
              <a:t/>
            </a:r>
          </a:p>
          <a:p xmlns:a="http://schemas.openxmlformats.org/drawingml/2006/main">
            <a:r>
              <a:t>Мы выбрали MS MARCO, основанный на запросах Bing и открытых текстах веб-фрагментов. Для нас особенно важна разреженность исходных оценок: подходящий ответ может присутствовать в корпусе, но отсутствовать в разметке. Здесь можно изучить, как дополнительные оценки меняют сравнение уже полученных выдач. При этом выбор удобного исследовательского набора ещё не делает его представителем всех языков, предметных областей и поисковых сценариев.</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Microsoft, MS MARCO datasets: https://microsoft.github.io/msmarco/Datasets.html</a:t>
            </a:r>
          </a:p>
          <a:p xmlns:a="http://schemas.openxmlformats.org/drawingml/2006/main">
            <a:r>
              <a:t>Kwiatkowski et al. (2019), Natural Questions: https://research.google/pubs/natural-questions-a-benchmark-for-question-answering-research/</a:t>
            </a:r>
          </a:p>
          <a:p xmlns:a="http://schemas.openxmlformats.org/drawingml/2006/main">
            <a:r>
              <a:t>Thakur et al. (2021), BEIR: https://arxiv.org/abs/2104.08663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Для контекста покажу финальный срез официального лидерборда на 30 ноября 2022 года. Эта задача закрыта с 1 января 2023 года, поэтому перед нами исторический ориентир, а не лучшие системы 2026 года. Четыре приведённые системы сравниваются в одной постановке полного поиска на закрытом тестовом наборе.</a:t>
            </a:r>
          </a:p>
          <a:p xmlns:a="http://schemas.openxmlformats.org/drawingml/2006/main">
            <a:r>
              <a:t/>
            </a:r>
          </a:p>
          <a:p xmlns:a="http://schemas.openxmlformats.org/drawingml/2006/main">
            <a:r>
              <a:t>Их значения MRR@10 лежат между 0,436 и 0,450. Метрика усредняет обратную позицию первого релевантного ответа в первой десятке. Близость чисел сама по себе не доказывает ни эквивалентность систем, ни неполноту разметки. Она лишь мотивирует внимательнее посмотреть на основания сравнения. Дальше мы используем другие запросы и другую метрику, NDCG внутри размеченных пулов; напрямую сопоставлять эти числа нельзя.</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https://github.com/microsoft/MSMARCO-Passage-Ranking-Submissions/blob/abb44144f563e7972d5131f5d6acc2092877964c/leaderboard/leaderboard.csv</a:t>
            </a:r>
          </a:p>
          <a:p xmlns:a="http://schemas.openxmlformats.org/drawingml/2006/main">
            <a:r>
              <a:t>Microsoft, Submission: https://microsoft.github.io/msmarco/Submission.html</a:t>
            </a:r>
          </a:p>
          <a:p xmlns:a="http://schemas.openxmlformats.org/drawingml/2006/main">
            <a:r>
              <a:t>Показаны четыре лучшие именованные заявки по eval среди full ranking. Анонимные заявки не включены. Полные названия: AliceMind Search LM (SLM) + Hybird List Aware Reranking (HLAR); Listwise + Fusion reranker; CoT-MAE; Lichee-xxlarge + deberta_v3-large + Reranking. Значения округлены как в официальном CSV.</a:t>
            </a:r>
          </a:p>
          <a:p xmlns:a="http://schemas.openxmlformats.org/drawingml/2006/main">
            <a:r>
              <a:t>Статус трека проверен 05.10.2026: https://microsoft.github.io/msmarco/ . Последнее обновление CSV: https://api.github.com/repos/microsoft/MSMARCO-Passage-Ranking-Submissions/commits?path=leaderboard%2Fleaderboard.csv&amp;per_page=1 . Две анонимные заявки с 0,439 не показаны; это не первые четыре места общего рейтинга.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Рассмотрим запрос: что вызывает повышение температуры кипения? Первый фрагмент говорит о добавлении соли и отмечен как релевантный в исходной разметке. Второй объясняет действие нелетучего растворённого вещества. Человек тоже признаёт его релевантным, но исходной оценки для него нет. Третий сообщает температуру кипения ацетона и не отвечает на вопрос о причине повышения.</a:t>
            </a:r>
          </a:p>
          <a:p xmlns:a="http://schemas.openxmlformats.org/drawingml/2006/main">
            <a:r>
              <a:t/>
            </a:r>
          </a:p>
          <a:p xmlns:a="http://schemas.openxmlformats.org/drawingml/2006/main">
            <a:r>
              <a:t>На слайде дан русский пересказ; оценки относятся к исходным английским текстам. Такие оценки обычно называют qrels. В нашем расчёте документ без оценки получает нулевой вклад. Поэтому полезный найденный ответ может не принести системе баллов. Важно различать отсутствие оценки и установленную нерелевантность: это разные состояния данных.</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В англоязычной коллекции MS MARCO около 8,84 миллиона фрагментов. Наше исследование состоит из двух частей. В ручной части рассматриваются 1179 запросов и примерно 34 тысячи пар «запрос и фрагмент». В масштабной части мы используем сохранённые предсказания модели-судьи для кандидатов по более чем ста тысячам запросов.</a:t>
            </a:r>
          </a:p>
          <a:p xmlns:a="http://schemas.openxmlformats.org/drawingml/2006/main">
            <a:r>
              <a:t/>
            </a:r>
          </a:p>
          <a:p xmlns:a="http://schemas.openxmlformats.org/drawingml/2006/main">
            <a:r>
              <a:t>Эти части дают разные основания для выводов. Первая показывает эффект человеческой доразметки при неизменных выдачах. Вторая позволяет менять глубину пула, но опирается на машинные метки. Под углублённой доразметкой мы понимаем оценивание многих кандидатов внутри заданного пула. Мы не утверждаем, что нашли и оценили все релевантные тексты во всём корпусе.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Ручной пул получен объединением нескольких списков с удалением дубликатов. BM25 ищет по лексическим совпадениям. E5 и BGE кодируют запрос и фрагмент отдельно и сравнивают их векторные представления. От каждого из этих методов в ручной пул входят десять результатов.</a:t>
            </a:r>
          </a:p>
          <a:p xmlns:a="http://schemas.openxmlformats.org/drawingml/2006/main">
            <a:r>
              <a:t/>
            </a:r>
          </a:p>
          <a:p xmlns:a="http://schemas.openxmlformats.org/drawingml/2006/main">
            <a:r>
              <a:t>Есть и дополнительные каналы отбора, включая E5-rerank и сходство с заранее известным релевантным ответом. Их не следует смешивать. Разметчик также видит этот ответ вместе с запросом и кандидатом. Таким образом, эталон влияет и на отбор текстов, и на условия человеческой оценки. В среднем получается около 29 кандидатов на запрос. Это целенаправленно обогащённая выборка, поэтому долю релевантных фрагментов в ней нельзя переносить на весь корпус.</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a:p xmlns:a="http://schemas.openxmlformats.org/drawingml/2006/main">
            <a:r>
              <a:t>Методическое уточнение: точная архитектура дополнительных каналов отбора не полностью установлена. Они не рассматриваются как отдельные сопоставимые поисковые системы.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Прежде чем смотреть результаты, поясню метрику. NDCG@10 оценивает первые десять позиций выдачи. У нас релевантность бинарная: обе положительные категории ручной разметки дают единицу. Чем выше стоит релевантный фрагмент, тем больше его вклад. Для первых трёх позиций веса примерно равны 1, 0,63 и 0,50. Это иллюстрация формулы, не отдельный эксперимент.</a:t>
            </a:r>
          </a:p>
          <a:p xmlns:a="http://schemas.openxmlformats.org/drawingml/2006/main">
            <a:r>
              <a:t/>
            </a:r>
          </a:p>
          <a:p xmlns:a="http://schemas.openxmlformats.org/drawingml/2006/main">
            <a:r>
              <a:t>Сумму таких вкладов делим на идеальную сумму для этого запроса, используя положительные метки всего оценочного пула. При фиксированном наборе меток идеальный знаменатель одинаков у всех систем. Но при расширении разметки он может измениться.</a:t>
            </a:r>
          </a:p>
          <a:p xmlns:a="http://schemas.openxmlformats.org/drawingml/2006/main">
            <a:r>
              <a:t/>
            </a:r>
          </a:p>
          <a:p xmlns:a="http://schemas.openxmlformats.org/drawingml/2006/main">
            <a:r>
              <a:t>Документ без оценки даёт нулевой вклад и остаётся на своей позиции: последующие результаты не сдвигаются вверх. Если положительных меток нет и идеальный знаменатель равен нулю, принимаем NDCG равной нулю. Такой запрос остаётся в общем среднем. Поэтому при сравнении глубин мы не подменяем набор запросов более удобной подвыборкой.</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Metric definition and evaluation convention: revision_2026/results/manual_summary.json, protocol. Illustrative three-position diagram; no experimental score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Теперь вернёмся к ручной выборке. В тех же пулах исходные оценки дают в среднем чуть больше одного релевантного фрагмента на запрос, а после человеческой доразметки получается около семнадцати с половиной. Это показывает, сколько положительных ответов обнаруживается среди уже отобранных кандидатов.</a:t>
            </a:r>
          </a:p>
          <a:p xmlns:a="http://schemas.openxmlformats.org/drawingml/2006/main">
            <a:r>
              <a:t/>
            </a:r>
          </a:p>
          <a:p xmlns:a="http://schemas.openxmlformats.org/drawingml/2006/main">
            <a:r>
              <a:t>Рост не означает, что исходные положительные оценки были ошибочны. Многие другие фрагменты просто не имели оценки. Вместе с тем человеческая разметка здесь выполнена с опорой на известный ответ и принятый критерий релевантности. Независимое согласие разметчиков не измерялось. Для следующего сравнения сохраняем запросы, состав пулов и порядок результатов. Меняем только метки, по которым рассчитываем NDCG.</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графике показаны BM25, E5, BGE и RRF. Последний объединяет три поисковые выдачи по обратным рангам: использует позиции документов, а не исходные баллы моделей. При замене исходных оценок человеческими среднее значение NDCG растёт у всех четырёх систем.</a:t>
            </a:r>
          </a:p>
          <a:p xmlns:a="http://schemas.openxmlformats.org/drawingml/2006/main">
            <a:r>
              <a:t/>
            </a:r>
          </a:p>
          <a:p xmlns:a="http://schemas.openxmlformats.org/drawingml/2006/main">
            <a:r>
              <a:t>Для E5 оно меняется с 0,488 до 0,879. Средняя парная разность составляет 0,391, а её 95-процентный доверительный интервал лежит от 0,365 до 0,417. Интервал получен повторной выборкой запросов. Остальные значения не буду перечислять: важен общий характер изменения.</a:t>
            </a:r>
          </a:p>
          <a:p xmlns:a="http://schemas.openxmlformats.org/drawingml/2006/main">
            <a:r>
              <a:t/>
            </a:r>
          </a:p>
          <a:p xmlns:a="http://schemas.openxmlformats.org/drawingml/2006/main">
            <a:r>
              <a:t>Поисковые модели при этом не переобучались, и выдача не стала лучше. Изменилась её измеренная оценка. Порядок систем также сохранился: E5, затем RRF, BGE и BM25. Это результат для наших размеченных пулов, а не новое достижение в официальном лидерборде.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Оценивать вручную более глубокие пулы для большого числа запросов дорого. Поэтому мы дообучаем компактный кросс-энкодер MiniLM на человеческих метках и используем его как модель-судью. Она совместно обрабатывает текст запроса и текст кандидата, затем выдаёт балл, который сравнивается с выбранным порогом.</a:t>
            </a:r>
          </a:p>
          <a:p xmlns:a="http://schemas.openxmlformats.org/drawingml/2006/main">
            <a:r>
              <a:t/>
            </a:r>
          </a:p>
          <a:p xmlns:a="http://schemas.openxmlformats.org/drawingml/2006/main">
            <a:r>
              <a:t>Судья не получает известного релевантного ответа, рангов или баллов BM25, E5 и BGE. Он также не заменяет первый этап поиска: кандидатов по-прежнему находят поисковые системы. Его задача здесь только присвоить им псевдометки. Порог выбирается на валидационных запросах и далее фиксируется. Такое разделение ролей важно: качество генерации кандидатов и согласие судьи с человеком проверяются по-разному.</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Ручные данные разделены по запросам: все кандидаты одного запроса находятся в одной части. На тест приходятся 177 запросов, которые не использовались для нашего дообучения и выбора порога. На них ROC-AUC составляет 0,907, а F1 при выбранном пороге примерно 0,875.</a:t>
            </a:r>
          </a:p>
          <a:p xmlns:a="http://schemas.openxmlformats.org/drawingml/2006/main">
            <a:r>
              <a:t/>
            </a:r>
          </a:p>
          <a:p xmlns:a="http://schemas.openxmlformats.org/drawingml/2006/main">
            <a:r>
              <a:t>Эти показатели характеризуют согласие с человеческими метками внутри ручных пулов. Они не гарантируют такую же точность на глубоких пулах или отсутствие предпочтения к выдачам определённых систем.</a:t>
            </a:r>
          </a:p>
          <a:p xmlns:a="http://schemas.openxmlformats.org/drawingml/2006/main">
            <a:r>
              <a:t/>
            </a:r>
          </a:p>
          <a:p xmlns:a="http://schemas.openxmlformats.org/drawingml/2006/main">
            <a:r>
              <a:t>Есть и граница понятия «отложенные»: базовая модель уже обучалась на MS MARCO. Наше разбиение контролирует локальное дообучение, но не доказывает отсутствие пересечений на всех предшествующих этапах. Поэтому далее говорим об оценивании по одному конкретному судье, а не о независимой человеческой проверке.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В масштабной части объединяем первые K результатов BM25, E5 и BGE. K обозначает глубину каждого исходного списка, а не число уникальных кандидатов после удаления повторов. Предсказания судьи и порог решения при изменении глубины остаются теми же.</a:t>
            </a:r>
          </a:p>
          <a:p xmlns:a="http://schemas.openxmlformats.org/drawingml/2006/main">
            <a:r>
              <a:t/>
            </a:r>
          </a:p>
          <a:p xmlns:a="http://schemas.openxmlformats.org/drawingml/2006/main">
            <a:r>
              <a:t>Когда K увеличивается от десяти до двухсот, средний пул растёт примерно от 22 до 452 кандидатов. Положительных псевдометок становится больше: примерно от 14 до 129 на запрос. Во всех средних учитываются и запросы без положительных меток.</a:t>
            </a:r>
          </a:p>
          <a:p xmlns:a="http://schemas.openxmlformats.org/drawingml/2006/main">
            <a:r>
              <a:t/>
            </a:r>
          </a:p>
          <a:p xmlns:a="http://schemas.openxmlformats.org/drawingml/2006/main">
            <a:r>
              <a:t>Такой рост нельзя читать как оценку полного числа правильных ответов в коллекции. Мы предъявляем судье больше отобранных текстов и получаем больше положительных решений. Это характеристика данного протокола.</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Для сравнения RRF с E5 нужно различить два параметра. K задаёт глубину оценочного пула. L задаёт глубину списков, которые поступают на слияние RRF. В этом опыте они меняются вместе: L равно K. Следовательно, меняются и доступные метки, и сама объединённая выдача.</a:t>
            </a:r>
          </a:p>
          <a:p xmlns:a="http://schemas.openxmlformats.org/drawingml/2006/main">
            <a:r>
              <a:t/>
            </a:r>
          </a:p>
          <a:p xmlns:a="http://schemas.openxmlformats.org/drawingml/2006/main">
            <a:r>
              <a:t>При минимальной глубине RRF уступает E5, а на больших глубинах разность становится положительной. При K, равном двумстам, она составляет около 0,0088. Это небольшой эффект, хотя парный доверительный интервал не включает ноль.</a:t>
            </a:r>
          </a:p>
          <a:p xmlns:a="http://schemas.openxmlformats.org/drawingml/2006/main">
            <a:r>
              <a:t/>
            </a:r>
          </a:p>
          <a:p xmlns:a="http://schemas.openxmlformats.org/drawingml/2006/main">
            <a:r>
              <a:t>Интервал условен относительно фиксированного судьи и не учитывает ошибки его разметки или неопределённость обучения. По этому опыту нельзя отдельно приписать эффект изменению охвата разметки или входных списков RRF. Для этого нужен следующий контроль.</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Теперь RRF всегда объединяет первые двести результатов каждого источника. Его топ-10 и топ-10 E5 фиксированы. Меняем только глубину оценочного пула. При K, равном десяти, разность RRF минус E5 составляет минус 0,0661, а при K, равном тридцати, уже плюс 0,0080.</a:t>
            </a:r>
          </a:p>
          <a:p xmlns:a="http://schemas.openxmlformats.org/drawingml/2006/main">
            <a:r>
              <a:t/>
            </a:r>
          </a:p>
          <a:p xmlns:a="http://schemas.openxmlformats.org/drawingml/2006/main">
            <a:r>
              <a:t>Откуда изменение? Топ-10 E5 целиком входит в пул уже при K, равном десяти. У фиксированного RRF за его пределами остаются 14,4 процента пар из первой десятки. Пока оценки нет, их вклад нулевой. Расширение пула открывает эти оценки, а также может увеличить общий идеальный знаменатель. Поэтому NDCG E5 может снижаться при неизменных выдаче и DCG.</a:t>
            </a:r>
          </a:p>
          <a:p xmlns:a="http://schemas.openxmlformats.org/drawingml/2006/main">
            <a:r>
              <a:t/>
            </a:r>
          </a:p>
          <a:p xmlns:a="http://schemas.openxmlformats.org/drawingml/2006/main">
            <a:r>
              <a:t>Получается, измеряемый порядок систем меняется без изменения поиска. Но небольшое среднее преимущество RRF не означает выигрыша на большинстве запросов: при максимальной глубине больше половины сравнений дают равенство. Тем более это не доказательство заметного улучшения пользовательского опыта.</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Мы проверили чувствительность к двум исключениям. Удаление 23 ручных запросов с неясными категориями или пустыми текстами не меняет порядок систем. Большой набор включает все 1179 ручных запросов, в том числе использованные при дообучении судьи. После исключения всей этой группы остаётся 99 914 запросов, и знаки различий RRF и E5 сохраняются на проверенных глубинах.</a:t>
            </a:r>
          </a:p>
          <a:p xmlns:a="http://schemas.openxmlformats.org/drawingml/2006/main">
            <a:r>
              <a:t/>
            </a:r>
          </a:p>
          <a:p xmlns:a="http://schemas.openxmlformats.org/drawingml/2006/main">
            <a:r>
              <a:t>Эта проверка снижает опасение, что результат объясняется только пересечением запросов. Однако независимых человеческих оценок глубоких пулов она не добавляет. Судья остаётся один, а ручная разметка использует эталонный ответ. При пересчёте проверены сохранённые баллы; повторное обучение судьи не выполнялось.</a:t>
            </a:r>
          </a:p>
          <a:p xmlns:a="http://schemas.openxmlformats.org/drawingml/2006/main">
            <a:r>
              <a:t/>
            </a:r>
          </a:p>
          <a:p xmlns:a="http://schemas.openxmlformats.org/drawingml/2006/main">
            <a:r>
              <a:t>Выводы относятся к выбранным английским пулам, конкретным версиям E5, BGE и MiniLM. Перенос численных эффектов на другие языки, домены и модели пока не проверен.</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Итак, два результата. Первый: дополнительная человеческая разметка существенно меняет измеренную оценку уже полученной выдачи, хотя сама поисковая система не меняется. Второй: в опыте с фиксированными выдачами расширение пула меняет даже порядок RRF и E5 по псевдометкам одного судьи.</a:t>
            </a:r>
          </a:p>
          <a:p xmlns:a="http://schemas.openxmlformats.org/drawingml/2006/main">
            <a:r>
              <a:t/>
            </a:r>
          </a:p>
          <a:p xmlns:a="http://schemas.openxmlformats.org/drawingml/2006/main">
            <a:r>
              <a:t>Поэтому вместе с метрикой нужно сообщать состав пула, источник меток и настройки слияния. Следующий шаг мы рассматриваем как офлайн-разметку: сравнить более сильных судей с доступом к известному релевантному ответу и без него, проверяя решения по независимым человеческим оценкам. Это план исследования, а не уже полученный результат и не предложение давать эталон обычной поисковой системе.</a:t>
            </a:r>
          </a:p>
          <a:p xmlns:a="http://schemas.openxmlformats.org/drawingml/2006/main">
            <a:r>
              <a:t/>
            </a:r>
          </a:p>
          <a:p xmlns:a="http://schemas.openxmlformats.org/drawingml/2006/main">
            <a:r>
              <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докладе представлены уточнённые расчёты по сохранённым результатам. Единый набор запросов, общий IDCG для всех систем при заданных метках и явные настройки RRF отличаются от раннего расчёта. Поэтому и числа, и вывод о RRF отличаются от редакторской версии статьи. Ручные категории 1 и 2 бинаризуются как положительные; остальные не дают положительного вклада. Неоценённые документы не удаляются из выдачи. При нулевом IDCG NDCG равна нулю, запрос остаётся в среднем. Ручные входы RRF top-10, большой эксперимент сравнивает L=K и L=200, константа c=60. Ретриверы e5-small-v2 и bge-small-en-v1.5. Пересчёт проверяет сохранённые ранги и баллы; новое обучение судьи не выполнялось.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Revision scope: original_based_2026/ПОЯСНЕНИЕ.md. Corrected protocol: revision_2026/manual_eval.py and revision_2026/fullset_eval.py.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Дополнительная диагностика отвечает на вопрос о судье как ранжирующей модели. На 177 отложенных запросах сортируем все кандидаты ручного пула по сохранённым баллам судьи. NDCG по исходным меткам равна 0,5118, по человеческим 0,9384. Это переупорядочивание уже отобранного, обогащённого с помощью известного ответа пула, а не первый этап поиска по корпусу. Поэтому эти значения нельзя сопоставлять с полно-корпусным leaderboard или средними других моделей на 1179 запросах. Этим результатом нельзя обосновать качество судьи в новых глубоких пулах.</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Held-out reranking values: manual_summary.json, judge_rerank_heldout. These diagnostics use saved scores, not a fresh model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fac7d74309774ec4"/></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b467bbdd92114e0d"/><Relationship Type="http://schemas.openxmlformats.org/officeDocument/2006/relationships/slideLayout" Target="/ppt/slideLayouts/slideLayout1.xml" Id="Rf0a2300e46724d23"/></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a2300e46724d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6b69e23831a84f1a"/><Relationship Type="http://schemas.openxmlformats.org/officeDocument/2006/relationships/image" Target="/ppt/media/image.png" Id="Rc22d63df040b4596"/><Relationship Type="http://schemas.openxmlformats.org/officeDocument/2006/relationships/notesSlide" Target="/ppt/notesSlides/notesSlide1.xml" Id="R93391f6ebb6b46db"/></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3356837b852b459d"/><Relationship Type="http://schemas.openxmlformats.org/officeDocument/2006/relationships/notesSlide" Target="/ppt/notesSlides/notesSlide2.xml" Id="R1d9262bfe2704748"/></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6c5fa07d20164096"/><Relationship Type="http://schemas.openxmlformats.org/officeDocument/2006/relationships/chart" Target="/ppt/slides/charts/chart1.xml" Id="R6c90e4f36c9247c7"/><Relationship Type="http://schemas.openxmlformats.org/officeDocument/2006/relationships/notesSlide" Target="/ppt/notesSlides/notesSlide3.xml" Id="Ra6cc023a41f24f54"/></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a53d3baae8174421"/><Relationship Type="http://schemas.openxmlformats.org/officeDocument/2006/relationships/notesSlide" Target="/ppt/notesSlides/notesSlide4.xml" Id="R80cd322004264f76"/></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99baba0844564edb"/><Relationship Type="http://schemas.openxmlformats.org/officeDocument/2006/relationships/notesSlide" Target="/ppt/notesSlides/notesSlide5.xml" Id="Rd6e2f49636834905"/></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1266193f446d4a2f"/><Relationship Type="http://schemas.openxmlformats.org/officeDocument/2006/relationships/notesSlide" Target="/ppt/notesSlides/notesSlide6.xml" Id="Rf6c1c6565645455b"/></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746e217a10c54c71"/><Relationship Type="http://schemas.openxmlformats.org/officeDocument/2006/relationships/notesSlide" Target="/ppt/notesSlides/notesSlide7.xml" Id="R3c424490d86f48d3"/></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c5f514d75d9c4922"/><Relationship Type="http://schemas.openxmlformats.org/officeDocument/2006/relationships/notesSlide" Target="/ppt/notesSlides/notesSlide8.xml" Id="Rf15d5e73f4d14858"/></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b4a109e3f60c4e69"/><Relationship Type="http://schemas.openxmlformats.org/officeDocument/2006/relationships/chart" Target="/ppt/slides/charts/chart2.xml" Id="R0aff90d7bb714397"/><Relationship Type="http://schemas.openxmlformats.org/officeDocument/2006/relationships/notesSlide" Target="/ppt/notesSlides/notesSlide9.xml" Id="R7b1d336d87e042bd"/></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2d62eb33846c46a3"/><Relationship Type="http://schemas.openxmlformats.org/officeDocument/2006/relationships/notesSlide" Target="/ppt/notesSlides/notesSlide10.xml" Id="Rf7ffd01975f14939"/></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7975e9471cb34ef9"/><Relationship Type="http://schemas.openxmlformats.org/officeDocument/2006/relationships/chart" Target="/ppt/slides/charts/chart3.xml" Id="R7ecd220ee02244c7"/><Relationship Type="http://schemas.openxmlformats.org/officeDocument/2006/relationships/notesSlide" Target="/ppt/notesSlides/notesSlide11.xml" Id="R710b039654c74639"/></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79141e39e7f44887"/><Relationship Type="http://schemas.openxmlformats.org/officeDocument/2006/relationships/chart" Target="/ppt/slides/charts/chart4.xml" Id="R50f430f5ccb241b7"/><Relationship Type="http://schemas.openxmlformats.org/officeDocument/2006/relationships/notesSlide" Target="/ppt/notesSlides/notesSlide12.xml" Id="R11b6217dd8e04876"/></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11800117919c49c4"/><Relationship Type="http://schemas.openxmlformats.org/officeDocument/2006/relationships/chart" Target="/ppt/slides/charts/chart5.xml" Id="Rc4369b9804264af6"/><Relationship Type="http://schemas.openxmlformats.org/officeDocument/2006/relationships/notesSlide" Target="/ppt/notesSlides/notesSlide13.xml" Id="Rd31e115af1e3410a"/></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77f1e977e9774eb5"/><Relationship Type="http://schemas.openxmlformats.org/officeDocument/2006/relationships/chart" Target="/ppt/slides/charts/chart6.xml" Id="R693c661c289f46dc"/><Relationship Type="http://schemas.openxmlformats.org/officeDocument/2006/relationships/notesSlide" Target="/ppt/notesSlides/notesSlide14.xml" Id="Rccf61795da4341f9"/></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28f7e39564a64856"/><Relationship Type="http://schemas.openxmlformats.org/officeDocument/2006/relationships/notesSlide" Target="/ppt/notesSlides/notesSlide15.xml" Id="R07496a6d56714d0e"/></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0889c3e598f048a5"/><Relationship Type="http://schemas.openxmlformats.org/officeDocument/2006/relationships/notesSlide" Target="/ppt/notesSlides/notesSlide16.xml" Id="Rdc23c3ff93dc4e1f"/></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82598641ddf743da"/><Relationship Type="http://schemas.openxmlformats.org/officeDocument/2006/relationships/notesSlide" Target="/ppt/notesSlides/notesSlide17.xml" Id="Re6c76489e1b44bc4"/></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f1969b9851ae470d"/><Relationship Type="http://schemas.openxmlformats.org/officeDocument/2006/relationships/notesSlide" Target="/ppt/notesSlides/notesSlide18.xml" Id="R0b11140ee4e14f7a"/></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5124d987a0b14149"/><Relationship Type="http://schemas.openxmlformats.org/officeDocument/2006/relationships/notesSlide" Target="/ppt/notesSlides/notesSlide19.xml" Id="R3c829dff72754430"/></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e3693d71ac414978"/><Relationship Type="http://schemas.openxmlformats.org/officeDocument/2006/relationships/notesSlide" Target="/ppt/notesSlides/notesSlide20.xml" Id="R4666e3c6328a4dfb"/></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1.xml" Id="Re8dccda0adb24230"/><Relationship Type="http://schemas.openxmlformats.org/officeDocument/2006/relationships/notesSlide" Target="/ppt/notesSlides/notesSlide21.xml" Id="Rb6224ef604454dc1"/></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1.xml" Id="R9e70050bb50f43e2"/><Relationship Type="http://schemas.openxmlformats.org/officeDocument/2006/relationships/notesSlide" Target="/ppt/notesSlides/notesSlide22.xml" Id="R5c029243ebd64824"/></Relationships>
</file>

<file path=ppt/slides/charts/chart1.xml><?xml version="1.0" encoding="utf-8"?>
<c:chartSpace xmlns:c="http://schemas.openxmlformats.org/drawingml/2006/chart">
  <c:lang val="en-US"/>
  <c:chart>
    <c:plotArea>
      <c:barChart>
        <c:barDir val="bar"/>
        <c:grouping val="clustered"/>
        <c:varyColors val="0"/>
        <c:ser>
          <c:idx val="0"/>
          <c:order val="0"/>
          <c:tx>
            <c:v>MRR@10</c:v>
          </c:tx>
          <c:spPr>
            <a:solidFill xmlns:a="http://schemas.openxmlformats.org/drawingml/2006/main">
              <a:srgbClr val="007D76"/>
            </a:solidFill>
            <a:ln xmlns:a="http://schemas.openxmlformats.org/drawingml/2006/main" w="0">
              <a:noFill/>
            </a:ln>
          </c:spPr>
          <c:cat>
            <c:strLit>
              <c:ptCount val="4"/>
              <c:pt idx="0">
                <c:v>Lichee + DeBERTa</c:v>
              </c:pt>
              <c:pt idx="1">
                <c:v>CoT-MAE</c:v>
              </c:pt>
              <c:pt idx="2">
                <c:v>Listwise + Fusion</c:v>
              </c:pt>
              <c:pt idx="3">
                <c:v>AliceMind SLM + HLAR</c:v>
              </c:pt>
            </c:strLit>
          </c:cat>
          <c:val>
            <c:numLit>
              <c:formatCode>0.000</c:formatCode>
              <c:ptCount val="4"/>
              <c:pt idx="0">
                <c:v>0.436</c:v>
              </c:pt>
              <c:pt idx="1">
                <c:v>0.438</c:v>
              </c:pt>
              <c:pt idx="2">
                <c:v>0.44</c:v>
              </c:pt>
              <c:pt idx="3">
                <c:v>0.45</c:v>
              </c:pt>
            </c:numLit>
          </c:val>
        </c:ser>
        <c:dLbls>
          <c:txPr>
            <a:bodyPr xmlns:a="http://schemas.openxmlformats.org/drawingml/2006/main" anchorCtr="1"/>
            <a:lstStyle xmlns:a="http://schemas.openxmlformats.org/drawingml/2006/main"/>
            <a:p xmlns:a="http://schemas.openxmlformats.org/drawingml/2006/main">
              <a:pPr>
                <a:defRPr sz="1875">
                  <a:solidFill>
                    <a:srgbClr val="17282B"/>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catAx>
      <c:valAx>
        <c:axId val="48672768"/>
        <c:scaling>
          <c:orientation val="minMax"/>
          <c:max val="0.5"/>
          <c:min val="0"/>
        </c:scaling>
        <c:delete val="0"/>
        <c:axPos val="b"/>
        <c:majorGridlines>
          <c:spPr>
            <a:ln xmlns:a="http://schemas.openxmlformats.org/drawingml/2006/main" w="9525">
              <a:solidFill>
                <a:srgbClr val="D7E0E0"/>
              </a:solidFill>
            </a:ln>
          </c:spPr>
        </c:majorGridlines>
        <c:numFmt formatCode="0.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Between val="between"/>
        <c:majorUnit val="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Исходные оценки</c:v>
          </c:tx>
          <c:spPr>
            <a:solidFill xmlns:a="http://schemas.openxmlformats.org/drawingml/2006/main">
              <a:srgbClr val="7E8B91"/>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Оценки человека</c:v>
          </c:tx>
          <c:spPr>
            <a:solidFill xmlns:a="http://schemas.openxmlformats.org/drawingml/2006/main">
              <a:srgbClr val="007D76"/>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7282B"/>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7E0E0"/>
              </a:solidFill>
            </a:ln>
          </c:spPr>
        </c:majorGridlines>
        <c:numFmt formatCode="0.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82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Случайный классификатор</c:v>
          </c:tx>
          <c:spPr>
            <a:solidFill xmlns:a="http://schemas.openxmlformats.org/drawingml/2006/main">
              <a:srgbClr val="D7E0E0"/>
            </a:solidFill>
            <a:ln xmlns:a="http://schemas.openxmlformats.org/drawingml/2006/main" w="12383">
              <a:solidFill>
                <a:srgbClr val="7E8B91"/>
              </a:solidFill>
            </a:ln>
          </c:spPr>
          <c:marker>
            <c:symbol val="none"/>
          </c:marker>
          <c:xVal>
            <c:numLit>
              <c:formatCode>General</c:formatCode>
              <c:ptCount val="2"/>
              <c:pt idx="0">
                <c:v>0</c:v>
              </c:pt>
              <c:pt idx="1">
                <c:v>1</c:v>
              </c:pt>
            </c:numLit>
          </c:xVal>
          <c:yVal>
            <c:numLit>
              <c:formatCode>0.000</c:formatCode>
              <c:ptCount val="2"/>
              <c:pt idx="0">
                <c:v>0</c:v>
              </c:pt>
              <c:pt idx="1">
                <c:v>1</c:v>
              </c:pt>
            </c:numLit>
          </c:yVal>
        </c:ser>
        <c:ser>
          <c:idx val="1"/>
          <c:order val="1"/>
          <c:tx>
            <c:v>ROC-кривая MiniLM</c:v>
          </c:tx>
          <c:spPr>
            <a:solidFill xmlns:a="http://schemas.openxmlformats.org/drawingml/2006/main">
              <a:srgbClr val="007D76"/>
            </a:solidFill>
            <a:ln xmlns:a="http://schemas.openxmlformats.org/drawingml/2006/main" w="33338">
              <a:solidFill>
                <a:srgbClr val="007D76"/>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er>
        <c:ser>
          <c:idx val="2"/>
          <c:order val="2"/>
          <c:tx>
            <c:v>Порог по валидации</c:v>
          </c:tx>
          <c:spPr>
            <a:solidFill xmlns:a="http://schemas.openxmlformats.org/drawingml/2006/main">
              <a:srgbClr val="C64F37"/>
            </a:solidFill>
            <a:ln xmlns:a="http://schemas.openxmlformats.org/drawingml/2006/main" w="0">
              <a:noFill/>
            </a:ln>
          </c:spPr>
          <c:marker>
            <c:symbol val="circle"/>
            <c:size val="11"/>
            <c:spPr>
              <a:noFill xmlns:a="http://schemas.openxmlformats.org/drawingml/2006/main"/>
            </c:spPr>
          </c:marker>
          <c:xVal>
            <c:numLit>
              <c:formatCode>General</c:formatCode>
              <c:ptCount val="1"/>
              <c:pt idx="0">
                <c:v>0.28017719</c:v>
              </c:pt>
            </c:numLit>
          </c:xVal>
          <c:yVal>
            <c:numLit>
              <c:formatCode>0.000</c:formatCode>
              <c:ptCount val="1"/>
              <c:pt idx="0">
                <c:v>0.90175219</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7E0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Доля истинноположительных</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Доля ложноположительных</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Все кандидаты</c:v>
          </c:tx>
          <c:spPr>
            <a:solidFill xmlns:a="http://schemas.openxmlformats.org/drawingml/2006/main">
              <a:srgbClr val="7E8B91"/>
            </a:solidFill>
            <a:ln xmlns:a="http://schemas.openxmlformats.org/drawingml/2006/main" w="28575">
              <a:solidFill>
                <a:srgbClr val="7E8B91"/>
              </a:solidFill>
            </a:ln>
          </c:spPr>
          <c:marker>
            <c:symbol val="circle"/>
            <c:size val="8"/>
            <c:spPr>
              <a:solidFill xmlns:a="http://schemas.openxmlformats.org/drawingml/2006/main">
                <a:srgbClr val="7E8B91"/>
              </a:solidFill>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er>
        <c:ser>
          <c:idx val="1"/>
          <c:order val="1"/>
          <c:tx>
            <c:v>Предсказаны релевантными</c:v>
          </c:tx>
          <c:spPr>
            <a:solidFill xmlns:a="http://schemas.openxmlformats.org/drawingml/2006/main">
              <a:srgbClr val="C64F37"/>
            </a:solidFill>
            <a:ln xmlns:a="http://schemas.openxmlformats.org/drawingml/2006/main" w="28575">
              <a:solidFill>
                <a:srgbClr val="C64F37"/>
              </a:solidFill>
            </a:ln>
          </c:spPr>
          <c:marker>
            <c:symbol val="circle"/>
            <c:size val="8"/>
            <c:spPr>
              <a:solidFill xmlns:a="http://schemas.openxmlformats.org/drawingml/2006/main">
                <a:srgbClr val="C64F37"/>
              </a:solidFill>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7E0E0"/>
              </a:solidFill>
            </a:ln>
          </c:spPr>
        </c:majorGridlines>
        <c:numFmt formatCode="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Глубина выдачи каждой модели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82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E8B91"/>
            </a:solidFill>
            <a:ln xmlns:a="http://schemas.openxmlformats.org/drawingml/2006/main" w="15240">
              <a:solidFill>
                <a:srgbClr val="7E8B91"/>
              </a:solidFill>
            </a:ln>
          </c:spPr>
          <c:marker>
            <c:symbol val="none"/>
          </c:marker>
          <c:xVal>
            <c:numLit>
              <c:formatCode>General</c:formatCode>
              <c:ptCount val="2"/>
              <c:pt idx="0">
                <c:v>0</c:v>
              </c:pt>
              <c:pt idx="1">
                <c:v>0</c:v>
              </c:pt>
            </c:numLit>
          </c:xVal>
          <c:yVal>
            <c:numLit>
              <c:formatCode>0.000</c:formatCode>
              <c:ptCount val="2"/>
              <c:pt idx="0">
                <c:v>0.5</c:v>
              </c:pt>
              <c:pt idx="1">
                <c:v>5.5</c:v>
              </c:pt>
            </c:numLit>
          </c:yVal>
        </c:ser>
        <c:ser>
          <c:idx val="1"/>
          <c:order val="1"/>
          <c:tx>
            <c:v>95% paired CI at K=10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2"/>
              <c:pt idx="0">
                <c:v>-0.02023617</c:v>
              </c:pt>
              <c:pt idx="1">
                <c:v>-0.01882729</c:v>
              </c:pt>
            </c:numLit>
          </c:xVal>
          <c:yVal>
            <c:numLit>
              <c:formatCode>0.000</c:formatCode>
              <c:ptCount val="2"/>
              <c:pt idx="0">
                <c:v>5</c:v>
              </c:pt>
              <c:pt idx="1">
                <c:v>5</c:v>
              </c:pt>
            </c:numLit>
          </c:yVal>
        </c:ser>
        <c:ser>
          <c:idx val="2"/>
          <c:order val="2"/>
          <c:tx>
            <c:v>95% paired CI at K=30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2"/>
              <c:pt idx="0">
                <c:v>0.01021579</c:v>
              </c:pt>
              <c:pt idx="1">
                <c:v>0.01150741</c:v>
              </c:pt>
            </c:numLit>
          </c:xVal>
          <c:yVal>
            <c:numLit>
              <c:formatCode>0.000</c:formatCode>
              <c:ptCount val="2"/>
              <c:pt idx="0">
                <c:v>4</c:v>
              </c:pt>
              <c:pt idx="1">
                <c:v>4</c:v>
              </c:pt>
            </c:numLit>
          </c:yVal>
        </c:ser>
        <c:ser>
          <c:idx val="3"/>
          <c:order val="3"/>
          <c:tx>
            <c:v>95% paired CI at K=50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2"/>
              <c:pt idx="0">
                <c:v>0.00784398</c:v>
              </c:pt>
              <c:pt idx="1">
                <c:v>0.00925389</c:v>
              </c:pt>
            </c:numLit>
          </c:xVal>
          <c:yVal>
            <c:numLit>
              <c:formatCode>0.000</c:formatCode>
              <c:ptCount val="2"/>
              <c:pt idx="0">
                <c:v>3</c:v>
              </c:pt>
              <c:pt idx="1">
                <c:v>3</c:v>
              </c:pt>
            </c:numLit>
          </c:yVal>
        </c:ser>
        <c:ser>
          <c:idx val="4"/>
          <c:order val="4"/>
          <c:tx>
            <c:v>95% paired CI at K=100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2"/>
              <c:pt idx="0">
                <c:v>0.00701006</c:v>
              </c:pt>
              <c:pt idx="1">
                <c:v>0.00843288</c:v>
              </c:pt>
            </c:numLit>
          </c:xVal>
          <c:yVal>
            <c:numLit>
              <c:formatCode>0.000</c:formatCode>
              <c:ptCount val="2"/>
              <c:pt idx="0">
                <c:v>2</c:v>
              </c:pt>
              <c:pt idx="1">
                <c:v>2</c:v>
              </c:pt>
            </c:numLit>
          </c:yVal>
        </c:ser>
        <c:ser>
          <c:idx val="5"/>
          <c:order val="5"/>
          <c:tx>
            <c:v>95% paired CI at K=200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2"/>
              <c:pt idx="0">
                <c:v>0.0081588</c:v>
              </c:pt>
              <c:pt idx="1">
                <c:v>0.00953703</c:v>
              </c:pt>
            </c:numLit>
          </c:xVal>
          <c:yVal>
            <c:numLit>
              <c:formatCode>0.000</c:formatCode>
              <c:ptCount val="2"/>
              <c:pt idx="0">
                <c:v>1</c:v>
              </c:pt>
              <c:pt idx="1">
                <c:v>1</c:v>
              </c:pt>
            </c:numLit>
          </c:yVal>
        </c:ser>
        <c:ser>
          <c:idx val="6"/>
          <c:order val="6"/>
          <c:tx>
            <c:v>CI lower cap at K=10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-0.02023617</c:v>
              </c:pt>
              <c:pt idx="1">
                <c:v>-0.02023617</c:v>
              </c:pt>
            </c:numLit>
          </c:xVal>
          <c:yVal>
            <c:numLit>
              <c:formatCode>0.000</c:formatCode>
              <c:ptCount val="2"/>
              <c:pt idx="0">
                <c:v>4.935</c:v>
              </c:pt>
              <c:pt idx="1">
                <c:v>5.065</c:v>
              </c:pt>
            </c:numLit>
          </c:yVal>
        </c:ser>
        <c:ser>
          <c:idx val="7"/>
          <c:order val="7"/>
          <c:tx>
            <c:v>CI upper cap at K=10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-0.01882729</c:v>
              </c:pt>
              <c:pt idx="1">
                <c:v>-0.01882729</c:v>
              </c:pt>
            </c:numLit>
          </c:xVal>
          <c:yVal>
            <c:numLit>
              <c:formatCode>0.000</c:formatCode>
              <c:ptCount val="2"/>
              <c:pt idx="0">
                <c:v>4.935</c:v>
              </c:pt>
              <c:pt idx="1">
                <c:v>5.065</c:v>
              </c:pt>
            </c:numLit>
          </c:yVal>
        </c:ser>
        <c:ser>
          <c:idx val="8"/>
          <c:order val="8"/>
          <c:tx>
            <c:v>CI lower cap at K=30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0.01021579</c:v>
              </c:pt>
              <c:pt idx="1">
                <c:v>0.01021579</c:v>
              </c:pt>
            </c:numLit>
          </c:xVal>
          <c:yVal>
            <c:numLit>
              <c:formatCode>0.000</c:formatCode>
              <c:ptCount val="2"/>
              <c:pt idx="0">
                <c:v>3.935</c:v>
              </c:pt>
              <c:pt idx="1">
                <c:v>4.065</c:v>
              </c:pt>
            </c:numLit>
          </c:yVal>
        </c:ser>
        <c:ser>
          <c:idx val="9"/>
          <c:order val="9"/>
          <c:tx>
            <c:v>CI upper cap at K=30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0.01150741</c:v>
              </c:pt>
              <c:pt idx="1">
                <c:v>0.01150741</c:v>
              </c:pt>
            </c:numLit>
          </c:xVal>
          <c:yVal>
            <c:numLit>
              <c:formatCode>0.000</c:formatCode>
              <c:ptCount val="2"/>
              <c:pt idx="0">
                <c:v>3.935</c:v>
              </c:pt>
              <c:pt idx="1">
                <c:v>4.065</c:v>
              </c:pt>
            </c:numLit>
          </c:yVal>
        </c:ser>
        <c:ser>
          <c:idx val="10"/>
          <c:order val="10"/>
          <c:tx>
            <c:v>CI lower cap at K=50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0.00784398</c:v>
              </c:pt>
              <c:pt idx="1">
                <c:v>0.00784398</c:v>
              </c:pt>
            </c:numLit>
          </c:xVal>
          <c:yVal>
            <c:numLit>
              <c:formatCode>0.000</c:formatCode>
              <c:ptCount val="2"/>
              <c:pt idx="0">
                <c:v>2.935</c:v>
              </c:pt>
              <c:pt idx="1">
                <c:v>3.065</c:v>
              </c:pt>
            </c:numLit>
          </c:yVal>
        </c:ser>
        <c:ser>
          <c:idx val="11"/>
          <c:order val="11"/>
          <c:tx>
            <c:v>CI upper cap at K=50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0.00925389</c:v>
              </c:pt>
              <c:pt idx="1">
                <c:v>0.00925389</c:v>
              </c:pt>
            </c:numLit>
          </c:xVal>
          <c:yVal>
            <c:numLit>
              <c:formatCode>0.000</c:formatCode>
              <c:ptCount val="2"/>
              <c:pt idx="0">
                <c:v>2.935</c:v>
              </c:pt>
              <c:pt idx="1">
                <c:v>3.065</c:v>
              </c:pt>
            </c:numLit>
          </c:yVal>
        </c:ser>
        <c:ser>
          <c:idx val="12"/>
          <c:order val="12"/>
          <c:tx>
            <c:v>CI lower cap at K=100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0.00701006</c:v>
              </c:pt>
              <c:pt idx="1">
                <c:v>0.00701006</c:v>
              </c:pt>
            </c:numLit>
          </c:xVal>
          <c:yVal>
            <c:numLit>
              <c:formatCode>0.000</c:formatCode>
              <c:ptCount val="2"/>
              <c:pt idx="0">
                <c:v>1.935</c:v>
              </c:pt>
              <c:pt idx="1">
                <c:v>2.065</c:v>
              </c:pt>
            </c:numLit>
          </c:yVal>
        </c:ser>
        <c:ser>
          <c:idx val="13"/>
          <c:order val="13"/>
          <c:tx>
            <c:v>CI upper cap at K=100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0.00843288</c:v>
              </c:pt>
              <c:pt idx="1">
                <c:v>0.00843288</c:v>
              </c:pt>
            </c:numLit>
          </c:xVal>
          <c:yVal>
            <c:numLit>
              <c:formatCode>0.000</c:formatCode>
              <c:ptCount val="2"/>
              <c:pt idx="0">
                <c:v>1.935</c:v>
              </c:pt>
              <c:pt idx="1">
                <c:v>2.065</c:v>
              </c:pt>
            </c:numLit>
          </c:yVal>
        </c:ser>
        <c:ser>
          <c:idx val="14"/>
          <c:order val="14"/>
          <c:tx>
            <c:v>CI lower cap at K=200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0.0081588</c:v>
              </c:pt>
              <c:pt idx="1">
                <c:v>0.0081588</c:v>
              </c:pt>
            </c:numLit>
          </c:xVal>
          <c:yVal>
            <c:numLit>
              <c:formatCode>0.000</c:formatCode>
              <c:ptCount val="2"/>
              <c:pt idx="0">
                <c:v>0.935</c:v>
              </c:pt>
              <c:pt idx="1">
                <c:v>1.065</c:v>
              </c:pt>
            </c:numLit>
          </c:yVal>
        </c:ser>
        <c:ser>
          <c:idx val="15"/>
          <c:order val="15"/>
          <c:tx>
            <c:v>CI upper cap at K=200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0.00953703</c:v>
              </c:pt>
              <c:pt idx="1">
                <c:v>0.00953703</c:v>
              </c:pt>
            </c:numLit>
          </c:xVal>
          <c:yVal>
            <c:numLit>
              <c:formatCode>0.000</c:formatCode>
              <c:ptCount val="2"/>
              <c:pt idx="0">
                <c:v>0.935</c:v>
              </c:pt>
              <c:pt idx="1">
                <c:v>1.065</c:v>
              </c:pt>
            </c:numLit>
          </c:yVal>
        </c:ser>
        <c:ser>
          <c:idx val="16"/>
          <c:order val="16"/>
          <c:tx>
            <c:v>Pool depth</c:v>
          </c:tx>
          <c:spPr>
            <a:solidFill xmlns:a="http://schemas.openxmlformats.org/drawingml/2006/main">
              <a:srgbClr val="51646A"/>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s>
          <c:xVal>
            <c:numLit>
              <c:formatCode>General</c:formatCode>
              <c:ptCount val="5"/>
              <c:pt idx="0">
                <c:v>-0.03</c:v>
              </c:pt>
              <c:pt idx="1">
                <c:v>-0.03</c:v>
              </c:pt>
              <c:pt idx="2">
                <c:v>-0.03</c:v>
              </c:pt>
              <c:pt idx="3">
                <c:v>-0.03</c:v>
              </c:pt>
              <c:pt idx="4">
                <c:v>-0.03</c:v>
              </c:pt>
            </c:numLit>
          </c:xVal>
          <c:yVal>
            <c:numLit>
              <c:formatCode>0.000</c:formatCode>
              <c:ptCount val="5"/>
              <c:pt idx="0">
                <c:v>5</c:v>
              </c:pt>
              <c:pt idx="1">
                <c:v>4</c:v>
              </c:pt>
              <c:pt idx="2">
                <c:v>3</c:v>
              </c:pt>
              <c:pt idx="3">
                <c:v>2</c:v>
              </c:pt>
              <c:pt idx="4">
                <c:v>1</c:v>
              </c:pt>
            </c:numLit>
          </c:yVal>
        </c:ser>
        <c:ser>
          <c:idx val="17"/>
          <c:order val="17"/>
          <c:tx>
            <c:v>RRF minus E5 (horizontal)</c:v>
          </c:tx>
          <c:spPr>
            <a:solidFill xmlns:a="http://schemas.openxmlformats.org/drawingml/2006/main">
              <a:srgbClr val="C64F37"/>
            </a:solidFill>
            <a:ln xmlns:a="http://schemas.openxmlformats.org/drawingml/2006/main" w="0">
              <a:noFill/>
            </a:ln>
          </c:spPr>
          <c:marker>
            <c:symbol val="circle"/>
            <c:size val="4"/>
            <c:spPr>
              <a:noFill xmlns:a="http://schemas.openxmlformats.org/drawingml/2006/main"/>
            </c:spPr>
          </c:marker>
          <c:xVal>
            <c:numLit>
              <c:formatCode>General</c:formatCode>
              <c:ptCount val="5"/>
              <c:pt idx="0">
                <c:v>-0.01952103</c:v>
              </c:pt>
              <c:pt idx="1">
                <c:v>0.01085768</c:v>
              </c:pt>
              <c:pt idx="2">
                <c:v>0.00854269</c:v>
              </c:pt>
              <c:pt idx="3">
                <c:v>0.00771191</c:v>
              </c:pt>
              <c:pt idx="4">
                <c:v>0.00883193</c:v>
              </c:pt>
            </c:numLit>
          </c:xVal>
          <c:yVal>
            <c:numLit>
              <c:formatCode>0.000</c:formatCode>
              <c:ptCount val="5"/>
              <c:pt idx="0">
                <c:v>5</c:v>
              </c:pt>
              <c:pt idx="1">
                <c:v>4</c:v>
              </c:pt>
              <c:pt idx="2">
                <c:v>3</c:v>
              </c:pt>
              <c:pt idx="3">
                <c:v>2</c:v>
              </c:pt>
              <c:pt idx="4">
                <c:v>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Разность NDCG@10: RRF минус E5</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6.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E8B91"/>
            </a:solidFill>
            <a:ln xmlns:a="http://schemas.openxmlformats.org/drawingml/2006/main" w="13335">
              <a:solidFill>
                <a:srgbClr val="7E8B91"/>
              </a:solidFill>
            </a:ln>
          </c:spPr>
          <c:marker>
            <c:symbol val="none"/>
          </c:marker>
          <c:xVal>
            <c:numLit>
              <c:formatCode>General</c:formatCode>
              <c:ptCount val="2"/>
              <c:pt idx="0">
                <c:v>0</c:v>
              </c:pt>
              <c:pt idx="1">
                <c:v>210</c:v>
              </c:pt>
            </c:numLit>
          </c:xVal>
          <c:yVal>
            <c:numLit>
              <c:formatCode>0.000</c:formatCode>
              <c:ptCount val="2"/>
              <c:pt idx="0">
                <c:v>0</c:v>
              </c:pt>
              <c:pt idx="1">
                <c:v>0</c:v>
              </c:pt>
            </c:numLit>
          </c:yVal>
        </c:ser>
        <c:ser>
          <c:idx val="1"/>
          <c:order val="1"/>
          <c:tx>
            <c:v>95% paired CI at K=10</c:v>
          </c:tx>
          <c:spPr>
            <a:solidFill xmlns:a="http://schemas.openxmlformats.org/drawingml/2006/main">
              <a:srgbClr val="007D76"/>
            </a:solidFill>
            <a:ln xmlns:a="http://schemas.openxmlformats.org/drawingml/2006/main" w="24765">
              <a:solidFill>
                <a:srgbClr val="007D76"/>
              </a:solidFill>
            </a:ln>
          </c:spPr>
          <c:marker>
            <c:symbol val="none"/>
          </c:marker>
          <c:xVal>
            <c:numLit>
              <c:formatCode>General</c:formatCode>
              <c:ptCount val="2"/>
              <c:pt idx="0">
                <c:v>10</c:v>
              </c:pt>
              <c:pt idx="1">
                <c:v>10</c:v>
              </c:pt>
            </c:numLit>
          </c:xVal>
          <c:yVal>
            <c:numLit>
              <c:formatCode>0.000</c:formatCode>
              <c:ptCount val="2"/>
              <c:pt idx="0">
                <c:v>-0.06706846</c:v>
              </c:pt>
              <c:pt idx="1">
                <c:v>-0.06516868</c:v>
              </c:pt>
            </c:numLit>
          </c:yVal>
        </c:ser>
        <c:ser>
          <c:idx val="2"/>
          <c:order val="2"/>
          <c:tx>
            <c:v>95% paired CI at K=30</c:v>
          </c:tx>
          <c:spPr>
            <a:solidFill xmlns:a="http://schemas.openxmlformats.org/drawingml/2006/main">
              <a:srgbClr val="007D76"/>
            </a:solidFill>
            <a:ln xmlns:a="http://schemas.openxmlformats.org/drawingml/2006/main" w="24765">
              <a:solidFill>
                <a:srgbClr val="007D76"/>
              </a:solidFill>
            </a:ln>
          </c:spPr>
          <c:marker>
            <c:symbol val="none"/>
          </c:marker>
          <c:xVal>
            <c:numLit>
              <c:formatCode>General</c:formatCode>
              <c:ptCount val="2"/>
              <c:pt idx="0">
                <c:v>30</c:v>
              </c:pt>
              <c:pt idx="1">
                <c:v>30</c:v>
              </c:pt>
            </c:numLit>
          </c:xVal>
          <c:yVal>
            <c:numLit>
              <c:formatCode>0.000</c:formatCode>
              <c:ptCount val="2"/>
              <c:pt idx="0">
                <c:v>0.00727626</c:v>
              </c:pt>
              <c:pt idx="1">
                <c:v>0.00875623</c:v>
              </c:pt>
            </c:numLit>
          </c:yVal>
        </c:ser>
        <c:ser>
          <c:idx val="3"/>
          <c:order val="3"/>
          <c:tx>
            <c:v>95% paired CI at K=50</c:v>
          </c:tx>
          <c:spPr>
            <a:solidFill xmlns:a="http://schemas.openxmlformats.org/drawingml/2006/main">
              <a:srgbClr val="007D76"/>
            </a:solidFill>
            <a:ln xmlns:a="http://schemas.openxmlformats.org/drawingml/2006/main" w="24765">
              <a:solidFill>
                <a:srgbClr val="007D76"/>
              </a:solidFill>
            </a:ln>
          </c:spPr>
          <c:marker>
            <c:symbol val="none"/>
          </c:marker>
          <c:xVal>
            <c:numLit>
              <c:formatCode>General</c:formatCode>
              <c:ptCount val="2"/>
              <c:pt idx="0">
                <c:v>50</c:v>
              </c:pt>
              <c:pt idx="1">
                <c:v>50</c:v>
              </c:pt>
            </c:numLit>
          </c:xVal>
          <c:yVal>
            <c:numLit>
              <c:formatCode>0.000</c:formatCode>
              <c:ptCount val="2"/>
              <c:pt idx="0">
                <c:v>0.00828331</c:v>
              </c:pt>
              <c:pt idx="1">
                <c:v>0.0097065</c:v>
              </c:pt>
            </c:numLit>
          </c:yVal>
        </c:ser>
        <c:ser>
          <c:idx val="4"/>
          <c:order val="4"/>
          <c:tx>
            <c:v>95% paired CI at K=100</c:v>
          </c:tx>
          <c:spPr>
            <a:solidFill xmlns:a="http://schemas.openxmlformats.org/drawingml/2006/main">
              <a:srgbClr val="007D76"/>
            </a:solidFill>
            <a:ln xmlns:a="http://schemas.openxmlformats.org/drawingml/2006/main" w="24765">
              <a:solidFill>
                <a:srgbClr val="007D76"/>
              </a:solidFill>
            </a:ln>
          </c:spPr>
          <c:marker>
            <c:symbol val="none"/>
          </c:marker>
          <c:xVal>
            <c:numLit>
              <c:formatCode>General</c:formatCode>
              <c:ptCount val="2"/>
              <c:pt idx="0">
                <c:v>100</c:v>
              </c:pt>
              <c:pt idx="1">
                <c:v>100</c:v>
              </c:pt>
            </c:numLit>
          </c:xVal>
          <c:yVal>
            <c:numLit>
              <c:formatCode>0.000</c:formatCode>
              <c:ptCount val="2"/>
              <c:pt idx="0">
                <c:v>0.00822793</c:v>
              </c:pt>
              <c:pt idx="1">
                <c:v>0.00962559</c:v>
              </c:pt>
            </c:numLit>
          </c:yVal>
        </c:ser>
        <c:ser>
          <c:idx val="5"/>
          <c:order val="5"/>
          <c:tx>
            <c:v>95% paired CI at K=200</c:v>
          </c:tx>
          <c:spPr>
            <a:solidFill xmlns:a="http://schemas.openxmlformats.org/drawingml/2006/main">
              <a:srgbClr val="007D76"/>
            </a:solidFill>
            <a:ln xmlns:a="http://schemas.openxmlformats.org/drawingml/2006/main" w="24765">
              <a:solidFill>
                <a:srgbClr val="007D76"/>
              </a:solidFill>
            </a:ln>
          </c:spPr>
          <c:marker>
            <c:symbol val="none"/>
          </c:marker>
          <c:xVal>
            <c:numLit>
              <c:formatCode>General</c:formatCode>
              <c:ptCount val="2"/>
              <c:pt idx="0">
                <c:v>200</c:v>
              </c:pt>
              <c:pt idx="1">
                <c:v>200</c:v>
              </c:pt>
            </c:numLit>
          </c:xVal>
          <c:yVal>
            <c:numLit>
              <c:formatCode>0.000</c:formatCode>
              <c:ptCount val="2"/>
              <c:pt idx="0">
                <c:v>0.0081588</c:v>
              </c:pt>
              <c:pt idx="1">
                <c:v>0.00953703</c:v>
              </c:pt>
            </c:numLit>
          </c:yVal>
        </c:ser>
        <c:ser>
          <c:idx val="6"/>
          <c:order val="6"/>
          <c:tx>
            <c:v>CI lower cap at K=10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8.6</c:v>
              </c:pt>
              <c:pt idx="1">
                <c:v>11.4</c:v>
              </c:pt>
            </c:numLit>
          </c:xVal>
          <c:yVal>
            <c:numLit>
              <c:formatCode>0.000</c:formatCode>
              <c:ptCount val="2"/>
              <c:pt idx="0">
                <c:v>-0.06706846</c:v>
              </c:pt>
              <c:pt idx="1">
                <c:v>-0.06706846</c:v>
              </c:pt>
            </c:numLit>
          </c:yVal>
        </c:ser>
        <c:ser>
          <c:idx val="7"/>
          <c:order val="7"/>
          <c:tx>
            <c:v>CI upper cap at K=10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8.6</c:v>
              </c:pt>
              <c:pt idx="1">
                <c:v>11.4</c:v>
              </c:pt>
            </c:numLit>
          </c:xVal>
          <c:yVal>
            <c:numLit>
              <c:formatCode>0.000</c:formatCode>
              <c:ptCount val="2"/>
              <c:pt idx="0">
                <c:v>-0.06516868</c:v>
              </c:pt>
              <c:pt idx="1">
                <c:v>-0.06516868</c:v>
              </c:pt>
            </c:numLit>
          </c:yVal>
        </c:ser>
        <c:ser>
          <c:idx val="8"/>
          <c:order val="8"/>
          <c:tx>
            <c:v>CI lower cap at K=30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28.6</c:v>
              </c:pt>
              <c:pt idx="1">
                <c:v>31.4</c:v>
              </c:pt>
            </c:numLit>
          </c:xVal>
          <c:yVal>
            <c:numLit>
              <c:formatCode>0.000</c:formatCode>
              <c:ptCount val="2"/>
              <c:pt idx="0">
                <c:v>0.00727626</c:v>
              </c:pt>
              <c:pt idx="1">
                <c:v>0.00727626</c:v>
              </c:pt>
            </c:numLit>
          </c:yVal>
        </c:ser>
        <c:ser>
          <c:idx val="9"/>
          <c:order val="9"/>
          <c:tx>
            <c:v>CI upper cap at K=30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28.6</c:v>
              </c:pt>
              <c:pt idx="1">
                <c:v>31.4</c:v>
              </c:pt>
            </c:numLit>
          </c:xVal>
          <c:yVal>
            <c:numLit>
              <c:formatCode>0.000</c:formatCode>
              <c:ptCount val="2"/>
              <c:pt idx="0">
                <c:v>0.00875623</c:v>
              </c:pt>
              <c:pt idx="1">
                <c:v>0.00875623</c:v>
              </c:pt>
            </c:numLit>
          </c:yVal>
        </c:ser>
        <c:ser>
          <c:idx val="10"/>
          <c:order val="10"/>
          <c:tx>
            <c:v>CI lower cap at K=50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48.6</c:v>
              </c:pt>
              <c:pt idx="1">
                <c:v>51.4</c:v>
              </c:pt>
            </c:numLit>
          </c:xVal>
          <c:yVal>
            <c:numLit>
              <c:formatCode>0.000</c:formatCode>
              <c:ptCount val="2"/>
              <c:pt idx="0">
                <c:v>0.00828331</c:v>
              </c:pt>
              <c:pt idx="1">
                <c:v>0.00828331</c:v>
              </c:pt>
            </c:numLit>
          </c:yVal>
        </c:ser>
        <c:ser>
          <c:idx val="11"/>
          <c:order val="11"/>
          <c:tx>
            <c:v>CI upper cap at K=50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48.6</c:v>
              </c:pt>
              <c:pt idx="1">
                <c:v>51.4</c:v>
              </c:pt>
            </c:numLit>
          </c:xVal>
          <c:yVal>
            <c:numLit>
              <c:formatCode>0.000</c:formatCode>
              <c:ptCount val="2"/>
              <c:pt idx="0">
                <c:v>0.0097065</c:v>
              </c:pt>
              <c:pt idx="1">
                <c:v>0.0097065</c:v>
              </c:pt>
            </c:numLit>
          </c:yVal>
        </c:ser>
        <c:ser>
          <c:idx val="12"/>
          <c:order val="12"/>
          <c:tx>
            <c:v>CI lower cap at K=100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98.6</c:v>
              </c:pt>
              <c:pt idx="1">
                <c:v>101.4</c:v>
              </c:pt>
            </c:numLit>
          </c:xVal>
          <c:yVal>
            <c:numLit>
              <c:formatCode>0.000</c:formatCode>
              <c:ptCount val="2"/>
              <c:pt idx="0">
                <c:v>0.00822793</c:v>
              </c:pt>
              <c:pt idx="1">
                <c:v>0.00822793</c:v>
              </c:pt>
            </c:numLit>
          </c:yVal>
        </c:ser>
        <c:ser>
          <c:idx val="13"/>
          <c:order val="13"/>
          <c:tx>
            <c:v>CI upper cap at K=100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98.6</c:v>
              </c:pt>
              <c:pt idx="1">
                <c:v>101.4</c:v>
              </c:pt>
            </c:numLit>
          </c:xVal>
          <c:yVal>
            <c:numLit>
              <c:formatCode>0.000</c:formatCode>
              <c:ptCount val="2"/>
              <c:pt idx="0">
                <c:v>0.00962559</c:v>
              </c:pt>
              <c:pt idx="1">
                <c:v>0.00962559</c:v>
              </c:pt>
            </c:numLit>
          </c:yVal>
        </c:ser>
        <c:ser>
          <c:idx val="14"/>
          <c:order val="14"/>
          <c:tx>
            <c:v>CI lower cap at K=200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198.6</c:v>
              </c:pt>
              <c:pt idx="1">
                <c:v>201.4</c:v>
              </c:pt>
            </c:numLit>
          </c:xVal>
          <c:yVal>
            <c:numLit>
              <c:formatCode>0.000</c:formatCode>
              <c:ptCount val="2"/>
              <c:pt idx="0">
                <c:v>0.0081588</c:v>
              </c:pt>
              <c:pt idx="1">
                <c:v>0.0081588</c:v>
              </c:pt>
            </c:numLit>
          </c:yVal>
        </c:ser>
        <c:ser>
          <c:idx val="15"/>
          <c:order val="15"/>
          <c:tx>
            <c:v>CI upper cap at K=200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198.6</c:v>
              </c:pt>
              <c:pt idx="1">
                <c:v>201.4</c:v>
              </c:pt>
            </c:numLit>
          </c:xVal>
          <c:yVal>
            <c:numLit>
              <c:formatCode>0.000</c:formatCode>
              <c:ptCount val="2"/>
              <c:pt idx="0">
                <c:v>0.00953703</c:v>
              </c:pt>
              <c:pt idx="1">
                <c:v>0.00953703</c:v>
              </c:pt>
            </c:numLit>
          </c:yVal>
        </c:ser>
        <c:ser>
          <c:idx val="16"/>
          <c:order val="16"/>
          <c:tx>
            <c:v>RRF minus E5</c:v>
          </c:tx>
          <c:spPr>
            <a:solidFill xmlns:a="http://schemas.openxmlformats.org/drawingml/2006/main">
              <a:srgbClr val="007D76"/>
            </a:solidFill>
            <a:ln xmlns:a="http://schemas.openxmlformats.org/drawingml/2006/main" w="28575">
              <a:solidFill>
                <a:srgbClr val="007D76"/>
              </a:solidFill>
            </a:ln>
          </c:spPr>
          <c:marker>
            <c:symbol val="circle"/>
            <c:size val="3"/>
            <c:spPr>
              <a:solidFill xmlns:a="http://schemas.openxmlformats.org/drawingml/2006/main">
                <a:srgbClr val="007D76"/>
              </a:solidFill>
            </c:spPr>
          </c:marker>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7E0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Разность NDCG@10</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Глубина оценочного пула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9" name="01">
            <a:extLst xmlns:a="http://schemas.openxmlformats.org/drawingml/2006/main">
              <a:ext uri="{FF2B5EF4-FFF2-40B4-BE49-F238E27FC236}">
                <a16:creationId xmlns:a16="http://schemas.microsoft.com/office/drawing/2014/main" id="{BD78E999-C925-48FD-9BE3-DD3A8428168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22d63df040b459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71E57842-FA41-47FB-86C9-6FA5F1C406BB}"/>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Оценка поиска&#10;на MS MARCO">
            <a:extLst xmlns:a="http://schemas.openxmlformats.org/drawingml/2006/main">
              <a:ext uri="{FF2B5EF4-FFF2-40B4-BE49-F238E27FC236}">
                <a16:creationId xmlns:a16="http://schemas.microsoft.com/office/drawing/2014/main" id="{09051D7A-7E6C-443A-A3CB-6A553A695D3B}"/>
              </a:ext>
            </a:extLst>
          </p:cNvPr>
          <p:cNvSpPr>
            <a:spLocks xmlns:a="http://schemas.openxmlformats.org/drawingml/2006/main" noGrp="1"/>
          </p:cNvSpPr>
          <p:nvPr/>
        </p:nvSpPr>
        <p:spPr>
          <a:xfrm xmlns:a="http://schemas.openxmlformats.org/drawingml/2006/main">
            <a:off x="609600" y="1381125"/>
            <a:ext cx="7762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Оценка поиска</a:t>
            </a:r>
          </a:p>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на MS MARCO</a:t>
            </a:r>
          </a:p>
        </p:txBody>
      </p:sp>
      <p:sp>
        <p:nvSpPr>
          <p:cNvPr id="5" name="Доразметка и контролируемые&#10;пулы кандидатов">
            <a:extLst xmlns:a="http://schemas.openxmlformats.org/drawingml/2006/main">
              <a:ext uri="{FF2B5EF4-FFF2-40B4-BE49-F238E27FC236}">
                <a16:creationId xmlns:a16="http://schemas.microsoft.com/office/drawing/2014/main" id="{951A8D60-A810-473A-8054-B9E42F47BC89}"/>
              </a:ext>
            </a:extLst>
          </p:cNvPr>
          <p:cNvSpPr>
            <a:spLocks xmlns:a="http://schemas.openxmlformats.org/drawingml/2006/main" noGrp="1"/>
          </p:cNvSpPr>
          <p:nvPr/>
        </p:nvSpPr>
        <p:spPr>
          <a:xfrm xmlns:a="http://schemas.openxmlformats.org/drawingml/2006/main">
            <a:off x="609600" y="3495675"/>
            <a:ext cx="752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C9DDDA"/>
                </a:solidFill>
                <a:latin typeface="Arial"/>
                <a:ea typeface="Arial"/>
                <a:cs typeface="Arial"/>
              </a:defRPr>
            </a:pPr>
            <a:r>
              <a:rPr sz="2625" b="0">
                <a:solidFill>
                  <a:srgbClr val="C9DDDA"/>
                </a:solidFill>
                <a:latin typeface="Arial"/>
                <a:ea typeface="Arial"/>
                <a:cs typeface="Arial"/>
              </a:rPr>
              <a:t>Доразметка и контролируемые</a:t>
            </a:r>
          </a:p>
          <a:p xmlns:a="http://schemas.openxmlformats.org/drawingml/2006/main">
            <a:pPr algn="l">
              <a:defRPr sz="2625" b="0">
                <a:solidFill>
                  <a:srgbClr val="C9DDDA"/>
                </a:solidFill>
                <a:latin typeface="Arial"/>
                <a:ea typeface="Arial"/>
                <a:cs typeface="Arial"/>
              </a:defRPr>
            </a:pPr>
            <a:r>
              <a:rPr sz="2625" b="0">
                <a:solidFill>
                  <a:srgbClr val="C9DDDA"/>
                </a:solidFill>
                <a:latin typeface="Arial"/>
                <a:ea typeface="Arial"/>
                <a:cs typeface="Arial"/>
              </a:rPr>
              <a:t>пулы кандидатов</a:t>
            </a:r>
          </a:p>
        </p:txBody>
      </p:sp>
      <p:sp>
        <p:nvSpPr>
          <p:cNvPr id="6" name="Как меняется оценка неизменной выдачи">
            <a:extLst xmlns:a="http://schemas.openxmlformats.org/drawingml/2006/main">
              <a:ext uri="{FF2B5EF4-FFF2-40B4-BE49-F238E27FC236}">
                <a16:creationId xmlns:a16="http://schemas.microsoft.com/office/drawing/2014/main" id="{E510F27E-9D4A-414C-86F0-2C287E9E6747}"/>
              </a:ext>
            </a:extLst>
          </p:cNvPr>
          <p:cNvSpPr>
            <a:spLocks xmlns:a="http://schemas.openxmlformats.org/drawingml/2006/main" noGrp="1"/>
          </p:cNvSpPr>
          <p:nvPr/>
        </p:nvSpPr>
        <p:spPr>
          <a:xfrm xmlns:a="http://schemas.openxmlformats.org/drawingml/2006/main">
            <a:off x="609600" y="4552950"/>
            <a:ext cx="7524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8ACEC4"/>
                </a:solidFill>
                <a:latin typeface="Arial"/>
                <a:ea typeface="Arial"/>
                <a:cs typeface="Arial"/>
              </a:defRPr>
            </a:pPr>
            <a:r>
              <a:rPr sz="2025" b="0">
                <a:solidFill>
                  <a:srgbClr val="8ACEC4"/>
                </a:solidFill>
                <a:latin typeface="Arial"/>
                <a:ea typeface="Arial"/>
                <a:cs typeface="Arial"/>
              </a:rPr>
              <a:t>Как меняется оценка неизменной выдачи</a:t>
            </a:r>
          </a:p>
        </p:txBody>
      </p:sp>
      <p:sp>
        <p:nvSpPr>
          <p:cNvPr id="7" name=", ,&#10; Лукашеви">
            <a:extLst xmlns:a="http://schemas.openxmlformats.org/drawingml/2006/main">
              <a:ext uri="{FF2B5EF4-FFF2-40B4-BE49-F238E27FC236}">
                <a16:creationId xmlns:a16="http://schemas.microsoft.com/office/drawing/2014/main" id="{E404BEEE-4DBB-40AD-AEE0-4969917EFDC8}"/>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8" name="">
            <a:extLst xmlns:a="http://schemas.openxmlformats.org/drawingml/2006/main">
              <a:ext uri="{FF2B5EF4-FFF2-40B4-BE49-F238E27FC236}">
                <a16:creationId xmlns:a16="http://schemas.microsoft.com/office/drawing/2014/main" id="{4FDEF735-E5A8-4B0B-8A10-179E8CC3EC9F}"/>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42065379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Почему MS MARCO">
            <a:extLst xmlns:a="http://schemas.openxmlformats.org/drawingml/2006/main">
              <a:ext uri="{FF2B5EF4-FFF2-40B4-BE49-F238E27FC236}">
                <a16:creationId xmlns:a16="http://schemas.microsoft.com/office/drawing/2014/main" id="{644E2ED4-A821-47F0-9CB8-7791F1E3563D}"/>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Почему MS MARCO</a:t>
            </a:r>
          </a:p>
        </p:txBody>
      </p:sp>
      <p:sp>
        <p:nvSpPr>
          <p:cNvPr id="2" name="02">
            <a:extLst xmlns:a="http://schemas.openxmlformats.org/drawingml/2006/main">
              <a:ext uri="{FF2B5EF4-FFF2-40B4-BE49-F238E27FC236}">
                <a16:creationId xmlns:a16="http://schemas.microsoft.com/office/drawing/2014/main" id="{E9329832-417E-4DBD-B834-5E863FE8E3A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02</a:t>
            </a:r>
          </a:p>
        </p:txBody>
      </p:sp>
      <p:sp>
        <p:nvSpPr>
          <p:cNvPr id="3" name="Разные коллекции отвечают на разные вопросы о ка">
            <a:extLst xmlns:a="http://schemas.openxmlformats.org/drawingml/2006/main">
              <a:ext uri="{FF2B5EF4-FFF2-40B4-BE49-F238E27FC236}">
                <a16:creationId xmlns:a16="http://schemas.microsoft.com/office/drawing/2014/main" id="{07DC9B19-3072-4A3A-9BFF-E023A3B87180}"/>
              </a:ext>
            </a:extLst>
          </p:cNvPr>
          <p:cNvSpPr>
            <a:spLocks xmlns:a="http://schemas.openxmlformats.org/drawingml/2006/main" noGrp="1"/>
          </p:cNvSpPr>
          <p:nvPr/>
        </p:nvSpPr>
        <p:spPr>
          <a:xfrm xmlns:a="http://schemas.openxmlformats.org/drawingml/2006/main">
            <a:off x="609600" y="14763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Разные коллекции отвечают на разные вопросы о качестве поиска</a:t>
            </a:r>
          </a:p>
        </p:txBody>
      </p:sp>
      <p:graphicFrame>
        <p:nvGraphicFramePr>
          <p:cNvPr id="11" name=""/>
          <p:cNvGraphicFramePr/>
          <p:nvPr/>
        </p:nvGraphicFramePr>
        <p:xfrm>
          <a:off xmlns:a="http://schemas.openxmlformats.org/drawingml/2006/main" x="609600" y="2200275"/>
          <a:ext xmlns:a="http://schemas.openxmlformats.org/drawingml/2006/main" cx="10972800" cy="2695575"/>
        </p:xfrm>
        <a:graphic xmlns:a="http://schemas.openxmlformats.org/drawingml/2006/main">
          <a:graphicData uri="http://schemas.openxmlformats.org/drawingml/2006/table">
            <a:tbl>
              <a:tblPr firstRow="0" bandRow="0" bandCol="0"/>
              <a:tblGrid>
                <a:gridCol w="3190875"/>
                <a:gridCol w="7781925"/>
              </a:tblGrid>
              <a:tr h="523875">
                <a:tc>
                  <a:txBody>
                    <a:bodyPr lIns="171450" tIns="95250" rIns="171450" bIns="95250">
                      <a:noAutofit/>
                    </a:bodyPr>
                    <a:lstStyle/>
                    <a:p>
                      <a:r>
                        <a:rPr sz="1875" b="1">
                          <a:solidFill>
                            <a:srgbClr val="51646A"/>
                          </a:solidFill>
                          <a:latin typeface="Arial"/>
                          <a:ea typeface="Arial"/>
                          <a:cs typeface="Arial"/>
                        </a:rPr>
                        <a:t>Набор / бенчмарк</a:t>
                      </a:r>
                    </a:p>
                  </a:txBody>
                  <a:tcPr marL="91440" marR="91440" marT="45720" marB="45720" anchor="ctr">
                    <a:lnL w="0">
                      <a:solidFill>
                        <a:srgbClr val="FFFFFF"/>
                      </a:solidFill>
                    </a:lnL>
                    <a:lnT w="0">
                      <a:solidFill>
                        <a:srgbClr val="FFFFFF"/>
                      </a:solidFill>
                    </a:lnT>
                    <a:solidFill>
                      <a:srgbClr val="F0F4F4"/>
                    </a:solidFill>
                  </a:tcPr>
                </a:tc>
                <a:tc>
                  <a:txBody>
                    <a:bodyPr lIns="171450" tIns="95250" rIns="171450" bIns="95250">
                      <a:noAutofit/>
                    </a:bodyPr>
                    <a:lstStyle/>
                    <a:p>
                      <a:r>
                        <a:rPr sz="1875" b="1">
                          <a:solidFill>
                            <a:srgbClr val="51646A"/>
                          </a:solidFill>
                          <a:latin typeface="Arial"/>
                          <a:ea typeface="Arial"/>
                          <a:cs typeface="Arial"/>
                        </a:rPr>
                        <a:t>Что позволяет проверить</a:t>
                      </a:r>
                    </a:p>
                  </a:txBody>
                  <a:tcPr marL="91440" marR="91440" marT="45720" marB="45720" anchor="ctr">
                    <a:lnR w="0">
                      <a:solidFill>
                        <a:srgbClr val="FFFFFF"/>
                      </a:solidFill>
                    </a:lnR>
                    <a:lnT w="0">
                      <a:solidFill>
                        <a:srgbClr val="FFFFFF"/>
                      </a:solidFill>
                    </a:lnT>
                    <a:solidFill>
                      <a:srgbClr val="F0F4F4"/>
                    </a:solidFill>
                  </a:tcPr>
                </a:tc>
              </a:tr>
              <a:tr h="666750">
                <a:tc>
                  <a:txBody>
                    <a:bodyPr lIns="171450" tIns="95250" rIns="171450" bIns="95250">
                      <a:noAutofit/>
                    </a:bodyPr>
                    <a:lstStyle/>
                    <a:p>
                      <a:r>
                        <a:rPr sz="2025" b="0">
                          <a:solidFill>
                            <a:srgbClr val="17282B"/>
                          </a:solidFill>
                          <a:latin typeface="Arial"/>
                          <a:ea typeface="Arial"/>
                          <a:cs typeface="Arial"/>
                        </a:rPr>
                        <a:t>Natural Questions</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7282B"/>
                          </a:solidFill>
                          <a:latin typeface="Arial"/>
                          <a:ea typeface="Arial"/>
                          <a:cs typeface="Arial"/>
                        </a:rPr>
                        <a:t>Ответы на реальные запросы Google</a:t>
                      </a:r>
                    </a:p>
                  </a:txBody>
                  <a:tcPr marL="91440" marR="91440" marT="45720" marB="45720" anchor="ctr">
                    <a:lnR w="0">
                      <a:solidFill>
                        <a:srgbClr val="FFFFFF"/>
                      </a:solidFill>
                    </a:lnR>
                    <a:solidFill>
                      <a:srgbClr val="FFFFFF"/>
                    </a:solidFill>
                  </a:tcPr>
                </a:tc>
              </a:tr>
              <a:tr h="666750">
                <a:tc>
                  <a:txBody>
                    <a:bodyPr lIns="171450" tIns="95250" rIns="171450" bIns="95250">
                      <a:noAutofit/>
                    </a:bodyPr>
                    <a:lstStyle/>
                    <a:p>
                      <a:r>
                        <a:rPr sz="2025" b="0">
                          <a:solidFill>
                            <a:srgbClr val="17282B"/>
                          </a:solidFill>
                          <a:latin typeface="Arial"/>
                          <a:ea typeface="Arial"/>
                          <a:cs typeface="Arial"/>
                        </a:rPr>
                        <a:t>BEIR</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7282B"/>
                          </a:solidFill>
                          <a:latin typeface="Arial"/>
                          <a:ea typeface="Arial"/>
                          <a:cs typeface="Arial"/>
                        </a:rPr>
                        <a:t>Перенос между задачами и доменами</a:t>
                      </a:r>
                    </a:p>
                  </a:txBody>
                  <a:tcPr marL="91440" marR="91440" marT="45720" marB="45720" anchor="ctr">
                    <a:lnR w="0">
                      <a:solidFill>
                        <a:srgbClr val="FFFFFF"/>
                      </a:solidFill>
                    </a:lnR>
                    <a:solidFill>
                      <a:srgbClr val="FFFFFF"/>
                    </a:solidFill>
                  </a:tcPr>
                </a:tc>
              </a:tr>
              <a:tr h="838200">
                <a:tc>
                  <a:txBody>
                    <a:bodyPr lIns="171450" tIns="95250" rIns="171450" bIns="95250">
                      <a:noAutofit/>
                    </a:bodyPr>
                    <a:lstStyle/>
                    <a:p>
                      <a:r>
                        <a:rPr sz="2025" b="1">
                          <a:solidFill>
                            <a:srgbClr val="007D76"/>
                          </a:solidFill>
                          <a:latin typeface="Arial"/>
                          <a:ea typeface="Arial"/>
                          <a:cs typeface="Arial"/>
                        </a:rPr>
                        <a:t>MS MARCO</a:t>
                      </a:r>
                    </a:p>
                  </a:txBody>
                  <a:tcPr marL="91440" marR="91440" marT="45720" marB="45720" anchor="ctr">
                    <a:lnL w="0">
                      <a:solidFill>
                        <a:srgbClr val="FFFFFF"/>
                      </a:solidFill>
                    </a:lnL>
                    <a:lnB w="7620">
                      <a:solidFill>
                        <a:srgbClr val="D7E0E0"/>
                      </a:solidFill>
                    </a:lnB>
                    <a:solidFill>
                      <a:srgbClr val="E4F2ED"/>
                    </a:solidFill>
                  </a:tcPr>
                </a:tc>
                <a:tc>
                  <a:txBody>
                    <a:bodyPr lIns="171450" tIns="95250" rIns="171450" bIns="95250">
                      <a:noAutofit/>
                    </a:bodyPr>
                    <a:lstStyle/>
                    <a:p>
                      <a:r>
                        <a:rPr sz="2025" b="1">
                          <a:solidFill>
                            <a:srgbClr val="007D76"/>
                          </a:solidFill>
                          <a:latin typeface="Arial"/>
                          <a:ea typeface="Arial"/>
                          <a:cs typeface="Arial"/>
                        </a:rPr>
                        <a:t>Ранжирование веб-фрагментов для запросов Bing</a:t>
                      </a:r>
                    </a:p>
                  </a:txBody>
                  <a:tcPr marL="91440" marR="91440" marT="45720" marB="45720" anchor="ctr">
                    <a:lnR w="0">
                      <a:solidFill>
                        <a:srgbClr val="FFFFFF"/>
                      </a:solidFill>
                    </a:lnR>
                    <a:lnB w="7620">
                      <a:solidFill>
                        <a:srgbClr val="D7E0E0"/>
                      </a:solidFill>
                    </a:lnB>
                    <a:solidFill>
                      <a:srgbClr val="E4F2ED"/>
                    </a:solidFill>
                  </a:tcPr>
                </a:tc>
              </a:tr>
            </a:tbl>
          </a:graphicData>
        </a:graphic>
      </p:graphicFrame>
      <p:sp>
        <p:nvSpPr>
          <p:cNvPr id="5" name="Открытые тексты + неполные оценки релевантности">
            <a:extLst xmlns:a="http://schemas.openxmlformats.org/drawingml/2006/main">
              <a:ext uri="{FF2B5EF4-FFF2-40B4-BE49-F238E27FC236}">
                <a16:creationId xmlns:a16="http://schemas.microsoft.com/office/drawing/2014/main" id="{AB744679-2CBB-4AD6-994B-F491F4A78D2E}"/>
              </a:ext>
            </a:extLst>
          </p:cNvPr>
          <p:cNvSpPr>
            <a:spLocks xmlns:a="http://schemas.openxmlformats.org/drawingml/2006/main" noGrp="1"/>
          </p:cNvSpPr>
          <p:nvPr/>
        </p:nvSpPr>
        <p:spPr>
          <a:xfrm xmlns:a="http://schemas.openxmlformats.org/drawingml/2006/main">
            <a:off x="609600" y="52197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Открытые тексты + неполные оценки релевантности</a:t>
            </a:r>
          </a:p>
        </p:txBody>
      </p:sp>
      <p:sp>
        <p:nvSpPr>
          <p:cNvPr id="6" name="Подходящая постановка для изучения эффекта дораз">
            <a:extLst xmlns:a="http://schemas.openxmlformats.org/drawingml/2006/main">
              <a:ext uri="{FF2B5EF4-FFF2-40B4-BE49-F238E27FC236}">
                <a16:creationId xmlns:a16="http://schemas.microsoft.com/office/drawing/2014/main" id="{B8991D25-11A7-4D66-889D-CE82D6BCBDDF}"/>
              </a:ext>
            </a:extLst>
          </p:cNvPr>
          <p:cNvSpPr>
            <a:spLocks xmlns:a="http://schemas.openxmlformats.org/drawingml/2006/main" noGrp="1"/>
          </p:cNvSpPr>
          <p:nvPr/>
        </p:nvSpPr>
        <p:spPr>
          <a:xfrm xmlns:a="http://schemas.openxmlformats.org/drawingml/2006/main">
            <a:off x="609600" y="56959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7282B"/>
                </a:solidFill>
                <a:latin typeface="Arial"/>
                <a:ea typeface="Arial"/>
                <a:cs typeface="Arial"/>
              </a:defRPr>
            </a:pPr>
            <a:r>
              <a:rPr sz="1950" b="0">
                <a:solidFill>
                  <a:srgbClr val="17282B"/>
                </a:solidFill>
                <a:latin typeface="Arial"/>
                <a:ea typeface="Arial"/>
                <a:cs typeface="Arial"/>
              </a:rPr>
              <a:t>Подходящая постановка для изучения эффекта доразметки</a:t>
            </a:r>
          </a:p>
        </p:txBody>
      </p:sp>
      <p:sp>
        <p:nvSpPr>
          <p:cNvPr id="7" name="Источники: Bajaj и др., 2016/2018; Kwiatkowski и">
            <a:extLst xmlns:a="http://schemas.openxmlformats.org/drawingml/2006/main">
              <a:ext uri="{FF2B5EF4-FFF2-40B4-BE49-F238E27FC236}">
                <a16:creationId xmlns:a16="http://schemas.microsoft.com/office/drawing/2014/main" id="{FADB5FC5-7E80-4FBD-A797-3420DCE5657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Источники: Bajaj и др., 2016/2018; Kwiatkowski и др., 2019; Thakur и др., 2021.</a:t>
            </a:r>
          </a:p>
        </p:txBody>
      </p:sp>
    </p:spTree>
    <p:extLst>
      <p:ext uri="{BB962C8B-B14F-4D97-AF65-F5344CB8AC3E}">
        <p14:creationId xmlns:p14="http://schemas.microsoft.com/office/powerpoint/2010/main" val="147249800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Близкие метрики в официальном лидерборде">
            <a:extLst xmlns:a="http://schemas.openxmlformats.org/drawingml/2006/main">
              <a:ext uri="{FF2B5EF4-FFF2-40B4-BE49-F238E27FC236}">
                <a16:creationId xmlns:a16="http://schemas.microsoft.com/office/drawing/2014/main" id="{2BACCA5C-3548-4D4B-80C6-01DBB11F839E}"/>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Близкие метрики в официальном лидерборде</a:t>
            </a:r>
          </a:p>
        </p:txBody>
      </p:sp>
      <p:sp>
        <p:nvSpPr>
          <p:cNvPr id="2" name="03">
            <a:extLst xmlns:a="http://schemas.openxmlformats.org/drawingml/2006/main">
              <a:ext uri="{FF2B5EF4-FFF2-40B4-BE49-F238E27FC236}">
                <a16:creationId xmlns:a16="http://schemas.microsoft.com/office/drawing/2014/main" id="{8AADD9A0-B8C7-4B3E-930C-686242276B9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03</a:t>
            </a:r>
          </a:p>
        </p:txBody>
      </p:sp>
      <p:sp>
        <p:nvSpPr>
          <p:cNvPr id="3" name="MS MARCO Passage Ranking · полный поиск · закрыт">
            <a:extLst xmlns:a="http://schemas.openxmlformats.org/drawingml/2006/main">
              <a:ext uri="{FF2B5EF4-FFF2-40B4-BE49-F238E27FC236}">
                <a16:creationId xmlns:a16="http://schemas.microsoft.com/office/drawing/2014/main" id="{982F58A0-7233-42BC-A0D3-714B2E63625D}"/>
              </a:ext>
            </a:extLst>
          </p:cNvPr>
          <p:cNvSpPr>
            <a:spLocks xmlns:a="http://schemas.openxmlformats.org/drawingml/2006/main" noGrp="1"/>
          </p:cNvSpPr>
          <p:nvPr/>
        </p:nvSpPr>
        <p:spPr>
          <a:xfrm xmlns:a="http://schemas.openxmlformats.org/drawingml/2006/main">
            <a:off x="609600" y="14954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MS MARCO Passage Ranking · полный поиск · закрытый eval</a:t>
            </a:r>
          </a:p>
        </p:txBody>
      </p:sp>
      <p:graphicFrame>
        <p:nvGraphicFramePr>
          <p:cNvPr id="13" name="Chart"/>
          <p:cNvGraphicFramePr/>
          <p:nvPr/>
        </p:nvGraphicFramePr>
        <p:xfrm>
          <a:off xmlns:a="http://schemas.openxmlformats.org/drawingml/2006/main" x="609600" y="2114550"/>
          <a:ext xmlns:a="http://schemas.openxmlformats.org/drawingml/2006/main" cx="8763000" cy="3133725"/>
        </p:xfrm>
        <a:graphic xmlns:a="http://schemas.openxmlformats.org/drawingml/2006/main">
          <a:graphicData uri="http://schemas.openxmlformats.org/drawingml/2006/chart">
            <c:chart xmlns:r="http://schemas.openxmlformats.org/officeDocument/2006/relationships" xmlns:c="http://schemas.openxmlformats.org/drawingml/2006/chart" r:id="R6c90e4f36c9247c7"/>
          </a:graphicData>
        </a:graphic>
      </p:graphicFrame>
      <p:sp>
        <p:nvSpPr>
          <p:cNvPr id="5" name="0,014">
            <a:extLst xmlns:a="http://schemas.openxmlformats.org/drawingml/2006/main">
              <a:ext uri="{FF2B5EF4-FFF2-40B4-BE49-F238E27FC236}">
                <a16:creationId xmlns:a16="http://schemas.microsoft.com/office/drawing/2014/main" id="{4D8FF60B-E45C-4562-BA76-F4D1B38DCBE8}"/>
              </a:ext>
            </a:extLst>
          </p:cNvPr>
          <p:cNvSpPr>
            <a:spLocks xmlns:a="http://schemas.openxmlformats.org/drawingml/2006/main" noGrp="1"/>
          </p:cNvSpPr>
          <p:nvPr/>
        </p:nvSpPr>
        <p:spPr>
          <a:xfrm xmlns:a="http://schemas.openxmlformats.org/drawingml/2006/main">
            <a:off x="9544050" y="2362200"/>
            <a:ext cx="2038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D76"/>
                </a:solidFill>
                <a:latin typeface="Arial"/>
                <a:ea typeface="Arial"/>
                <a:cs typeface="Arial"/>
              </a:defRPr>
            </a:pPr>
            <a:r>
              <a:rPr sz="4950" b="1">
                <a:solidFill>
                  <a:srgbClr val="007D76"/>
                </a:solidFill>
                <a:latin typeface="Arial"/>
                <a:ea typeface="Arial"/>
                <a:cs typeface="Arial"/>
              </a:rPr>
              <a:t>0,014</a:t>
            </a:r>
          </a:p>
        </p:txBody>
      </p:sp>
      <p:sp>
        <p:nvSpPr>
          <p:cNvPr id="6" name="размах&#10;MRR@10">
            <a:extLst xmlns:a="http://schemas.openxmlformats.org/drawingml/2006/main">
              <a:ext uri="{FF2B5EF4-FFF2-40B4-BE49-F238E27FC236}">
                <a16:creationId xmlns:a16="http://schemas.microsoft.com/office/drawing/2014/main" id="{A039421F-B45A-4A59-8E70-AEC84B5DF2AE}"/>
              </a:ext>
            </a:extLst>
          </p:cNvPr>
          <p:cNvSpPr>
            <a:spLocks xmlns:a="http://schemas.openxmlformats.org/drawingml/2006/main" noGrp="1"/>
          </p:cNvSpPr>
          <p:nvPr/>
        </p:nvSpPr>
        <p:spPr>
          <a:xfrm xmlns:a="http://schemas.openxmlformats.org/drawingml/2006/main">
            <a:off x="9544050" y="3267075"/>
            <a:ext cx="20383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размах</a:t>
            </a:r>
          </a:p>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MRR@10</a:t>
            </a:r>
          </a:p>
        </p:txBody>
      </p:sp>
      <p:sp>
        <p:nvSpPr>
          <p:cNvPr id="7" name="Близкие средние не доказывают эквивалентность си">
            <a:extLst xmlns:a="http://schemas.openxmlformats.org/drawingml/2006/main">
              <a:ext uri="{FF2B5EF4-FFF2-40B4-BE49-F238E27FC236}">
                <a16:creationId xmlns:a16="http://schemas.microsoft.com/office/drawing/2014/main" id="{ED1E1E3E-E4C7-4DB6-ABF1-CE36BB7B8ACD}"/>
              </a:ext>
            </a:extLst>
          </p:cNvPr>
          <p:cNvSpPr>
            <a:spLocks xmlns:a="http://schemas.openxmlformats.org/drawingml/2006/main" noGrp="1"/>
          </p:cNvSpPr>
          <p:nvPr/>
        </p:nvSpPr>
        <p:spPr>
          <a:xfrm xmlns:a="http://schemas.openxmlformats.org/drawingml/2006/main">
            <a:off x="609600" y="53244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2B"/>
                </a:solidFill>
                <a:latin typeface="Arial"/>
                <a:ea typeface="Arial"/>
                <a:cs typeface="Arial"/>
              </a:defRPr>
            </a:pPr>
            <a:r>
              <a:rPr sz="2250" b="1">
                <a:solidFill>
                  <a:srgbClr val="17282B"/>
                </a:solidFill>
                <a:latin typeface="Arial"/>
                <a:ea typeface="Arial"/>
                <a:cs typeface="Arial"/>
              </a:rPr>
              <a:t>Близкие средние не доказывают эквивалентность систем</a:t>
            </a:r>
          </a:p>
        </p:txBody>
      </p:sp>
      <p:sp>
        <p:nvSpPr>
          <p:cNvPr id="8" name="MRR@10 учитывает позицию первого найденного реле">
            <a:extLst xmlns:a="http://schemas.openxmlformats.org/drawingml/2006/main">
              <a:ext uri="{FF2B5EF4-FFF2-40B4-BE49-F238E27FC236}">
                <a16:creationId xmlns:a16="http://schemas.microsoft.com/office/drawing/2014/main" id="{D99FE23B-5F98-40E0-9DA1-0340B7552521}"/>
              </a:ext>
            </a:extLst>
          </p:cNvPr>
          <p:cNvSpPr>
            <a:spLocks xmlns:a="http://schemas.openxmlformats.org/drawingml/2006/main" noGrp="1"/>
          </p:cNvSpPr>
          <p:nvPr/>
        </p:nvSpPr>
        <p:spPr>
          <a:xfrm xmlns:a="http://schemas.openxmlformats.org/drawingml/2006/main">
            <a:off x="609600" y="58388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1646A"/>
                </a:solidFill>
                <a:latin typeface="Arial"/>
                <a:ea typeface="Arial"/>
                <a:cs typeface="Arial"/>
              </a:defRPr>
            </a:pPr>
            <a:r>
              <a:rPr sz="1725" b="0">
                <a:solidFill>
                  <a:srgbClr val="51646A"/>
                </a:solidFill>
                <a:latin typeface="Arial"/>
                <a:ea typeface="Arial"/>
                <a:cs typeface="Arial"/>
              </a:rPr>
              <a:t>MRR@10 учитывает позицию первого найденного релевантного ответа.</a:t>
            </a:r>
          </a:p>
        </p:txBody>
      </p:sp>
      <p:sp>
        <p:nvSpPr>
          <p:cNvPr id="9" name="Последний официальный срез: 30.11.2022. Трек зак">
            <a:extLst xmlns:a="http://schemas.openxmlformats.org/drawingml/2006/main">
              <a:ext uri="{FF2B5EF4-FFF2-40B4-BE49-F238E27FC236}">
                <a16:creationId xmlns:a16="http://schemas.microsoft.com/office/drawing/2014/main" id="{9CD58E5B-4257-418E-9A13-AC7AAD009925}"/>
              </a:ext>
            </a:extLst>
          </p:cNvPr>
          <p:cNvSpPr>
            <a:spLocks xmlns:a="http://schemas.openxmlformats.org/drawingml/2006/main" noGrp="1"/>
          </p:cNvSpPr>
          <p:nvPr/>
        </p:nvSpPr>
        <p:spPr>
          <a:xfrm xmlns:a="http://schemas.openxmlformats.org/drawingml/2006/main">
            <a:off x="609600" y="62960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Последний официальный срез: 30.11.2022. Трек закрыт 01.01.2023. Четыре именованные заявки.</a:t>
            </a:r>
          </a:p>
        </p:txBody>
      </p:sp>
    </p:spTree>
    <p:extLst>
      <p:ext uri="{BB962C8B-B14F-4D97-AF65-F5344CB8AC3E}">
        <p14:creationId xmlns:p14="http://schemas.microsoft.com/office/powerpoint/2010/main" val="191237654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Правильный ответ может остаться без оценки">
            <a:extLst xmlns:a="http://schemas.openxmlformats.org/drawingml/2006/main">
              <a:ext uri="{FF2B5EF4-FFF2-40B4-BE49-F238E27FC236}">
                <a16:creationId xmlns:a16="http://schemas.microsoft.com/office/drawing/2014/main" id="{03AC00D6-3021-4553-8D6E-047707992B57}"/>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Правильный ответ может остаться без оценки</a:t>
            </a:r>
          </a:p>
        </p:txBody>
      </p:sp>
      <p:sp>
        <p:nvSpPr>
          <p:cNvPr id="2" name="04">
            <a:extLst xmlns:a="http://schemas.openxmlformats.org/drawingml/2006/main">
              <a:ext uri="{FF2B5EF4-FFF2-40B4-BE49-F238E27FC236}">
                <a16:creationId xmlns:a16="http://schemas.microsoft.com/office/drawing/2014/main" id="{F0209CDA-8EA1-4155-AEAA-5AAE01DE13C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04</a:t>
            </a:r>
          </a:p>
        </p:txBody>
      </p:sp>
      <p:sp>
        <p:nvSpPr>
          <p:cNvPr id="3" name="«Что вызывает повышение температуры кипения?»">
            <a:extLst xmlns:a="http://schemas.openxmlformats.org/drawingml/2006/main">
              <a:ext uri="{FF2B5EF4-FFF2-40B4-BE49-F238E27FC236}">
                <a16:creationId xmlns:a16="http://schemas.microsoft.com/office/drawing/2014/main" id="{73E25F5E-F142-45F1-8C71-D3B5A8AC60B7}"/>
              </a:ext>
            </a:extLst>
          </p:cNvPr>
          <p:cNvSpPr>
            <a:spLocks xmlns:a="http://schemas.openxmlformats.org/drawingml/2006/main" noGrp="1"/>
          </p:cNvSpPr>
          <p:nvPr/>
        </p:nvSpPr>
        <p:spPr>
          <a:xfrm xmlns:a="http://schemas.openxmlformats.org/drawingml/2006/main">
            <a:off x="609600" y="16097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D76"/>
                </a:solidFill>
                <a:latin typeface="Arial"/>
                <a:ea typeface="Arial"/>
                <a:cs typeface="Arial"/>
              </a:defRPr>
            </a:pPr>
            <a:r>
              <a:rPr sz="2475" b="1">
                <a:solidFill>
                  <a:srgbClr val="007D76"/>
                </a:solidFill>
                <a:latin typeface="Arial"/>
                <a:ea typeface="Arial"/>
                <a:cs typeface="Arial"/>
              </a:rPr>
              <a:t>«Что вызывает повышение температуры кипения?»</a:t>
            </a:r>
          </a:p>
        </p:txBody>
      </p:sp>
      <p:graphicFrame>
        <p:nvGraphicFramePr>
          <p:cNvPr id="10" name=""/>
          <p:cNvGraphicFramePr/>
          <p:nvPr/>
        </p:nvGraphicFramePr>
        <p:xfrm>
          <a:off xmlns:a="http://schemas.openxmlformats.org/drawingml/2006/main" x="609600" y="2533650"/>
          <a:ext xmlns:a="http://schemas.openxmlformats.org/drawingml/2006/main" cx="10972800" cy="308610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650" b="1">
                          <a:solidFill>
                            <a:srgbClr val="51646A"/>
                          </a:solidFill>
                          <a:latin typeface="Arial"/>
                          <a:ea typeface="Arial"/>
                          <a:cs typeface="Arial"/>
                        </a:rPr>
                        <a:t>Сокращённый пересказ фрагмента</a:t>
                      </a:r>
                    </a:p>
                  </a:txBody>
                  <a:tcPr marL="91440" marR="91440" marT="45720" marB="45720" anchor="ctr">
                    <a:lnL w="0">
                      <a:solidFill>
                        <a:srgbClr val="FFFFFF"/>
                      </a:solidFill>
                    </a:lnL>
                    <a:lnT w="0">
                      <a:solidFill>
                        <a:srgbClr val="FFFFFF"/>
                      </a:solidFill>
                    </a:lnT>
                    <a:solidFill>
                      <a:srgbClr val="F0F4F4"/>
                    </a:solidFill>
                  </a:tcPr>
                </a:tc>
                <a:tc>
                  <a:txBody>
                    <a:bodyPr lIns="171450" tIns="95250" rIns="171450" bIns="95250">
                      <a:noAutofit/>
                    </a:bodyPr>
                    <a:lstStyle/>
                    <a:p>
                      <a:r>
                        <a:rPr sz="1650" b="1">
                          <a:solidFill>
                            <a:srgbClr val="51646A"/>
                          </a:solidFill>
                          <a:latin typeface="Arial"/>
                          <a:ea typeface="Arial"/>
                          <a:cs typeface="Arial"/>
                        </a:rPr>
                        <a:t>Исходные оценки</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1650" b="1">
                          <a:solidFill>
                            <a:srgbClr val="51646A"/>
                          </a:solidFill>
                          <a:latin typeface="Arial"/>
                          <a:ea typeface="Arial"/>
                          <a:cs typeface="Arial"/>
                        </a:rPr>
                        <a:t>Оценка человека</a:t>
                      </a:r>
                    </a:p>
                  </a:txBody>
                  <a:tcPr marL="91440" marR="91440" marT="45720" marB="45720" anchor="ctr">
                    <a:lnR w="0">
                      <a:solidFill>
                        <a:srgbClr val="FFFFFF"/>
                      </a:solidFill>
                    </a:lnR>
                    <a:lnT w="0">
                      <a:solidFill>
                        <a:srgbClr val="FFFFFF"/>
                      </a:solidFill>
                    </a:lnT>
                    <a:solidFill>
                      <a:srgbClr val="F0F4F4"/>
                    </a:solidFill>
                  </a:tcPr>
                </a:tc>
              </a:tr>
              <a:tr h="838200">
                <a:tc>
                  <a:txBody>
                    <a:bodyPr lIns="171450" tIns="95250" rIns="171450" bIns="95250">
                      <a:noAutofit/>
                    </a:bodyPr>
                    <a:lstStyle/>
                    <a:p>
                      <a:r>
                        <a:rPr sz="1800" b="0">
                          <a:solidFill>
                            <a:srgbClr val="17282B"/>
                          </a:solidFill>
                          <a:latin typeface="Arial"/>
                          <a:ea typeface="Arial"/>
                          <a:cs typeface="Arial"/>
                        </a:rPr>
                        <a:t>7112148   Добавление соли повышает</a:t>
                      </a:r>
                    </a:p>
                    <a:p>
                      <a:r>
                        <a:rPr sz="1800" b="0">
                          <a:solidFill>
                            <a:srgbClr val="17282B"/>
                          </a:solidFill>
                          <a:latin typeface="Arial"/>
                          <a:ea typeface="Arial"/>
                          <a:cs typeface="Arial"/>
                        </a:rPr>
                        <a:t>температуру кипения.</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7282B"/>
                          </a:solidFill>
                          <a:latin typeface="Arial"/>
                          <a:ea typeface="Arial"/>
                          <a:cs typeface="Arial"/>
                        </a:rPr>
                        <a:t>Релевантен</a:t>
                      </a:r>
                    </a:p>
                  </a:txBody>
                  <a:tcPr marL="91440" marR="91440" marT="45720" marB="45720" anchor="ctr">
                    <a:solidFill>
                      <a:srgbClr val="FFFFFF"/>
                    </a:solidFill>
                  </a:tcPr>
                </a:tc>
                <a:tc>
                  <a:txBody>
                    <a:bodyPr lIns="171450" tIns="95250" rIns="171450" bIns="95250">
                      <a:noAutofit/>
                    </a:bodyPr>
                    <a:lstStyle/>
                    <a:p>
                      <a:r>
                        <a:rPr sz="1800" b="0">
                          <a:solidFill>
                            <a:srgbClr val="17282B"/>
                          </a:solidFill>
                          <a:latin typeface="Arial"/>
                          <a:ea typeface="Arial"/>
                          <a:cs typeface="Arial"/>
                        </a:rPr>
                        <a:t>Релевантен</a:t>
                      </a:r>
                    </a:p>
                  </a:txBody>
                  <a:tcPr marL="91440" marR="91440" marT="45720" marB="45720" anchor="ctr">
                    <a:lnR w="0">
                      <a:solidFill>
                        <a:srgbClr val="FFFFFF"/>
                      </a:solidFill>
                    </a:lnR>
                    <a:solidFill>
                      <a:srgbClr val="FFFFFF"/>
                    </a:solidFill>
                  </a:tcPr>
                </a:tc>
              </a:tr>
              <a:tr h="971550">
                <a:tc>
                  <a:txBody>
                    <a:bodyPr lIns="171450" tIns="95250" rIns="171450" bIns="95250">
                      <a:noAutofit/>
                    </a:bodyPr>
                    <a:lstStyle/>
                    <a:p>
                      <a:r>
                        <a:rPr sz="1800" b="1">
                          <a:solidFill>
                            <a:srgbClr val="007D76"/>
                          </a:solidFill>
                          <a:latin typeface="Arial"/>
                          <a:ea typeface="Arial"/>
                          <a:cs typeface="Arial"/>
                        </a:rPr>
                        <a:t>7399382   Нелетучее растворённое вещество</a:t>
                      </a:r>
                    </a:p>
                    <a:p>
                      <a:r>
                        <a:rPr sz="1800" b="1">
                          <a:solidFill>
                            <a:srgbClr val="007D76"/>
                          </a:solidFill>
                          <a:latin typeface="Arial"/>
                          <a:ea typeface="Arial"/>
                          <a:cs typeface="Arial"/>
                        </a:rPr>
                        <a:t>повышает температуру кипения.</a:t>
                      </a:r>
                    </a:p>
                  </a:txBody>
                  <a:tcPr marL="91440" marR="91440" marT="45720" marB="45720" anchor="ctr">
                    <a:lnL w="0">
                      <a:solidFill>
                        <a:srgbClr val="FFFFFF"/>
                      </a:solidFill>
                    </a:lnL>
                    <a:solidFill>
                      <a:srgbClr val="E4F2ED"/>
                    </a:solidFill>
                  </a:tcPr>
                </a:tc>
                <a:tc>
                  <a:txBody>
                    <a:bodyPr lIns="171450" tIns="95250" rIns="171450" bIns="95250">
                      <a:noAutofit/>
                    </a:bodyPr>
                    <a:lstStyle/>
                    <a:p>
                      <a:r>
                        <a:rPr sz="1800" b="0">
                          <a:solidFill>
                            <a:srgbClr val="17282B"/>
                          </a:solidFill>
                          <a:latin typeface="Arial"/>
                          <a:ea typeface="Arial"/>
                          <a:cs typeface="Arial"/>
                        </a:rPr>
                        <a:t>Нет оценки</a:t>
                      </a:r>
                    </a:p>
                  </a:txBody>
                  <a:tcPr marL="91440" marR="91440" marT="45720" marB="45720" anchor="ctr">
                    <a:solidFill>
                      <a:srgbClr val="FFFFFF"/>
                    </a:solidFill>
                  </a:tcPr>
                </a:tc>
                <a:tc>
                  <a:txBody>
                    <a:bodyPr lIns="171450" tIns="95250" rIns="171450" bIns="95250">
                      <a:noAutofit/>
                    </a:bodyPr>
                    <a:lstStyle/>
                    <a:p>
                      <a:r>
                        <a:rPr sz="1800" b="1">
                          <a:solidFill>
                            <a:srgbClr val="007D76"/>
                          </a:solidFill>
                          <a:latin typeface="Arial"/>
                          <a:ea typeface="Arial"/>
                          <a:cs typeface="Arial"/>
                        </a:rPr>
                        <a:t>Релевантен</a:t>
                      </a:r>
                    </a:p>
                  </a:txBody>
                  <a:tcPr marL="91440" marR="91440" marT="45720" marB="45720" anchor="ctr">
                    <a:lnR w="0">
                      <a:solidFill>
                        <a:srgbClr val="FFFFFF"/>
                      </a:solidFill>
                    </a:lnR>
                    <a:solidFill>
                      <a:srgbClr val="E4F2ED"/>
                    </a:solidFill>
                  </a:tcPr>
                </a:tc>
              </a:tr>
              <a:tr h="742950">
                <a:tc>
                  <a:txBody>
                    <a:bodyPr lIns="171450" tIns="95250" rIns="171450" bIns="95250">
                      <a:noAutofit/>
                    </a:bodyPr>
                    <a:lstStyle/>
                    <a:p>
                      <a:r>
                        <a:rPr sz="1800" b="0">
                          <a:solidFill>
                            <a:srgbClr val="17282B"/>
                          </a:solidFill>
                          <a:latin typeface="Arial"/>
                          <a:ea typeface="Arial"/>
                          <a:cs typeface="Arial"/>
                        </a:rPr>
                        <a:t>987600   Температура кипения ацетона.</a:t>
                      </a:r>
                    </a:p>
                  </a:txBody>
                  <a:tcPr marL="91440" marR="91440" marT="45720" marB="45720" anchor="ctr">
                    <a:lnL w="0">
                      <a:solidFill>
                        <a:srgbClr val="FFFFFF"/>
                      </a:solidFill>
                    </a:lnL>
                    <a:lnB w="7620">
                      <a:solidFill>
                        <a:srgbClr val="D7E0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Нет оценки</a:t>
                      </a:r>
                    </a:p>
                  </a:txBody>
                  <a:tcPr marL="91440" marR="91440" marT="45720" marB="45720" anchor="ctr">
                    <a:lnB w="7620">
                      <a:solidFill>
                        <a:srgbClr val="D7E0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Нерелевантен</a:t>
                      </a:r>
                    </a:p>
                  </a:txBody>
                  <a:tcPr marL="91440" marR="91440" marT="45720" marB="45720" anchor="ctr">
                    <a:lnR w="0">
                      <a:solidFill>
                        <a:srgbClr val="FFFFFF"/>
                      </a:solidFill>
                    </a:lnR>
                    <a:lnB w="7620">
                      <a:solidFill>
                        <a:srgbClr val="D7E0E0"/>
                      </a:solidFill>
                    </a:lnB>
                    <a:solidFill>
                      <a:srgbClr val="FFFFFF"/>
                    </a:solidFill>
                  </a:tcPr>
                </a:tc>
              </a:tr>
            </a:tbl>
          </a:graphicData>
        </a:graphic>
      </p:graphicFrame>
      <p:sp>
        <p:nvSpPr>
          <p:cNvPr id="5" name="Нет оценки ≠ нерелевантен">
            <a:extLst xmlns:a="http://schemas.openxmlformats.org/drawingml/2006/main">
              <a:ext uri="{FF2B5EF4-FFF2-40B4-BE49-F238E27FC236}">
                <a16:creationId xmlns:a16="http://schemas.microsoft.com/office/drawing/2014/main" id="{023DC621-E779-4644-AFD6-B2198981B8EC}"/>
              </a:ext>
            </a:extLst>
          </p:cNvPr>
          <p:cNvSpPr>
            <a:spLocks xmlns:a="http://schemas.openxmlformats.org/drawingml/2006/main" noGrp="1"/>
          </p:cNvSpPr>
          <p:nvPr/>
        </p:nvSpPr>
        <p:spPr>
          <a:xfrm xmlns:a="http://schemas.openxmlformats.org/drawingml/2006/main">
            <a:off x="609600" y="5810250"/>
            <a:ext cx="10810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D76"/>
                </a:solidFill>
                <a:latin typeface="Arial"/>
                <a:ea typeface="Arial"/>
                <a:cs typeface="Arial"/>
              </a:defRPr>
            </a:pPr>
            <a:r>
              <a:rPr sz="2175" b="1">
                <a:solidFill>
                  <a:srgbClr val="007D76"/>
                </a:solidFill>
                <a:latin typeface="Arial"/>
                <a:ea typeface="Arial"/>
                <a:cs typeface="Arial"/>
              </a:rPr>
              <a:t>Нет оценки ≠ нерелевантен</a:t>
            </a:r>
          </a:p>
        </p:txBody>
      </p:sp>
      <p:sp>
        <p:nvSpPr>
          <p:cNvPr id="6" name="В метрике: нет оценки → нулевой вклад. Русский п">
            <a:extLst xmlns:a="http://schemas.openxmlformats.org/drawingml/2006/main">
              <a:ext uri="{FF2B5EF4-FFF2-40B4-BE49-F238E27FC236}">
                <a16:creationId xmlns:a16="http://schemas.microsoft.com/office/drawing/2014/main" id="{A5BAFBF1-653A-439C-B80A-E36850A83EED}"/>
              </a:ext>
            </a:extLst>
          </p:cNvPr>
          <p:cNvSpPr>
            <a:spLocks xmlns:a="http://schemas.openxmlformats.org/drawingml/2006/main" noGrp="1"/>
          </p:cNvSpPr>
          <p:nvPr/>
        </p:nvSpPr>
        <p:spPr>
          <a:xfrm xmlns:a="http://schemas.openxmlformats.org/drawingml/2006/main">
            <a:off x="609600" y="628650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В метрике: нет оценки → нулевой вклад. Русский пересказ; метки относятся к оригиналам.</a:t>
            </a:r>
          </a:p>
        </p:txBody>
      </p:sp>
    </p:spTree>
    <p:extLst>
      <p:ext uri="{BB962C8B-B14F-4D97-AF65-F5344CB8AC3E}">
        <p14:creationId xmlns:p14="http://schemas.microsoft.com/office/powerpoint/2010/main" val="131410529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Две части эксперимента">
            <a:extLst xmlns:a="http://schemas.openxmlformats.org/drawingml/2006/main">
              <a:ext uri="{FF2B5EF4-FFF2-40B4-BE49-F238E27FC236}">
                <a16:creationId xmlns:a16="http://schemas.microsoft.com/office/drawing/2014/main" id="{A307DC99-06F6-4EFC-A09D-749FB43E102E}"/>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Две части эксперимента</a:t>
            </a:r>
          </a:p>
        </p:txBody>
      </p:sp>
      <p:sp>
        <p:nvSpPr>
          <p:cNvPr id="2" name="05">
            <a:extLst xmlns:a="http://schemas.openxmlformats.org/drawingml/2006/main">
              <a:ext uri="{FF2B5EF4-FFF2-40B4-BE49-F238E27FC236}">
                <a16:creationId xmlns:a16="http://schemas.microsoft.com/office/drawing/2014/main" id="{3F8ABC89-3CD4-4659-B964-D7A90EF0AE0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05</a:t>
            </a:r>
          </a:p>
        </p:txBody>
      </p:sp>
      <p:sp>
        <p:nvSpPr>
          <p:cNvPr id="3" name="Английский MS MARCO: 8,84 млн текстовых фрагмент">
            <a:extLst xmlns:a="http://schemas.openxmlformats.org/drawingml/2006/main">
              <a:ext uri="{FF2B5EF4-FFF2-40B4-BE49-F238E27FC236}">
                <a16:creationId xmlns:a16="http://schemas.microsoft.com/office/drawing/2014/main" id="{CFA93834-8752-441A-B15B-D5E5D5327188}"/>
              </a:ext>
            </a:extLst>
          </p:cNvPr>
          <p:cNvSpPr>
            <a:spLocks xmlns:a="http://schemas.openxmlformats.org/drawingml/2006/main" noGrp="1"/>
          </p:cNvSpPr>
          <p:nvPr/>
        </p:nvSpPr>
        <p:spPr>
          <a:xfrm xmlns:a="http://schemas.openxmlformats.org/drawingml/2006/main">
            <a:off x="609600" y="15240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Английский MS MARCO: 8,84 млн текстовых фрагментов</a:t>
            </a:r>
          </a:p>
        </p:txBody>
      </p:sp>
      <p:sp>
        <p:nvSpPr>
          <p:cNvPr id="4" name="">
            <a:extLst xmlns:a="http://schemas.openxmlformats.org/drawingml/2006/main">
              <a:ext uri="{FF2B5EF4-FFF2-40B4-BE49-F238E27FC236}">
                <a16:creationId xmlns:a16="http://schemas.microsoft.com/office/drawing/2014/main" id="{809DE1A1-7544-497D-98CA-17914A3EAFD3}"/>
              </a:ext>
            </a:extLst>
          </p:cNvPr>
          <p:cNvSpPr>
            <a:spLocks xmlns:a="http://schemas.openxmlformats.org/drawingml/2006/main" noGrp="1"/>
          </p:cNvSpPr>
          <p:nvPr/>
        </p:nvSpPr>
        <p:spPr>
          <a:xfrm xmlns:a="http://schemas.openxmlformats.org/drawingml/2006/main">
            <a:off x="609600" y="211455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5" name="Ручные оценки">
            <a:extLst xmlns:a="http://schemas.openxmlformats.org/drawingml/2006/main">
              <a:ext uri="{FF2B5EF4-FFF2-40B4-BE49-F238E27FC236}">
                <a16:creationId xmlns:a16="http://schemas.microsoft.com/office/drawing/2014/main" id="{7713AC51-1B05-4D4F-9A13-850B0E714744}"/>
              </a:ext>
            </a:extLst>
          </p:cNvPr>
          <p:cNvSpPr>
            <a:spLocks xmlns:a="http://schemas.openxmlformats.org/drawingml/2006/main" noGrp="1"/>
          </p:cNvSpPr>
          <p:nvPr/>
        </p:nvSpPr>
        <p:spPr>
          <a:xfrm xmlns:a="http://schemas.openxmlformats.org/drawingml/2006/main">
            <a:off x="609600" y="2428875"/>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Ручные оценки</a:t>
            </a:r>
          </a:p>
        </p:txBody>
      </p:sp>
      <p:sp>
        <p:nvSpPr>
          <p:cNvPr id="6" name="1 179">
            <a:extLst xmlns:a="http://schemas.openxmlformats.org/drawingml/2006/main">
              <a:ext uri="{FF2B5EF4-FFF2-40B4-BE49-F238E27FC236}">
                <a16:creationId xmlns:a16="http://schemas.microsoft.com/office/drawing/2014/main" id="{9D41656A-0654-4F6D-84EA-ACBC6B3B2ABB}"/>
              </a:ext>
            </a:extLst>
          </p:cNvPr>
          <p:cNvSpPr>
            <a:spLocks xmlns:a="http://schemas.openxmlformats.org/drawingml/2006/main" noGrp="1"/>
          </p:cNvSpPr>
          <p:nvPr/>
        </p:nvSpPr>
        <p:spPr>
          <a:xfrm xmlns:a="http://schemas.openxmlformats.org/drawingml/2006/main">
            <a:off x="609600" y="2952750"/>
            <a:ext cx="4381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007D76"/>
                </a:solidFill>
                <a:latin typeface="Arial"/>
                <a:ea typeface="Arial"/>
                <a:cs typeface="Arial"/>
              </a:defRPr>
            </a:pPr>
            <a:r>
              <a:rPr sz="5250" b="1">
                <a:solidFill>
                  <a:srgbClr val="007D76"/>
                </a:solidFill>
                <a:latin typeface="Arial"/>
                <a:ea typeface="Arial"/>
                <a:cs typeface="Arial"/>
              </a:rPr>
              <a:t>1 179</a:t>
            </a:r>
          </a:p>
        </p:txBody>
      </p:sp>
      <p:sp>
        <p:nvSpPr>
          <p:cNvPr id="7" name="запросов · 33 667 пар">
            <a:extLst xmlns:a="http://schemas.openxmlformats.org/drawingml/2006/main">
              <a:ext uri="{FF2B5EF4-FFF2-40B4-BE49-F238E27FC236}">
                <a16:creationId xmlns:a16="http://schemas.microsoft.com/office/drawing/2014/main" id="{9FF5C0EE-F363-4D20-88D3-5029607AD2CF}"/>
              </a:ext>
            </a:extLst>
          </p:cNvPr>
          <p:cNvSpPr>
            <a:spLocks xmlns:a="http://schemas.openxmlformats.org/drawingml/2006/main" noGrp="1"/>
          </p:cNvSpPr>
          <p:nvPr/>
        </p:nvSpPr>
        <p:spPr>
          <a:xfrm xmlns:a="http://schemas.openxmlformats.org/drawingml/2006/main">
            <a:off x="609600" y="38862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запросов · 33 667 пар</a:t>
            </a:r>
          </a:p>
        </p:txBody>
      </p:sp>
      <p:sp>
        <p:nvSpPr>
          <p:cNvPr id="8" name="Что меняет доразметка&#10;при той же выдаче?">
            <a:extLst xmlns:a="http://schemas.openxmlformats.org/drawingml/2006/main">
              <a:ext uri="{FF2B5EF4-FFF2-40B4-BE49-F238E27FC236}">
                <a16:creationId xmlns:a16="http://schemas.microsoft.com/office/drawing/2014/main" id="{509AC680-5AA8-4F10-B64C-8095EA07B931}"/>
              </a:ext>
            </a:extLst>
          </p:cNvPr>
          <p:cNvSpPr>
            <a:spLocks xmlns:a="http://schemas.openxmlformats.org/drawingml/2006/main" noGrp="1"/>
          </p:cNvSpPr>
          <p:nvPr/>
        </p:nvSpPr>
        <p:spPr>
          <a:xfrm xmlns:a="http://schemas.openxmlformats.org/drawingml/2006/main">
            <a:off x="609600" y="4695825"/>
            <a:ext cx="4905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Что меняет доразметка</a:t>
            </a:r>
          </a:p>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при той же выдаче?</a:t>
            </a:r>
          </a:p>
        </p:txBody>
      </p:sp>
      <p:sp>
        <p:nvSpPr>
          <p:cNvPr id="9" name="Псевдометки судьи">
            <a:extLst xmlns:a="http://schemas.openxmlformats.org/drawingml/2006/main">
              <a:ext uri="{FF2B5EF4-FFF2-40B4-BE49-F238E27FC236}">
                <a16:creationId xmlns:a16="http://schemas.microsoft.com/office/drawing/2014/main" id="{56979AFC-80DD-4E1F-9C02-1BAAB70B11E3}"/>
              </a:ext>
            </a:extLst>
          </p:cNvPr>
          <p:cNvSpPr>
            <a:spLocks xmlns:a="http://schemas.openxmlformats.org/drawingml/2006/main" noGrp="1"/>
          </p:cNvSpPr>
          <p:nvPr/>
        </p:nvSpPr>
        <p:spPr>
          <a:xfrm xmlns:a="http://schemas.openxmlformats.org/drawingml/2006/main">
            <a:off x="6705600" y="2428875"/>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64F37"/>
                </a:solidFill>
                <a:latin typeface="Arial"/>
                <a:ea typeface="Arial"/>
                <a:cs typeface="Arial"/>
              </a:defRPr>
            </a:pPr>
            <a:r>
              <a:rPr sz="2325" b="1">
                <a:solidFill>
                  <a:srgbClr val="C64F37"/>
                </a:solidFill>
                <a:latin typeface="Arial"/>
                <a:ea typeface="Arial"/>
                <a:cs typeface="Arial"/>
              </a:rPr>
              <a:t>Псевдометки судьи</a:t>
            </a:r>
          </a:p>
        </p:txBody>
      </p:sp>
      <p:sp>
        <p:nvSpPr>
          <p:cNvPr id="10" name="101 093">
            <a:extLst xmlns:a="http://schemas.openxmlformats.org/drawingml/2006/main">
              <a:ext uri="{FF2B5EF4-FFF2-40B4-BE49-F238E27FC236}">
                <a16:creationId xmlns:a16="http://schemas.microsoft.com/office/drawing/2014/main" id="{0DB15FA1-FA98-4371-9A1F-D02540FD0132}"/>
              </a:ext>
            </a:extLst>
          </p:cNvPr>
          <p:cNvSpPr>
            <a:spLocks xmlns:a="http://schemas.openxmlformats.org/drawingml/2006/main" noGrp="1"/>
          </p:cNvSpPr>
          <p:nvPr/>
        </p:nvSpPr>
        <p:spPr>
          <a:xfrm xmlns:a="http://schemas.openxmlformats.org/drawingml/2006/main">
            <a:off x="6705600" y="2952750"/>
            <a:ext cx="4876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C64F37"/>
                </a:solidFill>
                <a:latin typeface="Arial"/>
                <a:ea typeface="Arial"/>
                <a:cs typeface="Arial"/>
              </a:defRPr>
            </a:pPr>
            <a:r>
              <a:rPr sz="5250" b="1">
                <a:solidFill>
                  <a:srgbClr val="C64F37"/>
                </a:solidFill>
                <a:latin typeface="Arial"/>
                <a:ea typeface="Arial"/>
                <a:cs typeface="Arial"/>
              </a:rPr>
              <a:t>101 093</a:t>
            </a:r>
          </a:p>
        </p:txBody>
      </p:sp>
      <p:sp>
        <p:nvSpPr>
          <p:cNvPr id="11" name="запроса · пять глубин пула">
            <a:extLst xmlns:a="http://schemas.openxmlformats.org/drawingml/2006/main">
              <a:ext uri="{FF2B5EF4-FFF2-40B4-BE49-F238E27FC236}">
                <a16:creationId xmlns:a16="http://schemas.microsoft.com/office/drawing/2014/main" id="{94A25D13-8C6B-426E-BFE2-E5289CF40253}"/>
              </a:ext>
            </a:extLst>
          </p:cNvPr>
          <p:cNvSpPr>
            <a:spLocks xmlns:a="http://schemas.openxmlformats.org/drawingml/2006/main" noGrp="1"/>
          </p:cNvSpPr>
          <p:nvPr/>
        </p:nvSpPr>
        <p:spPr>
          <a:xfrm xmlns:a="http://schemas.openxmlformats.org/drawingml/2006/main">
            <a:off x="6705600" y="38862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запроса · пять глубин пула</a:t>
            </a:r>
          </a:p>
        </p:txBody>
      </p:sp>
      <p:sp>
        <p:nvSpPr>
          <p:cNvPr id="12" name="Как покрытие оценками&#10;влияет на сравнение систем">
            <a:extLst xmlns:a="http://schemas.openxmlformats.org/drawingml/2006/main">
              <a:ext uri="{FF2B5EF4-FFF2-40B4-BE49-F238E27FC236}">
                <a16:creationId xmlns:a16="http://schemas.microsoft.com/office/drawing/2014/main" id="{86B2B026-61A2-4AC9-9260-82A59BEA709D}"/>
              </a:ext>
            </a:extLst>
          </p:cNvPr>
          <p:cNvSpPr>
            <a:spLocks xmlns:a="http://schemas.openxmlformats.org/drawingml/2006/main" noGrp="1"/>
          </p:cNvSpPr>
          <p:nvPr/>
        </p:nvSpPr>
        <p:spPr>
          <a:xfrm xmlns:a="http://schemas.openxmlformats.org/drawingml/2006/main">
            <a:off x="6705600" y="4695825"/>
            <a:ext cx="487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Как покрытие оценками</a:t>
            </a:r>
          </a:p>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влияет на сравнение систем?</a:t>
            </a:r>
          </a:p>
        </p:txBody>
      </p:sp>
      <p:sp>
        <p:nvSpPr>
          <p:cNvPr id="13" name="Человеческие суждения и предсказания судьи анали">
            <a:extLst xmlns:a="http://schemas.openxmlformats.org/drawingml/2006/main">
              <a:ext uri="{FF2B5EF4-FFF2-40B4-BE49-F238E27FC236}">
                <a16:creationId xmlns:a16="http://schemas.microsoft.com/office/drawing/2014/main" id="{F66B7C18-D961-4470-8290-DB5C66168B0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Человеческие суждения и предсказания судьи анализируются отдельно.</a:t>
            </a:r>
          </a:p>
        </p:txBody>
      </p:sp>
    </p:spTree>
    <p:extLst>
      <p:ext uri="{BB962C8B-B14F-4D97-AF65-F5344CB8AC3E}">
        <p14:creationId xmlns:p14="http://schemas.microsoft.com/office/powerpoint/2010/main" val="13264726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p:cNvCxnSpPr>
            <a:stCxn xmlns:a="http://schemas.openxmlformats.org/drawingml/2006/main" id="6" idx="3"/>
            <a:endCxn xmlns:a="http://schemas.openxmlformats.org/drawingml/2006/main" id="7" idx="1"/>
          </p:cNvCxnSpPr>
          <p:nvPr/>
        </p:nvCxnSpPr>
        <p:spPr>
          <a:xfrm xmlns:a="http://schemas.openxmlformats.org/drawingml/2006/main">
            <a:off x="7267575" y="3476625"/>
            <a:ext cx="933450" cy="0"/>
          </a:xfrm>
          <a:prstGeom xmlns:a="http://schemas.openxmlformats.org/drawingml/2006/main" prst="straightConnector1">
            <a:avLst/>
          </a:prstGeom>
          <a:ln xmlns:a="http://schemas.openxmlformats.org/drawingml/2006/main" w="28575">
            <a:solidFill>
              <a:srgbClr val="51646A"/>
            </a:solidFill>
            <a:tailEnd type="triangle" w="med" len="med"/>
          </a:ln>
        </p:spPr>
      </p:cxnSp>
      <p:cxnSp>
        <p:nvCxnSpPr>
          <p:cNvPr id="15" name=""/>
          <p:cNvCxnSpPr>
            <a:stCxn xmlns:a="http://schemas.openxmlformats.org/drawingml/2006/main" id="5" idx="3"/>
            <a:endCxn xmlns:a="http://schemas.openxmlformats.org/drawingml/2006/main" id="6" idx="1"/>
          </p:cNvCxnSpPr>
          <p:nvPr/>
        </p:nvCxnSpPr>
        <p:spPr>
          <a:xfrm xmlns:a="http://schemas.openxmlformats.org/drawingml/2006/main" flipV="1">
            <a:off x="3705225" y="3476625"/>
            <a:ext cx="914400" cy="1085850"/>
          </a:xfrm>
          <a:prstGeom xmlns:a="http://schemas.openxmlformats.org/drawingml/2006/main" prst="bentConnector3">
            <a:avLst>
              <a:gd name="adj1" fmla="val 50000"/>
            </a:avLst>
          </a:prstGeom>
          <a:ln xmlns:a="http://schemas.openxmlformats.org/drawingml/2006/main" w="28575">
            <a:solidFill>
              <a:srgbClr val="C64F37"/>
            </a:solidFill>
            <a:tailEnd type="triangle" w="med" len="med"/>
          </a:ln>
        </p:spPr>
      </p:cxnSp>
      <p:cxnSp>
        <p:nvCxnSpPr>
          <p:cNvPr id="16" name=""/>
          <p:cNvCxnSpPr>
            <a:stCxn xmlns:a="http://schemas.openxmlformats.org/drawingml/2006/main" id="4" idx="3"/>
            <a:endCxn xmlns:a="http://schemas.openxmlformats.org/drawingml/2006/main" id="6" idx="0"/>
          </p:cNvCxnSpPr>
          <p:nvPr/>
        </p:nvCxnSpPr>
        <p:spPr>
          <a:xfrm xmlns:a="http://schemas.openxmlformats.org/drawingml/2006/main">
            <a:off x="3705225" y="2647950"/>
            <a:ext cx="2238375" cy="228600"/>
          </a:xfrm>
          <a:prstGeom xmlns:a="http://schemas.openxmlformats.org/drawingml/2006/main" prst="bentConnector4">
            <a:avLst/>
          </a:prstGeom>
          <a:ln xmlns:a="http://schemas.openxmlformats.org/drawingml/2006/main" w="28575">
            <a:solidFill>
              <a:srgbClr val="51646A"/>
            </a:solidFill>
            <a:tailEnd type="triangle" w="med" len="med"/>
          </a:ln>
        </p:spPr>
      </p:cxnSp>
      <p:sp>
        <p:nvSpPr>
          <p:cNvPr id="17" name="Как сформирован ручной пул">
            <a:extLst xmlns:a="http://schemas.openxmlformats.org/drawingml/2006/main">
              <a:ext uri="{FF2B5EF4-FFF2-40B4-BE49-F238E27FC236}">
                <a16:creationId xmlns:a16="http://schemas.microsoft.com/office/drawing/2014/main" id="{D9522DF0-0FED-41DB-937C-3FEAC731D6BE}"/>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Как сформирован ручной пул</a:t>
            </a:r>
          </a:p>
        </p:txBody>
      </p:sp>
      <p:sp>
        <p:nvSpPr>
          <p:cNvPr id="2" name="06">
            <a:extLst xmlns:a="http://schemas.openxmlformats.org/drawingml/2006/main">
              <a:ext uri="{FF2B5EF4-FFF2-40B4-BE49-F238E27FC236}">
                <a16:creationId xmlns:a16="http://schemas.microsoft.com/office/drawing/2014/main" id="{AD8541A8-80A0-4601-8395-A72AA1C2229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06</a:t>
            </a:r>
          </a:p>
        </p:txBody>
      </p:sp>
      <p:sp>
        <p:nvSpPr>
          <p:cNvPr id="3" name="Пулинг: объединение результатов нескольких источ">
            <a:extLst xmlns:a="http://schemas.openxmlformats.org/drawingml/2006/main">
              <a:ext uri="{FF2B5EF4-FFF2-40B4-BE49-F238E27FC236}">
                <a16:creationId xmlns:a16="http://schemas.microsoft.com/office/drawing/2014/main" id="{1425795F-DE0F-4924-95AE-D39DCEB1C3B2}"/>
              </a:ext>
            </a:extLst>
          </p:cNvPr>
          <p:cNvSpPr>
            <a:spLocks xmlns:a="http://schemas.openxmlformats.org/drawingml/2006/main" noGrp="1"/>
          </p:cNvSpPr>
          <p:nvPr/>
        </p:nvSpPr>
        <p:spPr>
          <a:xfrm xmlns:a="http://schemas.openxmlformats.org/drawingml/2006/main">
            <a:off x="609600" y="15049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Пулинг: объединение результатов нескольких источников</a:t>
            </a:r>
          </a:p>
        </p:txBody>
      </p:sp>
      <p:sp>
        <p:nvSpPr>
          <p:cNvPr id="4" name="BM25 · E5 · BGE&#10;По 10 результатов">
            <a:extLst xmlns:a="http://schemas.openxmlformats.org/drawingml/2006/main">
              <a:ext uri="{FF2B5EF4-FFF2-40B4-BE49-F238E27FC236}">
                <a16:creationId xmlns:a16="http://schemas.microsoft.com/office/drawing/2014/main" id="{7FAE2077-7AFD-465A-B99D-7AE556628F2C}"/>
              </a:ext>
            </a:extLst>
          </p:cNvPr>
          <p:cNvSpPr>
            <a:spLocks xmlns:a="http://schemas.openxmlformats.org/drawingml/2006/main" noGrp="1"/>
          </p:cNvSpPr>
          <p:nvPr/>
        </p:nvSpPr>
        <p:spPr>
          <a:xfrm xmlns:a="http://schemas.openxmlformats.org/drawingml/2006/main">
            <a:off x="609600" y="2219325"/>
            <a:ext cx="3095625" cy="1076325"/>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025" b="0">
                <a:solidFill>
                  <a:srgbClr val="17282B"/>
                </a:solidFill>
                <a:latin typeface="Arial"/>
                <a:ea typeface="Arial"/>
                <a:cs typeface="Arial"/>
              </a:defRPr>
            </a:pPr>
            <a:r>
              <a:rPr sz="2025" b="0">
                <a:solidFill>
                  <a:srgbClr val="17282B"/>
                </a:solidFill>
                <a:latin typeface="Arial"/>
                <a:ea typeface="Arial"/>
                <a:cs typeface="Arial"/>
              </a:rPr>
              <a:t>BM25 · E5 · BGE</a:t>
            </a:r>
          </a:p>
          <a:p xmlns:a="http://schemas.openxmlformats.org/drawingml/2006/main">
            <a:pPr algn="ctr">
              <a:defRPr sz="2025" b="0">
                <a:solidFill>
                  <a:srgbClr val="17282B"/>
                </a:solidFill>
                <a:latin typeface="Arial"/>
                <a:ea typeface="Arial"/>
                <a:cs typeface="Arial"/>
              </a:defRPr>
            </a:pPr>
            <a:r>
              <a:rPr sz="2025" b="0">
                <a:solidFill>
                  <a:srgbClr val="17282B"/>
                </a:solidFill>
                <a:latin typeface="Arial"/>
                <a:ea typeface="Arial"/>
                <a:cs typeface="Arial"/>
              </a:rPr>
              <a:t>По 10 результатов</a:t>
            </a:r>
          </a:p>
        </p:txBody>
      </p:sp>
      <p:sp>
        <p:nvSpPr>
          <p:cNvPr id="5" name="Дополнительный отбор&#10;включая сходство E5&#10;с известным ответом">
            <a:extLst xmlns:a="http://schemas.openxmlformats.org/drawingml/2006/main">
              <a:ext uri="{FF2B5EF4-FFF2-40B4-BE49-F238E27FC236}">
                <a16:creationId xmlns:a16="http://schemas.microsoft.com/office/drawing/2014/main" id="{544EE888-C902-4766-A1EA-28BFE0AA1010}"/>
              </a:ext>
            </a:extLst>
          </p:cNvPr>
          <p:cNvSpPr>
            <a:spLocks xmlns:a="http://schemas.openxmlformats.org/drawingml/2006/main" noGrp="1"/>
          </p:cNvSpPr>
          <p:nvPr/>
        </p:nvSpPr>
        <p:spPr>
          <a:xfrm xmlns:a="http://schemas.openxmlformats.org/drawingml/2006/main">
            <a:off x="609600" y="3895725"/>
            <a:ext cx="3095625" cy="1333500"/>
          </a:xfrm>
          <a:prstGeom xmlns:a="http://schemas.openxmlformats.org/drawingml/2006/main" prst="rect">
            <a:avLst/>
          </a:prstGeom>
          <a:solidFill xmlns:a="http://schemas.openxmlformats.org/drawingml/2006/main">
            <a:srgbClr val="FAEFE9"/>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Дополнительный отбор</a:t>
            </a:r>
          </a:p>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включая сходство E5</a:t>
            </a:r>
          </a:p>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с известным ответом</a:t>
            </a:r>
          </a:p>
        </p:txBody>
      </p:sp>
      <p:sp>
        <p:nvSpPr>
          <p:cNvPr id="6" name="Объединение&#10;без дубликатов">
            <a:extLst xmlns:a="http://schemas.openxmlformats.org/drawingml/2006/main">
              <a:ext uri="{FF2B5EF4-FFF2-40B4-BE49-F238E27FC236}">
                <a16:creationId xmlns:a16="http://schemas.microsoft.com/office/drawing/2014/main" id="{935281FE-6E54-48C8-8BF1-9C131BBD04E8}"/>
              </a:ext>
            </a:extLst>
          </p:cNvPr>
          <p:cNvSpPr>
            <a:spLocks xmlns:a="http://schemas.openxmlformats.org/drawingml/2006/main" noGrp="1"/>
          </p:cNvSpPr>
          <p:nvPr/>
        </p:nvSpPr>
        <p:spPr>
          <a:xfrm xmlns:a="http://schemas.openxmlformats.org/drawingml/2006/main">
            <a:off x="4619625" y="2876550"/>
            <a:ext cx="2647950" cy="1200150"/>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75" b="0">
                <a:solidFill>
                  <a:srgbClr val="17282B"/>
                </a:solidFill>
                <a:latin typeface="Arial"/>
                <a:ea typeface="Arial"/>
                <a:cs typeface="Arial"/>
              </a:defRPr>
            </a:pPr>
            <a:r>
              <a:rPr sz="2175" b="0">
                <a:solidFill>
                  <a:srgbClr val="17282B"/>
                </a:solidFill>
                <a:latin typeface="Arial"/>
                <a:ea typeface="Arial"/>
                <a:cs typeface="Arial"/>
              </a:rPr>
              <a:t>Объединение</a:t>
            </a:r>
          </a:p>
          <a:p xmlns:a="http://schemas.openxmlformats.org/drawingml/2006/main">
            <a:pPr algn="ctr">
              <a:defRPr sz="2175" b="0">
                <a:solidFill>
                  <a:srgbClr val="17282B"/>
                </a:solidFill>
                <a:latin typeface="Arial"/>
                <a:ea typeface="Arial"/>
                <a:cs typeface="Arial"/>
              </a:defRPr>
            </a:pPr>
            <a:r>
              <a:rPr sz="2175" b="0">
                <a:solidFill>
                  <a:srgbClr val="17282B"/>
                </a:solidFill>
                <a:latin typeface="Arial"/>
                <a:ea typeface="Arial"/>
                <a:cs typeface="Arial"/>
              </a:rPr>
              <a:t>без дубликатов</a:t>
            </a:r>
          </a:p>
        </p:txBody>
      </p:sp>
      <p:sp>
        <p:nvSpPr>
          <p:cNvPr id="7" name="Ручная&#10;оценка">
            <a:extLst xmlns:a="http://schemas.openxmlformats.org/drawingml/2006/main">
              <a:ext uri="{FF2B5EF4-FFF2-40B4-BE49-F238E27FC236}">
                <a16:creationId xmlns:a16="http://schemas.microsoft.com/office/drawing/2014/main" id="{55F68536-4470-4EA4-A287-A5E6D11F2942}"/>
              </a:ext>
            </a:extLst>
          </p:cNvPr>
          <p:cNvSpPr>
            <a:spLocks xmlns:a="http://schemas.openxmlformats.org/drawingml/2006/main" noGrp="1"/>
          </p:cNvSpPr>
          <p:nvPr/>
        </p:nvSpPr>
        <p:spPr>
          <a:xfrm xmlns:a="http://schemas.openxmlformats.org/drawingml/2006/main">
            <a:off x="8201025" y="2876550"/>
            <a:ext cx="2809875" cy="1200150"/>
          </a:xfrm>
          <a:prstGeom xmlns:a="http://schemas.openxmlformats.org/drawingml/2006/main" prst="rect">
            <a:avLst/>
          </a:prstGeom>
          <a:solidFill xmlns:a="http://schemas.openxmlformats.org/drawingml/2006/main">
            <a:srgbClr val="E2F1ED"/>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Ручная</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оценка</a:t>
            </a:r>
          </a:p>
        </p:txBody>
      </p:sp>
      <p:sp>
        <p:nvSpPr>
          <p:cNvPr id="11" name="Человек видит:&#10;запрос, кандидата&#10;и известный отв">
            <a:extLst xmlns:a="http://schemas.openxmlformats.org/drawingml/2006/main">
              <a:ext uri="{FF2B5EF4-FFF2-40B4-BE49-F238E27FC236}">
                <a16:creationId xmlns:a16="http://schemas.microsoft.com/office/drawing/2014/main" id="{2E3508FB-E1DA-4734-8FE3-291BD223E712}"/>
              </a:ext>
            </a:extLst>
          </p:cNvPr>
          <p:cNvSpPr>
            <a:spLocks xmlns:a="http://schemas.openxmlformats.org/drawingml/2006/main" noGrp="1"/>
          </p:cNvSpPr>
          <p:nvPr/>
        </p:nvSpPr>
        <p:spPr>
          <a:xfrm xmlns:a="http://schemas.openxmlformats.org/drawingml/2006/main">
            <a:off x="8201025" y="4476750"/>
            <a:ext cx="31146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Человек видит:</a:t>
            </a:r>
          </a:p>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запрос, кандидата</a:t>
            </a:r>
          </a:p>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и известный ответ</a:t>
            </a:r>
          </a:p>
        </p:txBody>
      </p:sp>
      <p:sp>
        <p:nvSpPr>
          <p:cNvPr id="12" name="В среднем 28,56&#10;кандидата; максимум 63">
            <a:extLst xmlns:a="http://schemas.openxmlformats.org/drawingml/2006/main">
              <a:ext uri="{FF2B5EF4-FFF2-40B4-BE49-F238E27FC236}">
                <a16:creationId xmlns:a16="http://schemas.microsoft.com/office/drawing/2014/main" id="{0FCB5042-E89B-4B96-B802-45197D80F877}"/>
              </a:ext>
            </a:extLst>
          </p:cNvPr>
          <p:cNvSpPr>
            <a:spLocks xmlns:a="http://schemas.openxmlformats.org/drawingml/2006/main" noGrp="1"/>
          </p:cNvSpPr>
          <p:nvPr/>
        </p:nvSpPr>
        <p:spPr>
          <a:xfrm xmlns:a="http://schemas.openxmlformats.org/drawingml/2006/main">
            <a:off x="4562475" y="4486275"/>
            <a:ext cx="3000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В среднем 28,56</a:t>
            </a:r>
          </a:p>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кандидата; максимум 63</a:t>
            </a:r>
          </a:p>
        </p:txBody>
      </p:sp>
      <p:sp>
        <p:nvSpPr>
          <p:cNvPr id="13" name="Пул обогащён с помощью известного ответа; это не">
            <a:extLst xmlns:a="http://schemas.openxmlformats.org/drawingml/2006/main">
              <a:ext uri="{FF2B5EF4-FFF2-40B4-BE49-F238E27FC236}">
                <a16:creationId xmlns:a16="http://schemas.microsoft.com/office/drawing/2014/main" id="{1FCDA059-23CD-4DEE-921C-CDAD35F7303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Пул обогащён с помощью известного ответа; это не случайная выборка корпуса.</a:t>
            </a:r>
          </a:p>
        </p:txBody>
      </p:sp>
    </p:spTree>
    <p:extLst>
      <p:ext uri="{BB962C8B-B14F-4D97-AF65-F5344CB8AC3E}">
        <p14:creationId xmlns:p14="http://schemas.microsoft.com/office/powerpoint/2010/main" val="141972522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Что измеряет NDCG@10">
            <a:extLst xmlns:a="http://schemas.openxmlformats.org/drawingml/2006/main">
              <a:ext uri="{FF2B5EF4-FFF2-40B4-BE49-F238E27FC236}">
                <a16:creationId xmlns:a16="http://schemas.microsoft.com/office/drawing/2014/main" id="{58467AC6-7A56-4CF5-B25F-A4140015B249}"/>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Что измеряет NDCG@10</a:t>
            </a:r>
          </a:p>
        </p:txBody>
      </p:sp>
      <p:sp>
        <p:nvSpPr>
          <p:cNvPr id="2" name="07">
            <a:extLst xmlns:a="http://schemas.openxmlformats.org/drawingml/2006/main">
              <a:ext uri="{FF2B5EF4-FFF2-40B4-BE49-F238E27FC236}">
                <a16:creationId xmlns:a16="http://schemas.microsoft.com/office/drawing/2014/main" id="{FFA5D0F9-6340-4FF1-A9C2-219D5497777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07</a:t>
            </a:r>
          </a:p>
        </p:txBody>
      </p:sp>
      <p:sp>
        <p:nvSpPr>
          <p:cNvPr id="3" name="Релевантные ответы ближе к началу выдачи получаю">
            <a:extLst xmlns:a="http://schemas.openxmlformats.org/drawingml/2006/main">
              <a:ext uri="{FF2B5EF4-FFF2-40B4-BE49-F238E27FC236}">
                <a16:creationId xmlns:a16="http://schemas.microsoft.com/office/drawing/2014/main" id="{7B3CCEC2-08C8-425D-B379-7B4C4AD66D0F}"/>
              </a:ext>
            </a:extLst>
          </p:cNvPr>
          <p:cNvSpPr>
            <a:spLocks xmlns:a="http://schemas.openxmlformats.org/drawingml/2006/main" noGrp="1"/>
          </p:cNvSpPr>
          <p:nvPr/>
        </p:nvSpPr>
        <p:spPr>
          <a:xfrm xmlns:a="http://schemas.openxmlformats.org/drawingml/2006/main">
            <a:off x="609600" y="14954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1646A"/>
                </a:solidFill>
                <a:latin typeface="Arial"/>
                <a:ea typeface="Arial"/>
                <a:cs typeface="Arial"/>
              </a:defRPr>
            </a:pPr>
            <a:r>
              <a:rPr sz="2250" b="0">
                <a:solidFill>
                  <a:srgbClr val="51646A"/>
                </a:solidFill>
                <a:latin typeface="Arial"/>
                <a:ea typeface="Arial"/>
                <a:cs typeface="Arial"/>
              </a:rPr>
              <a:t>Релевантные ответы ближе к началу выдачи получают больший вес</a:t>
            </a:r>
          </a:p>
        </p:txBody>
      </p:sp>
      <p:graphicFrame>
        <p:nvGraphicFramePr>
          <p:cNvPr id="12" name=""/>
          <p:cNvGraphicFramePr/>
          <p:nvPr/>
        </p:nvGraphicFramePr>
        <p:xfrm>
          <a:off xmlns:a="http://schemas.openxmlformats.org/drawingml/2006/main" x="609600" y="2428875"/>
          <a:ext xmlns:a="http://schemas.openxmlformats.org/drawingml/2006/main" cx="10972800" cy="1504950"/>
        </p:xfrm>
        <a:graphic xmlns:a="http://schemas.openxmlformats.org/drawingml/2006/main">
          <a:graphicData uri="http://schemas.openxmlformats.org/drawingml/2006/table">
            <a:tbl>
              <a:tblPr firstRow="0" bandRow="0" bandCol="0"/>
              <a:tblGrid>
                <a:gridCol w="5314950"/>
                <a:gridCol w="1885950"/>
                <a:gridCol w="1885950"/>
                <a:gridCol w="1885950"/>
              </a:tblGrid>
              <a:tr h="628650">
                <a:tc>
                  <a:txBody>
                    <a:bodyPr lIns="171450" tIns="95250" rIns="171450" bIns="95250">
                      <a:noAutofit/>
                    </a:bodyPr>
                    <a:lstStyle/>
                    <a:p>
                      <a:r>
                        <a:rPr sz="2025" b="1">
                          <a:solidFill>
                            <a:srgbClr val="51646A"/>
                          </a:solidFill>
                          <a:latin typeface="Arial"/>
                          <a:ea typeface="Arial"/>
                          <a:cs typeface="Arial"/>
                        </a:rPr>
                        <a:t>Позиция в выдаче</a:t>
                      </a:r>
                    </a:p>
                  </a:txBody>
                  <a:tcPr marL="91440" marR="91440" marT="45720" marB="45720" anchor="ctr">
                    <a:lnL w="0">
                      <a:solidFill>
                        <a:srgbClr val="FFFFFF"/>
                      </a:solidFill>
                    </a:lnL>
                    <a:lnT w="0">
                      <a:solidFill>
                        <a:srgbClr val="FFFFFF"/>
                      </a:solidFill>
                    </a:lnT>
                    <a:solidFill>
                      <a:srgbClr val="F0F4F4"/>
                    </a:solidFill>
                  </a:tcPr>
                </a:tc>
                <a:tc>
                  <a:txBody>
                    <a:bodyPr lIns="171450" tIns="95250" rIns="171450" bIns="95250">
                      <a:noAutofit/>
                    </a:bodyPr>
                    <a:lstStyle/>
                    <a:p>
                      <a:r>
                        <a:rPr sz="2025" b="1">
                          <a:solidFill>
                            <a:srgbClr val="51646A"/>
                          </a:solidFill>
                          <a:latin typeface="Arial"/>
                          <a:ea typeface="Arial"/>
                          <a:cs typeface="Arial"/>
                        </a:rPr>
                        <a:t>1</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2025" b="1">
                          <a:solidFill>
                            <a:srgbClr val="51646A"/>
                          </a:solidFill>
                          <a:latin typeface="Arial"/>
                          <a:ea typeface="Arial"/>
                          <a:cs typeface="Arial"/>
                        </a:rPr>
                        <a:t>2</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2025" b="1">
                          <a:solidFill>
                            <a:srgbClr val="51646A"/>
                          </a:solidFill>
                          <a:latin typeface="Arial"/>
                          <a:ea typeface="Arial"/>
                          <a:cs typeface="Arial"/>
                        </a:rPr>
                        <a:t>3</a:t>
                      </a:r>
                    </a:p>
                  </a:txBody>
                  <a:tcPr marL="91440" marR="91440" marT="45720" marB="45720" anchor="ctr">
                    <a:lnR w="0">
                      <a:solidFill>
                        <a:srgbClr val="FFFFFF"/>
                      </a:solidFill>
                    </a:lnR>
                    <a:lnT w="0">
                      <a:solidFill>
                        <a:srgbClr val="FFFFFF"/>
                      </a:solidFill>
                    </a:lnT>
                    <a:solidFill>
                      <a:srgbClr val="F0F4F4"/>
                    </a:solidFill>
                  </a:tcPr>
                </a:tc>
              </a:tr>
              <a:tr h="876300">
                <a:tc>
                  <a:txBody>
                    <a:bodyPr lIns="171450" tIns="95250" rIns="171450" bIns="95250">
                      <a:noAutofit/>
                    </a:bodyPr>
                    <a:lstStyle/>
                    <a:p>
                      <a:r>
                        <a:rPr sz="2175" b="0">
                          <a:solidFill>
                            <a:srgbClr val="17282B"/>
                          </a:solidFill>
                          <a:latin typeface="Arial"/>
                          <a:ea typeface="Arial"/>
                          <a:cs typeface="Arial"/>
                        </a:rPr>
                        <a:t>Вес релевантного ответа</a:t>
                      </a:r>
                    </a:p>
                  </a:txBody>
                  <a:tcPr marL="91440" marR="91440" marT="45720" marB="45720" anchor="ctr">
                    <a:lnL w="0">
                      <a:solidFill>
                        <a:srgbClr val="FFFFFF"/>
                      </a:solidFill>
                    </a:lnL>
                    <a:lnB w="7620">
                      <a:solidFill>
                        <a:srgbClr val="D7E0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1,00</a:t>
                      </a:r>
                    </a:p>
                  </a:txBody>
                  <a:tcPr marL="91440" marR="91440" marT="45720" marB="45720" anchor="ctr">
                    <a:lnB w="7620">
                      <a:solidFill>
                        <a:srgbClr val="D7E0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0,63</a:t>
                      </a:r>
                    </a:p>
                  </a:txBody>
                  <a:tcPr marL="91440" marR="91440" marT="45720" marB="45720" anchor="ctr">
                    <a:lnB w="7620">
                      <a:solidFill>
                        <a:srgbClr val="D7E0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0,50</a:t>
                      </a:r>
                    </a:p>
                  </a:txBody>
                  <a:tcPr marL="91440" marR="91440" marT="45720" marB="45720" anchor="ctr">
                    <a:lnR w="0">
                      <a:solidFill>
                        <a:srgbClr val="FFFFFF"/>
                      </a:solidFill>
                    </a:lnR>
                    <a:lnB w="7620">
                      <a:solidFill>
                        <a:srgbClr val="D7E0E0"/>
                      </a:solidFill>
                    </a:lnB>
                    <a:solidFill>
                      <a:srgbClr val="FFFFFF"/>
                    </a:solidFill>
                  </a:tcPr>
                </a:tc>
              </a:tr>
            </a:tbl>
          </a:graphicData>
        </a:graphic>
      </p:graphicFrame>
      <p:sp>
        <p:nvSpPr>
          <p:cNvPr id="5" name="NDCG@10 =">
            <a:extLst xmlns:a="http://schemas.openxmlformats.org/drawingml/2006/main">
              <a:ext uri="{FF2B5EF4-FFF2-40B4-BE49-F238E27FC236}">
                <a16:creationId xmlns:a16="http://schemas.microsoft.com/office/drawing/2014/main" id="{01378C9E-6399-46F0-AFB0-74E95E38DB43}"/>
              </a:ext>
            </a:extLst>
          </p:cNvPr>
          <p:cNvSpPr>
            <a:spLocks xmlns:a="http://schemas.openxmlformats.org/drawingml/2006/main" noGrp="1"/>
          </p:cNvSpPr>
          <p:nvPr/>
        </p:nvSpPr>
        <p:spPr>
          <a:xfrm xmlns:a="http://schemas.openxmlformats.org/drawingml/2006/main">
            <a:off x="609600" y="4343400"/>
            <a:ext cx="335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007D76"/>
                </a:solidFill>
                <a:latin typeface="Arial"/>
                <a:ea typeface="Arial"/>
                <a:cs typeface="Arial"/>
              </a:defRPr>
            </a:pPr>
            <a:r>
              <a:rPr sz="3375" b="1">
                <a:solidFill>
                  <a:srgbClr val="007D76"/>
                </a:solidFill>
                <a:latin typeface="Arial"/>
                <a:ea typeface="Arial"/>
                <a:cs typeface="Arial"/>
              </a:rPr>
              <a:t>NDCG@10 =</a:t>
            </a:r>
          </a:p>
        </p:txBody>
      </p:sp>
      <p:sp>
        <p:nvSpPr>
          <p:cNvPr id="6" name="оценка выдачи / оценка идеальной выдачи">
            <a:extLst xmlns:a="http://schemas.openxmlformats.org/drawingml/2006/main">
              <a:ext uri="{FF2B5EF4-FFF2-40B4-BE49-F238E27FC236}">
                <a16:creationId xmlns:a16="http://schemas.microsoft.com/office/drawing/2014/main" id="{31141CD1-5EE4-4BE6-A0EF-E674DE4B112C}"/>
              </a:ext>
            </a:extLst>
          </p:cNvPr>
          <p:cNvSpPr>
            <a:spLocks xmlns:a="http://schemas.openxmlformats.org/drawingml/2006/main" noGrp="1"/>
          </p:cNvSpPr>
          <p:nvPr/>
        </p:nvSpPr>
        <p:spPr>
          <a:xfrm xmlns:a="http://schemas.openxmlformats.org/drawingml/2006/main">
            <a:off x="3790950" y="4419600"/>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оценка выдачи / оценка идеальной выдачи</a:t>
            </a:r>
          </a:p>
        </p:txBody>
      </p:sp>
      <p:sp>
        <p:nvSpPr>
          <p:cNvPr id="7" name="Разметка меняет оценку; поисковая выдача остаётс">
            <a:extLst xmlns:a="http://schemas.openxmlformats.org/drawingml/2006/main">
              <a:ext uri="{FF2B5EF4-FFF2-40B4-BE49-F238E27FC236}">
                <a16:creationId xmlns:a16="http://schemas.microsoft.com/office/drawing/2014/main" id="{D229990E-609D-4CD2-BF94-C464DB4F6BC8}"/>
              </a:ext>
            </a:extLst>
          </p:cNvPr>
          <p:cNvSpPr>
            <a:spLocks xmlns:a="http://schemas.openxmlformats.org/drawingml/2006/main" noGrp="1"/>
          </p:cNvSpPr>
          <p:nvPr/>
        </p:nvSpPr>
        <p:spPr>
          <a:xfrm xmlns:a="http://schemas.openxmlformats.org/drawingml/2006/main">
            <a:off x="609600" y="53244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82B"/>
                </a:solidFill>
                <a:latin typeface="Arial"/>
                <a:ea typeface="Arial"/>
                <a:cs typeface="Arial"/>
              </a:defRPr>
            </a:pPr>
            <a:r>
              <a:rPr sz="2550" b="1">
                <a:solidFill>
                  <a:srgbClr val="17282B"/>
                </a:solidFill>
                <a:latin typeface="Arial"/>
                <a:ea typeface="Arial"/>
                <a:cs typeface="Arial"/>
              </a:rPr>
              <a:t>Разметка меняет оценку; поисковая выдача остаётся прежней</a:t>
            </a:r>
          </a:p>
        </p:txBody>
      </p:sp>
      <p:sp>
        <p:nvSpPr>
          <p:cNvPr id="8" name="Учебный пример весов 1 / log₂(позиция + 1). Для ">
            <a:extLst xmlns:a="http://schemas.openxmlformats.org/drawingml/2006/main">
              <a:ext uri="{FF2B5EF4-FFF2-40B4-BE49-F238E27FC236}">
                <a16:creationId xmlns:a16="http://schemas.microsoft.com/office/drawing/2014/main" id="{D46A8667-6DF3-4ACF-80EA-E0742444CB2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Учебный пример весов 1 / log₂(позиция + 1). Для сравнения используется общий идеал.</a:t>
            </a:r>
          </a:p>
        </p:txBody>
      </p:sp>
    </p:spTree>
    <p:extLst>
      <p:ext uri="{BB962C8B-B14F-4D97-AF65-F5344CB8AC3E}">
        <p14:creationId xmlns:p14="http://schemas.microsoft.com/office/powerpoint/2010/main" val="155645863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Доразметка раскрывает пропущенные ответы">
            <a:extLst xmlns:a="http://schemas.openxmlformats.org/drawingml/2006/main">
              <a:ext uri="{FF2B5EF4-FFF2-40B4-BE49-F238E27FC236}">
                <a16:creationId xmlns:a16="http://schemas.microsoft.com/office/drawing/2014/main" id="{1BA44030-EF62-4C2A-BB7E-4E3FCB346AAC}"/>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Доразметка раскрывает пропущенные ответы</a:t>
            </a:r>
          </a:p>
        </p:txBody>
      </p:sp>
      <p:sp>
        <p:nvSpPr>
          <p:cNvPr id="2" name="08">
            <a:extLst xmlns:a="http://schemas.openxmlformats.org/drawingml/2006/main">
              <a:ext uri="{FF2B5EF4-FFF2-40B4-BE49-F238E27FC236}">
                <a16:creationId xmlns:a16="http://schemas.microsoft.com/office/drawing/2014/main" id="{D7AF79E4-60E7-4A5A-8CC2-8950F398B11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08</a:t>
            </a:r>
          </a:p>
        </p:txBody>
      </p:sp>
      <p:sp>
        <p:nvSpPr>
          <p:cNvPr id="3" name="Релевантных фрагментов на запрос в тех же ручных">
            <a:extLst xmlns:a="http://schemas.openxmlformats.org/drawingml/2006/main">
              <a:ext uri="{FF2B5EF4-FFF2-40B4-BE49-F238E27FC236}">
                <a16:creationId xmlns:a16="http://schemas.microsoft.com/office/drawing/2014/main" id="{917B4488-2F12-4CC9-A629-3EC2BD68DAB7}"/>
              </a:ext>
            </a:extLst>
          </p:cNvPr>
          <p:cNvSpPr>
            <a:spLocks xmlns:a="http://schemas.openxmlformats.org/drawingml/2006/main" noGrp="1"/>
          </p:cNvSpPr>
          <p:nvPr/>
        </p:nvSpPr>
        <p:spPr>
          <a:xfrm xmlns:a="http://schemas.openxmlformats.org/drawingml/2006/main">
            <a:off x="609600" y="15811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Релевантных фрагментов на запрос в тех же ручных пулах</a:t>
            </a:r>
          </a:p>
        </p:txBody>
      </p:sp>
      <p:sp>
        <p:nvSpPr>
          <p:cNvPr id="4" name="1,05">
            <a:extLst xmlns:a="http://schemas.openxmlformats.org/drawingml/2006/main">
              <a:ext uri="{FF2B5EF4-FFF2-40B4-BE49-F238E27FC236}">
                <a16:creationId xmlns:a16="http://schemas.microsoft.com/office/drawing/2014/main" id="{50D161BA-45A5-432F-B512-EF4948F8E2C4}"/>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E8B91"/>
                </a:solidFill>
                <a:latin typeface="Arial"/>
                <a:ea typeface="Arial"/>
                <a:cs typeface="Arial"/>
              </a:defRPr>
            </a:pPr>
            <a:r>
              <a:rPr sz="7800" b="1">
                <a:solidFill>
                  <a:srgbClr val="7E8B91"/>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DE7AC1B5-51A3-49C9-86C7-0AEEC073BFCE}"/>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D76"/>
                </a:solidFill>
                <a:latin typeface="Arial"/>
                <a:ea typeface="Arial"/>
                <a:cs typeface="Arial"/>
              </a:defRPr>
            </a:pPr>
            <a:r>
              <a:rPr sz="7800" b="1">
                <a:solidFill>
                  <a:srgbClr val="007D76"/>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C7133807-CE0D-4878-B83E-F9B4814F4687}"/>
              </a:ext>
            </a:extLst>
          </p:cNvPr>
          <p:cNvSpPr>
            <a:spLocks xmlns:a="http://schemas.openxmlformats.org/drawingml/2006/main" noGrp="1"/>
          </p:cNvSpPr>
          <p:nvPr/>
        </p:nvSpPr>
        <p:spPr>
          <a:xfrm xmlns:a="http://schemas.openxmlformats.org/drawingml/2006/main">
            <a:off x="5105400" y="2819400"/>
            <a:ext cx="128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575" b="0">
                <a:solidFill>
                  <a:srgbClr val="51646A"/>
                </a:solidFill>
                <a:latin typeface="Arial"/>
                <a:ea typeface="Arial"/>
                <a:cs typeface="Arial"/>
              </a:defRPr>
            </a:pPr>
            <a:r>
              <a:rPr sz="4575" b="0">
                <a:solidFill>
                  <a:srgbClr val="51646A"/>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39B5A670-11E5-4E40-BE97-8C2E2F52D961}"/>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8" name="Исходные оценки">
            <a:extLst xmlns:a="http://schemas.openxmlformats.org/drawingml/2006/main">
              <a:ext uri="{FF2B5EF4-FFF2-40B4-BE49-F238E27FC236}">
                <a16:creationId xmlns:a16="http://schemas.microsoft.com/office/drawing/2014/main" id="{6841FC66-0EEA-417F-9923-1A141EEF6B5F}"/>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82B"/>
                </a:solidFill>
                <a:latin typeface="Arial"/>
                <a:ea typeface="Arial"/>
                <a:cs typeface="Arial"/>
              </a:defRPr>
            </a:pPr>
            <a:r>
              <a:rPr sz="2550" b="1">
                <a:solidFill>
                  <a:srgbClr val="17282B"/>
                </a:solidFill>
                <a:latin typeface="Arial"/>
                <a:ea typeface="Arial"/>
                <a:cs typeface="Arial"/>
              </a:rPr>
              <a:t>Исходные оценки</a:t>
            </a:r>
          </a:p>
        </p:txBody>
      </p:sp>
      <p:sp>
        <p:nvSpPr>
          <p:cNvPr id="9" name="1 243 релевантные пары">
            <a:extLst xmlns:a="http://schemas.openxmlformats.org/drawingml/2006/main">
              <a:ext uri="{FF2B5EF4-FFF2-40B4-BE49-F238E27FC236}">
                <a16:creationId xmlns:a16="http://schemas.microsoft.com/office/drawing/2014/main" id="{E0B45AAE-C76D-42EA-A339-62839CA7DB09}"/>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1 243 релевантные пары</a:t>
            </a:r>
          </a:p>
        </p:txBody>
      </p:sp>
      <p:sp>
        <p:nvSpPr>
          <p:cNvPr id="10" name="После доразметки">
            <a:extLst xmlns:a="http://schemas.openxmlformats.org/drawingml/2006/main">
              <a:ext uri="{FF2B5EF4-FFF2-40B4-BE49-F238E27FC236}">
                <a16:creationId xmlns:a16="http://schemas.microsoft.com/office/drawing/2014/main" id="{B2D1091F-EF27-4820-A134-504EB3FEB597}"/>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282B"/>
                </a:solidFill>
                <a:latin typeface="Arial"/>
                <a:ea typeface="Arial"/>
                <a:cs typeface="Arial"/>
              </a:defRPr>
            </a:pPr>
            <a:r>
              <a:rPr sz="2400" b="1">
                <a:solidFill>
                  <a:srgbClr val="17282B"/>
                </a:solidFill>
                <a:latin typeface="Arial"/>
                <a:ea typeface="Arial"/>
                <a:cs typeface="Arial"/>
              </a:rPr>
              <a:t>После доразметки</a:t>
            </a:r>
          </a:p>
        </p:txBody>
      </p:sp>
      <p:sp>
        <p:nvSpPr>
          <p:cNvPr id="11" name="20 597 релевантных пар">
            <a:extLst xmlns:a="http://schemas.openxmlformats.org/drawingml/2006/main">
              <a:ext uri="{FF2B5EF4-FFF2-40B4-BE49-F238E27FC236}">
                <a16:creationId xmlns:a16="http://schemas.microsoft.com/office/drawing/2014/main" id="{2329617D-7961-4C12-8BAD-1852B8859B19}"/>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20 597 релевантных пар</a:t>
            </a:r>
          </a:p>
        </p:txBody>
      </p:sp>
      <p:sp>
        <p:nvSpPr>
          <p:cNvPr id="12" name="1 179 запросов. Пулы кандидатов и порядок поиско">
            <a:extLst xmlns:a="http://schemas.openxmlformats.org/drawingml/2006/main">
              <a:ext uri="{FF2B5EF4-FFF2-40B4-BE49-F238E27FC236}">
                <a16:creationId xmlns:a16="http://schemas.microsoft.com/office/drawing/2014/main" id="{268718DE-EA6A-4CFF-AAAC-4BDF3C05FED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1 179 запросов. Пулы кандидатов и порядок поисковой выдачи неизменны.</a:t>
            </a:r>
          </a:p>
        </p:txBody>
      </p:sp>
    </p:spTree>
    <p:extLst>
      <p:ext uri="{BB962C8B-B14F-4D97-AF65-F5344CB8AC3E}">
        <p14:creationId xmlns:p14="http://schemas.microsoft.com/office/powerpoint/2010/main" val="103707172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Выдача та же. Измеренная оценка выше">
            <a:extLst xmlns:a="http://schemas.openxmlformats.org/drawingml/2006/main">
              <a:ext uri="{FF2B5EF4-FFF2-40B4-BE49-F238E27FC236}">
                <a16:creationId xmlns:a16="http://schemas.microsoft.com/office/drawing/2014/main" id="{852F4D9D-027C-462E-9B8C-87330F628117}"/>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Выдача та же. Измеренная оценка выше</a:t>
            </a:r>
          </a:p>
        </p:txBody>
      </p:sp>
      <p:sp>
        <p:nvSpPr>
          <p:cNvPr id="2" name="09">
            <a:extLst xmlns:a="http://schemas.openxmlformats.org/drawingml/2006/main">
              <a:ext uri="{FF2B5EF4-FFF2-40B4-BE49-F238E27FC236}">
                <a16:creationId xmlns:a16="http://schemas.microsoft.com/office/drawing/2014/main" id="{82DE15D4-5B3E-4C40-BE40-54E672E1662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09</a:t>
            </a:r>
          </a:p>
        </p:txBody>
      </p:sp>
      <p:sp>
        <p:nvSpPr>
          <p:cNvPr id="3" name="Бинарная NDCG@10 внутри пулов · 1 179 запросов">
            <a:extLst xmlns:a="http://schemas.openxmlformats.org/drawingml/2006/main">
              <a:ext uri="{FF2B5EF4-FFF2-40B4-BE49-F238E27FC236}">
                <a16:creationId xmlns:a16="http://schemas.microsoft.com/office/drawing/2014/main" id="{EC29482A-D068-45BB-B3A1-71A7238D9157}"/>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Бинарная NDCG@10 внутри пулов · 1 179 запросов</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0aff90d7bb714397"/>
          </a:graphicData>
        </a:graphic>
      </p:graphicFrame>
      <p:sp>
        <p:nvSpPr>
          <p:cNvPr id="5" name="Изменение E5: +0,391 · 95%-ный ДИ [0,365; 0,417]">
            <a:extLst xmlns:a="http://schemas.openxmlformats.org/drawingml/2006/main">
              <a:ext uri="{FF2B5EF4-FFF2-40B4-BE49-F238E27FC236}">
                <a16:creationId xmlns:a16="http://schemas.microsoft.com/office/drawing/2014/main" id="{DE910B15-8FA0-4551-A850-762E4F0F4955}"/>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D76"/>
                </a:solidFill>
                <a:latin typeface="Arial"/>
                <a:ea typeface="Arial"/>
                <a:cs typeface="Arial"/>
              </a:defRPr>
            </a:pPr>
            <a:r>
              <a:rPr sz="2100" b="1">
                <a:solidFill>
                  <a:srgbClr val="007D76"/>
                </a:solidFill>
                <a:latin typeface="Arial"/>
                <a:ea typeface="Arial"/>
                <a:cs typeface="Arial"/>
              </a:rPr>
              <a:t>Изменение E5: +0,391 · 95%-ный ДИ [0,365; 0,417]</a:t>
            </a:r>
          </a:p>
        </p:txBody>
      </p:sp>
      <p:sp>
        <p:nvSpPr>
          <p:cNvPr id="6" name="NDCG@10 внутри пулов. RRF объединяет ранги BM25,">
            <a:extLst xmlns:a="http://schemas.openxmlformats.org/drawingml/2006/main">
              <a:ext uri="{FF2B5EF4-FFF2-40B4-BE49-F238E27FC236}">
                <a16:creationId xmlns:a16="http://schemas.microsoft.com/office/drawing/2014/main" id="{E8F71B6A-DE9E-43A0-997C-7CC5FB5EA49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NDCG@10 внутри пулов. RRF объединяет ранги BM25, E5 и BGE; это не новый поиск.</a:t>
            </a:r>
          </a:p>
        </p:txBody>
      </p:sp>
    </p:spTree>
    <p:extLst>
      <p:ext uri="{BB962C8B-B14F-4D97-AF65-F5344CB8AC3E}">
        <p14:creationId xmlns:p14="http://schemas.microsoft.com/office/powerpoint/2010/main" val="9223369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64F37"/>
            </a:solidFill>
            <a:tailEnd type="triangle" w="med" len="med"/>
          </a:ln>
        </p:spPr>
      </p:cxnSp>
      <p:cxnSp>
        <p:nvCxnSpPr>
          <p:cNvPr id="14"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1646A"/>
            </a:solidFill>
            <a:tailEnd type="triangle" w="med" len="med"/>
          </a:ln>
        </p:spPr>
      </p:cxnSp>
      <p:sp>
        <p:nvSpPr>
          <p:cNvPr id="15" name="Зачем нужна модель-судья">
            <a:extLst xmlns:a="http://schemas.openxmlformats.org/drawingml/2006/main">
              <a:ext uri="{FF2B5EF4-FFF2-40B4-BE49-F238E27FC236}">
                <a16:creationId xmlns:a16="http://schemas.microsoft.com/office/drawing/2014/main" id="{C5F5E149-E215-4BFA-BAA9-7671B067948E}"/>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Зачем нужна модель-судья</a:t>
            </a:r>
          </a:p>
        </p:txBody>
      </p:sp>
      <p:sp>
        <p:nvSpPr>
          <p:cNvPr id="2" name="10">
            <a:extLst xmlns:a="http://schemas.openxmlformats.org/drawingml/2006/main">
              <a:ext uri="{FF2B5EF4-FFF2-40B4-BE49-F238E27FC236}">
                <a16:creationId xmlns:a16="http://schemas.microsoft.com/office/drawing/2014/main" id="{13914D97-8253-4F51-9115-875FC5C598C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10</a:t>
            </a:r>
          </a:p>
        </p:txBody>
      </p:sp>
      <p:sp>
        <p:nvSpPr>
          <p:cNvPr id="3" name="Текст запроса&#10;Текст кандидата">
            <a:extLst xmlns:a="http://schemas.openxmlformats.org/drawingml/2006/main">
              <a:ext uri="{FF2B5EF4-FFF2-40B4-BE49-F238E27FC236}">
                <a16:creationId xmlns:a16="http://schemas.microsoft.com/office/drawing/2014/main" id="{784F8047-CC7F-4A84-B21D-CEBDC38C6E6D}"/>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Текст запроса</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Текст кандидата</a:t>
            </a:r>
          </a:p>
        </p:txBody>
      </p:sp>
      <p:sp>
        <p:nvSpPr>
          <p:cNvPr id="4" name="Ручные оценки позволяют обучить модель для массо">
            <a:extLst xmlns:a="http://schemas.openxmlformats.org/drawingml/2006/main">
              <a:ext uri="{FF2B5EF4-FFF2-40B4-BE49-F238E27FC236}">
                <a16:creationId xmlns:a16="http://schemas.microsoft.com/office/drawing/2014/main" id="{10E189E1-4A29-4555-BEDB-1E3B90958BE2}"/>
              </a:ext>
            </a:extLst>
          </p:cNvPr>
          <p:cNvSpPr>
            <a:spLocks xmlns:a="http://schemas.openxmlformats.org/drawingml/2006/main" noGrp="1"/>
          </p:cNvSpPr>
          <p:nvPr/>
        </p:nvSpPr>
        <p:spPr>
          <a:xfrm xmlns:a="http://schemas.openxmlformats.org/drawingml/2006/main">
            <a:off x="609600" y="15525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Ручные оценки позволяют обучить модель для массовой разметки</a:t>
            </a:r>
          </a:p>
        </p:txBody>
      </p:sp>
      <p:sp>
        <p:nvSpPr>
          <p:cNvPr id="5" name="MiniLM&#10;кросс-энкодер">
            <a:extLst xmlns:a="http://schemas.openxmlformats.org/drawingml/2006/main">
              <a:ext uri="{FF2B5EF4-FFF2-40B4-BE49-F238E27FC236}">
                <a16:creationId xmlns:a16="http://schemas.microsoft.com/office/drawing/2014/main" id="{590C773A-B960-479E-B328-B3B63058A5C9}"/>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MiniLM</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кросс-энкодер</a:t>
            </a:r>
          </a:p>
        </p:txBody>
      </p:sp>
      <p:sp>
        <p:nvSpPr>
          <p:cNvPr id="6" name="Балл модели&#10;Псевдометка">
            <a:extLst xmlns:a="http://schemas.openxmlformats.org/drawingml/2006/main">
              <a:ext uri="{FF2B5EF4-FFF2-40B4-BE49-F238E27FC236}">
                <a16:creationId xmlns:a16="http://schemas.microsoft.com/office/drawing/2014/main" id="{0033FA09-AF63-41C9-8CFD-A19363AE86AA}"/>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Балл модели</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Псевдометка</a:t>
            </a:r>
          </a:p>
        </p:txBody>
      </p:sp>
      <p:sp>
        <p:nvSpPr>
          <p:cNvPr id="9" name="Совместная обработка текстов">
            <a:extLst xmlns:a="http://schemas.openxmlformats.org/drawingml/2006/main">
              <a:ext uri="{FF2B5EF4-FFF2-40B4-BE49-F238E27FC236}">
                <a16:creationId xmlns:a16="http://schemas.microsoft.com/office/drawing/2014/main" id="{BBF1F8C3-1555-4408-8279-BE06028512C0}"/>
              </a:ext>
            </a:extLst>
          </p:cNvPr>
          <p:cNvSpPr>
            <a:spLocks xmlns:a="http://schemas.openxmlformats.org/drawingml/2006/main" noGrp="1"/>
          </p:cNvSpPr>
          <p:nvPr/>
        </p:nvSpPr>
        <p:spPr>
          <a:xfrm xmlns:a="http://schemas.openxmlformats.org/drawingml/2006/main">
            <a:off x="4600575" y="397192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D76"/>
                </a:solidFill>
                <a:latin typeface="Arial"/>
                <a:ea typeface="Arial"/>
                <a:cs typeface="Arial"/>
              </a:defRPr>
            </a:pPr>
            <a:r>
              <a:rPr sz="2025" b="0">
                <a:solidFill>
                  <a:srgbClr val="007D76"/>
                </a:solidFill>
                <a:latin typeface="Arial"/>
                <a:ea typeface="Arial"/>
                <a:cs typeface="Arial"/>
              </a:rPr>
              <a:t>Совместная обработка текстов</a:t>
            </a:r>
          </a:p>
        </p:txBody>
      </p:sp>
      <p:sp>
        <p:nvSpPr>
          <p:cNvPr id="10" name="">
            <a:extLst xmlns:a="http://schemas.openxmlformats.org/drawingml/2006/main">
              <a:ext uri="{FF2B5EF4-FFF2-40B4-BE49-F238E27FC236}">
                <a16:creationId xmlns:a16="http://schemas.microsoft.com/office/drawing/2014/main" id="{019D4EF1-E20C-4A65-BC89-AC6D1F007964}"/>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11" name="Нет эталонного ответа, рангов и баллов других мо">
            <a:extLst xmlns:a="http://schemas.openxmlformats.org/drawingml/2006/main">
              <a:ext uri="{FF2B5EF4-FFF2-40B4-BE49-F238E27FC236}">
                <a16:creationId xmlns:a16="http://schemas.microsoft.com/office/drawing/2014/main" id="{485E1FBE-A251-4A2E-A4CA-251F22B43C02}"/>
              </a:ext>
            </a:extLst>
          </p:cNvPr>
          <p:cNvSpPr>
            <a:spLocks xmlns:a="http://schemas.openxmlformats.org/drawingml/2006/main" noGrp="1"/>
          </p:cNvSpPr>
          <p:nvPr/>
        </p:nvSpPr>
        <p:spPr>
          <a:xfrm xmlns:a="http://schemas.openxmlformats.org/drawingml/2006/main">
            <a:off x="609600" y="50863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Нет эталонного ответа, рангов и баллов других моделей</a:t>
            </a:r>
          </a:p>
        </p:txBody>
      </p:sp>
      <p:sp>
        <p:nvSpPr>
          <p:cNvPr id="12" name="Судья создаёт псевдометки и не заменяет поисковы">
            <a:extLst xmlns:a="http://schemas.openxmlformats.org/drawingml/2006/main">
              <a:ext uri="{FF2B5EF4-FFF2-40B4-BE49-F238E27FC236}">
                <a16:creationId xmlns:a16="http://schemas.microsoft.com/office/drawing/2014/main" id="{E4DE4B16-14FF-4540-A6A7-9263BE5D78E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Судья создаёт псевдометки и не заменяет поисковые системы.</a:t>
            </a:r>
          </a:p>
        </p:txBody>
      </p:sp>
    </p:spTree>
    <p:extLst>
      <p:ext uri="{BB962C8B-B14F-4D97-AF65-F5344CB8AC3E}">
        <p14:creationId xmlns:p14="http://schemas.microsoft.com/office/powerpoint/2010/main" val="54255138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Проверка судьи на отложенных запросах">
            <a:extLst xmlns:a="http://schemas.openxmlformats.org/drawingml/2006/main">
              <a:ext uri="{FF2B5EF4-FFF2-40B4-BE49-F238E27FC236}">
                <a16:creationId xmlns:a16="http://schemas.microsoft.com/office/drawing/2014/main" id="{4C9E642B-D41D-46FA-B32F-326E17C8467F}"/>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Проверка судьи на отложенных запросах</a:t>
            </a:r>
          </a:p>
        </p:txBody>
      </p:sp>
      <p:sp>
        <p:nvSpPr>
          <p:cNvPr id="2" name="11">
            <a:extLst xmlns:a="http://schemas.openxmlformats.org/drawingml/2006/main">
              <a:ext uri="{FF2B5EF4-FFF2-40B4-BE49-F238E27FC236}">
                <a16:creationId xmlns:a16="http://schemas.microsoft.com/office/drawing/2014/main" id="{7DFD78A8-99C2-4509-9851-E54EEF743AC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11</a:t>
            </a:r>
          </a:p>
        </p:txBody>
      </p:sp>
      <p:sp>
        <p:nvSpPr>
          <p:cNvPr id="3" name="Разбиение по запросам: 825 обучение / 177 валида">
            <a:extLst xmlns:a="http://schemas.openxmlformats.org/drawingml/2006/main">
              <a:ext uri="{FF2B5EF4-FFF2-40B4-BE49-F238E27FC236}">
                <a16:creationId xmlns:a16="http://schemas.microsoft.com/office/drawing/2014/main" id="{498E292F-3A22-4795-8B9A-188E7965D3E8}"/>
              </a:ext>
            </a:extLst>
          </p:cNvPr>
          <p:cNvSpPr>
            <a:spLocks xmlns:a="http://schemas.openxmlformats.org/drawingml/2006/main" noGrp="1"/>
          </p:cNvSpPr>
          <p:nvPr/>
        </p:nvSpPr>
        <p:spPr>
          <a:xfrm xmlns:a="http://schemas.openxmlformats.org/drawingml/2006/main">
            <a:off x="609600" y="15049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Разбиение по запросам: 825 обучение / 177 валидация / 177 тест</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7ecd220ee02244c7"/>
          </a:graphicData>
        </a:graphic>
      </p:graphicFrame>
      <p:sp>
        <p:nvSpPr>
          <p:cNvPr id="5" name="0,907">
            <a:extLst xmlns:a="http://schemas.openxmlformats.org/drawingml/2006/main">
              <a:ext uri="{FF2B5EF4-FFF2-40B4-BE49-F238E27FC236}">
                <a16:creationId xmlns:a16="http://schemas.microsoft.com/office/drawing/2014/main" id="{A6A3915A-4CAF-481C-B8FA-2D1418253B8E}"/>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D76"/>
                </a:solidFill>
                <a:latin typeface="Arial"/>
                <a:ea typeface="Arial"/>
                <a:cs typeface="Arial"/>
              </a:defRPr>
            </a:pPr>
            <a:r>
              <a:rPr sz="5100" b="1">
                <a:solidFill>
                  <a:srgbClr val="007D76"/>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3EC319F0-F8E2-4CA1-B9BE-BE38C8809CB2}"/>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42AC52F0-FEEA-44C1-ADC0-20C53561B494}"/>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7282B"/>
                </a:solidFill>
                <a:latin typeface="Arial"/>
                <a:ea typeface="Arial"/>
                <a:cs typeface="Arial"/>
              </a:defRPr>
            </a:pPr>
            <a:r>
              <a:rPr sz="4500" b="1">
                <a:solidFill>
                  <a:srgbClr val="17282B"/>
                </a:solidFill>
                <a:latin typeface="Arial"/>
                <a:ea typeface="Arial"/>
                <a:cs typeface="Arial"/>
              </a:rPr>
              <a:t>0,875</a:t>
            </a:r>
          </a:p>
        </p:txBody>
      </p:sp>
      <p:sp>
        <p:nvSpPr>
          <p:cNvPr id="8" name="F1 при выбранном&#10;пороге">
            <a:extLst xmlns:a="http://schemas.openxmlformats.org/drawingml/2006/main">
              <a:ext uri="{FF2B5EF4-FFF2-40B4-BE49-F238E27FC236}">
                <a16:creationId xmlns:a16="http://schemas.microsoft.com/office/drawing/2014/main" id="{DA436158-6056-45FF-AE5E-60C6C87F84DD}"/>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F1 при выбранном</a:t>
            </a:r>
          </a:p>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пороге</a:t>
            </a:r>
          </a:p>
        </p:txBody>
      </p:sp>
      <p:sp>
        <p:nvSpPr>
          <p:cNvPr id="9" name="Тест: 5 002 пары · precision 0,851 · recall 0,90">
            <a:extLst xmlns:a="http://schemas.openxmlformats.org/drawingml/2006/main">
              <a:ext uri="{FF2B5EF4-FFF2-40B4-BE49-F238E27FC236}">
                <a16:creationId xmlns:a16="http://schemas.microsoft.com/office/drawing/2014/main" id="{8AB12DEF-B7B8-4F04-A72E-9F4AF6050B40}"/>
              </a:ext>
            </a:extLst>
          </p:cNvPr>
          <p:cNvSpPr>
            <a:spLocks xmlns:a="http://schemas.openxmlformats.org/drawingml/2006/main" noGrp="1"/>
          </p:cNvSpPr>
          <p:nvPr/>
        </p:nvSpPr>
        <p:spPr>
          <a:xfrm xmlns:a="http://schemas.openxmlformats.org/drawingml/2006/main">
            <a:off x="609600" y="56864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Тест: 5 002 пары · precision 0,851 · recall 0,902</a:t>
            </a:r>
          </a:p>
        </p:txBody>
      </p:sp>
      <p:sp>
        <p:nvSpPr>
          <p:cNvPr id="10" name="Точка: порог по валидации. Глубокие пулы не имею">
            <a:extLst xmlns:a="http://schemas.openxmlformats.org/drawingml/2006/main">
              <a:ext uri="{FF2B5EF4-FFF2-40B4-BE49-F238E27FC236}">
                <a16:creationId xmlns:a16="http://schemas.microsoft.com/office/drawing/2014/main" id="{6EAAE6AC-413D-4FA7-990F-193FE4BE47F4}"/>
              </a:ext>
            </a:extLst>
          </p:cNvPr>
          <p:cNvSpPr>
            <a:spLocks xmlns:a="http://schemas.openxmlformats.org/drawingml/2006/main" noGrp="1"/>
          </p:cNvSpPr>
          <p:nvPr/>
        </p:nvSpPr>
        <p:spPr>
          <a:xfrm xmlns:a="http://schemas.openxmlformats.org/drawingml/2006/main">
            <a:off x="609600" y="61626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Точка: порог по валидации. Глубокие пулы не имеют независимой ручной проверки.</a:t>
            </a:r>
          </a:p>
        </p:txBody>
      </p:sp>
    </p:spTree>
    <p:extLst>
      <p:ext uri="{BB962C8B-B14F-4D97-AF65-F5344CB8AC3E}">
        <p14:creationId xmlns:p14="http://schemas.microsoft.com/office/powerpoint/2010/main" val="62417725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Глубина пула меняет число псевдометок">
            <a:extLst xmlns:a="http://schemas.openxmlformats.org/drawingml/2006/main">
              <a:ext uri="{FF2B5EF4-FFF2-40B4-BE49-F238E27FC236}">
                <a16:creationId xmlns:a16="http://schemas.microsoft.com/office/drawing/2014/main" id="{59D3C358-9F18-445B-9EC3-B581E4DC4B13}"/>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Глубина пула меняет число псевдометок</a:t>
            </a:r>
          </a:p>
        </p:txBody>
      </p:sp>
      <p:sp>
        <p:nvSpPr>
          <p:cNvPr id="2" name="12">
            <a:extLst xmlns:a="http://schemas.openxmlformats.org/drawingml/2006/main">
              <a:ext uri="{FF2B5EF4-FFF2-40B4-BE49-F238E27FC236}">
                <a16:creationId xmlns:a16="http://schemas.microsoft.com/office/drawing/2014/main" id="{FF6FB741-D9B9-4AA9-BD7D-094A9D84BB4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12</a:t>
            </a:r>
          </a:p>
        </p:txBody>
      </p:sp>
      <p:sp>
        <p:nvSpPr>
          <p:cNvPr id="3" name="K: сколько результатов каждой модели получит оце">
            <a:extLst xmlns:a="http://schemas.openxmlformats.org/drawingml/2006/main">
              <a:ext uri="{FF2B5EF4-FFF2-40B4-BE49-F238E27FC236}">
                <a16:creationId xmlns:a16="http://schemas.microsoft.com/office/drawing/2014/main" id="{4F02D09D-F4AB-4780-8A0A-540F5D8E6C5B}"/>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K: сколько результатов каждой модели получит оценку судьи</a:t>
            </a:r>
          </a:p>
        </p:txBody>
      </p:sp>
      <p:sp>
        <p:nvSpPr>
          <p:cNvPr id="4" name="Среднее число фрагментов на запрос">
            <a:extLst xmlns:a="http://schemas.openxmlformats.org/drawingml/2006/main">
              <a:ext uri="{FF2B5EF4-FFF2-40B4-BE49-F238E27FC236}">
                <a16:creationId xmlns:a16="http://schemas.microsoft.com/office/drawing/2014/main" id="{2306AD91-99CB-4E72-99DD-90F31DDEF6C8}"/>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Среднее число фрагментов на запрос</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50f430f5ccb241b7"/>
          </a:graphicData>
        </a:graphic>
      </p:graphicFrame>
      <p:sp>
        <p:nvSpPr>
          <p:cNvPr id="6" name="451,5">
            <a:extLst xmlns:a="http://schemas.openxmlformats.org/drawingml/2006/main">
              <a:ext uri="{FF2B5EF4-FFF2-40B4-BE49-F238E27FC236}">
                <a16:creationId xmlns:a16="http://schemas.microsoft.com/office/drawing/2014/main" id="{6832526E-E077-4A83-AD38-B1B9565C47A3}"/>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E8B91"/>
                </a:solidFill>
                <a:latin typeface="Arial"/>
                <a:ea typeface="Arial"/>
                <a:cs typeface="Arial"/>
              </a:defRPr>
            </a:pPr>
            <a:r>
              <a:rPr sz="4425" b="1">
                <a:solidFill>
                  <a:srgbClr val="7E8B91"/>
                </a:solidFill>
                <a:latin typeface="Arial"/>
                <a:ea typeface="Arial"/>
                <a:cs typeface="Arial"/>
              </a:rPr>
              <a:t>451,5</a:t>
            </a:r>
          </a:p>
        </p:txBody>
      </p:sp>
      <p:sp>
        <p:nvSpPr>
          <p:cNvPr id="7" name="кандидата">
            <a:extLst xmlns:a="http://schemas.openxmlformats.org/drawingml/2006/main">
              <a:ext uri="{FF2B5EF4-FFF2-40B4-BE49-F238E27FC236}">
                <a16:creationId xmlns:a16="http://schemas.microsoft.com/office/drawing/2014/main" id="{B73D4F16-3D52-4B5F-8A57-51C457457B79}"/>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кандидата</a:t>
            </a:r>
          </a:p>
        </p:txBody>
      </p:sp>
      <p:sp>
        <p:nvSpPr>
          <p:cNvPr id="8" name="128,6">
            <a:extLst xmlns:a="http://schemas.openxmlformats.org/drawingml/2006/main">
              <a:ext uri="{FF2B5EF4-FFF2-40B4-BE49-F238E27FC236}">
                <a16:creationId xmlns:a16="http://schemas.microsoft.com/office/drawing/2014/main" id="{EB4E402E-E446-47B1-AACE-69ADC7A89EC0}"/>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64F37"/>
                </a:solidFill>
                <a:latin typeface="Arial"/>
                <a:ea typeface="Arial"/>
                <a:cs typeface="Arial"/>
              </a:defRPr>
            </a:pPr>
            <a:r>
              <a:rPr sz="4425" b="1">
                <a:solidFill>
                  <a:srgbClr val="C64F37"/>
                </a:solidFill>
                <a:latin typeface="Arial"/>
                <a:ea typeface="Arial"/>
                <a:cs typeface="Arial"/>
              </a:rPr>
              <a:t>128,6</a:t>
            </a:r>
          </a:p>
        </p:txBody>
      </p:sp>
      <p:sp>
        <p:nvSpPr>
          <p:cNvPr id="9" name="по судье&#10;при K = 200">
            <a:extLst xmlns:a="http://schemas.openxmlformats.org/drawingml/2006/main">
              <a:ext uri="{FF2B5EF4-FFF2-40B4-BE49-F238E27FC236}">
                <a16:creationId xmlns:a16="http://schemas.microsoft.com/office/drawing/2014/main" id="{DA91EC60-04EB-4392-9C4F-C015AFC66C36}"/>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по судье</a:t>
            </a:r>
          </a:p>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при K = 200</a:t>
            </a:r>
          </a:p>
        </p:txBody>
      </p:sp>
      <p:sp>
        <p:nvSpPr>
          <p:cNvPr id="10" name="101 093 запроса, включая пулы без положительных ">
            <a:extLst xmlns:a="http://schemas.openxmlformats.org/drawingml/2006/main">
              <a:ext uri="{FF2B5EF4-FFF2-40B4-BE49-F238E27FC236}">
                <a16:creationId xmlns:a16="http://schemas.microsoft.com/office/drawing/2014/main" id="{03511C0C-31C1-4BB8-922A-B4256888C73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101 093 запроса, включая пулы без положительных меток. Судья и порог неизменны.</a:t>
            </a:r>
          </a:p>
        </p:txBody>
      </p:sp>
    </p:spTree>
    <p:extLst>
      <p:ext uri="{BB962C8B-B14F-4D97-AF65-F5344CB8AC3E}">
        <p14:creationId xmlns:p14="http://schemas.microsoft.com/office/powerpoint/2010/main" val="46653855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Совместное изменение глубин пула и RRF">
            <a:extLst xmlns:a="http://schemas.openxmlformats.org/drawingml/2006/main">
              <a:ext uri="{FF2B5EF4-FFF2-40B4-BE49-F238E27FC236}">
                <a16:creationId xmlns:a16="http://schemas.microsoft.com/office/drawing/2014/main" id="{B364F0FE-024D-48AC-B370-FC3BA15CF49E}"/>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Совместное изменение глубин пула и RRF</a:t>
            </a:r>
          </a:p>
        </p:txBody>
      </p:sp>
      <p:sp>
        <p:nvSpPr>
          <p:cNvPr id="2" name="13">
            <a:extLst xmlns:a="http://schemas.openxmlformats.org/drawingml/2006/main">
              <a:ext uri="{FF2B5EF4-FFF2-40B4-BE49-F238E27FC236}">
                <a16:creationId xmlns:a16="http://schemas.microsoft.com/office/drawing/2014/main" id="{07CD7E17-1444-4AD8-8484-781C9263636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13</a:t>
            </a:r>
          </a:p>
        </p:txBody>
      </p:sp>
      <p:sp>
        <p:nvSpPr>
          <p:cNvPr id="3" name="K: документы для оценки       L: документы для с">
            <a:extLst xmlns:a="http://schemas.openxmlformats.org/drawingml/2006/main">
              <a:ext uri="{FF2B5EF4-FFF2-40B4-BE49-F238E27FC236}">
                <a16:creationId xmlns:a16="http://schemas.microsoft.com/office/drawing/2014/main" id="{2B830020-F4FA-4A28-B6EE-DE54EAFAD415}"/>
              </a:ext>
            </a:extLst>
          </p:cNvPr>
          <p:cNvSpPr>
            <a:spLocks xmlns:a="http://schemas.openxmlformats.org/drawingml/2006/main" noGrp="1"/>
          </p:cNvSpPr>
          <p:nvPr/>
        </p:nvSpPr>
        <p:spPr>
          <a:xfrm xmlns:a="http://schemas.openxmlformats.org/drawingml/2006/main">
            <a:off x="609600" y="14859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K: документы для оценки       L: документы для слияния рангов</a:t>
            </a:r>
          </a:p>
        </p:txBody>
      </p:sp>
      <p:sp>
        <p:nvSpPr>
          <p:cNvPr id="4" name="L = K: это совместное изменение двух параметров">
            <a:extLst xmlns:a="http://schemas.openxmlformats.org/drawingml/2006/main">
              <a:ext uri="{FF2B5EF4-FFF2-40B4-BE49-F238E27FC236}">
                <a16:creationId xmlns:a16="http://schemas.microsoft.com/office/drawing/2014/main" id="{6B7AB2F2-3244-451D-A1D3-822C1DE47094}"/>
              </a:ext>
            </a:extLst>
          </p:cNvPr>
          <p:cNvSpPr>
            <a:spLocks xmlns:a="http://schemas.openxmlformats.org/drawingml/2006/main" noGrp="1"/>
          </p:cNvSpPr>
          <p:nvPr/>
        </p:nvSpPr>
        <p:spPr>
          <a:xfrm xmlns:a="http://schemas.openxmlformats.org/drawingml/2006/main">
            <a:off x="609600" y="1914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64F37"/>
                </a:solidFill>
                <a:latin typeface="Arial"/>
                <a:ea typeface="Arial"/>
                <a:cs typeface="Arial"/>
              </a:defRPr>
            </a:pPr>
            <a:r>
              <a:rPr sz="2175" b="1">
                <a:solidFill>
                  <a:srgbClr val="C64F37"/>
                </a:solidFill>
                <a:latin typeface="Arial"/>
                <a:ea typeface="Arial"/>
                <a:cs typeface="Arial"/>
              </a:rPr>
              <a:t>L = K: это совместное изменение двух параметров</a:t>
            </a:r>
          </a: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c4369b9804264af6"/>
          </a:graphicData>
        </a:graphic>
      </p:graphicFrame>
      <p:sp>
        <p:nvSpPr>
          <p:cNvPr id="6" name="K = 200: +0,0088 NDCG@10, небольшой абсолютный в">
            <a:extLst xmlns:a="http://schemas.openxmlformats.org/drawingml/2006/main">
              <a:ext uri="{FF2B5EF4-FFF2-40B4-BE49-F238E27FC236}">
                <a16:creationId xmlns:a16="http://schemas.microsoft.com/office/drawing/2014/main" id="{FAC0DE38-63A3-49AD-B6CA-A103ADC95C1B}"/>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64F37"/>
                </a:solidFill>
                <a:latin typeface="Arial"/>
                <a:ea typeface="Arial"/>
                <a:cs typeface="Arial"/>
              </a:defRPr>
            </a:pPr>
            <a:r>
              <a:rPr sz="2100" b="1">
                <a:solidFill>
                  <a:srgbClr val="C64F37"/>
                </a:solidFill>
                <a:latin typeface="Arial"/>
                <a:ea typeface="Arial"/>
                <a:cs typeface="Arial"/>
              </a:rPr>
              <a:t>K = 200: +0,0088 NDCG@10, небольшой абсолютный выигрыш</a:t>
            </a:r>
          </a:p>
        </p:txBody>
      </p:sp>
      <p:sp>
        <p:nvSpPr>
          <p:cNvPr id="7" name="95%-ный парный ДИ [0,0082; 0,0095]. Ошибки и нео">
            <a:extLst xmlns:a="http://schemas.openxmlformats.org/drawingml/2006/main">
              <a:ext uri="{FF2B5EF4-FFF2-40B4-BE49-F238E27FC236}">
                <a16:creationId xmlns:a16="http://schemas.microsoft.com/office/drawing/2014/main" id="{104CBEF6-3A44-4E75-8D03-9D65B6415370}"/>
              </a:ext>
            </a:extLst>
          </p:cNvPr>
          <p:cNvSpPr>
            <a:spLocks xmlns:a="http://schemas.openxmlformats.org/drawingml/2006/main" noGrp="1"/>
          </p:cNvSpPr>
          <p:nvPr/>
        </p:nvSpPr>
        <p:spPr>
          <a:xfrm xmlns:a="http://schemas.openxmlformats.org/drawingml/2006/main">
            <a:off x="609600" y="6057900"/>
            <a:ext cx="1057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95%-ный парный ДИ [0,0082; 0,0095]. Ошибки и неопределённость судьи не учтены.</a:t>
            </a:r>
          </a:p>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Статистическая различимость не устанавливает полезность для пользователя.</a:t>
            </a:r>
          </a:p>
        </p:txBody>
      </p:sp>
    </p:spTree>
    <p:extLst>
      <p:ext uri="{BB962C8B-B14F-4D97-AF65-F5344CB8AC3E}">
        <p14:creationId xmlns:p14="http://schemas.microsoft.com/office/powerpoint/2010/main" val="72238954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Ключевой опыт: выдача зафиксирована">
            <a:extLst xmlns:a="http://schemas.openxmlformats.org/drawingml/2006/main">
              <a:ext uri="{FF2B5EF4-FFF2-40B4-BE49-F238E27FC236}">
                <a16:creationId xmlns:a16="http://schemas.microsoft.com/office/drawing/2014/main" id="{315714A4-7E9A-43D8-B528-D75534FC9E1F}"/>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Ключевой опыт: выдача зафиксирована</a:t>
            </a:r>
          </a:p>
        </p:txBody>
      </p:sp>
      <p:sp>
        <p:nvSpPr>
          <p:cNvPr id="2" name="14">
            <a:extLst xmlns:a="http://schemas.openxmlformats.org/drawingml/2006/main">
              <a:ext uri="{FF2B5EF4-FFF2-40B4-BE49-F238E27FC236}">
                <a16:creationId xmlns:a16="http://schemas.microsoft.com/office/drawing/2014/main" id="{DD2499C6-C378-40C4-BE54-F7C4C20B44F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14</a:t>
            </a:r>
          </a:p>
        </p:txBody>
      </p:sp>
      <p:sp>
        <p:nvSpPr>
          <p:cNvPr id="3" name="L = 200. У каждой системы топ-10 неизменен при л">
            <a:extLst xmlns:a="http://schemas.openxmlformats.org/drawingml/2006/main">
              <a:ext uri="{FF2B5EF4-FFF2-40B4-BE49-F238E27FC236}">
                <a16:creationId xmlns:a16="http://schemas.microsoft.com/office/drawing/2014/main" id="{3114BE70-EA84-43FB-9CF0-6812E176210D}"/>
              </a:ext>
            </a:extLst>
          </p:cNvPr>
          <p:cNvSpPr>
            <a:spLocks xmlns:a="http://schemas.openxmlformats.org/drawingml/2006/main" noGrp="1"/>
          </p:cNvSpPr>
          <p:nvPr/>
        </p:nvSpPr>
        <p:spPr>
          <a:xfrm xmlns:a="http://schemas.openxmlformats.org/drawingml/2006/main">
            <a:off x="609600" y="14859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L = 200. У каждой системы топ-10 неизменен при любом K</a:t>
            </a:r>
          </a:p>
        </p:txBody>
      </p:sp>
      <p:sp>
        <p:nvSpPr>
          <p:cNvPr id="4" name="Меняются только доступные оценки релевантности">
            <a:extLst xmlns:a="http://schemas.openxmlformats.org/drawingml/2006/main">
              <a:ext uri="{FF2B5EF4-FFF2-40B4-BE49-F238E27FC236}">
                <a16:creationId xmlns:a16="http://schemas.microsoft.com/office/drawing/2014/main" id="{1DDEFD79-0727-455F-B6F0-029134D5CD5D}"/>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Меняются только доступные оценки релевантности</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693c661c289f46dc"/>
          </a:graphicData>
        </a:graphic>
      </p:graphicFrame>
      <p:sp>
        <p:nvSpPr>
          <p:cNvPr id="6" name="14,4%">
            <a:extLst xmlns:a="http://schemas.openxmlformats.org/drawingml/2006/main">
              <a:ext uri="{FF2B5EF4-FFF2-40B4-BE49-F238E27FC236}">
                <a16:creationId xmlns:a16="http://schemas.microsoft.com/office/drawing/2014/main" id="{F462EBD9-F61F-4D0C-AEB1-730E6EF2A79D}"/>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D76"/>
                </a:solidFill>
                <a:latin typeface="Arial"/>
                <a:ea typeface="Arial"/>
                <a:cs typeface="Arial"/>
              </a:defRPr>
            </a:pPr>
            <a:r>
              <a:rPr sz="4950" b="1">
                <a:solidFill>
                  <a:srgbClr val="007D76"/>
                </a:solidFill>
                <a:latin typeface="Arial"/>
                <a:ea typeface="Arial"/>
                <a:cs typeface="Arial"/>
              </a:rPr>
              <a:t>14,4%</a:t>
            </a:r>
          </a:p>
        </p:txBody>
      </p:sp>
      <p:sp>
        <p:nvSpPr>
          <p:cNvPr id="7" name="пар из топ-10 RRF&#10;вне оценочного пула&#10;при K = 10">
            <a:extLst xmlns:a="http://schemas.openxmlformats.org/drawingml/2006/main">
              <a:ext uri="{FF2B5EF4-FFF2-40B4-BE49-F238E27FC236}">
                <a16:creationId xmlns:a16="http://schemas.microsoft.com/office/drawing/2014/main" id="{31A7E469-5E5C-461E-B4F7-832C5BD4BD18}"/>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пар из топ-10 RRF</a:t>
            </a:r>
          </a:p>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вне оценочного пула</a:t>
            </a:r>
          </a:p>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при K = 10</a:t>
            </a:r>
          </a:p>
        </p:txBody>
      </p:sp>
      <p:sp>
        <p:nvSpPr>
          <p:cNvPr id="8" name="Топ-10 E5 уже&#10;целиком внутри пула">
            <a:extLst xmlns:a="http://schemas.openxmlformats.org/drawingml/2006/main">
              <a:ext uri="{FF2B5EF4-FFF2-40B4-BE49-F238E27FC236}">
                <a16:creationId xmlns:a16="http://schemas.microsoft.com/office/drawing/2014/main" id="{A7203BAE-F49D-4C7E-A064-E197FF7A6782}"/>
              </a:ext>
            </a:extLst>
          </p:cNvPr>
          <p:cNvSpPr>
            <a:spLocks xmlns:a="http://schemas.openxmlformats.org/drawingml/2006/main" noGrp="1"/>
          </p:cNvSpPr>
          <p:nvPr/>
        </p:nvSpPr>
        <p:spPr>
          <a:xfrm xmlns:a="http://schemas.openxmlformats.org/drawingml/2006/main">
            <a:off x="8963025" y="4905375"/>
            <a:ext cx="2619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46A"/>
                </a:solidFill>
                <a:latin typeface="Arial"/>
                <a:ea typeface="Arial"/>
                <a:cs typeface="Arial"/>
              </a:defRPr>
            </a:pPr>
            <a:r>
              <a:rPr sz="1800" b="0">
                <a:solidFill>
                  <a:srgbClr val="51646A"/>
                </a:solidFill>
                <a:latin typeface="Arial"/>
                <a:ea typeface="Arial"/>
                <a:cs typeface="Arial"/>
              </a:rPr>
              <a:t>Топ-10 E5 уже</a:t>
            </a:r>
          </a:p>
          <a:p xmlns:a="http://schemas.openxmlformats.org/drawingml/2006/main">
            <a:pPr algn="l">
              <a:defRPr sz="1800" b="0">
                <a:solidFill>
                  <a:srgbClr val="51646A"/>
                </a:solidFill>
                <a:latin typeface="Arial"/>
                <a:ea typeface="Arial"/>
                <a:cs typeface="Arial"/>
              </a:defRPr>
            </a:pPr>
            <a:r>
              <a:rPr sz="1800" b="0">
                <a:solidFill>
                  <a:srgbClr val="51646A"/>
                </a:solidFill>
                <a:latin typeface="Arial"/>
                <a:ea typeface="Arial"/>
                <a:cs typeface="Arial"/>
              </a:rPr>
              <a:t>целиком внутри пула</a:t>
            </a:r>
          </a:p>
        </p:txBody>
      </p:sp>
      <p:sp>
        <p:nvSpPr>
          <p:cNvPr id="9" name="K = 10: −0,0661">
            <a:extLst xmlns:a="http://schemas.openxmlformats.org/drawingml/2006/main">
              <a:ext uri="{FF2B5EF4-FFF2-40B4-BE49-F238E27FC236}">
                <a16:creationId xmlns:a16="http://schemas.microsoft.com/office/drawing/2014/main" id="{4ADF5E8F-B752-43B3-869F-4EEAE4862CE1}"/>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7A996E3E-A1C8-4157-ADCF-2F7601B0B4DE}"/>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K = 30: +0,0080</a:t>
            </a:r>
          </a:p>
        </p:txBody>
      </p:sp>
      <p:sp>
        <p:nvSpPr>
          <p:cNvPr id="11" name="Разность RRF − E5 по псевдометкам. Расширение пу">
            <a:extLst xmlns:a="http://schemas.openxmlformats.org/drawingml/2006/main">
              <a:ext uri="{FF2B5EF4-FFF2-40B4-BE49-F238E27FC236}">
                <a16:creationId xmlns:a16="http://schemas.microsoft.com/office/drawing/2014/main" id="{298778C7-1033-4E30-BED8-D73FE8F726AE}"/>
              </a:ext>
            </a:extLst>
          </p:cNvPr>
          <p:cNvSpPr>
            <a:spLocks xmlns:a="http://schemas.openxmlformats.org/drawingml/2006/main" noGrp="1"/>
          </p:cNvSpPr>
          <p:nvPr/>
        </p:nvSpPr>
        <p:spPr>
          <a:xfrm xmlns:a="http://schemas.openxmlformats.org/drawingml/2006/main">
            <a:off x="609600" y="61150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Разность RRF − E5 по псевдометкам. Расширение пула меняет покрытие и нормировку.</a:t>
            </a:r>
          </a:p>
        </p:txBody>
      </p:sp>
    </p:spTree>
    <p:extLst>
      <p:ext uri="{BB962C8B-B14F-4D97-AF65-F5344CB8AC3E}">
        <p14:creationId xmlns:p14="http://schemas.microsoft.com/office/powerpoint/2010/main" val="210165724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Что проверено, а что ещё нет">
            <a:extLst xmlns:a="http://schemas.openxmlformats.org/drawingml/2006/main">
              <a:ext uri="{FF2B5EF4-FFF2-40B4-BE49-F238E27FC236}">
                <a16:creationId xmlns:a16="http://schemas.microsoft.com/office/drawing/2014/main" id="{EAE16610-233F-4713-9C9C-F6A8EA75FF9A}"/>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Что проверено, а что ещё нет</a:t>
            </a:r>
          </a:p>
        </p:txBody>
      </p:sp>
      <p:sp>
        <p:nvSpPr>
          <p:cNvPr id="2" name="15">
            <a:extLst xmlns:a="http://schemas.openxmlformats.org/drawingml/2006/main">
              <a:ext uri="{FF2B5EF4-FFF2-40B4-BE49-F238E27FC236}">
                <a16:creationId xmlns:a16="http://schemas.microsoft.com/office/drawing/2014/main" id="{7889293A-B000-42D3-ACF9-6579FD5B2F2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15</a:t>
            </a:r>
          </a:p>
        </p:txBody>
      </p:sp>
      <p:sp>
        <p:nvSpPr>
          <p:cNvPr id="3" name="Проверки устойчивости">
            <a:extLst xmlns:a="http://schemas.openxmlformats.org/drawingml/2006/main">
              <a:ext uri="{FF2B5EF4-FFF2-40B4-BE49-F238E27FC236}">
                <a16:creationId xmlns:a16="http://schemas.microsoft.com/office/drawing/2014/main" id="{1EA5FF26-ADD9-4362-A337-C8CB0501FFB5}"/>
              </a:ext>
            </a:extLst>
          </p:cNvPr>
          <p:cNvSpPr>
            <a:spLocks xmlns:a="http://schemas.openxmlformats.org/drawingml/2006/main" noGrp="1"/>
          </p:cNvSpPr>
          <p:nvPr/>
        </p:nvSpPr>
        <p:spPr>
          <a:xfrm xmlns:a="http://schemas.openxmlformats.org/drawingml/2006/main">
            <a:off x="609600" y="163830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Проверки устойчивости</a:t>
            </a:r>
          </a:p>
        </p:txBody>
      </p:sp>
      <p:sp>
        <p:nvSpPr>
          <p:cNvPr id="4" name="1 156 запросов">
            <a:extLst xmlns:a="http://schemas.openxmlformats.org/drawingml/2006/main">
              <a:ext uri="{FF2B5EF4-FFF2-40B4-BE49-F238E27FC236}">
                <a16:creationId xmlns:a16="http://schemas.microsoft.com/office/drawing/2014/main" id="{EFDB560A-904E-42BB-A5AD-0D8D77EE285F}"/>
              </a:ext>
            </a:extLst>
          </p:cNvPr>
          <p:cNvSpPr>
            <a:spLocks xmlns:a="http://schemas.openxmlformats.org/drawingml/2006/main" noGrp="1"/>
          </p:cNvSpPr>
          <p:nvPr/>
        </p:nvSpPr>
        <p:spPr>
          <a:xfrm xmlns:a="http://schemas.openxmlformats.org/drawingml/2006/main">
            <a:off x="609600" y="2381250"/>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282B"/>
                </a:solidFill>
                <a:latin typeface="Arial"/>
                <a:ea typeface="Arial"/>
                <a:cs typeface="Arial"/>
              </a:defRPr>
            </a:pPr>
            <a:r>
              <a:rPr sz="2925" b="1">
                <a:solidFill>
                  <a:srgbClr val="17282B"/>
                </a:solidFill>
                <a:latin typeface="Arial"/>
                <a:ea typeface="Arial"/>
                <a:cs typeface="Arial"/>
              </a:rPr>
              <a:t>1 156 запросов</a:t>
            </a:r>
          </a:p>
        </p:txBody>
      </p:sp>
      <p:sp>
        <p:nvSpPr>
          <p:cNvPr id="5" name="После исключения 23 проблемных:&#10;порядок систем с">
            <a:extLst xmlns:a="http://schemas.openxmlformats.org/drawingml/2006/main">
              <a:ext uri="{FF2B5EF4-FFF2-40B4-BE49-F238E27FC236}">
                <a16:creationId xmlns:a16="http://schemas.microsoft.com/office/drawing/2014/main" id="{1916F804-727F-4617-A3C8-B66DE69143C8}"/>
              </a:ext>
            </a:extLst>
          </p:cNvPr>
          <p:cNvSpPr>
            <a:spLocks xmlns:a="http://schemas.openxmlformats.org/drawingml/2006/main" noGrp="1"/>
          </p:cNvSpPr>
          <p:nvPr/>
        </p:nvSpPr>
        <p:spPr>
          <a:xfrm xmlns:a="http://schemas.openxmlformats.org/drawingml/2006/main">
            <a:off x="609600" y="2962275"/>
            <a:ext cx="5143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После исключения 23 проблемных:</a:t>
            </a:r>
          </a:p>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порядок систем сохранён</a:t>
            </a:r>
          </a:p>
        </p:txBody>
      </p:sp>
      <p:sp>
        <p:nvSpPr>
          <p:cNvPr id="6" name="99 914 запросов">
            <a:extLst xmlns:a="http://schemas.openxmlformats.org/drawingml/2006/main">
              <a:ext uri="{FF2B5EF4-FFF2-40B4-BE49-F238E27FC236}">
                <a16:creationId xmlns:a16="http://schemas.microsoft.com/office/drawing/2014/main" id="{5962D805-84EE-4816-B037-D8B01EB3D2C3}"/>
              </a:ext>
            </a:extLst>
          </p:cNvPr>
          <p:cNvSpPr>
            <a:spLocks xmlns:a="http://schemas.openxmlformats.org/drawingml/2006/main" noGrp="1"/>
          </p:cNvSpPr>
          <p:nvPr/>
        </p:nvSpPr>
        <p:spPr>
          <a:xfrm xmlns:a="http://schemas.openxmlformats.org/drawingml/2006/main">
            <a:off x="609600" y="408622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282B"/>
                </a:solidFill>
                <a:latin typeface="Arial"/>
                <a:ea typeface="Arial"/>
                <a:cs typeface="Arial"/>
              </a:defRPr>
            </a:pPr>
            <a:r>
              <a:rPr sz="2925" b="1">
                <a:solidFill>
                  <a:srgbClr val="17282B"/>
                </a:solidFill>
                <a:latin typeface="Arial"/>
                <a:ea typeface="Arial"/>
                <a:cs typeface="Arial"/>
              </a:rPr>
              <a:t>99 914 запросов</a:t>
            </a:r>
          </a:p>
        </p:txBody>
      </p:sp>
      <p:sp>
        <p:nvSpPr>
          <p:cNvPr id="7" name="Без всех ручных запросов:&#10;знаки различий RRF − E">
            <a:extLst xmlns:a="http://schemas.openxmlformats.org/drawingml/2006/main">
              <a:ext uri="{FF2B5EF4-FFF2-40B4-BE49-F238E27FC236}">
                <a16:creationId xmlns:a16="http://schemas.microsoft.com/office/drawing/2014/main" id="{B9CCDF42-0739-4B2B-A2C2-1EB90DCFA06F}"/>
              </a:ext>
            </a:extLst>
          </p:cNvPr>
          <p:cNvSpPr>
            <a:spLocks xmlns:a="http://schemas.openxmlformats.org/drawingml/2006/main" noGrp="1"/>
          </p:cNvSpPr>
          <p:nvPr/>
        </p:nvSpPr>
        <p:spPr>
          <a:xfrm xmlns:a="http://schemas.openxmlformats.org/drawingml/2006/main">
            <a:off x="609600" y="466725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Без всех ручных запросов:</a:t>
            </a:r>
          </a:p>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знаки различий RRF − E5 сохранены</a:t>
            </a:r>
          </a:p>
        </p:txBody>
      </p:sp>
      <p:sp>
        <p:nvSpPr>
          <p:cNvPr id="8" name="Границы выводов">
            <a:extLst xmlns:a="http://schemas.openxmlformats.org/drawingml/2006/main">
              <a:ext uri="{FF2B5EF4-FFF2-40B4-BE49-F238E27FC236}">
                <a16:creationId xmlns:a16="http://schemas.microsoft.com/office/drawing/2014/main" id="{5989AC9A-7457-4647-B687-D6470995C859}"/>
              </a:ext>
            </a:extLst>
          </p:cNvPr>
          <p:cNvSpPr>
            <a:spLocks xmlns:a="http://schemas.openxmlformats.org/drawingml/2006/main" noGrp="1"/>
          </p:cNvSpPr>
          <p:nvPr/>
        </p:nvSpPr>
        <p:spPr>
          <a:xfrm xmlns:a="http://schemas.openxmlformats.org/drawingml/2006/main">
            <a:off x="6705600" y="163830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64F37"/>
                </a:solidFill>
                <a:latin typeface="Arial"/>
                <a:ea typeface="Arial"/>
                <a:cs typeface="Arial"/>
              </a:defRPr>
            </a:pPr>
            <a:r>
              <a:rPr sz="2325" b="1">
                <a:solidFill>
                  <a:srgbClr val="C64F37"/>
                </a:solidFill>
                <a:latin typeface="Arial"/>
                <a:ea typeface="Arial"/>
                <a:cs typeface="Arial"/>
              </a:rPr>
              <a:t>Границы выводов</a:t>
            </a:r>
          </a:p>
        </p:txBody>
      </p:sp>
      <p:sp>
        <p:nvSpPr>
          <p:cNvPr id="9" name="Ручной пул обогащён&#10;известным ответом">
            <a:extLst xmlns:a="http://schemas.openxmlformats.org/drawingml/2006/main">
              <a:ext uri="{FF2B5EF4-FFF2-40B4-BE49-F238E27FC236}">
                <a16:creationId xmlns:a16="http://schemas.microsoft.com/office/drawing/2014/main" id="{14982596-A873-4CF9-950D-213063A64A95}"/>
              </a:ext>
            </a:extLst>
          </p:cNvPr>
          <p:cNvSpPr>
            <a:spLocks xmlns:a="http://schemas.openxmlformats.org/drawingml/2006/main" noGrp="1"/>
          </p:cNvSpPr>
          <p:nvPr/>
        </p:nvSpPr>
        <p:spPr>
          <a:xfrm xmlns:a="http://schemas.openxmlformats.org/drawingml/2006/main">
            <a:off x="6705600" y="24003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Ручной пул обогащён</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известным ответом</a:t>
            </a:r>
          </a:p>
        </p:txBody>
      </p:sp>
      <p:sp>
        <p:nvSpPr>
          <p:cNvPr id="10" name="Согласие разметчиков&#10;не измерено">
            <a:extLst xmlns:a="http://schemas.openxmlformats.org/drawingml/2006/main">
              <a:ext uri="{FF2B5EF4-FFF2-40B4-BE49-F238E27FC236}">
                <a16:creationId xmlns:a16="http://schemas.microsoft.com/office/drawing/2014/main" id="{73C26515-E9D5-4CC1-B408-6D5BD29E4905}"/>
              </a:ext>
            </a:extLst>
          </p:cNvPr>
          <p:cNvSpPr>
            <a:spLocks xmlns:a="http://schemas.openxmlformats.org/drawingml/2006/main" noGrp="1"/>
          </p:cNvSpPr>
          <p:nvPr/>
        </p:nvSpPr>
        <p:spPr>
          <a:xfrm xmlns:a="http://schemas.openxmlformats.org/drawingml/2006/main">
            <a:off x="6705600" y="35242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Согласие разметчиков</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не измерено</a:t>
            </a:r>
          </a:p>
        </p:txBody>
      </p:sp>
      <p:sp>
        <p:nvSpPr>
          <p:cNvPr id="11" name="Один судья; глубокие пулы&#10;не проверены людьми">
            <a:extLst xmlns:a="http://schemas.openxmlformats.org/drawingml/2006/main">
              <a:ext uri="{FF2B5EF4-FFF2-40B4-BE49-F238E27FC236}">
                <a16:creationId xmlns:a16="http://schemas.microsoft.com/office/drawing/2014/main" id="{178853F5-4DAA-4372-97D5-817C7C798EBF}"/>
              </a:ext>
            </a:extLst>
          </p:cNvPr>
          <p:cNvSpPr>
            <a:spLocks xmlns:a="http://schemas.openxmlformats.org/drawingml/2006/main" noGrp="1"/>
          </p:cNvSpPr>
          <p:nvPr/>
        </p:nvSpPr>
        <p:spPr>
          <a:xfrm xmlns:a="http://schemas.openxmlformats.org/drawingml/2006/main">
            <a:off x="6705600" y="46482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Один судья; глубокие пулы</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не проверены людьми</a:t>
            </a:r>
          </a:p>
        </p:txBody>
      </p:sp>
      <p:sp>
        <p:nvSpPr>
          <p:cNvPr id="12" name="Переносимость на другие модели, языки и домены т">
            <a:extLst xmlns:a="http://schemas.openxmlformats.org/drawingml/2006/main">
              <a:ext uri="{FF2B5EF4-FFF2-40B4-BE49-F238E27FC236}">
                <a16:creationId xmlns:a16="http://schemas.microsoft.com/office/drawing/2014/main" id="{9EDEB5AE-5327-44B7-9697-C5C9623E5FC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Переносимость на другие модели, языки и домены требует отдельного эксперимента.</a:t>
            </a:r>
          </a:p>
        </p:txBody>
      </p:sp>
    </p:spTree>
    <p:extLst>
      <p:ext uri="{BB962C8B-B14F-4D97-AF65-F5344CB8AC3E}">
        <p14:creationId xmlns:p14="http://schemas.microsoft.com/office/powerpoint/2010/main" val="1609745170"/>
      </p:ext>
    </p:extLst>
  </p:cSld>
</p:sld>
</file>

<file path=ppt/slides/slide16.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Главные выводы">
            <a:extLst xmlns:a="http://schemas.openxmlformats.org/drawingml/2006/main">
              <a:ext uri="{FF2B5EF4-FFF2-40B4-BE49-F238E27FC236}">
                <a16:creationId xmlns:a16="http://schemas.microsoft.com/office/drawing/2014/main" id="{19AF272A-E4ED-4D2C-9321-7942759551F0}"/>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Главные выводы</a:t>
            </a:r>
          </a:p>
        </p:txBody>
      </p:sp>
      <p:sp>
        <p:nvSpPr>
          <p:cNvPr id="2" name="16">
            <a:extLst xmlns:a="http://schemas.openxmlformats.org/drawingml/2006/main">
              <a:ext uri="{FF2B5EF4-FFF2-40B4-BE49-F238E27FC236}">
                <a16:creationId xmlns:a16="http://schemas.microsoft.com/office/drawing/2014/main" id="{3C2E6BA8-0B42-449E-B89F-0503DED670C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16</a:t>
            </a:r>
          </a:p>
        </p:txBody>
      </p:sp>
      <p:sp>
        <p:nvSpPr>
          <p:cNvPr id="3" name="Ручная доразметка">
            <a:extLst xmlns:a="http://schemas.openxmlformats.org/drawingml/2006/main">
              <a:ext uri="{FF2B5EF4-FFF2-40B4-BE49-F238E27FC236}">
                <a16:creationId xmlns:a16="http://schemas.microsoft.com/office/drawing/2014/main" id="{99E42BC7-41BE-42F4-8714-2A1139C9B85A}"/>
              </a:ext>
            </a:extLst>
          </p:cNvPr>
          <p:cNvSpPr>
            <a:spLocks xmlns:a="http://schemas.openxmlformats.org/drawingml/2006/main" noGrp="1"/>
          </p:cNvSpPr>
          <p:nvPr/>
        </p:nvSpPr>
        <p:spPr>
          <a:xfrm xmlns:a="http://schemas.openxmlformats.org/drawingml/2006/main">
            <a:off x="609600" y="160972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8ACEC4"/>
                </a:solidFill>
                <a:latin typeface="Arial"/>
                <a:ea typeface="Arial"/>
                <a:cs typeface="Arial"/>
              </a:defRPr>
            </a:pPr>
            <a:r>
              <a:rPr sz="2175" b="1">
                <a:solidFill>
                  <a:srgbClr val="8ACEC4"/>
                </a:solidFill>
                <a:latin typeface="Arial"/>
                <a:ea typeface="Arial"/>
                <a:cs typeface="Arial"/>
              </a:rPr>
              <a:t>Ручная доразметка</a:t>
            </a:r>
          </a:p>
        </p:txBody>
      </p:sp>
      <p:sp>
        <p:nvSpPr>
          <p:cNvPr id="4" name="E5: 0,488 → 0,879">
            <a:extLst xmlns:a="http://schemas.openxmlformats.org/drawingml/2006/main">
              <a:ext uri="{FF2B5EF4-FFF2-40B4-BE49-F238E27FC236}">
                <a16:creationId xmlns:a16="http://schemas.microsoft.com/office/drawing/2014/main" id="{5D31546A-C654-4934-9A50-06375A43FB28}"/>
              </a:ext>
            </a:extLst>
          </p:cNvPr>
          <p:cNvSpPr>
            <a:spLocks xmlns:a="http://schemas.openxmlformats.org/drawingml/2006/main" noGrp="1"/>
          </p:cNvSpPr>
          <p:nvPr/>
        </p:nvSpPr>
        <p:spPr>
          <a:xfrm xmlns:a="http://schemas.openxmlformats.org/drawingml/2006/main">
            <a:off x="609600" y="2143125"/>
            <a:ext cx="10763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E5: 0,488 → 0,879</a:t>
            </a:r>
          </a:p>
        </p:txBody>
      </p:sp>
      <p:sp>
        <p:nvSpPr>
          <p:cNvPr id="5" name="Ранжирование неизменно; оценка по более полным м">
            <a:extLst xmlns:a="http://schemas.openxmlformats.org/drawingml/2006/main">
              <a:ext uri="{FF2B5EF4-FFF2-40B4-BE49-F238E27FC236}">
                <a16:creationId xmlns:a16="http://schemas.microsoft.com/office/drawing/2014/main" id="{0D98D13D-BCF6-46A8-80AB-464CDC7B3748}"/>
              </a:ext>
            </a:extLst>
          </p:cNvPr>
          <p:cNvSpPr>
            <a:spLocks xmlns:a="http://schemas.openxmlformats.org/drawingml/2006/main" noGrp="1"/>
          </p:cNvSpPr>
          <p:nvPr/>
        </p:nvSpPr>
        <p:spPr>
          <a:xfrm xmlns:a="http://schemas.openxmlformats.org/drawingml/2006/main">
            <a:off x="609600" y="292417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BED3D1"/>
                </a:solidFill>
                <a:latin typeface="Arial"/>
                <a:ea typeface="Arial"/>
                <a:cs typeface="Arial"/>
              </a:defRPr>
            </a:pPr>
            <a:r>
              <a:rPr sz="2100" b="0">
                <a:solidFill>
                  <a:srgbClr val="BED3D1"/>
                </a:solidFill>
                <a:latin typeface="Arial"/>
                <a:ea typeface="Arial"/>
                <a:cs typeface="Arial"/>
              </a:rPr>
              <a:t>Ранжирование неизменно; оценка по более полным меткам выше</a:t>
            </a:r>
          </a:p>
        </p:txBody>
      </p:sp>
      <p:sp>
        <p:nvSpPr>
          <p:cNvPr id="6" name="">
            <a:extLst xmlns:a="http://schemas.openxmlformats.org/drawingml/2006/main">
              <a:ext uri="{FF2B5EF4-FFF2-40B4-BE49-F238E27FC236}">
                <a16:creationId xmlns:a16="http://schemas.microsoft.com/office/drawing/2014/main" id="{DB7DD26E-08DE-461E-87DD-7F2109A20AFE}"/>
              </a:ext>
            </a:extLst>
          </p:cNvPr>
          <p:cNvSpPr>
            <a:spLocks xmlns:a="http://schemas.openxmlformats.org/drawingml/2006/main" noGrp="1"/>
          </p:cNvSpPr>
          <p:nvPr/>
        </p:nvSpPr>
        <p:spPr>
          <a:xfrm xmlns:a="http://schemas.openxmlformats.org/drawingml/2006/main">
            <a:off x="609600" y="355282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Оценка по псевдометкам">
            <a:extLst xmlns:a="http://schemas.openxmlformats.org/drawingml/2006/main">
              <a:ext uri="{FF2B5EF4-FFF2-40B4-BE49-F238E27FC236}">
                <a16:creationId xmlns:a16="http://schemas.microsoft.com/office/drawing/2014/main" id="{09B784E5-CB06-4A33-9914-A57C0CA3CEF3}"/>
              </a:ext>
            </a:extLst>
          </p:cNvPr>
          <p:cNvSpPr>
            <a:spLocks xmlns:a="http://schemas.openxmlformats.org/drawingml/2006/main" noGrp="1"/>
          </p:cNvSpPr>
          <p:nvPr/>
        </p:nvSpPr>
        <p:spPr>
          <a:xfrm xmlns:a="http://schemas.openxmlformats.org/drawingml/2006/main">
            <a:off x="609600" y="38004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8ACEC4"/>
                </a:solidFill>
                <a:latin typeface="Arial"/>
                <a:ea typeface="Arial"/>
                <a:cs typeface="Arial"/>
              </a:defRPr>
            </a:pPr>
            <a:r>
              <a:rPr sz="2175" b="1">
                <a:solidFill>
                  <a:srgbClr val="8ACEC4"/>
                </a:solidFill>
                <a:latin typeface="Arial"/>
                <a:ea typeface="Arial"/>
                <a:cs typeface="Arial"/>
              </a:rPr>
              <a:t>Оценка по псевдометкам</a:t>
            </a:r>
          </a:p>
        </p:txBody>
      </p:sp>
      <p:sp>
        <p:nvSpPr>
          <p:cNvPr id="8" name="Покрытие пула может поменять порядок систем">
            <a:extLst xmlns:a="http://schemas.openxmlformats.org/drawingml/2006/main">
              <a:ext uri="{FF2B5EF4-FFF2-40B4-BE49-F238E27FC236}">
                <a16:creationId xmlns:a16="http://schemas.microsoft.com/office/drawing/2014/main" id="{0EA46CBC-2079-425B-A3DA-7B874751E98C}"/>
              </a:ext>
            </a:extLst>
          </p:cNvPr>
          <p:cNvSpPr>
            <a:spLocks xmlns:a="http://schemas.openxmlformats.org/drawingml/2006/main" noGrp="1"/>
          </p:cNvSpPr>
          <p:nvPr/>
        </p:nvSpPr>
        <p:spPr>
          <a:xfrm xmlns:a="http://schemas.openxmlformats.org/drawingml/2006/main">
            <a:off x="609600" y="43338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Покрытие пула может поменять порядок систем</a:t>
            </a:r>
          </a:p>
        </p:txBody>
      </p:sp>
      <p:sp>
        <p:nvSpPr>
          <p:cNvPr id="9" name="Вместе с метрикой нужны источник меток, состав п">
            <a:extLst xmlns:a="http://schemas.openxmlformats.org/drawingml/2006/main">
              <a:ext uri="{FF2B5EF4-FFF2-40B4-BE49-F238E27FC236}">
                <a16:creationId xmlns:a16="http://schemas.microsoft.com/office/drawing/2014/main" id="{4351A148-7576-4740-B79E-C756E6D1503C}"/>
              </a:ext>
            </a:extLst>
          </p:cNvPr>
          <p:cNvSpPr>
            <a:spLocks xmlns:a="http://schemas.openxmlformats.org/drawingml/2006/main" noGrp="1"/>
          </p:cNvSpPr>
          <p:nvPr/>
        </p:nvSpPr>
        <p:spPr>
          <a:xfrm xmlns:a="http://schemas.openxmlformats.org/drawingml/2006/main">
            <a:off x="609600" y="50387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BED3D1"/>
                </a:solidFill>
                <a:latin typeface="Arial"/>
                <a:ea typeface="Arial"/>
                <a:cs typeface="Arial"/>
              </a:defRPr>
            </a:pPr>
            <a:r>
              <a:rPr sz="2025" b="0">
                <a:solidFill>
                  <a:srgbClr val="BED3D1"/>
                </a:solidFill>
                <a:latin typeface="Arial"/>
                <a:ea typeface="Arial"/>
                <a:cs typeface="Arial"/>
              </a:rPr>
              <a:t>Вместе с метрикой нужны источник меток, состав пула и настройки RRF</a:t>
            </a:r>
          </a:p>
        </p:txBody>
      </p:sp>
      <p:sp>
        <p:nvSpPr>
          <p:cNvPr id="10" name="Далее: более сильные судьи и независимая ручная ">
            <a:extLst xmlns:a="http://schemas.openxmlformats.org/drawingml/2006/main">
              <a:ext uri="{FF2B5EF4-FFF2-40B4-BE49-F238E27FC236}">
                <a16:creationId xmlns:a16="http://schemas.microsoft.com/office/drawing/2014/main" id="{08D50225-67CF-46CB-8B2B-4A4277E4BFCC}"/>
              </a:ext>
            </a:extLst>
          </p:cNvPr>
          <p:cNvSpPr>
            <a:spLocks xmlns:a="http://schemas.openxmlformats.org/drawingml/2006/main" noGrp="1"/>
          </p:cNvSpPr>
          <p:nvPr/>
        </p:nvSpPr>
        <p:spPr>
          <a:xfrm xmlns:a="http://schemas.openxmlformats.org/drawingml/2006/main">
            <a:off x="609600" y="5734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8ACEC4"/>
                </a:solidFill>
                <a:latin typeface="Arial"/>
                <a:ea typeface="Arial"/>
                <a:cs typeface="Arial"/>
              </a:defRPr>
            </a:pPr>
            <a:r>
              <a:rPr sz="1875" b="0">
                <a:solidFill>
                  <a:srgbClr val="8ACEC4"/>
                </a:solidFill>
                <a:latin typeface="Arial"/>
                <a:ea typeface="Arial"/>
                <a:cs typeface="Arial"/>
              </a:rPr>
              <a:t>Далее: более сильные судьи и независимая ручная проверка</a:t>
            </a:r>
          </a:p>
        </p:txBody>
      </p:sp>
      <p:sp>
        <p:nvSpPr>
          <p:cNvPr id="11" name="При поддержке Российского научного фонда, соглаш">
            <a:extLst xmlns:a="http://schemas.openxmlformats.org/drawingml/2006/main">
              <a:ext uri="{FF2B5EF4-FFF2-40B4-BE49-F238E27FC236}">
                <a16:creationId xmlns:a16="http://schemas.microsoft.com/office/drawing/2014/main" id="{F54FF27E-06D1-4DE6-AE5E-77C3F30D4815}"/>
              </a:ext>
            </a:extLst>
          </p:cNvPr>
          <p:cNvSpPr>
            <a:spLocks xmlns:a="http://schemas.openxmlformats.org/drawingml/2006/main" noGrp="1"/>
          </p:cNvSpPr>
          <p:nvPr/>
        </p:nvSpPr>
        <p:spPr>
          <a:xfrm xmlns:a="http://schemas.openxmlformats.org/drawingml/2006/main">
            <a:off x="609600" y="626745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BED3D1"/>
                </a:solidFill>
                <a:latin typeface="Arial"/>
                <a:ea typeface="Arial"/>
                <a:cs typeface="Arial"/>
              </a:defRPr>
            </a:pPr>
            <a:r>
              <a:rPr sz="1425" b="0">
                <a:solidFill>
                  <a:srgbClr val="BED3D1"/>
                </a:solidFill>
                <a:latin typeface="Arial"/>
                <a:ea typeface="Arial"/>
                <a:cs typeface="Arial"/>
              </a:rPr>
              <a:t/>
            </a:r>
          </a:p>
        </p:txBody>
      </p:sp>
    </p:spTree>
    <p:extLst>
      <p:ext uri="{BB962C8B-B14F-4D97-AF65-F5344CB8AC3E}">
        <p14:creationId xmlns:p14="http://schemas.microsoft.com/office/powerpoint/2010/main" val="201125459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и эффект доразметки">
            <a:extLst xmlns:a="http://schemas.openxmlformats.org/drawingml/2006/main">
              <a:ext uri="{FF2B5EF4-FFF2-40B4-BE49-F238E27FC236}">
                <a16:creationId xmlns:a16="http://schemas.microsoft.com/office/drawing/2014/main" id="{6F2D0BCA-A40B-4A4E-BA68-79336632F9D9}"/>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NDCG@10 и эффект доразметки</a:t>
            </a:r>
          </a:p>
        </p:txBody>
      </p:sp>
      <p:sp>
        <p:nvSpPr>
          <p:cNvPr id="2" name="РЕЗЕРВ 1">
            <a:extLst xmlns:a="http://schemas.openxmlformats.org/drawingml/2006/main">
              <a:ext uri="{FF2B5EF4-FFF2-40B4-BE49-F238E27FC236}">
                <a16:creationId xmlns:a16="http://schemas.microsoft.com/office/drawing/2014/main" id="{718DF8F2-2F2D-48EB-A43C-FE77CA945D4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1</a:t>
            </a:r>
          </a:p>
        </p:txBody>
      </p:sp>
      <p:sp>
        <p:nvSpPr>
          <p:cNvPr id="3" name="Парное изменение: ручные оценки минус исходные">
            <a:extLst xmlns:a="http://schemas.openxmlformats.org/drawingml/2006/main">
              <a:ext uri="{FF2B5EF4-FFF2-40B4-BE49-F238E27FC236}">
                <a16:creationId xmlns:a16="http://schemas.microsoft.com/office/drawing/2014/main" id="{FE9BB4DF-5E23-4007-A5D2-FB4033F79249}"/>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76"/>
                </a:solidFill>
                <a:latin typeface="Arial"/>
                <a:ea typeface="Arial"/>
                <a:cs typeface="Arial"/>
              </a:defRPr>
            </a:pPr>
            <a:r>
              <a:rPr sz="2400" b="1">
                <a:solidFill>
                  <a:srgbClr val="007D76"/>
                </a:solidFill>
                <a:latin typeface="Arial"/>
                <a:ea typeface="Arial"/>
                <a:cs typeface="Arial"/>
              </a:rPr>
              <a:t>Парное изменение: ручные оценки минус исходные</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1646A"/>
                          </a:solidFill>
                          <a:latin typeface="Arial"/>
                          <a:ea typeface="Arial"/>
                          <a:cs typeface="Arial"/>
                        </a:rPr>
                        <a:t>Система</a:t>
                      </a:r>
                    </a:p>
                  </a:txBody>
                  <a:tcPr marL="91440" marR="91440" marT="45720" marB="45720" anchor="ctr">
                    <a:lnL w="0">
                      <a:solidFill>
                        <a:srgbClr val="FFFFFF"/>
                      </a:solidFill>
                    </a:lnL>
                    <a:lnT w="0">
                      <a:solidFill>
                        <a:srgbClr val="FFFFFF"/>
                      </a:solidFill>
                    </a:lnT>
                    <a:solidFill>
                      <a:srgbClr val="F0F4F4"/>
                    </a:solidFill>
                  </a:tcPr>
                </a:tc>
                <a:tc>
                  <a:txBody>
                    <a:bodyPr lIns="171450" tIns="95250" rIns="171450" bIns="95250">
                      <a:noAutofit/>
                    </a:bodyPr>
                    <a:lstStyle/>
                    <a:p>
                      <a:r>
                        <a:rPr sz="1875" b="1">
                          <a:solidFill>
                            <a:srgbClr val="51646A"/>
                          </a:solidFill>
                          <a:latin typeface="Arial"/>
                          <a:ea typeface="Arial"/>
                          <a:cs typeface="Arial"/>
                        </a:rPr>
                        <a:t>После − до</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1875" b="1">
                          <a:solidFill>
                            <a:srgbClr val="51646A"/>
                          </a:solidFill>
                          <a:latin typeface="Arial"/>
                          <a:ea typeface="Arial"/>
                          <a:cs typeface="Arial"/>
                        </a:rPr>
                        <a:t>95%-ный парный ДИ</a:t>
                      </a:r>
                    </a:p>
                  </a:txBody>
                  <a:tcPr marL="91440" marR="91440" marT="45720" marB="45720" anchor="ctr">
                    <a:lnR w="0">
                      <a:solidFill>
                        <a:srgbClr val="FFFFFF"/>
                      </a:solidFill>
                    </a:lnR>
                    <a:lnT w="0">
                      <a:solidFill>
                        <a:srgbClr val="FFFFFF"/>
                      </a:solidFill>
                    </a:lnT>
                    <a:solidFill>
                      <a:srgbClr val="F0F4F4"/>
                    </a:solidFill>
                  </a:tcPr>
                </a:tc>
              </a:tr>
              <a:tr h="552450">
                <a:tc>
                  <a:txBody>
                    <a:bodyPr lIns="171450" tIns="95250" rIns="171450" bIns="95250">
                      <a:noAutofit/>
                    </a:bodyPr>
                    <a:lstStyle/>
                    <a:p>
                      <a:r>
                        <a:rPr sz="2025" b="0">
                          <a:solidFill>
                            <a:srgbClr val="17282B"/>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7282B"/>
                          </a:solidFill>
                          <a:latin typeface="Arial"/>
                          <a:ea typeface="Arial"/>
                          <a:cs typeface="Arial"/>
                        </a:rPr>
                        <a:t>+0,396</a:t>
                      </a:r>
                    </a:p>
                  </a:txBody>
                  <a:tcPr marL="91440" marR="91440" marT="45720" marB="45720" anchor="ctr">
                    <a:solidFill>
                      <a:srgbClr val="FFFFFF"/>
                    </a:solidFill>
                  </a:tcPr>
                </a:tc>
                <a:tc>
                  <a:txBody>
                    <a:bodyPr lIns="171450" tIns="95250" rIns="171450" bIns="95250">
                      <a:noAutofit/>
                    </a:bodyPr>
                    <a:lstStyle/>
                    <a:p>
                      <a:r>
                        <a:rPr sz="2025" b="0">
                          <a:solidFill>
                            <a:srgbClr val="17282B"/>
                          </a:solidFill>
                          <a:latin typeface="Arial"/>
                          <a:ea typeface="Arial"/>
                          <a:cs typeface="Arial"/>
                        </a:rPr>
                        <a:t>0,372 ... 0,419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7282B"/>
                          </a:solidFill>
                          <a:latin typeface="Arial"/>
                          <a:ea typeface="Arial"/>
                          <a:cs typeface="Arial"/>
                        </a:rPr>
                        <a:t>+0,391</a:t>
                      </a:r>
                    </a:p>
                  </a:txBody>
                  <a:tcPr marL="91440" marR="91440" marT="45720" marB="45720" anchor="ctr">
                    <a:solidFill>
                      <a:srgbClr val="FFFFFF"/>
                    </a:solidFill>
                  </a:tcPr>
                </a:tc>
                <a:tc>
                  <a:txBody>
                    <a:bodyPr lIns="171450" tIns="95250" rIns="171450" bIns="95250">
                      <a:noAutofit/>
                    </a:bodyPr>
                    <a:lstStyle/>
                    <a:p>
                      <a:r>
                        <a:rPr sz="2025" b="0">
                          <a:solidFill>
                            <a:srgbClr val="17282B"/>
                          </a:solidFill>
                          <a:latin typeface="Arial"/>
                          <a:ea typeface="Arial"/>
                          <a:cs typeface="Arial"/>
                        </a:rPr>
                        <a:t>0,365 ... 0,417</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7282B"/>
                          </a:solidFill>
                          <a:latin typeface="Arial"/>
                          <a:ea typeface="Arial"/>
                          <a:cs typeface="Arial"/>
                        </a:rPr>
                        <a:t>+0,395</a:t>
                      </a:r>
                    </a:p>
                  </a:txBody>
                  <a:tcPr marL="91440" marR="91440" marT="45720" marB="45720" anchor="ctr">
                    <a:solidFill>
                      <a:srgbClr val="FFFFFF"/>
                    </a:solidFill>
                  </a:tcPr>
                </a:tc>
                <a:tc>
                  <a:txBody>
                    <a:bodyPr lIns="171450" tIns="95250" rIns="171450" bIns="95250">
                      <a:noAutofit/>
                    </a:bodyPr>
                    <a:lstStyle/>
                    <a:p>
                      <a:r>
                        <a:rPr sz="2025" b="0">
                          <a:solidFill>
                            <a:srgbClr val="17282B"/>
                          </a:solidFill>
                          <a:latin typeface="Arial"/>
                          <a:ea typeface="Arial"/>
                          <a:cs typeface="Arial"/>
                        </a:rPr>
                        <a:t>0,369 ... 0,419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RRF (3)</a:t>
                      </a:r>
                    </a:p>
                  </a:txBody>
                  <a:tcPr marL="91440" marR="91440" marT="45720" marB="45720" anchor="ctr">
                    <a:lnL w="0">
                      <a:solidFill>
                        <a:srgbClr val="FFFFFF"/>
                      </a:solidFill>
                    </a:lnL>
                    <a:lnB w="7620">
                      <a:solidFill>
                        <a:srgbClr val="D7E0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+0,395</a:t>
                      </a:r>
                    </a:p>
                  </a:txBody>
                  <a:tcPr marL="91440" marR="91440" marT="45720" marB="45720" anchor="ctr">
                    <a:lnB w="7620">
                      <a:solidFill>
                        <a:srgbClr val="D7E0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0,371 ... 0,419</a:t>
                      </a:r>
                    </a:p>
                  </a:txBody>
                  <a:tcPr marL="91440" marR="91440" marT="45720" marB="45720" anchor="ctr">
                    <a:lnR w="0">
                      <a:solidFill>
                        <a:srgbClr val="FFFFFF"/>
                      </a:solidFill>
                    </a:lnR>
                    <a:lnB w="7620">
                      <a:solidFill>
                        <a:srgbClr val="D7E0E0"/>
                      </a:solidFill>
                    </a:lnB>
                    <a:solidFill>
                      <a:srgbClr val="FFFFFF"/>
                    </a:solidFill>
                  </a:tcPr>
                </a:tc>
              </a:tr>
            </a:tbl>
          </a:graphicData>
        </a:graphic>
      </p:graphicFrame>
      <p:sp>
        <p:nvSpPr>
          <p:cNvPr id="5" name="95%-ные ДИ: 5 000 парных bootstrap-выборок. p &lt; ">
            <a:extLst xmlns:a="http://schemas.openxmlformats.org/drawingml/2006/main">
              <a:ext uri="{FF2B5EF4-FFF2-40B4-BE49-F238E27FC236}">
                <a16:creationId xmlns:a16="http://schemas.microsoft.com/office/drawing/2014/main" id="{04A38C13-FFD4-4262-9466-AAD94C837993}"/>
              </a:ext>
            </a:extLst>
          </p:cNvPr>
          <p:cNvSpPr>
            <a:spLocks xmlns:a="http://schemas.openxmlformats.org/drawingml/2006/main" noGrp="1"/>
          </p:cNvSpPr>
          <p:nvPr/>
        </p:nvSpPr>
        <p:spPr>
          <a:xfrm xmlns:a="http://schemas.openxmlformats.org/drawingml/2006/main">
            <a:off x="609600" y="6010275"/>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95%-ные ДИ: 5 000 парных bootstrap-выборок. p &lt; 0,001: sign-flip тест.</a:t>
            </a:r>
          </a:p>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Бинарный gain, общий IDCG по пулу; нулевые запросы остаются в среднем.</a:t>
            </a:r>
          </a:p>
        </p:txBody>
      </p:sp>
    </p:spTree>
    <p:extLst>
      <p:ext uri="{BB962C8B-B14F-4D97-AF65-F5344CB8AC3E}">
        <p14:creationId xmlns:p14="http://schemas.microsoft.com/office/powerpoint/2010/main" val="92379362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Проверка судьи и ошибки">
            <a:extLst xmlns:a="http://schemas.openxmlformats.org/drawingml/2006/main">
              <a:ext uri="{FF2B5EF4-FFF2-40B4-BE49-F238E27FC236}">
                <a16:creationId xmlns:a16="http://schemas.microsoft.com/office/drawing/2014/main" id="{6C9CA1D0-879C-4FF9-919E-30B9312848BD}"/>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Проверка судьи и ошибки</a:t>
            </a:r>
          </a:p>
        </p:txBody>
      </p:sp>
      <p:sp>
        <p:nvSpPr>
          <p:cNvPr id="2" name="РЕЗЕРВ 2">
            <a:extLst xmlns:a="http://schemas.openxmlformats.org/drawingml/2006/main">
              <a:ext uri="{FF2B5EF4-FFF2-40B4-BE49-F238E27FC236}">
                <a16:creationId xmlns:a16="http://schemas.microsoft.com/office/drawing/2014/main" id="{A9FA736F-96E9-4A79-9FA6-110768F13D5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2</a:t>
            </a:r>
          </a:p>
        </p:txBody>
      </p:sp>
      <p:sp>
        <p:nvSpPr>
          <p:cNvPr id="3" name="Обучение">
            <a:extLst xmlns:a="http://schemas.openxmlformats.org/drawingml/2006/main">
              <a:ext uri="{FF2B5EF4-FFF2-40B4-BE49-F238E27FC236}">
                <a16:creationId xmlns:a16="http://schemas.microsoft.com/office/drawing/2014/main" id="{7E62B40E-5297-44FF-8076-BB52BA1BDFEF}"/>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Обучение</a:t>
            </a:r>
          </a:p>
        </p:txBody>
      </p:sp>
      <p:sp>
        <p:nvSpPr>
          <p:cNvPr id="4" name="825">
            <a:extLst xmlns:a="http://schemas.openxmlformats.org/drawingml/2006/main">
              <a:ext uri="{FF2B5EF4-FFF2-40B4-BE49-F238E27FC236}">
                <a16:creationId xmlns:a16="http://schemas.microsoft.com/office/drawing/2014/main" id="{439A78DF-E490-4587-93F6-9EA1C7812EAB}"/>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825</a:t>
            </a:r>
          </a:p>
        </p:txBody>
      </p:sp>
      <p:sp>
        <p:nvSpPr>
          <p:cNvPr id="5" name="Валидация">
            <a:extLst xmlns:a="http://schemas.openxmlformats.org/drawingml/2006/main">
              <a:ext uri="{FF2B5EF4-FFF2-40B4-BE49-F238E27FC236}">
                <a16:creationId xmlns:a16="http://schemas.microsoft.com/office/drawing/2014/main" id="{A74D879A-04C7-4F23-9B47-AF63C3E5CB94}"/>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Валидация</a:t>
            </a:r>
          </a:p>
        </p:txBody>
      </p:sp>
      <p:sp>
        <p:nvSpPr>
          <p:cNvPr id="6" name="177">
            <a:extLst xmlns:a="http://schemas.openxmlformats.org/drawingml/2006/main">
              <a:ext uri="{FF2B5EF4-FFF2-40B4-BE49-F238E27FC236}">
                <a16:creationId xmlns:a16="http://schemas.microsoft.com/office/drawing/2014/main" id="{56F9570A-3593-4588-A1B5-D9E2BB5D95E6}"/>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177</a:t>
            </a:r>
          </a:p>
        </p:txBody>
      </p:sp>
      <p:sp>
        <p:nvSpPr>
          <p:cNvPr id="7" name="Тест">
            <a:extLst xmlns:a="http://schemas.openxmlformats.org/drawingml/2006/main">
              <a:ext uri="{FF2B5EF4-FFF2-40B4-BE49-F238E27FC236}">
                <a16:creationId xmlns:a16="http://schemas.microsoft.com/office/drawing/2014/main" id="{D7B9505A-95F0-4CBC-A12B-942CFFCA9AFC}"/>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Тест</a:t>
            </a:r>
          </a:p>
        </p:txBody>
      </p:sp>
      <p:sp>
        <p:nvSpPr>
          <p:cNvPr id="8" name="177">
            <a:extLst xmlns:a="http://schemas.openxmlformats.org/drawingml/2006/main">
              <a:ext uri="{FF2B5EF4-FFF2-40B4-BE49-F238E27FC236}">
                <a16:creationId xmlns:a16="http://schemas.microsoft.com/office/drawing/2014/main" id="{205E7BFE-BA7F-4565-B760-7D99F77BA083}"/>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1646A"/>
                          </a:solidFill>
                          <a:latin typeface="Arial"/>
                          <a:ea typeface="Arial"/>
                          <a:cs typeface="Arial"/>
                        </a:rPr>
                        <a:t>Метка в тесте</a:t>
                      </a:r>
                    </a:p>
                  </a:txBody>
                  <a:tcPr marL="91440" marR="91440" marT="45720" marB="45720" anchor="ctr">
                    <a:lnL w="0">
                      <a:solidFill>
                        <a:srgbClr val="FFFFFF"/>
                      </a:solidFill>
                    </a:lnL>
                    <a:lnT w="0">
                      <a:solidFill>
                        <a:srgbClr val="FFFFFF"/>
                      </a:solidFill>
                    </a:lnT>
                    <a:solidFill>
                      <a:srgbClr val="F0F4F4"/>
                    </a:solidFill>
                  </a:tcPr>
                </a:tc>
                <a:tc>
                  <a:txBody>
                    <a:bodyPr lIns="171450" tIns="95250" rIns="171450" bIns="95250">
                      <a:noAutofit/>
                    </a:bodyPr>
                    <a:lstStyle/>
                    <a:p>
                      <a:r>
                        <a:rPr sz="1875" b="1">
                          <a:solidFill>
                            <a:srgbClr val="51646A"/>
                          </a:solidFill>
                          <a:latin typeface="Arial"/>
                          <a:ea typeface="Arial"/>
                          <a:cs typeface="Arial"/>
                        </a:rPr>
                        <a:t>Прогноз: нет</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1875" b="1">
                          <a:solidFill>
                            <a:srgbClr val="51646A"/>
                          </a:solidFill>
                          <a:latin typeface="Arial"/>
                          <a:ea typeface="Arial"/>
                          <a:cs typeface="Arial"/>
                        </a:rPr>
                        <a:t>Прогноз: да</a:t>
                      </a:r>
                    </a:p>
                  </a:txBody>
                  <a:tcPr marL="91440" marR="91440" marT="45720" marB="45720" anchor="ctr">
                    <a:lnR w="0">
                      <a:solidFill>
                        <a:srgbClr val="FFFFFF"/>
                      </a:solidFill>
                    </a:lnR>
                    <a:lnT w="0">
                      <a:solidFill>
                        <a:srgbClr val="FFFFFF"/>
                      </a:solidFill>
                    </a:lnT>
                    <a:solidFill>
                      <a:srgbClr val="F0F4F4"/>
                    </a:solidFill>
                  </a:tcPr>
                </a:tc>
              </a:tr>
              <a:tr h="895350">
                <a:tc>
                  <a:txBody>
                    <a:bodyPr lIns="171450" tIns="95250" rIns="171450" bIns="95250">
                      <a:noAutofit/>
                    </a:bodyPr>
                    <a:lstStyle/>
                    <a:p>
                      <a:r>
                        <a:rPr sz="2025" b="0">
                          <a:solidFill>
                            <a:srgbClr val="17282B"/>
                          </a:solidFill>
                          <a:latin typeface="Arial"/>
                          <a:ea typeface="Arial"/>
                          <a:cs typeface="Arial"/>
                        </a:rPr>
                        <a:t>Отрицательная</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1">
                          <a:solidFill>
                            <a:srgbClr val="007D76"/>
                          </a:solidFill>
                          <a:latin typeface="Arial"/>
                          <a:ea typeface="Arial"/>
                          <a:cs typeface="Arial"/>
                        </a:rPr>
                        <a:t>1 300</a:t>
                      </a:r>
                    </a:p>
                  </a:txBody>
                  <a:tcPr marL="91440" marR="91440" marT="45720" marB="45720" anchor="ctr">
                    <a:solidFill>
                      <a:srgbClr val="E4F2ED"/>
                    </a:solidFill>
                  </a:tcPr>
                </a:tc>
                <a:tc>
                  <a:txBody>
                    <a:bodyPr lIns="171450" tIns="95250" rIns="171450" bIns="95250">
                      <a:noAutofit/>
                    </a:bodyPr>
                    <a:lstStyle/>
                    <a:p>
                      <a:r>
                        <a:rPr sz="2025" b="1">
                          <a:solidFill>
                            <a:srgbClr val="C64F37"/>
                          </a:solidFill>
                          <a:latin typeface="Arial"/>
                          <a:ea typeface="Arial"/>
                          <a:cs typeface="Arial"/>
                        </a:rPr>
                        <a:t>506</a:t>
                      </a:r>
                    </a:p>
                  </a:txBody>
                  <a:tcPr marL="91440" marR="91440" marT="45720" marB="45720" anchor="ctr">
                    <a:lnR w="0">
                      <a:solidFill>
                        <a:srgbClr val="FFFFFF"/>
                      </a:solidFill>
                    </a:lnR>
                    <a:solidFill>
                      <a:srgbClr val="FAEFE9"/>
                    </a:solidFill>
                  </a:tcPr>
                </a:tc>
              </a:tr>
              <a:tr h="714375">
                <a:tc>
                  <a:txBody>
                    <a:bodyPr lIns="171450" tIns="95250" rIns="171450" bIns="95250">
                      <a:noAutofit/>
                    </a:bodyPr>
                    <a:lstStyle/>
                    <a:p>
                      <a:r>
                        <a:rPr sz="2025" b="0">
                          <a:solidFill>
                            <a:srgbClr val="17282B"/>
                          </a:solidFill>
                          <a:latin typeface="Arial"/>
                          <a:ea typeface="Arial"/>
                          <a:cs typeface="Arial"/>
                        </a:rPr>
                        <a:t>Положительная</a:t>
                      </a:r>
                    </a:p>
                  </a:txBody>
                  <a:tcPr marL="91440" marR="91440" marT="45720" marB="45720" anchor="ctr">
                    <a:lnL w="0">
                      <a:solidFill>
                        <a:srgbClr val="FFFFFF"/>
                      </a:solidFill>
                    </a:lnL>
                    <a:lnB w="7620">
                      <a:solidFill>
                        <a:srgbClr val="D7E0E0"/>
                      </a:solidFill>
                    </a:lnB>
                    <a:solidFill>
                      <a:srgbClr val="FFFFFF"/>
                    </a:solidFill>
                  </a:tcPr>
                </a:tc>
                <a:tc>
                  <a:txBody>
                    <a:bodyPr lIns="171450" tIns="95250" rIns="171450" bIns="95250">
                      <a:noAutofit/>
                    </a:bodyPr>
                    <a:lstStyle/>
                    <a:p>
                      <a:r>
                        <a:rPr sz="2025" b="1">
                          <a:solidFill>
                            <a:srgbClr val="C64F37"/>
                          </a:solidFill>
                          <a:latin typeface="Arial"/>
                          <a:ea typeface="Arial"/>
                          <a:cs typeface="Arial"/>
                        </a:rPr>
                        <a:t>314</a:t>
                      </a:r>
                    </a:p>
                  </a:txBody>
                  <a:tcPr marL="91440" marR="91440" marT="45720" marB="45720" anchor="ctr">
                    <a:lnB w="7620">
                      <a:solidFill>
                        <a:srgbClr val="D7E0E0"/>
                      </a:solidFill>
                    </a:lnB>
                    <a:solidFill>
                      <a:srgbClr val="FAEFE9"/>
                    </a:solidFill>
                  </a:tcPr>
                </a:tc>
                <a:tc>
                  <a:txBody>
                    <a:bodyPr lIns="171450" tIns="95250" rIns="171450" bIns="95250">
                      <a:noAutofit/>
                    </a:bodyPr>
                    <a:lstStyle/>
                    <a:p>
                      <a:r>
                        <a:rPr sz="2025" b="1">
                          <a:solidFill>
                            <a:srgbClr val="007D76"/>
                          </a:solidFill>
                          <a:latin typeface="Arial"/>
                          <a:ea typeface="Arial"/>
                          <a:cs typeface="Arial"/>
                        </a:rPr>
                        <a:t>2 882</a:t>
                      </a:r>
                    </a:p>
                  </a:txBody>
                  <a:tcPr marL="91440" marR="91440" marT="45720" marB="45720" anchor="ctr">
                    <a:lnR w="0">
                      <a:solidFill>
                        <a:srgbClr val="FFFFFF"/>
                      </a:solidFill>
                    </a:lnR>
                    <a:lnB w="7620">
                      <a:solidFill>
                        <a:srgbClr val="D7E0E0"/>
                      </a:solidFill>
                    </a:lnB>
                    <a:solidFill>
                      <a:srgbClr val="E4F2ED"/>
                    </a:solidFill>
                  </a:tcPr>
                </a:tc>
              </a:tr>
            </a:tbl>
          </a:graphicData>
        </a:graphic>
      </p:graphicFrame>
      <p:sp>
        <p:nvSpPr>
          <p:cNvPr id="10" name="Точность 0,851">
            <a:extLst xmlns:a="http://schemas.openxmlformats.org/drawingml/2006/main">
              <a:ext uri="{FF2B5EF4-FFF2-40B4-BE49-F238E27FC236}">
                <a16:creationId xmlns:a16="http://schemas.microsoft.com/office/drawing/2014/main" id="{1033744C-007E-4A79-921C-2FEF1CEDDD90}"/>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Точность 0,851</a:t>
            </a:r>
          </a:p>
        </p:txBody>
      </p:sp>
      <p:sp>
        <p:nvSpPr>
          <p:cNvPr id="11" name="Полнота 0,902">
            <a:extLst xmlns:a="http://schemas.openxmlformats.org/drawingml/2006/main">
              <a:ext uri="{FF2B5EF4-FFF2-40B4-BE49-F238E27FC236}">
                <a16:creationId xmlns:a16="http://schemas.microsoft.com/office/drawing/2014/main" id="{08B253B2-BE5C-4AA3-ADEC-3C260F9C0CDD}"/>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Полнота 0,902</a:t>
            </a:r>
          </a:p>
        </p:txBody>
      </p:sp>
      <p:sp>
        <p:nvSpPr>
          <p:cNvPr id="12" name="F1 0,875">
            <a:extLst xmlns:a="http://schemas.openxmlformats.org/drawingml/2006/main">
              <a:ext uri="{FF2B5EF4-FFF2-40B4-BE49-F238E27FC236}">
                <a16:creationId xmlns:a16="http://schemas.microsoft.com/office/drawing/2014/main" id="{987A4929-FE63-4E2B-9680-B872FCD97F12}"/>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F1 0,875</a:t>
            </a:r>
          </a:p>
        </p:txBody>
      </p:sp>
      <p:sp>
        <p:nvSpPr>
          <p:cNvPr id="13" name="5 002 пары: 6 неясных меток кодируются нулём, у ">
            <a:extLst xmlns:a="http://schemas.openxmlformats.org/drawingml/2006/main">
              <a:ext uri="{FF2B5EF4-FFF2-40B4-BE49-F238E27FC236}">
                <a16:creationId xmlns:a16="http://schemas.microsoft.com/office/drawing/2014/main" id="{EF023FA4-4814-45CE-8ED3-B173CB015FB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5 002 пары: 6 неясных меток кодируются нулём, у 1 записи пустой текст.</a:t>
            </a:r>
          </a:p>
        </p:txBody>
      </p:sp>
    </p:spTree>
    <p:extLst>
      <p:ext uri="{BB962C8B-B14F-4D97-AF65-F5344CB8AC3E}">
        <p14:creationId xmlns:p14="http://schemas.microsoft.com/office/powerpoint/2010/main" val="86336893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Результаты при разной глубине пула">
            <a:extLst xmlns:a="http://schemas.openxmlformats.org/drawingml/2006/main">
              <a:ext uri="{FF2B5EF4-FFF2-40B4-BE49-F238E27FC236}">
                <a16:creationId xmlns:a16="http://schemas.microsoft.com/office/drawing/2014/main" id="{A802230D-D40E-41F6-A85C-B168CB80F188}"/>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Результаты при разной глубине пула</a:t>
            </a:r>
          </a:p>
        </p:txBody>
      </p:sp>
      <p:sp>
        <p:nvSpPr>
          <p:cNvPr id="2" name="РЕЗЕРВ 3">
            <a:extLst xmlns:a="http://schemas.openxmlformats.org/drawingml/2006/main">
              <a:ext uri="{FF2B5EF4-FFF2-40B4-BE49-F238E27FC236}">
                <a16:creationId xmlns:a16="http://schemas.microsoft.com/office/drawing/2014/main" id="{0ED7425B-5F4E-40E5-A533-51ADC62428A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3</a:t>
            </a:r>
          </a:p>
        </p:txBody>
      </p:sp>
      <p:graphicFrame>
        <p:nvGraphicFramePr>
          <p:cNvPr id="7" name=""/>
          <p:cNvGraphicFramePr/>
          <p:nvPr/>
        </p:nvGraphicFramePr>
        <p:xfrm>
          <a:off xmlns:a="http://schemas.openxmlformats.org/drawingml/2006/main" x="609600" y="1857375"/>
          <a:ext xmlns:a="http://schemas.openxmlformats.org/drawingml/2006/main" cx="10972800" cy="38576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952500">
                <a:tc>
                  <a:txBody>
                    <a:bodyPr lIns="171450" tIns="95250" rIns="171450" bIns="95250">
                      <a:noAutofit/>
                    </a:bodyPr>
                    <a:lstStyle/>
                    <a:p>
                      <a:r>
                        <a:rPr sz="1650" b="1">
                          <a:solidFill>
                            <a:srgbClr val="51646A"/>
                          </a:solidFill>
                          <a:latin typeface="Arial"/>
                          <a:ea typeface="Arial"/>
                          <a:cs typeface="Arial"/>
                        </a:rPr>
                        <a:t>K</a:t>
                      </a:r>
                    </a:p>
                  </a:txBody>
                  <a:tcPr marL="91440" marR="91440" marT="45720" marB="45720" anchor="ctr">
                    <a:lnL w="0">
                      <a:solidFill>
                        <a:srgbClr val="FFFFFF"/>
                      </a:solidFill>
                    </a:lnL>
                    <a:lnT w="0">
                      <a:solidFill>
                        <a:srgbClr val="FFFFFF"/>
                      </a:solidFill>
                    </a:lnT>
                    <a:solidFill>
                      <a:srgbClr val="F0F4F4"/>
                    </a:solidFill>
                  </a:tcPr>
                </a:tc>
                <a:tc>
                  <a:txBody>
                    <a:bodyPr lIns="171450" tIns="95250" rIns="171450" bIns="95250">
                      <a:noAutofit/>
                    </a:bodyPr>
                    <a:lstStyle/>
                    <a:p>
                      <a:r>
                        <a:rPr sz="1650" b="1">
                          <a:solidFill>
                            <a:srgbClr val="51646A"/>
                          </a:solidFill>
                          <a:latin typeface="Arial"/>
                          <a:ea typeface="Arial"/>
                          <a:cs typeface="Arial"/>
                        </a:rPr>
                        <a:t>Кандидатов</a:t>
                      </a:r>
                    </a:p>
                    <a:p>
                      <a:r>
                        <a:rPr sz="1650" b="1">
                          <a:solidFill>
                            <a:srgbClr val="51646A"/>
                          </a:solidFill>
                          <a:latin typeface="Arial"/>
                          <a:ea typeface="Arial"/>
                          <a:cs typeface="Arial"/>
                        </a:rPr>
                        <a:t>на запрос</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1650" b="1">
                          <a:solidFill>
                            <a:srgbClr val="51646A"/>
                          </a:solidFill>
                          <a:latin typeface="Arial"/>
                          <a:ea typeface="Arial"/>
                          <a:cs typeface="Arial"/>
                        </a:rPr>
                        <a:t>Релевантных</a:t>
                      </a:r>
                    </a:p>
                    <a:p>
                      <a:r>
                        <a:rPr sz="1650" b="1">
                          <a:solidFill>
                            <a:srgbClr val="51646A"/>
                          </a:solidFill>
                          <a:latin typeface="Arial"/>
                          <a:ea typeface="Arial"/>
                          <a:cs typeface="Arial"/>
                        </a:rPr>
                        <a:t>по судье</a:t>
                      </a:r>
                    </a:p>
                    <a:p>
                      <a:r>
                        <a:rPr sz="1650" b="1">
                          <a:solidFill>
                            <a:srgbClr val="51646A"/>
                          </a:solidFill>
                          <a:latin typeface="Arial"/>
                          <a:ea typeface="Arial"/>
                          <a:cs typeface="Arial"/>
                        </a:rPr>
                        <a:t>на запрос</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1650" b="1">
                          <a:solidFill>
                            <a:srgbClr val="51646A"/>
                          </a:solidFill>
                          <a:latin typeface="Arial"/>
                          <a:ea typeface="Arial"/>
                          <a:cs typeface="Arial"/>
                        </a:rPr>
                        <a:t>E5</a:t>
                      </a:r>
                    </a:p>
                    <a:p>
                      <a:r>
                        <a:rPr sz="1650" b="1">
                          <a:solidFill>
                            <a:srgbClr val="51646A"/>
                          </a:solidFill>
                          <a:latin typeface="Arial"/>
                          <a:ea typeface="Arial"/>
                          <a:cs typeface="Arial"/>
                        </a:rPr>
                        <a:t>NDCG@10</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1650" b="1">
                          <a:solidFill>
                            <a:srgbClr val="C64F37"/>
                          </a:solidFill>
                          <a:latin typeface="Arial"/>
                          <a:ea typeface="Arial"/>
                          <a:cs typeface="Arial"/>
                        </a:rPr>
                        <a:t>RRF L=K</a:t>
                      </a:r>
                    </a:p>
                    <a:p>
                      <a:r>
                        <a:rPr sz="1650" b="1">
                          <a:solidFill>
                            <a:srgbClr val="C64F37"/>
                          </a:solidFill>
                          <a:latin typeface="Arial"/>
                          <a:ea typeface="Arial"/>
                          <a:cs typeface="Arial"/>
                        </a:rPr>
                        <a:t>NDCG@10</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1650" b="1">
                          <a:solidFill>
                            <a:srgbClr val="007D76"/>
                          </a:solidFill>
                          <a:latin typeface="Arial"/>
                          <a:ea typeface="Arial"/>
                          <a:cs typeface="Arial"/>
                        </a:rPr>
                        <a:t>RRF L=200</a:t>
                      </a:r>
                    </a:p>
                    <a:p>
                      <a:r>
                        <a:rPr sz="1650" b="1">
                          <a:solidFill>
                            <a:srgbClr val="007D76"/>
                          </a:solidFill>
                          <a:latin typeface="Arial"/>
                          <a:ea typeface="Arial"/>
                          <a:cs typeface="Arial"/>
                        </a:rPr>
                        <a:t>NDCG@10</a:t>
                      </a:r>
                    </a:p>
                  </a:txBody>
                  <a:tcPr marL="91440" marR="91440" marT="45720" marB="45720" anchor="ctr">
                    <a:lnR w="0">
                      <a:solidFill>
                        <a:srgbClr val="FFFFFF"/>
                      </a:solidFill>
                    </a:lnR>
                    <a:lnT w="0">
                      <a:solidFill>
                        <a:srgbClr val="FFFFFF"/>
                      </a:solidFill>
                    </a:lnT>
                    <a:solidFill>
                      <a:srgbClr val="F0F4F4"/>
                    </a:solidFill>
                  </a:tcPr>
                </a:tc>
              </a:tr>
              <a:tr h="581025">
                <a:tc>
                  <a:txBody>
                    <a:bodyPr lIns="171450" tIns="95250" rIns="171450" bIns="95250">
                      <a:noAutofit/>
                    </a:bodyPr>
                    <a:lstStyle/>
                    <a:p>
                      <a:r>
                        <a:rPr sz="1800" b="0">
                          <a:solidFill>
                            <a:srgbClr val="17282B"/>
                          </a:solidFill>
                          <a:latin typeface="Arial"/>
                          <a:ea typeface="Arial"/>
                          <a:cs typeface="Arial"/>
                        </a:rPr>
                        <a:t>10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21,9</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14,2</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0,871</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0,852</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0,805</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30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65,8</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33,7</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0,862</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0,859</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50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110,4</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49,4</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0,847</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0,856</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0,856</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100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222,9</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81,0</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0,844</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0,853</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200</a:t>
                      </a:r>
                    </a:p>
                  </a:txBody>
                  <a:tcPr marL="91440" marR="91440" marT="45720" marB="45720" anchor="ctr">
                    <a:lnL w="0">
                      <a:solidFill>
                        <a:srgbClr val="FFFFFF"/>
                      </a:solidFill>
                    </a:lnL>
                    <a:lnB w="7620">
                      <a:solidFill>
                        <a:srgbClr val="D7E0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451,5</a:t>
                      </a:r>
                    </a:p>
                  </a:txBody>
                  <a:tcPr marL="91440" marR="91440" marT="45720" marB="45720" anchor="ctr">
                    <a:lnB w="7620">
                      <a:solidFill>
                        <a:srgbClr val="D7E0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128,6</a:t>
                      </a:r>
                    </a:p>
                  </a:txBody>
                  <a:tcPr marL="91440" marR="91440" marT="45720" marB="45720" anchor="ctr">
                    <a:lnB w="7620">
                      <a:solidFill>
                        <a:srgbClr val="D7E0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0,842</a:t>
                      </a:r>
                    </a:p>
                  </a:txBody>
                  <a:tcPr marL="91440" marR="91440" marT="45720" marB="45720" anchor="ctr">
                    <a:lnB w="7620">
                      <a:solidFill>
                        <a:srgbClr val="D7E0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0,850</a:t>
                      </a:r>
                    </a:p>
                  </a:txBody>
                  <a:tcPr marL="91440" marR="91440" marT="45720" marB="45720" anchor="ctr">
                    <a:lnB w="7620">
                      <a:solidFill>
                        <a:srgbClr val="D7E0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0,850</a:t>
                      </a:r>
                    </a:p>
                  </a:txBody>
                  <a:tcPr marL="91440" marR="91440" marT="45720" marB="45720" anchor="ctr">
                    <a:lnR w="0">
                      <a:solidFill>
                        <a:srgbClr val="FFFFFF"/>
                      </a:solidFill>
                    </a:lnR>
                    <a:lnB w="7620">
                      <a:solidFill>
                        <a:srgbClr val="D7E0E0"/>
                      </a:solidFill>
                    </a:lnB>
                    <a:solidFill>
                      <a:srgbClr val="FFFFFF"/>
                    </a:solidFill>
                  </a:tcPr>
                </a:tc>
              </a:tr>
            </a:tbl>
          </a:graphicData>
        </a:graphic>
      </p:graphicFrame>
      <p:sp>
        <p:nvSpPr>
          <p:cNvPr id="4" name="При K = 200 RRF против E5: 26 241 победа / 21 04">
            <a:extLst xmlns:a="http://schemas.openxmlformats.org/drawingml/2006/main">
              <a:ext uri="{FF2B5EF4-FFF2-40B4-BE49-F238E27FC236}">
                <a16:creationId xmlns:a16="http://schemas.microsoft.com/office/drawing/2014/main" id="{C8BD6246-A228-4B02-9A41-22F0ADE09B4F}"/>
              </a:ext>
            </a:extLst>
          </p:cNvPr>
          <p:cNvSpPr>
            <a:spLocks xmlns:a="http://schemas.openxmlformats.org/drawingml/2006/main" noGrp="1"/>
          </p:cNvSpPr>
          <p:nvPr/>
        </p:nvSpPr>
        <p:spPr>
          <a:xfrm xmlns:a="http://schemas.openxmlformats.org/drawingml/2006/main">
            <a:off x="609600" y="6010275"/>
            <a:ext cx="10810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При K = 200 RRF против E5: 26 241 победа / 21 042 поражения / 53 810 равенств.</a:t>
            </a:r>
          </a:p>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Псевдометки одного судьи. Все 101 093 запроса остаются в среднем.</a:t>
            </a:r>
          </a:p>
        </p:txBody>
      </p:sp>
    </p:spTree>
    <p:extLst>
      <p:ext uri="{BB962C8B-B14F-4D97-AF65-F5344CB8AC3E}">
        <p14:creationId xmlns:p14="http://schemas.microsoft.com/office/powerpoint/2010/main" val="23613186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Чувствительность к исключению запросов">
            <a:extLst xmlns:a="http://schemas.openxmlformats.org/drawingml/2006/main">
              <a:ext uri="{FF2B5EF4-FFF2-40B4-BE49-F238E27FC236}">
                <a16:creationId xmlns:a16="http://schemas.microsoft.com/office/drawing/2014/main" id="{0A51E0AE-4A56-43EA-AFF9-0524EBD128AB}"/>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Чувствительность к исключению запросов</a:t>
            </a:r>
          </a:p>
        </p:txBody>
      </p:sp>
      <p:sp>
        <p:nvSpPr>
          <p:cNvPr id="2" name="РЕЗЕРВ 4">
            <a:extLst xmlns:a="http://schemas.openxmlformats.org/drawingml/2006/main">
              <a:ext uri="{FF2B5EF4-FFF2-40B4-BE49-F238E27FC236}">
                <a16:creationId xmlns:a16="http://schemas.microsoft.com/office/drawing/2014/main" id="{181AEB77-3C31-4289-B7DE-C12C032FC26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4</a:t>
            </a:r>
          </a:p>
        </p:txBody>
      </p:sp>
      <p:sp>
        <p:nvSpPr>
          <p:cNvPr id="3" name="NDCG@10 по ручным оценкам">
            <a:extLst xmlns:a="http://schemas.openxmlformats.org/drawingml/2006/main">
              <a:ext uri="{FF2B5EF4-FFF2-40B4-BE49-F238E27FC236}">
                <a16:creationId xmlns:a16="http://schemas.microsoft.com/office/drawing/2014/main" id="{DCCC2992-0489-4849-9CF3-494D90E1E7BC}"/>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NDCG@10 по ручным оценкам</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1646A"/>
                          </a:solidFill>
                          <a:latin typeface="Arial"/>
                          <a:ea typeface="Arial"/>
                          <a:cs typeface="Arial"/>
                        </a:rPr>
                        <a:t>Система</a:t>
                      </a:r>
                    </a:p>
                  </a:txBody>
                  <a:tcPr marL="91440" marR="91440" marT="45720" marB="45720" anchor="ctr">
                    <a:lnL w="0">
                      <a:solidFill>
                        <a:srgbClr val="FFFFFF"/>
                      </a:solidFill>
                    </a:lnL>
                    <a:lnT w="0">
                      <a:solidFill>
                        <a:srgbClr val="FFFFFF"/>
                      </a:solidFill>
                    </a:lnT>
                    <a:solidFill>
                      <a:srgbClr val="F0F4F4"/>
                    </a:solidFill>
                  </a:tcPr>
                </a:tc>
                <a:tc>
                  <a:txBody>
                    <a:bodyPr lIns="171450" tIns="95250" rIns="171450" bIns="95250">
                      <a:noAutofit/>
                    </a:bodyPr>
                    <a:lstStyle/>
                    <a:p>
                      <a:r>
                        <a:rPr sz="1875" b="1">
                          <a:solidFill>
                            <a:srgbClr val="51646A"/>
                          </a:solidFill>
                          <a:latin typeface="Arial"/>
                          <a:ea typeface="Arial"/>
                          <a:cs typeface="Arial"/>
                        </a:rPr>
                        <a:t>Все 1 179 запросов</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1875" b="1">
                          <a:solidFill>
                            <a:srgbClr val="51646A"/>
                          </a:solidFill>
                          <a:latin typeface="Arial"/>
                          <a:ea typeface="Arial"/>
                          <a:cs typeface="Arial"/>
                        </a:rPr>
                        <a:t>1 156 после исключения</a:t>
                      </a:r>
                    </a:p>
                  </a:txBody>
                  <a:tcPr marL="91440" marR="91440" marT="45720" marB="45720" anchor="ctr">
                    <a:lnR w="0">
                      <a:solidFill>
                        <a:srgbClr val="FFFFFF"/>
                      </a:solidFill>
                    </a:lnR>
                    <a:lnT w="0">
                      <a:solidFill>
                        <a:srgbClr val="FFFFFF"/>
                      </a:solidFill>
                    </a:lnT>
                    <a:solidFill>
                      <a:srgbClr val="F0F4F4"/>
                    </a:solidFill>
                  </a:tcPr>
                </a:tc>
              </a:tr>
              <a:tr h="542925">
                <a:tc>
                  <a:txBody>
                    <a:bodyPr lIns="171450" tIns="95250" rIns="171450" bIns="95250">
                      <a:noAutofit/>
                    </a:bodyPr>
                    <a:lstStyle/>
                    <a:p>
                      <a:r>
                        <a:rPr sz="2025" b="0">
                          <a:solidFill>
                            <a:srgbClr val="17282B"/>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7282B"/>
                          </a:solidFill>
                          <a:latin typeface="Arial"/>
                          <a:ea typeface="Arial"/>
                          <a:cs typeface="Arial"/>
                        </a:rPr>
                        <a:t>0,644</a:t>
                      </a:r>
                    </a:p>
                  </a:txBody>
                  <a:tcPr marL="91440" marR="91440" marT="45720" marB="45720" anchor="ctr">
                    <a:solidFill>
                      <a:srgbClr val="FFFFFF"/>
                    </a:solidFill>
                  </a:tcPr>
                </a:tc>
                <a:tc>
                  <a:txBody>
                    <a:bodyPr lIns="171450" tIns="95250" rIns="171450" bIns="95250">
                      <a:noAutofit/>
                    </a:bodyPr>
                    <a:lstStyle/>
                    <a:p>
                      <a:r>
                        <a:rPr sz="2025" b="0">
                          <a:solidFill>
                            <a:srgbClr val="17282B"/>
                          </a:solidFill>
                          <a:latin typeface="Arial"/>
                          <a:ea typeface="Arial"/>
                          <a:cs typeface="Arial"/>
                        </a:rPr>
                        <a:t>0,644</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7282B"/>
                          </a:solidFill>
                          <a:latin typeface="Arial"/>
                          <a:ea typeface="Arial"/>
                          <a:cs typeface="Arial"/>
                        </a:rPr>
                        <a:t>0,879</a:t>
                      </a:r>
                    </a:p>
                  </a:txBody>
                  <a:tcPr marL="91440" marR="91440" marT="45720" marB="45720" anchor="ctr">
                    <a:solidFill>
                      <a:srgbClr val="FFFFFF"/>
                    </a:solidFill>
                  </a:tcPr>
                </a:tc>
                <a:tc>
                  <a:txBody>
                    <a:bodyPr lIns="171450" tIns="95250" rIns="171450" bIns="95250">
                      <a:noAutofit/>
                    </a:bodyPr>
                    <a:lstStyle/>
                    <a:p>
                      <a:r>
                        <a:rPr sz="2025" b="0">
                          <a:solidFill>
                            <a:srgbClr val="17282B"/>
                          </a:solidFill>
                          <a:latin typeface="Arial"/>
                          <a:ea typeface="Arial"/>
                          <a:cs typeface="Arial"/>
                        </a:rPr>
                        <a:t>0,879</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7282B"/>
                          </a:solidFill>
                          <a:latin typeface="Arial"/>
                          <a:ea typeface="Arial"/>
                          <a:cs typeface="Arial"/>
                        </a:rPr>
                        <a:t>0,828</a:t>
                      </a:r>
                    </a:p>
                  </a:txBody>
                  <a:tcPr marL="91440" marR="91440" marT="45720" marB="45720" anchor="ctr">
                    <a:solidFill>
                      <a:srgbClr val="FFFFFF"/>
                    </a:solidFill>
                  </a:tcPr>
                </a:tc>
                <a:tc>
                  <a:txBody>
                    <a:bodyPr lIns="171450" tIns="95250" rIns="171450" bIns="95250">
                      <a:noAutofit/>
                    </a:bodyPr>
                    <a:lstStyle/>
                    <a:p>
                      <a:r>
                        <a:rPr sz="2025" b="0">
                          <a:solidFill>
                            <a:srgbClr val="17282B"/>
                          </a:solidFill>
                          <a:latin typeface="Arial"/>
                          <a:ea typeface="Arial"/>
                          <a:cs typeface="Arial"/>
                        </a:rPr>
                        <a:t>0,828</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RRF (3)</a:t>
                      </a:r>
                    </a:p>
                  </a:txBody>
                  <a:tcPr marL="91440" marR="91440" marT="45720" marB="45720" anchor="ctr">
                    <a:lnL w="0">
                      <a:solidFill>
                        <a:srgbClr val="FFFFFF"/>
                      </a:solidFill>
                    </a:lnL>
                    <a:lnB w="7620">
                      <a:solidFill>
                        <a:srgbClr val="D7E0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0,854</a:t>
                      </a:r>
                    </a:p>
                  </a:txBody>
                  <a:tcPr marL="91440" marR="91440" marT="45720" marB="45720" anchor="ctr">
                    <a:lnB w="7620">
                      <a:solidFill>
                        <a:srgbClr val="D7E0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0,855</a:t>
                      </a:r>
                    </a:p>
                  </a:txBody>
                  <a:tcPr marL="91440" marR="91440" marT="45720" marB="45720" anchor="ctr">
                    <a:lnR w="0">
                      <a:solidFill>
                        <a:srgbClr val="FFFFFF"/>
                      </a:solidFill>
                    </a:lnR>
                    <a:lnB w="7620">
                      <a:solidFill>
                        <a:srgbClr val="D7E0E0"/>
                      </a:solidFill>
                    </a:lnB>
                    <a:solidFill>
                      <a:srgbClr val="FFFFFF"/>
                    </a:solidFill>
                  </a:tcPr>
                </a:tc>
              </a:tr>
            </a:tbl>
          </a:graphicData>
        </a:graphic>
      </p:graphicFrame>
      <p:sp>
        <p:nvSpPr>
          <p:cNvPr id="5" name="Большой набор без ручных запросов: N = 99 914">
            <a:extLst xmlns:a="http://schemas.openxmlformats.org/drawingml/2006/main">
              <a:ext uri="{FF2B5EF4-FFF2-40B4-BE49-F238E27FC236}">
                <a16:creationId xmlns:a16="http://schemas.microsoft.com/office/drawing/2014/main" id="{57DA0E06-653E-47AD-9372-B86994F16DFB}"/>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D76"/>
                </a:solidFill>
                <a:latin typeface="Arial"/>
                <a:ea typeface="Arial"/>
                <a:cs typeface="Arial"/>
              </a:defRPr>
            </a:pPr>
            <a:r>
              <a:rPr sz="2250" b="1">
                <a:solidFill>
                  <a:srgbClr val="007D76"/>
                </a:solidFill>
                <a:latin typeface="Arial"/>
                <a:ea typeface="Arial"/>
                <a:cs typeface="Arial"/>
              </a:rPr>
              <a:t>Большой набор без ручных запросов: N = 99 914</a:t>
            </a:r>
          </a:p>
        </p:txBody>
      </p:sp>
      <p:sp>
        <p:nvSpPr>
          <p:cNvPr id="6" name="При K = 200: RRF − E5 = +0,00877">
            <a:extLst xmlns:a="http://schemas.openxmlformats.org/drawingml/2006/main">
              <a:ext uri="{FF2B5EF4-FFF2-40B4-BE49-F238E27FC236}">
                <a16:creationId xmlns:a16="http://schemas.microsoft.com/office/drawing/2014/main" id="{384AB980-8DC3-4FA8-8AC9-731AD35FE24A}"/>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При K = 200: RRF − E5 = +0,00877</a:t>
            </a:r>
          </a:p>
        </p:txBody>
      </p:sp>
      <p:sp>
        <p:nvSpPr>
          <p:cNvPr id="7" name="Проверки исключением не заменяют независимую руч">
            <a:extLst xmlns:a="http://schemas.openxmlformats.org/drawingml/2006/main">
              <a:ext uri="{FF2B5EF4-FFF2-40B4-BE49-F238E27FC236}">
                <a16:creationId xmlns:a16="http://schemas.microsoft.com/office/drawing/2014/main" id="{CE313412-31A9-4EAE-83F0-203E11CF556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Проверки исключением не заменяют независимую ручную оценку.</a:t>
            </a:r>
          </a:p>
        </p:txBody>
      </p:sp>
    </p:spTree>
    <p:extLst>
      <p:ext uri="{BB962C8B-B14F-4D97-AF65-F5344CB8AC3E}">
        <p14:creationId xmlns:p14="http://schemas.microsoft.com/office/powerpoint/2010/main" val="33105289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Протокол уточнённого расчёта">
            <a:extLst xmlns:a="http://schemas.openxmlformats.org/drawingml/2006/main">
              <a:ext uri="{FF2B5EF4-FFF2-40B4-BE49-F238E27FC236}">
                <a16:creationId xmlns:a16="http://schemas.microsoft.com/office/drawing/2014/main" id="{1214E956-0698-4A9C-BCAA-EBC90901B113}"/>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Протокол уточнённого расчёта</a:t>
            </a:r>
          </a:p>
        </p:txBody>
      </p:sp>
      <p:sp>
        <p:nvSpPr>
          <p:cNvPr id="2" name="РЕЗЕРВ 5">
            <a:extLst xmlns:a="http://schemas.openxmlformats.org/drawingml/2006/main">
              <a:ext uri="{FF2B5EF4-FFF2-40B4-BE49-F238E27FC236}">
                <a16:creationId xmlns:a16="http://schemas.microsoft.com/office/drawing/2014/main" id="{22613F79-A2C2-4051-8224-69E8C265FE6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5</a:t>
            </a:r>
          </a:p>
        </p:txBody>
      </p:sp>
      <p:graphicFrame>
        <p:nvGraphicFramePr>
          <p:cNvPr id="8" name=""/>
          <p:cNvGraphicFramePr/>
          <p:nvPr/>
        </p:nvGraphicFramePr>
        <p:xfrm>
          <a:off xmlns:a="http://schemas.openxmlformats.org/drawingml/2006/main" x="609600" y="1685925"/>
          <a:ext xmlns:a="http://schemas.openxmlformats.org/drawingml/2006/main" cx="10972800" cy="3895725"/>
        </p:xfrm>
        <a:graphic xmlns:a="http://schemas.openxmlformats.org/drawingml/2006/main">
          <a:graphicData uri="http://schemas.openxmlformats.org/drawingml/2006/table">
            <a:tbl>
              <a:tblPr firstRow="0" bandRow="0" bandCol="0"/>
              <a:tblGrid>
                <a:gridCol w="3009900"/>
                <a:gridCol w="7962900"/>
              </a:tblGrid>
              <a:tr h="514350">
                <a:tc>
                  <a:txBody>
                    <a:bodyPr lIns="171450" tIns="95250" rIns="171450" bIns="95250">
                      <a:noAutofit/>
                    </a:bodyPr>
                    <a:lstStyle/>
                    <a:p>
                      <a:r>
                        <a:rPr sz="1725" b="1">
                          <a:solidFill>
                            <a:srgbClr val="51646A"/>
                          </a:solidFill>
                          <a:latin typeface="Arial"/>
                          <a:ea typeface="Arial"/>
                          <a:cs typeface="Arial"/>
                        </a:rPr>
                        <a:t>Правило</a:t>
                      </a:r>
                    </a:p>
                  </a:txBody>
                  <a:tcPr marL="91440" marR="91440" marT="45720" marB="45720" anchor="ctr">
                    <a:lnL w="0">
                      <a:solidFill>
                        <a:srgbClr val="FFFFFF"/>
                      </a:solidFill>
                    </a:lnL>
                    <a:lnT w="0">
                      <a:solidFill>
                        <a:srgbClr val="FFFFFF"/>
                      </a:solidFill>
                    </a:lnT>
                    <a:solidFill>
                      <a:srgbClr val="F0F4F4"/>
                    </a:solidFill>
                  </a:tcPr>
                </a:tc>
                <a:tc>
                  <a:txBody>
                    <a:bodyPr lIns="171450" tIns="95250" rIns="171450" bIns="95250">
                      <a:noAutofit/>
                    </a:bodyPr>
                    <a:lstStyle/>
                    <a:p>
                      <a:r>
                        <a:rPr sz="1725" b="1">
                          <a:solidFill>
                            <a:srgbClr val="51646A"/>
                          </a:solidFill>
                          <a:latin typeface="Arial"/>
                          <a:ea typeface="Arial"/>
                          <a:cs typeface="Arial"/>
                        </a:rPr>
                        <a:t>Применение в докладе</a:t>
                      </a:r>
                    </a:p>
                  </a:txBody>
                  <a:tcPr marL="91440" marR="91440" marT="45720" marB="45720" anchor="ctr">
                    <a:lnR w="0">
                      <a:solidFill>
                        <a:srgbClr val="FFFFFF"/>
                      </a:solidFill>
                    </a:lnR>
                    <a:lnT w="0">
                      <a:solidFill>
                        <a:srgbClr val="FFFFFF"/>
                      </a:solidFill>
                    </a:lnT>
                    <a:solidFill>
                      <a:srgbClr val="F0F4F4"/>
                    </a:solidFill>
                  </a:tcPr>
                </a:tc>
              </a:tr>
              <a:tr h="638175">
                <a:tc>
                  <a:txBody>
                    <a:bodyPr lIns="171450" tIns="95250" rIns="171450" bIns="95250">
                      <a:noAutofit/>
                    </a:bodyPr>
                    <a:lstStyle/>
                    <a:p>
                      <a:r>
                        <a:rPr sz="1875" b="0">
                          <a:solidFill>
                            <a:srgbClr val="17282B"/>
                          </a:solidFill>
                          <a:latin typeface="Arial"/>
                          <a:ea typeface="Arial"/>
                          <a:cs typeface="Arial"/>
                        </a:rPr>
                        <a:t>Состав запросов</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7282B"/>
                          </a:solidFill>
                          <a:latin typeface="Arial"/>
                          <a:ea typeface="Arial"/>
                          <a:cs typeface="Arial"/>
                        </a:rPr>
                        <a:t>Один и тот же набор для всех сравниваемых систем</a:t>
                      </a:r>
                    </a:p>
                  </a:txBody>
                  <a:tcPr marL="91440" marR="91440" marT="45720" marB="45720" anchor="ctr">
                    <a:lnR w="0">
                      <a:solidFill>
                        <a:srgbClr val="FFFFFF"/>
                      </a:solidFill>
                    </a:lnR>
                    <a:solidFill>
                      <a:srgbClr val="FFFFFF"/>
                    </a:solidFill>
                  </a:tcPr>
                </a:tc>
              </a:tr>
              <a:tr h="638175">
                <a:tc>
                  <a:txBody>
                    <a:bodyPr lIns="171450" tIns="95250" rIns="171450" bIns="95250">
                      <a:noAutofit/>
                    </a:bodyPr>
                    <a:lstStyle/>
                    <a:p>
                      <a:r>
                        <a:rPr sz="1875" b="0">
                          <a:solidFill>
                            <a:srgbClr val="17282B"/>
                          </a:solidFill>
                          <a:latin typeface="Arial"/>
                          <a:ea typeface="Arial"/>
                          <a:cs typeface="Arial"/>
                        </a:rPr>
                        <a:t>Релевантность</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7282B"/>
                          </a:solidFill>
                          <a:latin typeface="Arial"/>
                          <a:ea typeface="Arial"/>
                          <a:cs typeface="Arial"/>
                        </a:rPr>
                        <a:t>Бинарная: ручные категории 1 и 2 положительные</a:t>
                      </a:r>
                    </a:p>
                  </a:txBody>
                  <a:tcPr marL="91440" marR="91440" marT="45720" marB="45720" anchor="ctr">
                    <a:lnR w="0">
                      <a:solidFill>
                        <a:srgbClr val="FFFFFF"/>
                      </a:solidFill>
                    </a:lnR>
                    <a:solidFill>
                      <a:srgbClr val="FFFFFF"/>
                    </a:solidFill>
                  </a:tcPr>
                </a:tc>
              </a:tr>
              <a:tr h="742950">
                <a:tc>
                  <a:txBody>
                    <a:bodyPr lIns="171450" tIns="95250" rIns="171450" bIns="95250">
                      <a:noAutofit/>
                    </a:bodyPr>
                    <a:lstStyle/>
                    <a:p>
                      <a:r>
                        <a:rPr sz="1875" b="0">
                          <a:solidFill>
                            <a:srgbClr val="17282B"/>
                          </a:solidFill>
                          <a:latin typeface="Arial"/>
                          <a:ea typeface="Arial"/>
                          <a:cs typeface="Arial"/>
                        </a:rPr>
                        <a:t>Нормировка</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7282B"/>
                          </a:solidFill>
                          <a:latin typeface="Arial"/>
                          <a:ea typeface="Arial"/>
                          <a:cs typeface="Arial"/>
                        </a:rPr>
                        <a:t>Общий IDCG по пулу; при IDCG = 0 метрика равна 0</a:t>
                      </a:r>
                    </a:p>
                  </a:txBody>
                  <a:tcPr marL="91440" marR="91440" marT="45720" marB="45720" anchor="ctr">
                    <a:lnR w="0">
                      <a:solidFill>
                        <a:srgbClr val="FFFFFF"/>
                      </a:solidFill>
                    </a:lnR>
                    <a:solidFill>
                      <a:srgbClr val="FFFFFF"/>
                    </a:solidFill>
                  </a:tcPr>
                </a:tc>
              </a:tr>
              <a:tr h="695325">
                <a:tc>
                  <a:txBody>
                    <a:bodyPr lIns="171450" tIns="95250" rIns="171450" bIns="95250">
                      <a:noAutofit/>
                    </a:bodyPr>
                    <a:lstStyle/>
                    <a:p>
                      <a:r>
                        <a:rPr sz="1875" b="0">
                          <a:solidFill>
                            <a:srgbClr val="17282B"/>
                          </a:solidFill>
                          <a:latin typeface="Arial"/>
                          <a:ea typeface="Arial"/>
                          <a:cs typeface="Arial"/>
                        </a:rPr>
                        <a:t>Нет оценки</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7282B"/>
                          </a:solidFill>
                          <a:latin typeface="Arial"/>
                          <a:ea typeface="Arial"/>
                          <a:cs typeface="Arial"/>
                        </a:rPr>
                        <a:t>Нулевой вклад без удаления позиции из выдачи</a:t>
                      </a:r>
                    </a:p>
                  </a:txBody>
                  <a:tcPr marL="91440" marR="91440" marT="45720" marB="45720" anchor="ctr">
                    <a:lnR w="0">
                      <a:solidFill>
                        <a:srgbClr val="FFFFFF"/>
                      </a:solidFill>
                    </a:lnR>
                    <a:solidFill>
                      <a:srgbClr val="FFFFFF"/>
                    </a:solidFill>
                  </a:tcPr>
                </a:tc>
              </a:tr>
              <a:tr h="666750">
                <a:tc>
                  <a:txBody>
                    <a:bodyPr lIns="171450" tIns="95250" rIns="171450" bIns="95250">
                      <a:noAutofit/>
                    </a:bodyPr>
                    <a:lstStyle/>
                    <a:p>
                      <a:r>
                        <a:rPr sz="1875" b="0">
                          <a:solidFill>
                            <a:srgbClr val="17282B"/>
                          </a:solidFill>
                          <a:latin typeface="Arial"/>
                          <a:ea typeface="Arial"/>
                          <a:cs typeface="Arial"/>
                        </a:rPr>
                        <a:t>Слияние RRF</a:t>
                      </a:r>
                    </a:p>
                  </a:txBody>
                  <a:tcPr marL="91440" marR="91440" marT="45720" marB="45720" anchor="ctr">
                    <a:lnL w="0">
                      <a:solidFill>
                        <a:srgbClr val="FFFFFF"/>
                      </a:solidFill>
                    </a:lnL>
                    <a:lnB w="7620">
                      <a:solidFill>
                        <a:srgbClr val="D7E0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Константа 60; глубины входов L = K и L = 200</a:t>
                      </a:r>
                    </a:p>
                  </a:txBody>
                  <a:tcPr marL="91440" marR="91440" marT="45720" marB="45720" anchor="ctr">
                    <a:lnR w="0">
                      <a:solidFill>
                        <a:srgbClr val="FFFFFF"/>
                      </a:solidFill>
                    </a:lnR>
                    <a:lnB w="7620">
                      <a:solidFill>
                        <a:srgbClr val="D7E0E0"/>
                      </a:solidFill>
                    </a:lnB>
                    <a:solidFill>
                      <a:srgbClr val="FFFFFF"/>
                    </a:solidFill>
                  </a:tcPr>
                </a:tc>
              </a:tr>
            </a:tbl>
          </a:graphicData>
        </a:graphic>
      </p:graphicFrame>
      <p:sp>
        <p:nvSpPr>
          <p:cNvPr id="4" name="Модели: BM25 · e5-small-v2 · bge-small-en-v1.5">
            <a:extLst xmlns:a="http://schemas.openxmlformats.org/drawingml/2006/main">
              <a:ext uri="{FF2B5EF4-FFF2-40B4-BE49-F238E27FC236}">
                <a16:creationId xmlns:a16="http://schemas.microsoft.com/office/drawing/2014/main" id="{504396B6-DE6C-4009-8522-15089894C4E0}"/>
              </a:ext>
            </a:extLst>
          </p:cNvPr>
          <p:cNvSpPr>
            <a:spLocks xmlns:a="http://schemas.openxmlformats.org/drawingml/2006/main" noGrp="1"/>
          </p:cNvSpPr>
          <p:nvPr/>
        </p:nvSpPr>
        <p:spPr>
          <a:xfrm xmlns:a="http://schemas.openxmlformats.org/drawingml/2006/main">
            <a:off x="609600" y="58674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07D76"/>
                </a:solidFill>
                <a:latin typeface="Arial"/>
                <a:ea typeface="Arial"/>
                <a:cs typeface="Arial"/>
              </a:defRPr>
            </a:pPr>
            <a:r>
              <a:rPr sz="1800" b="1">
                <a:solidFill>
                  <a:srgbClr val="007D76"/>
                </a:solidFill>
                <a:latin typeface="Arial"/>
                <a:ea typeface="Arial"/>
                <a:cs typeface="Arial"/>
              </a:rPr>
              <a:t>Модели: BM25 · e5-small-v2 · bge-small-en-v1.5</a:t>
            </a:r>
          </a:p>
        </p:txBody>
      </p:sp>
      <p:sp>
        <p:nvSpPr>
          <p:cNvPr id="5" name="Уточнённые числа и вывод о RRF отличаются от ред">
            <a:extLst xmlns:a="http://schemas.openxmlformats.org/drawingml/2006/main">
              <a:ext uri="{FF2B5EF4-FFF2-40B4-BE49-F238E27FC236}">
                <a16:creationId xmlns:a16="http://schemas.microsoft.com/office/drawing/2014/main" id="{647ECBDC-02FB-4AFD-B704-D11077AD086E}"/>
              </a:ext>
            </a:extLst>
          </p:cNvPr>
          <p:cNvSpPr>
            <a:spLocks xmlns:a="http://schemas.openxmlformats.org/drawingml/2006/main" noGrp="1"/>
          </p:cNvSpPr>
          <p:nvPr/>
        </p:nvSpPr>
        <p:spPr>
          <a:xfrm xmlns:a="http://schemas.openxmlformats.org/drawingml/2006/main">
            <a:off x="609600" y="631507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Уточнённые числа и вывод о RRF отличаются от редакторской версии рукописи.</a:t>
            </a:r>
          </a:p>
        </p:txBody>
      </p:sp>
    </p:spTree>
    <p:extLst>
      <p:ext uri="{BB962C8B-B14F-4D97-AF65-F5344CB8AC3E}">
        <p14:creationId xmlns:p14="http://schemas.microsoft.com/office/powerpoint/2010/main" val="29727643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Судья как переранжировщик">
            <a:extLst xmlns:a="http://schemas.openxmlformats.org/drawingml/2006/main">
              <a:ext uri="{FF2B5EF4-FFF2-40B4-BE49-F238E27FC236}">
                <a16:creationId xmlns:a16="http://schemas.microsoft.com/office/drawing/2014/main" id="{AA6566AC-BB02-4F79-A61B-58437A4E2D5A}"/>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Судья как переранжировщик</a:t>
            </a:r>
          </a:p>
        </p:txBody>
      </p:sp>
      <p:sp>
        <p:nvSpPr>
          <p:cNvPr id="2" name="РЕЗЕРВ 6">
            <a:extLst xmlns:a="http://schemas.openxmlformats.org/drawingml/2006/main">
              <a:ext uri="{FF2B5EF4-FFF2-40B4-BE49-F238E27FC236}">
                <a16:creationId xmlns:a16="http://schemas.microsoft.com/office/drawing/2014/main" id="{3A769CFE-318E-4A68-926E-015121AABE0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6</a:t>
            </a:r>
          </a:p>
        </p:txBody>
      </p:sp>
      <p:sp>
        <p:nvSpPr>
          <p:cNvPr id="3" name="177 тестовых запросов · переранжирование кандида">
            <a:extLst xmlns:a="http://schemas.openxmlformats.org/drawingml/2006/main">
              <a:ext uri="{FF2B5EF4-FFF2-40B4-BE49-F238E27FC236}">
                <a16:creationId xmlns:a16="http://schemas.microsoft.com/office/drawing/2014/main" id="{A2878B65-15EC-4D40-B32E-8A5E21AC2AB0}"/>
              </a:ext>
            </a:extLst>
          </p:cNvPr>
          <p:cNvSpPr>
            <a:spLocks xmlns:a="http://schemas.openxmlformats.org/drawingml/2006/main" noGrp="1"/>
          </p:cNvSpPr>
          <p:nvPr/>
        </p:nvSpPr>
        <p:spPr>
          <a:xfrm xmlns:a="http://schemas.openxmlformats.org/drawingml/2006/main">
            <a:off x="609600" y="15621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177 тестовых запросов · переранжирование кандидатов ручного пула</a:t>
            </a:r>
          </a:p>
        </p:txBody>
      </p:sp>
      <p:sp>
        <p:nvSpPr>
          <p:cNvPr id="4" name="0,512">
            <a:extLst xmlns:a="http://schemas.openxmlformats.org/drawingml/2006/main">
              <a:ext uri="{FF2B5EF4-FFF2-40B4-BE49-F238E27FC236}">
                <a16:creationId xmlns:a16="http://schemas.microsoft.com/office/drawing/2014/main" id="{FF0813FD-A815-497A-AAD6-AF80F9CADCA4}"/>
              </a:ext>
            </a:extLst>
          </p:cNvPr>
          <p:cNvSpPr>
            <a:spLocks xmlns:a="http://schemas.openxmlformats.org/drawingml/2006/main" noGrp="1"/>
          </p:cNvSpPr>
          <p:nvPr/>
        </p:nvSpPr>
        <p:spPr>
          <a:xfrm xmlns:a="http://schemas.openxmlformats.org/drawingml/2006/main">
            <a:off x="609600" y="2752725"/>
            <a:ext cx="4686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450" b="1">
                <a:solidFill>
                  <a:srgbClr val="7E8B91"/>
                </a:solidFill>
                <a:latin typeface="Arial"/>
                <a:ea typeface="Arial"/>
                <a:cs typeface="Arial"/>
              </a:defRPr>
            </a:pPr>
            <a:r>
              <a:rPr sz="6450" b="1">
                <a:solidFill>
                  <a:srgbClr val="7E8B91"/>
                </a:solidFill>
                <a:latin typeface="Arial"/>
                <a:ea typeface="Arial"/>
                <a:cs typeface="Arial"/>
              </a:rPr>
              <a:t>0,512</a:t>
            </a:r>
          </a:p>
        </p:txBody>
      </p:sp>
      <p:sp>
        <p:nvSpPr>
          <p:cNvPr id="5" name="NDCG@10&#10;по исходным меткам">
            <a:extLst xmlns:a="http://schemas.openxmlformats.org/drawingml/2006/main">
              <a:ext uri="{FF2B5EF4-FFF2-40B4-BE49-F238E27FC236}">
                <a16:creationId xmlns:a16="http://schemas.microsoft.com/office/drawing/2014/main" id="{38DED250-214C-4B07-851A-FD58C6CA76FE}"/>
              </a:ext>
            </a:extLst>
          </p:cNvPr>
          <p:cNvSpPr>
            <a:spLocks xmlns:a="http://schemas.openxmlformats.org/drawingml/2006/main" noGrp="1"/>
          </p:cNvSpPr>
          <p:nvPr/>
        </p:nvSpPr>
        <p:spPr>
          <a:xfrm xmlns:a="http://schemas.openxmlformats.org/drawingml/2006/main">
            <a:off x="609600" y="3905250"/>
            <a:ext cx="4781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NDCG@10</a:t>
            </a:r>
          </a:p>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по исходным меткам</a:t>
            </a:r>
          </a:p>
        </p:txBody>
      </p:sp>
      <p:sp>
        <p:nvSpPr>
          <p:cNvPr id="6" name="0,938">
            <a:extLst xmlns:a="http://schemas.openxmlformats.org/drawingml/2006/main">
              <a:ext uri="{FF2B5EF4-FFF2-40B4-BE49-F238E27FC236}">
                <a16:creationId xmlns:a16="http://schemas.microsoft.com/office/drawing/2014/main" id="{DA57EEE9-96C4-46F9-81B1-B7D1B086953A}"/>
              </a:ext>
            </a:extLst>
          </p:cNvPr>
          <p:cNvSpPr>
            <a:spLocks xmlns:a="http://schemas.openxmlformats.org/drawingml/2006/main" noGrp="1"/>
          </p:cNvSpPr>
          <p:nvPr/>
        </p:nvSpPr>
        <p:spPr>
          <a:xfrm xmlns:a="http://schemas.openxmlformats.org/drawingml/2006/main">
            <a:off x="6705600" y="2752725"/>
            <a:ext cx="4876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450" b="1">
                <a:solidFill>
                  <a:srgbClr val="007D76"/>
                </a:solidFill>
                <a:latin typeface="Arial"/>
                <a:ea typeface="Arial"/>
                <a:cs typeface="Arial"/>
              </a:defRPr>
            </a:pPr>
            <a:r>
              <a:rPr sz="6450" b="1">
                <a:solidFill>
                  <a:srgbClr val="007D76"/>
                </a:solidFill>
                <a:latin typeface="Arial"/>
                <a:ea typeface="Arial"/>
                <a:cs typeface="Arial"/>
              </a:rPr>
              <a:t>0,938</a:t>
            </a:r>
          </a:p>
        </p:txBody>
      </p:sp>
      <p:sp>
        <p:nvSpPr>
          <p:cNvPr id="7" name="NDCG@10&#10;по человеческим меткам">
            <a:extLst xmlns:a="http://schemas.openxmlformats.org/drawingml/2006/main">
              <a:ext uri="{FF2B5EF4-FFF2-40B4-BE49-F238E27FC236}">
                <a16:creationId xmlns:a16="http://schemas.microsoft.com/office/drawing/2014/main" id="{32559CFC-6BE5-4F27-8A48-C0B367D6E2F6}"/>
              </a:ext>
            </a:extLst>
          </p:cNvPr>
          <p:cNvSpPr>
            <a:spLocks xmlns:a="http://schemas.openxmlformats.org/drawingml/2006/main" noGrp="1"/>
          </p:cNvSpPr>
          <p:nvPr/>
        </p:nvSpPr>
        <p:spPr>
          <a:xfrm xmlns:a="http://schemas.openxmlformats.org/drawingml/2006/main">
            <a:off x="6705600" y="3905250"/>
            <a:ext cx="4876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NDCG@10</a:t>
            </a:r>
          </a:p>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по человеческим меткам</a:t>
            </a:r>
          </a:p>
        </p:txBody>
      </p:sp>
      <p:sp>
        <p:nvSpPr>
          <p:cNvPr id="8" name="Отобранный пул, не поиск по полному корпусу">
            <a:extLst xmlns:a="http://schemas.openxmlformats.org/drawingml/2006/main">
              <a:ext uri="{FF2B5EF4-FFF2-40B4-BE49-F238E27FC236}">
                <a16:creationId xmlns:a16="http://schemas.microsoft.com/office/drawing/2014/main" id="{AFD2E63C-E82F-433D-B8F7-6895882B1AFF}"/>
              </a:ext>
            </a:extLst>
          </p:cNvPr>
          <p:cNvSpPr>
            <a:spLocks xmlns:a="http://schemas.openxmlformats.org/drawingml/2006/main" noGrp="1"/>
          </p:cNvSpPr>
          <p:nvPr/>
        </p:nvSpPr>
        <p:spPr>
          <a:xfrm xmlns:a="http://schemas.openxmlformats.org/drawingml/2006/main">
            <a:off x="609600" y="533400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282B"/>
                </a:solidFill>
                <a:latin typeface="Arial"/>
                <a:ea typeface="Arial"/>
                <a:cs typeface="Arial"/>
              </a:defRPr>
            </a:pPr>
            <a:r>
              <a:rPr sz="2700" b="1">
                <a:solidFill>
                  <a:srgbClr val="17282B"/>
                </a:solidFill>
                <a:latin typeface="Arial"/>
                <a:ea typeface="Arial"/>
                <a:cs typeface="Arial"/>
              </a:rPr>
              <a:t>Отобранный пул, не поиск по полному корпусу</a:t>
            </a:r>
          </a:p>
        </p:txBody>
      </p:sp>
      <p:sp>
        <p:nvSpPr>
          <p:cNvPr id="9" name="Нельзя напрямую сравнивать с другими моделями на">
            <a:extLst xmlns:a="http://schemas.openxmlformats.org/drawingml/2006/main">
              <a:ext uri="{FF2B5EF4-FFF2-40B4-BE49-F238E27FC236}">
                <a16:creationId xmlns:a16="http://schemas.microsoft.com/office/drawing/2014/main" id="{872D04A6-740D-430C-BA28-14468E7485D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Нельзя напрямую сравнивать с другими моделями на всех 1 179 запросах.</a:t>
            </a:r>
          </a:p>
        </p:txBody>
      </p:sp>
    </p:spTree>
    <p:extLst>
      <p:ext uri="{BB962C8B-B14F-4D97-AF65-F5344CB8AC3E}">
        <p14:creationId xmlns:p14="http://schemas.microsoft.com/office/powerpoint/2010/main" val="6145562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Presentation</dc:title>
  <dcterms:created xsi:type="dcterms:W3CDTF"/>
  <dcterms:modified xsi:type="dcterms:W3CDTF"/>
</coreProperties>
</file>