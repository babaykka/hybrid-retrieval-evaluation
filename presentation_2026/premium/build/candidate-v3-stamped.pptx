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9f7553a3e29e437d"/><Relationship Type="http://schemas.openxmlformats.org/officeDocument/2006/relationships/extended-properties" Target="/docProps/app.xml" Id="Rd13e4bdd49e54c6c"/><Relationship Type="http://schemas.openxmlformats.org/officeDocument/2006/relationships/officeDocument" Target="/ppt/presentation.xml" Id="R7281836a3a5f4223"/></Relationships>
</file>

<file path=ppt/presentation.xml><?xml version="1.0" encoding="utf-8"?>
<p:presentation xmlns:p="http://schemas.openxmlformats.org/presentationml/2006/main">
  <p:sldMasterIdLst>
    <p:sldMasterId xmlns:r="http://schemas.openxmlformats.org/officeDocument/2006/relationships" id="2147483648" r:id="R39449bc27d394f14"/>
  </p:sldMasterIdLst>
  <p:notesMasterIdLst>
    <p:notesMasterId xmlns:r="http://schemas.openxmlformats.org/officeDocument/2006/relationships" r:id="R08c26d6fc1154dcb"/>
  </p:notesMasterIdLst>
  <p:sldIdLst>
    <p:sldId xmlns:r="http://schemas.openxmlformats.org/officeDocument/2006/relationships" id="256" r:id="Rfee85f5e2e254487"/>
    <p:sldId xmlns:r="http://schemas.openxmlformats.org/officeDocument/2006/relationships" id="257" r:id="Rdf31611afeaf4251"/>
    <p:sldId xmlns:r="http://schemas.openxmlformats.org/officeDocument/2006/relationships" id="258" r:id="R123d59dd9dc648e4"/>
    <p:sldId xmlns:r="http://schemas.openxmlformats.org/officeDocument/2006/relationships" id="259" r:id="R48784f93c4af4c3b"/>
    <p:sldId xmlns:r="http://schemas.openxmlformats.org/officeDocument/2006/relationships" id="260" r:id="R36f27a78dae44e93"/>
    <p:sldId xmlns:r="http://schemas.openxmlformats.org/officeDocument/2006/relationships" id="261" r:id="Rcb69a4e20ade494a"/>
    <p:sldId xmlns:r="http://schemas.openxmlformats.org/officeDocument/2006/relationships" id="262" r:id="R1d4a4e6e205c41fe"/>
    <p:sldId xmlns:r="http://schemas.openxmlformats.org/officeDocument/2006/relationships" id="263" r:id="Ref41eb8287694594"/>
    <p:sldId xmlns:r="http://schemas.openxmlformats.org/officeDocument/2006/relationships" id="264" r:id="R9644f734575043ef"/>
    <p:sldId xmlns:r="http://schemas.openxmlformats.org/officeDocument/2006/relationships" id="265" r:id="Rc1595db794da4a21"/>
    <p:sldId xmlns:r="http://schemas.openxmlformats.org/officeDocument/2006/relationships" id="266" r:id="R7400f7d18507437a"/>
    <p:sldId xmlns:r="http://schemas.openxmlformats.org/officeDocument/2006/relationships" id="267" r:id="R1cb237523db641ac"/>
    <p:sldId xmlns:r="http://schemas.openxmlformats.org/officeDocument/2006/relationships" id="268" r:id="R712a407ae483419b"/>
    <p:sldId xmlns:r="http://schemas.openxmlformats.org/officeDocument/2006/relationships" id="269" r:id="R8e40fb6c96684a40"/>
    <p:sldId xmlns:r="http://schemas.openxmlformats.org/officeDocument/2006/relationships" id="270" r:id="R2f337d500ee141c6"/>
    <p:sldId xmlns:r="http://schemas.openxmlformats.org/officeDocument/2006/relationships" id="271" r:id="R6ea4ec3d90094f8a"/>
    <p:sldId xmlns:r="http://schemas.openxmlformats.org/officeDocument/2006/relationships" id="272" r:id="R0735e3a00ce74085"/>
    <p:sldId xmlns:r="http://schemas.openxmlformats.org/officeDocument/2006/relationships" id="273" r:id="R21886598ea774b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608b549d9a434d6c"/><Relationship Type="http://schemas.openxmlformats.org/officeDocument/2006/relationships/slideMaster" Target="/ppt/slideMasters/slideMaster1.xml" Id="R39449bc27d394f14"/><Relationship Type="http://schemas.openxmlformats.org/officeDocument/2006/relationships/notesMaster" Target="/ppt/notesMasters/notesMaster1.xml" Id="R08c26d6fc1154dcb"/><Relationship Type="http://schemas.openxmlformats.org/officeDocument/2006/relationships/presProps" Target="/ppt/presProps.xml" Id="R8c0c72aa372045f9"/><Relationship Type="http://schemas.openxmlformats.org/officeDocument/2006/relationships/tableStyles" Target="/ppt/tableStyles.xml" Id="Rca9f14c008e54b87"/><Relationship Type="http://schemas.openxmlformats.org/officeDocument/2006/relationships/slide" Target="/ppt/slides/slide1.xml" Id="Rfee85f5e2e254487"/><Relationship Type="http://schemas.openxmlformats.org/officeDocument/2006/relationships/slide" Target="/ppt/slides/slide2.xml" Id="Rdf31611afeaf4251"/><Relationship Type="http://schemas.openxmlformats.org/officeDocument/2006/relationships/slide" Target="/ppt/slides/slide3.xml" Id="R123d59dd9dc648e4"/><Relationship Type="http://schemas.openxmlformats.org/officeDocument/2006/relationships/slide" Target="/ppt/slides/slide4.xml" Id="R48784f93c4af4c3b"/><Relationship Type="http://schemas.openxmlformats.org/officeDocument/2006/relationships/slide" Target="/ppt/slides/slide5.xml" Id="R36f27a78dae44e93"/><Relationship Type="http://schemas.openxmlformats.org/officeDocument/2006/relationships/slide" Target="/ppt/slides/slide6.xml" Id="Rcb69a4e20ade494a"/><Relationship Type="http://schemas.openxmlformats.org/officeDocument/2006/relationships/slide" Target="/ppt/slides/slide7.xml" Id="R1d4a4e6e205c41fe"/><Relationship Type="http://schemas.openxmlformats.org/officeDocument/2006/relationships/slide" Target="/ppt/slides/slide8.xml" Id="Ref41eb8287694594"/><Relationship Type="http://schemas.openxmlformats.org/officeDocument/2006/relationships/slide" Target="/ppt/slides/slide9.xml" Id="R9644f734575043ef"/><Relationship Type="http://schemas.openxmlformats.org/officeDocument/2006/relationships/slide" Target="/ppt/slides/slide10.xml" Id="Rc1595db794da4a21"/><Relationship Type="http://schemas.openxmlformats.org/officeDocument/2006/relationships/slide" Target="/ppt/slides/slide11.xml" Id="R7400f7d18507437a"/><Relationship Type="http://schemas.openxmlformats.org/officeDocument/2006/relationships/slide" Target="/ppt/slides/slide12.xml" Id="R1cb237523db641ac"/><Relationship Type="http://schemas.openxmlformats.org/officeDocument/2006/relationships/slide" Target="/ppt/slides/slide13.xml" Id="R712a407ae483419b"/><Relationship Type="http://schemas.openxmlformats.org/officeDocument/2006/relationships/slide" Target="/ppt/slides/slide14.xml" Id="R8e40fb6c96684a40"/><Relationship Type="http://schemas.openxmlformats.org/officeDocument/2006/relationships/slide" Target="/ppt/slides/slide15.xml" Id="R2f337d500ee141c6"/><Relationship Type="http://schemas.openxmlformats.org/officeDocument/2006/relationships/slide" Target="/ppt/slides/slide16.xml" Id="R6ea4ec3d90094f8a"/><Relationship Type="http://schemas.openxmlformats.org/officeDocument/2006/relationships/slide" Target="/ppt/slides/slide17.xml" Id="R0735e3a00ce74085"/><Relationship Type="http://schemas.openxmlformats.org/officeDocument/2006/relationships/slide" Target="/ppt/slides/slide18.xml" Id="R21886598ea774b5a"/></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b03c56c1ff084bb6"/></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bda8f963bf8d47be"/><Relationship Type="http://schemas.openxmlformats.org/officeDocument/2006/relationships/notesMaster" Target="/ppt/notesMasters/notesMaster1.xml" Id="Ra2d41e87c164462c"/></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e4709044ad3c415f"/><Relationship Type="http://schemas.openxmlformats.org/officeDocument/2006/relationships/notesMaster" Target="/ppt/notesMasters/notesMaster1.xml" Id="Re85cbe83367d4777"/></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ceffb11517a94ddf"/><Relationship Type="http://schemas.openxmlformats.org/officeDocument/2006/relationships/notesMaster" Target="/ppt/notesMasters/notesMaster1.xml" Id="Rf7f7c9828f51423f"/></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363e367fc1cf420c"/><Relationship Type="http://schemas.openxmlformats.org/officeDocument/2006/relationships/notesMaster" Target="/ppt/notesMasters/notesMaster1.xml" Id="Re3fab0f800294421"/></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b58d5ea746994b7d"/><Relationship Type="http://schemas.openxmlformats.org/officeDocument/2006/relationships/notesMaster" Target="/ppt/notesMasters/notesMaster1.xml" Id="R2620cea0a3414bef"/></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8eaf66dccb7f4a65"/><Relationship Type="http://schemas.openxmlformats.org/officeDocument/2006/relationships/notesMaster" Target="/ppt/notesMasters/notesMaster1.xml" Id="R11ffcf6c6ec64d59"/></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5f44ad2427f6459e"/><Relationship Type="http://schemas.openxmlformats.org/officeDocument/2006/relationships/notesMaster" Target="/ppt/notesMasters/notesMaster1.xml" Id="Rc3f55992c0014174"/></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0241fea05ccc4652"/><Relationship Type="http://schemas.openxmlformats.org/officeDocument/2006/relationships/notesMaster" Target="/ppt/notesMasters/notesMaster1.xml" Id="R961799fbee154411"/></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0d087ea3619b40b3"/><Relationship Type="http://schemas.openxmlformats.org/officeDocument/2006/relationships/notesMaster" Target="/ppt/notesMasters/notesMaster1.xml" Id="Raf9692cc252c4ba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01df3e1b88084741"/><Relationship Type="http://schemas.openxmlformats.org/officeDocument/2006/relationships/notesMaster" Target="/ppt/notesMasters/notesMaster1.xml" Id="R178a0ceebda24ebb"/></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d9d3582441214e9b"/><Relationship Type="http://schemas.openxmlformats.org/officeDocument/2006/relationships/notesMaster" Target="/ppt/notesMasters/notesMaster1.xml" Id="Rc77a41cd389741b8"/></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37418a23785a4168"/><Relationship Type="http://schemas.openxmlformats.org/officeDocument/2006/relationships/notesMaster" Target="/ppt/notesMasters/notesMaster1.xml" Id="Rec1434af9cf34dee"/></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8caf8af142bd46de"/><Relationship Type="http://schemas.openxmlformats.org/officeDocument/2006/relationships/notesMaster" Target="/ppt/notesMasters/notesMaster1.xml" Id="R43839f487f8b40fc"/></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ac33f86da46a4c40"/><Relationship Type="http://schemas.openxmlformats.org/officeDocument/2006/relationships/notesMaster" Target="/ppt/notesMasters/notesMaster1.xml" Id="R8afbc76c36bd4a56"/></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20729948c6ec469e"/><Relationship Type="http://schemas.openxmlformats.org/officeDocument/2006/relationships/notesMaster" Target="/ppt/notesMasters/notesMaster1.xml" Id="Ra7cd7d522dfb4857"/></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ba5dcb68fa734619"/><Relationship Type="http://schemas.openxmlformats.org/officeDocument/2006/relationships/notesMaster" Target="/ppt/notesMasters/notesMaster1.xml" Id="Reb1008143b7a4c20"/></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79ad92d65e4c4292"/><Relationship Type="http://schemas.openxmlformats.org/officeDocument/2006/relationships/notesMaster" Target="/ppt/notesMasters/notesMaster1.xml" Id="Rf78f55298fc5486c"/></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5c7f1fc9ea6642a0"/><Relationship Type="http://schemas.openxmlformats.org/officeDocument/2006/relationships/notesMaster" Target="/ppt/notesMasters/notesMaster1.xml" Id="R1f0ce42c516c438c"/></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файл суждений о релевантности запросам.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обучаемый baseline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Известный ответ был бы дополнительным полезным сигналом; такой формат — будущий эксперимент, а не уже полученный результат.</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ROC показывает долю найденных положительных пар относительно доли ложноположительных по всем порогам. Площадь под полной эмпирической кривой составляет 0,907, F1 при выбранном на валидации пороге — 0,875. Precision 0,851, recall 0,902. AUC не является процентом правильных ответов или вероятностью релевантности. Кривая визуально сокращена до 80 фактических точек, а число AUC рассчитано по полной кривой. Унаследованное бинарное кодирование относит категории 1 и 2 к положительным, остальные к нулю. Тест включает шесть неразрешённых категорий и одну пару с пустым текстом; после их исключения AUC составляет 0,909 и F1 0,876. Основные числа оставлены для исходного протокола.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Held-out empirical ROC reconstructed from saved judge scores and split IDs; provenance in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На вертикальной оси разность NDCG RRF минус E5.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и первая десятка RRF, и первая десятка E5 одинаковы при каждой глубине оценочного пула.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человеческую валидацию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Следующая проверка — более сильные и reference-conditioned судьи на независимых человеческих оценках.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Четыре эффекта проходят поправку Бонферрони. Интервалы точечные, они не учитывают повторное обучение или неопределённость человеческой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seed 42. Базовый checkpoint — cross-encoder/ms-marco-MiniLM-L6-v2. Порог -0,2187178284 по сырым scores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неразрешённых категорий и одну запись с пустым текстом. Исключение этих семи записей оставляет 4995 пар и даёт AUC 0,909, F1 0,876; это чувствительность, а не новый обученный судья. Повторная оценка использует сохранённые scores; новое нейросетевое обучение здесь не выполнялось.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неразрешённых категорий и пять пустых текстов затрагивают 23 запроса. Основная оценка сохраняет все 1179, а чувствительность удаляет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независимой человеческой релевантности.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reference passage labeled relevant, кандидат.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Основной вклад текущей работы остаётся измерением влияния покрытия разметки и глубины пулов при фиксированных сохранённых ранжированиях.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dcba50a23bcc4851"/></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e6ac140d6c524fb7"/><Relationship Type="http://schemas.openxmlformats.org/officeDocument/2006/relationships/slideLayout" Target="/ppt/slideLayouts/slideLayout1.xml" Id="R4d56fe9a385a4d35"/></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56fe9a385a4d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568feff299f64add"/><Relationship Type="http://schemas.openxmlformats.org/officeDocument/2006/relationships/image" Target="/ppt/media/image.png" Id="R54301f7932164f94"/><Relationship Type="http://schemas.openxmlformats.org/officeDocument/2006/relationships/notesSlide" Target="/ppt/notesSlides/notesSlide1.xml" Id="R30757522f7e248d6"/></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a1f5aa89476049a4"/><Relationship Type="http://schemas.openxmlformats.org/officeDocument/2006/relationships/notesSlide" Target="/ppt/notesSlides/notesSlide2.xml" Id="R0e8eb52da9b44d02"/></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535db0853e744b7c"/><Relationship Type="http://schemas.openxmlformats.org/officeDocument/2006/relationships/notesSlide" Target="/ppt/notesSlides/notesSlide3.xml" Id="R43c497deb1474801"/></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abb1bb8f2f9f41a9"/><Relationship Type="http://schemas.openxmlformats.org/officeDocument/2006/relationships/notesSlide" Target="/ppt/notesSlides/notesSlide4.xml" Id="Rda3b99feaec841b3"/></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3a5efae7b5b84d03"/><Relationship Type="http://schemas.openxmlformats.org/officeDocument/2006/relationships/notesSlide" Target="/ppt/notesSlides/notesSlide5.xml" Id="Rd4288871d9b54fcf"/></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79f4f828ca6f4da7"/><Relationship Type="http://schemas.openxmlformats.org/officeDocument/2006/relationships/chart" Target="/ppt/slides/charts/chart1.xml" Id="Rcc21ca99c06049f1"/><Relationship Type="http://schemas.openxmlformats.org/officeDocument/2006/relationships/notesSlide" Target="/ppt/notesSlides/notesSlide6.xml" Id="R0fb77649adf14822"/></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aa4b936f99ff455c"/><Relationship Type="http://schemas.openxmlformats.org/officeDocument/2006/relationships/notesSlide" Target="/ppt/notesSlides/notesSlide7.xml" Id="Ra9d91d89129a4661"/></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f7a330b492124b90"/><Relationship Type="http://schemas.openxmlformats.org/officeDocument/2006/relationships/chart" Target="/ppt/slides/charts/chart2.xml" Id="Ra8ae93f2ab7f4ad0"/><Relationship Type="http://schemas.openxmlformats.org/officeDocument/2006/relationships/notesSlide" Target="/ppt/notesSlides/notesSlide8.xml" Id="Reead38ddbbbc4c84"/></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048c6e7f37d84c4e"/><Relationship Type="http://schemas.openxmlformats.org/officeDocument/2006/relationships/chart" Target="/ppt/slides/charts/chart3.xml" Id="R0370c2ea5be64c26"/><Relationship Type="http://schemas.openxmlformats.org/officeDocument/2006/relationships/notesSlide" Target="/ppt/notesSlides/notesSlide9.xml" Id="Rd6c79f17d73c4b1b"/></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4a4d07461e0346ef"/><Relationship Type="http://schemas.openxmlformats.org/officeDocument/2006/relationships/chart" Target="/ppt/slides/charts/chart4.xml" Id="Rb91861c2c4be425a"/><Relationship Type="http://schemas.openxmlformats.org/officeDocument/2006/relationships/notesSlide" Target="/ppt/notesSlides/notesSlide10.xml" Id="R6597996990874b38"/></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4935726e6cbb4455"/><Relationship Type="http://schemas.openxmlformats.org/officeDocument/2006/relationships/chart" Target="/ppt/slides/charts/chart5.xml" Id="R019813b7a5ee4190"/><Relationship Type="http://schemas.openxmlformats.org/officeDocument/2006/relationships/notesSlide" Target="/ppt/notesSlides/notesSlide11.xml" Id="R081c88ec60b14e0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1bfe3df865064d57"/><Relationship Type="http://schemas.openxmlformats.org/officeDocument/2006/relationships/notesSlide" Target="/ppt/notesSlides/notesSlide12.xml" Id="R1482ee46047c4fa6"/></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463df86b08af453f"/><Relationship Type="http://schemas.openxmlformats.org/officeDocument/2006/relationships/notesSlide" Target="/ppt/notesSlides/notesSlide13.xml" Id="R96731a1aed1a4e08"/></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d873113d25a74610"/><Relationship Type="http://schemas.openxmlformats.org/officeDocument/2006/relationships/notesSlide" Target="/ppt/notesSlides/notesSlide14.xml" Id="Rf68d6e866fe24f0a"/></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1aadda79bb7048e8"/><Relationship Type="http://schemas.openxmlformats.org/officeDocument/2006/relationships/notesSlide" Target="/ppt/notesSlides/notesSlide15.xml" Id="Rad5bff28590e490c"/></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a85c6729bd6c46cf"/><Relationship Type="http://schemas.openxmlformats.org/officeDocument/2006/relationships/notesSlide" Target="/ppt/notesSlides/notesSlide16.xml" Id="Ra6ec4830fd6348e2"/></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83e0af25173f4658"/><Relationship Type="http://schemas.openxmlformats.org/officeDocument/2006/relationships/notesSlide" Target="/ppt/notesSlides/notesSlide17.xml" Id="R48c27720f24c468b"/></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b7bea4e019804459"/><Relationship Type="http://schemas.openxmlformats.org/officeDocument/2006/relationships/notesSlide" Target="/ppt/notesSlides/notesSlide18.xml" Id="Re6c3942e607c4783"/></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819499"/>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819499"/>
              </a:solidFill>
            </a:ln>
          </c:spPr>
          <c:marker>
            <c:symbol val="none"/>
          </c:marker>
          <c:xVal>
            <c:numLit>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xVal>
          <c:yVal>
            <c:numLit>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yVal>
          <c:smooth val="0"/>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mooth val="0"/>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Lit>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Lit>
          </c:xVal>
          <c:yVal>
            <c:numLit>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latin typeface="Arial"/>
                    <a:ea typeface="Arial"/>
                    <a:cs typeface="Arial"/>
                    <a:solidFill>
                      <a:srgbClr val="526970"/>
                    </a:solidFill>
                  </a:rPr>
                  <a:t>True positive rate</a:t>
                </a:r>
              </a:p>
            </c:rich>
          </c:tx>
          <c:overlay val="0"/>
          <c:txPr>
            <a:bodyPr xmlns:a="http://schemas.openxmlformats.org/drawingml/2006/main" anchorCtr="1"/>
            <a:lstStyle xmlns:a="http://schemas.openxmlformats.org/drawingml/2006/main"/>
            <a:p xmlns:a="http://schemas.openxmlformats.org/drawingml/2006/main">
              <a:pPr>
                <a:defRPr sz="1800" b="0">
                  <a:latin typeface="Arial"/>
                  <a:ea typeface="Arial"/>
                  <a:cs typeface="Arial"/>
                  <a:solidFill>
                    <a:srgbClr val="526970"/>
                  </a:solidFil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latin typeface="Arial"/>
                    <a:ea typeface="Arial"/>
                    <a:cs typeface="Arial"/>
                    <a:solidFill>
                      <a:srgbClr val="526970"/>
                    </a:solidFill>
                  </a:rPr>
                  <a:t>False positive rate</a:t>
                </a:r>
              </a:p>
            </c:rich>
          </c:tx>
          <c:overlay val="0"/>
          <c:txPr>
            <a:bodyPr xmlns:a="http://schemas.openxmlformats.org/drawingml/2006/main" anchorCtr="1"/>
            <a:lstStyle xmlns:a="http://schemas.openxmlformats.org/drawingml/2006/main"/>
            <a:p xmlns:a="http://schemas.openxmlformats.org/drawingml/2006/main">
              <a:pPr>
                <a:defRPr sz="1800" b="0">
                  <a:latin typeface="Arial"/>
                  <a:ea typeface="Arial"/>
                  <a:cs typeface="Arial"/>
                  <a:solidFill>
                    <a:srgbClr val="526970"/>
                  </a:solidFil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819499"/>
            </a:solidFill>
            <a:ln xmlns:a="http://schemas.openxmlformats.org/drawingml/2006/main" w="28575">
              <a:solidFill>
                <a:srgbClr val="819499"/>
              </a:solidFill>
            </a:ln>
          </c:spPr>
          <c:marker>
            <c:symbol val="circle"/>
            <c:size val="8"/>
            <c:spPr>
              <a:solidFill xmlns:a="http://schemas.openxmlformats.org/drawingml/2006/main">
                <a:srgbClr val="819499"/>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mooth val="0"/>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latin typeface="Arial"/>
                    <a:ea typeface="Arial"/>
                    <a:cs typeface="Arial"/>
                    <a:solidFill>
                      <a:srgbClr val="526970"/>
                    </a:solidFill>
                  </a:rPr>
                  <a:t>Top-K results per retriever</a:t>
                </a:r>
              </a:p>
            </c:rich>
          </c:tx>
          <c:overlay val="0"/>
          <c:txPr>
            <a:bodyPr xmlns:a="http://schemas.openxmlformats.org/drawingml/2006/main" anchorCtr="1"/>
            <a:lstStyle xmlns:a="http://schemas.openxmlformats.org/drawingml/2006/main"/>
            <a:p xmlns:a="http://schemas.openxmlformats.org/drawingml/2006/main">
              <a:pPr>
                <a:defRPr sz="1800" b="0">
                  <a:latin typeface="Arial"/>
                  <a:ea typeface="Arial"/>
                  <a:cs typeface="Arial"/>
                  <a:solidFill>
                    <a:srgbClr val="526970"/>
                  </a:solidFill>
                </a:defRPr>
              </a:pPr>
            </a:p>
          </c:txPr>
        </c:title>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Lit>
              <c:formatCode>General</c:formatCode>
              <c:ptCount val="5"/>
              <c:pt idx="0">
                <c:v>0</c:v>
              </c:pt>
              <c:pt idx="1">
                <c:v>210</c:v>
              </c:pt>
              <c:pt idx="2">
                <c:v>210</c:v>
              </c:pt>
              <c:pt idx="3">
                <c:v>210</c:v>
              </c:pt>
              <c:pt idx="4">
                <c:v>210</c:v>
              </c:pt>
            </c:numLit>
          </c:xVal>
          <c:yVal>
            <c:numLit>
              <c:formatCode>0.000</c:formatCode>
              <c:ptCount val="5"/>
              <c:pt idx="0">
                <c:v>0</c:v>
              </c:pt>
              <c:pt idx="1">
                <c:v>0</c:v>
              </c:pt>
              <c:pt idx="2">
                <c:v>0</c:v>
              </c:pt>
              <c:pt idx="3">
                <c:v>0</c:v>
              </c:pt>
              <c:pt idx="4">
                <c:v>0</c:v>
              </c:pt>
            </c:numLit>
          </c:yVal>
          <c:smooth val="0"/>
        </c:ser>
        <c:ser>
          <c:idx val="1"/>
          <c:order val="1"/>
          <c:tx>
            <c:v>RRF minus E5</c:v>
          </c:tx>
          <c:spPr>
            <a:solidFill xmlns:a="http://schemas.openxmlformats.org/drawingml/2006/main">
              <a:srgbClr val="C95236"/>
            </a:solidFill>
            <a:ln xmlns:a="http://schemas.openxmlformats.org/drawingml/2006/main" w="0">
              <a:noFill/>
            </a:ln>
          </c:spPr>
          <c:marker>
            <c:symbol val="circle"/>
            <c:size val="5"/>
            <c:spPr>
              <a:solidFill xmlns:a="http://schemas.openxmlformats.org/drawingml/2006/main">
                <a:srgbClr val="C95236"/>
              </a:solidFill>
              <ns0:ln xmlns:ns0="http://schemas.openxmlformats.org/drawingml/2006/main" w="0">
                <ns0:noFill/>
              </ns0:ln>
            </c:spPr>
          </c:marker>
          <c:errBars>
            <c:errDir val="y"/>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17145">
                <ns0:solidFill>
                  <ns0:srgbClr val="C95236"/>
                </ns0:solidFill>
              </ns0:ln>
            </c:spPr>
          </c:errBars>
          <c:xVal>
            <c:numLit>
              <c:formatCode>General</c:formatCode>
              <c:ptCount val="5"/>
              <c:pt idx="0">
                <c:v>10</c:v>
              </c:pt>
              <c:pt idx="1">
                <c:v>30</c:v>
              </c:pt>
              <c:pt idx="2">
                <c:v>50</c:v>
              </c:pt>
              <c:pt idx="3">
                <c:v>100</c:v>
              </c:pt>
              <c:pt idx="4">
                <c:v>200</c:v>
              </c:pt>
            </c:numLit>
          </c:xVal>
          <c:yVal>
            <c:numLit>
              <c:formatCode>0.000</c:formatCode>
              <c:ptCount val="5"/>
              <c:pt idx="0">
                <c:v>-0.01952103</c:v>
              </c:pt>
              <c:pt idx="1">
                <c:v>0.01085768</c:v>
              </c:pt>
              <c:pt idx="2">
                <c:v>0.00854269</c:v>
              </c:pt>
              <c:pt idx="3">
                <c:v>0.00771191</c:v>
              </c:pt>
              <c:pt idx="4">
                <c:v>0.00883193</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15"/>
          <c:min val="-0.025"/>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latin typeface="Arial"/>
                    <a:ea typeface="Arial"/>
                    <a:cs typeface="Arial"/>
                    <a:solidFill>
                      <a:srgbClr val="526970"/>
                    </a:solidFill>
                  </a:rPr>
                  <a:t>NDCG@10 difference</a:t>
                </a:r>
              </a:p>
            </c:rich>
          </c:tx>
          <c:overlay val="0"/>
          <c:txPr>
            <a:bodyPr xmlns:a="http://schemas.openxmlformats.org/drawingml/2006/main" anchorCtr="1"/>
            <a:lstStyle xmlns:a="http://schemas.openxmlformats.org/drawingml/2006/main"/>
            <a:p xmlns:a="http://schemas.openxmlformats.org/drawingml/2006/main">
              <a:pPr>
                <a:defRPr sz="1800" b="0">
                  <a:latin typeface="Arial"/>
                  <a:ea typeface="Arial"/>
                  <a:cs typeface="Arial"/>
                  <a:solidFill>
                    <a:srgbClr val="526970"/>
                  </a:solidFill>
                </a:defRPr>
              </a:pPr>
            </a:p>
          </c:txPr>
        </c:title>
        <c:numFmt formatCode="+0.0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1"/>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latin typeface="Arial"/>
                    <a:ea typeface="Arial"/>
                    <a:cs typeface="Arial"/>
                    <a:solidFill>
                      <a:srgbClr val="526970"/>
                    </a:solidFil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latin typeface="Arial"/>
                  <a:ea typeface="Arial"/>
                  <a:cs typeface="Arial"/>
                  <a:solidFill>
                    <a:srgbClr val="526970"/>
                  </a:solidFill>
                </a:defRPr>
              </a:pPr>
            </a:p>
          </c:txPr>
        </c:title>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Lit>
              <c:formatCode>General</c:formatCode>
              <c:ptCount val="5"/>
              <c:pt idx="0">
                <c:v>0</c:v>
              </c:pt>
              <c:pt idx="1">
                <c:v>210</c:v>
              </c:pt>
              <c:pt idx="2">
                <c:v>210</c:v>
              </c:pt>
              <c:pt idx="3">
                <c:v>210</c:v>
              </c:pt>
              <c:pt idx="4">
                <c:v>210</c:v>
              </c:pt>
            </c:numLit>
          </c:xVal>
          <c:yVal>
            <c:numLit>
              <c:formatCode>0.000</c:formatCode>
              <c:ptCount val="5"/>
              <c:pt idx="0">
                <c:v>0</c:v>
              </c:pt>
              <c:pt idx="1">
                <c:v>0</c:v>
              </c:pt>
              <c:pt idx="2">
                <c:v>0</c:v>
              </c:pt>
              <c:pt idx="3">
                <c:v>0</c:v>
              </c:pt>
              <c:pt idx="4">
                <c:v>0</c:v>
              </c:pt>
            </c:numLit>
          </c:yVal>
          <c:smooth val="0"/>
        </c:ser>
        <c:ser>
          <c:idx val="1"/>
          <c:order val="1"/>
          <c:tx>
            <c:v>RRF minus E5</c:v>
          </c:tx>
          <c:spPr>
            <a:solidFill xmlns:a="http://schemas.openxmlformats.org/drawingml/2006/main">
              <a:srgbClr val="007F78"/>
            </a:solidFill>
            <a:ln xmlns:a="http://schemas.openxmlformats.org/drawingml/2006/main" w="28575">
              <a:solidFill>
                <a:srgbClr val="007F78"/>
              </a:solidFill>
            </a:ln>
          </c:spPr>
          <c:marker>
            <c:symbol val="circle"/>
            <c:size val="5"/>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17145">
                <ns0:solidFill>
                  <ns0:srgbClr val="007F78"/>
                </ns0:solidFill>
              </ns0:ln>
            </c:spPr>
          </c:errBars>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latin typeface="Arial"/>
                    <a:ea typeface="Arial"/>
                    <a:cs typeface="Arial"/>
                    <a:solidFill>
                      <a:srgbClr val="526970"/>
                    </a:solidFill>
                  </a:rPr>
                  <a:t>NDCG@10 difference</a:t>
                </a:r>
              </a:p>
            </c:rich>
          </c:tx>
          <c:overlay val="0"/>
          <c:txPr>
            <a:bodyPr xmlns:a="http://schemas.openxmlformats.org/drawingml/2006/main" anchorCtr="1"/>
            <a:lstStyle xmlns:a="http://schemas.openxmlformats.org/drawingml/2006/main"/>
            <a:p xmlns:a="http://schemas.openxmlformats.org/drawingml/2006/main">
              <a:pPr>
                <a:defRPr sz="1800" b="0">
                  <a:latin typeface="Arial"/>
                  <a:ea typeface="Arial"/>
                  <a:cs typeface="Arial"/>
                  <a:solidFill>
                    <a:srgbClr val="526970"/>
                  </a:solidFil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latin typeface="Arial"/>
                    <a:ea typeface="Arial"/>
                    <a:cs typeface="Arial"/>
                    <a:solidFill>
                      <a:srgbClr val="526970"/>
                    </a:solidFil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latin typeface="Arial"/>
                  <a:ea typeface="Arial"/>
                  <a:cs typeface="Arial"/>
                  <a:solidFill>
                    <a:srgbClr val="526970"/>
                  </a:solidFill>
                </a:defRPr>
              </a:pPr>
            </a:p>
          </c:txPr>
        </c:title>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718087F4-FBB8-425A-A022-60D950E20DD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4301f7932164f9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BF654D96-346D-4265-B2AB-28987D1FD845}"/>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CE9A4683-2AD2-4C58-82B1-084DD302434B}"/>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DAB9142F-B4C5-463E-AEA0-728C09BB677B}"/>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D3AF7A0D-D83E-40B1-84D0-3BE81C036447}"/>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2C1A46A1-977F-4F3E-B81E-DA858E9A1565}"/>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7995271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56DF468F-1CF0-4226-BE7F-CA3C77E548FA}"/>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771DA07C-EB67-4119-9275-3FC31B86CCC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D7F54887-43AA-4ABD-A2A7-8050744D351C}"/>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L w="0">
                      <a:noFill/>
                    </a:lnL>
                    <a:lnR w="0">
                      <a:noFill/>
                    </a:lnR>
                    <a:lnT w="0">
                      <a:noFill/>
                    </a:lnT>
                    <a:lnB w="7620">
                      <a:solidFill>
                        <a:srgbClr val="D4E1E0"/>
                      </a:solidFill>
                    </a:lnB>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A527C112-6F07-4530-86C3-E41ABFDEFA2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101644162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Human judgments and a larger pool experiment">
            <a:extLst xmlns:a="http://schemas.openxmlformats.org/drawingml/2006/main">
              <a:ext uri="{FF2B5EF4-FFF2-40B4-BE49-F238E27FC236}">
                <a16:creationId xmlns:a16="http://schemas.microsoft.com/office/drawing/2014/main" id="{581E72CE-4366-496D-AF2F-D419AECC761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Human judgments and a larger pool experiment</a:t>
            </a:r>
          </a:p>
        </p:txBody>
      </p:sp>
      <p:sp>
        <p:nvSpPr>
          <p:cNvPr id="2" name="03">
            <a:extLst xmlns:a="http://schemas.openxmlformats.org/drawingml/2006/main">
              <a:ext uri="{FF2B5EF4-FFF2-40B4-BE49-F238E27FC236}">
                <a16:creationId xmlns:a16="http://schemas.microsoft.com/office/drawing/2014/main" id="{50A0F352-5C86-432F-A5A2-4F3FE1BF337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33F6843D-7F19-4E9D-A2AC-97DF524406E8}"/>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A6461A47-A1C9-4433-9DC5-E68304CFED1D}"/>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B684E7D5-737A-4A6C-8D71-95F852FF85CD}"/>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CF8FCA76-653F-4B95-BA5E-B7C949193EAD}"/>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DA2F3156-5C54-4A00-AD63-E625824A2283}"/>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2E7D9766-24F0-4FA4-B212-C87F7ED7FF8B}"/>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3405D6BF-5973-4ECE-9052-37E50603AC1B}"/>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A7F47983-7178-44D2-8F04-DEE869A4E8D7}"/>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4F650705-7801-467C-B711-16119E5077D6}"/>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358D83E6-CD52-4960-83A3-313698C5B57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7121712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7BACCCC0-D06E-424B-84A4-92498D25556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09EE48DE-BB60-44D4-AAFE-6473B6586AD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E8357407-B2A8-455A-B6CA-7728802EDD23}"/>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F9F8F2B1-1C3A-4415-8C35-280639F9F30F}"/>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6BC07766-2EF9-4817-AA19-1E7659E80900}"/>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9DEBEA29-5D8D-4A99-9EEA-567C948DE097}"/>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705225" y="2457450"/>
            <a:ext cx="914400" cy="885825"/>
          </a:xfrm>
          <a:prstGeom xmlns:a="http://schemas.openxmlformats.org/drawingml/2006/main" prst="bentConnector3">
            <a:avLst>
              <a:gd name="adj1" fmla="val 50000"/>
            </a:avLst>
          </a:prstGeom>
          <a:ln xmlns:a="http://schemas.openxmlformats.org/drawingml/2006/main" w="23813">
            <a:solidFill>
              <a:srgbClr val="526970"/>
            </a:solidFill>
            <a:tailEnd type="triangle" w="sm" len="sm"/>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3813">
            <a:solidFill>
              <a:srgbClr val="C95236"/>
            </a:solidFill>
            <a:tailEnd type="triangle" w="sm" len="sm"/>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10" name="Query + candidate +&#10;known relevant answer">
            <a:extLst xmlns:a="http://schemas.openxmlformats.org/drawingml/2006/main">
              <a:ext uri="{FF2B5EF4-FFF2-40B4-BE49-F238E27FC236}">
                <a16:creationId xmlns:a16="http://schemas.microsoft.com/office/drawing/2014/main" id="{8BC2FEF1-30C2-4160-B94A-88424FB12CF0}"/>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835F831A-42AE-4BF6-AB1E-C11BA6A65EBC}"/>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F2583964-B34B-4466-9B32-72A04A78018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160227061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passages within the same pools">
            <a:extLst xmlns:a="http://schemas.openxmlformats.org/drawingml/2006/main">
              <a:ext uri="{FF2B5EF4-FFF2-40B4-BE49-F238E27FC236}">
                <a16:creationId xmlns:a16="http://schemas.microsoft.com/office/drawing/2014/main" id="{08FEE1A6-4BE6-450D-BCE2-42AAD4158B1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passages within the same pools</a:t>
            </a:r>
          </a:p>
        </p:txBody>
      </p:sp>
      <p:sp>
        <p:nvSpPr>
          <p:cNvPr id="2" name="05">
            <a:extLst xmlns:a="http://schemas.openxmlformats.org/drawingml/2006/main">
              <a:ext uri="{FF2B5EF4-FFF2-40B4-BE49-F238E27FC236}">
                <a16:creationId xmlns:a16="http://schemas.microsoft.com/office/drawing/2014/main" id="{252B42EB-BD2C-4D83-A08A-06A61D6938D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Relevant judgments per query">
            <a:extLst xmlns:a="http://schemas.openxmlformats.org/drawingml/2006/main">
              <a:ext uri="{FF2B5EF4-FFF2-40B4-BE49-F238E27FC236}">
                <a16:creationId xmlns:a16="http://schemas.microsoft.com/office/drawing/2014/main" id="{6B8B25C6-9A84-4C7A-A7E3-B9BBEEA9D934}"/>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Relevant judgments per query</a:t>
            </a:r>
          </a:p>
        </p:txBody>
      </p:sp>
      <p:sp>
        <p:nvSpPr>
          <p:cNvPr id="4" name="1.05">
            <a:extLst xmlns:a="http://schemas.openxmlformats.org/drawingml/2006/main">
              <a:ext uri="{FF2B5EF4-FFF2-40B4-BE49-F238E27FC236}">
                <a16:creationId xmlns:a16="http://schemas.microsoft.com/office/drawing/2014/main" id="{47D93EF4-B2F8-4750-909C-DD2C5B5D9674}"/>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819499"/>
                </a:solidFill>
                <a:latin typeface="Arial"/>
                <a:ea typeface="Arial"/>
                <a:cs typeface="Arial"/>
              </a:defRPr>
            </a:pPr>
            <a:r>
              <a:rPr sz="7800" b="1">
                <a:solidFill>
                  <a:srgbClr val="819499"/>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D406680F-C25D-47B0-BB91-82FA5A45A5C3}"/>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D2028740-7C2A-4857-A06B-A06B22B67FA5}"/>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C3D1F0A2-9FCE-43AB-9A8B-0F008AFFDCA5}"/>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F007802F-6E85-4317-9CB5-7D6A04B99077}"/>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E03A7516-EE0C-4EC0-A2E2-3BD987007F56}"/>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67B82823-A931-4597-8E05-FBA852A549EC}"/>
              </a:ext>
            </a:extLst>
          </p:cNvPr>
          <p:cNvSpPr>
            <a:spLocks xmlns:a="http://schemas.openxmlformats.org/drawingml/2006/main" noGrp="1"/>
          </p:cNvSpPr>
          <p:nvPr/>
        </p:nvSpPr>
        <p:spPr>
          <a:xfrm xmlns:a="http://schemas.openxmlformats.org/drawingml/2006/main">
            <a:off x="6705600" y="52959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55E16A8A-0EE6-4008-8613-5A777E833D5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231242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44F20F55-FAA7-43A8-BCFA-BD2AD075A1F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74A45B78-F40C-4168-B856-E4A5F3065BD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cc21ca99c06049f1"/>
          </a:graphicData>
        </a:graphic>
      </p:graphicFrame>
      <p:sp>
        <p:nvSpPr>
          <p:cNvPr id="4" name="E5 paired change: +0.391   95% CI [0.365, 0.417]">
            <a:extLst xmlns:a="http://schemas.openxmlformats.org/drawingml/2006/main">
              <a:ext uri="{FF2B5EF4-FFF2-40B4-BE49-F238E27FC236}">
                <a16:creationId xmlns:a16="http://schemas.microsoft.com/office/drawing/2014/main" id="{CD63C2E1-DE47-465B-99EE-5E4548201164}"/>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DCA2B714-4622-4B77-AFD1-C3511C6B6F7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6500116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C7F586FB-A37E-4D67-A421-F9362B491E0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ACBDE479-6BCD-4483-BC72-6DE41DF6332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F986CEBA-0EEB-4A03-AED0-2105A5E50FC3}"/>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D7763EB1-65EC-4019-AF78-1E44E8C9DA13}"/>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AB59ADEB-4AFC-4CCB-8AB7-C89C58FC4923}"/>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3813">
            <a:solidFill>
              <a:srgbClr val="C95236"/>
            </a:solidFill>
            <a:tailEnd type="triangle" w="sm" len="sm"/>
          </a:ln>
        </p:spPr>
      </p:cxnSp>
      <p:sp>
        <p:nvSpPr>
          <p:cNvPr id="8" name="Jointly scores the two texts">
            <a:extLst xmlns:a="http://schemas.openxmlformats.org/drawingml/2006/main">
              <a:ext uri="{FF2B5EF4-FFF2-40B4-BE49-F238E27FC236}">
                <a16:creationId xmlns:a16="http://schemas.microsoft.com/office/drawing/2014/main" id="{498281D6-F040-4DD1-8777-997FD41526F9}"/>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3FC47C5A-A9C3-43B8-99AA-C1EBE82F153B}"/>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2B070F57-53A8-4BA1-BE5E-7EFAE1D3C283}"/>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The origina">
            <a:extLst xmlns:a="http://schemas.openxmlformats.org/drawingml/2006/main">
              <a:ext uri="{FF2B5EF4-FFF2-40B4-BE49-F238E27FC236}">
                <a16:creationId xmlns:a16="http://schemas.microsoft.com/office/drawing/2014/main" id="{71DB2463-85E7-4CA3-860C-DDB8A799E4F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 The original retrieval rankings remain available.</a:t>
            </a:r>
          </a:p>
        </p:txBody>
      </p:sp>
    </p:spTree>
    <p:extLst>
      <p:ext uri="{BB962C8B-B14F-4D97-AF65-F5344CB8AC3E}">
        <p14:creationId xmlns:p14="http://schemas.microsoft.com/office/powerpoint/2010/main" val="20234761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Judge agreement on held-out queries">
            <a:extLst xmlns:a="http://schemas.openxmlformats.org/drawingml/2006/main">
              <a:ext uri="{FF2B5EF4-FFF2-40B4-BE49-F238E27FC236}">
                <a16:creationId xmlns:a16="http://schemas.microsoft.com/office/drawing/2014/main" id="{3AE29D6B-B8BC-4349-9C64-E69C46373E1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C2DE2180-9ACD-40EF-B7E5-9023C12CB73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1"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a8ae93f2ab7f4ad0"/>
          </a:graphicData>
        </a:graphic>
      </p:graphicFrame>
      <p:sp>
        <p:nvSpPr>
          <p:cNvPr id="4" name="0.907">
            <a:extLst xmlns:a="http://schemas.openxmlformats.org/drawingml/2006/main">
              <a:ext uri="{FF2B5EF4-FFF2-40B4-BE49-F238E27FC236}">
                <a16:creationId xmlns:a16="http://schemas.microsoft.com/office/drawing/2014/main" id="{1EB059B5-DEA7-4296-80FA-A8B527213EB2}"/>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06540498-72AF-414F-9B8E-64F209B0042C}"/>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B1EE9882-1996-4E8E-8EB0-6A3BB45DB1A8}"/>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8BE1D642-A9F1-4A8F-8DAB-A940DE021A0D}"/>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177 held-out queries; 5,002 pairs. Inherited bin">
            <a:extLst xmlns:a="http://schemas.openxmlformats.org/drawingml/2006/main">
              <a:ext uri="{FF2B5EF4-FFF2-40B4-BE49-F238E27FC236}">
                <a16:creationId xmlns:a16="http://schemas.microsoft.com/office/drawing/2014/main" id="{6FEAA548-D3D5-469A-980C-19D6AB265FE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queries; 5,002 pairs. Inherited binary label encoding.</a:t>
            </a:r>
          </a:p>
        </p:txBody>
      </p:sp>
    </p:spTree>
    <p:extLst>
      <p:ext uri="{BB962C8B-B14F-4D97-AF65-F5344CB8AC3E}">
        <p14:creationId xmlns:p14="http://schemas.microsoft.com/office/powerpoint/2010/main" val="11239619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56C90CDA-ED34-4E14-9AF6-D8567D0A248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AF94B0BE-FDC9-4897-A53E-87513048844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FD887AA9-6B77-4751-B3A8-D98F48B4AD15}"/>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0370c2ea5be64c26"/>
          </a:graphicData>
        </a:graphic>
      </p:graphicFrame>
      <p:sp>
        <p:nvSpPr>
          <p:cNvPr id="5" name="451.5">
            <a:extLst xmlns:a="http://schemas.openxmlformats.org/drawingml/2006/main">
              <a:ext uri="{FF2B5EF4-FFF2-40B4-BE49-F238E27FC236}">
                <a16:creationId xmlns:a16="http://schemas.microsoft.com/office/drawing/2014/main" id="{764A8779-7340-4DBB-BBDD-5934DE40A3DD}"/>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819499"/>
                </a:solidFill>
                <a:latin typeface="Arial"/>
                <a:ea typeface="Arial"/>
                <a:cs typeface="Arial"/>
              </a:defRPr>
            </a:pPr>
            <a:r>
              <a:rPr sz="4425" b="1">
                <a:solidFill>
                  <a:srgbClr val="819499"/>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261D6444-209C-4C7B-800B-724B95FEBAB5}"/>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B091C15A-8126-47E6-8483-09F75C06E1B2}"/>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2A91281F-5DB0-4D39-945F-F50A78A6FCDF}"/>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7ADB9DA4-BEA1-4DCD-B2FE-7155B818E68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53563450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RF changes position relative to E5">
            <a:extLst xmlns:a="http://schemas.openxmlformats.org/drawingml/2006/main">
              <a:ext uri="{FF2B5EF4-FFF2-40B4-BE49-F238E27FC236}">
                <a16:creationId xmlns:a16="http://schemas.microsoft.com/office/drawing/2014/main" id="{84EC07C9-D7C3-40FF-A333-686AEC98627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changes position relative to E5</a:t>
            </a:r>
          </a:p>
        </p:txBody>
      </p:sp>
      <p:sp>
        <p:nvSpPr>
          <p:cNvPr id="2" name="10">
            <a:extLst xmlns:a="http://schemas.openxmlformats.org/drawingml/2006/main">
              <a:ext uri="{FF2B5EF4-FFF2-40B4-BE49-F238E27FC236}">
                <a16:creationId xmlns:a16="http://schemas.microsoft.com/office/drawing/2014/main" id="{3BE1411F-46AD-4992-AEE4-8CB62EEDDEC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Assessment depth K = RRF input depth L">
            <a:extLst xmlns:a="http://schemas.openxmlformats.org/drawingml/2006/main">
              <a:ext uri="{FF2B5EF4-FFF2-40B4-BE49-F238E27FC236}">
                <a16:creationId xmlns:a16="http://schemas.microsoft.com/office/drawing/2014/main" id="{254707EE-386F-4145-B3D5-FB7C8711B3EC}"/>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Assessment depth K = RRF input depth L</a:t>
            </a:r>
          </a:p>
        </p:txBody>
      </p:sp>
      <p:graphicFrame>
        <p:nvGraphicFramePr>
          <p:cNvPr id="15" name="Chart"/>
          <p:cNvGraphicFramePr/>
          <p:nvPr/>
        </p:nvGraphicFramePr>
        <p:xfrm>
          <a:off xmlns:a="http://schemas.openxmlformats.org/drawingml/2006/main" x="609600" y="2305050"/>
          <a:ext xmlns:a="http://schemas.openxmlformats.org/drawingml/2006/main" cx="8086725" cy="3409950"/>
        </p:xfrm>
        <a:graphic xmlns:a="http://schemas.openxmlformats.org/drawingml/2006/main">
          <a:graphicData uri="http://schemas.openxmlformats.org/drawingml/2006/chart">
            <c:chart xmlns:r="http://schemas.openxmlformats.org/officeDocument/2006/relationships" xmlns:c="http://schemas.openxmlformats.org/drawingml/2006/chart" r:id="Rb91861c2c4be425a"/>
          </a:graphicData>
        </a:graphic>
      </p:graphicFrame>
      <p:sp>
        <p:nvSpPr>
          <p:cNvPr id="5" name="E5 higher">
            <a:extLst xmlns:a="http://schemas.openxmlformats.org/drawingml/2006/main">
              <a:ext uri="{FF2B5EF4-FFF2-40B4-BE49-F238E27FC236}">
                <a16:creationId xmlns:a16="http://schemas.microsoft.com/office/drawing/2014/main" id="{90DC1885-0F12-4A9B-87E5-8AEB8C27DA82}"/>
              </a:ext>
            </a:extLst>
          </p:cNvPr>
          <p:cNvSpPr>
            <a:spLocks xmlns:a="http://schemas.openxmlformats.org/drawingml/2006/main" noGrp="1"/>
          </p:cNvSpPr>
          <p:nvPr/>
        </p:nvSpPr>
        <p:spPr>
          <a:xfrm xmlns:a="http://schemas.openxmlformats.org/drawingml/2006/main">
            <a:off x="9182100" y="2495550"/>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E5 higher</a:t>
            </a:r>
          </a:p>
        </p:txBody>
      </p:sp>
      <p:sp>
        <p:nvSpPr>
          <p:cNvPr id="6" name="−0.0195">
            <a:extLst xmlns:a="http://schemas.openxmlformats.org/drawingml/2006/main">
              <a:ext uri="{FF2B5EF4-FFF2-40B4-BE49-F238E27FC236}">
                <a16:creationId xmlns:a16="http://schemas.microsoft.com/office/drawing/2014/main" id="{C635B9CD-1B83-44C8-BF26-F9C3F0692CC0}"/>
              </a:ext>
            </a:extLst>
          </p:cNvPr>
          <p:cNvSpPr>
            <a:spLocks xmlns:a="http://schemas.openxmlformats.org/drawingml/2006/main" noGrp="1"/>
          </p:cNvSpPr>
          <p:nvPr/>
        </p:nvSpPr>
        <p:spPr>
          <a:xfrm xmlns:a="http://schemas.openxmlformats.org/drawingml/2006/main">
            <a:off x="9182100" y="2952750"/>
            <a:ext cx="240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C95236"/>
                </a:solidFill>
                <a:latin typeface="Arial"/>
                <a:ea typeface="Arial"/>
                <a:cs typeface="Arial"/>
              </a:defRPr>
            </a:pPr>
            <a:r>
              <a:rPr sz="3600" b="1">
                <a:solidFill>
                  <a:srgbClr val="C95236"/>
                </a:solidFill>
                <a:latin typeface="Arial"/>
                <a:ea typeface="Arial"/>
                <a:cs typeface="Arial"/>
              </a:rPr>
              <a:t>−0.0195</a:t>
            </a:r>
          </a:p>
        </p:txBody>
      </p:sp>
      <p:sp>
        <p:nvSpPr>
          <p:cNvPr id="7" name="K = 10">
            <a:extLst xmlns:a="http://schemas.openxmlformats.org/drawingml/2006/main">
              <a:ext uri="{FF2B5EF4-FFF2-40B4-BE49-F238E27FC236}">
                <a16:creationId xmlns:a16="http://schemas.microsoft.com/office/drawing/2014/main" id="{3B03DDAC-8269-4835-9922-0D967CB71135}"/>
              </a:ext>
            </a:extLst>
          </p:cNvPr>
          <p:cNvSpPr>
            <a:spLocks xmlns:a="http://schemas.openxmlformats.org/drawingml/2006/main" noGrp="1"/>
          </p:cNvSpPr>
          <p:nvPr/>
        </p:nvSpPr>
        <p:spPr>
          <a:xfrm xmlns:a="http://schemas.openxmlformats.org/drawingml/2006/main">
            <a:off x="9182100" y="3600450"/>
            <a:ext cx="2400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970"/>
                </a:solidFill>
                <a:latin typeface="Arial"/>
                <a:ea typeface="Arial"/>
                <a:cs typeface="Arial"/>
              </a:defRPr>
            </a:pPr>
            <a:r>
              <a:rPr sz="1800" b="0">
                <a:solidFill>
                  <a:srgbClr val="526970"/>
                </a:solidFill>
                <a:latin typeface="Arial"/>
                <a:ea typeface="Arial"/>
                <a:cs typeface="Arial"/>
              </a:rPr>
              <a:t>K = 10</a:t>
            </a:r>
          </a:p>
        </p:txBody>
      </p:sp>
      <p:sp>
        <p:nvSpPr>
          <p:cNvPr id="8" name="RRF higher">
            <a:extLst xmlns:a="http://schemas.openxmlformats.org/drawingml/2006/main">
              <a:ext uri="{FF2B5EF4-FFF2-40B4-BE49-F238E27FC236}">
                <a16:creationId xmlns:a16="http://schemas.microsoft.com/office/drawing/2014/main" id="{CC7D160E-B2B9-4BA0-A50F-C910CFCB1B5B}"/>
              </a:ext>
            </a:extLst>
          </p:cNvPr>
          <p:cNvSpPr>
            <a:spLocks xmlns:a="http://schemas.openxmlformats.org/drawingml/2006/main" noGrp="1"/>
          </p:cNvSpPr>
          <p:nvPr/>
        </p:nvSpPr>
        <p:spPr>
          <a:xfrm xmlns:a="http://schemas.openxmlformats.org/drawingml/2006/main">
            <a:off x="9182100" y="4210050"/>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RRF higher</a:t>
            </a:r>
          </a:p>
        </p:txBody>
      </p:sp>
      <p:sp>
        <p:nvSpPr>
          <p:cNvPr id="9" name="+0.0088">
            <a:extLst xmlns:a="http://schemas.openxmlformats.org/drawingml/2006/main">
              <a:ext uri="{FF2B5EF4-FFF2-40B4-BE49-F238E27FC236}">
                <a16:creationId xmlns:a16="http://schemas.microsoft.com/office/drawing/2014/main" id="{2F257412-A1A9-4FE4-90C8-FAF1E9A7EC8C}"/>
              </a:ext>
            </a:extLst>
          </p:cNvPr>
          <p:cNvSpPr>
            <a:spLocks xmlns:a="http://schemas.openxmlformats.org/drawingml/2006/main" noGrp="1"/>
          </p:cNvSpPr>
          <p:nvPr/>
        </p:nvSpPr>
        <p:spPr>
          <a:xfrm xmlns:a="http://schemas.openxmlformats.org/drawingml/2006/main">
            <a:off x="9182100" y="4667250"/>
            <a:ext cx="240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C95236"/>
                </a:solidFill>
                <a:latin typeface="Arial"/>
                <a:ea typeface="Arial"/>
                <a:cs typeface="Arial"/>
              </a:defRPr>
            </a:pPr>
            <a:r>
              <a:rPr sz="3600" b="1">
                <a:solidFill>
                  <a:srgbClr val="C95236"/>
                </a:solidFill>
                <a:latin typeface="Arial"/>
                <a:ea typeface="Arial"/>
                <a:cs typeface="Arial"/>
              </a:rPr>
              <a:t>+0.0088</a:t>
            </a:r>
          </a:p>
        </p:txBody>
      </p:sp>
      <p:sp>
        <p:nvSpPr>
          <p:cNvPr id="10" name="K = 200">
            <a:extLst xmlns:a="http://schemas.openxmlformats.org/drawingml/2006/main">
              <a:ext uri="{FF2B5EF4-FFF2-40B4-BE49-F238E27FC236}">
                <a16:creationId xmlns:a16="http://schemas.microsoft.com/office/drawing/2014/main" id="{151322FD-A918-4DBF-B34E-9218A3E25CDE}"/>
              </a:ext>
            </a:extLst>
          </p:cNvPr>
          <p:cNvSpPr>
            <a:spLocks xmlns:a="http://schemas.openxmlformats.org/drawingml/2006/main" noGrp="1"/>
          </p:cNvSpPr>
          <p:nvPr/>
        </p:nvSpPr>
        <p:spPr>
          <a:xfrm xmlns:a="http://schemas.openxmlformats.org/drawingml/2006/main">
            <a:off x="9182100" y="5314950"/>
            <a:ext cx="2400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970"/>
                </a:solidFill>
                <a:latin typeface="Arial"/>
                <a:ea typeface="Arial"/>
                <a:cs typeface="Arial"/>
              </a:defRPr>
            </a:pPr>
            <a:r>
              <a:rPr sz="1800" b="0">
                <a:solidFill>
                  <a:srgbClr val="526970"/>
                </a:solidFill>
                <a:latin typeface="Arial"/>
                <a:ea typeface="Arial"/>
                <a:cs typeface="Arial"/>
              </a:rPr>
              <a:t>K = 200</a:t>
            </a:r>
          </a:p>
        </p:txBody>
      </p:sp>
      <p:sp>
        <p:nvSpPr>
          <p:cNvPr id="11" name="Single-judge pseudo-labels. Points with 95% pair">
            <a:extLst xmlns:a="http://schemas.openxmlformats.org/drawingml/2006/main">
              <a:ext uri="{FF2B5EF4-FFF2-40B4-BE49-F238E27FC236}">
                <a16:creationId xmlns:a16="http://schemas.microsoft.com/office/drawing/2014/main" id="{833FC51B-2032-4738-8E2A-8E745547319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Points with 95% paired query-bootstrap intervals.</a:t>
            </a:r>
          </a:p>
        </p:txBody>
      </p:sp>
    </p:spTree>
    <p:extLst>
      <p:ext uri="{BB962C8B-B14F-4D97-AF65-F5344CB8AC3E}">
        <p14:creationId xmlns:p14="http://schemas.microsoft.com/office/powerpoint/2010/main" val="14045860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ssessment coverage can reverse a comparison">
            <a:extLst xmlns:a="http://schemas.openxmlformats.org/drawingml/2006/main">
              <a:ext uri="{FF2B5EF4-FFF2-40B4-BE49-F238E27FC236}">
                <a16:creationId xmlns:a16="http://schemas.microsoft.com/office/drawing/2014/main" id="{C7AB256F-2143-4F8D-981E-A7FDE3C4F7B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Assessment coverage can reverse a comparison</a:t>
            </a:r>
          </a:p>
        </p:txBody>
      </p:sp>
      <p:sp>
        <p:nvSpPr>
          <p:cNvPr id="2" name="11">
            <a:extLst xmlns:a="http://schemas.openxmlformats.org/drawingml/2006/main">
              <a:ext uri="{FF2B5EF4-FFF2-40B4-BE49-F238E27FC236}">
                <a16:creationId xmlns:a16="http://schemas.microsoft.com/office/drawing/2014/main" id="{186E3D45-4700-4392-8C86-82B0044916E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output rankings ">
            <a:extLst xmlns:a="http://schemas.openxmlformats.org/drawingml/2006/main">
              <a:ext uri="{FF2B5EF4-FFF2-40B4-BE49-F238E27FC236}">
                <a16:creationId xmlns:a16="http://schemas.microsoft.com/office/drawing/2014/main" id="{DCF07B66-0765-41DE-8F59-63AEC75BDB9F}"/>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output rankings stay unchanged.</a:t>
            </a:r>
          </a:p>
        </p:txBody>
      </p:sp>
      <p:graphicFrame>
        <p:nvGraphicFramePr>
          <p:cNvPr id="12" name="Chart"/>
          <p:cNvGraphicFramePr/>
          <p:nvPr/>
        </p:nvGraphicFramePr>
        <p:xfrm>
          <a:off xmlns:a="http://schemas.openxmlformats.org/drawingml/2006/main" x="609600" y="2667000"/>
          <a:ext xmlns:a="http://schemas.openxmlformats.org/drawingml/2006/main" cx="7829550" cy="3009900"/>
        </p:xfrm>
        <a:graphic xmlns:a="http://schemas.openxmlformats.org/drawingml/2006/main">
          <a:graphicData uri="http://schemas.openxmlformats.org/drawingml/2006/chart">
            <c:chart xmlns:r="http://schemas.openxmlformats.org/officeDocument/2006/relationships" xmlns:c="http://schemas.openxmlformats.org/drawingml/2006/chart" r:id="R019813b7a5ee4190"/>
          </a:graphicData>
        </a:graphic>
      </p:graphicFrame>
      <p:sp>
        <p:nvSpPr>
          <p:cNvPr id="5" name="14.4%">
            <a:extLst xmlns:a="http://schemas.openxmlformats.org/drawingml/2006/main">
              <a:ext uri="{FF2B5EF4-FFF2-40B4-BE49-F238E27FC236}">
                <a16:creationId xmlns:a16="http://schemas.microsoft.com/office/drawing/2014/main" id="{846AC1B4-EA9B-4866-AEBC-15E124BED664}"/>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eturned RRF pairs&#10;outside the pool&#10;at K = 10">
            <a:extLst xmlns:a="http://schemas.openxmlformats.org/drawingml/2006/main">
              <a:ext uri="{FF2B5EF4-FFF2-40B4-BE49-F238E27FC236}">
                <a16:creationId xmlns:a16="http://schemas.microsoft.com/office/drawing/2014/main" id="{AD358E0F-EFFA-488B-9308-FFC5836BFD1D}"/>
              </a:ext>
            </a:extLst>
          </p:cNvPr>
          <p:cNvSpPr>
            <a:spLocks xmlns:a="http://schemas.openxmlformats.org/drawingml/2006/main" noGrp="1"/>
          </p:cNvSpPr>
          <p:nvPr/>
        </p:nvSpPr>
        <p:spPr>
          <a:xfrm xmlns:a="http://schemas.openxmlformats.org/drawingml/2006/main">
            <a:off x="8963025" y="37052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returned RRF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A454C499-F699-4F98-938F-DABCDDA5AF62}"/>
              </a:ext>
            </a:extLst>
          </p:cNvPr>
          <p:cNvSpPr>
            <a:spLocks xmlns:a="http://schemas.openxmlformats.org/drawingml/2006/main" noGrp="1"/>
          </p:cNvSpPr>
          <p:nvPr/>
        </p:nvSpPr>
        <p:spPr>
          <a:xfrm xmlns:a="http://schemas.openxmlformats.org/drawingml/2006/main">
            <a:off x="8963025" y="51720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RRF minus E5 under pseudo-labels. Unjudged retur">
            <a:extLst xmlns:a="http://schemas.openxmlformats.org/drawingml/2006/main">
              <a:ext uri="{FF2B5EF4-FFF2-40B4-BE49-F238E27FC236}">
                <a16:creationId xmlns:a16="http://schemas.microsoft.com/office/drawing/2014/main" id="{972846AA-8E36-460F-928B-2EFD23C8971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212797424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AF438FCD-A4C9-457E-8D9A-9F8C5BEC3C2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D97BA186-E2EE-4F59-A830-CCD33D61AC0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2D0203E1-1E69-414F-BE9F-206E3C8EE98F}"/>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Comparison directions unchanged</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8AAF63C-4F2C-40C0-9B89-16749B4E59EB}"/>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4E7828B5-D09D-46A0-B7CF-AA36BB154150}"/>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90713591-553A-434C-963C-E6B6DF00CE2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1488193515"/>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32C6E084-5E17-4DFD-AAA1-E2271BADE511}"/>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A048CC42-A51C-483B-A7B9-AE6DB0AD417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7A14A0A7-EAE4-4A6F-8B4F-EF503496D2E7}"/>
              </a:ext>
            </a:extLst>
          </p:cNvPr>
          <p:cNvSpPr>
            <a:spLocks xmlns:a="http://schemas.openxmlformats.org/drawingml/2006/main" noGrp="1"/>
          </p:cNvSpPr>
          <p:nvPr/>
        </p:nvSpPr>
        <p:spPr>
          <a:xfrm xmlns:a="http://schemas.openxmlformats.org/drawingml/2006/main">
            <a:off x="609600" y="220980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0.488 to 0.879">
            <a:extLst xmlns:a="http://schemas.openxmlformats.org/drawingml/2006/main">
              <a:ext uri="{FF2B5EF4-FFF2-40B4-BE49-F238E27FC236}">
                <a16:creationId xmlns:a16="http://schemas.microsoft.com/office/drawing/2014/main" id="{D9CE3C21-0E25-4313-878E-8C4E0270E9CA}"/>
              </a:ext>
            </a:extLst>
          </p:cNvPr>
          <p:cNvSpPr>
            <a:spLocks xmlns:a="http://schemas.openxmlformats.org/drawingml/2006/main" noGrp="1"/>
          </p:cNvSpPr>
          <p:nvPr/>
        </p:nvSpPr>
        <p:spPr>
          <a:xfrm xmlns:a="http://schemas.openxmlformats.org/drawingml/2006/main">
            <a:off x="609600" y="287655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0.488 to 0.879</a:t>
            </a:r>
          </a:p>
        </p:txBody>
      </p:sp>
      <p:sp>
        <p:nvSpPr>
          <p:cNvPr id="5" name="Same ranking; more complete relevance judgments">
            <a:extLst xmlns:a="http://schemas.openxmlformats.org/drawingml/2006/main">
              <a:ext uri="{FF2B5EF4-FFF2-40B4-BE49-F238E27FC236}">
                <a16:creationId xmlns:a16="http://schemas.microsoft.com/office/drawing/2014/main" id="{B3C0B73A-7CB9-447F-855E-5E2DD38DEE52}"/>
              </a:ext>
            </a:extLst>
          </p:cNvPr>
          <p:cNvSpPr>
            <a:spLocks xmlns:a="http://schemas.openxmlformats.org/drawingml/2006/main" noGrp="1"/>
          </p:cNvSpPr>
          <p:nvPr/>
        </p:nvSpPr>
        <p:spPr>
          <a:xfrm xmlns:a="http://schemas.openxmlformats.org/drawingml/2006/main">
            <a:off x="609600" y="37052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4E08F354-973C-42F9-AD89-619D0F0F14B5}"/>
              </a:ext>
            </a:extLst>
          </p:cNvPr>
          <p:cNvSpPr>
            <a:spLocks xmlns:a="http://schemas.openxmlformats.org/drawingml/2006/main" noGrp="1"/>
          </p:cNvSpPr>
          <p:nvPr/>
        </p:nvSpPr>
        <p:spPr>
          <a:xfrm xmlns:a="http://schemas.openxmlformats.org/drawingml/2006/main">
            <a:off x="609600" y="448627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RF and E5 rankings">
            <a:extLst xmlns:a="http://schemas.openxmlformats.org/drawingml/2006/main">
              <a:ext uri="{FF2B5EF4-FFF2-40B4-BE49-F238E27FC236}">
                <a16:creationId xmlns:a16="http://schemas.microsoft.com/office/drawing/2014/main" id="{77BDCB88-8929-488B-8A84-A02723419BEC}"/>
              </a:ext>
            </a:extLst>
          </p:cNvPr>
          <p:cNvSpPr>
            <a:spLocks xmlns:a="http://schemas.openxmlformats.org/drawingml/2006/main" noGrp="1"/>
          </p:cNvSpPr>
          <p:nvPr/>
        </p:nvSpPr>
        <p:spPr>
          <a:xfrm xmlns:a="http://schemas.openxmlformats.org/drawingml/2006/main">
            <a:off x="609600" y="48672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RRF and E5 rankings</a:t>
            </a:r>
          </a:p>
        </p:txBody>
      </p:sp>
      <p:sp>
        <p:nvSpPr>
          <p:cNvPr id="8" name="Assessment coverage alone can change their order">
            <a:extLst xmlns:a="http://schemas.openxmlformats.org/drawingml/2006/main">
              <a:ext uri="{FF2B5EF4-FFF2-40B4-BE49-F238E27FC236}">
                <a16:creationId xmlns:a16="http://schemas.microsoft.com/office/drawing/2014/main" id="{49707AAE-442D-49D6-A4EC-3EDDC63349AA}"/>
              </a:ext>
            </a:extLst>
          </p:cNvPr>
          <p:cNvSpPr>
            <a:spLocks xmlns:a="http://schemas.openxmlformats.org/drawingml/2006/main" noGrp="1"/>
          </p:cNvSpPr>
          <p:nvPr/>
        </p:nvSpPr>
        <p:spPr>
          <a:xfrm xmlns:a="http://schemas.openxmlformats.org/drawingml/2006/main">
            <a:off x="609600" y="54959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Assessment coverage alone can change their order</a:t>
            </a:r>
          </a:p>
        </p:txBody>
      </p:sp>
      <p:sp>
        <p:nvSpPr>
          <p:cNvPr id="9" name="English MS MARCO; human judgments and single-jud">
            <a:extLst xmlns:a="http://schemas.openxmlformats.org/drawingml/2006/main">
              <a:ext uri="{FF2B5EF4-FFF2-40B4-BE49-F238E27FC236}">
                <a16:creationId xmlns:a16="http://schemas.microsoft.com/office/drawing/2014/main" id="{CF12BCB4-F820-47B0-B8A8-937381D248A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English MS MARCO; human judgments and single-judge pseudo-labels.</a:t>
            </a:r>
          </a:p>
        </p:txBody>
      </p:sp>
    </p:spTree>
    <p:extLst>
      <p:ext uri="{BB962C8B-B14F-4D97-AF65-F5344CB8AC3E}">
        <p14:creationId xmlns:p14="http://schemas.microsoft.com/office/powerpoint/2010/main" val="56148071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A9042DC8-2AAE-4BD4-A1B1-9A86973A3CA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035C9F8A-781D-48B1-878F-E6DB66C772F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1808CB2A-4623-4D7E-AEE2-F310D0582BC3}"/>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3ADEF86D-13BB-4B9E-839D-D70B73F4C88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192842267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Judge test protocol and observed errors">
            <a:extLst xmlns:a="http://schemas.openxmlformats.org/drawingml/2006/main">
              <a:ext uri="{FF2B5EF4-FFF2-40B4-BE49-F238E27FC236}">
                <a16:creationId xmlns:a16="http://schemas.microsoft.com/office/drawing/2014/main" id="{6206932B-6D56-4BB8-B06C-2BA844E7BB1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EC4BFFC6-9420-4156-8EB7-7B84A5087D2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825 / 177 / 177 queries">
            <a:extLst xmlns:a="http://schemas.openxmlformats.org/drawingml/2006/main">
              <a:ext uri="{FF2B5EF4-FFF2-40B4-BE49-F238E27FC236}">
                <a16:creationId xmlns:a16="http://schemas.microsoft.com/office/drawing/2014/main" id="{35E9AA7A-4EE8-4E03-93E9-E5F0A6B136D4}"/>
              </a:ext>
            </a:extLst>
          </p:cNvPr>
          <p:cNvSpPr>
            <a:spLocks xmlns:a="http://schemas.openxmlformats.org/drawingml/2006/main" noGrp="1"/>
          </p:cNvSpPr>
          <p:nvPr/>
        </p:nvSpPr>
        <p:spPr>
          <a:xfrm xmlns:a="http://schemas.openxmlformats.org/drawingml/2006/main">
            <a:off x="609600" y="17526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F78"/>
                </a:solidFill>
                <a:latin typeface="Arial"/>
                <a:ea typeface="Arial"/>
                <a:cs typeface="Arial"/>
              </a:defRPr>
            </a:pPr>
            <a:r>
              <a:rPr sz="2625" b="1">
                <a:solidFill>
                  <a:srgbClr val="007F78"/>
                </a:solidFill>
                <a:latin typeface="Arial"/>
                <a:ea typeface="Arial"/>
                <a:cs typeface="Arial"/>
              </a:rPr>
              <a:t>825 / 177 / 177 queries</a:t>
            </a:r>
          </a:p>
        </p:txBody>
      </p:sp>
      <p:sp>
        <p:nvSpPr>
          <p:cNvPr id="4" name="Train / validation / test">
            <a:extLst xmlns:a="http://schemas.openxmlformats.org/drawingml/2006/main">
              <a:ext uri="{FF2B5EF4-FFF2-40B4-BE49-F238E27FC236}">
                <a16:creationId xmlns:a16="http://schemas.microsoft.com/office/drawing/2014/main" id="{151C0096-DC42-4108-B283-E2E2CCF58511}"/>
              </a:ext>
            </a:extLst>
          </p:cNvPr>
          <p:cNvSpPr>
            <a:spLocks xmlns:a="http://schemas.openxmlformats.org/drawingml/2006/main" noGrp="1"/>
          </p:cNvSpPr>
          <p:nvPr/>
        </p:nvSpPr>
        <p:spPr>
          <a:xfrm xmlns:a="http://schemas.openxmlformats.org/drawingml/2006/main">
            <a:off x="609600" y="2286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Train / validation / test</a:t>
            </a:r>
          </a:p>
        </p:txBody>
      </p:sp>
      <p:graphicFrame>
        <p:nvGraphicFramePr>
          <p:cNvPr id="1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Negative under inherited mapping</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0">
                          <a:solidFill>
                            <a:srgbClr val="182B30"/>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FFFFF"/>
                    </a:solidFill>
                  </a:tcPr>
                </a:tc>
              </a:tr>
              <a:tr h="714375">
                <a:tc>
                  <a:txBody>
                    <a:bodyPr lIns="171450" tIns="95250" rIns="171450" bIns="95250">
                      <a:noAutofit/>
                    </a:bodyPr>
                    <a:lstStyle/>
                    <a:p>
                      <a:r>
                        <a:rPr sz="2025" b="0">
                          <a:solidFill>
                            <a:srgbClr val="182B30"/>
                          </a:solidFill>
                          <a:latin typeface="Arial"/>
                          <a:ea typeface="Arial"/>
                          <a:cs typeface="Arial"/>
                        </a:rPr>
                        <a:t>Positive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6" name="Precision 0.851    Recall 0.902    F1 0.875">
            <a:extLst xmlns:a="http://schemas.openxmlformats.org/drawingml/2006/main">
              <a:ext uri="{FF2B5EF4-FFF2-40B4-BE49-F238E27FC236}">
                <a16:creationId xmlns:a16="http://schemas.microsoft.com/office/drawing/2014/main" id="{E369D995-ACB7-4518-A497-6B4B91E57028}"/>
              </a:ext>
            </a:extLst>
          </p:cNvPr>
          <p:cNvSpPr>
            <a:spLocks xmlns:a="http://schemas.openxmlformats.org/drawingml/2006/main" noGrp="1"/>
          </p:cNvSpPr>
          <p:nvPr/>
        </p:nvSpPr>
        <p:spPr>
          <a:xfrm xmlns:a="http://schemas.openxmlformats.org/drawingml/2006/main">
            <a:off x="609600" y="55245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    Recall 0.902    F1 0.875</a:t>
            </a:r>
          </a:p>
        </p:txBody>
      </p:sp>
      <p:sp>
        <p:nvSpPr>
          <p:cNvPr id="7" name="5,002 pairs; six unresolved targets mapped to ze">
            <a:extLst xmlns:a="http://schemas.openxmlformats.org/drawingml/2006/main">
              <a:ext uri="{FF2B5EF4-FFF2-40B4-BE49-F238E27FC236}">
                <a16:creationId xmlns:a16="http://schemas.microsoft.com/office/drawing/2014/main" id="{55688ED0-B5BF-47FC-A693-A429888A9BB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129375852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979AA3F9-3882-45C6-A6A6-CC03C58D209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A4A08DCA-E640-44DC-A620-200B51EE3E8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RRF L=K</a:t>
                      </a:r>
                    </a:p>
                    <a:p>
                      <a:r>
                        <a:rPr sz="1650" b="1">
                          <a:solidFill>
                            <a:srgbClr val="526970"/>
                          </a:solidFill>
                          <a:latin typeface="Arial"/>
                          <a:ea typeface="Arial"/>
                          <a:cs typeface="Arial"/>
                        </a:rPr>
                        <a:t>NDCG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RRF L=200</a:t>
                      </a:r>
                    </a:p>
                    <a:p>
                      <a:r>
                        <a:rPr sz="1650" b="1">
                          <a:solidFill>
                            <a:srgbClr val="526970"/>
                          </a:solidFill>
                          <a:latin typeface="Arial"/>
                          <a:ea typeface="Arial"/>
                          <a:cs typeface="Arial"/>
                        </a:rPr>
                        <a:t>NDCG</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C1BD201D-957E-4F26-B874-C315CFFA34B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204051149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nsitivity to query exclusions">
            <a:extLst xmlns:a="http://schemas.openxmlformats.org/drawingml/2006/main">
              <a:ext uri="{FF2B5EF4-FFF2-40B4-BE49-F238E27FC236}">
                <a16:creationId xmlns:a16="http://schemas.microsoft.com/office/drawing/2014/main" id="{1E244BD0-A1D3-4C5E-9C0F-9F606C96D78D}"/>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2F8C66B1-287D-4E6E-BEAF-8EB670D0B51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graphicFrame>
        <p:nvGraphicFramePr>
          <p:cNvPr id="9" name=""/>
          <p:cNvGraphicFramePr/>
          <p:nvPr/>
        </p:nvGraphicFramePr>
        <p:xfrm>
          <a:off xmlns:a="http://schemas.openxmlformats.org/drawingml/2006/main" x="609600" y="19145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Clean 1,156 queries</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Full set without manual queries: N = 99,914">
            <a:extLst xmlns:a="http://schemas.openxmlformats.org/drawingml/2006/main">
              <a:ext uri="{FF2B5EF4-FFF2-40B4-BE49-F238E27FC236}">
                <a16:creationId xmlns:a16="http://schemas.microsoft.com/office/drawing/2014/main" id="{FEB2278A-D2CC-481A-80BD-54F48BA85437}"/>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5" name="At K = 200: RRF − E5 = +0.00877">
            <a:extLst xmlns:a="http://schemas.openxmlformats.org/drawingml/2006/main">
              <a:ext uri="{FF2B5EF4-FFF2-40B4-BE49-F238E27FC236}">
                <a16:creationId xmlns:a16="http://schemas.microsoft.com/office/drawing/2014/main" id="{7F2CA126-8095-4015-99DE-858B1949ACD0}"/>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6" name="Exclusion checks preserve the observed direction">
            <a:extLst xmlns:a="http://schemas.openxmlformats.org/drawingml/2006/main">
              <a:ext uri="{FF2B5EF4-FFF2-40B4-BE49-F238E27FC236}">
                <a16:creationId xmlns:a16="http://schemas.microsoft.com/office/drawing/2014/main" id="{D9D3EB5B-0D5C-4314-A7BB-00A17788FD1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preserve the observed directions, not independent human validity.</a:t>
            </a:r>
          </a:p>
        </p:txBody>
      </p:sp>
    </p:spTree>
    <p:extLst>
      <p:ext uri="{BB962C8B-B14F-4D97-AF65-F5344CB8AC3E}">
        <p14:creationId xmlns:p14="http://schemas.microsoft.com/office/powerpoint/2010/main" val="135961548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7B9A9327-3BA3-4DE5-B367-E343E767439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495B3367-3609-4D64-B8FC-1EEBB0D5249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D1756CB9-6B1A-4A0E-B6C4-D9EDD5EB493C}"/>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AC4A160C-F0C0-4212-99A4-60E95DA0BA07}"/>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3FFDF14D-78A7-4AD2-A82A-DD3EAC8534CC}"/>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7" name="Compare stronger judges against independent huma">
            <a:extLst xmlns:a="http://schemas.openxmlformats.org/drawingml/2006/main">
              <a:ext uri="{FF2B5EF4-FFF2-40B4-BE49-F238E27FC236}">
                <a16:creationId xmlns:a16="http://schemas.microsoft.com/office/drawing/2014/main" id="{8E7F21C3-44CD-4497-AD39-DC2621FB958A}"/>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9EF7750B-0718-4142-BE53-73A031C0C83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6229744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