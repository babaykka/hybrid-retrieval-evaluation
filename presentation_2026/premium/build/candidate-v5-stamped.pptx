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d8eb2b39d8874822"/><Relationship Type="http://schemas.openxmlformats.org/officeDocument/2006/relationships/extended-properties" Target="/docProps/app.xml" Id="R002f85ace5184e53"/><Relationship Type="http://schemas.openxmlformats.org/officeDocument/2006/relationships/officeDocument" Target="/ppt/presentation.xml" Id="Rebee09f8b34f4efe"/></Relationships>
</file>

<file path=ppt/presentation.xml><?xml version="1.0" encoding="utf-8"?>
<p:presentation xmlns:p="http://schemas.openxmlformats.org/presentationml/2006/main">
  <p:sldMasterIdLst>
    <p:sldMasterId xmlns:r="http://schemas.openxmlformats.org/officeDocument/2006/relationships" id="2147483648" r:id="Re01e9b3f151f423c"/>
  </p:sldMasterIdLst>
  <p:notesMasterIdLst>
    <p:notesMasterId xmlns:r="http://schemas.openxmlformats.org/officeDocument/2006/relationships" r:id="R1e47b489aaa1435a"/>
  </p:notesMasterIdLst>
  <p:sldIdLst>
    <p:sldId xmlns:r="http://schemas.openxmlformats.org/officeDocument/2006/relationships" id="256" r:id="R7554f598634546b0"/>
    <p:sldId xmlns:r="http://schemas.openxmlformats.org/officeDocument/2006/relationships" id="257" r:id="R428591fa8a544c72"/>
    <p:sldId xmlns:r="http://schemas.openxmlformats.org/officeDocument/2006/relationships" id="258" r:id="R95c4450df69e4c7b"/>
    <p:sldId xmlns:r="http://schemas.openxmlformats.org/officeDocument/2006/relationships" id="259" r:id="R16bd2d67f74c4766"/>
    <p:sldId xmlns:r="http://schemas.openxmlformats.org/officeDocument/2006/relationships" id="260" r:id="R1249756c351e4738"/>
    <p:sldId xmlns:r="http://schemas.openxmlformats.org/officeDocument/2006/relationships" id="261" r:id="Ra95cb1a1350a4b6f"/>
    <p:sldId xmlns:r="http://schemas.openxmlformats.org/officeDocument/2006/relationships" id="262" r:id="Rc48efe144bd74c41"/>
    <p:sldId xmlns:r="http://schemas.openxmlformats.org/officeDocument/2006/relationships" id="263" r:id="R964e41e0827945a0"/>
    <p:sldId xmlns:r="http://schemas.openxmlformats.org/officeDocument/2006/relationships" id="264" r:id="R26d149a8a8ca4ce9"/>
    <p:sldId xmlns:r="http://schemas.openxmlformats.org/officeDocument/2006/relationships" id="265" r:id="Rfaf98d8c040a42e4"/>
    <p:sldId xmlns:r="http://schemas.openxmlformats.org/officeDocument/2006/relationships" id="266" r:id="R42278e558a9045d0"/>
    <p:sldId xmlns:r="http://schemas.openxmlformats.org/officeDocument/2006/relationships" id="267" r:id="Ree3b71e37e9242a8"/>
    <p:sldId xmlns:r="http://schemas.openxmlformats.org/officeDocument/2006/relationships" id="268" r:id="R85c76ac6df4e466f"/>
    <p:sldId xmlns:r="http://schemas.openxmlformats.org/officeDocument/2006/relationships" id="269" r:id="Rd88cbe01f0d647fb"/>
    <p:sldId xmlns:r="http://schemas.openxmlformats.org/officeDocument/2006/relationships" id="270" r:id="Rf51a101b98c44f4a"/>
    <p:sldId xmlns:r="http://schemas.openxmlformats.org/officeDocument/2006/relationships" id="271" r:id="R3fbf10beb85a4501"/>
    <p:sldId xmlns:r="http://schemas.openxmlformats.org/officeDocument/2006/relationships" id="272" r:id="R861b497c90c04700"/>
    <p:sldId xmlns:r="http://schemas.openxmlformats.org/officeDocument/2006/relationships" id="273" r:id="Re82bedfbf344404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d1cb72a9dc534bd5"/><Relationship Type="http://schemas.openxmlformats.org/officeDocument/2006/relationships/slideMaster" Target="/ppt/slideMasters/slideMaster1.xml" Id="Re01e9b3f151f423c"/><Relationship Type="http://schemas.openxmlformats.org/officeDocument/2006/relationships/notesMaster" Target="/ppt/notesMasters/notesMaster1.xml" Id="R1e47b489aaa1435a"/><Relationship Type="http://schemas.openxmlformats.org/officeDocument/2006/relationships/presProps" Target="/ppt/presProps.xml" Id="Rd9cd7cdbd4cf42fd"/><Relationship Type="http://schemas.openxmlformats.org/officeDocument/2006/relationships/tableStyles" Target="/ppt/tableStyles.xml" Id="R581405d5d48f4a7d"/><Relationship Type="http://schemas.openxmlformats.org/officeDocument/2006/relationships/slide" Target="/ppt/slides/slide1.xml" Id="R7554f598634546b0"/><Relationship Type="http://schemas.openxmlformats.org/officeDocument/2006/relationships/slide" Target="/ppt/slides/slide2.xml" Id="R428591fa8a544c72"/><Relationship Type="http://schemas.openxmlformats.org/officeDocument/2006/relationships/slide" Target="/ppt/slides/slide3.xml" Id="R95c4450df69e4c7b"/><Relationship Type="http://schemas.openxmlformats.org/officeDocument/2006/relationships/slide" Target="/ppt/slides/slide4.xml" Id="R16bd2d67f74c4766"/><Relationship Type="http://schemas.openxmlformats.org/officeDocument/2006/relationships/slide" Target="/ppt/slides/slide5.xml" Id="R1249756c351e4738"/><Relationship Type="http://schemas.openxmlformats.org/officeDocument/2006/relationships/slide" Target="/ppt/slides/slide6.xml" Id="Ra95cb1a1350a4b6f"/><Relationship Type="http://schemas.openxmlformats.org/officeDocument/2006/relationships/slide" Target="/ppt/slides/slide7.xml" Id="Rc48efe144bd74c41"/><Relationship Type="http://schemas.openxmlformats.org/officeDocument/2006/relationships/slide" Target="/ppt/slides/slide8.xml" Id="R964e41e0827945a0"/><Relationship Type="http://schemas.openxmlformats.org/officeDocument/2006/relationships/slide" Target="/ppt/slides/slide9.xml" Id="R26d149a8a8ca4ce9"/><Relationship Type="http://schemas.openxmlformats.org/officeDocument/2006/relationships/slide" Target="/ppt/slides/slide10.xml" Id="Rfaf98d8c040a42e4"/><Relationship Type="http://schemas.openxmlformats.org/officeDocument/2006/relationships/slide" Target="/ppt/slides/slide11.xml" Id="R42278e558a9045d0"/><Relationship Type="http://schemas.openxmlformats.org/officeDocument/2006/relationships/slide" Target="/ppt/slides/slide12.xml" Id="Ree3b71e37e9242a8"/><Relationship Type="http://schemas.openxmlformats.org/officeDocument/2006/relationships/slide" Target="/ppt/slides/slide13.xml" Id="R85c76ac6df4e466f"/><Relationship Type="http://schemas.openxmlformats.org/officeDocument/2006/relationships/slide" Target="/ppt/slides/slide14.xml" Id="Rd88cbe01f0d647fb"/><Relationship Type="http://schemas.openxmlformats.org/officeDocument/2006/relationships/slide" Target="/ppt/slides/slide15.xml" Id="Rf51a101b98c44f4a"/><Relationship Type="http://schemas.openxmlformats.org/officeDocument/2006/relationships/slide" Target="/ppt/slides/slide16.xml" Id="R3fbf10beb85a4501"/><Relationship Type="http://schemas.openxmlformats.org/officeDocument/2006/relationships/slide" Target="/ppt/slides/slide17.xml" Id="R861b497c90c04700"/><Relationship Type="http://schemas.openxmlformats.org/officeDocument/2006/relationships/slide" Target="/ppt/slides/slide18.xml" Id="Re82bedfbf3444042"/></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ec6e0d39dcfb4097"/></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0d24b05ba0904d66"/><Relationship Type="http://schemas.openxmlformats.org/officeDocument/2006/relationships/notesMaster" Target="/ppt/notesMasters/notesMaster1.xml" Id="Rb235ff65b7bb48ed"/></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7f8933116dd849e9"/><Relationship Type="http://schemas.openxmlformats.org/officeDocument/2006/relationships/notesMaster" Target="/ppt/notesMasters/notesMaster1.xml" Id="R9abaafb2252041e9"/></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aee8db0b68d3427d"/><Relationship Type="http://schemas.openxmlformats.org/officeDocument/2006/relationships/notesMaster" Target="/ppt/notesMasters/notesMaster1.xml" Id="R144292210d51444a"/></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ba5fb3dcd9f945e0"/><Relationship Type="http://schemas.openxmlformats.org/officeDocument/2006/relationships/notesMaster" Target="/ppt/notesMasters/notesMaster1.xml" Id="Rff550ed836aa41c4"/></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a08ef07e6035413b"/><Relationship Type="http://schemas.openxmlformats.org/officeDocument/2006/relationships/notesMaster" Target="/ppt/notesMasters/notesMaster1.xml" Id="R23eda231908a434f"/></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d217156db2ce4674"/><Relationship Type="http://schemas.openxmlformats.org/officeDocument/2006/relationships/notesMaster" Target="/ppt/notesMasters/notesMaster1.xml" Id="Re4f6ac6724c0461e"/></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e42ac79f70164583"/><Relationship Type="http://schemas.openxmlformats.org/officeDocument/2006/relationships/notesMaster" Target="/ppt/notesMasters/notesMaster1.xml" Id="R5b336235a8b84b58"/></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23e6b61a3d504d66"/><Relationship Type="http://schemas.openxmlformats.org/officeDocument/2006/relationships/notesMaster" Target="/ppt/notesMasters/notesMaster1.xml" Id="Rf43214a0c88b44e8"/></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0334ec504ce749fa"/><Relationship Type="http://schemas.openxmlformats.org/officeDocument/2006/relationships/notesMaster" Target="/ppt/notesMasters/notesMaster1.xml" Id="R0911c578786a478f"/></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20fbd1a272ef4ea7"/><Relationship Type="http://schemas.openxmlformats.org/officeDocument/2006/relationships/notesMaster" Target="/ppt/notesMasters/notesMaster1.xml" Id="Rf4ec48e86f57464c"/></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f912c8cf0c804d76"/><Relationship Type="http://schemas.openxmlformats.org/officeDocument/2006/relationships/notesMaster" Target="/ppt/notesMasters/notesMaster1.xml" Id="R679dedfbf207430a"/></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d3a76b3b103d491d"/><Relationship Type="http://schemas.openxmlformats.org/officeDocument/2006/relationships/notesMaster" Target="/ppt/notesMasters/notesMaster1.xml" Id="R2950319b19044cfd"/></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891b1430811e4aed"/><Relationship Type="http://schemas.openxmlformats.org/officeDocument/2006/relationships/notesMaster" Target="/ppt/notesMasters/notesMaster1.xml" Id="R0945b53a50b84bb5"/></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a37d4ba42902460f"/><Relationship Type="http://schemas.openxmlformats.org/officeDocument/2006/relationships/notesMaster" Target="/ppt/notesMasters/notesMaster1.xml" Id="R8404e68e1e384a7d"/></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66aa4a427bf446e8"/><Relationship Type="http://schemas.openxmlformats.org/officeDocument/2006/relationships/notesMaster" Target="/ppt/notesMasters/notesMaster1.xml" Id="R6db1f95e23314fb3"/></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f244fcdb28dd4679"/><Relationship Type="http://schemas.openxmlformats.org/officeDocument/2006/relationships/notesMaster" Target="/ppt/notesMasters/notesMaster1.xml" Id="Raf579f383a04488a"/></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2794f96fb39a44eb"/><Relationship Type="http://schemas.openxmlformats.org/officeDocument/2006/relationships/notesMaster" Target="/ppt/notesMasters/notesMaster1.xml" Id="R8dd777e0275044c7"/></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d9fbac81bf6a492a"/><Relationship Type="http://schemas.openxmlformats.org/officeDocument/2006/relationships/notesMaster" Target="/ppt/notesMasters/notesMaster1.xml" Id="R26f5e2e10e804e30"/></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25 секунд.</a:t>
            </a:r>
          </a:p>
          <a:p xmlns:a="http://schemas.openxmlformats.org/drawingml/2006/main">
            <a:r>
              <a:t/>
            </a:r>
          </a:p>
          <a:p xmlns:a="http://schemas.openxmlformats.org/drawingml/2006/main">
            <a:r>
              <a:t>Сегодня мы рассматриваем, как полнота оценок релевантности меняет оценку уже существующей поисковой выдачи. Наш вклад экспериментальный: сравнение фиксированных ранжирований до и после человеческой доразметки и отдельный анализ глубины пулов с автоматическим судьёй. Начнём с конкретного запроса, для которого исходная разметка не охватывает несколько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 1086224 спрашивает, что вызывает повышение температуры кипения. Фрагмент про соль есть в исходных положительных оценках. Другой фрагмент объясняет повышение температуры кипения через нелетучее растворённое вещество. Человек также считает его релевантным, но в исходной разметке он отсутствует. Третий фрагмент сообщает температуру кипения ацетона и не отвечает на вопрос о причине. Тексты здесь сокращены, а идентификаторы сохранены. Это пример релевантности в конкретном пуле, а не утверждение о частоте подобных случаев во всём корпусе. Qrels — оценки релевантности пар «запрос-фрагмент». Unjudged означает отсутствие оценки, а не подтверждённую нерелевантность.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Мы работаем с английской коллекцией MS MARCO Passage Ranking: 8 841 823 коротких текстовых фрагмента. Первый этап охватывает 1179 запросов и 33667 различных пар запрос–фрагмент с ручными оценками. Второй использует модель-судью и 101093 запроса. Это разные основания для выводов: человеческие суждения и предсказания. Большой набор включает все ручные запросы; отдельная проверка чувствительности исключает это пересечение. Под deep re-annotation понимается увеличение покрытия оценок внутри заданного пула. Термин не означает глубину сети или исчерпывающую разметку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Пулинг — известный подход: объединяем кандидатов нескольких источников и удаляем дубликаты, чтобы сосредоточить ручную оценку на вероятно полезных фрагментах. BM25 использует лексическое совпадение. E5 и BGE относятся к плотному поиску с отдельными векторными представлениями запроса и фрагмента. Каждая сохранённая выдача даёт десять результатов. Дополнительные каналы расширяют объединение, включая сходство E5 с уже известным релевантным ответом. Их точная архитектура полностью не установлена; не трактуем их как сопоставимые поисковые системы. Человек видит запрос, кандидата и известный релевантный ответ. Такая помощь может задавать интерпретацию запроса и обогащает пул. Средний размер пула 28,56 кандидата, максимум 63. Пул не является случайной выборкой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Сравним положительные оценки внутри одних и тех же ручных пулов. В пересечении с официальными qrels имеется 1243 положительные пары; после человеческой разметки — 20597. Среднее на запрос меняется с 1,05 до 17,47. Разность суммарных чисел составляет 19354 пары, но это не число всех релевантных ответов в коллекции. Четырнадцать исходно помеченных seed-пар отсутствуют в официальных qrels, поэтому нельзя подменять официальное число категорией seed. На следующем слайде мы не изменяем порядок выдачи поисковых систем и набор запросов. Меняется только набор оценок, по которому измеряется качество.</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NDCG@10 — normalized discounted cumulative gain: релевантный фрагмент получает больший вес ближе к началу первой десятки, затем сумму нормируем на идеальную выдачу. Для данного запроса и набора меток идеальный знаменатель общий для всех систем и учитывает полный оценённый пул; при смене разметки он может меняться. Все 1179 запросов остаются в среднем, включая нулевые. На графике исходные и человеческие оценки для фиксированных ранжирований. У E5 среднее меняется с 0,488 до 0,879, парная разность 0,391 с 95% интервалом от 0,365 до 0,417. Все четыре средних изменения положительны, p &lt; 0,001. Это изменение измеренной оценки, а не результат улучшения поисковой модели. Порядок систем сохраняется: E5, RRF, BGE, BM25. RRF объединяет ранги BM25, E5 и BGE; здесь входы top-10, константа 60. Добавление разметки не гарантирует рост NDCG для каждого запроса.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оценка позволяет проверить смысл доразметки, но оценивать миллионы пар вручную дорого. Поэтому во втором этапе используем компактный MiniLM как дообученную базовую модель для псевдоразметки. Это cross-encoder: запрос и фрагмент подаются совместно. В отличие от биэнкодеров E5 и BGE, модель не сравнивает независимо полученные эмбеддинги. На входе текст запроса и текст кандидата. Известного релевантного ответа, рангов и оценок других поисковых моделей у неё нет. Обучение использует ручные оценки, а порог выбирается на отдельной валидации. Выходы судьи расширяют покрытие оценивания, но остаются предсказаниями. В следующем эксперименте проверим, улучшает ли качество судьи добавление эталонного фрагмента из исходной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Запросы разделены между обучением, валидацией и тестом: 825, 177 и 177. Здесь 5002 пары только тестовых запросов. По вертикали ROC — доля верно выявленных положительных пар среди всех положительных; по горизонтали — доля ложноположительных среди всех отрицательных. Точки соответствуют разным порогам. Площадь под полной эмпирической кривой составляет 0,907, F1 при выбранном на валидации пороге — 0,875. Precision 0,851: доля подтверждённых положительных среди предсказанных. Recall 0,902: доля найденных положительных среди размеченных. F1 — их гармоническое среднее. AUC не является процентом правильных ответов или вероятностью релевантности. Унаследованное бинарное кодирование относит категории 1 и 2 к положительным, остальные к нулю. Тест включает шесть пар с метками, смысл которых не установлен и одну пару с пустым текстом; после их исключения AUC составляет 0,909 и F1 0,876. Основная оценка использует исходное бинарное кодирование меток. Это согласие на выбранных пулах, не независимая гарантия качества глубоких пулов.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большом наборе для каждого запроса объединяем первые K результатов BM25, E5 и BGE. K — длина каждой исходной выдачи, а не число уникальных кандидатов после удаления дубликатов. Используем одни и те же сохранённые оценки судьи и фиксированный порог. Средний пул растёт с 21,9 до 451,5 кандидата, а число положительных предсказаний с 14,2 до 128,6 на запрос. Все 101093 запроса остаются в знаменателе, включая 1592 запроса без положительного предсказания при K=200. Условное среднее только по положительным пулам было бы 130,7; его здесь не смешиваем с основным. Это число предсказанных релевантных фрагментов внутри выбранного пула, а не оценка количества всех релевантных ответов в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RRF — reciprocal rank fusion, объединение по обратным рангам. Суммируем вклад BM25, E5 и BGE с константой 60, без использования их несопоставимых абсолютных оценок. На вертикальной оси разность NDCG RRF минус E5. Ноль означает равенство. При K=10 разность отрицательна: -0,0195. В четырёх более глубоких настройках небольшая положительная разность, от 0,0077 до 0,0109. При K=200 она 0,0088 с 95% интервалом от 0,0082 до 0,0095. Здесь одновременно меняется глубина оценочного пула K и глубина входов RRF L, равная K. Поэтому результат нельзя объяснять только полнотой оценивания или объявлять универсальным превосходством RRF. Это сравнение по меткам одного судьи. Следующий слайд отделяет влияние покрытия при фиксированных выдачах. Для каждого full-set сравнения рассчитан отдельный 95%-ный интервал по 2000 парным bootstrap-перевыборкам запросов. Интервалы условны на сохранённые выдачи, баллы судьи и фиксированный порог; они не учитывают обучение судьи и ошибки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Теперь глубина входов RRF зафиксирована на 200: при изменении K первая десятка каждой системы остаётся неизменной. Несмотря на это, разность меняется с -0,0661 при K=10 на +0,0080 при K=30. При K=10 вне пула остаются 145643 возвращённые пары запрос–фрагмент, или 14,4% первой десятки RRF по всем запросам. Они получают нулевой вклад; это не означает, что все они релевантны. При K=30 вне пула остаются 3555 пар, примерно 0,35%. Расширение покрытия добавляет оценки и может изменить идеальный знаменатель. Поэтому кривая далее не обязана расти монотонно. Здесь контроль показывает влияние оценочного покрытия при фиксированных ранжированиях, а не улучшение моделей. Это не полное причинное разложение двух механизмов.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После исключения 23 запросов с неразрешёнными категориями или пустыми текстами остаются 1156 запросов: порядок систем в ручном сравнении сохраняется. После исключения всех 1179 ручных запросов из большого набора остаются 99914: направления различий RRF и E5 по глубинам также сохраняются. Эти проверки полезны, но не заменяют независимую независимую ручную оценку большого набора. Межэкспертное согласие не измерено; ручной пул обогащён через известный ответ, а псевдометки даёт один компактный судья. Поэтому выводы ограничены исследованными пулами английского MS MARCO. Их перенос на другие языки, домены и поисковые системы в этой работе не проверяется.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Наш основной результат — измерение эффекта разметки на оценку неизменной выдачи. В ручных пулах среднее число положительных оценок растёт с 1,05 до 17,47, а NDCG E5 — с 0,488 до 0,879 при том же ранжировании. В большом эксперименте контроль с фиксированными входами RRF показывает, что расширение оценочного покрытия может поменять порядок сравниваемых систем. Поэтому вместе с метрикой важно описывать оценённый пул, источник суждений и глубину списков объединения. Это выводы по английскому MS MARCO и исследованным пулам. Следующая проверка — более сильные и судьи с доступом к эталонному фрагменту на независимых человеческих оценках. Спасибо, готов ответить на вопросы.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эталонный фрагмент из исходной разметки, оцениваемый фрагмент.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Работа измеряет влияние покрытия разметки и глубины пулов, отдельно сравнивая изменяемые и фиксированные входы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68bdc48176554da3"/></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bb77d50e957e4555"/><Relationship Type="http://schemas.openxmlformats.org/officeDocument/2006/relationships/slideLayout" Target="/ppt/slideLayouts/slideLayout1.xml" Id="Rd53db18ab9e94c05"/></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53db18ab9e94c0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385e88ad8ee74043"/><Relationship Type="http://schemas.openxmlformats.org/officeDocument/2006/relationships/image" Target="/ppt/media/image.png" Id="R1b01f006935444e8"/><Relationship Type="http://schemas.openxmlformats.org/officeDocument/2006/relationships/notesSlide" Target="/ppt/notesSlides/notesSlide1.xml" Id="R464b1846a47e42d7"/></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1cb93f3a0551482d"/><Relationship Type="http://schemas.openxmlformats.org/officeDocument/2006/relationships/notesSlide" Target="/ppt/notesSlides/notesSlide2.xml" Id="R5dcca3246a0d4036"/></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79f1bf193b014c6d"/><Relationship Type="http://schemas.openxmlformats.org/officeDocument/2006/relationships/notesSlide" Target="/ppt/notesSlides/notesSlide3.xml" Id="Rd7e2e4068e68407a"/></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427168c7cf1c4c0b"/><Relationship Type="http://schemas.openxmlformats.org/officeDocument/2006/relationships/notesSlide" Target="/ppt/notesSlides/notesSlide4.xml" Id="R40bc4f2c561141a4"/></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98b98e44c02441b1"/><Relationship Type="http://schemas.openxmlformats.org/officeDocument/2006/relationships/notesSlide" Target="/ppt/notesSlides/notesSlide5.xml" Id="R3c2e946ba1d440b4"/></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731cd57361984abc"/><Relationship Type="http://schemas.openxmlformats.org/officeDocument/2006/relationships/chart" Target="/ppt/slides/charts/chart1.xml" Id="R9f603dc325a44b62"/><Relationship Type="http://schemas.openxmlformats.org/officeDocument/2006/relationships/notesSlide" Target="/ppt/notesSlides/notesSlide6.xml" Id="R68b302506fea40e1"/></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81291148dd734d19"/><Relationship Type="http://schemas.openxmlformats.org/officeDocument/2006/relationships/notesSlide" Target="/ppt/notesSlides/notesSlide7.xml" Id="R5bcc8175b9b4448b"/></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75f2d38cfecf4949"/><Relationship Type="http://schemas.openxmlformats.org/officeDocument/2006/relationships/chart" Target="/ppt/slides/charts/chart2.xml" Id="R4e319c55f60045d2"/><Relationship Type="http://schemas.openxmlformats.org/officeDocument/2006/relationships/notesSlide" Target="/ppt/notesSlides/notesSlide8.xml" Id="R774cfecc5e19474a"/></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5ec45463e02447df"/><Relationship Type="http://schemas.openxmlformats.org/officeDocument/2006/relationships/chart" Target="/ppt/slides/charts/chart3.xml" Id="R1bf3ddff373141dc"/><Relationship Type="http://schemas.openxmlformats.org/officeDocument/2006/relationships/notesSlide" Target="/ppt/notesSlides/notesSlide9.xml" Id="R136926540f454a9c"/></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fb120aaa61f54e64"/><Relationship Type="http://schemas.openxmlformats.org/officeDocument/2006/relationships/chart" Target="/ppt/slides/charts/chart4.xml" Id="R54333ac09e914be7"/><Relationship Type="http://schemas.openxmlformats.org/officeDocument/2006/relationships/notesSlide" Target="/ppt/notesSlides/notesSlide10.xml" Id="R77d0ec10d4dc41ee"/></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bb3e1cf90cda4659"/><Relationship Type="http://schemas.openxmlformats.org/officeDocument/2006/relationships/chart" Target="/ppt/slides/charts/chart5.xml" Id="Rf01e857490b848a3"/><Relationship Type="http://schemas.openxmlformats.org/officeDocument/2006/relationships/notesSlide" Target="/ppt/notesSlides/notesSlide11.xml" Id="Rdf62824f345748de"/></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6eb370b6d7f446b5"/><Relationship Type="http://schemas.openxmlformats.org/officeDocument/2006/relationships/notesSlide" Target="/ppt/notesSlides/notesSlide12.xml" Id="Rf1796f2ae9a04863"/></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5bfe99ea216d4828"/><Relationship Type="http://schemas.openxmlformats.org/officeDocument/2006/relationships/notesSlide" Target="/ppt/notesSlides/notesSlide13.xml" Id="Rff7564b1a62e4043"/></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9076bbb3dc4245a5"/><Relationship Type="http://schemas.openxmlformats.org/officeDocument/2006/relationships/notesSlide" Target="/ppt/notesSlides/notesSlide14.xml" Id="R57a0a086c7074572"/></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f53b4281d7c043e8"/><Relationship Type="http://schemas.openxmlformats.org/officeDocument/2006/relationships/notesSlide" Target="/ppt/notesSlides/notesSlide15.xml" Id="Rdae501dfba484dbe"/></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b13da27ee9974b45"/><Relationship Type="http://schemas.openxmlformats.org/officeDocument/2006/relationships/notesSlide" Target="/ppt/notesSlides/notesSlide16.xml" Id="R73e90047e50440ed"/></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b03bd2d5154746f4"/><Relationship Type="http://schemas.openxmlformats.org/officeDocument/2006/relationships/notesSlide" Target="/ppt/notesSlides/notesSlide17.xml" Id="Rf87e6a4db3224f75"/></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70f4598f88674e0f"/><Relationship Type="http://schemas.openxmlformats.org/officeDocument/2006/relationships/notesSlide" Target="/ppt/notesSlides/notesSlide18.xml" Id="Rbd030b11a7cd433c"/></Relationships>
</file>

<file path=ppt/slides/charts/chart1.xml><?xml version="1.0" encoding="utf-8"?>
<c:chartSpace xmlns:c="http://schemas.openxmlformats.org/drawingml/2006/chart">
  <c:lang val="en-US"/>
  <c:chart>
    <c:plotArea>
      <c:barChart>
        <c:barDir val="bar"/>
        <c:grouping val="clustered"/>
        <c:varyColors val="0"/>
        <c:ser>
          <c:idx val="0"/>
          <c:order val="0"/>
          <c:tx>
            <c:v>Original qrels</c:v>
          </c:tx>
          <c:spPr>
            <a:solidFill xmlns:a="http://schemas.openxmlformats.org/drawingml/2006/main">
              <a:srgbClr val="819499"/>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0.4586425</c:v>
              </c:pt>
              <c:pt idx="1">
                <c:v>0.43322774</c:v>
              </c:pt>
              <c:pt idx="2">
                <c:v>0.48799936</c:v>
              </c:pt>
              <c:pt idx="3">
                <c:v>0.24818879</c:v>
              </c:pt>
            </c:numLit>
          </c:val>
        </c:ser>
        <c:ser>
          <c:idx val="1"/>
          <c:order val="1"/>
          <c:tx>
            <c:v>Human judgments</c:v>
          </c:tx>
          <c:spPr>
            <a:solidFill xmlns:a="http://schemas.openxmlformats.org/drawingml/2006/main">
              <a:srgbClr val="007F78"/>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0.85384164</c:v>
              </c:pt>
              <c:pt idx="1">
                <c:v>0.82795094</c:v>
              </c:pt>
              <c:pt idx="2">
                <c:v>0.87934606</c:v>
              </c:pt>
              <c:pt idx="3">
                <c:v>0.64389299</c:v>
              </c:pt>
            </c:numLit>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scatterChart>
        <c:scatterStyle val="lineMarker"/>
        <c:ser>
          <c:idx val="0"/>
          <c:order val="0"/>
          <c:tx>
            <c:v>Chance</c:v>
          </c:tx>
          <c:spPr>
            <a:solidFill xmlns:a="http://schemas.openxmlformats.org/drawingml/2006/main">
              <a:srgbClr val="D4E1E0"/>
            </a:solidFill>
            <a:ln xmlns:a="http://schemas.openxmlformats.org/drawingml/2006/main" w="12383">
              <a:solidFill>
                <a:srgbClr val="819499"/>
              </a:solidFill>
            </a:ln>
          </c:spPr>
          <c:marker>
            <c:symbol val="none"/>
          </c:marker>
          <c:xVal>
            <c:numLit>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Lit>
          </c:xVal>
          <c:yVal>
            <c:numLit>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Lit>
          </c:yVal>
          <c:smooth val="0"/>
        </c:ser>
        <c:ser>
          <c:idx val="1"/>
          <c:order val="1"/>
          <c:tx>
            <c:v>MiniLM ROC</c:v>
          </c:tx>
          <c:spPr>
            <a:solidFill xmlns:a="http://schemas.openxmlformats.org/drawingml/2006/main">
              <a:srgbClr val="007F78"/>
            </a:solidFill>
            <a:ln xmlns:a="http://schemas.openxmlformats.org/drawingml/2006/main" w="33338">
              <a:solidFill>
                <a:srgbClr val="007F78"/>
              </a:solidFill>
            </a:ln>
          </c:spPr>
          <c:marker>
            <c:symbol val="none"/>
          </c:marker>
          <c:xVal>
            <c:numLit>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Lit>
          </c:xVal>
          <c:yVal>
            <c:numLit>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Lit>
          </c:yVal>
          <c:smooth val="0"/>
        </c:ser>
        <c:ser>
          <c:idx val="2"/>
          <c:order val="2"/>
          <c:tx>
            <c:v>Validation threshold</c:v>
          </c:tx>
          <c:spPr>
            <a:solidFill xmlns:a="http://schemas.openxmlformats.org/drawingml/2006/main">
              <a:srgbClr val="C95236"/>
            </a:solidFill>
            <a:ln xmlns:a="http://schemas.openxmlformats.org/drawingml/2006/main" w="0">
              <a:noFill/>
            </a:ln>
          </c:spPr>
          <c:marker>
            <c:symbol val="circle"/>
            <c:size val="11"/>
            <c:spPr>
              <a:solidFill xmlns:a="http://schemas.openxmlformats.org/drawingml/2006/main">
                <a:srgbClr val="C95236"/>
              </a:solidFill>
              <ns0:ln xmlns:ns0="http://schemas.openxmlformats.org/drawingml/2006/main" w="0">
                <ns0:noFill/>
              </ns0:ln>
            </c:spPr>
          </c:marker>
          <c:xVal>
            <c:numLit>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Lit>
          </c:xVal>
          <c:yVal>
            <c:numLit>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True positive rate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False positive rate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All candidates</c:v>
          </c:tx>
          <c:spPr>
            <a:solidFill xmlns:a="http://schemas.openxmlformats.org/drawingml/2006/main">
              <a:srgbClr val="819499"/>
            </a:solidFill>
            <a:ln xmlns:a="http://schemas.openxmlformats.org/drawingml/2006/main" w="28575">
              <a:solidFill>
                <a:srgbClr val="819499"/>
              </a:solidFill>
            </a:ln>
          </c:spPr>
          <c:marker>
            <c:symbol val="circle"/>
            <c:size val="8"/>
            <c:spPr>
              <a:solidFill xmlns:a="http://schemas.openxmlformats.org/drawingml/2006/main">
                <a:srgbClr val="819499"/>
              </a:solidFill>
              <ns0:ln xmlns:ns0="http://schemas.openxmlformats.org/drawingml/2006/main" w="0">
                <ns0:noFill/>
              </ns0:ln>
            </c:spPr>
          </c:marker>
          <c:xVal>
            <c:numLit>
              <c:formatCode>General</c:formatCode>
              <c:ptCount val="5"/>
              <c:pt idx="0">
                <c:v>10</c:v>
              </c:pt>
              <c:pt idx="1">
                <c:v>30</c:v>
              </c:pt>
              <c:pt idx="2">
                <c:v>50</c:v>
              </c:pt>
              <c:pt idx="3">
                <c:v>100</c:v>
              </c:pt>
              <c:pt idx="4">
                <c:v>200</c:v>
              </c:pt>
            </c:numLit>
          </c:xVal>
          <c:yVal>
            <c:numLit>
              <c:formatCode>0.000</c:formatCode>
              <c:ptCount val="5"/>
              <c:pt idx="0">
                <c:v>21.88063466</c:v>
              </c:pt>
              <c:pt idx="1">
                <c:v>65.84688356</c:v>
              </c:pt>
              <c:pt idx="2">
                <c:v>110.35612753</c:v>
              </c:pt>
              <c:pt idx="3">
                <c:v>222.9122689</c:v>
              </c:pt>
              <c:pt idx="4">
                <c:v>451.54053199</c:v>
              </c:pt>
            </c:numLit>
          </c:yVal>
          <c:smooth val="0"/>
        </c:ser>
        <c:ser>
          <c:idx val="1"/>
          <c:order val="1"/>
          <c:tx>
            <c:v>Predicted relevant</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ns0:ln xmlns:ns0="http://schemas.openxmlformats.org/drawingml/2006/main" w="0">
                <ns0:noFill/>
              </ns0:ln>
            </c:spPr>
          </c:marker>
          <c:xVal>
            <c:numLit>
              <c:formatCode>General</c:formatCode>
              <c:ptCount val="5"/>
              <c:pt idx="0">
                <c:v>10</c:v>
              </c:pt>
              <c:pt idx="1">
                <c:v>30</c:v>
              </c:pt>
              <c:pt idx="2">
                <c:v>50</c:v>
              </c:pt>
              <c:pt idx="3">
                <c:v>100</c:v>
              </c:pt>
              <c:pt idx="4">
                <c:v>200</c:v>
              </c:pt>
            </c:numLit>
          </c:xVal>
          <c:yVal>
            <c:numLit>
              <c:formatCode>0.000</c:formatCode>
              <c:ptCount val="5"/>
              <c:pt idx="0">
                <c:v>14.19208056</c:v>
              </c:pt>
              <c:pt idx="1">
                <c:v>33.7073289</c:v>
              </c:pt>
              <c:pt idx="2">
                <c:v>49.41692303</c:v>
              </c:pt>
              <c:pt idx="3">
                <c:v>81.01592593</c:v>
              </c:pt>
              <c:pt idx="4">
                <c:v>128.63735372</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Top-K results per retriever</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819499"/>
            </a:solidFill>
            <a:ln xmlns:a="http://schemas.openxmlformats.org/drawingml/2006/main" w="13335">
              <a:solidFill>
                <a:srgbClr val="819499"/>
              </a:solidFill>
            </a:ln>
          </c:spPr>
          <c:marker>
            <c:symbol val="none"/>
          </c:marker>
          <c:xVal>
            <c:numLit>
              <c:formatCode>General</c:formatCode>
              <c:ptCount val="5"/>
              <c:pt idx="0">
                <c:v>0</c:v>
              </c:pt>
              <c:pt idx="1">
                <c:v>210</c:v>
              </c:pt>
              <c:pt idx="2">
                <c:v>210</c:v>
              </c:pt>
              <c:pt idx="3">
                <c:v>210</c:v>
              </c:pt>
              <c:pt idx="4">
                <c:v>210</c:v>
              </c:pt>
            </c:numLit>
          </c:xVal>
          <c:yVal>
            <c:numLit>
              <c:formatCode>0.000</c:formatCode>
              <c:ptCount val="5"/>
              <c:pt idx="0">
                <c:v>0</c:v>
              </c:pt>
              <c:pt idx="1">
                <c:v>0</c:v>
              </c:pt>
              <c:pt idx="2">
                <c:v>0</c:v>
              </c:pt>
              <c:pt idx="3">
                <c:v>0</c:v>
              </c:pt>
              <c:pt idx="4">
                <c:v>0</c:v>
              </c:pt>
            </c:numLit>
          </c:yVal>
          <c:smooth val="0"/>
        </c:ser>
        <c:ser>
          <c:idx val="1"/>
          <c:order val="1"/>
          <c:tx>
            <c:v>RRF minus E5</c:v>
          </c:tx>
          <c:spPr>
            <a:solidFill xmlns:a="http://schemas.openxmlformats.org/drawingml/2006/main">
              <a:srgbClr val="C95236"/>
            </a:solidFill>
            <a:ln xmlns:a="http://schemas.openxmlformats.org/drawingml/2006/main" w="0">
              <a:noFill/>
            </a:ln>
          </c:spPr>
          <c:marker>
            <c:symbol val="circle"/>
            <c:size val="3"/>
            <c:spPr>
              <a:solidFill xmlns:a="http://schemas.openxmlformats.org/drawingml/2006/main">
                <a:srgbClr val="C95236"/>
              </a:solidFill>
              <ns0:ln xmlns:ns0="http://schemas.openxmlformats.org/drawingml/2006/main" w="0">
                <ns0:noFill/>
              </ns0:ln>
            </c:spPr>
          </c:marker>
          <c:errBars>
            <c:errDir val="y"/>
            <c:errBarType val="both"/>
            <c:errValType val="cust"/>
            <c:noEndCap val="0"/>
            <c:plus>
              <c:numLit>
                <c:formatCode>0.00000000</c:formatCode>
                <c:ptCount val="5"/>
                <c:pt idx="0">
                  <c:v>0.00069374</c:v>
                </c:pt>
                <c:pt idx="1">
                  <c:v>0.00064973</c:v>
                </c:pt>
                <c:pt idx="2">
                  <c:v>0.00071120</c:v>
                </c:pt>
                <c:pt idx="3">
                  <c:v>0.00072097</c:v>
                </c:pt>
                <c:pt idx="4">
                  <c:v>0.00070510</c:v>
                </c:pt>
              </c:numLit>
            </c:plus>
            <c:minus>
              <c:numLit>
                <c:formatCode>0.00000000</c:formatCode>
                <c:ptCount val="5"/>
                <c:pt idx="0">
                  <c:v>0.00071514</c:v>
                </c:pt>
                <c:pt idx="1">
                  <c:v>0.00064189</c:v>
                </c:pt>
                <c:pt idx="2">
                  <c:v>0.00069871</c:v>
                </c:pt>
                <c:pt idx="3">
                  <c:v>0.00070185</c:v>
                </c:pt>
                <c:pt idx="4">
                  <c:v>0.00067313</c:v>
                </c:pt>
              </c:numLit>
            </c:minus>
            <c:spPr>
              <ns0:ln xmlns:ns0="http://schemas.openxmlformats.org/drawingml/2006/main" w="17145">
                <ns0:solidFill>
                  <ns0:srgbClr val="C95236"/>
                </ns0:solidFill>
              </ns0:ln>
            </c:spPr>
          </c:errBars>
          <c:xVal>
            <c:numLit>
              <c:formatCode>General</c:formatCode>
              <c:ptCount val="5"/>
              <c:pt idx="0">
                <c:v>10</c:v>
              </c:pt>
              <c:pt idx="1">
                <c:v>30</c:v>
              </c:pt>
              <c:pt idx="2">
                <c:v>50</c:v>
              </c:pt>
              <c:pt idx="3">
                <c:v>100</c:v>
              </c:pt>
              <c:pt idx="4">
                <c:v>200</c:v>
              </c:pt>
            </c:numLit>
          </c:xVal>
          <c:yVal>
            <c:numLit>
              <c:formatCode>0.000</c:formatCode>
              <c:ptCount val="5"/>
              <c:pt idx="0">
                <c:v>-0.01952103</c:v>
              </c:pt>
              <c:pt idx="1">
                <c:v>0.01085768</c:v>
              </c:pt>
              <c:pt idx="2">
                <c:v>0.00854269</c:v>
              </c:pt>
              <c:pt idx="3">
                <c:v>0.00771191</c:v>
              </c:pt>
              <c:pt idx="4">
                <c:v>0.00883193</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3"/>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NDCG@10 difference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01"/>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819499"/>
            </a:solidFill>
            <a:ln xmlns:a="http://schemas.openxmlformats.org/drawingml/2006/main" w="13335">
              <a:solidFill>
                <a:srgbClr val="819499"/>
              </a:solidFill>
            </a:ln>
          </c:spPr>
          <c:marker>
            <c:symbol val="none"/>
          </c:marker>
          <c:xVal>
            <c:numLit>
              <c:formatCode>General</c:formatCode>
              <c:ptCount val="5"/>
              <c:pt idx="0">
                <c:v>0</c:v>
              </c:pt>
              <c:pt idx="1">
                <c:v>210</c:v>
              </c:pt>
              <c:pt idx="2">
                <c:v>210</c:v>
              </c:pt>
              <c:pt idx="3">
                <c:v>210</c:v>
              </c:pt>
              <c:pt idx="4">
                <c:v>210</c:v>
              </c:pt>
            </c:numLit>
          </c:xVal>
          <c:yVal>
            <c:numLit>
              <c:formatCode>0.000</c:formatCode>
              <c:ptCount val="5"/>
              <c:pt idx="0">
                <c:v>0</c:v>
              </c:pt>
              <c:pt idx="1">
                <c:v>0</c:v>
              </c:pt>
              <c:pt idx="2">
                <c:v>0</c:v>
              </c:pt>
              <c:pt idx="3">
                <c:v>0</c:v>
              </c:pt>
              <c:pt idx="4">
                <c:v>0</c:v>
              </c:pt>
            </c:numLit>
          </c:yVal>
          <c:smooth val="0"/>
        </c:ser>
        <c:ser>
          <c:idx val="1"/>
          <c:order val="1"/>
          <c:tx>
            <c:v>RRF minus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ns0:ln xmlns:ns0="http://schemas.openxmlformats.org/drawingml/2006/main" w="0">
                <ns0:noFill/>
              </ns0:ln>
            </c:spPr>
          </c:marker>
          <c:errBars>
            <c:errDir val="y"/>
            <c:errBarType val="both"/>
            <c:errValType val="cust"/>
            <c:noEndCap val="0"/>
            <c:plus>
              <c:numLit>
                <c:formatCode>0.00000000</c:formatCode>
                <c:ptCount val="5"/>
                <c:pt idx="0">
                  <c:v>0.00094827</c:v>
                </c:pt>
                <c:pt idx="1">
                  <c:v>0.00074349</c:v>
                </c:pt>
                <c:pt idx="2">
                  <c:v>0.00071777</c:v>
                </c:pt>
                <c:pt idx="3">
                  <c:v>0.00071668</c:v>
                </c:pt>
                <c:pt idx="4">
                  <c:v>0.00070510</c:v>
                </c:pt>
              </c:numLit>
            </c:plus>
            <c:minus>
              <c:numLit>
                <c:formatCode>0.00000000</c:formatCode>
                <c:ptCount val="5"/>
                <c:pt idx="0">
                  <c:v>0.00095151</c:v>
                </c:pt>
                <c:pt idx="1">
                  <c:v>0.00073648</c:v>
                </c:pt>
                <c:pt idx="2">
                  <c:v>0.00070542</c:v>
                </c:pt>
                <c:pt idx="3">
                  <c:v>0.00068098</c:v>
                </c:pt>
                <c:pt idx="4">
                  <c:v>0.00067313</c:v>
                </c:pt>
              </c:numLit>
            </c:minus>
            <c:spPr>
              <ns0:ln xmlns:ns0="http://schemas.openxmlformats.org/drawingml/2006/main" w="17145">
                <ns0:solidFill>
                  <ns0:srgbClr val="007F78"/>
                </ns0:solidFill>
              </ns0:ln>
            </c:spPr>
          </c:errBars>
          <c:xVal>
            <c:numLit>
              <c:formatCode>General</c:formatCode>
              <c:ptCount val="5"/>
              <c:pt idx="0">
                <c:v>10</c:v>
              </c:pt>
              <c:pt idx="1">
                <c:v>30</c:v>
              </c:pt>
              <c:pt idx="2">
                <c:v>50</c:v>
              </c:pt>
              <c:pt idx="3">
                <c:v>100</c:v>
              </c:pt>
              <c:pt idx="4">
                <c:v>200</c:v>
              </c:pt>
            </c:numLit>
          </c:xVal>
          <c:yVal>
            <c:numLit>
              <c:formatCode>0.000</c:formatCode>
              <c:ptCount val="5"/>
              <c:pt idx="0">
                <c:v>-0.06611695</c:v>
              </c:pt>
              <c:pt idx="1">
                <c:v>0.00801274</c:v>
              </c:pt>
              <c:pt idx="2">
                <c:v>0.00898873</c:v>
              </c:pt>
              <c:pt idx="3">
                <c:v>0.00890891</c:v>
              </c:pt>
              <c:pt idx="4">
                <c:v>0.00883193</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NDCG@10 gap</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5BEAB26B-8A4D-4366-8F31-D798B1F1540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b01f006935444e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DBCB11F1-8A09-4139-BF28-F9C3266AD8ED}"/>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Deep Re-annotation&#10;and Controlled&#10;Candidate Pool">
            <a:extLst xmlns:a="http://schemas.openxmlformats.org/drawingml/2006/main">
              <a:ext uri="{FF2B5EF4-FFF2-40B4-BE49-F238E27FC236}">
                <a16:creationId xmlns:a16="http://schemas.microsoft.com/office/drawing/2014/main" id="{B5EB91CE-8363-42CC-9BE7-3D4D5C7B4FEB}"/>
              </a:ext>
            </a:extLst>
          </p:cNvPr>
          <p:cNvSpPr>
            <a:spLocks xmlns:a="http://schemas.openxmlformats.org/drawingml/2006/main" noGrp="1"/>
          </p:cNvSpPr>
          <p:nvPr/>
        </p:nvSpPr>
        <p:spPr>
          <a:xfrm xmlns:a="http://schemas.openxmlformats.org/drawingml/2006/main">
            <a:off x="609600" y="1247775"/>
            <a:ext cx="790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Deep Re-annotation</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and Controlled</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Candidate Pools</a:t>
            </a:r>
          </a:p>
        </p:txBody>
      </p:sp>
      <p:sp>
        <p:nvSpPr>
          <p:cNvPr id="5" name="Re-evaluating ranking models&#10;on MS MARCO">
            <a:extLst xmlns:a="http://schemas.openxmlformats.org/drawingml/2006/main">
              <a:ext uri="{FF2B5EF4-FFF2-40B4-BE49-F238E27FC236}">
                <a16:creationId xmlns:a16="http://schemas.microsoft.com/office/drawing/2014/main" id="{661D8F28-353B-4334-A42E-617169B8B9AB}"/>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Re-evaluating ranking models</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on MS MARCO</a:t>
            </a:r>
          </a:p>
        </p:txBody>
      </p:sp>
      <p:sp>
        <p:nvSpPr>
          <p:cNvPr id="6" name=", ,&#10; Loukachev">
            <a:extLst xmlns:a="http://schemas.openxmlformats.org/drawingml/2006/main">
              <a:ext uri="{FF2B5EF4-FFF2-40B4-BE49-F238E27FC236}">
                <a16:creationId xmlns:a16="http://schemas.microsoft.com/office/drawing/2014/main" id="{52B1C3ED-A8A3-4B93-8C0A-A6A24C398939}"/>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Moscow, Russi">
            <a:extLst xmlns:a="http://schemas.openxmlformats.org/drawingml/2006/main">
              <a:ext uri="{FF2B5EF4-FFF2-40B4-BE49-F238E27FC236}">
                <a16:creationId xmlns:a16="http://schemas.microsoft.com/office/drawing/2014/main" id="{B303E4A2-6ABC-4790-B39D-AB9EB2CDCE0A}"/>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45109747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 relevant passage can receive zero gain">
            <a:extLst xmlns:a="http://schemas.openxmlformats.org/drawingml/2006/main">
              <a:ext uri="{FF2B5EF4-FFF2-40B4-BE49-F238E27FC236}">
                <a16:creationId xmlns:a16="http://schemas.microsoft.com/office/drawing/2014/main" id="{2C2D23E3-F586-4C2B-8C23-7CC1280A6571}"/>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relevant passage can receive zero gain</a:t>
            </a:r>
          </a:p>
        </p:txBody>
      </p:sp>
      <p:sp>
        <p:nvSpPr>
          <p:cNvPr id="2" name="02">
            <a:extLst xmlns:a="http://schemas.openxmlformats.org/drawingml/2006/main">
              <a:ext uri="{FF2B5EF4-FFF2-40B4-BE49-F238E27FC236}">
                <a16:creationId xmlns:a16="http://schemas.microsoft.com/office/drawing/2014/main" id="{6C38D67C-48F1-4FEE-92A6-2EB63CBC632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sp>
        <p:nvSpPr>
          <p:cNvPr id="3" name="“what causes boiling point to increase”">
            <a:extLst xmlns:a="http://schemas.openxmlformats.org/drawingml/2006/main">
              <a:ext uri="{FF2B5EF4-FFF2-40B4-BE49-F238E27FC236}">
                <a16:creationId xmlns:a16="http://schemas.microsoft.com/office/drawing/2014/main" id="{DC97CFAA-458F-4F5F-AFA9-E0E44F656CA1}"/>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“what causes boiling point to increase”</a:t>
            </a:r>
          </a:p>
        </p:txBody>
      </p:sp>
      <p:graphicFrame>
        <p:nvGraphicFramePr>
          <p:cNvPr id="9" name=""/>
          <p:cNvGraphicFramePr/>
          <p:nvPr/>
        </p:nvGraphicFramePr>
        <p:xfrm>
          <a:off xmlns:a="http://schemas.openxmlformats.org/drawingml/2006/main" x="609600" y="2533650"/>
          <a:ext xmlns:a="http://schemas.openxmlformats.org/drawingml/2006/main" cx="10972800" cy="299085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725" b="1">
                          <a:solidFill>
                            <a:srgbClr val="526970"/>
                          </a:solidFill>
                          <a:latin typeface="Arial"/>
                          <a:ea typeface="Arial"/>
                          <a:cs typeface="Arial"/>
                        </a:rPr>
                        <a:t>Passage (shortened paraphrase)</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Original qrels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Human judgment</a:t>
                      </a:r>
                    </a:p>
                  </a:txBody>
                  <a:tcPr marL="91440" marR="91440" marT="45720" marB="45720" anchor="ctr">
                    <a:lnL w="0">
                      <a:noFill/>
                    </a:lnL>
                    <a:lnR w="0">
                      <a:noFill/>
                    </a:lnR>
                    <a:lnT w="0">
                      <a:noFill/>
                    </a:lnT>
                    <a:lnB w="7620">
                      <a:solidFill>
                        <a:srgbClr val="D4E1E0"/>
                      </a:solidFill>
                    </a:lnB>
                    <a:solidFill>
                      <a:srgbClr val="EFF5F4"/>
                    </a:solidFill>
                  </a:tcPr>
                </a:tc>
              </a:tr>
              <a:tr h="742950">
                <a:tc>
                  <a:txBody>
                    <a:bodyPr lIns="171450" tIns="95250" rIns="171450" bIns="95250">
                      <a:noAutofit/>
                    </a:bodyPr>
                    <a:lstStyle/>
                    <a:p>
                      <a:r>
                        <a:rPr sz="1875" b="0">
                          <a:solidFill>
                            <a:srgbClr val="182B30"/>
                          </a:solidFill>
                          <a:latin typeface="Arial"/>
                          <a:ea typeface="Arial"/>
                          <a:cs typeface="Arial"/>
                        </a:rPr>
                        <a:t>7112148   Adding salt raises the boiling point.</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FFFFFF"/>
                    </a:solidFill>
                  </a:tcPr>
                </a:tc>
              </a:tr>
              <a:tr h="971550">
                <a:tc>
                  <a:txBody>
                    <a:bodyPr lIns="171450" tIns="95250" rIns="171450" bIns="95250">
                      <a:noAutofit/>
                    </a:bodyPr>
                    <a:lstStyle/>
                    <a:p>
                      <a:r>
                        <a:rPr sz="1875" b="1">
                          <a:solidFill>
                            <a:srgbClr val="007F78"/>
                          </a:solidFill>
                          <a:latin typeface="Arial"/>
                          <a:ea typeface="Arial"/>
                          <a:cs typeface="Arial"/>
                        </a:rPr>
                        <a:t>7399382   A non-volatile solute raises</a:t>
                      </a:r>
                    </a:p>
                    <a:p>
                      <a:r>
                        <a:rPr sz="1875" b="1">
                          <a:solidFill>
                            <a:srgbClr val="007F78"/>
                          </a:solidFill>
                          <a:latin typeface="Arial"/>
                          <a:ea typeface="Arial"/>
                          <a:cs typeface="Arial"/>
                        </a:rPr>
                        <a:t>the boiling point.</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1">
                          <a:solidFill>
                            <a:srgbClr val="007F78"/>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E4F2ED"/>
                    </a:solidFill>
                  </a:tcPr>
                </a:tc>
              </a:tr>
              <a:tr h="742950">
                <a:tc>
                  <a:txBody>
                    <a:bodyPr lIns="171450" tIns="95250" rIns="171450" bIns="95250">
                      <a:noAutofit/>
                    </a:bodyPr>
                    <a:lstStyle/>
                    <a:p>
                      <a:r>
                        <a:rPr sz="1875" b="0">
                          <a:solidFill>
                            <a:srgbClr val="182B30"/>
                          </a:solidFill>
                          <a:latin typeface="Arial"/>
                          <a:ea typeface="Arial"/>
                          <a:cs typeface="Arial"/>
                        </a:rPr>
                        <a:t>987600   The boiling temperature of acetone.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Not relevant</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qrels: query relevance judgments. Unjudged passa">
            <a:extLst xmlns:a="http://schemas.openxmlformats.org/drawingml/2006/main">
              <a:ext uri="{FF2B5EF4-FFF2-40B4-BE49-F238E27FC236}">
                <a16:creationId xmlns:a16="http://schemas.microsoft.com/office/drawing/2014/main" id="{960661FE-4A46-4F51-9797-FBB39EDCEAE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query relevance judgments. Unjudged passages receive zero gain.</a:t>
            </a:r>
          </a:p>
        </p:txBody>
      </p:sp>
    </p:spTree>
    <p:extLst>
      <p:ext uri="{BB962C8B-B14F-4D97-AF65-F5344CB8AC3E}">
        <p14:creationId xmlns:p14="http://schemas.microsoft.com/office/powerpoint/2010/main" val="179614273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Human judgments and a larger pool experiment">
            <a:extLst xmlns:a="http://schemas.openxmlformats.org/drawingml/2006/main">
              <a:ext uri="{FF2B5EF4-FFF2-40B4-BE49-F238E27FC236}">
                <a16:creationId xmlns:a16="http://schemas.microsoft.com/office/drawing/2014/main" id="{D88F3254-003A-4822-BD9C-42A89D63399B}"/>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Human judgments and a larger pool experiment</a:t>
            </a:r>
          </a:p>
        </p:txBody>
      </p:sp>
      <p:sp>
        <p:nvSpPr>
          <p:cNvPr id="2" name="03">
            <a:extLst xmlns:a="http://schemas.openxmlformats.org/drawingml/2006/main">
              <a:ext uri="{FF2B5EF4-FFF2-40B4-BE49-F238E27FC236}">
                <a16:creationId xmlns:a16="http://schemas.microsoft.com/office/drawing/2014/main" id="{3AF34DFF-C723-483A-9561-5D9F3D9C56A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English MS MARCO">
            <a:extLst xmlns:a="http://schemas.openxmlformats.org/drawingml/2006/main">
              <a:ext uri="{FF2B5EF4-FFF2-40B4-BE49-F238E27FC236}">
                <a16:creationId xmlns:a16="http://schemas.microsoft.com/office/drawing/2014/main" id="{3CCAB6C5-EA5B-4BDF-AA94-4370912B4DA8}"/>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English MS MARCO</a:t>
            </a:r>
          </a:p>
        </p:txBody>
      </p:sp>
      <p:sp>
        <p:nvSpPr>
          <p:cNvPr id="4" name="8.84 million passages">
            <a:extLst xmlns:a="http://schemas.openxmlformats.org/drawingml/2006/main">
              <a:ext uri="{FF2B5EF4-FFF2-40B4-BE49-F238E27FC236}">
                <a16:creationId xmlns:a16="http://schemas.microsoft.com/office/drawing/2014/main" id="{63D5D3F8-4676-4951-8BEA-64FA40ED714A}"/>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million passages</a:t>
            </a:r>
          </a:p>
        </p:txBody>
      </p:sp>
      <p:sp>
        <p:nvSpPr>
          <p:cNvPr id="5" name="">
            <a:extLst xmlns:a="http://schemas.openxmlformats.org/drawingml/2006/main">
              <a:ext uri="{FF2B5EF4-FFF2-40B4-BE49-F238E27FC236}">
                <a16:creationId xmlns:a16="http://schemas.microsoft.com/office/drawing/2014/main" id="{87552444-F4A5-4E79-A9B9-E2B40BA8B949}"/>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Human judgments">
            <a:extLst xmlns:a="http://schemas.openxmlformats.org/drawingml/2006/main">
              <a:ext uri="{FF2B5EF4-FFF2-40B4-BE49-F238E27FC236}">
                <a16:creationId xmlns:a16="http://schemas.microsoft.com/office/drawing/2014/main" id="{2C4ED35C-4F5C-452E-8A04-87D148D9A85F}"/>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Human judgments</a:t>
            </a:r>
          </a:p>
        </p:txBody>
      </p:sp>
      <p:sp>
        <p:nvSpPr>
          <p:cNvPr id="7" name="1,179">
            <a:extLst xmlns:a="http://schemas.openxmlformats.org/drawingml/2006/main">
              <a:ext uri="{FF2B5EF4-FFF2-40B4-BE49-F238E27FC236}">
                <a16:creationId xmlns:a16="http://schemas.microsoft.com/office/drawing/2014/main" id="{AC24FE97-77AF-43F9-9D67-9FA4A1D97E69}"/>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1,179</a:t>
            </a:r>
          </a:p>
        </p:txBody>
      </p:sp>
      <p:sp>
        <p:nvSpPr>
          <p:cNvPr id="8" name="queries; 33,667 pairs">
            <a:extLst xmlns:a="http://schemas.openxmlformats.org/drawingml/2006/main">
              <a:ext uri="{FF2B5EF4-FFF2-40B4-BE49-F238E27FC236}">
                <a16:creationId xmlns:a16="http://schemas.microsoft.com/office/drawing/2014/main" id="{4AC85388-CE15-4520-9631-56F944E31F73}"/>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33,667 pairs</a:t>
            </a:r>
          </a:p>
        </p:txBody>
      </p:sp>
      <p:sp>
        <p:nvSpPr>
          <p:cNvPr id="9" name="Judge predictions">
            <a:extLst xmlns:a="http://schemas.openxmlformats.org/drawingml/2006/main">
              <a:ext uri="{FF2B5EF4-FFF2-40B4-BE49-F238E27FC236}">
                <a16:creationId xmlns:a16="http://schemas.microsoft.com/office/drawing/2014/main" id="{36D13B79-16B6-4D93-BC60-52810F5AAA44}"/>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Judge predictions</a:t>
            </a:r>
          </a:p>
        </p:txBody>
      </p:sp>
      <p:sp>
        <p:nvSpPr>
          <p:cNvPr id="10" name="101,093">
            <a:extLst xmlns:a="http://schemas.openxmlformats.org/drawingml/2006/main">
              <a:ext uri="{FF2B5EF4-FFF2-40B4-BE49-F238E27FC236}">
                <a16:creationId xmlns:a16="http://schemas.microsoft.com/office/drawing/2014/main" id="{10FF0B05-A5C5-4E49-8DFA-E2E63B82A273}"/>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101,093</a:t>
            </a:r>
          </a:p>
        </p:txBody>
      </p:sp>
      <p:sp>
        <p:nvSpPr>
          <p:cNvPr id="11" name="queries; varying pool depths">
            <a:extLst xmlns:a="http://schemas.openxmlformats.org/drawingml/2006/main">
              <a:ext uri="{FF2B5EF4-FFF2-40B4-BE49-F238E27FC236}">
                <a16:creationId xmlns:a16="http://schemas.microsoft.com/office/drawing/2014/main" id="{5907F96E-DD29-45C2-9228-AF2C0F8ABA74}"/>
              </a:ext>
            </a:extLst>
          </p:cNvPr>
          <p:cNvSpPr>
            <a:spLocks xmlns:a="http://schemas.openxmlformats.org/drawingml/2006/main" noGrp="1"/>
          </p:cNvSpPr>
          <p:nvPr/>
        </p:nvSpPr>
        <p:spPr>
          <a:xfrm xmlns:a="http://schemas.openxmlformats.org/drawingml/2006/main">
            <a:off x="6705600" y="493395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varying pool depths</a:t>
            </a:r>
          </a:p>
        </p:txBody>
      </p:sp>
      <p:sp>
        <p:nvSpPr>
          <p:cNvPr id="12" name="“Deep” describes judgment coverage within select">
            <a:extLst xmlns:a="http://schemas.openxmlformats.org/drawingml/2006/main">
              <a:ext uri="{FF2B5EF4-FFF2-40B4-BE49-F238E27FC236}">
                <a16:creationId xmlns:a16="http://schemas.microsoft.com/office/drawing/2014/main" id="{C8C120C3-E630-4D04-96BB-417114B0A8D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“Deep” describes judgment coverage within selected candidate pools.</a:t>
            </a:r>
          </a:p>
        </p:txBody>
      </p:sp>
    </p:spTree>
    <p:extLst>
      <p:ext uri="{BB962C8B-B14F-4D97-AF65-F5344CB8AC3E}">
        <p14:creationId xmlns:p14="http://schemas.microsoft.com/office/powerpoint/2010/main" val="204206977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ference-assisted manual annotation">
            <a:extLst xmlns:a="http://schemas.openxmlformats.org/drawingml/2006/main">
              <a:ext uri="{FF2B5EF4-FFF2-40B4-BE49-F238E27FC236}">
                <a16:creationId xmlns:a16="http://schemas.microsoft.com/office/drawing/2014/main" id="{A7966210-1FBD-43D9-9786-0B32F6E4242E}"/>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Reference-assisted manual annotation</a:t>
            </a:r>
          </a:p>
        </p:txBody>
      </p:sp>
      <p:sp>
        <p:nvSpPr>
          <p:cNvPr id="2" name="04">
            <a:extLst xmlns:a="http://schemas.openxmlformats.org/drawingml/2006/main">
              <a:ext uri="{FF2B5EF4-FFF2-40B4-BE49-F238E27FC236}">
                <a16:creationId xmlns:a16="http://schemas.microsoft.com/office/drawing/2014/main" id="{A594F387-E8B1-421F-BB7F-619F0F25E74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BM25   E5   BGE&#10;Top 10 per retriever">
            <a:extLst xmlns:a="http://schemas.openxmlformats.org/drawingml/2006/main">
              <a:ext uri="{FF2B5EF4-FFF2-40B4-BE49-F238E27FC236}">
                <a16:creationId xmlns:a16="http://schemas.microsoft.com/office/drawing/2014/main" id="{81FFA1E9-BA39-429B-A0C4-A72425B10D90}"/>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Top 10 per retriever</a:t>
            </a:r>
          </a:p>
        </p:txBody>
      </p:sp>
      <p:sp>
        <p:nvSpPr>
          <p:cNvPr id="4" name="Auxiliary candidates&#10;E5 reference similarity">
            <a:extLst xmlns:a="http://schemas.openxmlformats.org/drawingml/2006/main">
              <a:ext uri="{FF2B5EF4-FFF2-40B4-BE49-F238E27FC236}">
                <a16:creationId xmlns:a16="http://schemas.microsoft.com/office/drawing/2014/main" id="{02922994-09CC-467A-B55C-593BC1A52596}"/>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Auxiliary candidates</a:t>
            </a:r>
          </a:p>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E5 reference similarity</a:t>
            </a:r>
          </a:p>
        </p:txBody>
      </p:sp>
      <p:sp>
        <p:nvSpPr>
          <p:cNvPr id="5" name="Deduplicated&#10;candidate pool">
            <a:extLst xmlns:a="http://schemas.openxmlformats.org/drawingml/2006/main">
              <a:ext uri="{FF2B5EF4-FFF2-40B4-BE49-F238E27FC236}">
                <a16:creationId xmlns:a16="http://schemas.microsoft.com/office/drawing/2014/main" id="{C3E399BE-481F-49D9-939E-C14B82DD29B5}"/>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Deduplicated</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pool</a:t>
            </a:r>
          </a:p>
        </p:txBody>
      </p:sp>
      <p:sp>
        <p:nvSpPr>
          <p:cNvPr id="6" name="Human&#10;assessment">
            <a:extLst xmlns:a="http://schemas.openxmlformats.org/drawingml/2006/main">
              <a:ext uri="{FF2B5EF4-FFF2-40B4-BE49-F238E27FC236}">
                <a16:creationId xmlns:a16="http://schemas.microsoft.com/office/drawing/2014/main" id="{1018A33E-F648-482E-9D89-C02F119EA0EB}"/>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Human</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assessment</a:t>
            </a:r>
          </a:p>
        </p:txBody>
      </p:sp>
      <p:cxnSp>
        <p:nvCxnSpPr>
          <p:cNvPr id="19" name=""/>
          <p:cNvCxnSpPr>
            <a:stCxn xmlns:a="http://schemas.openxmlformats.org/drawingml/2006/main" id="3" idx="3"/>
            <a:endCxn xmlns:a="http://schemas.openxmlformats.org/drawingml/2006/main" id="5" idx="1"/>
          </p:cNvCxnSpPr>
          <p:nvPr/>
        </p:nvCxnSpPr>
        <p:spPr>
          <a:xfrm xmlns:a="http://schemas.openxmlformats.org/drawingml/2006/main">
            <a:off x="3705225" y="2457450"/>
            <a:ext cx="914400" cy="885825"/>
          </a:xfrm>
          <a:prstGeom xmlns:a="http://schemas.openxmlformats.org/drawingml/2006/main" prst="bentConnector3">
            <a:avLst>
              <a:gd name="adj1" fmla="val 50000"/>
            </a:avLst>
          </a:prstGeom>
          <a:ln xmlns:a="http://schemas.openxmlformats.org/drawingml/2006/main" w="23813">
            <a:solidFill>
              <a:srgbClr val="526970"/>
            </a:solidFill>
            <a:tailEnd type="triangle" w="sm" len="sm"/>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3813">
            <a:solidFill>
              <a:srgbClr val="C95236"/>
            </a:solidFill>
            <a:tailEnd type="triangle" w="sm" len="sm"/>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3813">
            <a:solidFill>
              <a:srgbClr val="526970"/>
            </a:solidFill>
            <a:tailEnd type="triangle" w="sm" len="sm"/>
          </a:ln>
        </p:spPr>
      </p:cxnSp>
      <p:sp>
        <p:nvSpPr>
          <p:cNvPr id="10" name="Query + candidate +&#10;known relevant answer">
            <a:extLst xmlns:a="http://schemas.openxmlformats.org/drawingml/2006/main">
              <a:ext uri="{FF2B5EF4-FFF2-40B4-BE49-F238E27FC236}">
                <a16:creationId xmlns:a16="http://schemas.microsoft.com/office/drawing/2014/main" id="{EBDDD9CC-6C06-4FE5-9E58-F29AE959106E}"/>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Query + candidate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known relevant answer</a:t>
            </a:r>
          </a:p>
        </p:txBody>
      </p:sp>
      <p:sp>
        <p:nvSpPr>
          <p:cNvPr id="11" name="28.56 candidates&#10;per query on average">
            <a:extLst xmlns:a="http://schemas.openxmlformats.org/drawingml/2006/main">
              <a:ext uri="{FF2B5EF4-FFF2-40B4-BE49-F238E27FC236}">
                <a16:creationId xmlns:a16="http://schemas.microsoft.com/office/drawing/2014/main" id="{D249C3F5-697B-4125-8742-C78EC17F88A1}"/>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28.56 candidates</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per query on average</a:t>
            </a:r>
          </a:p>
        </p:txBody>
      </p:sp>
      <p:sp>
        <p:nvSpPr>
          <p:cNvPr id="12" name="Reference information supports candidate prepara">
            <a:extLst xmlns:a="http://schemas.openxmlformats.org/drawingml/2006/main">
              <a:ext uri="{FF2B5EF4-FFF2-40B4-BE49-F238E27FC236}">
                <a16:creationId xmlns:a16="http://schemas.microsoft.com/office/drawing/2014/main" id="{FF71088E-E413-442E-9BFE-9BB5936D968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Reference information supports candidate preparation and human assessment.</a:t>
            </a:r>
          </a:p>
        </p:txBody>
      </p:sp>
    </p:spTree>
    <p:extLst>
      <p:ext uri="{BB962C8B-B14F-4D97-AF65-F5344CB8AC3E}">
        <p14:creationId xmlns:p14="http://schemas.microsoft.com/office/powerpoint/2010/main" val="90385185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ore relevant passages within the same pools">
            <a:extLst xmlns:a="http://schemas.openxmlformats.org/drawingml/2006/main">
              <a:ext uri="{FF2B5EF4-FFF2-40B4-BE49-F238E27FC236}">
                <a16:creationId xmlns:a16="http://schemas.microsoft.com/office/drawing/2014/main" id="{E733B887-B58B-4BE0-86FC-E6BE2EFD429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relevant passages within the same pools</a:t>
            </a:r>
          </a:p>
        </p:txBody>
      </p:sp>
      <p:sp>
        <p:nvSpPr>
          <p:cNvPr id="2" name="05">
            <a:extLst xmlns:a="http://schemas.openxmlformats.org/drawingml/2006/main">
              <a:ext uri="{FF2B5EF4-FFF2-40B4-BE49-F238E27FC236}">
                <a16:creationId xmlns:a16="http://schemas.microsoft.com/office/drawing/2014/main" id="{F9F83F8A-1507-4BE9-A7A9-7CB894E2940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Mean passages judged relevant per query">
            <a:extLst xmlns:a="http://schemas.openxmlformats.org/drawingml/2006/main">
              <a:ext uri="{FF2B5EF4-FFF2-40B4-BE49-F238E27FC236}">
                <a16:creationId xmlns:a16="http://schemas.microsoft.com/office/drawing/2014/main" id="{24AB6FBC-8797-4331-ACC5-8CDEC8F5E309}"/>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Mean passages judged relevant per query</a:t>
            </a:r>
          </a:p>
        </p:txBody>
      </p:sp>
      <p:sp>
        <p:nvSpPr>
          <p:cNvPr id="4" name="1.05">
            <a:extLst xmlns:a="http://schemas.openxmlformats.org/drawingml/2006/main">
              <a:ext uri="{FF2B5EF4-FFF2-40B4-BE49-F238E27FC236}">
                <a16:creationId xmlns:a16="http://schemas.microsoft.com/office/drawing/2014/main" id="{E74940F7-D6D2-4A07-8C36-247718489422}"/>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819499"/>
                </a:solidFill>
                <a:latin typeface="Arial"/>
                <a:ea typeface="Arial"/>
                <a:cs typeface="Arial"/>
              </a:defRPr>
            </a:pPr>
            <a:r>
              <a:rPr sz="7800" b="1">
                <a:solidFill>
                  <a:srgbClr val="819499"/>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C252275F-7CD3-457C-A162-1736DFF9A2BF}"/>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884B7479-6C4B-4D2C-B2C6-CCDCD0C625B6}"/>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Original qrels">
            <a:extLst xmlns:a="http://schemas.openxmlformats.org/drawingml/2006/main">
              <a:ext uri="{FF2B5EF4-FFF2-40B4-BE49-F238E27FC236}">
                <a16:creationId xmlns:a16="http://schemas.microsoft.com/office/drawing/2014/main" id="{3250EF24-6DF9-4B05-9D84-0601D889C03A}"/>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Original qrels</a:t>
            </a:r>
          </a:p>
        </p:txBody>
      </p:sp>
      <p:sp>
        <p:nvSpPr>
          <p:cNvPr id="8" name="1,243 positive pairs">
            <a:extLst xmlns:a="http://schemas.openxmlformats.org/drawingml/2006/main">
              <a:ext uri="{FF2B5EF4-FFF2-40B4-BE49-F238E27FC236}">
                <a16:creationId xmlns:a16="http://schemas.microsoft.com/office/drawing/2014/main" id="{E50BC75B-53D3-4CAC-8216-94624CA6E3F6}"/>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1,243 positive pairs</a:t>
            </a:r>
          </a:p>
        </p:txBody>
      </p:sp>
      <p:sp>
        <p:nvSpPr>
          <p:cNvPr id="9" name="Extended human judgments">
            <a:extLst xmlns:a="http://schemas.openxmlformats.org/drawingml/2006/main">
              <a:ext uri="{FF2B5EF4-FFF2-40B4-BE49-F238E27FC236}">
                <a16:creationId xmlns:a16="http://schemas.microsoft.com/office/drawing/2014/main" id="{2D80411A-5B98-407A-969A-D5482D97CDEB}"/>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Extended human judgments</a:t>
            </a:r>
          </a:p>
        </p:txBody>
      </p:sp>
      <p:sp>
        <p:nvSpPr>
          <p:cNvPr id="10" name="20,597 positive pairs">
            <a:extLst xmlns:a="http://schemas.openxmlformats.org/drawingml/2006/main">
              <a:ext uri="{FF2B5EF4-FFF2-40B4-BE49-F238E27FC236}">
                <a16:creationId xmlns:a16="http://schemas.microsoft.com/office/drawing/2014/main" id="{94F89D4B-7907-450F-A302-1BA496B931CB}"/>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20,597 positive pairs</a:t>
            </a:r>
          </a:p>
        </p:txBody>
      </p:sp>
      <p:sp>
        <p:nvSpPr>
          <p:cNvPr id="11" name="1,179 queries. Same candidate pools and retrieva">
            <a:extLst xmlns:a="http://schemas.openxmlformats.org/drawingml/2006/main">
              <a:ext uri="{FF2B5EF4-FFF2-40B4-BE49-F238E27FC236}">
                <a16:creationId xmlns:a16="http://schemas.microsoft.com/office/drawing/2014/main" id="{44B37599-00A1-4B95-A42B-C8915B90A76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1,179 queries. Same candidate pools and retrieval rankings.</a:t>
            </a:r>
          </a:p>
        </p:txBody>
      </p:sp>
    </p:spTree>
    <p:extLst>
      <p:ext uri="{BB962C8B-B14F-4D97-AF65-F5344CB8AC3E}">
        <p14:creationId xmlns:p14="http://schemas.microsoft.com/office/powerpoint/2010/main" val="158483536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enser judgments change measured NDCG">
            <a:extLst xmlns:a="http://schemas.openxmlformats.org/drawingml/2006/main">
              <a:ext uri="{FF2B5EF4-FFF2-40B4-BE49-F238E27FC236}">
                <a16:creationId xmlns:a16="http://schemas.microsoft.com/office/drawing/2014/main" id="{EDFC269E-EF15-421B-AD37-9CED0DF422A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Denser judgments change measured NDCG</a:t>
            </a:r>
          </a:p>
        </p:txBody>
      </p:sp>
      <p:sp>
        <p:nvSpPr>
          <p:cNvPr id="2" name="06">
            <a:extLst xmlns:a="http://schemas.openxmlformats.org/drawingml/2006/main">
              <a:ext uri="{FF2B5EF4-FFF2-40B4-BE49-F238E27FC236}">
                <a16:creationId xmlns:a16="http://schemas.microsoft.com/office/drawing/2014/main" id="{1E1A25AE-518D-4239-8978-FA56E02888E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graphicFrame>
        <p:nvGraphicFramePr>
          <p:cNvPr id="8" name="Chart"/>
          <p:cNvGraphicFramePr/>
          <p:nvPr/>
        </p:nvGraphicFramePr>
        <p:xfrm>
          <a:off xmlns:a="http://schemas.openxmlformats.org/drawingml/2006/main" x="609600" y="1695450"/>
          <a:ext xmlns:a="http://schemas.openxmlformats.org/drawingml/2006/main" cx="10972800" cy="3762375"/>
        </p:xfrm>
        <a:graphic xmlns:a="http://schemas.openxmlformats.org/drawingml/2006/main">
          <a:graphicData uri="http://schemas.openxmlformats.org/drawingml/2006/chart">
            <c:chart xmlns:r="http://schemas.openxmlformats.org/officeDocument/2006/relationships" xmlns:c="http://schemas.openxmlformats.org/drawingml/2006/chart" r:id="R9f603dc325a44b62"/>
          </a:graphicData>
        </a:graphic>
      </p:graphicFrame>
      <p:sp>
        <p:nvSpPr>
          <p:cNvPr id="4" name="E5 paired change: +0.391   95% CI [0.365, 0.417]">
            <a:extLst xmlns:a="http://schemas.openxmlformats.org/drawingml/2006/main">
              <a:ext uri="{FF2B5EF4-FFF2-40B4-BE49-F238E27FC236}">
                <a16:creationId xmlns:a16="http://schemas.microsoft.com/office/drawing/2014/main" id="{CAB699D6-8E24-4FA0-8663-37CB29CA53F7}"/>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E5 paired change: +0.391   95% CI [0.365, 0.417]</a:t>
            </a:r>
          </a:p>
        </p:txBody>
      </p:sp>
      <p:sp>
        <p:nvSpPr>
          <p:cNvPr id="5" name="Pooled NDCG@10. Same rankings; shared ideal deno">
            <a:extLst xmlns:a="http://schemas.openxmlformats.org/drawingml/2006/main">
              <a:ext uri="{FF2B5EF4-FFF2-40B4-BE49-F238E27FC236}">
                <a16:creationId xmlns:a16="http://schemas.microsoft.com/office/drawing/2014/main" id="{AFA49E8F-C6D7-472C-B61D-4E5D7D9EEF0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Pooled NDCG@10. Same rankings; shared ideal denominator within each query and label set.</a:t>
            </a:r>
          </a:p>
        </p:txBody>
      </p:sp>
    </p:spTree>
    <p:extLst>
      <p:ext uri="{BB962C8B-B14F-4D97-AF65-F5344CB8AC3E}">
        <p14:creationId xmlns:p14="http://schemas.microsoft.com/office/powerpoint/2010/main" val="142745510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 compact judge extends label coverage">
            <a:extLst xmlns:a="http://schemas.openxmlformats.org/drawingml/2006/main">
              <a:ext uri="{FF2B5EF4-FFF2-40B4-BE49-F238E27FC236}">
                <a16:creationId xmlns:a16="http://schemas.microsoft.com/office/drawing/2014/main" id="{5A058FDE-EFA5-4CA8-804E-5ED86BCFF0BE}"/>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compact judge extends label coverage</a:t>
            </a:r>
          </a:p>
        </p:txBody>
      </p:sp>
      <p:sp>
        <p:nvSpPr>
          <p:cNvPr id="2" name="07">
            <a:extLst xmlns:a="http://schemas.openxmlformats.org/drawingml/2006/main">
              <a:ext uri="{FF2B5EF4-FFF2-40B4-BE49-F238E27FC236}">
                <a16:creationId xmlns:a16="http://schemas.microsoft.com/office/drawing/2014/main" id="{97B69C99-B024-43AF-B53B-5F91BF24CFC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Query text&#10;Candidate passage">
            <a:extLst xmlns:a="http://schemas.openxmlformats.org/drawingml/2006/main">
              <a:ext uri="{FF2B5EF4-FFF2-40B4-BE49-F238E27FC236}">
                <a16:creationId xmlns:a16="http://schemas.microsoft.com/office/drawing/2014/main" id="{F2367DDC-458A-4FD9-A002-55C1AA2FA82E}"/>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Query text</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passage</a:t>
            </a:r>
          </a:p>
        </p:txBody>
      </p:sp>
      <p:sp>
        <p:nvSpPr>
          <p:cNvPr id="4" name="MiniLM&#10;cross-encoder">
            <a:extLst xmlns:a="http://schemas.openxmlformats.org/drawingml/2006/main">
              <a:ext uri="{FF2B5EF4-FFF2-40B4-BE49-F238E27FC236}">
                <a16:creationId xmlns:a16="http://schemas.microsoft.com/office/drawing/2014/main" id="{C4147AC2-2512-4682-B50B-6932F8A8AABD}"/>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cross-encoder</a:t>
            </a:r>
          </a:p>
        </p:txBody>
      </p:sp>
      <p:sp>
        <p:nvSpPr>
          <p:cNvPr id="5" name="Score&#10;Pseudo-label">
            <a:extLst xmlns:a="http://schemas.openxmlformats.org/drawingml/2006/main">
              <a:ext uri="{FF2B5EF4-FFF2-40B4-BE49-F238E27FC236}">
                <a16:creationId xmlns:a16="http://schemas.microsoft.com/office/drawing/2014/main" id="{B8F10CA1-B09B-41FD-BD4D-8CA9866FBBC8}"/>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Score</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Pseudo-label</a:t>
            </a:r>
          </a:p>
        </p:txBody>
      </p:sp>
      <p:cxnSp>
        <p:nvCxnSpPr>
          <p:cNvPr id="17" name=""/>
          <p:cNvCxnSpPr>
            <a:stCxn xmlns:a="http://schemas.openxmlformats.org/drawingml/2006/main" id="3" idx="3"/>
            <a:endCxn xmlns:a="http://schemas.openxmlformats.org/drawingml/2006/main" id="4"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3813">
            <a:solidFill>
              <a:srgbClr val="526970"/>
            </a:solidFill>
            <a:tailEnd type="triangle" w="sm" len="sm"/>
          </a:ln>
        </p:spPr>
      </p:cxnSp>
      <p:cxnSp>
        <p:nvCxnSpPr>
          <p:cNvPr id="18" name=""/>
          <p:cNvCxnSpPr>
            <a:stCxn xmlns:a="http://schemas.openxmlformats.org/drawingml/2006/main" id="4" idx="3"/>
            <a:endCxn xmlns:a="http://schemas.openxmlformats.org/drawingml/2006/main" id="5"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3813">
            <a:solidFill>
              <a:srgbClr val="C95236"/>
            </a:solidFill>
            <a:tailEnd type="triangle" w="sm" len="sm"/>
          </a:ln>
        </p:spPr>
      </p:cxnSp>
      <p:sp>
        <p:nvSpPr>
          <p:cNvPr id="8" name="Jointly scores the two texts">
            <a:extLst xmlns:a="http://schemas.openxmlformats.org/drawingml/2006/main">
              <a:ext uri="{FF2B5EF4-FFF2-40B4-BE49-F238E27FC236}">
                <a16:creationId xmlns:a16="http://schemas.microsoft.com/office/drawing/2014/main" id="{037581A6-5E15-41A1-B0EC-E685AE704967}"/>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Jointly scores the two texts</a:t>
            </a:r>
          </a:p>
        </p:txBody>
      </p:sp>
      <p:sp>
        <p:nvSpPr>
          <p:cNvPr id="9" name="">
            <a:extLst xmlns:a="http://schemas.openxmlformats.org/drawingml/2006/main">
              <a:ext uri="{FF2B5EF4-FFF2-40B4-BE49-F238E27FC236}">
                <a16:creationId xmlns:a16="http://schemas.microsoft.com/office/drawing/2014/main" id="{4D4B0A91-1174-452A-931D-9A0CD5A7FF32}"/>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0" name="Inputs exclude the reference answer, ranks and r">
            <a:extLst xmlns:a="http://schemas.openxmlformats.org/drawingml/2006/main">
              <a:ext uri="{FF2B5EF4-FFF2-40B4-BE49-F238E27FC236}">
                <a16:creationId xmlns:a16="http://schemas.microsoft.com/office/drawing/2014/main" id="{63F34A2D-1DE1-4752-8965-7EEADACE4E7F}"/>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Inputs exclude the reference answer, ranks and retrieval scores.</a:t>
            </a:r>
          </a:p>
        </p:txBody>
      </p:sp>
      <p:sp>
        <p:nvSpPr>
          <p:cNvPr id="11" name="Pseudo-labels are model predictions. The origina">
            <a:extLst xmlns:a="http://schemas.openxmlformats.org/drawingml/2006/main">
              <a:ext uri="{FF2B5EF4-FFF2-40B4-BE49-F238E27FC236}">
                <a16:creationId xmlns:a16="http://schemas.microsoft.com/office/drawing/2014/main" id="{555FDBF6-E8C7-4E70-BB6E-3588ED7790C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Pseudo-labels are model predictions. The original retrieval rankings remain available.</a:t>
            </a:r>
          </a:p>
        </p:txBody>
      </p:sp>
    </p:spTree>
    <p:extLst>
      <p:ext uri="{BB962C8B-B14F-4D97-AF65-F5344CB8AC3E}">
        <p14:creationId xmlns:p14="http://schemas.microsoft.com/office/powerpoint/2010/main" val="108422927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Judge agreement on held-out queries">
            <a:extLst xmlns:a="http://schemas.openxmlformats.org/drawingml/2006/main">
              <a:ext uri="{FF2B5EF4-FFF2-40B4-BE49-F238E27FC236}">
                <a16:creationId xmlns:a16="http://schemas.microsoft.com/office/drawing/2014/main" id="{D5891AB7-325C-46D2-B3E2-FFA2AD559EE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agreement on held-out queries</a:t>
            </a:r>
          </a:p>
        </p:txBody>
      </p:sp>
      <p:sp>
        <p:nvSpPr>
          <p:cNvPr id="2" name="08">
            <a:extLst xmlns:a="http://schemas.openxmlformats.org/drawingml/2006/main">
              <a:ext uri="{FF2B5EF4-FFF2-40B4-BE49-F238E27FC236}">
                <a16:creationId xmlns:a16="http://schemas.microsoft.com/office/drawing/2014/main" id="{7B429115-8BAE-48A6-B50C-852DAD580BA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graphicFrame>
        <p:nvGraphicFramePr>
          <p:cNvPr id="12" name="Chart"/>
          <p:cNvGraphicFramePr/>
          <p:nvPr/>
        </p:nvGraphicFramePr>
        <p:xfrm>
          <a:off xmlns:a="http://schemas.openxmlformats.org/drawingml/2006/main" x="609600" y="1762125"/>
          <a:ext xmlns:a="http://schemas.openxmlformats.org/drawingml/2006/main" cx="7067550" cy="3914775"/>
        </p:xfrm>
        <a:graphic xmlns:a="http://schemas.openxmlformats.org/drawingml/2006/main">
          <a:graphicData uri="http://schemas.openxmlformats.org/drawingml/2006/chart">
            <c:chart xmlns:r="http://schemas.openxmlformats.org/officeDocument/2006/relationships" xmlns:c="http://schemas.openxmlformats.org/drawingml/2006/chart" r:id="R4e319c55f60045d2"/>
          </a:graphicData>
        </a:graphic>
      </p:graphicFrame>
      <p:sp>
        <p:nvSpPr>
          <p:cNvPr id="4" name="0.907">
            <a:extLst xmlns:a="http://schemas.openxmlformats.org/drawingml/2006/main">
              <a:ext uri="{FF2B5EF4-FFF2-40B4-BE49-F238E27FC236}">
                <a16:creationId xmlns:a16="http://schemas.microsoft.com/office/drawing/2014/main" id="{56390BAC-7E8E-4E9F-870D-F198D652EF15}"/>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5" name="ROC-AUC">
            <a:extLst xmlns:a="http://schemas.openxmlformats.org/drawingml/2006/main">
              <a:ext uri="{FF2B5EF4-FFF2-40B4-BE49-F238E27FC236}">
                <a16:creationId xmlns:a16="http://schemas.microsoft.com/office/drawing/2014/main" id="{AF89992C-587D-4177-A2B7-15A2760E9422}"/>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6" name="0.875">
            <a:extLst xmlns:a="http://schemas.openxmlformats.org/drawingml/2006/main">
              <a:ext uri="{FF2B5EF4-FFF2-40B4-BE49-F238E27FC236}">
                <a16:creationId xmlns:a16="http://schemas.microsoft.com/office/drawing/2014/main" id="{BA3B4DF9-5C28-4F4A-9CF6-34EC82A47AC2}"/>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7" name="F1 at validation threshold">
            <a:extLst xmlns:a="http://schemas.openxmlformats.org/drawingml/2006/main">
              <a:ext uri="{FF2B5EF4-FFF2-40B4-BE49-F238E27FC236}">
                <a16:creationId xmlns:a16="http://schemas.microsoft.com/office/drawing/2014/main" id="{F83E9B26-EEC0-4552-A3F5-A6E2F80A20DF}"/>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at validation threshold</a:t>
            </a:r>
          </a:p>
        </p:txBody>
      </p:sp>
      <p:sp>
        <p:nvSpPr>
          <p:cNvPr id="8" name="Coral marker: validation-selected threshold">
            <a:extLst xmlns:a="http://schemas.openxmlformats.org/drawingml/2006/main">
              <a:ext uri="{FF2B5EF4-FFF2-40B4-BE49-F238E27FC236}">
                <a16:creationId xmlns:a16="http://schemas.microsoft.com/office/drawing/2014/main" id="{F200C3C5-E3E5-40D1-9827-5587ABB2B047}"/>
              </a:ext>
            </a:extLst>
          </p:cNvPr>
          <p:cNvSpPr>
            <a:spLocks xmlns:a="http://schemas.openxmlformats.org/drawingml/2006/main" noGrp="1"/>
          </p:cNvSpPr>
          <p:nvPr/>
        </p:nvSpPr>
        <p:spPr>
          <a:xfrm xmlns:a="http://schemas.openxmlformats.org/drawingml/2006/main">
            <a:off x="609600" y="5686425"/>
            <a:ext cx="723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Coral marker: validation-selected threshold</a:t>
            </a:r>
          </a:p>
        </p:txBody>
      </p:sp>
      <p:sp>
        <p:nvSpPr>
          <p:cNvPr id="9" name="177 held-out manual-pool queries; 5,002 pairs. D">
            <a:extLst xmlns:a="http://schemas.openxmlformats.org/drawingml/2006/main">
              <a:ext uri="{FF2B5EF4-FFF2-40B4-BE49-F238E27FC236}">
                <a16:creationId xmlns:a16="http://schemas.microsoft.com/office/drawing/2014/main" id="{48BFB5DA-53C0-4B46-AB87-BF12AD405DE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177 held-out manual-pool queries; 5,002 pairs. Deeper pools lack human validation.</a:t>
            </a:r>
          </a:p>
        </p:txBody>
      </p:sp>
    </p:spTree>
    <p:extLst>
      <p:ext uri="{BB962C8B-B14F-4D97-AF65-F5344CB8AC3E}">
        <p14:creationId xmlns:p14="http://schemas.microsoft.com/office/powerpoint/2010/main" val="98037795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arger pools contain more predicted positives">
            <a:extLst xmlns:a="http://schemas.openxmlformats.org/drawingml/2006/main">
              <a:ext uri="{FF2B5EF4-FFF2-40B4-BE49-F238E27FC236}">
                <a16:creationId xmlns:a16="http://schemas.microsoft.com/office/drawing/2014/main" id="{846F055A-1C38-4794-83B1-16FDBF18A629}"/>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Larger pools contain more predicted positives</a:t>
            </a:r>
          </a:p>
        </p:txBody>
      </p:sp>
      <p:sp>
        <p:nvSpPr>
          <p:cNvPr id="2" name="09">
            <a:extLst xmlns:a="http://schemas.openxmlformats.org/drawingml/2006/main">
              <a:ext uri="{FF2B5EF4-FFF2-40B4-BE49-F238E27FC236}">
                <a16:creationId xmlns:a16="http://schemas.microsoft.com/office/drawing/2014/main" id="{C4A621EA-E933-4FD7-A234-08B5E93409F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Mean passages per query">
            <a:extLst xmlns:a="http://schemas.openxmlformats.org/drawingml/2006/main">
              <a:ext uri="{FF2B5EF4-FFF2-40B4-BE49-F238E27FC236}">
                <a16:creationId xmlns:a16="http://schemas.microsoft.com/office/drawing/2014/main" id="{92379E38-2336-463F-982C-7CA1BC915C67}"/>
              </a:ext>
            </a:extLst>
          </p:cNvPr>
          <p:cNvSpPr>
            <a:spLocks xmlns:a="http://schemas.openxmlformats.org/drawingml/2006/main" noGrp="1"/>
          </p:cNvSpPr>
          <p:nvPr/>
        </p:nvSpPr>
        <p:spPr>
          <a:xfrm xmlns:a="http://schemas.openxmlformats.org/drawingml/2006/main">
            <a:off x="609600" y="1628775"/>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Mean passages per query</a:t>
            </a:r>
          </a:p>
        </p:txBody>
      </p:sp>
      <p:graphicFrame>
        <p:nvGraphicFramePr>
          <p:cNvPr id="13" name="Chart"/>
          <p:cNvGraphicFramePr/>
          <p:nvPr/>
        </p:nvGraphicFramePr>
        <p:xfrm>
          <a:off xmlns:a="http://schemas.openxmlformats.org/drawingml/2006/main" x="609600" y="2105025"/>
          <a:ext xmlns:a="http://schemas.openxmlformats.org/drawingml/2006/main" cx="8315325" cy="3571875"/>
        </p:xfrm>
        <a:graphic xmlns:a="http://schemas.openxmlformats.org/drawingml/2006/main">
          <a:graphicData uri="http://schemas.openxmlformats.org/drawingml/2006/chart">
            <c:chart xmlns:r="http://schemas.openxmlformats.org/officeDocument/2006/relationships" xmlns:c="http://schemas.openxmlformats.org/drawingml/2006/chart" r:id="R1bf3ddff373141dc"/>
          </a:graphicData>
        </a:graphic>
      </p:graphicFrame>
      <p:sp>
        <p:nvSpPr>
          <p:cNvPr id="5" name="451.5">
            <a:extLst xmlns:a="http://schemas.openxmlformats.org/drawingml/2006/main">
              <a:ext uri="{FF2B5EF4-FFF2-40B4-BE49-F238E27FC236}">
                <a16:creationId xmlns:a16="http://schemas.microsoft.com/office/drawing/2014/main" id="{F27E6F91-36C5-419B-89AF-E14085E3D135}"/>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819499"/>
                </a:solidFill>
                <a:latin typeface="Arial"/>
                <a:ea typeface="Arial"/>
                <a:cs typeface="Arial"/>
              </a:defRPr>
            </a:pPr>
            <a:r>
              <a:rPr sz="4425" b="1">
                <a:solidFill>
                  <a:srgbClr val="819499"/>
                </a:solidFill>
                <a:latin typeface="Arial"/>
                <a:ea typeface="Arial"/>
                <a:cs typeface="Arial"/>
              </a:rPr>
              <a:t>451.5</a:t>
            </a:r>
          </a:p>
        </p:txBody>
      </p:sp>
      <p:sp>
        <p:nvSpPr>
          <p:cNvPr id="6" name="candidates">
            <a:extLst xmlns:a="http://schemas.openxmlformats.org/drawingml/2006/main">
              <a:ext uri="{FF2B5EF4-FFF2-40B4-BE49-F238E27FC236}">
                <a16:creationId xmlns:a16="http://schemas.microsoft.com/office/drawing/2014/main" id="{9C450D9B-A66E-484C-9763-CFF8D55914A3}"/>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candidates</a:t>
            </a:r>
          </a:p>
        </p:txBody>
      </p:sp>
      <p:sp>
        <p:nvSpPr>
          <p:cNvPr id="7" name="128.6">
            <a:extLst xmlns:a="http://schemas.openxmlformats.org/drawingml/2006/main">
              <a:ext uri="{FF2B5EF4-FFF2-40B4-BE49-F238E27FC236}">
                <a16:creationId xmlns:a16="http://schemas.microsoft.com/office/drawing/2014/main" id="{FA60B850-6385-4C62-B302-AC15B578F464}"/>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8" name="predicted relevant&#10;at K = 200">
            <a:extLst xmlns:a="http://schemas.openxmlformats.org/drawingml/2006/main">
              <a:ext uri="{FF2B5EF4-FFF2-40B4-BE49-F238E27FC236}">
                <a16:creationId xmlns:a16="http://schemas.microsoft.com/office/drawing/2014/main" id="{BB2E2BA7-02E1-4C17-BDFF-D99BE35F458E}"/>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predicted relevant</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at K = 200</a:t>
            </a:r>
          </a:p>
        </p:txBody>
      </p:sp>
      <p:sp>
        <p:nvSpPr>
          <p:cNvPr id="9" name="101,093 queries, including zero-positive pools. ">
            <a:extLst xmlns:a="http://schemas.openxmlformats.org/drawingml/2006/main">
              <a:ext uri="{FF2B5EF4-FFF2-40B4-BE49-F238E27FC236}">
                <a16:creationId xmlns:a16="http://schemas.microsoft.com/office/drawing/2014/main" id="{B2300DBB-4DB1-4929-88B4-4312D3869DC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101,093 queries, including zero-positive pools. Same judge and threshold.</a:t>
            </a:r>
          </a:p>
        </p:txBody>
      </p:sp>
    </p:spTree>
    <p:extLst>
      <p:ext uri="{BB962C8B-B14F-4D97-AF65-F5344CB8AC3E}">
        <p14:creationId xmlns:p14="http://schemas.microsoft.com/office/powerpoint/2010/main" val="36570620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RF changes position relative to E5">
            <a:extLst xmlns:a="http://schemas.openxmlformats.org/drawingml/2006/main">
              <a:ext uri="{FF2B5EF4-FFF2-40B4-BE49-F238E27FC236}">
                <a16:creationId xmlns:a16="http://schemas.microsoft.com/office/drawing/2014/main" id="{AFD7B868-DBA1-4C40-BA2D-B26338FF18EF}"/>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RRF changes position relative to E5</a:t>
            </a:r>
          </a:p>
        </p:txBody>
      </p:sp>
      <p:sp>
        <p:nvSpPr>
          <p:cNvPr id="2" name="10">
            <a:extLst xmlns:a="http://schemas.openxmlformats.org/drawingml/2006/main">
              <a:ext uri="{FF2B5EF4-FFF2-40B4-BE49-F238E27FC236}">
                <a16:creationId xmlns:a16="http://schemas.microsoft.com/office/drawing/2014/main" id="{DFF7C6EB-C3C3-47A6-989B-C9ED3CD13D5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RRF(L = K) minus E5; assessment depth K = fusion">
            <a:extLst xmlns:a="http://schemas.openxmlformats.org/drawingml/2006/main">
              <a:ext uri="{FF2B5EF4-FFF2-40B4-BE49-F238E27FC236}">
                <a16:creationId xmlns:a16="http://schemas.microsoft.com/office/drawing/2014/main" id="{25623D8B-E561-4CE2-A71B-32D128A7F436}"/>
              </a:ext>
            </a:extLst>
          </p:cNvPr>
          <p:cNvSpPr>
            <a:spLocks xmlns:a="http://schemas.openxmlformats.org/drawingml/2006/main" noGrp="1"/>
          </p:cNvSpPr>
          <p:nvPr/>
        </p:nvSpPr>
        <p:spPr>
          <a:xfrm xmlns:a="http://schemas.openxmlformats.org/drawingml/2006/main">
            <a:off x="609600" y="1676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RRF(L = K) minus E5; assessment depth K = fusion input depth L</a:t>
            </a:r>
          </a:p>
        </p:txBody>
      </p:sp>
      <p:graphicFrame>
        <p:nvGraphicFramePr>
          <p:cNvPr id="10" name="Chart"/>
          <p:cNvGraphicFramePr/>
          <p:nvPr/>
        </p:nvGraphicFramePr>
        <p:xfrm>
          <a:off xmlns:a="http://schemas.openxmlformats.org/drawingml/2006/main" x="609600" y="2305050"/>
          <a:ext xmlns:a="http://schemas.openxmlformats.org/drawingml/2006/main" cx="10972800" cy="3228975"/>
        </p:xfrm>
        <a:graphic xmlns:a="http://schemas.openxmlformats.org/drawingml/2006/main">
          <a:graphicData uri="http://schemas.openxmlformats.org/drawingml/2006/chart">
            <c:chart xmlns:r="http://schemas.openxmlformats.org/officeDocument/2006/relationships" xmlns:c="http://schemas.openxmlformats.org/drawingml/2006/chart" r:id="R54333ac09e914be7"/>
          </a:graphicData>
        </a:graphic>
      </p:graphicFrame>
      <p:sp>
        <p:nvSpPr>
          <p:cNvPr id="5" name="K = 200: +0.0088   95% CI [0.0082, 0.0095]">
            <a:extLst xmlns:a="http://schemas.openxmlformats.org/drawingml/2006/main">
              <a:ext uri="{FF2B5EF4-FFF2-40B4-BE49-F238E27FC236}">
                <a16:creationId xmlns:a16="http://schemas.microsoft.com/office/drawing/2014/main" id="{CB836D94-AA6F-4D76-9544-255EC7869E4E}"/>
              </a:ext>
            </a:extLst>
          </p:cNvPr>
          <p:cNvSpPr>
            <a:spLocks xmlns:a="http://schemas.openxmlformats.org/drawingml/2006/main" noGrp="1"/>
          </p:cNvSpPr>
          <p:nvPr/>
        </p:nvSpPr>
        <p:spPr>
          <a:xfrm xmlns:a="http://schemas.openxmlformats.org/drawingml/2006/main">
            <a:off x="609600" y="56483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95236"/>
                </a:solidFill>
                <a:latin typeface="Arial"/>
                <a:ea typeface="Arial"/>
                <a:cs typeface="Arial"/>
              </a:defRPr>
            </a:pPr>
            <a:r>
              <a:rPr sz="2100" b="1">
                <a:solidFill>
                  <a:srgbClr val="C95236"/>
                </a:solidFill>
                <a:latin typeface="Arial"/>
                <a:ea typeface="Arial"/>
                <a:cs typeface="Arial"/>
              </a:rPr>
              <a:t>K = 200: +0.0088   95% CI [0.0082, 0.0095]</a:t>
            </a:r>
          </a:p>
        </p:txBody>
      </p:sp>
      <p:sp>
        <p:nvSpPr>
          <p:cNvPr id="6" name="Single-judge pseudo-labels. Points with 95% pair">
            <a:extLst xmlns:a="http://schemas.openxmlformats.org/drawingml/2006/main">
              <a:ext uri="{FF2B5EF4-FFF2-40B4-BE49-F238E27FC236}">
                <a16:creationId xmlns:a16="http://schemas.microsoft.com/office/drawing/2014/main" id="{C63A09B3-E014-4769-B544-0D79B54A54C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Points with 95% paired query-bootstrap intervals.</a:t>
            </a:r>
          </a:p>
        </p:txBody>
      </p:sp>
    </p:spTree>
    <p:extLst>
      <p:ext uri="{BB962C8B-B14F-4D97-AF65-F5344CB8AC3E}">
        <p14:creationId xmlns:p14="http://schemas.microsoft.com/office/powerpoint/2010/main" val="34317503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Assessment coverage can reverse a comparison">
            <a:extLst xmlns:a="http://schemas.openxmlformats.org/drawingml/2006/main">
              <a:ext uri="{FF2B5EF4-FFF2-40B4-BE49-F238E27FC236}">
                <a16:creationId xmlns:a16="http://schemas.microsoft.com/office/drawing/2014/main" id="{B608F73A-54F0-4890-97F7-4A78069F4B9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Assessment coverage can reverse a comparison</a:t>
            </a:r>
          </a:p>
        </p:txBody>
      </p:sp>
      <p:sp>
        <p:nvSpPr>
          <p:cNvPr id="2" name="11">
            <a:extLst xmlns:a="http://schemas.openxmlformats.org/drawingml/2006/main">
              <a:ext uri="{FF2B5EF4-FFF2-40B4-BE49-F238E27FC236}">
                <a16:creationId xmlns:a16="http://schemas.microsoft.com/office/drawing/2014/main" id="{4A2E7765-1064-4883-9544-37548904C2C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Fixed RRF inputs: top 200. Both output rankings ">
            <a:extLst xmlns:a="http://schemas.openxmlformats.org/drawingml/2006/main">
              <a:ext uri="{FF2B5EF4-FFF2-40B4-BE49-F238E27FC236}">
                <a16:creationId xmlns:a16="http://schemas.microsoft.com/office/drawing/2014/main" id="{E9DCB4C4-00EE-445D-8043-6EB4375855B3}"/>
              </a:ext>
            </a:extLst>
          </p:cNvPr>
          <p:cNvSpPr>
            <a:spLocks xmlns:a="http://schemas.openxmlformats.org/drawingml/2006/main" noGrp="1"/>
          </p:cNvSpPr>
          <p:nvPr/>
        </p:nvSpPr>
        <p:spPr>
          <a:xfrm xmlns:a="http://schemas.openxmlformats.org/drawingml/2006/main">
            <a:off x="609600" y="1676400"/>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Fixed RRF inputs: top 200. Both output rankings stay unchanged.</a:t>
            </a:r>
          </a:p>
        </p:txBody>
      </p:sp>
      <p:graphicFrame>
        <p:nvGraphicFramePr>
          <p:cNvPr id="14"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f01e857490b848a3"/>
          </a:graphicData>
        </a:graphic>
      </p:graphicFrame>
      <p:sp>
        <p:nvSpPr>
          <p:cNvPr id="5" name="14.4%">
            <a:extLst xmlns:a="http://schemas.openxmlformats.org/drawingml/2006/main">
              <a:ext uri="{FF2B5EF4-FFF2-40B4-BE49-F238E27FC236}">
                <a16:creationId xmlns:a16="http://schemas.microsoft.com/office/drawing/2014/main" id="{72B29433-E11C-4361-9423-DAE8D6553BE1}"/>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6" name="of RRF top-10 pairs&#10;outside the pool&#10;at K = 10">
            <a:extLst xmlns:a="http://schemas.openxmlformats.org/drawingml/2006/main">
              <a:ext uri="{FF2B5EF4-FFF2-40B4-BE49-F238E27FC236}">
                <a16:creationId xmlns:a16="http://schemas.microsoft.com/office/drawing/2014/main" id="{C6A8D8FF-590F-46A2-B701-95381ED83D57}"/>
              </a:ext>
            </a:extLst>
          </p:cNvPr>
          <p:cNvSpPr>
            <a:spLocks xmlns:a="http://schemas.openxmlformats.org/drawingml/2006/main" noGrp="1"/>
          </p:cNvSpPr>
          <p:nvPr/>
        </p:nvSpPr>
        <p:spPr>
          <a:xfrm xmlns:a="http://schemas.openxmlformats.org/drawingml/2006/main">
            <a:off x="8963025" y="37052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of RRF top-10 pairs</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outside the pool</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at K = 10</a:t>
            </a:r>
          </a:p>
        </p:txBody>
      </p:sp>
      <p:sp>
        <p:nvSpPr>
          <p:cNvPr id="7" name="145,643 query–passage pairs">
            <a:extLst xmlns:a="http://schemas.openxmlformats.org/drawingml/2006/main">
              <a:ext uri="{FF2B5EF4-FFF2-40B4-BE49-F238E27FC236}">
                <a16:creationId xmlns:a16="http://schemas.microsoft.com/office/drawing/2014/main" id="{1BC2668E-2FC0-40D8-9201-A236D8A53400}"/>
              </a:ext>
            </a:extLst>
          </p:cNvPr>
          <p:cNvSpPr>
            <a:spLocks xmlns:a="http://schemas.openxmlformats.org/drawingml/2006/main" noGrp="1"/>
          </p:cNvSpPr>
          <p:nvPr/>
        </p:nvSpPr>
        <p:spPr>
          <a:xfrm xmlns:a="http://schemas.openxmlformats.org/drawingml/2006/main">
            <a:off x="8963025" y="51720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145,643 query–passage pairs</a:t>
            </a:r>
          </a:p>
        </p:txBody>
      </p:sp>
      <p:sp>
        <p:nvSpPr>
          <p:cNvPr id="8" name="K = 10: −0.0661">
            <a:extLst xmlns:a="http://schemas.openxmlformats.org/drawingml/2006/main">
              <a:ext uri="{FF2B5EF4-FFF2-40B4-BE49-F238E27FC236}">
                <a16:creationId xmlns:a16="http://schemas.microsoft.com/office/drawing/2014/main" id="{E79810F6-0FC7-4D6D-BE96-2A5F445520C2}"/>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9" name="K = 30: +0.0080">
            <a:extLst xmlns:a="http://schemas.openxmlformats.org/drawingml/2006/main">
              <a:ext uri="{FF2B5EF4-FFF2-40B4-BE49-F238E27FC236}">
                <a16:creationId xmlns:a16="http://schemas.microsoft.com/office/drawing/2014/main" id="{82B86423-4E27-4C6F-8CD3-2A38F8E8991E}"/>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0" name="RRF minus E5 under pseudo-labels. Unjudged retur">
            <a:extLst xmlns:a="http://schemas.openxmlformats.org/drawingml/2006/main">
              <a:ext uri="{FF2B5EF4-FFF2-40B4-BE49-F238E27FC236}">
                <a16:creationId xmlns:a16="http://schemas.microsoft.com/office/drawing/2014/main" id="{4C7986F0-BE2A-469D-8C1B-D5446BF594B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RRF minus E5 under pseudo-labels. Unjudged returned passages receive zero gain.</a:t>
            </a:r>
          </a:p>
        </p:txBody>
      </p:sp>
    </p:spTree>
    <p:extLst>
      <p:ext uri="{BB962C8B-B14F-4D97-AF65-F5344CB8AC3E}">
        <p14:creationId xmlns:p14="http://schemas.microsoft.com/office/powerpoint/2010/main" val="193966256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cope and robustness">
            <a:extLst xmlns:a="http://schemas.openxmlformats.org/drawingml/2006/main">
              <a:ext uri="{FF2B5EF4-FFF2-40B4-BE49-F238E27FC236}">
                <a16:creationId xmlns:a16="http://schemas.microsoft.com/office/drawing/2014/main" id="{EADCE51D-50BF-44AE-BF3A-41C1B6E7148E}"/>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Scope and robustness</a:t>
            </a:r>
          </a:p>
        </p:txBody>
      </p:sp>
      <p:sp>
        <p:nvSpPr>
          <p:cNvPr id="2" name="12">
            <a:extLst xmlns:a="http://schemas.openxmlformats.org/drawingml/2006/main">
              <a:ext uri="{FF2B5EF4-FFF2-40B4-BE49-F238E27FC236}">
                <a16:creationId xmlns:a16="http://schemas.microsoft.com/office/drawing/2014/main" id="{E1C97FA5-541E-4470-AF9C-D6D5B7F201D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Sensitivity checks">
            <a:extLst xmlns:a="http://schemas.openxmlformats.org/drawingml/2006/main">
              <a:ext uri="{FF2B5EF4-FFF2-40B4-BE49-F238E27FC236}">
                <a16:creationId xmlns:a16="http://schemas.microsoft.com/office/drawing/2014/main" id="{01E2F6B2-0605-48C8-ADAC-E1621F078B72}"/>
              </a:ext>
            </a:extLst>
          </p:cNvPr>
          <p:cNvSpPr>
            <a:spLocks xmlns:a="http://schemas.openxmlformats.org/drawingml/2006/main" noGrp="1"/>
          </p:cNvSpPr>
          <p:nvPr/>
        </p:nvSpPr>
        <p:spPr>
          <a:xfrm xmlns:a="http://schemas.openxmlformats.org/drawingml/2006/main">
            <a:off x="609600" y="17621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Sensitivity checks</a:t>
            </a:r>
          </a:p>
        </p:txBody>
      </p:sp>
      <p:graphicFrame>
        <p:nvGraphicFramePr>
          <p:cNvPr id="11" name=""/>
          <p:cNvGraphicFramePr/>
          <p:nvPr/>
        </p:nvGraphicFramePr>
        <p:xfrm>
          <a:off xmlns:a="http://schemas.openxmlformats.org/drawingml/2006/main" x="609600" y="23812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Evaluation</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Remaining queries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Observed result</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Manual labels</a:t>
                      </a:r>
                    </a:p>
                    <a:p>
                      <a:r>
                        <a:rPr sz="1875" b="0">
                          <a:solidFill>
                            <a:srgbClr val="182B30"/>
                          </a:solidFill>
                          <a:latin typeface="Arial"/>
                          <a:ea typeface="Arial"/>
                          <a:cs typeface="Arial"/>
                        </a:rPr>
                        <a:t>23 affected queries excluded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1,156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System order unchanged</a:t>
                      </a:r>
                    </a:p>
                  </a:txBody>
                  <a:tcPr marL="91440" marR="91440" marT="45720" marB="45720" anchor="ctr">
                    <a:lnL w="0">
                      <a:noFill/>
                    </a:lnL>
                    <a:lnR w="0">
                      <a:noFill/>
                    </a:lnR>
                    <a:lnT w="0">
                      <a:noFill/>
                    </a:lnT>
                    <a:lnB w="7620">
                      <a:solidFill>
                        <a:srgbClr val="D4E1E0"/>
                      </a:solidFill>
                    </a:lnB>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Full-set pseudo-labels</a:t>
                      </a:r>
                    </a:p>
                    <a:p>
                      <a:r>
                        <a:rPr sz="1875" b="0">
                          <a:solidFill>
                            <a:srgbClr val="182B30"/>
                          </a:solidFill>
                          <a:latin typeface="Arial"/>
                          <a:ea typeface="Arial"/>
                          <a:cs typeface="Arial"/>
                        </a:rPr>
                        <a:t>Manual queries excluded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99,914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Signs of RRF–E5 differences unchanged</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11788B3-DA1E-4F38-ACFD-EDA1FD9D2338}"/>
              </a:ext>
            </a:extLst>
          </p:cNvPr>
          <p:cNvSpPr>
            <a:spLocks xmlns:a="http://schemas.openxmlformats.org/drawingml/2006/main" noGrp="1"/>
          </p:cNvSpPr>
          <p:nvPr/>
        </p:nvSpPr>
        <p:spPr>
          <a:xfrm xmlns:a="http://schemas.openxmlformats.org/drawingml/2006/main">
            <a:off x="609600" y="4924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Inter-assessor agreement is unmeasured.&#10;Full-set">
            <a:extLst xmlns:a="http://schemas.openxmlformats.org/drawingml/2006/main">
              <a:ext uri="{FF2B5EF4-FFF2-40B4-BE49-F238E27FC236}">
                <a16:creationId xmlns:a16="http://schemas.microsoft.com/office/drawing/2014/main" id="{1EF667CD-C782-4C9D-9EF4-A34A6DCAF5FF}"/>
              </a:ext>
            </a:extLst>
          </p:cNvPr>
          <p:cNvSpPr>
            <a:spLocks xmlns:a="http://schemas.openxmlformats.org/drawingml/2006/main" noGrp="1"/>
          </p:cNvSpPr>
          <p:nvPr/>
        </p:nvSpPr>
        <p:spPr>
          <a:xfrm xmlns:a="http://schemas.openxmlformats.org/drawingml/2006/main">
            <a:off x="609600" y="52387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Inter-assessor agreement is unmeasured.</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Full-set results lack independent human validation.</a:t>
            </a:r>
          </a:p>
        </p:txBody>
      </p:sp>
      <p:sp>
        <p:nvSpPr>
          <p:cNvPr id="7" name="Evidence concerns selected English MS MARCO pool">
            <a:extLst xmlns:a="http://schemas.openxmlformats.org/drawingml/2006/main">
              <a:ext uri="{FF2B5EF4-FFF2-40B4-BE49-F238E27FC236}">
                <a16:creationId xmlns:a16="http://schemas.microsoft.com/office/drawing/2014/main" id="{93025CFC-80E1-43FD-BD0E-AA333929D52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Evidence concerns selected English MS MARCO pools and one judge.</a:t>
            </a:r>
          </a:p>
        </p:txBody>
      </p:sp>
    </p:spTree>
    <p:extLst>
      <p:ext uri="{BB962C8B-B14F-4D97-AF65-F5344CB8AC3E}">
        <p14:creationId xmlns:p14="http://schemas.microsoft.com/office/powerpoint/2010/main" val="78227654"/>
      </p:ext>
    </p:extLst>
  </p:cSld>
</p:sld>
</file>

<file path=ppt/slides/slide13.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0" name="Judgment coverage affects retrieval evaluation">
            <a:extLst xmlns:a="http://schemas.openxmlformats.org/drawingml/2006/main">
              <a:ext uri="{FF2B5EF4-FFF2-40B4-BE49-F238E27FC236}">
                <a16:creationId xmlns:a16="http://schemas.microsoft.com/office/drawing/2014/main" id="{BC8F8D3B-38B0-45BC-BC11-E1CD8D633CE9}"/>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Judgment coverage affects retrieval evaluation</a:t>
            </a:r>
          </a:p>
        </p:txBody>
      </p:sp>
      <p:sp>
        <p:nvSpPr>
          <p:cNvPr id="2" name="13">
            <a:extLst xmlns:a="http://schemas.openxmlformats.org/drawingml/2006/main">
              <a:ext uri="{FF2B5EF4-FFF2-40B4-BE49-F238E27FC236}">
                <a16:creationId xmlns:a16="http://schemas.microsoft.com/office/drawing/2014/main" id="{5DF29E1B-F7D4-4446-8D40-1C048BCBC81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13</a:t>
            </a:r>
          </a:p>
        </p:txBody>
      </p:sp>
      <p:sp>
        <p:nvSpPr>
          <p:cNvPr id="3" name="Human judgments">
            <a:extLst xmlns:a="http://schemas.openxmlformats.org/drawingml/2006/main">
              <a:ext uri="{FF2B5EF4-FFF2-40B4-BE49-F238E27FC236}">
                <a16:creationId xmlns:a16="http://schemas.microsoft.com/office/drawing/2014/main" id="{EFD6D2DB-8B90-4A91-8434-BAB189871B0D}"/>
              </a:ext>
            </a:extLst>
          </p:cNvPr>
          <p:cNvSpPr>
            <a:spLocks xmlns:a="http://schemas.openxmlformats.org/drawingml/2006/main" noGrp="1"/>
          </p:cNvSpPr>
          <p:nvPr/>
        </p:nvSpPr>
        <p:spPr>
          <a:xfrm xmlns:a="http://schemas.openxmlformats.org/drawingml/2006/main">
            <a:off x="609600" y="2209800"/>
            <a:ext cx="419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8ACEC4"/>
                </a:solidFill>
                <a:latin typeface="Arial"/>
                <a:ea typeface="Arial"/>
                <a:cs typeface="Arial"/>
              </a:defRPr>
            </a:pPr>
            <a:r>
              <a:rPr sz="2400" b="1">
                <a:solidFill>
                  <a:srgbClr val="8ACEC4"/>
                </a:solidFill>
                <a:latin typeface="Arial"/>
                <a:ea typeface="Arial"/>
                <a:cs typeface="Arial"/>
              </a:rPr>
              <a:t>Human judgments</a:t>
            </a:r>
          </a:p>
        </p:txBody>
      </p:sp>
      <p:sp>
        <p:nvSpPr>
          <p:cNvPr id="4" name="E5 NDCG@10: 0.488 to 0.879">
            <a:extLst xmlns:a="http://schemas.openxmlformats.org/drawingml/2006/main">
              <a:ext uri="{FF2B5EF4-FFF2-40B4-BE49-F238E27FC236}">
                <a16:creationId xmlns:a16="http://schemas.microsoft.com/office/drawing/2014/main" id="{FADF2338-2E12-44C5-BA66-7CD2649F37A0}"/>
              </a:ext>
            </a:extLst>
          </p:cNvPr>
          <p:cNvSpPr>
            <a:spLocks xmlns:a="http://schemas.openxmlformats.org/drawingml/2006/main" noGrp="1"/>
          </p:cNvSpPr>
          <p:nvPr/>
        </p:nvSpPr>
        <p:spPr>
          <a:xfrm xmlns:a="http://schemas.openxmlformats.org/drawingml/2006/main">
            <a:off x="609600" y="2876550"/>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0.488 to 0.879</a:t>
            </a:r>
          </a:p>
        </p:txBody>
      </p:sp>
      <p:sp>
        <p:nvSpPr>
          <p:cNvPr id="5" name="Same ranking; more complete relevance judgments">
            <a:extLst xmlns:a="http://schemas.openxmlformats.org/drawingml/2006/main">
              <a:ext uri="{FF2B5EF4-FFF2-40B4-BE49-F238E27FC236}">
                <a16:creationId xmlns:a16="http://schemas.microsoft.com/office/drawing/2014/main" id="{D8402C9B-E8CF-4430-866E-14412FE35C90}"/>
              </a:ext>
            </a:extLst>
          </p:cNvPr>
          <p:cNvSpPr>
            <a:spLocks xmlns:a="http://schemas.openxmlformats.org/drawingml/2006/main" noGrp="1"/>
          </p:cNvSpPr>
          <p:nvPr/>
        </p:nvSpPr>
        <p:spPr>
          <a:xfrm xmlns:a="http://schemas.openxmlformats.org/drawingml/2006/main">
            <a:off x="609600" y="37052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Same ranking; more complete relevance judgments</a:t>
            </a:r>
          </a:p>
        </p:txBody>
      </p:sp>
      <p:sp>
        <p:nvSpPr>
          <p:cNvPr id="6" name="">
            <a:extLst xmlns:a="http://schemas.openxmlformats.org/drawingml/2006/main">
              <a:ext uri="{FF2B5EF4-FFF2-40B4-BE49-F238E27FC236}">
                <a16:creationId xmlns:a16="http://schemas.microsoft.com/office/drawing/2014/main" id="{31629787-79FE-4E40-9F68-C6477AEB6D08}"/>
              </a:ext>
            </a:extLst>
          </p:cNvPr>
          <p:cNvSpPr>
            <a:spLocks xmlns:a="http://schemas.openxmlformats.org/drawingml/2006/main" noGrp="1"/>
          </p:cNvSpPr>
          <p:nvPr/>
        </p:nvSpPr>
        <p:spPr>
          <a:xfrm xmlns:a="http://schemas.openxmlformats.org/drawingml/2006/main">
            <a:off x="609600" y="4486275"/>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Fixed rankings; single-judge pseudo-labels">
            <a:extLst xmlns:a="http://schemas.openxmlformats.org/drawingml/2006/main">
              <a:ext uri="{FF2B5EF4-FFF2-40B4-BE49-F238E27FC236}">
                <a16:creationId xmlns:a16="http://schemas.microsoft.com/office/drawing/2014/main" id="{E48A2A96-C4FB-4527-B41B-96E3F0CEB58B}"/>
              </a:ext>
            </a:extLst>
          </p:cNvPr>
          <p:cNvSpPr>
            <a:spLocks xmlns:a="http://schemas.openxmlformats.org/drawingml/2006/main" noGrp="1"/>
          </p:cNvSpPr>
          <p:nvPr/>
        </p:nvSpPr>
        <p:spPr>
          <a:xfrm xmlns:a="http://schemas.openxmlformats.org/drawingml/2006/main">
            <a:off x="609600" y="48672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8ACEC4"/>
                </a:solidFill>
                <a:latin typeface="Arial"/>
                <a:ea typeface="Arial"/>
                <a:cs typeface="Arial"/>
              </a:defRPr>
            </a:pPr>
            <a:r>
              <a:rPr sz="2550" b="1">
                <a:solidFill>
                  <a:srgbClr val="8ACEC4"/>
                </a:solidFill>
                <a:latin typeface="Arial"/>
                <a:ea typeface="Arial"/>
                <a:cs typeface="Arial"/>
              </a:rPr>
              <a:t>Fixed rankings; single-judge pseudo-labels</a:t>
            </a:r>
          </a:p>
        </p:txBody>
      </p:sp>
      <p:sp>
        <p:nvSpPr>
          <p:cNvPr id="8" name="The judgment pool can change which system scores">
            <a:extLst xmlns:a="http://schemas.openxmlformats.org/drawingml/2006/main">
              <a:ext uri="{FF2B5EF4-FFF2-40B4-BE49-F238E27FC236}">
                <a16:creationId xmlns:a16="http://schemas.microsoft.com/office/drawing/2014/main" id="{3FB0E719-C3DF-4833-86AC-2A2D6FD4FAE3}"/>
              </a:ext>
            </a:extLst>
          </p:cNvPr>
          <p:cNvSpPr>
            <a:spLocks xmlns:a="http://schemas.openxmlformats.org/drawingml/2006/main" noGrp="1"/>
          </p:cNvSpPr>
          <p:nvPr/>
        </p:nvSpPr>
        <p:spPr>
          <a:xfrm xmlns:a="http://schemas.openxmlformats.org/drawingml/2006/main">
            <a:off x="609600" y="54959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FFFFFF"/>
                </a:solidFill>
                <a:latin typeface="Arial"/>
                <a:ea typeface="Arial"/>
                <a:cs typeface="Arial"/>
              </a:defRPr>
            </a:pPr>
            <a:r>
              <a:rPr sz="2550" b="0">
                <a:solidFill>
                  <a:srgbClr val="FFFFFF"/>
                </a:solidFill>
                <a:latin typeface="Arial"/>
                <a:ea typeface="Arial"/>
                <a:cs typeface="Arial"/>
              </a:rPr>
              <a:t>The judgment pool can change which system scores higher</a:t>
            </a:r>
          </a:p>
        </p:txBody>
      </p:sp>
      <p:sp>
        <p:nvSpPr>
          <p:cNvPr id="9" name="Evidence from selected English MS MARCO candidat">
            <a:extLst xmlns:a="http://schemas.openxmlformats.org/drawingml/2006/main">
              <a:ext uri="{FF2B5EF4-FFF2-40B4-BE49-F238E27FC236}">
                <a16:creationId xmlns:a16="http://schemas.microsoft.com/office/drawing/2014/main" id="{B9321511-95E6-4005-BABC-0A0B6739493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Evidence from selected English MS MARCO candidate pools.</a:t>
            </a:r>
          </a:p>
        </p:txBody>
      </p:sp>
    </p:spTree>
    <p:extLst>
      <p:ext uri="{BB962C8B-B14F-4D97-AF65-F5344CB8AC3E}">
        <p14:creationId xmlns:p14="http://schemas.microsoft.com/office/powerpoint/2010/main" val="40334511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and paired annotation effects">
            <a:extLst xmlns:a="http://schemas.openxmlformats.org/drawingml/2006/main">
              <a:ext uri="{FF2B5EF4-FFF2-40B4-BE49-F238E27FC236}">
                <a16:creationId xmlns:a16="http://schemas.microsoft.com/office/drawing/2014/main" id="{C0537E74-930B-43B7-B9CE-FB285AB898B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NDCG@10 and paired annotation effects</a:t>
            </a:r>
          </a:p>
        </p:txBody>
      </p:sp>
      <p:sp>
        <p:nvSpPr>
          <p:cNvPr id="2" name="APPENDIX A">
            <a:extLst xmlns:a="http://schemas.openxmlformats.org/drawingml/2006/main">
              <a:ext uri="{FF2B5EF4-FFF2-40B4-BE49-F238E27FC236}">
                <a16:creationId xmlns:a16="http://schemas.microsoft.com/office/drawing/2014/main" id="{4259E809-CD71-46A0-B02E-5E47360F209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A</a:t>
            </a:r>
          </a:p>
        </p:txBody>
      </p:sp>
      <p:sp>
        <p:nvSpPr>
          <p:cNvPr id="3" name="NDCG@10 = DCG@10 / ideal DCG@10">
            <a:extLst xmlns:a="http://schemas.openxmlformats.org/drawingml/2006/main">
              <a:ext uri="{FF2B5EF4-FFF2-40B4-BE49-F238E27FC236}">
                <a16:creationId xmlns:a16="http://schemas.microsoft.com/office/drawing/2014/main" id="{75BA1AF1-6D83-421D-929E-F1144FB896A7}"/>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ideal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Human − original</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95% paired CI</a:t>
                      </a:r>
                    </a:p>
                  </a:txBody>
                  <a:tcPr marL="91440" marR="91440" marT="45720" marB="45720" anchor="ctr">
                    <a:lnL w="0">
                      <a:noFill/>
                    </a:lnL>
                    <a:lnR w="0">
                      <a:noFill/>
                    </a:lnR>
                    <a:lnT w="0">
                      <a:noFill/>
                    </a:lnT>
                    <a:lnB w="7620">
                      <a:solidFill>
                        <a:srgbClr val="D4E1E0"/>
                      </a:solidFill>
                    </a:lnB>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0.372 to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0.365 to 0.417</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0.369 to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to 0.419</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5,000 paired query bootstraps. All four annotati">
            <a:extLst xmlns:a="http://schemas.openxmlformats.org/drawingml/2006/main">
              <a:ext uri="{FF2B5EF4-FFF2-40B4-BE49-F238E27FC236}">
                <a16:creationId xmlns:a16="http://schemas.microsoft.com/office/drawing/2014/main" id="{95FDCFAF-CDE5-46CD-BFBD-D06D742D5E5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5,000 paired query bootstraps. All four annotation effects: p &lt; 0.001.</a:t>
            </a:r>
          </a:p>
        </p:txBody>
      </p:sp>
    </p:spTree>
    <p:extLst>
      <p:ext uri="{BB962C8B-B14F-4D97-AF65-F5344CB8AC3E}">
        <p14:creationId xmlns:p14="http://schemas.microsoft.com/office/powerpoint/2010/main" val="145791477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Judge test protocol and observed errors">
            <a:extLst xmlns:a="http://schemas.openxmlformats.org/drawingml/2006/main">
              <a:ext uri="{FF2B5EF4-FFF2-40B4-BE49-F238E27FC236}">
                <a16:creationId xmlns:a16="http://schemas.microsoft.com/office/drawing/2014/main" id="{719CFF4A-4C15-409A-9A1E-2ED1D7E6C24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test protocol and observed errors</a:t>
            </a:r>
          </a:p>
        </p:txBody>
      </p:sp>
      <p:sp>
        <p:nvSpPr>
          <p:cNvPr id="2" name="APPENDIX B">
            <a:extLst xmlns:a="http://schemas.openxmlformats.org/drawingml/2006/main">
              <a:ext uri="{FF2B5EF4-FFF2-40B4-BE49-F238E27FC236}">
                <a16:creationId xmlns:a16="http://schemas.microsoft.com/office/drawing/2014/main" id="{7D5D2050-4A40-4321-8C3D-CCB84D40261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B</a:t>
            </a:r>
          </a:p>
        </p:txBody>
      </p:sp>
      <p:sp>
        <p:nvSpPr>
          <p:cNvPr id="3" name="825 / 177 / 177 queries">
            <a:extLst xmlns:a="http://schemas.openxmlformats.org/drawingml/2006/main">
              <a:ext uri="{FF2B5EF4-FFF2-40B4-BE49-F238E27FC236}">
                <a16:creationId xmlns:a16="http://schemas.microsoft.com/office/drawing/2014/main" id="{274E564E-907D-4EAB-860C-C6D88F85135D}"/>
              </a:ext>
            </a:extLst>
          </p:cNvPr>
          <p:cNvSpPr>
            <a:spLocks xmlns:a="http://schemas.openxmlformats.org/drawingml/2006/main" noGrp="1"/>
          </p:cNvSpPr>
          <p:nvPr/>
        </p:nvSpPr>
        <p:spPr>
          <a:xfrm xmlns:a="http://schemas.openxmlformats.org/drawingml/2006/main">
            <a:off x="609600" y="17526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007F78"/>
                </a:solidFill>
                <a:latin typeface="Arial"/>
                <a:ea typeface="Arial"/>
                <a:cs typeface="Arial"/>
              </a:defRPr>
            </a:pPr>
            <a:r>
              <a:rPr sz="2625" b="1">
                <a:solidFill>
                  <a:srgbClr val="007F78"/>
                </a:solidFill>
                <a:latin typeface="Arial"/>
                <a:ea typeface="Arial"/>
                <a:cs typeface="Arial"/>
              </a:rPr>
              <a:t>825 / 177 / 177 queries</a:t>
            </a:r>
          </a:p>
        </p:txBody>
      </p:sp>
      <p:sp>
        <p:nvSpPr>
          <p:cNvPr id="4" name="Train / validation / test">
            <a:extLst xmlns:a="http://schemas.openxmlformats.org/drawingml/2006/main">
              <a:ext uri="{FF2B5EF4-FFF2-40B4-BE49-F238E27FC236}">
                <a16:creationId xmlns:a16="http://schemas.microsoft.com/office/drawing/2014/main" id="{AF7EDEF3-EDE1-4E05-9FD8-512C2DC4C7F9}"/>
              </a:ext>
            </a:extLst>
          </p:cNvPr>
          <p:cNvSpPr>
            <a:spLocks xmlns:a="http://schemas.openxmlformats.org/drawingml/2006/main" noGrp="1"/>
          </p:cNvSpPr>
          <p:nvPr/>
        </p:nvSpPr>
        <p:spPr>
          <a:xfrm xmlns:a="http://schemas.openxmlformats.org/drawingml/2006/main">
            <a:off x="609600" y="2286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Train / validation / test</a:t>
            </a:r>
          </a:p>
        </p:txBody>
      </p:sp>
      <p:graphicFrame>
        <p:nvGraphicFramePr>
          <p:cNvPr id="14"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Test target</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Predicted negative</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Predicted positive</a:t>
                      </a:r>
                    </a:p>
                  </a:txBody>
                  <a:tcPr marL="91440" marR="91440" marT="45720" marB="45720" anchor="ctr">
                    <a:lnL w="0">
                      <a:noFill/>
                    </a:lnL>
                    <a:lnR w="0">
                      <a:noFill/>
                    </a:lnR>
                    <a:lnT w="0">
                      <a:noFill/>
                    </a:lnT>
                    <a:lnB w="7620">
                      <a:solidFill>
                        <a:srgbClr val="D4E1E0"/>
                      </a:solidFill>
                    </a:lnB>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Negative under inherited mapping</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1,300</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0">
                          <a:solidFill>
                            <a:srgbClr val="182B30"/>
                          </a:solidFill>
                          <a:latin typeface="Arial"/>
                          <a:ea typeface="Arial"/>
                          <a:cs typeface="Arial"/>
                        </a:rPr>
                        <a:t>506</a:t>
                      </a:r>
                    </a:p>
                  </a:txBody>
                  <a:tcPr marL="91440" marR="91440" marT="45720" marB="45720" anchor="ctr">
                    <a:lnL w="0">
                      <a:noFill/>
                    </a:lnL>
                    <a:lnR w="0">
                      <a:noFill/>
                    </a:lnR>
                    <a:lnT w="0">
                      <a:noFill/>
                    </a:lnT>
                    <a:lnB w="7620">
                      <a:solidFill>
                        <a:srgbClr val="D4E1E0"/>
                      </a:solidFill>
                    </a:lnB>
                    <a:solidFill>
                      <a:srgbClr val="FFFFFF"/>
                    </a:solidFill>
                  </a:tcPr>
                </a:tc>
              </a:tr>
              <a:tr h="714375">
                <a:tc>
                  <a:txBody>
                    <a:bodyPr lIns="171450" tIns="95250" rIns="171450" bIns="95250">
                      <a:noAutofit/>
                    </a:bodyPr>
                    <a:lstStyle/>
                    <a:p>
                      <a:r>
                        <a:rPr sz="2025" b="0">
                          <a:solidFill>
                            <a:srgbClr val="182B30"/>
                          </a:solidFill>
                          <a:latin typeface="Arial"/>
                          <a:ea typeface="Arial"/>
                          <a:cs typeface="Arial"/>
                        </a:rPr>
                        <a:t>Positive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314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2,882</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6" name="Precision 0.851">
            <a:extLst xmlns:a="http://schemas.openxmlformats.org/drawingml/2006/main">
              <a:ext uri="{FF2B5EF4-FFF2-40B4-BE49-F238E27FC236}">
                <a16:creationId xmlns:a16="http://schemas.microsoft.com/office/drawing/2014/main" id="{2E8F1866-4C65-4114-83BC-5B02BD77BCE5}"/>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Precision 0.851</a:t>
            </a:r>
          </a:p>
        </p:txBody>
      </p:sp>
      <p:sp>
        <p:nvSpPr>
          <p:cNvPr id="7" name="Recall 0.902">
            <a:extLst xmlns:a="http://schemas.openxmlformats.org/drawingml/2006/main">
              <a:ext uri="{FF2B5EF4-FFF2-40B4-BE49-F238E27FC236}">
                <a16:creationId xmlns:a16="http://schemas.microsoft.com/office/drawing/2014/main" id="{C945AA6D-0C08-46CC-B447-386E78D9E57F}"/>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Recall 0.902</a:t>
            </a:r>
          </a:p>
        </p:txBody>
      </p:sp>
      <p:sp>
        <p:nvSpPr>
          <p:cNvPr id="8" name="F1 0.875">
            <a:extLst xmlns:a="http://schemas.openxmlformats.org/drawingml/2006/main">
              <a:ext uri="{FF2B5EF4-FFF2-40B4-BE49-F238E27FC236}">
                <a16:creationId xmlns:a16="http://schemas.microsoft.com/office/drawing/2014/main" id="{BA540236-7552-4468-9801-A60C8428DC9A}"/>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9" name="5,002 pairs; six unresolved targets mapped to ze">
            <a:extLst xmlns:a="http://schemas.openxmlformats.org/drawingml/2006/main">
              <a:ext uri="{FF2B5EF4-FFF2-40B4-BE49-F238E27FC236}">
                <a16:creationId xmlns:a16="http://schemas.microsoft.com/office/drawing/2014/main" id="{93898DAE-8718-4E4C-9E61-392809ACB5D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5,002 pairs; six unresolved targets mapped to zero and one empty-text record.</a:t>
            </a:r>
          </a:p>
        </p:txBody>
      </p:sp>
    </p:spTree>
    <p:extLst>
      <p:ext uri="{BB962C8B-B14F-4D97-AF65-F5344CB8AC3E}">
        <p14:creationId xmlns:p14="http://schemas.microsoft.com/office/powerpoint/2010/main" val="51043958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Full-set depth results">
            <a:extLst xmlns:a="http://schemas.openxmlformats.org/drawingml/2006/main">
              <a:ext uri="{FF2B5EF4-FFF2-40B4-BE49-F238E27FC236}">
                <a16:creationId xmlns:a16="http://schemas.microsoft.com/office/drawing/2014/main" id="{9CEEA4E9-303D-42D0-A993-0ACBADF0336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Full-set depth results</a:t>
            </a:r>
          </a:p>
        </p:txBody>
      </p:sp>
      <p:sp>
        <p:nvSpPr>
          <p:cNvPr id="2" name="APPENDIX C">
            <a:extLst xmlns:a="http://schemas.openxmlformats.org/drawingml/2006/main">
              <a:ext uri="{FF2B5EF4-FFF2-40B4-BE49-F238E27FC236}">
                <a16:creationId xmlns:a16="http://schemas.microsoft.com/office/drawing/2014/main" id="{731E6178-F423-4CF7-924A-9B2F8366488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C</a:t>
            </a:r>
          </a:p>
        </p:txBody>
      </p:sp>
      <p:graphicFrame>
        <p:nvGraphicFramePr>
          <p:cNvPr id="7" name=""/>
          <p:cNvGraphicFramePr/>
          <p:nvPr/>
        </p:nvGraphicFramePr>
        <p:xfrm>
          <a:off xmlns:a="http://schemas.openxmlformats.org/drawingml/2006/main" x="609600" y="1971675"/>
          <a:ext xmlns:a="http://schemas.openxmlformats.org/drawingml/2006/main" cx="10972800" cy="37052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8001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Candidates /</a:t>
                      </a:r>
                    </a:p>
                    <a:p>
                      <a:r>
                        <a:rPr sz="1650" b="1">
                          <a:solidFill>
                            <a:srgbClr val="526970"/>
                          </a:solidFill>
                          <a:latin typeface="Arial"/>
                          <a:ea typeface="Arial"/>
                          <a:cs typeface="Arial"/>
                        </a:rPr>
                        <a:t>query</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Predicted relevant /</a:t>
                      </a:r>
                    </a:p>
                    <a:p>
                      <a:r>
                        <a:rPr sz="1650" b="1">
                          <a:solidFill>
                            <a:srgbClr val="526970"/>
                          </a:solidFill>
                          <a:latin typeface="Arial"/>
                          <a:ea typeface="Arial"/>
                          <a:cs typeface="Arial"/>
                        </a:rPr>
                        <a:t>query</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RRF L=K</a:t>
                      </a:r>
                    </a:p>
                    <a:p>
                      <a:r>
                        <a:rPr sz="1650" b="1">
                          <a:solidFill>
                            <a:srgbClr val="526970"/>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RRF L=200</a:t>
                      </a:r>
                    </a:p>
                    <a:p>
                      <a:r>
                        <a:rPr sz="1650" b="1">
                          <a:solidFill>
                            <a:srgbClr val="526970"/>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21.9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14.2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0.871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0.805</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65.8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33.7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0.862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0.859</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110.4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49.4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0.847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222.9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81.0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0.853</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451.5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128.6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Single-judge pseudo-labels. All 101,093 queries ">
            <a:extLst xmlns:a="http://schemas.openxmlformats.org/drawingml/2006/main">
              <a:ext uri="{FF2B5EF4-FFF2-40B4-BE49-F238E27FC236}">
                <a16:creationId xmlns:a16="http://schemas.microsoft.com/office/drawing/2014/main" id="{C66FD10E-139E-4D05-9E85-1AEEEE72D9B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All 101,093 queries remain in every average.</a:t>
            </a:r>
          </a:p>
        </p:txBody>
      </p:sp>
    </p:spTree>
    <p:extLst>
      <p:ext uri="{BB962C8B-B14F-4D97-AF65-F5344CB8AC3E}">
        <p14:creationId xmlns:p14="http://schemas.microsoft.com/office/powerpoint/2010/main" val="44914829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nsitivity to query exclusions">
            <a:extLst xmlns:a="http://schemas.openxmlformats.org/drawingml/2006/main">
              <a:ext uri="{FF2B5EF4-FFF2-40B4-BE49-F238E27FC236}">
                <a16:creationId xmlns:a16="http://schemas.microsoft.com/office/drawing/2014/main" id="{891FB436-9D9D-4FC1-B408-BE7F66729D5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Sensitivity to query exclusions</a:t>
            </a:r>
          </a:p>
        </p:txBody>
      </p:sp>
      <p:sp>
        <p:nvSpPr>
          <p:cNvPr id="2" name="APPENDIX D">
            <a:extLst xmlns:a="http://schemas.openxmlformats.org/drawingml/2006/main">
              <a:ext uri="{FF2B5EF4-FFF2-40B4-BE49-F238E27FC236}">
                <a16:creationId xmlns:a16="http://schemas.microsoft.com/office/drawing/2014/main" id="{2C258008-86BE-419F-BB45-F8FEFDA2028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D</a:t>
            </a:r>
          </a:p>
        </p:txBody>
      </p:sp>
      <p:sp>
        <p:nvSpPr>
          <p:cNvPr id="3" name="Human-label NDCG@10">
            <a:extLst xmlns:a="http://schemas.openxmlformats.org/drawingml/2006/main">
              <a:ext uri="{FF2B5EF4-FFF2-40B4-BE49-F238E27FC236}">
                <a16:creationId xmlns:a16="http://schemas.microsoft.com/office/drawing/2014/main" id="{9F225BF6-A0A8-4A4F-A434-C9AA74D9BC28}"/>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Human-label NDCG@10</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All 1,179 queries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1,156 after exclusions</a:t>
                      </a:r>
                    </a:p>
                  </a:txBody>
                  <a:tcPr marL="91440" marR="91440" marT="45720" marB="45720" anchor="ctr">
                    <a:lnL w="0">
                      <a:noFill/>
                    </a:lnL>
                    <a:lnR w="0">
                      <a:noFill/>
                    </a:lnR>
                    <a:lnT w="0">
                      <a:noFill/>
                    </a:lnT>
                    <a:lnB w="7620">
                      <a:solidFill>
                        <a:srgbClr val="D4E1E0"/>
                      </a:solidFill>
                    </a:lnB>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Full set without manual queries: N = 99,914">
            <a:extLst xmlns:a="http://schemas.openxmlformats.org/drawingml/2006/main">
              <a:ext uri="{FF2B5EF4-FFF2-40B4-BE49-F238E27FC236}">
                <a16:creationId xmlns:a16="http://schemas.microsoft.com/office/drawing/2014/main" id="{AD0D3367-7075-495E-BA1E-146F622440BD}"/>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Full set without manual queries: N = 99,914</a:t>
            </a:r>
          </a:p>
        </p:txBody>
      </p:sp>
      <p:sp>
        <p:nvSpPr>
          <p:cNvPr id="6" name="At K = 200: RRF − E5 = +0.00877">
            <a:extLst xmlns:a="http://schemas.openxmlformats.org/drawingml/2006/main">
              <a:ext uri="{FF2B5EF4-FFF2-40B4-BE49-F238E27FC236}">
                <a16:creationId xmlns:a16="http://schemas.microsoft.com/office/drawing/2014/main" id="{E4E96486-A45C-42D7-9AAD-C5265AF71A8D}"/>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At K = 200: RRF − E5 = +0.00877</a:t>
            </a:r>
          </a:p>
        </p:txBody>
      </p:sp>
      <p:sp>
        <p:nvSpPr>
          <p:cNvPr id="7" name="Exclusion checks do not replace independent huma">
            <a:extLst xmlns:a="http://schemas.openxmlformats.org/drawingml/2006/main">
              <a:ext uri="{FF2B5EF4-FFF2-40B4-BE49-F238E27FC236}">
                <a16:creationId xmlns:a16="http://schemas.microsoft.com/office/drawing/2014/main" id="{8BFD5DED-55F8-47B1-80DB-EEBA3C4AB06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Exclusion checks do not replace independent human assessment.</a:t>
            </a:r>
          </a:p>
        </p:txBody>
      </p:sp>
    </p:spTree>
    <p:extLst>
      <p:ext uri="{BB962C8B-B14F-4D97-AF65-F5344CB8AC3E}">
        <p14:creationId xmlns:p14="http://schemas.microsoft.com/office/powerpoint/2010/main" val="8162606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ext validation: reference-conditioned judging">
            <a:extLst xmlns:a="http://schemas.openxmlformats.org/drawingml/2006/main">
              <a:ext uri="{FF2B5EF4-FFF2-40B4-BE49-F238E27FC236}">
                <a16:creationId xmlns:a16="http://schemas.microsoft.com/office/drawing/2014/main" id="{E578E9DB-EC9E-47BF-BCAF-EC5A7F563D8E}"/>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Next validation: reference-conditioned judging</a:t>
            </a:r>
          </a:p>
        </p:txBody>
      </p:sp>
      <p:sp>
        <p:nvSpPr>
          <p:cNvPr id="2" name="APPENDIX E">
            <a:extLst xmlns:a="http://schemas.openxmlformats.org/drawingml/2006/main">
              <a:ext uri="{FF2B5EF4-FFF2-40B4-BE49-F238E27FC236}">
                <a16:creationId xmlns:a16="http://schemas.microsoft.com/office/drawing/2014/main" id="{C96EA839-C842-4E58-B40B-B6EE8DBE393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E</a:t>
            </a:r>
          </a:p>
        </p:txBody>
      </p:sp>
      <p:sp>
        <p:nvSpPr>
          <p:cNvPr id="3" name="Proposed input">
            <a:extLst xmlns:a="http://schemas.openxmlformats.org/drawingml/2006/main">
              <a:ext uri="{FF2B5EF4-FFF2-40B4-BE49-F238E27FC236}">
                <a16:creationId xmlns:a16="http://schemas.microsoft.com/office/drawing/2014/main" id="{03306830-4BF1-4CB3-B756-D3BC6ACB00E2}"/>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Proposed input</a:t>
            </a:r>
          </a:p>
        </p:txBody>
      </p:sp>
      <p:sp>
        <p:nvSpPr>
          <p:cNvPr id="4" name="Query&#10;Known relevant answer&#10;Candidate passage">
            <a:extLst xmlns:a="http://schemas.openxmlformats.org/drawingml/2006/main">
              <a:ext uri="{FF2B5EF4-FFF2-40B4-BE49-F238E27FC236}">
                <a16:creationId xmlns:a16="http://schemas.microsoft.com/office/drawing/2014/main" id="{A29D54BB-C7AD-427B-A919-5F3A0BC31F3F}"/>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Query</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Known relevant answer</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Candidate passage</a:t>
            </a:r>
          </a:p>
        </p:txBody>
      </p:sp>
      <p:sp>
        <p:nvSpPr>
          <p:cNvPr id="5" name="Reference-conditioned&#10;cross-encoder">
            <a:extLst xmlns:a="http://schemas.openxmlformats.org/drawingml/2006/main">
              <a:ext uri="{FF2B5EF4-FFF2-40B4-BE49-F238E27FC236}">
                <a16:creationId xmlns:a16="http://schemas.microsoft.com/office/drawing/2014/main" id="{3354D1E2-0FBD-4E0B-B270-9265236CC3A6}"/>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Reference-conditioned</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cross-encoder</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3813">
            <a:solidFill>
              <a:srgbClr val="526970"/>
            </a:solidFill>
            <a:tailEnd type="triangle" w="sm" len="sm"/>
          </a:ln>
        </p:spPr>
      </p:cxnSp>
      <p:sp>
        <p:nvSpPr>
          <p:cNvPr id="7" name="Compare stronger judges against independent huma">
            <a:extLst xmlns:a="http://schemas.openxmlformats.org/drawingml/2006/main">
              <a:ext uri="{FF2B5EF4-FFF2-40B4-BE49-F238E27FC236}">
                <a16:creationId xmlns:a16="http://schemas.microsoft.com/office/drawing/2014/main" id="{409A43A8-9027-4D8C-B1C6-45F317D992A9}"/>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Compare stronger judges against independent human assessments.</a:t>
            </a:r>
          </a:p>
        </p:txBody>
      </p:sp>
      <p:sp>
        <p:nvSpPr>
          <p:cNvPr id="8" name="Planned evaluation. No results for this model ar">
            <a:extLst xmlns:a="http://schemas.openxmlformats.org/drawingml/2006/main">
              <a:ext uri="{FF2B5EF4-FFF2-40B4-BE49-F238E27FC236}">
                <a16:creationId xmlns:a16="http://schemas.microsoft.com/office/drawing/2014/main" id="{44215D6D-2879-4743-BEE1-6B040235947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Planned evaluation. No results for this model are reported in the present study.</a:t>
            </a:r>
          </a:p>
        </p:txBody>
      </p:sp>
    </p:spTree>
    <p:extLst>
      <p:ext uri="{BB962C8B-B14F-4D97-AF65-F5344CB8AC3E}">
        <p14:creationId xmlns:p14="http://schemas.microsoft.com/office/powerpoint/2010/main" val="20759525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DAMDID 2026 conference presentation</dc:subject>
  <dc:language>en-US</dc:language>
</coreProperties>
</file>