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52acfad60fad43ed"/><Relationship Type="http://schemas.openxmlformats.org/officeDocument/2006/relationships/extended-properties" Target="/docProps/app.xml" Id="R61b8138149cf47ae"/><Relationship Type="http://schemas.openxmlformats.org/officeDocument/2006/relationships/officeDocument" Target="/ppt/presentation.xml" Id="R4fde16de09e840ed"/></Relationships>
</file>

<file path=ppt/presentation.xml><?xml version="1.0" encoding="utf-8"?>
<p:presentation xmlns:p="http://schemas.openxmlformats.org/presentationml/2006/main">
  <p:sldMasterIdLst>
    <p:sldMasterId xmlns:r="http://schemas.openxmlformats.org/officeDocument/2006/relationships" id="2147483648" r:id="Rc624ac9aba3c4424"/>
  </p:sldMasterIdLst>
  <p:notesMasterIdLst>
    <p:notesMasterId xmlns:r="http://schemas.openxmlformats.org/officeDocument/2006/relationships" r:id="R08f387e442fa4220"/>
  </p:notesMasterIdLst>
  <p:sldIdLst>
    <p:sldId xmlns:r="http://schemas.openxmlformats.org/officeDocument/2006/relationships" id="256" r:id="R31c434dbfdf24c52"/>
    <p:sldId xmlns:r="http://schemas.openxmlformats.org/officeDocument/2006/relationships" id="257" r:id="R682bdaae9f564f98"/>
    <p:sldId xmlns:r="http://schemas.openxmlformats.org/officeDocument/2006/relationships" id="258" r:id="R58d6ca3bfc5d44d1"/>
    <p:sldId xmlns:r="http://schemas.openxmlformats.org/officeDocument/2006/relationships" id="259" r:id="R53326da19cb246ef"/>
    <p:sldId xmlns:r="http://schemas.openxmlformats.org/officeDocument/2006/relationships" id="260" r:id="Racf0b3be3866483c"/>
    <p:sldId xmlns:r="http://schemas.openxmlformats.org/officeDocument/2006/relationships" id="261" r:id="R81104be743ea4a88"/>
    <p:sldId xmlns:r="http://schemas.openxmlformats.org/officeDocument/2006/relationships" id="262" r:id="Re4a2f95d63d54751"/>
    <p:sldId xmlns:r="http://schemas.openxmlformats.org/officeDocument/2006/relationships" id="263" r:id="R20f448213568430c"/>
    <p:sldId xmlns:r="http://schemas.openxmlformats.org/officeDocument/2006/relationships" id="264" r:id="R587b9559b71941aa"/>
    <p:sldId xmlns:r="http://schemas.openxmlformats.org/officeDocument/2006/relationships" id="265" r:id="Rdd576637893c4ef2"/>
    <p:sldId xmlns:r="http://schemas.openxmlformats.org/officeDocument/2006/relationships" id="266" r:id="R663f80e18c654476"/>
    <p:sldId xmlns:r="http://schemas.openxmlformats.org/officeDocument/2006/relationships" id="267" r:id="Ra2d0234d84104616"/>
    <p:sldId xmlns:r="http://schemas.openxmlformats.org/officeDocument/2006/relationships" id="268" r:id="Ra5d046cabd5c4e1c"/>
    <p:sldId xmlns:r="http://schemas.openxmlformats.org/officeDocument/2006/relationships" id="269" r:id="Rd776a3824b004103"/>
    <p:sldId xmlns:r="http://schemas.openxmlformats.org/officeDocument/2006/relationships" id="270" r:id="R2a9aa4633d994af1"/>
    <p:sldId xmlns:r="http://schemas.openxmlformats.org/officeDocument/2006/relationships" id="271" r:id="Rb8fff02d12854e64"/>
    <p:sldId xmlns:r="http://schemas.openxmlformats.org/officeDocument/2006/relationships" id="272" r:id="R366b06bb84b04f3e"/>
    <p:sldId xmlns:r="http://schemas.openxmlformats.org/officeDocument/2006/relationships" id="273" r:id="R8b491ef1679940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47cf29fcf48d455a"/><Relationship Type="http://schemas.openxmlformats.org/officeDocument/2006/relationships/slideMaster" Target="/ppt/slideMasters/slideMaster1.xml" Id="Rc624ac9aba3c4424"/><Relationship Type="http://schemas.openxmlformats.org/officeDocument/2006/relationships/notesMaster" Target="/ppt/notesMasters/notesMaster1.xml" Id="R08f387e442fa4220"/><Relationship Type="http://schemas.openxmlformats.org/officeDocument/2006/relationships/presProps" Target="/ppt/presProps.xml" Id="R487fd94dc2fa44de"/><Relationship Type="http://schemas.openxmlformats.org/officeDocument/2006/relationships/tableStyles" Target="/ppt/tableStyles.xml" Id="R79545542ad764ee5"/><Relationship Type="http://schemas.openxmlformats.org/officeDocument/2006/relationships/slide" Target="/ppt/slides/slide1.xml" Id="R31c434dbfdf24c52"/><Relationship Type="http://schemas.openxmlformats.org/officeDocument/2006/relationships/slide" Target="/ppt/slides/slide2.xml" Id="R682bdaae9f564f98"/><Relationship Type="http://schemas.openxmlformats.org/officeDocument/2006/relationships/slide" Target="/ppt/slides/slide3.xml" Id="R58d6ca3bfc5d44d1"/><Relationship Type="http://schemas.openxmlformats.org/officeDocument/2006/relationships/slide" Target="/ppt/slides/slide4.xml" Id="R53326da19cb246ef"/><Relationship Type="http://schemas.openxmlformats.org/officeDocument/2006/relationships/slide" Target="/ppt/slides/slide5.xml" Id="Racf0b3be3866483c"/><Relationship Type="http://schemas.openxmlformats.org/officeDocument/2006/relationships/slide" Target="/ppt/slides/slide6.xml" Id="R81104be743ea4a88"/><Relationship Type="http://schemas.openxmlformats.org/officeDocument/2006/relationships/slide" Target="/ppt/slides/slide7.xml" Id="Re4a2f95d63d54751"/><Relationship Type="http://schemas.openxmlformats.org/officeDocument/2006/relationships/slide" Target="/ppt/slides/slide8.xml" Id="R20f448213568430c"/><Relationship Type="http://schemas.openxmlformats.org/officeDocument/2006/relationships/slide" Target="/ppt/slides/slide9.xml" Id="R587b9559b71941aa"/><Relationship Type="http://schemas.openxmlformats.org/officeDocument/2006/relationships/slide" Target="/ppt/slides/slide10.xml" Id="Rdd576637893c4ef2"/><Relationship Type="http://schemas.openxmlformats.org/officeDocument/2006/relationships/slide" Target="/ppt/slides/slide11.xml" Id="R663f80e18c654476"/><Relationship Type="http://schemas.openxmlformats.org/officeDocument/2006/relationships/slide" Target="/ppt/slides/slide12.xml" Id="Ra2d0234d84104616"/><Relationship Type="http://schemas.openxmlformats.org/officeDocument/2006/relationships/slide" Target="/ppt/slides/slide13.xml" Id="Ra5d046cabd5c4e1c"/><Relationship Type="http://schemas.openxmlformats.org/officeDocument/2006/relationships/slide" Target="/ppt/slides/slide14.xml" Id="Rd776a3824b004103"/><Relationship Type="http://schemas.openxmlformats.org/officeDocument/2006/relationships/slide" Target="/ppt/slides/slide15.xml" Id="R2a9aa4633d994af1"/><Relationship Type="http://schemas.openxmlformats.org/officeDocument/2006/relationships/slide" Target="/ppt/slides/slide16.xml" Id="Rb8fff02d12854e64"/><Relationship Type="http://schemas.openxmlformats.org/officeDocument/2006/relationships/slide" Target="/ppt/slides/slide17.xml" Id="R366b06bb84b04f3e"/><Relationship Type="http://schemas.openxmlformats.org/officeDocument/2006/relationships/slide" Target="/ppt/slides/slide18.xml" Id="R8b491ef167994045"/></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1a7158be9f724bf7"/></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965913a195eb429f"/><Relationship Type="http://schemas.openxmlformats.org/officeDocument/2006/relationships/notesMaster" Target="/ppt/notesMasters/notesMaster1.xml" Id="Ra2edc13c680e472d"/></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073b619ec01a40d7"/><Relationship Type="http://schemas.openxmlformats.org/officeDocument/2006/relationships/notesMaster" Target="/ppt/notesMasters/notesMaster1.xml" Id="R1fe5aca1e836406c"/></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d9ada96d9f544de9"/><Relationship Type="http://schemas.openxmlformats.org/officeDocument/2006/relationships/notesMaster" Target="/ppt/notesMasters/notesMaster1.xml" Id="R63526b5b7d6f4739"/></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4c8d2c96eaeb44fd"/><Relationship Type="http://schemas.openxmlformats.org/officeDocument/2006/relationships/notesMaster" Target="/ppt/notesMasters/notesMaster1.xml" Id="R89bcd8d57c444f3e"/></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bf4afd80009c4cf1"/><Relationship Type="http://schemas.openxmlformats.org/officeDocument/2006/relationships/notesMaster" Target="/ppt/notesMasters/notesMaster1.xml" Id="R243f38de297343f0"/></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734ffa735850441a"/><Relationship Type="http://schemas.openxmlformats.org/officeDocument/2006/relationships/notesMaster" Target="/ppt/notesMasters/notesMaster1.xml" Id="R3950ff7f5daa4f37"/></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5b7408269eec4f3e"/><Relationship Type="http://schemas.openxmlformats.org/officeDocument/2006/relationships/notesMaster" Target="/ppt/notesMasters/notesMaster1.xml" Id="R1c245a59ff5e4ac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70d0ea23d8942ee"/><Relationship Type="http://schemas.openxmlformats.org/officeDocument/2006/relationships/notesMaster" Target="/ppt/notesMasters/notesMaster1.xml" Id="R469e1f1ba95b470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83b874fbab84c4b"/><Relationship Type="http://schemas.openxmlformats.org/officeDocument/2006/relationships/notesMaster" Target="/ppt/notesMasters/notesMaster1.xml" Id="Ra68a308daae3437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8d39748d7d854dc2"/><Relationship Type="http://schemas.openxmlformats.org/officeDocument/2006/relationships/notesMaster" Target="/ppt/notesMasters/notesMaster1.xml" Id="R8e9a4983dce249c6"/></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ca4e1d1ccaea4f21"/><Relationship Type="http://schemas.openxmlformats.org/officeDocument/2006/relationships/notesMaster" Target="/ppt/notesMasters/notesMaster1.xml" Id="Rdebb98ad1d01453b"/></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e339afee32b2491d"/><Relationship Type="http://schemas.openxmlformats.org/officeDocument/2006/relationships/notesMaster" Target="/ppt/notesMasters/notesMaster1.xml" Id="R7572ad0c6ac24fea"/></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51d30902a56643ef"/><Relationship Type="http://schemas.openxmlformats.org/officeDocument/2006/relationships/notesMaster" Target="/ppt/notesMasters/notesMaster1.xml" Id="Ra4db783220034d9a"/></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20b2fe32100f43cc"/><Relationship Type="http://schemas.openxmlformats.org/officeDocument/2006/relationships/notesMaster" Target="/ppt/notesMasters/notesMaster1.xml" Id="Rb242b70000e64f04"/></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250ba1c50a8e4084"/><Relationship Type="http://schemas.openxmlformats.org/officeDocument/2006/relationships/notesMaster" Target="/ppt/notesMasters/notesMaster1.xml" Id="R6e6fbefc77d44b5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a36fe456e1254ac4"/><Relationship Type="http://schemas.openxmlformats.org/officeDocument/2006/relationships/notesMaster" Target="/ppt/notesMasters/notesMaster1.xml" Id="R902d6ecf8134448a"/></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06108ca0a324412"/><Relationship Type="http://schemas.openxmlformats.org/officeDocument/2006/relationships/notesMaster" Target="/ppt/notesMasters/notesMaster1.xml" Id="R70e32ee2b43e4d3c"/></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0e92dfa576c4e49"/><Relationship Type="http://schemas.openxmlformats.org/officeDocument/2006/relationships/notesMaster" Target="/ppt/notesMasters/notesMaster1.xml" Id="R1b649671e94042fb"/></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файл суждений о релевантности запросам.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обучаемый baseline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Известный ответ был бы дополнительным полезным сигналом; такой формат — будущий эксперимент, а не уже полученный результат.</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ROC показывает долю найденных положительных пар относительно доли ложноположительных по всем порогам. Площадь под полной эмпирической кривой составляет 0,907, F1 при выбранном на валидации пороге — 0,875. Precision 0,851, recall 0,902. AUC не является процентом правильных ответов или вероятностью релевантности. Кривая визуально сокращена до 80 фактических точек, а число AUC рассчитано по полной кривой. Унаследованное бинарное кодирование относит категории 1 и 2 к положительным, остальные к нулю. Тест включает шесть неразрешённых категорий и одну пару с пустым текстом; после их исключения AUC составляет 0,909 и F1 0,876. Основные числа оставлены для исходного протокола.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empirical ROC reconstructed from saved judge scores and split IDs; provenance in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и первая десятка RRF, и первая десятка E5 одинаковы при каждой глубине оценочного пула.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человеческую валидацию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reference-conditioned судьи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Четыре эффекта проходят поправку Бонферрони. Интервалы точечные, они не учитывают повторное обучение или неопределённость человеческой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seed 42. Базовый checkpoint — cross-encoder/ms-marco-MiniLM-L6-v2. Порог -0,2187178284 по сырым scores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неразрешённых категорий и одну запись с пустым текстом. Исключение этих семи записей оставляет 4995 пар и даёт AUC 0,909, F1 0,876; это чувствительность, а не новый обученный судья. Повторная оценка использует сохранённые scores; новое нейросетевое обучение здесь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неразрешённых категорий и пять пустых текстов затрагивают 23 запроса. Основная оценка сохраняет все 1179, а чувствительность удаляет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независимой человеческой релевантности.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reference passage labeled relevant, кандидат.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Основной вклад текущей работы остаётся измерением влияния покрытия разметки и глубины пулов при фиксированных сохранённых ранжированиях.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5165fc633b7b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7883af513fd7482b"/><Relationship Type="http://schemas.openxmlformats.org/officeDocument/2006/relationships/slideLayout" Target="/ppt/slideLayouts/slideLayout1.xml" Id="R04aa66c5c11041f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aa66c5c11041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f40bab3e0c04bf2"/><Relationship Type="http://schemas.openxmlformats.org/officeDocument/2006/relationships/image" Target="/ppt/media/image.png" Id="Re3d996c623ef4137"/><Relationship Type="http://schemas.openxmlformats.org/officeDocument/2006/relationships/notesSlide" Target="/ppt/notesSlides/notesSlide1.xml" Id="R25de570a4ad3400c"/></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6fad77b327e4ef2"/><Relationship Type="http://schemas.openxmlformats.org/officeDocument/2006/relationships/notesSlide" Target="/ppt/notesSlides/notesSlide2.xml" Id="Rd5cdecc3f24a4e9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449b0ae9b904522"/><Relationship Type="http://schemas.openxmlformats.org/officeDocument/2006/relationships/notesSlide" Target="/ppt/notesSlides/notesSlide3.xml" Id="Rb9ec81000f1f463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775327c0c1e54326"/><Relationship Type="http://schemas.openxmlformats.org/officeDocument/2006/relationships/notesSlide" Target="/ppt/notesSlides/notesSlide4.xml" Id="R2f1ce4c8ee88409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22d61cb07b3473a"/><Relationship Type="http://schemas.openxmlformats.org/officeDocument/2006/relationships/notesSlide" Target="/ppt/notesSlides/notesSlide5.xml" Id="Redac2f0065034268"/></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b5b739c877154070"/><Relationship Type="http://schemas.openxmlformats.org/officeDocument/2006/relationships/chart" Target="/ppt/slides/charts/chart1.xml" Id="R8099700817154498"/><Relationship Type="http://schemas.openxmlformats.org/officeDocument/2006/relationships/notesSlide" Target="/ppt/notesSlides/notesSlide6.xml" Id="R5c39b7a7d9f04f84"/></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c9fea0b72744699"/><Relationship Type="http://schemas.openxmlformats.org/officeDocument/2006/relationships/notesSlide" Target="/ppt/notesSlides/notesSlide7.xml" Id="R9264300a13f24818"/></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00fb02a2d62641fb"/><Relationship Type="http://schemas.openxmlformats.org/officeDocument/2006/relationships/chart" Target="/ppt/slides/charts/chart2.xml" Id="R717b99690e3c4cba"/><Relationship Type="http://schemas.openxmlformats.org/officeDocument/2006/relationships/notesSlide" Target="/ppt/notesSlides/notesSlide8.xml" Id="R3554e7fe628f42d6"/></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abebbbc9ede4ac4"/><Relationship Type="http://schemas.openxmlformats.org/officeDocument/2006/relationships/chart" Target="/ppt/slides/charts/chart3.xml" Id="Ra5b5157197d64487"/><Relationship Type="http://schemas.openxmlformats.org/officeDocument/2006/relationships/notesSlide" Target="/ppt/notesSlides/notesSlide9.xml" Id="R215603f4c37441b6"/></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b9febb638764ed3"/><Relationship Type="http://schemas.openxmlformats.org/officeDocument/2006/relationships/chart" Target="/ppt/slides/charts/chart4.xml" Id="Rf8b23f76b194422c"/><Relationship Type="http://schemas.openxmlformats.org/officeDocument/2006/relationships/notesSlide" Target="/ppt/notesSlides/notesSlide10.xml" Id="R2cbdb708cead4fa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124d99f371d471d"/><Relationship Type="http://schemas.openxmlformats.org/officeDocument/2006/relationships/chart" Target="/ppt/slides/charts/chart5.xml" Id="R284835e8d177447e"/><Relationship Type="http://schemas.openxmlformats.org/officeDocument/2006/relationships/notesSlide" Target="/ppt/notesSlides/notesSlide11.xml" Id="Rfb05543382df4d62"/></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7e843c279a54529"/><Relationship Type="http://schemas.openxmlformats.org/officeDocument/2006/relationships/notesSlide" Target="/ppt/notesSlides/notesSlide12.xml" Id="R4d551d40b63346e2"/></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44f2615051e74b1a"/><Relationship Type="http://schemas.openxmlformats.org/officeDocument/2006/relationships/notesSlide" Target="/ppt/notesSlides/notesSlide13.xml" Id="R0fc3989bf9e4420e"/></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098a1199a77347fb"/><Relationship Type="http://schemas.openxmlformats.org/officeDocument/2006/relationships/notesSlide" Target="/ppt/notesSlides/notesSlide14.xml" Id="Rf599635658d24f3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3f8e73b5fc45484b"/><Relationship Type="http://schemas.openxmlformats.org/officeDocument/2006/relationships/notesSlide" Target="/ppt/notesSlides/notesSlide15.xml" Id="R7ad1124f81c24052"/></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a26226676ab45b6"/><Relationship Type="http://schemas.openxmlformats.org/officeDocument/2006/relationships/notesSlide" Target="/ppt/notesSlides/notesSlide16.xml" Id="R6aa251be4ab1416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2e09e492ac784dd1"/><Relationship Type="http://schemas.openxmlformats.org/officeDocument/2006/relationships/notesSlide" Target="/ppt/notesSlides/notesSlide17.xml" Id="Rbd409f57f2a24c8f"/></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ea87283870344704"/><Relationship Type="http://schemas.openxmlformats.org/officeDocument/2006/relationships/notesSlide" Target="/ppt/notesSlides/notesSlide18.xml" Id="R7a26ce901d414fcc"/></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Lit>
              <c:formatCode>General</c:formatCode>
              <c:ptCount val="2"/>
              <c:pt idx="0">
                <c:v>0</c:v>
              </c:pt>
              <c:pt idx="1">
                <c:v>1</c:v>
              </c:pt>
            </c:numLit>
          </c:xVal>
          <c:yVal>
            <c:numLit>
              <c:formatCode>0.000</c:formatCode>
              <c:ptCount val="2"/>
              <c:pt idx="0">
                <c:v>0</c:v>
              </c:pt>
              <c:pt idx="1">
                <c:v>1</c:v>
              </c:pt>
            </c:numLit>
          </c:yVal>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0.011627906976744186</c:v>
              </c:pt>
              <c:pt idx="2">
                <c:v>0.014396456256921373</c:v>
              </c:pt>
              <c:pt idx="3">
                <c:v>0.018272425249169437</c:v>
              </c:pt>
              <c:pt idx="4">
                <c:v>0.018272425249169437</c:v>
              </c:pt>
              <c:pt idx="5">
                <c:v>0.021040974529346623</c:v>
              </c:pt>
              <c:pt idx="6">
                <c:v>0.024363233665559248</c:v>
              </c:pt>
              <c:pt idx="7">
                <c:v>0.028792912513842746</c:v>
              </c:pt>
              <c:pt idx="8">
                <c:v>0.03045404208194906</c:v>
              </c:pt>
              <c:pt idx="9">
                <c:v>0.03488372093023256</c:v>
              </c:pt>
              <c:pt idx="10">
                <c:v>0.040420819490586936</c:v>
              </c:pt>
              <c:pt idx="11">
                <c:v>0.044296788482835</c:v>
              </c:pt>
              <c:pt idx="12">
                <c:v>0.047619047619047616</c:v>
              </c:pt>
              <c:pt idx="13">
                <c:v>0.047619047619047616</c:v>
              </c:pt>
              <c:pt idx="14">
                <c:v>0.055924695459579184</c:v>
              </c:pt>
              <c:pt idx="15">
                <c:v>0.06755260243632337</c:v>
              </c:pt>
              <c:pt idx="16">
                <c:v>0.07032115171650055</c:v>
              </c:pt>
              <c:pt idx="17">
                <c:v>0.07475083056478406</c:v>
              </c:pt>
              <c:pt idx="18">
                <c:v>0.07862679955703211</c:v>
              </c:pt>
              <c:pt idx="19">
                <c:v>0.08084163898117387</c:v>
              </c:pt>
              <c:pt idx="20">
                <c:v>0.08637873754152824</c:v>
              </c:pt>
              <c:pt idx="21">
                <c:v>0.08914728682170543</c:v>
              </c:pt>
              <c:pt idx="22">
                <c:v>0.09357696566998892</c:v>
              </c:pt>
              <c:pt idx="23">
                <c:v>0.09689922480620156</c:v>
              </c:pt>
              <c:pt idx="24">
                <c:v>0.10243632336655592</c:v>
              </c:pt>
              <c:pt idx="25">
                <c:v>0.10243632336655592</c:v>
              </c:pt>
              <c:pt idx="26">
                <c:v>0.10741971207087486</c:v>
              </c:pt>
              <c:pt idx="27">
                <c:v>0.11406423034330011</c:v>
              </c:pt>
              <c:pt idx="28">
                <c:v>0.12292358803986711</c:v>
              </c:pt>
              <c:pt idx="29">
                <c:v>0.12292358803986711</c:v>
              </c:pt>
              <c:pt idx="30">
                <c:v>0.1301218161683278</c:v>
              </c:pt>
              <c:pt idx="31">
                <c:v>0.13565891472868216</c:v>
              </c:pt>
              <c:pt idx="32">
                <c:v>0.13842746400885936</c:v>
              </c:pt>
              <c:pt idx="33">
                <c:v>0.1406423034330011</c:v>
              </c:pt>
              <c:pt idx="34">
                <c:v>0.150609080841639</c:v>
              </c:pt>
              <c:pt idx="35">
                <c:v>0.16279069767441862</c:v>
              </c:pt>
              <c:pt idx="36">
                <c:v>0.1699889258028793</c:v>
              </c:pt>
              <c:pt idx="37">
                <c:v>0.17054263565891473</c:v>
              </c:pt>
              <c:pt idx="38">
                <c:v>0.17995570321151716</c:v>
              </c:pt>
              <c:pt idx="39">
                <c:v>0.17995570321151716</c:v>
              </c:pt>
              <c:pt idx="40">
                <c:v>0.18604651162790697</c:v>
              </c:pt>
              <c:pt idx="41">
                <c:v>0.1893687707641196</c:v>
              </c:pt>
              <c:pt idx="42">
                <c:v>0.1937984496124031</c:v>
              </c:pt>
              <c:pt idx="43">
                <c:v>0.20210409745293467</c:v>
              </c:pt>
              <c:pt idx="44">
                <c:v>0.20487264673311184</c:v>
              </c:pt>
              <c:pt idx="45">
                <c:v>0.20985603543743078</c:v>
              </c:pt>
              <c:pt idx="46">
                <c:v>0.22868217054263565</c:v>
              </c:pt>
              <c:pt idx="47">
                <c:v>0.23034330011074197</c:v>
              </c:pt>
              <c:pt idx="48">
                <c:v>0.23754152823920266</c:v>
              </c:pt>
              <c:pt idx="49">
                <c:v>0.24363233665559247</c:v>
              </c:pt>
              <c:pt idx="50">
                <c:v>0.24750830564784054</c:v>
              </c:pt>
              <c:pt idx="51">
                <c:v>0.25193798449612403</c:v>
              </c:pt>
              <c:pt idx="52">
                <c:v>0.26245847176079734</c:v>
              </c:pt>
              <c:pt idx="53">
                <c:v>0.2663344407530454</c:v>
              </c:pt>
              <c:pt idx="54">
                <c:v>0.2768549280177187</c:v>
              </c:pt>
              <c:pt idx="55">
                <c:v>0.27740863787375414</c:v>
              </c:pt>
              <c:pt idx="56">
                <c:v>0.28017718715393136</c:v>
              </c:pt>
              <c:pt idx="57">
                <c:v>0.2862679955703212</c:v>
              </c:pt>
              <c:pt idx="58">
                <c:v>0.301218161683278</c:v>
              </c:pt>
              <c:pt idx="59">
                <c:v>0.3089700996677741</c:v>
              </c:pt>
              <c:pt idx="60">
                <c:v>0.313953488372093</c:v>
              </c:pt>
              <c:pt idx="61">
                <c:v>0.32447397563676633</c:v>
              </c:pt>
              <c:pt idx="62">
                <c:v>0.327796234772979</c:v>
              </c:pt>
              <c:pt idx="63">
                <c:v>0.3532668881506091</c:v>
              </c:pt>
              <c:pt idx="64">
                <c:v>0.37929125138427466</c:v>
              </c:pt>
              <c:pt idx="65">
                <c:v>0.3875968992248062</c:v>
              </c:pt>
              <c:pt idx="66">
                <c:v>0.3947951273532669</c:v>
              </c:pt>
              <c:pt idx="67">
                <c:v>0.41971207087486156</c:v>
              </c:pt>
              <c:pt idx="68">
                <c:v>0.43853820598006643</c:v>
              </c:pt>
              <c:pt idx="69">
                <c:v>0.4407530454042082</c:v>
              </c:pt>
              <c:pt idx="70">
                <c:v>0.4529346622369878</c:v>
              </c:pt>
              <c:pt idx="71">
                <c:v>0.46234772978959027</c:v>
              </c:pt>
              <c:pt idx="72">
                <c:v>0.4894795127353267</c:v>
              </c:pt>
              <c:pt idx="73">
                <c:v>0.5509413067552602</c:v>
              </c:pt>
              <c:pt idx="74">
                <c:v>0.562015503875969</c:v>
              </c:pt>
              <c:pt idx="75">
                <c:v>0.6007751937984496</c:v>
              </c:pt>
              <c:pt idx="76">
                <c:v>0.6317829457364341</c:v>
              </c:pt>
              <c:pt idx="77">
                <c:v>0.6794019933554817</c:v>
              </c:pt>
              <c:pt idx="78">
                <c:v>0.8682170542635659</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0.28017718715393136</c:v>
              </c:pt>
            </c:numLit>
          </c:xVal>
          <c:yVal>
            <c:numLit>
              <c:formatCode>0.000</c:formatCode>
              <c:ptCount val="1"/>
              <c:pt idx="0">
                <c:v>0.90175219</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c:v>
              </c:pt>
              <c:pt idx="1">
                <c:v>10</c:v>
              </c:pt>
            </c:numLit>
          </c:xVal>
          <c:yVal>
            <c:numLit>
              <c:formatCode>0.000</c:formatCode>
              <c:ptCount val="2"/>
              <c:pt idx="0">
                <c:v>-0.02023617</c:v>
              </c:pt>
              <c:pt idx="1">
                <c:v>-0.01882729</c:v>
              </c:pt>
            </c:numLit>
          </c:yVal>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30</c:v>
              </c:pt>
              <c:pt idx="1">
                <c:v>30</c:v>
              </c:pt>
            </c:numLit>
          </c:xVal>
          <c:yVal>
            <c:numLit>
              <c:formatCode>0.000</c:formatCode>
              <c:ptCount val="2"/>
              <c:pt idx="0">
                <c:v>0.01021579</c:v>
              </c:pt>
              <c:pt idx="1">
                <c:v>0.01150741</c:v>
              </c:pt>
            </c:numLit>
          </c:yVal>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50</c:v>
              </c:pt>
              <c:pt idx="1">
                <c:v>50</c:v>
              </c:pt>
            </c:numLit>
          </c:xVal>
          <c:yVal>
            <c:numLit>
              <c:formatCode>0.000</c:formatCode>
              <c:ptCount val="2"/>
              <c:pt idx="0">
                <c:v>0.00784398</c:v>
              </c:pt>
              <c:pt idx="1">
                <c:v>0.00925389</c:v>
              </c:pt>
            </c:numLit>
          </c:yVal>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100</c:v>
              </c:pt>
              <c:pt idx="1">
                <c:v>100</c:v>
              </c:pt>
            </c:numLit>
          </c:xVal>
          <c:yVal>
            <c:numLit>
              <c:formatCode>0.000</c:formatCode>
              <c:ptCount val="2"/>
              <c:pt idx="0">
                <c:v>0.00701006</c:v>
              </c:pt>
              <c:pt idx="1">
                <c:v>0.00843288</c:v>
              </c:pt>
            </c:numLit>
          </c:yVal>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RRF minus E5</c:v>
          </c:tx>
          <c:spPr>
            <a:solidFill xmlns:a="http://schemas.openxmlformats.org/drawingml/2006/main">
              <a:srgbClr val="C95236"/>
            </a:solidFill>
            <a:ln xmlns:a="http://schemas.openxmlformats.org/drawingml/2006/main" w="0">
              <a:noFill/>
            </a:ln>
          </c:spPr>
          <c:marker>
            <c:symbol val="circle"/>
            <c:size val="8"/>
            <c:spPr>
              <a:noFill xmlns:a="http://schemas.openxmlformats.org/drawingml/2006/main"/>
            </c:spPr>
          </c:marker>
          <c:xVal>
            <c:numLit>
              <c:formatCode>General</c:formatCode>
              <c:ptCount val="5"/>
              <c:pt idx="0">
                <c:v>10</c:v>
              </c:pt>
              <c:pt idx="1">
                <c:v>30</c:v>
              </c:pt>
              <c:pt idx="2">
                <c:v>50</c:v>
              </c:pt>
              <c:pt idx="3">
                <c:v>100</c:v>
              </c:pt>
              <c:pt idx="4">
                <c:v>200</c:v>
              </c:pt>
            </c:numLit>
          </c:xVal>
          <c:yVal>
            <c:numLit>
              <c:formatCode>0.000</c:formatCode>
              <c:ptCount val="5"/>
              <c:pt idx="0">
                <c:v>-0.01952103</c:v>
              </c:pt>
              <c:pt idx="1">
                <c:v>0.01085768</c:v>
              </c:pt>
              <c:pt idx="2">
                <c:v>0.00854269</c:v>
              </c:pt>
              <c:pt idx="3">
                <c:v>0.00771191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15"/>
          <c:min val="-0.025"/>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er>
        <c:ser>
          <c:idx val="6"/>
          <c:order val="6"/>
          <c:tx>
            <c:v>RRF minus E5</c:v>
          </c:tx>
          <c:spPr>
            <a:solidFill xmlns:a="http://schemas.openxmlformats.org/drawingml/2006/main">
              <a:srgbClr val="007F78"/>
            </a:solidFill>
            <a:ln xmlns:a="http://schemas.openxmlformats.org/drawingml/2006/main" w="28575">
              <a:solidFill>
                <a:srgbClr val="007F78"/>
              </a:solidFill>
            </a:ln>
          </c:spPr>
          <c:marker>
            <c:symbol val="circle"/>
            <c:size val="8"/>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E350F158-7F1B-4507-AEFD-AD8BF96B614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3d996c623ef413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A3899190-0054-4C80-9DE9-27F8E41B2287}"/>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57E0BC4D-2A0E-4651-BFCC-18DA344C7940}"/>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91FD921D-36AC-4976-AF31-0D0E829BCC72}"/>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CBFA4392-4133-4ABD-AFE0-CB4C767F5043}"/>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E7D559A6-B883-4901-B672-F555149B0700}"/>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2401277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47905FBC-A27C-4995-A08F-34C3CBCCA5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4ECF5B13-362D-4285-9A70-43FFE0A5805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224ACB0A-CF28-40C6-BA64-A249568B0FA1}"/>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F0E52750-4347-4675-9C34-B6B743936A1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8187152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F0E14B6E-7F03-490D-BFC8-6663B9E3C29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42ED9232-EA10-4DE4-AF59-2185094C620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81110BFA-AEA3-43F8-9107-0D1A48A58DEC}"/>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D1E0AC8D-12A0-40B2-8E92-87355FFD2864}"/>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231A1353-EB6A-4405-84F3-D36FD9E87E3C}"/>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B5DE5217-A739-4197-9937-A01C031198CA}"/>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0DC2F3BB-5265-4D66-B043-F2FCAD75BD36}"/>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36472988-85F9-475E-B8C9-1A6DB78BB796}"/>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A3B0EDA4-B47C-486F-81B6-91D9D668D8C8}"/>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08D2D671-55C8-4528-AB4D-D82E11323311}"/>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4DBE67AB-9E89-450C-BEB7-8E46E5C0CA6F}"/>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08955118-E412-4929-A336-8C32B1D6EB3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3491915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82733577-9650-4717-B17C-BF11623BD0C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31B8BC83-8C19-4DE3-93E7-E246AB4B1C3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5C76C5F4-ED2B-4E38-93B9-D4594A5FB83D}"/>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Reference-based similarity">
            <a:extLst xmlns:a="http://schemas.openxmlformats.org/drawingml/2006/main">
              <a:ext uri="{FF2B5EF4-FFF2-40B4-BE49-F238E27FC236}">
                <a16:creationId xmlns:a16="http://schemas.microsoft.com/office/drawing/2014/main" id="{53CCF733-104B-4E34-8110-7DF27D685C73}"/>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Reference-based similarity</a:t>
            </a:r>
          </a:p>
        </p:txBody>
      </p:sp>
      <p:sp>
        <p:nvSpPr>
          <p:cNvPr id="5" name="Deduplicated&#10;candidate pool">
            <a:extLst xmlns:a="http://schemas.openxmlformats.org/drawingml/2006/main">
              <a:ext uri="{FF2B5EF4-FFF2-40B4-BE49-F238E27FC236}">
                <a16:creationId xmlns:a16="http://schemas.microsoft.com/office/drawing/2014/main" id="{7180C8BC-EAF7-493C-B41C-E320C355973F}"/>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59E2BEAF-9EB8-40AC-AAD0-CB254F904EAE}"/>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BEE9C25D-9DF8-43E4-9AC5-DC5CD81617C3}"/>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0F269716-B144-4A86-A160-7DDE5019F699}"/>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110A6818-696C-4225-A322-B9E37DBA18A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9802630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AEE20000-2D94-4742-BF09-CD51A3516DD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78E46F61-3A2C-45C3-996F-40665EE13DD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Relevant judgments per query">
            <a:extLst xmlns:a="http://schemas.openxmlformats.org/drawingml/2006/main">
              <a:ext uri="{FF2B5EF4-FFF2-40B4-BE49-F238E27FC236}">
                <a16:creationId xmlns:a16="http://schemas.microsoft.com/office/drawing/2014/main" id="{4D04DCBF-7B5A-48CF-91C8-02E8FFC950F6}"/>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Relevant judgments per query</a:t>
            </a:r>
          </a:p>
        </p:txBody>
      </p:sp>
      <p:sp>
        <p:nvSpPr>
          <p:cNvPr id="4" name="1.05">
            <a:extLst xmlns:a="http://schemas.openxmlformats.org/drawingml/2006/main">
              <a:ext uri="{FF2B5EF4-FFF2-40B4-BE49-F238E27FC236}">
                <a16:creationId xmlns:a16="http://schemas.microsoft.com/office/drawing/2014/main" id="{F07B4F8F-C67B-49BD-A1F6-A8B21F12C5B1}"/>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79266B2-77B7-4E3D-B78B-14A2AD4C72E2}"/>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FF170E73-4E56-4DCE-99E3-539CD732544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8224AFFC-E0A0-4B78-9B2F-0B5CB05983E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7B0004D7-8149-49C5-95AB-1C8D11221A02}"/>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32AC0449-A49B-4719-85D6-EA2C0D82CC4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D236D081-491C-452E-9CF1-F85AA3E46BC6}"/>
              </a:ext>
            </a:extLst>
          </p:cNvPr>
          <p:cNvSpPr>
            <a:spLocks xmlns:a="http://schemas.openxmlformats.org/drawingml/2006/main" noGrp="1"/>
          </p:cNvSpPr>
          <p:nvPr/>
        </p:nvSpPr>
        <p:spPr>
          <a:xfrm xmlns:a="http://schemas.openxmlformats.org/drawingml/2006/main">
            <a:off x="6705600" y="52959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556E40CD-2268-457E-8C53-792657CB430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6649207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44FB8DAD-86BE-4B58-B3EB-CC20AAAC4C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C82542E1-5A53-4000-9C84-1172904C693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8099700817154498"/>
          </a:graphicData>
        </a:graphic>
      </p:graphicFrame>
      <p:sp>
        <p:nvSpPr>
          <p:cNvPr id="4" name="E5 paired change: +0.391   95% CI [0.365, 0.417]">
            <a:extLst xmlns:a="http://schemas.openxmlformats.org/drawingml/2006/main">
              <a:ext uri="{FF2B5EF4-FFF2-40B4-BE49-F238E27FC236}">
                <a16:creationId xmlns:a16="http://schemas.microsoft.com/office/drawing/2014/main" id="{5D8F6D3D-B2B3-4911-BB67-239C20122D95}"/>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0495382A-BCB9-4F28-9281-C19FF865BE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9110640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FFE0E327-3FEA-4EBE-A47D-43A6F7F9FBD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D7F52567-879A-4D7C-8646-633769DB74D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D3D75974-0DEC-450C-9CA9-ACFD9376B5D3}"/>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5864E0FB-8EB8-4AD8-9FB6-EA140ADF5BB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D33A179C-9BAF-4578-8244-43406082CAA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D864B01D-F2E2-477B-8B2F-677A6E4BF6A1}"/>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9F30890C-65F3-443C-8F2A-E881825A671A}"/>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34493607-7C48-404C-8CD1-BF11DE3AA4E8}"/>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E4FEF722-1875-4DDC-B9C0-CD7EA64A5FD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9676693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agreement on held-out queries">
            <a:extLst xmlns:a="http://schemas.openxmlformats.org/drawingml/2006/main">
              <a:ext uri="{FF2B5EF4-FFF2-40B4-BE49-F238E27FC236}">
                <a16:creationId xmlns:a16="http://schemas.microsoft.com/office/drawing/2014/main" id="{7B7450AB-DF2C-40E0-BAB6-AA5318ED553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B954095-FB84-4433-9708-79ECBF7A203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1"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717b99690e3c4cba"/>
          </a:graphicData>
        </a:graphic>
      </p:graphicFrame>
      <p:sp>
        <p:nvSpPr>
          <p:cNvPr id="4" name="0.907">
            <a:extLst xmlns:a="http://schemas.openxmlformats.org/drawingml/2006/main">
              <a:ext uri="{FF2B5EF4-FFF2-40B4-BE49-F238E27FC236}">
                <a16:creationId xmlns:a16="http://schemas.microsoft.com/office/drawing/2014/main" id="{FDE45B7B-04F0-4DAC-B384-D8385892EEBB}"/>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38BC6033-BEED-4BDF-A6B2-42A406E98F05}"/>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EDF8F8F8-2CD5-4D85-A0A1-11EE7988BBDE}"/>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2F85369D-57B6-4CE9-9BDB-F0F8EBBFE1AB}"/>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177 held-out queries; 5,002 pairs. Inherited bin">
            <a:extLst xmlns:a="http://schemas.openxmlformats.org/drawingml/2006/main">
              <a:ext uri="{FF2B5EF4-FFF2-40B4-BE49-F238E27FC236}">
                <a16:creationId xmlns:a16="http://schemas.microsoft.com/office/drawing/2014/main" id="{FA8738AC-0986-430E-869F-B11D23909A7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queries; 5,002 pairs. Inherited binary label encoding.</a:t>
            </a:r>
          </a:p>
        </p:txBody>
      </p:sp>
    </p:spTree>
    <p:extLst>
      <p:ext uri="{BB962C8B-B14F-4D97-AF65-F5344CB8AC3E}">
        <p14:creationId xmlns:p14="http://schemas.microsoft.com/office/powerpoint/2010/main" val="4674191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FAA415AC-2D3E-4AEB-B0B0-876B602EBAE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62593420-ABD8-4F1C-9A9A-8F06B79D47C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677CB818-9312-4519-891F-24FC915279FC}"/>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a5b5157197d64487"/>
          </a:graphicData>
        </a:graphic>
      </p:graphicFrame>
      <p:sp>
        <p:nvSpPr>
          <p:cNvPr id="5" name="451.5">
            <a:extLst xmlns:a="http://schemas.openxmlformats.org/drawingml/2006/main">
              <a:ext uri="{FF2B5EF4-FFF2-40B4-BE49-F238E27FC236}">
                <a16:creationId xmlns:a16="http://schemas.microsoft.com/office/drawing/2014/main" id="{3F6D60EC-7A93-4458-8C55-E0EE5BFF5C1A}"/>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752E3E0A-0250-4842-AA29-8FE145D9BBEA}"/>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2D4CC1DC-1041-4612-8180-34ED5B5AE81B}"/>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477D018D-53D6-47B8-AFA1-AD22731CAB49}"/>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00B2825E-A41D-42D2-BC63-FA8E656734A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647299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changes position relative to E5">
            <a:extLst xmlns:a="http://schemas.openxmlformats.org/drawingml/2006/main">
              <a:ext uri="{FF2B5EF4-FFF2-40B4-BE49-F238E27FC236}">
                <a16:creationId xmlns:a16="http://schemas.microsoft.com/office/drawing/2014/main" id="{C3450FB4-100D-4C12-9E10-B01CE26A248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31EE43B9-A04C-400B-B28B-52B6939E40F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Assessment depth K = RRF input depth L">
            <a:extLst xmlns:a="http://schemas.openxmlformats.org/drawingml/2006/main">
              <a:ext uri="{FF2B5EF4-FFF2-40B4-BE49-F238E27FC236}">
                <a16:creationId xmlns:a16="http://schemas.microsoft.com/office/drawing/2014/main" id="{963A27AF-2013-4C28-9EF9-337F3FE32EF3}"/>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Assessment depth K = RRF input depth L</a:t>
            </a:r>
          </a:p>
        </p:txBody>
      </p:sp>
      <p:graphicFrame>
        <p:nvGraphicFramePr>
          <p:cNvPr id="15" name="Chart"/>
          <p:cNvGraphicFramePr/>
          <p:nvPr/>
        </p:nvGraphicFramePr>
        <p:xfrm>
          <a:off xmlns:a="http://schemas.openxmlformats.org/drawingml/2006/main" x="609600" y="2305050"/>
          <a:ext xmlns:a="http://schemas.openxmlformats.org/drawingml/2006/main" cx="8086725" cy="3409950"/>
        </p:xfrm>
        <a:graphic xmlns:a="http://schemas.openxmlformats.org/drawingml/2006/main">
          <a:graphicData uri="http://schemas.openxmlformats.org/drawingml/2006/chart">
            <c:chart xmlns:r="http://schemas.openxmlformats.org/officeDocument/2006/relationships" xmlns:c="http://schemas.openxmlformats.org/drawingml/2006/chart" r:id="Rf8b23f76b194422c"/>
          </a:graphicData>
        </a:graphic>
      </p:graphicFrame>
      <p:sp>
        <p:nvSpPr>
          <p:cNvPr id="5" name="E5 higher">
            <a:extLst xmlns:a="http://schemas.openxmlformats.org/drawingml/2006/main">
              <a:ext uri="{FF2B5EF4-FFF2-40B4-BE49-F238E27FC236}">
                <a16:creationId xmlns:a16="http://schemas.microsoft.com/office/drawing/2014/main" id="{A9B82BED-E08E-4519-9503-8362DFB6EBCB}"/>
              </a:ext>
            </a:extLst>
          </p:cNvPr>
          <p:cNvSpPr>
            <a:spLocks xmlns:a="http://schemas.openxmlformats.org/drawingml/2006/main" noGrp="1"/>
          </p:cNvSpPr>
          <p:nvPr/>
        </p:nvSpPr>
        <p:spPr>
          <a:xfrm xmlns:a="http://schemas.openxmlformats.org/drawingml/2006/main">
            <a:off x="9182100" y="24955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E5 higher</a:t>
            </a:r>
          </a:p>
        </p:txBody>
      </p:sp>
      <p:sp>
        <p:nvSpPr>
          <p:cNvPr id="6" name="−0.0195">
            <a:extLst xmlns:a="http://schemas.openxmlformats.org/drawingml/2006/main">
              <a:ext uri="{FF2B5EF4-FFF2-40B4-BE49-F238E27FC236}">
                <a16:creationId xmlns:a16="http://schemas.microsoft.com/office/drawing/2014/main" id="{97571D34-C219-4C48-A074-AABB15DAB83B}"/>
              </a:ext>
            </a:extLst>
          </p:cNvPr>
          <p:cNvSpPr>
            <a:spLocks xmlns:a="http://schemas.openxmlformats.org/drawingml/2006/main" noGrp="1"/>
          </p:cNvSpPr>
          <p:nvPr/>
        </p:nvSpPr>
        <p:spPr>
          <a:xfrm xmlns:a="http://schemas.openxmlformats.org/drawingml/2006/main">
            <a:off x="9182100" y="29527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−0.0195</a:t>
            </a:r>
          </a:p>
        </p:txBody>
      </p:sp>
      <p:sp>
        <p:nvSpPr>
          <p:cNvPr id="7" name="K = 10">
            <a:extLst xmlns:a="http://schemas.openxmlformats.org/drawingml/2006/main">
              <a:ext uri="{FF2B5EF4-FFF2-40B4-BE49-F238E27FC236}">
                <a16:creationId xmlns:a16="http://schemas.microsoft.com/office/drawing/2014/main" id="{FD6E30FB-4E99-4238-9B12-2EE336B0281C}"/>
              </a:ext>
            </a:extLst>
          </p:cNvPr>
          <p:cNvSpPr>
            <a:spLocks xmlns:a="http://schemas.openxmlformats.org/drawingml/2006/main" noGrp="1"/>
          </p:cNvSpPr>
          <p:nvPr/>
        </p:nvSpPr>
        <p:spPr>
          <a:xfrm xmlns:a="http://schemas.openxmlformats.org/drawingml/2006/main">
            <a:off x="9182100" y="36004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10</a:t>
            </a:r>
          </a:p>
        </p:txBody>
      </p:sp>
      <p:sp>
        <p:nvSpPr>
          <p:cNvPr id="8" name="RRF higher">
            <a:extLst xmlns:a="http://schemas.openxmlformats.org/drawingml/2006/main">
              <a:ext uri="{FF2B5EF4-FFF2-40B4-BE49-F238E27FC236}">
                <a16:creationId xmlns:a16="http://schemas.microsoft.com/office/drawing/2014/main" id="{63AA2C88-3F8A-407A-8BD0-560DD63A63F2}"/>
              </a:ext>
            </a:extLst>
          </p:cNvPr>
          <p:cNvSpPr>
            <a:spLocks xmlns:a="http://schemas.openxmlformats.org/drawingml/2006/main" noGrp="1"/>
          </p:cNvSpPr>
          <p:nvPr/>
        </p:nvSpPr>
        <p:spPr>
          <a:xfrm xmlns:a="http://schemas.openxmlformats.org/drawingml/2006/main">
            <a:off x="9182100" y="42100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RRF higher</a:t>
            </a:r>
          </a:p>
        </p:txBody>
      </p:sp>
      <p:sp>
        <p:nvSpPr>
          <p:cNvPr id="9" name="+0.0088">
            <a:extLst xmlns:a="http://schemas.openxmlformats.org/drawingml/2006/main">
              <a:ext uri="{FF2B5EF4-FFF2-40B4-BE49-F238E27FC236}">
                <a16:creationId xmlns:a16="http://schemas.microsoft.com/office/drawing/2014/main" id="{D7D04E4C-CB43-44E3-BA2D-CB8BDA64237A}"/>
              </a:ext>
            </a:extLst>
          </p:cNvPr>
          <p:cNvSpPr>
            <a:spLocks xmlns:a="http://schemas.openxmlformats.org/drawingml/2006/main" noGrp="1"/>
          </p:cNvSpPr>
          <p:nvPr/>
        </p:nvSpPr>
        <p:spPr>
          <a:xfrm xmlns:a="http://schemas.openxmlformats.org/drawingml/2006/main">
            <a:off x="9182100" y="46672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+0.0088</a:t>
            </a:r>
          </a:p>
        </p:txBody>
      </p:sp>
      <p:sp>
        <p:nvSpPr>
          <p:cNvPr id="10" name="K = 200">
            <a:extLst xmlns:a="http://schemas.openxmlformats.org/drawingml/2006/main">
              <a:ext uri="{FF2B5EF4-FFF2-40B4-BE49-F238E27FC236}">
                <a16:creationId xmlns:a16="http://schemas.microsoft.com/office/drawing/2014/main" id="{5E4242DE-69E3-4588-B262-B320DC398A3C}"/>
              </a:ext>
            </a:extLst>
          </p:cNvPr>
          <p:cNvSpPr>
            <a:spLocks xmlns:a="http://schemas.openxmlformats.org/drawingml/2006/main" noGrp="1"/>
          </p:cNvSpPr>
          <p:nvPr/>
        </p:nvSpPr>
        <p:spPr>
          <a:xfrm xmlns:a="http://schemas.openxmlformats.org/drawingml/2006/main">
            <a:off x="9182100" y="53149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200</a:t>
            </a:r>
          </a:p>
        </p:txBody>
      </p:sp>
      <p:sp>
        <p:nvSpPr>
          <p:cNvPr id="11" name="Single-judge pseudo-labels. Points with 95% pair">
            <a:extLst xmlns:a="http://schemas.openxmlformats.org/drawingml/2006/main">
              <a:ext uri="{FF2B5EF4-FFF2-40B4-BE49-F238E27FC236}">
                <a16:creationId xmlns:a16="http://schemas.microsoft.com/office/drawing/2014/main" id="{B6DB9C57-6A49-4D05-97CB-54A9F7E2AC4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9892938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ssessment coverage can reverse a comparison">
            <a:extLst xmlns:a="http://schemas.openxmlformats.org/drawingml/2006/main">
              <a:ext uri="{FF2B5EF4-FFF2-40B4-BE49-F238E27FC236}">
                <a16:creationId xmlns:a16="http://schemas.microsoft.com/office/drawing/2014/main" id="{6D515FF4-04BD-4AE4-845A-C25DEE1C44F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EC52BC56-25FE-4510-860C-73D99BE638D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036C6006-9473-4DEE-88CA-5D6E20E20668}"/>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2" name="Chart"/>
          <p:cNvGraphicFramePr/>
          <p:nvPr/>
        </p:nvGraphicFramePr>
        <p:xfrm>
          <a:off xmlns:a="http://schemas.openxmlformats.org/drawingml/2006/main" x="609600" y="26670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284835e8d177447e"/>
          </a:graphicData>
        </a:graphic>
      </p:graphicFrame>
      <p:sp>
        <p:nvSpPr>
          <p:cNvPr id="5" name="14.4%">
            <a:extLst xmlns:a="http://schemas.openxmlformats.org/drawingml/2006/main">
              <a:ext uri="{FF2B5EF4-FFF2-40B4-BE49-F238E27FC236}">
                <a16:creationId xmlns:a16="http://schemas.microsoft.com/office/drawing/2014/main" id="{EC4A9626-7341-4687-BF54-69A5972E9C63}"/>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eturned RRF pairs&#10;outside the pool&#10;at K = 10">
            <a:extLst xmlns:a="http://schemas.openxmlformats.org/drawingml/2006/main">
              <a:ext uri="{FF2B5EF4-FFF2-40B4-BE49-F238E27FC236}">
                <a16:creationId xmlns:a16="http://schemas.microsoft.com/office/drawing/2014/main" id="{78EA5F25-F4E5-4CB3-A4D5-2C75A0A65BCC}"/>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returned RRF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76E4489F-4037-407C-ACB3-E90EC2C8653C}"/>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RRF minus E5 under pseudo-labels. Unjudged retur">
            <a:extLst xmlns:a="http://schemas.openxmlformats.org/drawingml/2006/main">
              <a:ext uri="{FF2B5EF4-FFF2-40B4-BE49-F238E27FC236}">
                <a16:creationId xmlns:a16="http://schemas.microsoft.com/office/drawing/2014/main" id="{E5C85656-506A-4907-ADCD-29DD85AC05D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20690243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96EAF7F5-634D-489F-B270-46078FB41E2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8772D7BF-A6CC-4C18-9188-CBD4D9290C5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F9424FDB-873D-4E30-9D60-1B93E066FBF9}"/>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Comparison directions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D9C4639-8CA6-4F9F-9EB6-42C61B35D4F0}"/>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B2CCC65F-B172-44DD-90D2-7261D03DA138}"/>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56142BEF-054C-4FF2-BA4B-2DC253A509C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365365160"/>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D7352914-7FF7-4D6F-B03D-751593D1F9A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8AA28B4D-30B7-4409-B1F0-865955916A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F76A6C39-077D-4892-98A4-ED76CE176A9B}"/>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0.488 to 0.879">
            <a:extLst xmlns:a="http://schemas.openxmlformats.org/drawingml/2006/main">
              <a:ext uri="{FF2B5EF4-FFF2-40B4-BE49-F238E27FC236}">
                <a16:creationId xmlns:a16="http://schemas.microsoft.com/office/drawing/2014/main" id="{3891EE30-6B7D-45A2-8C24-25FF07984B33}"/>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0.488 to 0.879</a:t>
            </a:r>
          </a:p>
        </p:txBody>
      </p:sp>
      <p:sp>
        <p:nvSpPr>
          <p:cNvPr id="5" name="Same ranking; more complete relevance judgments">
            <a:extLst xmlns:a="http://schemas.openxmlformats.org/drawingml/2006/main">
              <a:ext uri="{FF2B5EF4-FFF2-40B4-BE49-F238E27FC236}">
                <a16:creationId xmlns:a16="http://schemas.microsoft.com/office/drawing/2014/main" id="{DC438B6D-332D-4E1B-B68D-1C708200355F}"/>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2AE187BC-B54E-4746-9241-53A06CAC2EE1}"/>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RF and E5 rankings">
            <a:extLst xmlns:a="http://schemas.openxmlformats.org/drawingml/2006/main">
              <a:ext uri="{FF2B5EF4-FFF2-40B4-BE49-F238E27FC236}">
                <a16:creationId xmlns:a16="http://schemas.microsoft.com/office/drawing/2014/main" id="{E6A38EED-D36B-417F-AA7E-353A419233C3}"/>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RRF and E5 rankings</a:t>
            </a:r>
          </a:p>
        </p:txBody>
      </p:sp>
      <p:sp>
        <p:nvSpPr>
          <p:cNvPr id="8" name="Assessment coverage alone can change their order">
            <a:extLst xmlns:a="http://schemas.openxmlformats.org/drawingml/2006/main">
              <a:ext uri="{FF2B5EF4-FFF2-40B4-BE49-F238E27FC236}">
                <a16:creationId xmlns:a16="http://schemas.microsoft.com/office/drawing/2014/main" id="{D3F50E67-2D66-459D-9597-DF436EB38593}"/>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Assessment coverage alone can change their order</a:t>
            </a:r>
          </a:p>
        </p:txBody>
      </p:sp>
      <p:sp>
        <p:nvSpPr>
          <p:cNvPr id="9" name="English MS MARCO; human judgments and single-jud">
            <a:extLst xmlns:a="http://schemas.openxmlformats.org/drawingml/2006/main">
              <a:ext uri="{FF2B5EF4-FFF2-40B4-BE49-F238E27FC236}">
                <a16:creationId xmlns:a16="http://schemas.microsoft.com/office/drawing/2014/main" id="{028D10B5-2C5E-4999-8A1F-7830F2F94CA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2109395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B3109DD3-DF93-424C-B5F2-22F6FCFFDAC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B2C0F178-C8D0-403A-98AF-25529BBB2E5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301F7A8F-2EBE-4826-912E-D86FF6D25B1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E93A7A94-698E-4571-93CD-038DF336FC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8229819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Judge test protocol and observed errors">
            <a:extLst xmlns:a="http://schemas.openxmlformats.org/drawingml/2006/main">
              <a:ext uri="{FF2B5EF4-FFF2-40B4-BE49-F238E27FC236}">
                <a16:creationId xmlns:a16="http://schemas.microsoft.com/office/drawing/2014/main" id="{2EB66D2D-6A8C-4DBB-8B43-08350DB6BE6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83203BA2-B938-4DE8-BB2C-612C747188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2CB88B00-C949-4CB1-BD19-CE18D6187DE2}"/>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DF0EC031-4153-4DE6-8F92-F59722152927}"/>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R w="0">
                      <a:solidFill>
                        <a:srgbClr val="FFFFFF"/>
                      </a:solidFill>
                    </a:lnR>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6" name="Precision 0.851    Recall 0.902    F1 0.875">
            <a:extLst xmlns:a="http://schemas.openxmlformats.org/drawingml/2006/main">
              <a:ext uri="{FF2B5EF4-FFF2-40B4-BE49-F238E27FC236}">
                <a16:creationId xmlns:a16="http://schemas.microsoft.com/office/drawing/2014/main" id="{3434AE86-9889-4F7E-9183-7258ED7DA664}"/>
              </a:ext>
            </a:extLst>
          </p:cNvPr>
          <p:cNvSpPr>
            <a:spLocks xmlns:a="http://schemas.openxmlformats.org/drawingml/2006/main" noGrp="1"/>
          </p:cNvSpPr>
          <p:nvPr/>
        </p:nvSpPr>
        <p:spPr>
          <a:xfrm xmlns:a="http://schemas.openxmlformats.org/drawingml/2006/main">
            <a:off x="609600" y="5524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    Recall 0.902    F1 0.875</a:t>
            </a:r>
          </a:p>
        </p:txBody>
      </p:sp>
      <p:sp>
        <p:nvSpPr>
          <p:cNvPr id="7" name="5,002 pairs; six unresolved targets mapped to ze">
            <a:extLst xmlns:a="http://schemas.openxmlformats.org/drawingml/2006/main">
              <a:ext uri="{FF2B5EF4-FFF2-40B4-BE49-F238E27FC236}">
                <a16:creationId xmlns:a16="http://schemas.microsoft.com/office/drawing/2014/main" id="{DC87F074-CF8F-424D-AC9A-7073C7707B5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90342350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458D0F36-40C5-4200-896F-4F1C777C710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B3C41A30-080C-4C66-A11E-681D9B791F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DDD018DE-8F5E-44B6-A81D-ADF2F85468E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9930246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nsitivity to query exclusions">
            <a:extLst xmlns:a="http://schemas.openxmlformats.org/drawingml/2006/main">
              <a:ext uri="{FF2B5EF4-FFF2-40B4-BE49-F238E27FC236}">
                <a16:creationId xmlns:a16="http://schemas.microsoft.com/office/drawing/2014/main" id="{73DA6333-B3B1-4913-ADDC-036C0D83425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94CA601A-DDE1-493C-BF2D-9449F326C28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graphicFrame>
        <p:nvGraphicFramePr>
          <p:cNvPr id="9" name=""/>
          <p:cNvGraphicFramePr/>
          <p:nvPr/>
        </p:nvGraphicFramePr>
        <p:xfrm>
          <a:off xmlns:a="http://schemas.openxmlformats.org/drawingml/2006/main" x="609600" y="19145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Clean 1,156 queries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Full set without manual queries: N = 99,914">
            <a:extLst xmlns:a="http://schemas.openxmlformats.org/drawingml/2006/main">
              <a:ext uri="{FF2B5EF4-FFF2-40B4-BE49-F238E27FC236}">
                <a16:creationId xmlns:a16="http://schemas.microsoft.com/office/drawing/2014/main" id="{BAD6DEB4-F27E-41CF-9035-12EB0C681AA8}"/>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5" name="At K = 200: RRF − E5 = +0.00877">
            <a:extLst xmlns:a="http://schemas.openxmlformats.org/drawingml/2006/main">
              <a:ext uri="{FF2B5EF4-FFF2-40B4-BE49-F238E27FC236}">
                <a16:creationId xmlns:a16="http://schemas.microsoft.com/office/drawing/2014/main" id="{8F26EA03-310F-447A-A441-60A8E8E9FA28}"/>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6" name="Exclusion checks preserve the observed direction">
            <a:extLst xmlns:a="http://schemas.openxmlformats.org/drawingml/2006/main">
              <a:ext uri="{FF2B5EF4-FFF2-40B4-BE49-F238E27FC236}">
                <a16:creationId xmlns:a16="http://schemas.microsoft.com/office/drawing/2014/main" id="{72E51915-0803-4F10-B1C9-FDA8786D533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preserve the observed directions, not independent human validity.</a:t>
            </a:r>
          </a:p>
        </p:txBody>
      </p:sp>
    </p:spTree>
    <p:extLst>
      <p:ext uri="{BB962C8B-B14F-4D97-AF65-F5344CB8AC3E}">
        <p14:creationId xmlns:p14="http://schemas.microsoft.com/office/powerpoint/2010/main" val="129581398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6ACF2CCF-0D42-4FD9-9506-EA123508B4E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F6325075-8A3C-4E8B-BEAE-127F4C2CB9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AE5C17B1-5423-4D62-84A1-E42265AEA713}"/>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309B472B-ABCA-4EE6-BA5C-63C600302A72}"/>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053D7562-4F89-42CF-A388-FF777B4913D7}"/>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3566CAE8-E8B0-4B08-AC38-387A562252F4}"/>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6CC7ED6D-E4FA-46E2-B81E-66EE75D6BAD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275162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
  <dcterms:modified xsi:type="dcterms:W3CDTF"/>
</coreProperties>
</file>