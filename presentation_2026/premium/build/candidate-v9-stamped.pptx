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9ed7fd84cdca4777"/><Relationship Type="http://schemas.openxmlformats.org/officeDocument/2006/relationships/extended-properties" Target="/docProps/app.xml" Id="R8bf9444e872345ee"/><Relationship Type="http://schemas.openxmlformats.org/officeDocument/2006/relationships/officeDocument" Target="/ppt/presentation.xml" Id="R17c383138ec24fbb"/></Relationships>
</file>

<file path=ppt/presentation.xml><?xml version="1.0" encoding="utf-8"?>
<p:presentation xmlns:p="http://schemas.openxmlformats.org/presentationml/2006/main">
  <p:sldMasterIdLst>
    <p:sldMasterId xmlns:r="http://schemas.openxmlformats.org/officeDocument/2006/relationships" id="2147483648" r:id="Ra4e692bb180c4095"/>
  </p:sldMasterIdLst>
  <p:notesMasterIdLst>
    <p:notesMasterId xmlns:r="http://schemas.openxmlformats.org/officeDocument/2006/relationships" r:id="Rd4f9fb572b11438e"/>
  </p:notesMasterIdLst>
  <p:sldIdLst>
    <p:sldId xmlns:r="http://schemas.openxmlformats.org/officeDocument/2006/relationships" id="256" r:id="R652b817cac9b4e6b"/>
    <p:sldId xmlns:r="http://schemas.openxmlformats.org/officeDocument/2006/relationships" id="257" r:id="R02b8cf4c8db84fe5"/>
    <p:sldId xmlns:r="http://schemas.openxmlformats.org/officeDocument/2006/relationships" id="258" r:id="Rf2be9d006df849f6"/>
    <p:sldId xmlns:r="http://schemas.openxmlformats.org/officeDocument/2006/relationships" id="259" r:id="Rac6c9de026f94a2c"/>
    <p:sldId xmlns:r="http://schemas.openxmlformats.org/officeDocument/2006/relationships" id="260" r:id="R747d160c54004dfc"/>
    <p:sldId xmlns:r="http://schemas.openxmlformats.org/officeDocument/2006/relationships" id="261" r:id="R8d6ea740723d48a5"/>
    <p:sldId xmlns:r="http://schemas.openxmlformats.org/officeDocument/2006/relationships" id="262" r:id="Rd64337aaa3424423"/>
    <p:sldId xmlns:r="http://schemas.openxmlformats.org/officeDocument/2006/relationships" id="263" r:id="Rfcf068abb6684c4c"/>
    <p:sldId xmlns:r="http://schemas.openxmlformats.org/officeDocument/2006/relationships" id="264" r:id="R9ac13b4236444bab"/>
    <p:sldId xmlns:r="http://schemas.openxmlformats.org/officeDocument/2006/relationships" id="265" r:id="R765eaf43753b445f"/>
    <p:sldId xmlns:r="http://schemas.openxmlformats.org/officeDocument/2006/relationships" id="266" r:id="Rbbce44dcc126470a"/>
    <p:sldId xmlns:r="http://schemas.openxmlformats.org/officeDocument/2006/relationships" id="267" r:id="R632cedeeb4274818"/>
    <p:sldId xmlns:r="http://schemas.openxmlformats.org/officeDocument/2006/relationships" id="268" r:id="Rf50f2be979e34c24"/>
    <p:sldId xmlns:r="http://schemas.openxmlformats.org/officeDocument/2006/relationships" id="269" r:id="Rf64bdee6e2c44ac6"/>
    <p:sldId xmlns:r="http://schemas.openxmlformats.org/officeDocument/2006/relationships" id="270" r:id="R9de98ad99ee64b81"/>
    <p:sldId xmlns:r="http://schemas.openxmlformats.org/officeDocument/2006/relationships" id="271" r:id="Raae61fcdda5946cf"/>
    <p:sldId xmlns:r="http://schemas.openxmlformats.org/officeDocument/2006/relationships" id="272" r:id="R86800272527949e8"/>
    <p:sldId xmlns:r="http://schemas.openxmlformats.org/officeDocument/2006/relationships" id="273" r:id="Rb1c74dabc32f40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d5b350d495364f52"/><Relationship Type="http://schemas.openxmlformats.org/officeDocument/2006/relationships/slideMaster" Target="/ppt/slideMasters/slideMaster1.xml" Id="Ra4e692bb180c4095"/><Relationship Type="http://schemas.openxmlformats.org/officeDocument/2006/relationships/notesMaster" Target="/ppt/notesMasters/notesMaster1.xml" Id="Rd4f9fb572b11438e"/><Relationship Type="http://schemas.openxmlformats.org/officeDocument/2006/relationships/presProps" Target="/ppt/presProps.xml" Id="Rdad4310567e9447f"/><Relationship Type="http://schemas.openxmlformats.org/officeDocument/2006/relationships/tableStyles" Target="/ppt/tableStyles.xml" Id="R4274fdc076cb4b24"/><Relationship Type="http://schemas.openxmlformats.org/officeDocument/2006/relationships/slide" Target="/ppt/slides/slide1.xml" Id="R652b817cac9b4e6b"/><Relationship Type="http://schemas.openxmlformats.org/officeDocument/2006/relationships/slide" Target="/ppt/slides/slide2.xml" Id="R02b8cf4c8db84fe5"/><Relationship Type="http://schemas.openxmlformats.org/officeDocument/2006/relationships/slide" Target="/ppt/slides/slide3.xml" Id="Rf2be9d006df849f6"/><Relationship Type="http://schemas.openxmlformats.org/officeDocument/2006/relationships/slide" Target="/ppt/slides/slide4.xml" Id="Rac6c9de026f94a2c"/><Relationship Type="http://schemas.openxmlformats.org/officeDocument/2006/relationships/slide" Target="/ppt/slides/slide5.xml" Id="R747d160c54004dfc"/><Relationship Type="http://schemas.openxmlformats.org/officeDocument/2006/relationships/slide" Target="/ppt/slides/slide6.xml" Id="R8d6ea740723d48a5"/><Relationship Type="http://schemas.openxmlformats.org/officeDocument/2006/relationships/slide" Target="/ppt/slides/slide7.xml" Id="Rd64337aaa3424423"/><Relationship Type="http://schemas.openxmlformats.org/officeDocument/2006/relationships/slide" Target="/ppt/slides/slide8.xml" Id="Rfcf068abb6684c4c"/><Relationship Type="http://schemas.openxmlformats.org/officeDocument/2006/relationships/slide" Target="/ppt/slides/slide9.xml" Id="R9ac13b4236444bab"/><Relationship Type="http://schemas.openxmlformats.org/officeDocument/2006/relationships/slide" Target="/ppt/slides/slide10.xml" Id="R765eaf43753b445f"/><Relationship Type="http://schemas.openxmlformats.org/officeDocument/2006/relationships/slide" Target="/ppt/slides/slide11.xml" Id="Rbbce44dcc126470a"/><Relationship Type="http://schemas.openxmlformats.org/officeDocument/2006/relationships/slide" Target="/ppt/slides/slide12.xml" Id="R632cedeeb4274818"/><Relationship Type="http://schemas.openxmlformats.org/officeDocument/2006/relationships/slide" Target="/ppt/slides/slide13.xml" Id="Rf50f2be979e34c24"/><Relationship Type="http://schemas.openxmlformats.org/officeDocument/2006/relationships/slide" Target="/ppt/slides/slide14.xml" Id="Rf64bdee6e2c44ac6"/><Relationship Type="http://schemas.openxmlformats.org/officeDocument/2006/relationships/slide" Target="/ppt/slides/slide15.xml" Id="R9de98ad99ee64b81"/><Relationship Type="http://schemas.openxmlformats.org/officeDocument/2006/relationships/slide" Target="/ppt/slides/slide16.xml" Id="Raae61fcdda5946cf"/><Relationship Type="http://schemas.openxmlformats.org/officeDocument/2006/relationships/slide" Target="/ppt/slides/slide17.xml" Id="R86800272527949e8"/><Relationship Type="http://schemas.openxmlformats.org/officeDocument/2006/relationships/slide" Target="/ppt/slides/slide18.xml" Id="Rb1c74dabc32f40f6"/></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4855949f3bde4308"/></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15739240cf2e4e1b"/><Relationship Type="http://schemas.openxmlformats.org/officeDocument/2006/relationships/notesMaster" Target="/ppt/notesMasters/notesMaster1.xml" Id="Read13de8f87f47a7"/></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ae62e8abe1db4a96"/><Relationship Type="http://schemas.openxmlformats.org/officeDocument/2006/relationships/notesMaster" Target="/ppt/notesMasters/notesMaster1.xml" Id="R54a80a5c05834700"/></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4793c3e009fc452c"/><Relationship Type="http://schemas.openxmlformats.org/officeDocument/2006/relationships/notesMaster" Target="/ppt/notesMasters/notesMaster1.xml" Id="R1cfff51285884632"/></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53eaf935bd9d4ba5"/><Relationship Type="http://schemas.openxmlformats.org/officeDocument/2006/relationships/notesMaster" Target="/ppt/notesMasters/notesMaster1.xml" Id="R4531f776839442d1"/></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e9cc9e64a8914d97"/><Relationship Type="http://schemas.openxmlformats.org/officeDocument/2006/relationships/notesMaster" Target="/ppt/notesMasters/notesMaster1.xml" Id="R80c95e10016b4eb9"/></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d394abe602bb48bb"/><Relationship Type="http://schemas.openxmlformats.org/officeDocument/2006/relationships/notesMaster" Target="/ppt/notesMasters/notesMaster1.xml" Id="R54733c3213ef4b93"/></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6aeff2844592458a"/><Relationship Type="http://schemas.openxmlformats.org/officeDocument/2006/relationships/notesMaster" Target="/ppt/notesMasters/notesMaster1.xml" Id="Ra12c1293f429454c"/></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06aaa9eff5094246"/><Relationship Type="http://schemas.openxmlformats.org/officeDocument/2006/relationships/notesMaster" Target="/ppt/notesMasters/notesMaster1.xml" Id="Rf67f52077b174dbf"/></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577a0daa892f418f"/><Relationship Type="http://schemas.openxmlformats.org/officeDocument/2006/relationships/notesMaster" Target="/ppt/notesMasters/notesMaster1.xml" Id="R81f4cf30042548a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bcc3160146df4ce6"/><Relationship Type="http://schemas.openxmlformats.org/officeDocument/2006/relationships/notesMaster" Target="/ppt/notesMasters/notesMaster1.xml" Id="R855c19ec3b5c49e1"/></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3cea9f1d60434b7d"/><Relationship Type="http://schemas.openxmlformats.org/officeDocument/2006/relationships/notesMaster" Target="/ppt/notesMasters/notesMaster1.xml" Id="R444ea47b98934391"/></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7b410726de734ec0"/><Relationship Type="http://schemas.openxmlformats.org/officeDocument/2006/relationships/notesMaster" Target="/ppt/notesMasters/notesMaster1.xml" Id="Rd58b548159714128"/></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52796c5de3b64ca1"/><Relationship Type="http://schemas.openxmlformats.org/officeDocument/2006/relationships/notesMaster" Target="/ppt/notesMasters/notesMaster1.xml" Id="R26487be711f84621"/></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0490b3b28fd94654"/><Relationship Type="http://schemas.openxmlformats.org/officeDocument/2006/relationships/notesMaster" Target="/ppt/notesMasters/notesMaster1.xml" Id="Rdc93cfa9080342cd"/></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1678b2e65cfc49e1"/><Relationship Type="http://schemas.openxmlformats.org/officeDocument/2006/relationships/notesMaster" Target="/ppt/notesMasters/notesMaster1.xml" Id="R24bcd3169fa845f4"/></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fc682e57af3c4c78"/><Relationship Type="http://schemas.openxmlformats.org/officeDocument/2006/relationships/notesMaster" Target="/ppt/notesMasters/notesMaster1.xml" Id="R36f5cc0085544ff8"/></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e0b5226e790042e6"/><Relationship Type="http://schemas.openxmlformats.org/officeDocument/2006/relationships/notesMaster" Target="/ppt/notesMasters/notesMaster1.xml" Id="R749fd50fe2c84407"/></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5af5cef4947140f7"/><Relationship Type="http://schemas.openxmlformats.org/officeDocument/2006/relationships/notesMaster" Target="/ppt/notesMasters/notesMaster1.xml" Id="Rea8d666aa7fc4344"/></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будущей работе планируем проверить,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составляет 0,851, recall 0,902. F1 равен их гармоническому среднему.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Горизонтальная ось показывает разность NDCG RRF минус E5; каждой глубине пула соответствует отдельная строка.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рассчитаны при фиксированных выдачах, баллах судьи и пороге. Неопределённость обучения судьи и ошибки разметки в них не учтены.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Далее планируем проверить более сильных судей и судей с доступом к эталонному фрагменту, используя независимые человеческие оценки.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6f3e650fe4d34d90"/></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72ecea027b5f4595"/><Relationship Type="http://schemas.openxmlformats.org/officeDocument/2006/relationships/slideLayout" Target="/ppt/slideLayouts/slideLayout1.xml" Id="R3e633403aa5d4a30"/></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633403aa5d4a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1cd56bf3ddeb415f"/><Relationship Type="http://schemas.openxmlformats.org/officeDocument/2006/relationships/image" Target="/ppt/media/image.png" Id="R8a0a6a178b2e46c9"/><Relationship Type="http://schemas.openxmlformats.org/officeDocument/2006/relationships/notesSlide" Target="/ppt/notesSlides/notesSlide1.xml" Id="R5b78e13bbd4241dc"/></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e0891d7286e14646"/><Relationship Type="http://schemas.openxmlformats.org/officeDocument/2006/relationships/notesSlide" Target="/ppt/notesSlides/notesSlide2.xml" Id="Re1cd6bbfa1c54a43"/></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6b79f4d182134c59"/><Relationship Type="http://schemas.openxmlformats.org/officeDocument/2006/relationships/notesSlide" Target="/ppt/notesSlides/notesSlide3.xml" Id="R47f5c7fc19ac48b7"/></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441334c56b7d4836"/><Relationship Type="http://schemas.openxmlformats.org/officeDocument/2006/relationships/notesSlide" Target="/ppt/notesSlides/notesSlide4.xml" Id="Rb59c54ce06894967"/></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c58c7c1ac45540ea"/><Relationship Type="http://schemas.openxmlformats.org/officeDocument/2006/relationships/notesSlide" Target="/ppt/notesSlides/notesSlide5.xml" Id="Rfc0f316582e64843"/></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c8c6b52b36ba487c"/><Relationship Type="http://schemas.openxmlformats.org/officeDocument/2006/relationships/chart" Target="/ppt/slides/charts/chart1.xml" Id="R9057163248ab479c"/><Relationship Type="http://schemas.openxmlformats.org/officeDocument/2006/relationships/notesSlide" Target="/ppt/notesSlides/notesSlide6.xml" Id="Rb341fbde9c65408a"/></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77706f322c4e4bd6"/><Relationship Type="http://schemas.openxmlformats.org/officeDocument/2006/relationships/notesSlide" Target="/ppt/notesSlides/notesSlide7.xml" Id="Rd37fc10737e348e2"/></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21ac2c239d2c43ed"/><Relationship Type="http://schemas.openxmlformats.org/officeDocument/2006/relationships/chart" Target="/ppt/slides/charts/chart2.xml" Id="R0438f76a2c5841fe"/><Relationship Type="http://schemas.openxmlformats.org/officeDocument/2006/relationships/notesSlide" Target="/ppt/notesSlides/notesSlide8.xml" Id="R15e64f63033e472f"/></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5d26b1ad7452496a"/><Relationship Type="http://schemas.openxmlformats.org/officeDocument/2006/relationships/chart" Target="/ppt/slides/charts/chart3.xml" Id="R491f49b3d80442a5"/><Relationship Type="http://schemas.openxmlformats.org/officeDocument/2006/relationships/notesSlide" Target="/ppt/notesSlides/notesSlide9.xml" Id="R25fb0ebe36c34956"/></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76a6cb295f2c4fc2"/><Relationship Type="http://schemas.openxmlformats.org/officeDocument/2006/relationships/chart" Target="/ppt/slides/charts/chart4.xml" Id="R77c750de88ec4372"/><Relationship Type="http://schemas.openxmlformats.org/officeDocument/2006/relationships/notesSlide" Target="/ppt/notesSlides/notesSlide10.xml" Id="Re2b2fe17ee4a435c"/></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27a72aa89de74bef"/><Relationship Type="http://schemas.openxmlformats.org/officeDocument/2006/relationships/chart" Target="/ppt/slides/charts/chart5.xml" Id="R2c1e39ebc0bc4899"/><Relationship Type="http://schemas.openxmlformats.org/officeDocument/2006/relationships/notesSlide" Target="/ppt/notesSlides/notesSlide11.xml" Id="R1951f01fa3c6486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5ececc2850a84065"/><Relationship Type="http://schemas.openxmlformats.org/officeDocument/2006/relationships/notesSlide" Target="/ppt/notesSlides/notesSlide12.xml" Id="R707a716d3bd24c0a"/></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85e53cc9f0e448f9"/><Relationship Type="http://schemas.openxmlformats.org/officeDocument/2006/relationships/notesSlide" Target="/ppt/notesSlides/notesSlide13.xml" Id="Rc666ff18c6be4542"/></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7096d5e290b84278"/><Relationship Type="http://schemas.openxmlformats.org/officeDocument/2006/relationships/notesSlide" Target="/ppt/notesSlides/notesSlide14.xml" Id="Rc50d096b85dc460d"/></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84e445e6baff44ca"/><Relationship Type="http://schemas.openxmlformats.org/officeDocument/2006/relationships/notesSlide" Target="/ppt/notesSlides/notesSlide15.xml" Id="Rb981b59e208743ae"/></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825070c134244750"/><Relationship Type="http://schemas.openxmlformats.org/officeDocument/2006/relationships/notesSlide" Target="/ppt/notesSlides/notesSlide16.xml" Id="Rb6785d745b644d58"/></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7ee7288a46064719"/><Relationship Type="http://schemas.openxmlformats.org/officeDocument/2006/relationships/notesSlide" Target="/ppt/notesSlides/notesSlide17.xml" Id="Rbbd1f6d73dc44a92"/></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6fdad4ae8e6c4284"/><Relationship Type="http://schemas.openxmlformats.org/officeDocument/2006/relationships/notesSlide" Target="/ppt/notesSlides/notesSlide18.xml" Id="R1423034f7a42474c"/></Relationships>
</file>

<file path=ppt/slides/charts/chart1.xml><?xml version="1.0" encoding="utf-8"?>
<c:chartSpace xmlns:c="http://schemas.openxmlformats.org/drawingml/2006/chart">
  <c:lang val="en-US"/>
  <c:chart>
    <c:plotArea>
      <c:barChart>
        <c:barDir val="bar"/>
        <c:grouping val="clustered"/>
        <c:varyColors val="0"/>
        <c:ser>
          <c:idx val="0"/>
          <c:order val="0"/>
          <c:tx>
            <c:v>Original qrels</c:v>
          </c:tx>
          <c:spPr>
            <a:solidFill xmlns:a="http://schemas.openxmlformats.org/drawingml/2006/main">
              <a:srgbClr val="70858A"/>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Human judgments</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70858A"/>
              </a:solidFill>
            </a:ln>
          </c:spPr>
          <c:marker>
            <c:symbol val="none"/>
          </c:marker>
          <c:xVal>
            <c:numLit>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xVal>
          <c:yVal>
            <c:numLit>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yVal>
          <c:smooth val="0"/>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mooth val="0"/>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Lit>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Lit>
          </c:xVal>
          <c:yVal>
            <c:numLit>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All candidates</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mooth val="0"/>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5240">
              <a:solidFill>
                <a:srgbClr val="70858A"/>
              </a:solidFill>
            </a:ln>
          </c:spPr>
          <c:marker>
            <c:symbol val="none"/>
          </c:marker>
          <c:xVal>
            <c:numLit>
              <c:formatCode>General</c:formatCode>
              <c:ptCount val="5"/>
              <c:pt idx="0">
                <c:v>0</c:v>
              </c:pt>
              <c:pt idx="1">
                <c:v>0</c:v>
              </c:pt>
              <c:pt idx="2">
                <c:v>0</c:v>
              </c:pt>
              <c:pt idx="3">
                <c:v>0</c:v>
              </c:pt>
              <c:pt idx="4">
                <c:v>0</c:v>
              </c:pt>
            </c:numLit>
          </c:xVal>
          <c:yVal>
            <c:numLit>
              <c:formatCode>0.000</c:formatCode>
              <c:ptCount val="5"/>
              <c:pt idx="0">
                <c:v>0.5</c:v>
              </c:pt>
              <c:pt idx="1">
                <c:v>5.5</c:v>
              </c:pt>
              <c:pt idx="2">
                <c:v>5.5</c:v>
              </c:pt>
              <c:pt idx="3">
                <c:v>5.5</c:v>
              </c:pt>
              <c:pt idx="4">
                <c:v>5.5</c:v>
              </c:pt>
            </c:numLit>
          </c:yVal>
          <c:smooth val="0"/>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-0.02023617</c:v>
              </c:pt>
              <c:pt idx="1">
                <c:v>-0.01882729</c:v>
              </c:pt>
              <c:pt idx="2">
                <c:v>-0.01882729</c:v>
              </c:pt>
              <c:pt idx="3">
                <c:v>-0.01882729</c:v>
              </c:pt>
              <c:pt idx="4">
                <c:v>-0.01882729</c:v>
              </c:pt>
            </c:numLit>
          </c:xVal>
          <c:yVal>
            <c:numLit>
              <c:formatCode>0.000</c:formatCode>
              <c:ptCount val="5"/>
              <c:pt idx="0">
                <c:v>5</c:v>
              </c:pt>
              <c:pt idx="1">
                <c:v>5</c:v>
              </c:pt>
              <c:pt idx="2">
                <c:v>5</c:v>
              </c:pt>
              <c:pt idx="3">
                <c:v>5</c:v>
              </c:pt>
              <c:pt idx="4">
                <c:v>5</c:v>
              </c:pt>
            </c:numLit>
          </c:yVal>
          <c:smooth val="0"/>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0.01021579</c:v>
              </c:pt>
              <c:pt idx="1">
                <c:v>0.01150741</c:v>
              </c:pt>
              <c:pt idx="2">
                <c:v>0.01150741</c:v>
              </c:pt>
              <c:pt idx="3">
                <c:v>0.01150741</c:v>
              </c:pt>
              <c:pt idx="4">
                <c:v>0.01150741</c:v>
              </c:pt>
            </c:numLit>
          </c:xVal>
          <c:yVal>
            <c:numLit>
              <c:formatCode>0.000</c:formatCode>
              <c:ptCount val="5"/>
              <c:pt idx="0">
                <c:v>4</c:v>
              </c:pt>
              <c:pt idx="1">
                <c:v>4</c:v>
              </c:pt>
              <c:pt idx="2">
                <c:v>4</c:v>
              </c:pt>
              <c:pt idx="3">
                <c:v>4</c:v>
              </c:pt>
              <c:pt idx="4">
                <c:v>4</c:v>
              </c:pt>
            </c:numLit>
          </c:yVal>
          <c:smooth val="0"/>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0.00784398</c:v>
              </c:pt>
              <c:pt idx="1">
                <c:v>0.00925389</c:v>
              </c:pt>
              <c:pt idx="2">
                <c:v>0.00925389</c:v>
              </c:pt>
              <c:pt idx="3">
                <c:v>0.00925389</c:v>
              </c:pt>
              <c:pt idx="4">
                <c:v>0.00925389</c:v>
              </c:pt>
            </c:numLit>
          </c:xVal>
          <c:yVal>
            <c:numLit>
              <c:formatCode>0.000</c:formatCode>
              <c:ptCount val="5"/>
              <c:pt idx="0">
                <c:v>3</c:v>
              </c:pt>
              <c:pt idx="1">
                <c:v>3</c:v>
              </c:pt>
              <c:pt idx="2">
                <c:v>3</c:v>
              </c:pt>
              <c:pt idx="3">
                <c:v>3</c:v>
              </c:pt>
              <c:pt idx="4">
                <c:v>3</c:v>
              </c:pt>
            </c:numLit>
          </c:yVal>
          <c:smooth val="0"/>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0.00701006</c:v>
              </c:pt>
              <c:pt idx="1">
                <c:v>0.00843288</c:v>
              </c:pt>
              <c:pt idx="2">
                <c:v>0.00843288</c:v>
              </c:pt>
              <c:pt idx="3">
                <c:v>0.00843288</c:v>
              </c:pt>
              <c:pt idx="4">
                <c:v>0.00843288</c:v>
              </c:pt>
            </c:numLit>
          </c:xVal>
          <c:yVal>
            <c:numLit>
              <c:formatCode>0.000</c:formatCode>
              <c:ptCount val="5"/>
              <c:pt idx="0">
                <c:v>2</c:v>
              </c:pt>
              <c:pt idx="1">
                <c:v>2</c:v>
              </c:pt>
              <c:pt idx="2">
                <c:v>2</c:v>
              </c:pt>
              <c:pt idx="3">
                <c:v>2</c:v>
              </c:pt>
              <c:pt idx="4">
                <c:v>2</c:v>
              </c:pt>
            </c:numLit>
          </c:yVal>
          <c:smooth val="0"/>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0.0081588</c:v>
              </c:pt>
              <c:pt idx="1">
                <c:v>0.00953703</c:v>
              </c:pt>
              <c:pt idx="2">
                <c:v>0.00953703</c:v>
              </c:pt>
              <c:pt idx="3">
                <c:v>0.00953703</c:v>
              </c:pt>
              <c:pt idx="4">
                <c:v>0.00953703</c:v>
              </c:pt>
            </c:numLit>
          </c:xVal>
          <c:yVal>
            <c:numLit>
              <c:formatCode>0.000</c:formatCode>
              <c:ptCount val="5"/>
              <c:pt idx="0">
                <c:v>1</c:v>
              </c:pt>
              <c:pt idx="1">
                <c:v>1</c:v>
              </c:pt>
              <c:pt idx="2">
                <c:v>1</c:v>
              </c:pt>
              <c:pt idx="3">
                <c:v>1</c:v>
              </c:pt>
              <c:pt idx="4">
                <c:v>1</c:v>
              </c:pt>
            </c:numLit>
          </c:yVal>
          <c:smooth val="0"/>
        </c:ser>
        <c:ser>
          <c:idx val="6"/>
          <c:order val="6"/>
          <c:tx>
            <c:v>CI lower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-0.02023617</c:v>
              </c:pt>
              <c:pt idx="1">
                <c:v>-0.02023617</c:v>
              </c:pt>
              <c:pt idx="2">
                <c:v>-0.02023617</c:v>
              </c:pt>
              <c:pt idx="3">
                <c:v>-0.02023617</c:v>
              </c:pt>
              <c:pt idx="4">
                <c:v>-0.02023617</c:v>
              </c:pt>
            </c:numLit>
          </c:xVal>
          <c:yVal>
            <c:numLit>
              <c:formatCode>0.000</c:formatCode>
              <c:ptCount val="5"/>
              <c:pt idx="0">
                <c:v>4.935</c:v>
              </c:pt>
              <c:pt idx="1">
                <c:v>5.065</c:v>
              </c:pt>
              <c:pt idx="2">
                <c:v>5.065</c:v>
              </c:pt>
              <c:pt idx="3">
                <c:v>5.065</c:v>
              </c:pt>
              <c:pt idx="4">
                <c:v>5.065</c:v>
              </c:pt>
            </c:numLit>
          </c:yVal>
          <c:smooth val="0"/>
        </c:ser>
        <c:ser>
          <c:idx val="7"/>
          <c:order val="7"/>
          <c:tx>
            <c:v>CI upper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-0.01882729</c:v>
              </c:pt>
              <c:pt idx="1">
                <c:v>-0.01882729</c:v>
              </c:pt>
              <c:pt idx="2">
                <c:v>-0.01882729</c:v>
              </c:pt>
              <c:pt idx="3">
                <c:v>-0.01882729</c:v>
              </c:pt>
              <c:pt idx="4">
                <c:v>-0.01882729</c:v>
              </c:pt>
            </c:numLit>
          </c:xVal>
          <c:yVal>
            <c:numLit>
              <c:formatCode>0.000</c:formatCode>
              <c:ptCount val="5"/>
              <c:pt idx="0">
                <c:v>4.935</c:v>
              </c:pt>
              <c:pt idx="1">
                <c:v>5.065</c:v>
              </c:pt>
              <c:pt idx="2">
                <c:v>5.065</c:v>
              </c:pt>
              <c:pt idx="3">
                <c:v>5.065</c:v>
              </c:pt>
              <c:pt idx="4">
                <c:v>5.065</c:v>
              </c:pt>
            </c:numLit>
          </c:yVal>
          <c:smooth val="0"/>
        </c:ser>
        <c:ser>
          <c:idx val="8"/>
          <c:order val="8"/>
          <c:tx>
            <c:v>CI lower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0.01021579</c:v>
              </c:pt>
              <c:pt idx="1">
                <c:v>0.01021579</c:v>
              </c:pt>
              <c:pt idx="2">
                <c:v>0.01021579</c:v>
              </c:pt>
              <c:pt idx="3">
                <c:v>0.01021579</c:v>
              </c:pt>
              <c:pt idx="4">
                <c:v>0.01021579</c:v>
              </c:pt>
            </c:numLit>
          </c:xVal>
          <c:yVal>
            <c:numLit>
              <c:formatCode>0.000</c:formatCode>
              <c:ptCount val="5"/>
              <c:pt idx="0">
                <c:v>3.935</c:v>
              </c:pt>
              <c:pt idx="1">
                <c:v>4.065</c:v>
              </c:pt>
              <c:pt idx="2">
                <c:v>4.065</c:v>
              </c:pt>
              <c:pt idx="3">
                <c:v>4.065</c:v>
              </c:pt>
              <c:pt idx="4">
                <c:v>4.065</c:v>
              </c:pt>
            </c:numLit>
          </c:yVal>
          <c:smooth val="0"/>
        </c:ser>
        <c:ser>
          <c:idx val="9"/>
          <c:order val="9"/>
          <c:tx>
            <c:v>CI upper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0.01150741</c:v>
              </c:pt>
              <c:pt idx="1">
                <c:v>0.01150741</c:v>
              </c:pt>
              <c:pt idx="2">
                <c:v>0.01150741</c:v>
              </c:pt>
              <c:pt idx="3">
                <c:v>0.01150741</c:v>
              </c:pt>
              <c:pt idx="4">
                <c:v>0.01150741</c:v>
              </c:pt>
            </c:numLit>
          </c:xVal>
          <c:yVal>
            <c:numLit>
              <c:formatCode>0.000</c:formatCode>
              <c:ptCount val="5"/>
              <c:pt idx="0">
                <c:v>3.935</c:v>
              </c:pt>
              <c:pt idx="1">
                <c:v>4.065</c:v>
              </c:pt>
              <c:pt idx="2">
                <c:v>4.065</c:v>
              </c:pt>
              <c:pt idx="3">
                <c:v>4.065</c:v>
              </c:pt>
              <c:pt idx="4">
                <c:v>4.065</c:v>
              </c:pt>
            </c:numLit>
          </c:yVal>
          <c:smooth val="0"/>
        </c:ser>
        <c:ser>
          <c:idx val="10"/>
          <c:order val="10"/>
          <c:tx>
            <c:v>CI lower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0.00784398</c:v>
              </c:pt>
              <c:pt idx="1">
                <c:v>0.00784398</c:v>
              </c:pt>
              <c:pt idx="2">
                <c:v>0.00784398</c:v>
              </c:pt>
              <c:pt idx="3">
                <c:v>0.00784398</c:v>
              </c:pt>
              <c:pt idx="4">
                <c:v>0.00784398</c:v>
              </c:pt>
            </c:numLit>
          </c:xVal>
          <c:yVal>
            <c:numLit>
              <c:formatCode>0.000</c:formatCode>
              <c:ptCount val="5"/>
              <c:pt idx="0">
                <c:v>2.935</c:v>
              </c:pt>
              <c:pt idx="1">
                <c:v>3.065</c:v>
              </c:pt>
              <c:pt idx="2">
                <c:v>3.065</c:v>
              </c:pt>
              <c:pt idx="3">
                <c:v>3.065</c:v>
              </c:pt>
              <c:pt idx="4">
                <c:v>3.065</c:v>
              </c:pt>
            </c:numLit>
          </c:yVal>
          <c:smooth val="0"/>
        </c:ser>
        <c:ser>
          <c:idx val="11"/>
          <c:order val="11"/>
          <c:tx>
            <c:v>CI upper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0.00925389</c:v>
              </c:pt>
              <c:pt idx="1">
                <c:v>0.00925389</c:v>
              </c:pt>
              <c:pt idx="2">
                <c:v>0.00925389</c:v>
              </c:pt>
              <c:pt idx="3">
                <c:v>0.00925389</c:v>
              </c:pt>
              <c:pt idx="4">
                <c:v>0.00925389</c:v>
              </c:pt>
            </c:numLit>
          </c:xVal>
          <c:yVal>
            <c:numLit>
              <c:formatCode>0.000</c:formatCode>
              <c:ptCount val="5"/>
              <c:pt idx="0">
                <c:v>2.935</c:v>
              </c:pt>
              <c:pt idx="1">
                <c:v>3.065</c:v>
              </c:pt>
              <c:pt idx="2">
                <c:v>3.065</c:v>
              </c:pt>
              <c:pt idx="3">
                <c:v>3.065</c:v>
              </c:pt>
              <c:pt idx="4">
                <c:v>3.065</c:v>
              </c:pt>
            </c:numLit>
          </c:yVal>
          <c:smooth val="0"/>
        </c:ser>
        <c:ser>
          <c:idx val="12"/>
          <c:order val="12"/>
          <c:tx>
            <c:v>CI lower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0.00701006</c:v>
              </c:pt>
              <c:pt idx="1">
                <c:v>0.00701006</c:v>
              </c:pt>
              <c:pt idx="2">
                <c:v>0.00701006</c:v>
              </c:pt>
              <c:pt idx="3">
                <c:v>0.00701006</c:v>
              </c:pt>
              <c:pt idx="4">
                <c:v>0.00701006</c:v>
              </c:pt>
            </c:numLit>
          </c:xVal>
          <c:yVal>
            <c:numLit>
              <c:formatCode>0.000</c:formatCode>
              <c:ptCount val="5"/>
              <c:pt idx="0">
                <c:v>1.935</c:v>
              </c:pt>
              <c:pt idx="1">
                <c:v>2.065</c:v>
              </c:pt>
              <c:pt idx="2">
                <c:v>2.065</c:v>
              </c:pt>
              <c:pt idx="3">
                <c:v>2.065</c:v>
              </c:pt>
              <c:pt idx="4">
                <c:v>2.065</c:v>
              </c:pt>
            </c:numLit>
          </c:yVal>
          <c:smooth val="0"/>
        </c:ser>
        <c:ser>
          <c:idx val="13"/>
          <c:order val="13"/>
          <c:tx>
            <c:v>CI upper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0.00843288</c:v>
              </c:pt>
              <c:pt idx="1">
                <c:v>0.00843288</c:v>
              </c:pt>
              <c:pt idx="2">
                <c:v>0.00843288</c:v>
              </c:pt>
              <c:pt idx="3">
                <c:v>0.00843288</c:v>
              </c:pt>
              <c:pt idx="4">
                <c:v>0.00843288</c:v>
              </c:pt>
            </c:numLit>
          </c:xVal>
          <c:yVal>
            <c:numLit>
              <c:formatCode>0.000</c:formatCode>
              <c:ptCount val="5"/>
              <c:pt idx="0">
                <c:v>1.935</c:v>
              </c:pt>
              <c:pt idx="1">
                <c:v>2.065</c:v>
              </c:pt>
              <c:pt idx="2">
                <c:v>2.065</c:v>
              </c:pt>
              <c:pt idx="3">
                <c:v>2.065</c:v>
              </c:pt>
              <c:pt idx="4">
                <c:v>2.065</c:v>
              </c:pt>
            </c:numLit>
          </c:yVal>
          <c:smooth val="0"/>
        </c:ser>
        <c:ser>
          <c:idx val="14"/>
          <c:order val="14"/>
          <c:tx>
            <c:v>CI lower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0.0081588</c:v>
              </c:pt>
              <c:pt idx="1">
                <c:v>0.0081588</c:v>
              </c:pt>
              <c:pt idx="2">
                <c:v>0.0081588</c:v>
              </c:pt>
              <c:pt idx="3">
                <c:v>0.0081588</c:v>
              </c:pt>
              <c:pt idx="4">
                <c:v>0.0081588</c:v>
              </c:pt>
            </c:numLit>
          </c:xVal>
          <c:yVal>
            <c:numLit>
              <c:formatCode>0.000</c:formatCode>
              <c:ptCount val="5"/>
              <c:pt idx="0">
                <c:v>0.935</c:v>
              </c:pt>
              <c:pt idx="1">
                <c:v>1.065</c:v>
              </c:pt>
              <c:pt idx="2">
                <c:v>1.065</c:v>
              </c:pt>
              <c:pt idx="3">
                <c:v>1.065</c:v>
              </c:pt>
              <c:pt idx="4">
                <c:v>1.065</c:v>
              </c:pt>
            </c:numLit>
          </c:yVal>
          <c:smooth val="0"/>
        </c:ser>
        <c:ser>
          <c:idx val="15"/>
          <c:order val="15"/>
          <c:tx>
            <c:v>CI upper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0.00953703</c:v>
              </c:pt>
              <c:pt idx="1">
                <c:v>0.00953703</c:v>
              </c:pt>
              <c:pt idx="2">
                <c:v>0.00953703</c:v>
              </c:pt>
              <c:pt idx="3">
                <c:v>0.00953703</c:v>
              </c:pt>
              <c:pt idx="4">
                <c:v>0.00953703</c:v>
              </c:pt>
            </c:numLit>
          </c:xVal>
          <c:yVal>
            <c:numLit>
              <c:formatCode>0.000</c:formatCode>
              <c:ptCount val="5"/>
              <c:pt idx="0">
                <c:v>0.935</c:v>
              </c:pt>
              <c:pt idx="1">
                <c:v>1.065</c:v>
              </c:pt>
              <c:pt idx="2">
                <c:v>1.065</c:v>
              </c:pt>
              <c:pt idx="3">
                <c:v>1.065</c:v>
              </c:pt>
              <c:pt idx="4">
                <c:v>1.065</c:v>
              </c:pt>
            </c:numLit>
          </c:yVal>
          <c:smooth val="0"/>
        </c:ser>
        <c:ser>
          <c:idx val="16"/>
          <c:order val="16"/>
          <c:tx>
            <c:v>Pool depth</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Lit>
              <c:formatCode>General</c:formatCode>
              <c:ptCount val="5"/>
              <c:pt idx="0">
                <c:v>-0.03</c:v>
              </c:pt>
              <c:pt idx="1">
                <c:v>-0.03</c:v>
              </c:pt>
              <c:pt idx="2">
                <c:v>-0.03</c:v>
              </c:pt>
              <c:pt idx="3">
                <c:v>-0.03</c:v>
              </c:pt>
              <c:pt idx="4">
                <c:v>-0.03</c:v>
              </c:pt>
            </c:numLit>
          </c:xVal>
          <c:yVal>
            <c:numLit>
              <c:formatCode>0.000</c:formatCode>
              <c:ptCount val="5"/>
              <c:pt idx="0">
                <c:v>5</c:v>
              </c:pt>
              <c:pt idx="1">
                <c:v>4</c:v>
              </c:pt>
              <c:pt idx="2">
                <c:v>3</c:v>
              </c:pt>
              <c:pt idx="3">
                <c:v>2</c:v>
              </c:pt>
              <c:pt idx="4">
                <c:v>1</c:v>
              </c:pt>
            </c:numLit>
          </c:yVal>
          <c:smooth val="0"/>
        </c:ser>
        <c:ser>
          <c:idx val="17"/>
          <c:order val="17"/>
          <c:tx>
            <c:v>RRF minus E5 (horizontal)</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difference (RRF minus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3335">
              <a:solidFill>
                <a:srgbClr val="70858A"/>
              </a:solidFill>
            </a:ln>
          </c:spPr>
          <c:marker>
            <c:symbol val="none"/>
          </c:marker>
          <c:xVal>
            <c:numLit>
              <c:formatCode>General</c:formatCode>
              <c:ptCount val="5"/>
              <c:pt idx="0">
                <c:v>0</c:v>
              </c:pt>
              <c:pt idx="1">
                <c:v>210</c:v>
              </c:pt>
              <c:pt idx="2">
                <c:v>210</c:v>
              </c:pt>
              <c:pt idx="3">
                <c:v>210</c:v>
              </c:pt>
              <c:pt idx="4">
                <c:v>210</c:v>
              </c:pt>
            </c:numLit>
          </c:xVal>
          <c:yVal>
            <c:numLit>
              <c:formatCode>0.000</c:formatCode>
              <c:ptCount val="5"/>
              <c:pt idx="0">
                <c:v>0</c:v>
              </c:pt>
              <c:pt idx="1">
                <c:v>0</c:v>
              </c:pt>
              <c:pt idx="2">
                <c:v>0</c:v>
              </c:pt>
              <c:pt idx="3">
                <c:v>0</c:v>
              </c:pt>
              <c:pt idx="4">
                <c:v>0</c:v>
              </c:pt>
            </c:numLit>
          </c:yVal>
          <c:smooth val="0"/>
        </c:ser>
        <c:ser>
          <c:idx val="1"/>
          <c:order val="1"/>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gap</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FACF4065-80FD-4985-A52F-E45694E2B76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a0a6a178b2e46c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D182AA2A-D897-495C-A139-4398D185153C}"/>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1F935C59-BD20-4E79-9916-2E9CB4EADAF8}"/>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B283A48C-CEB7-4529-A959-40D6590146E9}"/>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5D2C1339-D8B8-4AFB-BFC2-8EBB490C1023}"/>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87D1F1D9-38F4-4EF5-8384-E7179A4885DB}"/>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7967689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B2E62E2F-7E8C-4056-8CBA-CF61680FA1B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E45E8B8B-D041-4F2A-AB68-C130702A3BA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B39D08FC-99A0-46E4-82C8-9CF20E432537}"/>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L w="0">
                      <a:noFill/>
                    </a:lnL>
                    <a:lnR w="0">
                      <a:noFill/>
                    </a:lnR>
                    <a:lnT w="0">
                      <a:noFill/>
                    </a:lnT>
                    <a:lnB w="7620">
                      <a:solidFill>
                        <a:srgbClr val="D4E1E0"/>
                      </a:solidFill>
                    </a:lnB>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B0BF5F04-C5A2-479B-BAFE-A1D12A9422B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640586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ta and judgment coverage">
            <a:extLst xmlns:a="http://schemas.openxmlformats.org/drawingml/2006/main">
              <a:ext uri="{FF2B5EF4-FFF2-40B4-BE49-F238E27FC236}">
                <a16:creationId xmlns:a16="http://schemas.microsoft.com/office/drawing/2014/main" id="{7902A3E5-01D2-4425-ABB4-980529A1511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Data and judgment coverage</a:t>
            </a:r>
          </a:p>
        </p:txBody>
      </p:sp>
      <p:sp>
        <p:nvSpPr>
          <p:cNvPr id="2" name="03">
            <a:extLst xmlns:a="http://schemas.openxmlformats.org/drawingml/2006/main">
              <a:ext uri="{FF2B5EF4-FFF2-40B4-BE49-F238E27FC236}">
                <a16:creationId xmlns:a16="http://schemas.microsoft.com/office/drawing/2014/main" id="{B30474E9-CBD0-4C21-BF2B-B9ED8CD87B2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9CD77CA6-757E-4415-BD1E-03F755D3A7A8}"/>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265EEB5B-11B6-4FA9-92A7-876417307589}"/>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5AA704A0-0CFC-41AB-A0D8-653DC88BBB0C}"/>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8D6771EA-0D28-48A9-AD3B-00B9F4CFD9D0}"/>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E405D227-3097-4ABF-B99E-3AE28DA2063A}"/>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1248E637-D42B-42A3-8192-5AE8141DEFF7}"/>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7F24C823-AB44-4D89-8520-9897A1EC985A}"/>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B7543298-7015-4B10-AA06-EA7D54815EE6}"/>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88016C2C-7EF3-41B1-8D35-CBCF8598F274}"/>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F3D43ABA-D1DE-4732-A2F3-17E6501EAAC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18745016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6D0991F8-2795-4976-AED6-9A83A7DBA25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167B92D6-0039-4C8C-9230-C738AD0B9A2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5F9557E4-71C3-4EE3-8D88-DC7AA6BECB58}"/>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AFA73298-DB00-4DF4-AD89-2261FC74AE69}"/>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7BC213B5-371B-45E7-8A3A-66BDD0B188D1}"/>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2F9A3A72-D8CB-4DED-AC93-CDB28F3D357C}"/>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Query + candidate +&#10;known relevant answer">
            <a:extLst xmlns:a="http://schemas.openxmlformats.org/drawingml/2006/main">
              <a:ext uri="{FF2B5EF4-FFF2-40B4-BE49-F238E27FC236}">
                <a16:creationId xmlns:a16="http://schemas.microsoft.com/office/drawing/2014/main" id="{8E8D9BA4-958F-4D0F-AF0B-9FD05F5E1B10}"/>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D0EF6DE6-2FF1-449F-A3D3-D6C4A65AC77C}"/>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106BAC0E-3E8F-4963-939D-8C496DEC7D7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15975981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judgments within the same pools">
            <a:extLst xmlns:a="http://schemas.openxmlformats.org/drawingml/2006/main">
              <a:ext uri="{FF2B5EF4-FFF2-40B4-BE49-F238E27FC236}">
                <a16:creationId xmlns:a16="http://schemas.microsoft.com/office/drawing/2014/main" id="{90E0AE61-AE67-454A-8AE5-1E82210C245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judgments within the same pools</a:t>
            </a:r>
          </a:p>
        </p:txBody>
      </p:sp>
      <p:sp>
        <p:nvSpPr>
          <p:cNvPr id="2" name="05">
            <a:extLst xmlns:a="http://schemas.openxmlformats.org/drawingml/2006/main">
              <a:ext uri="{FF2B5EF4-FFF2-40B4-BE49-F238E27FC236}">
                <a16:creationId xmlns:a16="http://schemas.microsoft.com/office/drawing/2014/main" id="{E9594264-FE30-4A69-95C6-AB79EAF2529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938E6B46-1051-47A5-9C9C-4C743ABF9E9B}"/>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DF375ECA-FB68-4FEB-B301-24EF67B47A84}"/>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3CBBA6EC-C77F-40D3-BE10-26268E5FBCC5}"/>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D4988BE4-D159-4C48-B19A-99B96DE1D389}"/>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B0A947F7-1B6E-45A8-8413-D19EEF4A86C6}"/>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3C29D94E-0FAF-45A7-8C93-B7E4C5482C13}"/>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955FE514-57DA-4D2B-A95C-61B8DB2E42CE}"/>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42816288-24D5-42E5-B377-FF9F10998EAA}"/>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05BDF0F8-CF39-4BEF-AFDF-E3307D9E73F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17857382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8D8E9516-1B0A-4FFF-ABBE-CD4147D3D05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ABC7F6E3-7838-4400-80FC-5270B110501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9057163248ab479c"/>
          </a:graphicData>
        </a:graphic>
      </p:graphicFrame>
      <p:sp>
        <p:nvSpPr>
          <p:cNvPr id="4" name="E5 paired change: +0.391   95% CI [0.365, 0.417]">
            <a:extLst xmlns:a="http://schemas.openxmlformats.org/drawingml/2006/main">
              <a:ext uri="{FF2B5EF4-FFF2-40B4-BE49-F238E27FC236}">
                <a16:creationId xmlns:a16="http://schemas.microsoft.com/office/drawing/2014/main" id="{E981D62E-13FA-4F7B-AC4E-6BFD0A7D0135}"/>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BBADF021-431B-4DDB-8A24-859BC707EBE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8847092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F0A3CF78-E753-48E3-95FA-D8219B6093A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485AF5F1-A063-45E0-8EC3-CD8735A4689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57563950-B310-4F30-8D4F-2162F2859D00}"/>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2575C674-D1EE-48D9-AA1E-552AD10EA3D5}"/>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FDF104FF-9031-47AF-A7C9-9C25B6B03CF1}"/>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8" name="Jointly scores the two texts">
            <a:extLst xmlns:a="http://schemas.openxmlformats.org/drawingml/2006/main">
              <a:ext uri="{FF2B5EF4-FFF2-40B4-BE49-F238E27FC236}">
                <a16:creationId xmlns:a16="http://schemas.microsoft.com/office/drawing/2014/main" id="{629D73D5-F492-4A57-B45B-7F2369A43703}"/>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866E3863-A364-42AE-9285-3C5C38E7E44C}"/>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36BF886E-CE81-40FD-BE0C-A259F6D2F20C}"/>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a:extLst xmlns:a="http://schemas.openxmlformats.org/drawingml/2006/main">
              <a:ext uri="{FF2B5EF4-FFF2-40B4-BE49-F238E27FC236}">
                <a16:creationId xmlns:a16="http://schemas.microsoft.com/office/drawing/2014/main" id="{CE0EC48D-438E-478D-8384-BD4B9BDFAEB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a:t>
            </a:r>
          </a:p>
        </p:txBody>
      </p:sp>
    </p:spTree>
    <p:extLst>
      <p:ext uri="{BB962C8B-B14F-4D97-AF65-F5344CB8AC3E}">
        <p14:creationId xmlns:p14="http://schemas.microsoft.com/office/powerpoint/2010/main" val="95508807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Judge agreement on held-out queries">
            <a:extLst xmlns:a="http://schemas.openxmlformats.org/drawingml/2006/main">
              <a:ext uri="{FF2B5EF4-FFF2-40B4-BE49-F238E27FC236}">
                <a16:creationId xmlns:a16="http://schemas.microsoft.com/office/drawing/2014/main" id="{D774B27F-AAF2-4E30-80B9-84D2F833A5D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007B0DEF-921B-4455-A74D-6C518881110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2"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0438f76a2c5841fe"/>
          </a:graphicData>
        </a:graphic>
      </p:graphicFrame>
      <p:sp>
        <p:nvSpPr>
          <p:cNvPr id="4" name="0.907">
            <a:extLst xmlns:a="http://schemas.openxmlformats.org/drawingml/2006/main">
              <a:ext uri="{FF2B5EF4-FFF2-40B4-BE49-F238E27FC236}">
                <a16:creationId xmlns:a16="http://schemas.microsoft.com/office/drawing/2014/main" id="{6703B91A-67CE-4EFA-8587-95612EB46A97}"/>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06763B3C-A94B-43AE-8AA8-743A41E34ED4}"/>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431DCC74-60D2-4C8A-9518-3387D15C89D5}"/>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564D4BEE-4533-4068-911F-C64EF6428673}"/>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Marked point: threshold selected on validation q">
            <a:extLst xmlns:a="http://schemas.openxmlformats.org/drawingml/2006/main">
              <a:ext uri="{FF2B5EF4-FFF2-40B4-BE49-F238E27FC236}">
                <a16:creationId xmlns:a16="http://schemas.microsoft.com/office/drawing/2014/main" id="{948EF2A3-58B6-44C9-A1B1-DED8B459B658}"/>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Marked point: threshold selected on validation queries</a:t>
            </a:r>
          </a:p>
        </p:txBody>
      </p:sp>
      <p:sp>
        <p:nvSpPr>
          <p:cNvPr id="9" name="177 held-out manual-pool queries; 5,002 pairs. D">
            <a:extLst xmlns:a="http://schemas.openxmlformats.org/drawingml/2006/main">
              <a:ext uri="{FF2B5EF4-FFF2-40B4-BE49-F238E27FC236}">
                <a16:creationId xmlns:a16="http://schemas.microsoft.com/office/drawing/2014/main" id="{2D185E44-589E-47BF-8D04-027E2112F4D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manual-pool queries; 5,002 pairs. Deeper pools lack human validation.</a:t>
            </a:r>
          </a:p>
        </p:txBody>
      </p:sp>
    </p:spTree>
    <p:extLst>
      <p:ext uri="{BB962C8B-B14F-4D97-AF65-F5344CB8AC3E}">
        <p14:creationId xmlns:p14="http://schemas.microsoft.com/office/powerpoint/2010/main" val="146437240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0F2E33B2-2229-44A9-985C-4400E70A347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72682D55-48C0-4369-92E8-DF5BF1C4E0C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51E24B7E-1470-4E0A-BED8-6B9ECA7E8C18}"/>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491f49b3d80442a5"/>
          </a:graphicData>
        </a:graphic>
      </p:graphicFrame>
      <p:sp>
        <p:nvSpPr>
          <p:cNvPr id="5" name="451.5">
            <a:extLst xmlns:a="http://schemas.openxmlformats.org/drawingml/2006/main">
              <a:ext uri="{FF2B5EF4-FFF2-40B4-BE49-F238E27FC236}">
                <a16:creationId xmlns:a16="http://schemas.microsoft.com/office/drawing/2014/main" id="{3DDCB9E2-0728-40D9-B734-6740623E6CF1}"/>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52399D6B-D327-43EC-B619-0D0745BC1055}"/>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8A2224BD-C927-45DD-A122-A6B2C8617E66}"/>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CDC77B3C-AFFC-4AD9-AB26-293B1447C627}"/>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7E85FDAF-4BC3-44C4-AC49-5F5F890692C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60387548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RF and E5 across pool depths">
            <a:extLst xmlns:a="http://schemas.openxmlformats.org/drawingml/2006/main">
              <a:ext uri="{FF2B5EF4-FFF2-40B4-BE49-F238E27FC236}">
                <a16:creationId xmlns:a16="http://schemas.microsoft.com/office/drawing/2014/main" id="{9E8D93F0-D97F-4A1C-BDE5-F79EA6C8119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and E5 across pool depths</a:t>
            </a:r>
          </a:p>
        </p:txBody>
      </p:sp>
      <p:sp>
        <p:nvSpPr>
          <p:cNvPr id="2" name="10">
            <a:extLst xmlns:a="http://schemas.openxmlformats.org/drawingml/2006/main">
              <a:ext uri="{FF2B5EF4-FFF2-40B4-BE49-F238E27FC236}">
                <a16:creationId xmlns:a16="http://schemas.microsoft.com/office/drawing/2014/main" id="{802E1A40-27AA-47B1-9E09-B74EEF63101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RRF(L = K) vs E5. Pool and fusion input depths v">
            <a:extLst xmlns:a="http://schemas.openxmlformats.org/drawingml/2006/main">
              <a:ext uri="{FF2B5EF4-FFF2-40B4-BE49-F238E27FC236}">
                <a16:creationId xmlns:a16="http://schemas.microsoft.com/office/drawing/2014/main" id="{74EAC1C9-8395-4D93-9F71-985734ABE5E4}"/>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RRF(L = K) vs E5. Pool and fusion input depths vary together.</a:t>
            </a:r>
          </a:p>
        </p:txBody>
      </p:sp>
      <p:graphicFrame>
        <p:nvGraphicFramePr>
          <p:cNvPr id="10" name="Chart"/>
          <p:cNvGraphicFramePr/>
          <p:nvPr/>
        </p:nvGraphicFramePr>
        <p:xfrm>
          <a:off xmlns:a="http://schemas.openxmlformats.org/drawingml/2006/main" x="609600" y="2276475"/>
          <a:ext xmlns:a="http://schemas.openxmlformats.org/drawingml/2006/main" cx="10972800" cy="3267075"/>
        </p:xfrm>
        <a:graphic xmlns:a="http://schemas.openxmlformats.org/drawingml/2006/main">
          <a:graphicData uri="http://schemas.openxmlformats.org/drawingml/2006/chart">
            <c:chart xmlns:r="http://schemas.openxmlformats.org/officeDocument/2006/relationships" xmlns:c="http://schemas.openxmlformats.org/drawingml/2006/chart" r:id="R77c750de88ec4372"/>
          </a:graphicData>
        </a:graphic>
      </p:graphicFrame>
      <p:sp>
        <p:nvSpPr>
          <p:cNvPr id="5" name="K = 200: +0.0088   95% CI [0.0082, 0.0095]">
            <a:extLst xmlns:a="http://schemas.openxmlformats.org/drawingml/2006/main">
              <a:ext uri="{FF2B5EF4-FFF2-40B4-BE49-F238E27FC236}">
                <a16:creationId xmlns:a16="http://schemas.microsoft.com/office/drawing/2014/main" id="{3AD9D2F0-B2D4-4473-A59D-0A0B9EDAE8C2}"/>
              </a:ext>
            </a:extLst>
          </p:cNvPr>
          <p:cNvSpPr>
            <a:spLocks xmlns:a="http://schemas.openxmlformats.org/drawingml/2006/main" noGrp="1"/>
          </p:cNvSpPr>
          <p:nvPr/>
        </p:nvSpPr>
        <p:spPr>
          <a:xfrm xmlns:a="http://schemas.openxmlformats.org/drawingml/2006/main">
            <a:off x="609600" y="56483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95236"/>
                </a:solidFill>
                <a:latin typeface="Arial"/>
                <a:ea typeface="Arial"/>
                <a:cs typeface="Arial"/>
              </a:defRPr>
            </a:pPr>
            <a:r>
              <a:rPr sz="2100" b="1">
                <a:solidFill>
                  <a:srgbClr val="C95236"/>
                </a:solidFill>
                <a:latin typeface="Arial"/>
                <a:ea typeface="Arial"/>
                <a:cs typeface="Arial"/>
              </a:rPr>
              <a:t>K = 200: +0.0088   95% CI [0.0082, 0.0095]</a:t>
            </a:r>
          </a:p>
        </p:txBody>
      </p:sp>
      <p:sp>
        <p:nvSpPr>
          <p:cNvPr id="6" name="Single-judge pseudo-labels. Mean differences wit">
            <a:extLst xmlns:a="http://schemas.openxmlformats.org/drawingml/2006/main">
              <a:ext uri="{FF2B5EF4-FFF2-40B4-BE49-F238E27FC236}">
                <a16:creationId xmlns:a16="http://schemas.microsoft.com/office/drawing/2014/main" id="{4894950D-7BD9-4694-AC85-F1D8193458D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Mean differences with 95% paired query-bootstrap intervals.</a:t>
            </a:r>
          </a:p>
        </p:txBody>
      </p:sp>
    </p:spTree>
    <p:extLst>
      <p:ext uri="{BB962C8B-B14F-4D97-AF65-F5344CB8AC3E}">
        <p14:creationId xmlns:p14="http://schemas.microsoft.com/office/powerpoint/2010/main" val="1843207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ool coverage can reverse a comparison">
            <a:extLst xmlns:a="http://schemas.openxmlformats.org/drawingml/2006/main">
              <a:ext uri="{FF2B5EF4-FFF2-40B4-BE49-F238E27FC236}">
                <a16:creationId xmlns:a16="http://schemas.microsoft.com/office/drawing/2014/main" id="{4972BD97-71B8-4DE9-B459-588D0DB2749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Pool coverage can reverse a comparison</a:t>
            </a:r>
          </a:p>
        </p:txBody>
      </p:sp>
      <p:sp>
        <p:nvSpPr>
          <p:cNvPr id="2" name="11">
            <a:extLst xmlns:a="http://schemas.openxmlformats.org/drawingml/2006/main">
              <a:ext uri="{FF2B5EF4-FFF2-40B4-BE49-F238E27FC236}">
                <a16:creationId xmlns:a16="http://schemas.microsoft.com/office/drawing/2014/main" id="{A22996C9-4530-43DB-BAD8-1324DBCB255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rankings remain ">
            <a:extLst xmlns:a="http://schemas.openxmlformats.org/drawingml/2006/main">
              <a:ext uri="{FF2B5EF4-FFF2-40B4-BE49-F238E27FC236}">
                <a16:creationId xmlns:a16="http://schemas.microsoft.com/office/drawing/2014/main" id="{491D79F1-D678-484A-BB60-263E8A3802A4}"/>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rankings remain unchanged.</a:t>
            </a:r>
          </a:p>
        </p:txBody>
      </p:sp>
      <p:graphicFrame>
        <p:nvGraphicFramePr>
          <p:cNvPr id="14"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2c1e39ebc0bc4899"/>
          </a:graphicData>
        </a:graphic>
      </p:graphicFrame>
      <p:sp>
        <p:nvSpPr>
          <p:cNvPr id="5" name="14.4%">
            <a:extLst xmlns:a="http://schemas.openxmlformats.org/drawingml/2006/main">
              <a:ext uri="{FF2B5EF4-FFF2-40B4-BE49-F238E27FC236}">
                <a16:creationId xmlns:a16="http://schemas.microsoft.com/office/drawing/2014/main" id="{D1F5405B-2B69-46FE-AF4F-06ABC96FA2F9}"/>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RF top-10 pairs&#10;outside the pool&#10;at K = 10">
            <a:extLst xmlns:a="http://schemas.openxmlformats.org/drawingml/2006/main">
              <a:ext uri="{FF2B5EF4-FFF2-40B4-BE49-F238E27FC236}">
                <a16:creationId xmlns:a16="http://schemas.microsoft.com/office/drawing/2014/main" id="{B3CA690E-E19E-4904-A381-9F5CFAC5C9BA}"/>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6BE3A865-B111-4042-9A6F-961EC1C09447}"/>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K = 10: −0.0661">
            <a:extLst xmlns:a="http://schemas.openxmlformats.org/drawingml/2006/main">
              <a:ext uri="{FF2B5EF4-FFF2-40B4-BE49-F238E27FC236}">
                <a16:creationId xmlns:a16="http://schemas.microsoft.com/office/drawing/2014/main" id="{C9901742-2B16-4A1D-AA48-25EB5521C501}"/>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9" name="K = 30: +0.0080">
            <a:extLst xmlns:a="http://schemas.openxmlformats.org/drawingml/2006/main">
              <a:ext uri="{FF2B5EF4-FFF2-40B4-BE49-F238E27FC236}">
                <a16:creationId xmlns:a16="http://schemas.microsoft.com/office/drawing/2014/main" id="{B663F757-8D7E-490E-B6D9-587CFC000573}"/>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0" name="RRF minus E5 under pseudo-labels. Unjudged retur">
            <a:extLst xmlns:a="http://schemas.openxmlformats.org/drawingml/2006/main">
              <a:ext uri="{FF2B5EF4-FFF2-40B4-BE49-F238E27FC236}">
                <a16:creationId xmlns:a16="http://schemas.microsoft.com/office/drawing/2014/main" id="{5429A5CD-65D0-4141-A9D4-A618D427227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153412528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A93603F4-EE0B-4C13-A52D-6E7FF22BBD6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C0E50591-0A84-4FE2-8762-1A9343A867D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5A75D738-2AD7-40A7-AF81-ADBDF0A9CB67}"/>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75CBBFA-EED6-4A49-B415-AE1D753446F3}"/>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8F7A32D9-67B2-445D-90CA-0770903A93ED}"/>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E9C37D42-F6E9-4537-A875-35AACF0F9FE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733603572"/>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8DA7ECCE-EFF7-4202-99A4-E464C4F9EF0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1461B154-0BDA-453A-A6F3-1A6E731EF96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ACF1EFA4-D15D-4CDF-9BD6-6414F87D62CC}"/>
              </a:ext>
            </a:extLst>
          </p:cNvPr>
          <p:cNvSpPr>
            <a:spLocks xmlns:a="http://schemas.openxmlformats.org/drawingml/2006/main" noGrp="1"/>
          </p:cNvSpPr>
          <p:nvPr/>
        </p:nvSpPr>
        <p:spPr>
          <a:xfrm xmlns:a="http://schemas.openxmlformats.org/drawingml/2006/main">
            <a:off x="609600" y="196215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AC4D4CF6-0CAE-4982-BC82-5D693953786A}"/>
              </a:ext>
            </a:extLst>
          </p:cNvPr>
          <p:cNvSpPr>
            <a:spLocks xmlns:a="http://schemas.openxmlformats.org/drawingml/2006/main" noGrp="1"/>
          </p:cNvSpPr>
          <p:nvPr/>
        </p:nvSpPr>
        <p:spPr>
          <a:xfrm xmlns:a="http://schemas.openxmlformats.org/drawingml/2006/main">
            <a:off x="609600" y="262890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9440592C-9D27-49B7-AF6C-61A4DE7578CC}"/>
              </a:ext>
            </a:extLst>
          </p:cNvPr>
          <p:cNvSpPr>
            <a:spLocks xmlns:a="http://schemas.openxmlformats.org/drawingml/2006/main" noGrp="1"/>
          </p:cNvSpPr>
          <p:nvPr/>
        </p:nvSpPr>
        <p:spPr>
          <a:xfrm xmlns:a="http://schemas.openxmlformats.org/drawingml/2006/main">
            <a:off x="609600" y="34575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DA8320F3-D878-4005-9F06-91848CA44766}"/>
              </a:ext>
            </a:extLst>
          </p:cNvPr>
          <p:cNvSpPr>
            <a:spLocks xmlns:a="http://schemas.openxmlformats.org/drawingml/2006/main" noGrp="1"/>
          </p:cNvSpPr>
          <p:nvPr/>
        </p:nvSpPr>
        <p:spPr>
          <a:xfrm xmlns:a="http://schemas.openxmlformats.org/drawingml/2006/main">
            <a:off x="609600" y="423862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single-judge pseudo-labels">
            <a:extLst xmlns:a="http://schemas.openxmlformats.org/drawingml/2006/main">
              <a:ext uri="{FF2B5EF4-FFF2-40B4-BE49-F238E27FC236}">
                <a16:creationId xmlns:a16="http://schemas.microsoft.com/office/drawing/2014/main" id="{40F90390-2B36-470A-81D3-8F280A9AB3C4}"/>
              </a:ext>
            </a:extLst>
          </p:cNvPr>
          <p:cNvSpPr>
            <a:spLocks xmlns:a="http://schemas.openxmlformats.org/drawingml/2006/main" noGrp="1"/>
          </p:cNvSpPr>
          <p:nvPr/>
        </p:nvSpPr>
        <p:spPr>
          <a:xfrm xmlns:a="http://schemas.openxmlformats.org/drawingml/2006/main">
            <a:off x="609600" y="4619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rankings; single-judge pseudo-labels</a:t>
            </a:r>
          </a:p>
        </p:txBody>
      </p:sp>
      <p:sp>
        <p:nvSpPr>
          <p:cNvPr id="8" name="The judgment pool can change which system scores">
            <a:extLst xmlns:a="http://schemas.openxmlformats.org/drawingml/2006/main">
              <a:ext uri="{FF2B5EF4-FFF2-40B4-BE49-F238E27FC236}">
                <a16:creationId xmlns:a16="http://schemas.microsoft.com/office/drawing/2014/main" id="{CFFB24DC-A8AE-4A8C-90CE-5098EF66A482}"/>
              </a:ext>
            </a:extLst>
          </p:cNvPr>
          <p:cNvSpPr>
            <a:spLocks xmlns:a="http://schemas.openxmlformats.org/drawingml/2006/main" noGrp="1"/>
          </p:cNvSpPr>
          <p:nvPr/>
        </p:nvSpPr>
        <p:spPr>
          <a:xfrm xmlns:a="http://schemas.openxmlformats.org/drawingml/2006/main">
            <a:off x="609600" y="52482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The judgment pool can change which system scores higher</a:t>
            </a:r>
          </a:p>
        </p:txBody>
      </p:sp>
      <p:sp>
        <p:nvSpPr>
          <p:cNvPr id="9" name="Evidence from selected English MS MARCO candidat">
            <a:extLst xmlns:a="http://schemas.openxmlformats.org/drawingml/2006/main">
              <a:ext uri="{FF2B5EF4-FFF2-40B4-BE49-F238E27FC236}">
                <a16:creationId xmlns:a16="http://schemas.microsoft.com/office/drawing/2014/main" id="{7CD9E4D7-3C69-4F00-981A-A9842C09B7C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Evidence from selected English MS MARCO candidate pools.</a:t>
            </a:r>
          </a:p>
        </p:txBody>
      </p:sp>
    </p:spTree>
    <p:extLst>
      <p:ext uri="{BB962C8B-B14F-4D97-AF65-F5344CB8AC3E}">
        <p14:creationId xmlns:p14="http://schemas.microsoft.com/office/powerpoint/2010/main" val="161941379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BBC5F434-91C2-4BFE-AB24-0F9CB454F9A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4D6AF9F1-C2E0-4D54-AB3C-9B15338F1BF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DD8967E1-1A3A-4EED-91B9-9224BC0FCD1F}"/>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C5AEDFAA-3A5D-438C-B837-A156F210735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6700558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Judge test protocol and observed errors">
            <a:extLst xmlns:a="http://schemas.openxmlformats.org/drawingml/2006/main">
              <a:ext uri="{FF2B5EF4-FFF2-40B4-BE49-F238E27FC236}">
                <a16:creationId xmlns:a16="http://schemas.microsoft.com/office/drawing/2014/main" id="{4F8A2E8C-A0C8-45BB-869D-40C60B0651A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1373FE8D-EA0B-4040-9F68-36CBAA0B71C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Train queries">
            <a:extLst xmlns:a="http://schemas.openxmlformats.org/drawingml/2006/main">
              <a:ext uri="{FF2B5EF4-FFF2-40B4-BE49-F238E27FC236}">
                <a16:creationId xmlns:a16="http://schemas.microsoft.com/office/drawing/2014/main" id="{57994A05-0C2D-45A6-B6D2-546AB1A4257C}"/>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Train queries</a:t>
            </a:r>
          </a:p>
        </p:txBody>
      </p:sp>
      <p:sp>
        <p:nvSpPr>
          <p:cNvPr id="4" name="825">
            <a:extLst xmlns:a="http://schemas.openxmlformats.org/drawingml/2006/main">
              <a:ext uri="{FF2B5EF4-FFF2-40B4-BE49-F238E27FC236}">
                <a16:creationId xmlns:a16="http://schemas.microsoft.com/office/drawing/2014/main" id="{3FE21D3C-074E-4350-AF63-100EF1C55C5E}"/>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Validation queries">
            <a:extLst xmlns:a="http://schemas.openxmlformats.org/drawingml/2006/main">
              <a:ext uri="{FF2B5EF4-FFF2-40B4-BE49-F238E27FC236}">
                <a16:creationId xmlns:a16="http://schemas.microsoft.com/office/drawing/2014/main" id="{024BECDC-B711-49D4-9C5A-C1670A1A502B}"/>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Validation queries</a:t>
            </a:r>
          </a:p>
        </p:txBody>
      </p:sp>
      <p:sp>
        <p:nvSpPr>
          <p:cNvPr id="6" name="177">
            <a:extLst xmlns:a="http://schemas.openxmlformats.org/drawingml/2006/main">
              <a:ext uri="{FF2B5EF4-FFF2-40B4-BE49-F238E27FC236}">
                <a16:creationId xmlns:a16="http://schemas.microsoft.com/office/drawing/2014/main" id="{22582400-FB01-435C-AF59-B94F8E06EDEE}"/>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Test queries">
            <a:extLst xmlns:a="http://schemas.openxmlformats.org/drawingml/2006/main">
              <a:ext uri="{FF2B5EF4-FFF2-40B4-BE49-F238E27FC236}">
                <a16:creationId xmlns:a16="http://schemas.microsoft.com/office/drawing/2014/main" id="{90BBF896-B13B-43CD-B05C-BF6A5083CACC}"/>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Test queries</a:t>
            </a:r>
          </a:p>
        </p:txBody>
      </p:sp>
      <p:sp>
        <p:nvSpPr>
          <p:cNvPr id="8" name="177">
            <a:extLst xmlns:a="http://schemas.openxmlformats.org/drawingml/2006/main">
              <a:ext uri="{FF2B5EF4-FFF2-40B4-BE49-F238E27FC236}">
                <a16:creationId xmlns:a16="http://schemas.microsoft.com/office/drawing/2014/main" id="{41927B1F-8F6C-4A4E-A5DD-40F392A6893F}"/>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Coded negative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Coded positive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Precision 0.851">
            <a:extLst xmlns:a="http://schemas.openxmlformats.org/drawingml/2006/main">
              <a:ext uri="{FF2B5EF4-FFF2-40B4-BE49-F238E27FC236}">
                <a16:creationId xmlns:a16="http://schemas.microsoft.com/office/drawing/2014/main" id="{E028732B-17E5-4D27-B93C-0E19AEB080AB}"/>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11" name="Recall 0.902">
            <a:extLst xmlns:a="http://schemas.openxmlformats.org/drawingml/2006/main">
              <a:ext uri="{FF2B5EF4-FFF2-40B4-BE49-F238E27FC236}">
                <a16:creationId xmlns:a16="http://schemas.microsoft.com/office/drawing/2014/main" id="{3608B28D-6692-412D-9DC2-6B38F5D4EFAB}"/>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12" name="F1 0.875">
            <a:extLst xmlns:a="http://schemas.openxmlformats.org/drawingml/2006/main">
              <a:ext uri="{FF2B5EF4-FFF2-40B4-BE49-F238E27FC236}">
                <a16:creationId xmlns:a16="http://schemas.microsoft.com/office/drawing/2014/main" id="{EA9B102C-8208-46EF-8EAB-DD0F8A6E4C35}"/>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002 pairs; six unresolved targets mapped to ze">
            <a:extLst xmlns:a="http://schemas.openxmlformats.org/drawingml/2006/main">
              <a:ext uri="{FF2B5EF4-FFF2-40B4-BE49-F238E27FC236}">
                <a16:creationId xmlns:a16="http://schemas.microsoft.com/office/drawing/2014/main" id="{1E40188F-8175-4E59-ACE5-A1338998FFD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160816677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9274E5C1-18D8-44FD-B6BB-C037903D458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DB18AB83-A990-476B-B360-E42FE06AB3C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9E29ADBC-5839-4623-9C61-4F3956235D5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10052673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220E43D3-0834-41BA-89BA-666C0D88268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7EB3D5BA-B2E9-497F-B429-CE6E2C10A30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93E4A740-E3EA-47CB-840E-3ACCFF216809}"/>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4E0A9A33-0AA3-4694-B13A-4450084EFB65}"/>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FDEEC0ED-ACF3-474D-AD06-9C3C5B3B4FDD}"/>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6AAC4DD8-4688-4DB1-8D56-3FD3D041C5B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199948335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C7BC5590-4DA6-439F-8E47-22A3185F136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40BB6859-4643-4A58-BF2F-DA2C0599BDD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A9AC5AF9-217B-4CD6-9F96-BA768178D82D}"/>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8007542F-BAA0-4650-B6E3-399CF3C243C9}"/>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B5F43CDA-F955-41A2-B40D-BBDA8E36F6AB}"/>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Compare stronger judges against independent huma">
            <a:extLst xmlns:a="http://schemas.openxmlformats.org/drawingml/2006/main">
              <a:ext uri="{FF2B5EF4-FFF2-40B4-BE49-F238E27FC236}">
                <a16:creationId xmlns:a16="http://schemas.microsoft.com/office/drawing/2014/main" id="{2375B775-C86D-4E81-82EA-BAC20C40FB45}"/>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A27317A3-8B9B-4C54-8851-42B26813322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17445988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DAMDID 2026 conference presentation</dc:subject>
  <dc:language>en-US</dc:language>
</coreProperties>
</file>