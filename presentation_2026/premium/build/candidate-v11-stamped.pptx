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c084e6f0b98146b1"/><Relationship Type="http://schemas.openxmlformats.org/officeDocument/2006/relationships/extended-properties" Target="/docProps/app.xml" Id="R828b0bebff904477"/><Relationship Type="http://schemas.openxmlformats.org/officeDocument/2006/relationships/officeDocument" Target="/ppt/presentation.xml" Id="R0335a314a1b943ef"/></Relationships>
</file>

<file path=ppt/presentation.xml><?xml version="1.0" encoding="utf-8"?>
<p:presentation xmlns:p="http://schemas.openxmlformats.org/presentationml/2006/main">
  <p:sldMasterIdLst>
    <p:sldMasterId xmlns:r="http://schemas.openxmlformats.org/officeDocument/2006/relationships" id="2147483648" r:id="Ra4b30bccbc28462f"/>
  </p:sldMasterIdLst>
  <p:notesMasterIdLst>
    <p:notesMasterId xmlns:r="http://schemas.openxmlformats.org/officeDocument/2006/relationships" r:id="Rce7e9e2e740b4b23"/>
  </p:notesMasterIdLst>
  <p:sldIdLst>
    <p:sldId xmlns:r="http://schemas.openxmlformats.org/officeDocument/2006/relationships" id="256" r:id="Rec8c5ceecde04402"/>
    <p:sldId xmlns:r="http://schemas.openxmlformats.org/officeDocument/2006/relationships" id="257" r:id="R5567375bf8bb41c9"/>
    <p:sldId xmlns:r="http://schemas.openxmlformats.org/officeDocument/2006/relationships" id="258" r:id="R76527250f52d4f14"/>
    <p:sldId xmlns:r="http://schemas.openxmlformats.org/officeDocument/2006/relationships" id="259" r:id="R362b8668f7d5447a"/>
    <p:sldId xmlns:r="http://schemas.openxmlformats.org/officeDocument/2006/relationships" id="260" r:id="R61bde479daf04c67"/>
    <p:sldId xmlns:r="http://schemas.openxmlformats.org/officeDocument/2006/relationships" id="261" r:id="Rfc8263d2cb8c4847"/>
    <p:sldId xmlns:r="http://schemas.openxmlformats.org/officeDocument/2006/relationships" id="262" r:id="R9e17a0d688cd4e8e"/>
    <p:sldId xmlns:r="http://schemas.openxmlformats.org/officeDocument/2006/relationships" id="263" r:id="Rd54cc1e368054416"/>
    <p:sldId xmlns:r="http://schemas.openxmlformats.org/officeDocument/2006/relationships" id="264" r:id="Ree04cd0ff8744a62"/>
    <p:sldId xmlns:r="http://schemas.openxmlformats.org/officeDocument/2006/relationships" id="265" r:id="R5755473ca7a44845"/>
    <p:sldId xmlns:r="http://schemas.openxmlformats.org/officeDocument/2006/relationships" id="266" r:id="R9224875c0cd74fe1"/>
    <p:sldId xmlns:r="http://schemas.openxmlformats.org/officeDocument/2006/relationships" id="267" r:id="R3b2209e0b23f4708"/>
    <p:sldId xmlns:r="http://schemas.openxmlformats.org/officeDocument/2006/relationships" id="268" r:id="R4f990724c50848e3"/>
    <p:sldId xmlns:r="http://schemas.openxmlformats.org/officeDocument/2006/relationships" id="269" r:id="R822f2afbe81c455a"/>
    <p:sldId xmlns:r="http://schemas.openxmlformats.org/officeDocument/2006/relationships" id="270" r:id="R2abd4975734a486a"/>
    <p:sldId xmlns:r="http://schemas.openxmlformats.org/officeDocument/2006/relationships" id="271" r:id="Rcb146504c4c44767"/>
    <p:sldId xmlns:r="http://schemas.openxmlformats.org/officeDocument/2006/relationships" id="272" r:id="R800ec6a7f50e4114"/>
    <p:sldId xmlns:r="http://schemas.openxmlformats.org/officeDocument/2006/relationships" id="273" r:id="R4ab759642ed94a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6ad93f5dfe8543ed"/><Relationship Type="http://schemas.openxmlformats.org/officeDocument/2006/relationships/slideMaster" Target="/ppt/slideMasters/slideMaster1.xml" Id="Ra4b30bccbc28462f"/><Relationship Type="http://schemas.openxmlformats.org/officeDocument/2006/relationships/notesMaster" Target="/ppt/notesMasters/notesMaster1.xml" Id="Rce7e9e2e740b4b23"/><Relationship Type="http://schemas.openxmlformats.org/officeDocument/2006/relationships/presProps" Target="/ppt/presProps.xml" Id="R6e38ea8d212f47dc"/><Relationship Type="http://schemas.openxmlformats.org/officeDocument/2006/relationships/tableStyles" Target="/ppt/tableStyles.xml" Id="R009e2f50d86746b7"/><Relationship Type="http://schemas.openxmlformats.org/officeDocument/2006/relationships/slide" Target="/ppt/slides/slide1.xml" Id="Rec8c5ceecde04402"/><Relationship Type="http://schemas.openxmlformats.org/officeDocument/2006/relationships/slide" Target="/ppt/slides/slide2.xml" Id="R5567375bf8bb41c9"/><Relationship Type="http://schemas.openxmlformats.org/officeDocument/2006/relationships/slide" Target="/ppt/slides/slide3.xml" Id="R76527250f52d4f14"/><Relationship Type="http://schemas.openxmlformats.org/officeDocument/2006/relationships/slide" Target="/ppt/slides/slide4.xml" Id="R362b8668f7d5447a"/><Relationship Type="http://schemas.openxmlformats.org/officeDocument/2006/relationships/slide" Target="/ppt/slides/slide5.xml" Id="R61bde479daf04c67"/><Relationship Type="http://schemas.openxmlformats.org/officeDocument/2006/relationships/slide" Target="/ppt/slides/slide6.xml" Id="Rfc8263d2cb8c4847"/><Relationship Type="http://schemas.openxmlformats.org/officeDocument/2006/relationships/slide" Target="/ppt/slides/slide7.xml" Id="R9e17a0d688cd4e8e"/><Relationship Type="http://schemas.openxmlformats.org/officeDocument/2006/relationships/slide" Target="/ppt/slides/slide8.xml" Id="Rd54cc1e368054416"/><Relationship Type="http://schemas.openxmlformats.org/officeDocument/2006/relationships/slide" Target="/ppt/slides/slide9.xml" Id="Ree04cd0ff8744a62"/><Relationship Type="http://schemas.openxmlformats.org/officeDocument/2006/relationships/slide" Target="/ppt/slides/slide10.xml" Id="R5755473ca7a44845"/><Relationship Type="http://schemas.openxmlformats.org/officeDocument/2006/relationships/slide" Target="/ppt/slides/slide11.xml" Id="R9224875c0cd74fe1"/><Relationship Type="http://schemas.openxmlformats.org/officeDocument/2006/relationships/slide" Target="/ppt/slides/slide12.xml" Id="R3b2209e0b23f4708"/><Relationship Type="http://schemas.openxmlformats.org/officeDocument/2006/relationships/slide" Target="/ppt/slides/slide13.xml" Id="R4f990724c50848e3"/><Relationship Type="http://schemas.openxmlformats.org/officeDocument/2006/relationships/slide" Target="/ppt/slides/slide14.xml" Id="R822f2afbe81c455a"/><Relationship Type="http://schemas.openxmlformats.org/officeDocument/2006/relationships/slide" Target="/ppt/slides/slide15.xml" Id="R2abd4975734a486a"/><Relationship Type="http://schemas.openxmlformats.org/officeDocument/2006/relationships/slide" Target="/ppt/slides/slide16.xml" Id="Rcb146504c4c44767"/><Relationship Type="http://schemas.openxmlformats.org/officeDocument/2006/relationships/slide" Target="/ppt/slides/slide17.xml" Id="R800ec6a7f50e4114"/><Relationship Type="http://schemas.openxmlformats.org/officeDocument/2006/relationships/slide" Target="/ppt/slides/slide18.xml" Id="R4ab759642ed94a0f"/></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1378249c96df459f"/></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c7a7c3e9da824f74"/><Relationship Type="http://schemas.openxmlformats.org/officeDocument/2006/relationships/notesMaster" Target="/ppt/notesMasters/notesMaster1.xml" Id="R0a335b61b63e4d36"/></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1a449799c95a4518"/><Relationship Type="http://schemas.openxmlformats.org/officeDocument/2006/relationships/notesMaster" Target="/ppt/notesMasters/notesMaster1.xml" Id="R65d2e129976148ae"/></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ffa301c9c29e438f"/><Relationship Type="http://schemas.openxmlformats.org/officeDocument/2006/relationships/notesMaster" Target="/ppt/notesMasters/notesMaster1.xml" Id="R4e69842f36804dc9"/></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89b147333a3b42bc"/><Relationship Type="http://schemas.openxmlformats.org/officeDocument/2006/relationships/notesMaster" Target="/ppt/notesMasters/notesMaster1.xml" Id="Redc62b3315fa4b68"/></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822f24a897ff4b07"/><Relationship Type="http://schemas.openxmlformats.org/officeDocument/2006/relationships/notesMaster" Target="/ppt/notesMasters/notesMaster1.xml" Id="R85fe28a8d073492a"/></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63719698e5ec4759"/><Relationship Type="http://schemas.openxmlformats.org/officeDocument/2006/relationships/notesMaster" Target="/ppt/notesMasters/notesMaster1.xml" Id="R9890f01f3b054a12"/></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b9309afe7a81404c"/><Relationship Type="http://schemas.openxmlformats.org/officeDocument/2006/relationships/notesMaster" Target="/ppt/notesMasters/notesMaster1.xml" Id="Rea26a9af540f4a94"/></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15c2e1d31ae6472f"/><Relationship Type="http://schemas.openxmlformats.org/officeDocument/2006/relationships/notesMaster" Target="/ppt/notesMasters/notesMaster1.xml" Id="R9ace6e24cd134e2f"/></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c9e2baf33ef14068"/><Relationship Type="http://schemas.openxmlformats.org/officeDocument/2006/relationships/notesMaster" Target="/ppt/notesMasters/notesMaster1.xml" Id="R08d54cd4c4b545e3"/></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d953ba991c5c4183"/><Relationship Type="http://schemas.openxmlformats.org/officeDocument/2006/relationships/notesMaster" Target="/ppt/notesMasters/notesMaster1.xml" Id="R1ccc0737376e4492"/></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2c3aacdd6a1346aa"/><Relationship Type="http://schemas.openxmlformats.org/officeDocument/2006/relationships/notesMaster" Target="/ppt/notesMasters/notesMaster1.xml" Id="R29c76023c9564748"/></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2f8d9733de1f4526"/><Relationship Type="http://schemas.openxmlformats.org/officeDocument/2006/relationships/notesMaster" Target="/ppt/notesMasters/notesMaster1.xml" Id="Rd02f0dc5c5da4816"/></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b20928e2603a4844"/><Relationship Type="http://schemas.openxmlformats.org/officeDocument/2006/relationships/notesMaster" Target="/ppt/notesMasters/notesMaster1.xml" Id="R4035f97a00a24a9a"/></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aa3752729f2d4abe"/><Relationship Type="http://schemas.openxmlformats.org/officeDocument/2006/relationships/notesMaster" Target="/ppt/notesMasters/notesMaster1.xml" Id="R18f5fce3edd14f50"/></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9215a95b178c43a1"/><Relationship Type="http://schemas.openxmlformats.org/officeDocument/2006/relationships/notesMaster" Target="/ppt/notesMasters/notesMaster1.xml" Id="R91644c846bdf4488"/></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4461863b38324ea4"/><Relationship Type="http://schemas.openxmlformats.org/officeDocument/2006/relationships/notesMaster" Target="/ppt/notesMasters/notesMaster1.xml" Id="Rab5d89e1f48f46cf"/></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a0163cfb9d1241e6"/><Relationship Type="http://schemas.openxmlformats.org/officeDocument/2006/relationships/notesMaster" Target="/ppt/notesMasters/notesMaster1.xml" Id="Re54296a578674d15"/></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a4ab271ce8bb43a6"/><Relationship Type="http://schemas.openxmlformats.org/officeDocument/2006/relationships/notesMaster" Target="/ppt/notesMasters/notesMaster1.xml" Id="Re80d092ce0724287"/></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будущей работе планируем проверить,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составляет 0,851, recall 0,902. F1 равен их гармоническому среднему.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Горизонтальная ось показывает разность NDCG RRF минус E5; каждой глубине пула соответствует отдельная строка.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рассчитаны при фиксированных выдачах, баллах судьи и пороге. Неопределённость обучения судьи и ошибки разметки в них не учтены.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Далее планируем проверить более сильных судей и судей с доступом к эталонному фрагменту, используя независимые человеческие оценки.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d667467ca2e24565"/></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a9dee773c64c4c78"/><Relationship Type="http://schemas.openxmlformats.org/officeDocument/2006/relationships/slideLayout" Target="/ppt/slideLayouts/slideLayout1.xml" Id="R1a3eedd48b8845e2"/></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3eedd48b8845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13a57dd34dd04be6"/><Relationship Type="http://schemas.openxmlformats.org/officeDocument/2006/relationships/image" Target="/ppt/media/image.png" Id="R74a8e306e1e142b7"/><Relationship Type="http://schemas.openxmlformats.org/officeDocument/2006/relationships/notesSlide" Target="/ppt/notesSlides/notesSlide1.xml" Id="R1df9a1e3a964476c"/></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b37bcb9093d44eef"/><Relationship Type="http://schemas.openxmlformats.org/officeDocument/2006/relationships/notesSlide" Target="/ppt/notesSlides/notesSlide2.xml" Id="R20985ef322ac4a02"/></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ff1aff245974451e"/><Relationship Type="http://schemas.openxmlformats.org/officeDocument/2006/relationships/notesSlide" Target="/ppt/notesSlides/notesSlide3.xml" Id="Rfe3f8f51c77a4719"/></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c579d1a651c94976"/><Relationship Type="http://schemas.openxmlformats.org/officeDocument/2006/relationships/notesSlide" Target="/ppt/notesSlides/notesSlide4.xml" Id="R202b2e4b2b854de6"/></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47c082399daa4ebc"/><Relationship Type="http://schemas.openxmlformats.org/officeDocument/2006/relationships/notesSlide" Target="/ppt/notesSlides/notesSlide5.xml" Id="Re396d50713714003"/></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d59122bae4ff442d"/><Relationship Type="http://schemas.openxmlformats.org/officeDocument/2006/relationships/chart" Target="/ppt/slides/charts/chart1.xml" Id="Ra900e8eeb40849db"/><Relationship Type="http://schemas.openxmlformats.org/officeDocument/2006/relationships/notesSlide" Target="/ppt/notesSlides/notesSlide6.xml" Id="Rf386826c83f84218"/></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60e7225dc98a4a27"/><Relationship Type="http://schemas.openxmlformats.org/officeDocument/2006/relationships/notesSlide" Target="/ppt/notesSlides/notesSlide7.xml" Id="Ra7948b5c1f564e6b"/></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00c2f40a33674adf"/><Relationship Type="http://schemas.openxmlformats.org/officeDocument/2006/relationships/chart" Target="/ppt/slides/charts/chart2.xml" Id="Rb698713b00594b6c"/><Relationship Type="http://schemas.openxmlformats.org/officeDocument/2006/relationships/notesSlide" Target="/ppt/notesSlides/notesSlide8.xml" Id="R84b5c20c85804380"/></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98e1527697aa4fca"/><Relationship Type="http://schemas.openxmlformats.org/officeDocument/2006/relationships/chart" Target="/ppt/slides/charts/chart3.xml" Id="R7a5f218b3cab4cbb"/><Relationship Type="http://schemas.openxmlformats.org/officeDocument/2006/relationships/notesSlide" Target="/ppt/notesSlides/notesSlide9.xml" Id="Re39f1eaf5daa41da"/></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366ded532d584ad4"/><Relationship Type="http://schemas.openxmlformats.org/officeDocument/2006/relationships/chart" Target="/ppt/slides/charts/chart4.xml" Id="R6fd22768b5d94715"/><Relationship Type="http://schemas.openxmlformats.org/officeDocument/2006/relationships/notesSlide" Target="/ppt/notesSlides/notesSlide10.xml" Id="R6145223f662e49a6"/></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49a0fc2be17b4662"/><Relationship Type="http://schemas.openxmlformats.org/officeDocument/2006/relationships/chart" Target="/ppt/slides/charts/chart5.xml" Id="R492bba264934488d"/><Relationship Type="http://schemas.openxmlformats.org/officeDocument/2006/relationships/notesSlide" Target="/ppt/notesSlides/notesSlide11.xml" Id="R974db1b491c64712"/></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d44ceb40ff574dee"/><Relationship Type="http://schemas.openxmlformats.org/officeDocument/2006/relationships/notesSlide" Target="/ppt/notesSlides/notesSlide12.xml" Id="Rb8ffc839520047b4"/></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befd5408a3574d84"/><Relationship Type="http://schemas.openxmlformats.org/officeDocument/2006/relationships/notesSlide" Target="/ppt/notesSlides/notesSlide13.xml" Id="Ra53d8c0a204647fd"/></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8ceee4c0ca9c4e2b"/><Relationship Type="http://schemas.openxmlformats.org/officeDocument/2006/relationships/notesSlide" Target="/ppt/notesSlides/notesSlide14.xml" Id="Re91e4fa755a14d69"/></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d3b5e4814ded42fd"/><Relationship Type="http://schemas.openxmlformats.org/officeDocument/2006/relationships/notesSlide" Target="/ppt/notesSlides/notesSlide15.xml" Id="Re626fef4de384f89"/></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f36dbb535f8645f7"/><Relationship Type="http://schemas.openxmlformats.org/officeDocument/2006/relationships/notesSlide" Target="/ppt/notesSlides/notesSlide16.xml" Id="R013211945b454451"/></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fba76e96d4c143a6"/><Relationship Type="http://schemas.openxmlformats.org/officeDocument/2006/relationships/notesSlide" Target="/ppt/notesSlides/notesSlide17.xml" Id="Ree30f1f60b324e21"/></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5284ccfe4ee04a3c"/><Relationship Type="http://schemas.openxmlformats.org/officeDocument/2006/relationships/notesSlide" Target="/ppt/notesSlides/notesSlide18.xml" Id="R6b5a6374c8474230"/></Relationships>
</file>

<file path=ppt/slides/charts/chart1.xml><?xml version="1.0" encoding="utf-8"?>
<c:chartSpace xmlns:c="http://schemas.openxmlformats.org/drawingml/2006/chart">
  <c:lang val="en-US"/>
  <c:chart>
    <c:plotArea>
      <c:barChart>
        <c:barDir val="bar"/>
        <c:grouping val="clustered"/>
        <c:varyColors val="0"/>
        <c:ser>
          <c:idx val="0"/>
          <c:order val="0"/>
          <c:tx>
            <c:v>Original qrels</c:v>
          </c:tx>
          <c:spPr>
            <a:solidFill xmlns:a="http://schemas.openxmlformats.org/drawingml/2006/main">
              <a:srgbClr val="70858A"/>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Human judgments</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70858A"/>
              </a:solidFill>
            </a:ln>
          </c:spPr>
          <c:marker>
            <c:symbol val="none"/>
          </c:marker>
          <c:xVal>
            <c:numLit>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xVal>
          <c:yVal>
            <c:numLit>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yVal>
          <c:smooth val="0"/>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mooth val="0"/>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Lit>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Lit>
          </c:xVal>
          <c:yVal>
            <c:numLit>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All candidates</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mooth val="0"/>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5240">
              <a:solidFill>
                <a:srgbClr val="70858A"/>
              </a:solidFill>
            </a:ln>
          </c:spPr>
          <c:marker>
            <c:symbol val="none"/>
          </c:marker>
          <c:xVal>
            <c:numLit>
              <c:formatCode>General</c:formatCode>
              <c:ptCount val="5"/>
              <c:pt idx="0">
                <c:v>0</c:v>
              </c:pt>
              <c:pt idx="1">
                <c:v>0</c:v>
              </c:pt>
              <c:pt idx="2">
                <c:v>0</c:v>
              </c:pt>
              <c:pt idx="3">
                <c:v>0</c:v>
              </c:pt>
              <c:pt idx="4">
                <c:v>0</c:v>
              </c:pt>
            </c:numLit>
          </c:xVal>
          <c:yVal>
            <c:numLit>
              <c:formatCode>0.000</c:formatCode>
              <c:ptCount val="5"/>
              <c:pt idx="0">
                <c:v>0.5</c:v>
              </c:pt>
              <c:pt idx="1">
                <c:v>5.5</c:v>
              </c:pt>
              <c:pt idx="2">
                <c:v>5.5</c:v>
              </c:pt>
              <c:pt idx="3">
                <c:v>5.5</c:v>
              </c:pt>
              <c:pt idx="4">
                <c:v>5.5</c:v>
              </c:pt>
            </c:numLit>
          </c:yVal>
          <c:smooth val="0"/>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-0.02023617</c:v>
              </c:pt>
              <c:pt idx="1">
                <c:v>-0.01882729</c:v>
              </c:pt>
              <c:pt idx="2">
                <c:v>-0.01882729</c:v>
              </c:pt>
              <c:pt idx="3">
                <c:v>-0.01882729</c:v>
              </c:pt>
              <c:pt idx="4">
                <c:v>-0.01882729</c:v>
              </c:pt>
            </c:numLit>
          </c:xVal>
          <c:yVal>
            <c:numLit>
              <c:formatCode>0.000</c:formatCode>
              <c:ptCount val="5"/>
              <c:pt idx="0">
                <c:v>5</c:v>
              </c:pt>
              <c:pt idx="1">
                <c:v>5</c:v>
              </c:pt>
              <c:pt idx="2">
                <c:v>5</c:v>
              </c:pt>
              <c:pt idx="3">
                <c:v>5</c:v>
              </c:pt>
              <c:pt idx="4">
                <c:v>5</c:v>
              </c:pt>
            </c:numLit>
          </c:yVal>
          <c:smooth val="0"/>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0.01021579</c:v>
              </c:pt>
              <c:pt idx="1">
                <c:v>0.01150741</c:v>
              </c:pt>
              <c:pt idx="2">
                <c:v>0.01150741</c:v>
              </c:pt>
              <c:pt idx="3">
                <c:v>0.01150741</c:v>
              </c:pt>
              <c:pt idx="4">
                <c:v>0.01150741</c:v>
              </c:pt>
            </c:numLit>
          </c:xVal>
          <c:yVal>
            <c:numLit>
              <c:formatCode>0.000</c:formatCode>
              <c:ptCount val="5"/>
              <c:pt idx="0">
                <c:v>4</c:v>
              </c:pt>
              <c:pt idx="1">
                <c:v>4</c:v>
              </c:pt>
              <c:pt idx="2">
                <c:v>4</c:v>
              </c:pt>
              <c:pt idx="3">
                <c:v>4</c:v>
              </c:pt>
              <c:pt idx="4">
                <c:v>4</c:v>
              </c:pt>
            </c:numLit>
          </c:yVal>
          <c:smooth val="0"/>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0.00784398</c:v>
              </c:pt>
              <c:pt idx="1">
                <c:v>0.00925389</c:v>
              </c:pt>
              <c:pt idx="2">
                <c:v>0.00925389</c:v>
              </c:pt>
              <c:pt idx="3">
                <c:v>0.00925389</c:v>
              </c:pt>
              <c:pt idx="4">
                <c:v>0.00925389</c:v>
              </c:pt>
            </c:numLit>
          </c:xVal>
          <c:yVal>
            <c:numLit>
              <c:formatCode>0.000</c:formatCode>
              <c:ptCount val="5"/>
              <c:pt idx="0">
                <c:v>3</c:v>
              </c:pt>
              <c:pt idx="1">
                <c:v>3</c:v>
              </c:pt>
              <c:pt idx="2">
                <c:v>3</c:v>
              </c:pt>
              <c:pt idx="3">
                <c:v>3</c:v>
              </c:pt>
              <c:pt idx="4">
                <c:v>3</c:v>
              </c:pt>
            </c:numLit>
          </c:yVal>
          <c:smooth val="0"/>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0.00701006</c:v>
              </c:pt>
              <c:pt idx="1">
                <c:v>0.00843288</c:v>
              </c:pt>
              <c:pt idx="2">
                <c:v>0.00843288</c:v>
              </c:pt>
              <c:pt idx="3">
                <c:v>0.00843288</c:v>
              </c:pt>
              <c:pt idx="4">
                <c:v>0.00843288</c:v>
              </c:pt>
            </c:numLit>
          </c:xVal>
          <c:yVal>
            <c:numLit>
              <c:formatCode>0.000</c:formatCode>
              <c:ptCount val="5"/>
              <c:pt idx="0">
                <c:v>2</c:v>
              </c:pt>
              <c:pt idx="1">
                <c:v>2</c:v>
              </c:pt>
              <c:pt idx="2">
                <c:v>2</c:v>
              </c:pt>
              <c:pt idx="3">
                <c:v>2</c:v>
              </c:pt>
              <c:pt idx="4">
                <c:v>2</c:v>
              </c:pt>
            </c:numLit>
          </c:yVal>
          <c:smooth val="0"/>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0.0081588</c:v>
              </c:pt>
              <c:pt idx="1">
                <c:v>0.00953703</c:v>
              </c:pt>
              <c:pt idx="2">
                <c:v>0.00953703</c:v>
              </c:pt>
              <c:pt idx="3">
                <c:v>0.00953703</c:v>
              </c:pt>
              <c:pt idx="4">
                <c:v>0.00953703</c:v>
              </c:pt>
            </c:numLit>
          </c:xVal>
          <c:yVal>
            <c:numLit>
              <c:formatCode>0.000</c:formatCode>
              <c:ptCount val="5"/>
              <c:pt idx="0">
                <c:v>1</c:v>
              </c:pt>
              <c:pt idx="1">
                <c:v>1</c:v>
              </c:pt>
              <c:pt idx="2">
                <c:v>1</c:v>
              </c:pt>
              <c:pt idx="3">
                <c:v>1</c:v>
              </c:pt>
              <c:pt idx="4">
                <c:v>1</c:v>
              </c:pt>
            </c:numLit>
          </c:yVal>
          <c:smooth val="0"/>
        </c:ser>
        <c:ser>
          <c:idx val="6"/>
          <c:order val="6"/>
          <c:tx>
            <c:v>CI lower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-0.02023617</c:v>
              </c:pt>
              <c:pt idx="1">
                <c:v>-0.02023617</c:v>
              </c:pt>
              <c:pt idx="2">
                <c:v>-0.02023617</c:v>
              </c:pt>
              <c:pt idx="3">
                <c:v>-0.02023617</c:v>
              </c:pt>
              <c:pt idx="4">
                <c:v>-0.02023617</c:v>
              </c:pt>
            </c:numLit>
          </c:xVal>
          <c:yVal>
            <c:numLit>
              <c:formatCode>0.000</c:formatCode>
              <c:ptCount val="5"/>
              <c:pt idx="0">
                <c:v>4.935</c:v>
              </c:pt>
              <c:pt idx="1">
                <c:v>5.065</c:v>
              </c:pt>
              <c:pt idx="2">
                <c:v>5.065</c:v>
              </c:pt>
              <c:pt idx="3">
                <c:v>5.065</c:v>
              </c:pt>
              <c:pt idx="4">
                <c:v>5.065</c:v>
              </c:pt>
            </c:numLit>
          </c:yVal>
          <c:smooth val="0"/>
        </c:ser>
        <c:ser>
          <c:idx val="7"/>
          <c:order val="7"/>
          <c:tx>
            <c:v>CI upper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-0.01882729</c:v>
              </c:pt>
              <c:pt idx="1">
                <c:v>-0.01882729</c:v>
              </c:pt>
              <c:pt idx="2">
                <c:v>-0.01882729</c:v>
              </c:pt>
              <c:pt idx="3">
                <c:v>-0.01882729</c:v>
              </c:pt>
              <c:pt idx="4">
                <c:v>-0.01882729</c:v>
              </c:pt>
            </c:numLit>
          </c:xVal>
          <c:yVal>
            <c:numLit>
              <c:formatCode>0.000</c:formatCode>
              <c:ptCount val="5"/>
              <c:pt idx="0">
                <c:v>4.935</c:v>
              </c:pt>
              <c:pt idx="1">
                <c:v>5.065</c:v>
              </c:pt>
              <c:pt idx="2">
                <c:v>5.065</c:v>
              </c:pt>
              <c:pt idx="3">
                <c:v>5.065</c:v>
              </c:pt>
              <c:pt idx="4">
                <c:v>5.065</c:v>
              </c:pt>
            </c:numLit>
          </c:yVal>
          <c:smooth val="0"/>
        </c:ser>
        <c:ser>
          <c:idx val="8"/>
          <c:order val="8"/>
          <c:tx>
            <c:v>CI lower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0.01021579</c:v>
              </c:pt>
              <c:pt idx="1">
                <c:v>0.01021579</c:v>
              </c:pt>
              <c:pt idx="2">
                <c:v>0.01021579</c:v>
              </c:pt>
              <c:pt idx="3">
                <c:v>0.01021579</c:v>
              </c:pt>
              <c:pt idx="4">
                <c:v>0.01021579</c:v>
              </c:pt>
            </c:numLit>
          </c:xVal>
          <c:yVal>
            <c:numLit>
              <c:formatCode>0.000</c:formatCode>
              <c:ptCount val="5"/>
              <c:pt idx="0">
                <c:v>3.935</c:v>
              </c:pt>
              <c:pt idx="1">
                <c:v>4.065</c:v>
              </c:pt>
              <c:pt idx="2">
                <c:v>4.065</c:v>
              </c:pt>
              <c:pt idx="3">
                <c:v>4.065</c:v>
              </c:pt>
              <c:pt idx="4">
                <c:v>4.065</c:v>
              </c:pt>
            </c:numLit>
          </c:yVal>
          <c:smooth val="0"/>
        </c:ser>
        <c:ser>
          <c:idx val="9"/>
          <c:order val="9"/>
          <c:tx>
            <c:v>CI upper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0.01150741</c:v>
              </c:pt>
              <c:pt idx="1">
                <c:v>0.01150741</c:v>
              </c:pt>
              <c:pt idx="2">
                <c:v>0.01150741</c:v>
              </c:pt>
              <c:pt idx="3">
                <c:v>0.01150741</c:v>
              </c:pt>
              <c:pt idx="4">
                <c:v>0.01150741</c:v>
              </c:pt>
            </c:numLit>
          </c:xVal>
          <c:yVal>
            <c:numLit>
              <c:formatCode>0.000</c:formatCode>
              <c:ptCount val="5"/>
              <c:pt idx="0">
                <c:v>3.935</c:v>
              </c:pt>
              <c:pt idx="1">
                <c:v>4.065</c:v>
              </c:pt>
              <c:pt idx="2">
                <c:v>4.065</c:v>
              </c:pt>
              <c:pt idx="3">
                <c:v>4.065</c:v>
              </c:pt>
              <c:pt idx="4">
                <c:v>4.065</c:v>
              </c:pt>
            </c:numLit>
          </c:yVal>
          <c:smooth val="0"/>
        </c:ser>
        <c:ser>
          <c:idx val="10"/>
          <c:order val="10"/>
          <c:tx>
            <c:v>CI lower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0.00784398</c:v>
              </c:pt>
              <c:pt idx="1">
                <c:v>0.00784398</c:v>
              </c:pt>
              <c:pt idx="2">
                <c:v>0.00784398</c:v>
              </c:pt>
              <c:pt idx="3">
                <c:v>0.00784398</c:v>
              </c:pt>
              <c:pt idx="4">
                <c:v>0.00784398</c:v>
              </c:pt>
            </c:numLit>
          </c:xVal>
          <c:yVal>
            <c:numLit>
              <c:formatCode>0.000</c:formatCode>
              <c:ptCount val="5"/>
              <c:pt idx="0">
                <c:v>2.935</c:v>
              </c:pt>
              <c:pt idx="1">
                <c:v>3.065</c:v>
              </c:pt>
              <c:pt idx="2">
                <c:v>3.065</c:v>
              </c:pt>
              <c:pt idx="3">
                <c:v>3.065</c:v>
              </c:pt>
              <c:pt idx="4">
                <c:v>3.065</c:v>
              </c:pt>
            </c:numLit>
          </c:yVal>
          <c:smooth val="0"/>
        </c:ser>
        <c:ser>
          <c:idx val="11"/>
          <c:order val="11"/>
          <c:tx>
            <c:v>CI upper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0.00925389</c:v>
              </c:pt>
              <c:pt idx="1">
                <c:v>0.00925389</c:v>
              </c:pt>
              <c:pt idx="2">
                <c:v>0.00925389</c:v>
              </c:pt>
              <c:pt idx="3">
                <c:v>0.00925389</c:v>
              </c:pt>
              <c:pt idx="4">
                <c:v>0.00925389</c:v>
              </c:pt>
            </c:numLit>
          </c:xVal>
          <c:yVal>
            <c:numLit>
              <c:formatCode>0.000</c:formatCode>
              <c:ptCount val="5"/>
              <c:pt idx="0">
                <c:v>2.935</c:v>
              </c:pt>
              <c:pt idx="1">
                <c:v>3.065</c:v>
              </c:pt>
              <c:pt idx="2">
                <c:v>3.065</c:v>
              </c:pt>
              <c:pt idx="3">
                <c:v>3.065</c:v>
              </c:pt>
              <c:pt idx="4">
                <c:v>3.065</c:v>
              </c:pt>
            </c:numLit>
          </c:yVal>
          <c:smooth val="0"/>
        </c:ser>
        <c:ser>
          <c:idx val="12"/>
          <c:order val="12"/>
          <c:tx>
            <c:v>CI lower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0.00701006</c:v>
              </c:pt>
              <c:pt idx="1">
                <c:v>0.00701006</c:v>
              </c:pt>
              <c:pt idx="2">
                <c:v>0.00701006</c:v>
              </c:pt>
              <c:pt idx="3">
                <c:v>0.00701006</c:v>
              </c:pt>
              <c:pt idx="4">
                <c:v>0.00701006</c:v>
              </c:pt>
            </c:numLit>
          </c:xVal>
          <c:yVal>
            <c:numLit>
              <c:formatCode>0.000</c:formatCode>
              <c:ptCount val="5"/>
              <c:pt idx="0">
                <c:v>1.935</c:v>
              </c:pt>
              <c:pt idx="1">
                <c:v>2.065</c:v>
              </c:pt>
              <c:pt idx="2">
                <c:v>2.065</c:v>
              </c:pt>
              <c:pt idx="3">
                <c:v>2.065</c:v>
              </c:pt>
              <c:pt idx="4">
                <c:v>2.065</c:v>
              </c:pt>
            </c:numLit>
          </c:yVal>
          <c:smooth val="0"/>
        </c:ser>
        <c:ser>
          <c:idx val="13"/>
          <c:order val="13"/>
          <c:tx>
            <c:v>CI upper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0.00843288</c:v>
              </c:pt>
              <c:pt idx="1">
                <c:v>0.00843288</c:v>
              </c:pt>
              <c:pt idx="2">
                <c:v>0.00843288</c:v>
              </c:pt>
              <c:pt idx="3">
                <c:v>0.00843288</c:v>
              </c:pt>
              <c:pt idx="4">
                <c:v>0.00843288</c:v>
              </c:pt>
            </c:numLit>
          </c:xVal>
          <c:yVal>
            <c:numLit>
              <c:formatCode>0.000</c:formatCode>
              <c:ptCount val="5"/>
              <c:pt idx="0">
                <c:v>1.935</c:v>
              </c:pt>
              <c:pt idx="1">
                <c:v>2.065</c:v>
              </c:pt>
              <c:pt idx="2">
                <c:v>2.065</c:v>
              </c:pt>
              <c:pt idx="3">
                <c:v>2.065</c:v>
              </c:pt>
              <c:pt idx="4">
                <c:v>2.065</c:v>
              </c:pt>
            </c:numLit>
          </c:yVal>
          <c:smooth val="0"/>
        </c:ser>
        <c:ser>
          <c:idx val="14"/>
          <c:order val="14"/>
          <c:tx>
            <c:v>CI lower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0.0081588</c:v>
              </c:pt>
              <c:pt idx="1">
                <c:v>0.0081588</c:v>
              </c:pt>
              <c:pt idx="2">
                <c:v>0.0081588</c:v>
              </c:pt>
              <c:pt idx="3">
                <c:v>0.0081588</c:v>
              </c:pt>
              <c:pt idx="4">
                <c:v>0.0081588</c:v>
              </c:pt>
            </c:numLit>
          </c:xVal>
          <c:yVal>
            <c:numLit>
              <c:formatCode>0.000</c:formatCode>
              <c:ptCount val="5"/>
              <c:pt idx="0">
                <c:v>0.935</c:v>
              </c:pt>
              <c:pt idx="1">
                <c:v>1.065</c:v>
              </c:pt>
              <c:pt idx="2">
                <c:v>1.065</c:v>
              </c:pt>
              <c:pt idx="3">
                <c:v>1.065</c:v>
              </c:pt>
              <c:pt idx="4">
                <c:v>1.065</c:v>
              </c:pt>
            </c:numLit>
          </c:yVal>
          <c:smooth val="0"/>
        </c:ser>
        <c:ser>
          <c:idx val="15"/>
          <c:order val="15"/>
          <c:tx>
            <c:v>CI upper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0.00953703</c:v>
              </c:pt>
              <c:pt idx="1">
                <c:v>0.00953703</c:v>
              </c:pt>
              <c:pt idx="2">
                <c:v>0.00953703</c:v>
              </c:pt>
              <c:pt idx="3">
                <c:v>0.00953703</c:v>
              </c:pt>
              <c:pt idx="4">
                <c:v>0.00953703</c:v>
              </c:pt>
            </c:numLit>
          </c:xVal>
          <c:yVal>
            <c:numLit>
              <c:formatCode>0.000</c:formatCode>
              <c:ptCount val="5"/>
              <c:pt idx="0">
                <c:v>0.935</c:v>
              </c:pt>
              <c:pt idx="1">
                <c:v>1.065</c:v>
              </c:pt>
              <c:pt idx="2">
                <c:v>1.065</c:v>
              </c:pt>
              <c:pt idx="3">
                <c:v>1.065</c:v>
              </c:pt>
              <c:pt idx="4">
                <c:v>1.065</c:v>
              </c:pt>
            </c:numLit>
          </c:yVal>
          <c:smooth val="0"/>
        </c:ser>
        <c:ser>
          <c:idx val="16"/>
          <c:order val="16"/>
          <c:tx>
            <c:v>Pool depth</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Lit>
              <c:formatCode>General</c:formatCode>
              <c:ptCount val="5"/>
              <c:pt idx="0">
                <c:v>-0.03</c:v>
              </c:pt>
              <c:pt idx="1">
                <c:v>-0.03</c:v>
              </c:pt>
              <c:pt idx="2">
                <c:v>-0.03</c:v>
              </c:pt>
              <c:pt idx="3">
                <c:v>-0.03</c:v>
              </c:pt>
              <c:pt idx="4">
                <c:v>-0.03</c:v>
              </c:pt>
            </c:numLit>
          </c:xVal>
          <c:yVal>
            <c:numLit>
              <c:formatCode>0.000</c:formatCode>
              <c:ptCount val="5"/>
              <c:pt idx="0">
                <c:v>5</c:v>
              </c:pt>
              <c:pt idx="1">
                <c:v>4</c:v>
              </c:pt>
              <c:pt idx="2">
                <c:v>3</c:v>
              </c:pt>
              <c:pt idx="3">
                <c:v>2</c:v>
              </c:pt>
              <c:pt idx="4">
                <c:v>1</c:v>
              </c:pt>
            </c:numLit>
          </c:yVal>
          <c:smooth val="0"/>
        </c:ser>
        <c:ser>
          <c:idx val="17"/>
          <c:order val="17"/>
          <c:tx>
            <c:v>RRF minus E5 (horizontal)</c:v>
          </c:tx>
          <c:spPr>
            <a:solidFill xmlns:a="http://schemas.openxmlformats.org/drawingml/2006/main">
              <a:srgbClr val="C95236"/>
            </a:solidFill>
            <a:ln xmlns:a="http://schemas.openxmlformats.org/drawingml/2006/main" w="0">
              <a:noFill/>
            </a:ln>
          </c:spPr>
          <c:marker>
            <c:symbol val="circle"/>
            <c:size val="4"/>
            <c:spPr>
              <a:solidFill xmlns:a="http://schemas.openxmlformats.org/drawingml/2006/main">
                <a:srgbClr val="C95236"/>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95236"/>
                </ns0:solidFill>
              </ns0:ln>
            </c:spPr>
          </c:errBars>
          <c:xVal>
            <c:numLit>
              <c:formatCode>General</c:formatCode>
              <c:ptCount val="5"/>
              <c:pt idx="0">
                <c:v>-0.01952103</c:v>
              </c:pt>
              <c:pt idx="1">
                <c:v>0.01085768</c:v>
              </c:pt>
              <c:pt idx="2">
                <c:v>0.00854269</c:v>
              </c:pt>
              <c:pt idx="3">
                <c:v>0.00771191</c:v>
              </c:pt>
              <c:pt idx="4">
                <c:v>0.00883193</c:v>
              </c:pt>
            </c:numLit>
          </c:xVal>
          <c:yVal>
            <c:numLit>
              <c:formatCode>0.000</c:formatCode>
              <c:ptCount val="5"/>
              <c:pt idx="0">
                <c:v>5</c:v>
              </c:pt>
              <c:pt idx="1">
                <c:v>4</c:v>
              </c:pt>
              <c:pt idx="2">
                <c:v>3</c:v>
              </c:pt>
              <c:pt idx="3">
                <c:v>2</c:v>
              </c:pt>
              <c:pt idx="4">
                <c:v>1</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difference (RRF minus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3335">
              <a:solidFill>
                <a:srgbClr val="70858A"/>
              </a:solidFill>
            </a:ln>
          </c:spPr>
          <c:marker>
            <c:symbol val="none"/>
          </c:marker>
          <c:xVal>
            <c:numLit>
              <c:formatCode>General</c:formatCode>
              <c:ptCount val="5"/>
              <c:pt idx="0">
                <c:v>0</c:v>
              </c:pt>
              <c:pt idx="1">
                <c:v>210</c:v>
              </c:pt>
              <c:pt idx="2">
                <c:v>210</c:v>
              </c:pt>
              <c:pt idx="3">
                <c:v>210</c:v>
              </c:pt>
              <c:pt idx="4">
                <c:v>210</c:v>
              </c:pt>
            </c:numLit>
          </c:xVal>
          <c:yVal>
            <c:numLit>
              <c:formatCode>0.000</c:formatCode>
              <c:ptCount val="5"/>
              <c:pt idx="0">
                <c:v>0</c:v>
              </c:pt>
              <c:pt idx="1">
                <c:v>0</c:v>
              </c:pt>
              <c:pt idx="2">
                <c:v>0</c:v>
              </c:pt>
              <c:pt idx="3">
                <c:v>0</c:v>
              </c:pt>
              <c:pt idx="4">
                <c:v>0</c:v>
              </c:pt>
            </c:numLit>
          </c:yVal>
          <c:smooth val="0"/>
        </c:ser>
        <c:ser>
          <c:idx val="1"/>
          <c:order val="1"/>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gap</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02F216E9-8AB5-4479-8CFC-CDEEDF00071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4a8e306e1e142b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8CE00489-50B7-498E-A3DD-303C1147FF61}"/>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D1BC217C-A5F8-48D3-B546-0398F7AD0CA0}"/>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DB0386FF-2FD4-4516-A474-5AE0D337C8B3}"/>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EE1F01AC-A9D2-41BF-90F6-DB45BF14F27A}"/>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8800B8C8-8302-4320-9195-FDD31EBA96D1}"/>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3540191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FAA0EE3E-DA9E-4FEB-89D5-EA5B364730B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ABAC613C-9772-4FDA-84C2-E1A0636C0A4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A9690D9B-C805-475C-9742-98F821633954}"/>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L w="0">
                      <a:noFill/>
                    </a:lnL>
                    <a:lnR w="0">
                      <a:noFill/>
                    </a:lnR>
                    <a:lnT w="0">
                      <a:noFill/>
                    </a:lnT>
                    <a:lnB w="7620">
                      <a:solidFill>
                        <a:srgbClr val="D4E1E0"/>
                      </a:solidFill>
                    </a:lnB>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BF93FD85-7194-40DA-9BFE-281C9FADE7C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10830550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ta and judgment coverage">
            <a:extLst xmlns:a="http://schemas.openxmlformats.org/drawingml/2006/main">
              <a:ext uri="{FF2B5EF4-FFF2-40B4-BE49-F238E27FC236}">
                <a16:creationId xmlns:a16="http://schemas.microsoft.com/office/drawing/2014/main" id="{ADDA026D-8CB1-4CB1-9362-5A2D677F057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Data and judgment coverage</a:t>
            </a:r>
          </a:p>
        </p:txBody>
      </p:sp>
      <p:sp>
        <p:nvSpPr>
          <p:cNvPr id="2" name="03">
            <a:extLst xmlns:a="http://schemas.openxmlformats.org/drawingml/2006/main">
              <a:ext uri="{FF2B5EF4-FFF2-40B4-BE49-F238E27FC236}">
                <a16:creationId xmlns:a16="http://schemas.microsoft.com/office/drawing/2014/main" id="{51661D10-E82B-4E2E-B5A3-E870D84FA6D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100ADC38-ADC1-4E6C-B63D-2BD6E7E1AA62}"/>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F3248678-567B-424D-B4D2-765EA070E9CB}"/>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395A1C85-7242-4690-92B5-F3CB76D6229B}"/>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C22960EA-DF9E-40CD-9B1F-F5E2CE4EB39D}"/>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BABC3F2A-32C4-4794-B700-1507FBDC6E7D}"/>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D32C69A7-0E40-436F-B7B4-21D7DDEB8444}"/>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3B80D813-E31A-466D-BDEF-8C0EF624342C}"/>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3AFCBF7D-161D-4729-8386-21A46FF7B34E}"/>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AA9EA13C-ADFE-400A-9772-408157B88F63}"/>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198FE760-0B09-47FF-9087-2695C26B968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12423648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FBA6361B-A19C-4258-9D43-50967A5C4CB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3991DCAA-1C37-42BF-A1C9-36FF2F5A848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B08B4127-DE90-4EB2-A589-C9518E835CE5}"/>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DC475115-24CE-4677-96D9-51EA822B29A3}"/>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3AB810A5-FF41-4B05-9D31-7753540DD713}"/>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C604886C-4330-4C8A-9A70-25D8F2F1299F}"/>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Query + candidate +&#10;known relevant answer">
            <a:extLst xmlns:a="http://schemas.openxmlformats.org/drawingml/2006/main">
              <a:ext uri="{FF2B5EF4-FFF2-40B4-BE49-F238E27FC236}">
                <a16:creationId xmlns:a16="http://schemas.microsoft.com/office/drawing/2014/main" id="{1BA9750B-D1BB-4B3C-9DB1-17A6952A54D6}"/>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F7BCF7BF-5D6A-47A1-95F4-EC843B17E95D}"/>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3A157543-D642-46B0-8C0D-7C08321946A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7422398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judgments within the same pools">
            <a:extLst xmlns:a="http://schemas.openxmlformats.org/drawingml/2006/main">
              <a:ext uri="{FF2B5EF4-FFF2-40B4-BE49-F238E27FC236}">
                <a16:creationId xmlns:a16="http://schemas.microsoft.com/office/drawing/2014/main" id="{A53609A1-537F-42D0-A482-D83F3B7EDAFC}"/>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judgments within the same pools</a:t>
            </a:r>
          </a:p>
        </p:txBody>
      </p:sp>
      <p:sp>
        <p:nvSpPr>
          <p:cNvPr id="2" name="05">
            <a:extLst xmlns:a="http://schemas.openxmlformats.org/drawingml/2006/main">
              <a:ext uri="{FF2B5EF4-FFF2-40B4-BE49-F238E27FC236}">
                <a16:creationId xmlns:a16="http://schemas.microsoft.com/office/drawing/2014/main" id="{922166B6-4832-4D42-BDC7-E58A121103F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076DE0CF-3566-46BF-A2B5-F0EAC9A49F2C}"/>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07615851-ACC0-430B-946C-53CC3943E8C1}"/>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AA671595-EE14-42B6-991A-2A5B069AD46E}"/>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F272FB7D-44D6-4182-B99F-CAEFA1773B7E}"/>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C99C03DF-7849-4A8B-931B-02D3E6341126}"/>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97CBA2FA-DB09-47B9-90AA-ACF4F8432F0D}"/>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1B7A1B40-690A-47E8-AB3C-5B72F6691574}"/>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A4BF5228-7FD2-4642-82A6-16EF19F33B91}"/>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1A89EC9D-9A02-49D3-B353-31D92AC3263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103876088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More judgments change measured NDCG@10">
            <a:extLst xmlns:a="http://schemas.openxmlformats.org/drawingml/2006/main">
              <a:ext uri="{FF2B5EF4-FFF2-40B4-BE49-F238E27FC236}">
                <a16:creationId xmlns:a16="http://schemas.microsoft.com/office/drawing/2014/main" id="{4DA42A6A-0066-4B91-A605-CF54DCF7A12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judgments change measured NDCG@10</a:t>
            </a:r>
          </a:p>
        </p:txBody>
      </p:sp>
      <p:sp>
        <p:nvSpPr>
          <p:cNvPr id="2" name="06">
            <a:extLst xmlns:a="http://schemas.openxmlformats.org/drawingml/2006/main">
              <a:ext uri="{FF2B5EF4-FFF2-40B4-BE49-F238E27FC236}">
                <a16:creationId xmlns:a16="http://schemas.microsoft.com/office/drawing/2014/main" id="{87F4D2D2-2027-410A-9443-D912A02848B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RRF: reciprocal rank fusion of BM25, E5 and BGE">
            <a:extLst xmlns:a="http://schemas.openxmlformats.org/drawingml/2006/main">
              <a:ext uri="{FF2B5EF4-FFF2-40B4-BE49-F238E27FC236}">
                <a16:creationId xmlns:a16="http://schemas.microsoft.com/office/drawing/2014/main" id="{ED2BC854-6161-448F-93C9-D0AB8A0603DE}"/>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RRF: reciprocal rank fusion of BM25, E5 and BGE</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a900e8eeb40849db"/>
          </a:graphicData>
        </a:graphic>
      </p:graphicFrame>
      <p:sp>
        <p:nvSpPr>
          <p:cNvPr id="5" name="E5 paired change: +0.391   95% CI [0.365, 0.417]">
            <a:extLst xmlns:a="http://schemas.openxmlformats.org/drawingml/2006/main">
              <a:ext uri="{FF2B5EF4-FFF2-40B4-BE49-F238E27FC236}">
                <a16:creationId xmlns:a16="http://schemas.microsoft.com/office/drawing/2014/main" id="{2531FB59-AC17-4F0F-8B22-6D75A606B978}"/>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6" name="Pooled NDCG@10. Same rankings; shared ideal deno">
            <a:extLst xmlns:a="http://schemas.openxmlformats.org/drawingml/2006/main">
              <a:ext uri="{FF2B5EF4-FFF2-40B4-BE49-F238E27FC236}">
                <a16:creationId xmlns:a16="http://schemas.microsoft.com/office/drawing/2014/main" id="{AAFFD3C5-E0EB-4BD5-8D75-EDC91B12C05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116096503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 compact judge extends label coverage">
            <a:extLst xmlns:a="http://schemas.openxmlformats.org/drawingml/2006/main">
              <a:ext uri="{FF2B5EF4-FFF2-40B4-BE49-F238E27FC236}">
                <a16:creationId xmlns:a16="http://schemas.microsoft.com/office/drawing/2014/main" id="{6CFF2B73-A6ED-4B4A-8C3D-F413A1BDF2A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788AABAF-5BDF-4D55-9C6A-786EB6AD232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4B2F1E5F-91EB-43D3-8924-C41B8EB17132}"/>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Human labels train a judge for larger candidate ">
            <a:extLst xmlns:a="http://schemas.openxmlformats.org/drawingml/2006/main">
              <a:ext uri="{FF2B5EF4-FFF2-40B4-BE49-F238E27FC236}">
                <a16:creationId xmlns:a16="http://schemas.microsoft.com/office/drawing/2014/main" id="{C17F7A63-45F9-4261-8D34-B799CE3B5C22}"/>
              </a:ext>
            </a:extLst>
          </p:cNvPr>
          <p:cNvSpPr>
            <a:spLocks xmlns:a="http://schemas.openxmlformats.org/drawingml/2006/main" noGrp="1"/>
          </p:cNvSpPr>
          <p:nvPr/>
        </p:nvSpPr>
        <p:spPr>
          <a:xfrm xmlns:a="http://schemas.openxmlformats.org/drawingml/2006/main">
            <a:off x="609600" y="1609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Human labels train a judge for larger candidate pools.</a:t>
            </a:r>
          </a:p>
        </p:txBody>
      </p:sp>
      <p:sp>
        <p:nvSpPr>
          <p:cNvPr id="5" name="MiniLM&#10;cross-encoder">
            <a:extLst xmlns:a="http://schemas.openxmlformats.org/drawingml/2006/main">
              <a:ext uri="{FF2B5EF4-FFF2-40B4-BE49-F238E27FC236}">
                <a16:creationId xmlns:a16="http://schemas.microsoft.com/office/drawing/2014/main" id="{0AA6E736-3137-48CE-8922-2518548E7EA9}"/>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6" name="Score&#10;Pseudo-label">
            <a:extLst xmlns:a="http://schemas.openxmlformats.org/drawingml/2006/main">
              <a:ext uri="{FF2B5EF4-FFF2-40B4-BE49-F238E27FC236}">
                <a16:creationId xmlns:a16="http://schemas.microsoft.com/office/drawing/2014/main" id="{53315E73-360E-408E-84CC-050328DC27A4}"/>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9" name="Jointly scores the two texts">
            <a:extLst xmlns:a="http://schemas.openxmlformats.org/drawingml/2006/main">
              <a:ext uri="{FF2B5EF4-FFF2-40B4-BE49-F238E27FC236}">
                <a16:creationId xmlns:a16="http://schemas.microsoft.com/office/drawing/2014/main" id="{099EE7B6-8427-4E49-86DF-E655C5C822D9}"/>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10" name="">
            <a:extLst xmlns:a="http://schemas.openxmlformats.org/drawingml/2006/main">
              <a:ext uri="{FF2B5EF4-FFF2-40B4-BE49-F238E27FC236}">
                <a16:creationId xmlns:a16="http://schemas.microsoft.com/office/drawing/2014/main" id="{23587A16-20DC-41EB-B35E-4766E857202D}"/>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1" name="Inputs exclude the reference answer, ranks and r">
            <a:extLst xmlns:a="http://schemas.openxmlformats.org/drawingml/2006/main">
              <a:ext uri="{FF2B5EF4-FFF2-40B4-BE49-F238E27FC236}">
                <a16:creationId xmlns:a16="http://schemas.microsoft.com/office/drawing/2014/main" id="{FD03CF24-57B7-450A-863E-55BC463A1965}"/>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2" name="Pseudo-labels are model predictions.">
            <a:extLst xmlns:a="http://schemas.openxmlformats.org/drawingml/2006/main">
              <a:ext uri="{FF2B5EF4-FFF2-40B4-BE49-F238E27FC236}">
                <a16:creationId xmlns:a16="http://schemas.microsoft.com/office/drawing/2014/main" id="{7DFC7021-AD55-4B2D-A633-5293F3D9D28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a:t>
            </a:r>
          </a:p>
        </p:txBody>
      </p:sp>
    </p:spTree>
    <p:extLst>
      <p:ext uri="{BB962C8B-B14F-4D97-AF65-F5344CB8AC3E}">
        <p14:creationId xmlns:p14="http://schemas.microsoft.com/office/powerpoint/2010/main" val="18525394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Judge agreement on held-out queries">
            <a:extLst xmlns:a="http://schemas.openxmlformats.org/drawingml/2006/main">
              <a:ext uri="{FF2B5EF4-FFF2-40B4-BE49-F238E27FC236}">
                <a16:creationId xmlns:a16="http://schemas.microsoft.com/office/drawing/2014/main" id="{342E16CE-02A7-4FCE-8CA1-EF7363694ED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B9C6CF02-EED0-4CFF-8659-53B935B17F3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177 unseen queries from the manual pools, 5,002 ">
            <a:extLst xmlns:a="http://schemas.openxmlformats.org/drawingml/2006/main">
              <a:ext uri="{FF2B5EF4-FFF2-40B4-BE49-F238E27FC236}">
                <a16:creationId xmlns:a16="http://schemas.microsoft.com/office/drawing/2014/main" id="{D864DC74-61B4-43C9-9FDA-977D0D09DF1A}"/>
              </a:ext>
            </a:extLst>
          </p:cNvPr>
          <p:cNvSpPr>
            <a:spLocks xmlns:a="http://schemas.openxmlformats.org/drawingml/2006/main" noGrp="1"/>
          </p:cNvSpPr>
          <p:nvPr/>
        </p:nvSpPr>
        <p:spPr>
          <a:xfrm xmlns:a="http://schemas.openxmlformats.org/drawingml/2006/main">
            <a:off x="609600" y="1562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177 unseen queries from the manual pools, 5,002 pairs</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b698713b00594b6c"/>
          </a:graphicData>
        </a:graphic>
      </p:graphicFrame>
      <p:sp>
        <p:nvSpPr>
          <p:cNvPr id="5" name="0.907">
            <a:extLst xmlns:a="http://schemas.openxmlformats.org/drawingml/2006/main">
              <a:ext uri="{FF2B5EF4-FFF2-40B4-BE49-F238E27FC236}">
                <a16:creationId xmlns:a16="http://schemas.microsoft.com/office/drawing/2014/main" id="{D5EBA068-518C-4062-B081-0FF89E574DB3}"/>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D99D3D25-B3EF-4699-A52D-574985EFF4B3}"/>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7B8E71A3-1B38-4AC0-B4B9-EAB3294E34CA}"/>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at validation threshold">
            <a:extLst xmlns:a="http://schemas.openxmlformats.org/drawingml/2006/main">
              <a:ext uri="{FF2B5EF4-FFF2-40B4-BE49-F238E27FC236}">
                <a16:creationId xmlns:a16="http://schemas.microsoft.com/office/drawing/2014/main" id="{72425629-FB7A-43D9-935D-032523218ADE}"/>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9" name="Marked point: threshold selected on validation q">
            <a:extLst xmlns:a="http://schemas.openxmlformats.org/drawingml/2006/main">
              <a:ext uri="{FF2B5EF4-FFF2-40B4-BE49-F238E27FC236}">
                <a16:creationId xmlns:a16="http://schemas.microsoft.com/office/drawing/2014/main" id="{AAA14541-10AE-4A95-A2A2-184C3AF8C56B}"/>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Marked point: threshold selected on validation queries</a:t>
            </a:r>
          </a:p>
        </p:txBody>
      </p:sp>
      <p:sp>
        <p:nvSpPr>
          <p:cNvPr id="10" name="Deeper pools have no independent human validatio">
            <a:extLst xmlns:a="http://schemas.openxmlformats.org/drawingml/2006/main">
              <a:ext uri="{FF2B5EF4-FFF2-40B4-BE49-F238E27FC236}">
                <a16:creationId xmlns:a16="http://schemas.microsoft.com/office/drawing/2014/main" id="{D390F3DB-D0EA-4CFB-A6BE-7A272B1BB91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B30"/>
                </a:solidFill>
                <a:latin typeface="Arial"/>
                <a:ea typeface="Arial"/>
                <a:cs typeface="Arial"/>
              </a:defRPr>
            </a:pPr>
            <a:r>
              <a:rPr sz="1875" b="1">
                <a:solidFill>
                  <a:srgbClr val="182B30"/>
                </a:solidFill>
                <a:latin typeface="Arial"/>
                <a:ea typeface="Arial"/>
                <a:cs typeface="Arial"/>
              </a:rPr>
              <a:t>Deeper pools have no independent human validation.</a:t>
            </a:r>
          </a:p>
        </p:txBody>
      </p:sp>
    </p:spTree>
    <p:extLst>
      <p:ext uri="{BB962C8B-B14F-4D97-AF65-F5344CB8AC3E}">
        <p14:creationId xmlns:p14="http://schemas.microsoft.com/office/powerpoint/2010/main" val="49657252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Larger pools contain more predicted positives">
            <a:extLst xmlns:a="http://schemas.openxmlformats.org/drawingml/2006/main">
              <a:ext uri="{FF2B5EF4-FFF2-40B4-BE49-F238E27FC236}">
                <a16:creationId xmlns:a16="http://schemas.microsoft.com/office/drawing/2014/main" id="{4870FCF9-0D01-40F0-ABED-140D747B7B3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19D65B5B-5533-40F0-B6D8-6C3B2484140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K: results per retriever used to build the judgm">
            <a:extLst xmlns:a="http://schemas.openxmlformats.org/drawingml/2006/main">
              <a:ext uri="{FF2B5EF4-FFF2-40B4-BE49-F238E27FC236}">
                <a16:creationId xmlns:a16="http://schemas.microsoft.com/office/drawing/2014/main" id="{750FEC67-A0F6-4483-BC77-5F8DF07A210A}"/>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K: results per retriever used to build the judgment pool</a:t>
            </a:r>
          </a:p>
        </p:txBody>
      </p:sp>
      <p:sp>
        <p:nvSpPr>
          <p:cNvPr id="4" name="Mean passages per query">
            <a:extLst xmlns:a="http://schemas.openxmlformats.org/drawingml/2006/main">
              <a:ext uri="{FF2B5EF4-FFF2-40B4-BE49-F238E27FC236}">
                <a16:creationId xmlns:a16="http://schemas.microsoft.com/office/drawing/2014/main" id="{55E58A54-DCEC-4C9C-9586-3A17B81096E5}"/>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Mean passages per query</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7a5f218b3cab4cbb"/>
          </a:graphicData>
        </a:graphic>
      </p:graphicFrame>
      <p:sp>
        <p:nvSpPr>
          <p:cNvPr id="6" name="451.5">
            <a:extLst xmlns:a="http://schemas.openxmlformats.org/drawingml/2006/main">
              <a:ext uri="{FF2B5EF4-FFF2-40B4-BE49-F238E27FC236}">
                <a16:creationId xmlns:a16="http://schemas.microsoft.com/office/drawing/2014/main" id="{5049A291-6919-4209-8516-A0955FD2BB1E}"/>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candidates">
            <a:extLst xmlns:a="http://schemas.openxmlformats.org/drawingml/2006/main">
              <a:ext uri="{FF2B5EF4-FFF2-40B4-BE49-F238E27FC236}">
                <a16:creationId xmlns:a16="http://schemas.microsoft.com/office/drawing/2014/main" id="{41701643-D3FD-40FD-8ACD-DE09707A47C8}"/>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8" name="128.6">
            <a:extLst xmlns:a="http://schemas.openxmlformats.org/drawingml/2006/main">
              <a:ext uri="{FF2B5EF4-FFF2-40B4-BE49-F238E27FC236}">
                <a16:creationId xmlns:a16="http://schemas.microsoft.com/office/drawing/2014/main" id="{F4EF30D4-77B1-4622-A6BE-BB00CDBF4138}"/>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predicted relevant&#10;at K = 200">
            <a:extLst xmlns:a="http://schemas.openxmlformats.org/drawingml/2006/main">
              <a:ext uri="{FF2B5EF4-FFF2-40B4-BE49-F238E27FC236}">
                <a16:creationId xmlns:a16="http://schemas.microsoft.com/office/drawing/2014/main" id="{558083B8-DC84-4ACA-A0A9-15BCD5B48234}"/>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10" name="101,093 queries, including zero-positive pools. ">
            <a:extLst xmlns:a="http://schemas.openxmlformats.org/drawingml/2006/main">
              <a:ext uri="{FF2B5EF4-FFF2-40B4-BE49-F238E27FC236}">
                <a16:creationId xmlns:a16="http://schemas.microsoft.com/office/drawing/2014/main" id="{2C2B2923-1FBC-4704-9611-1148D568EFF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202006658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hanging the pool and fusion inputs">
            <a:extLst xmlns:a="http://schemas.openxmlformats.org/drawingml/2006/main">
              <a:ext uri="{FF2B5EF4-FFF2-40B4-BE49-F238E27FC236}">
                <a16:creationId xmlns:a16="http://schemas.microsoft.com/office/drawing/2014/main" id="{FF261B7B-C957-4FD8-A042-146A6D3E96B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Changing the pool and fusion inputs</a:t>
            </a:r>
          </a:p>
        </p:txBody>
      </p:sp>
      <p:sp>
        <p:nvSpPr>
          <p:cNvPr id="2" name="10">
            <a:extLst xmlns:a="http://schemas.openxmlformats.org/drawingml/2006/main">
              <a:ext uri="{FF2B5EF4-FFF2-40B4-BE49-F238E27FC236}">
                <a16:creationId xmlns:a16="http://schemas.microsoft.com/office/drawing/2014/main" id="{97B318BB-FE02-4D45-B45A-1C873FC058B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K: results per retriever in the pool     L: resu">
            <a:extLst xmlns:a="http://schemas.openxmlformats.org/drawingml/2006/main">
              <a:ext uri="{FF2B5EF4-FFF2-40B4-BE49-F238E27FC236}">
                <a16:creationId xmlns:a16="http://schemas.microsoft.com/office/drawing/2014/main" id="{99B21371-C59C-489C-9D07-F0A59D69ECFF}"/>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results per retriever in the pool     L: results per retriever fed to RRF</a:t>
            </a:r>
          </a:p>
        </p:txBody>
      </p:sp>
      <p:sp>
        <p:nvSpPr>
          <p:cNvPr id="4" name="Both depths change together: L = K">
            <a:extLst xmlns:a="http://schemas.openxmlformats.org/drawingml/2006/main">
              <a:ext uri="{FF2B5EF4-FFF2-40B4-BE49-F238E27FC236}">
                <a16:creationId xmlns:a16="http://schemas.microsoft.com/office/drawing/2014/main" id="{176DD410-7867-4CA6-8FDB-4E895F5F62E3}"/>
              </a:ext>
            </a:extLst>
          </p:cNvPr>
          <p:cNvSpPr>
            <a:spLocks xmlns:a="http://schemas.openxmlformats.org/drawingml/2006/main" noGrp="1"/>
          </p:cNvSpPr>
          <p:nvPr/>
        </p:nvSpPr>
        <p:spPr>
          <a:xfrm xmlns:a="http://schemas.openxmlformats.org/drawingml/2006/main">
            <a:off x="609600" y="194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95236"/>
                </a:solidFill>
                <a:latin typeface="Arial"/>
                <a:ea typeface="Arial"/>
                <a:cs typeface="Arial"/>
              </a:defRPr>
            </a:pPr>
            <a:r>
              <a:rPr sz="2175" b="1">
                <a:solidFill>
                  <a:srgbClr val="C95236"/>
                </a:solidFill>
                <a:latin typeface="Arial"/>
                <a:ea typeface="Arial"/>
                <a:cs typeface="Arial"/>
              </a:rPr>
              <a:t>Both depths change together: L = K</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6fd22768b5d94715"/>
          </a:graphicData>
        </a:graphic>
      </p:graphicFrame>
      <p:sp>
        <p:nvSpPr>
          <p:cNvPr id="6" name="At K = 200: a small gap of +0.0088 in pooled NDC">
            <a:extLst xmlns:a="http://schemas.openxmlformats.org/drawingml/2006/main">
              <a:ext uri="{FF2B5EF4-FFF2-40B4-BE49-F238E27FC236}">
                <a16:creationId xmlns:a16="http://schemas.microsoft.com/office/drawing/2014/main" id="{7BF84A23-F98D-4BBB-8F3D-F3F91EED983C}"/>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C95236"/>
                </a:solidFill>
                <a:latin typeface="Arial"/>
                <a:ea typeface="Arial"/>
                <a:cs typeface="Arial"/>
              </a:defRPr>
            </a:pPr>
            <a:r>
              <a:rPr sz="2025" b="1">
                <a:solidFill>
                  <a:srgbClr val="C95236"/>
                </a:solidFill>
                <a:latin typeface="Arial"/>
                <a:ea typeface="Arial"/>
                <a:cs typeface="Arial"/>
              </a:rPr>
              <a:t>At K = 200: a small gap of +0.0088 in pooled NDCG@10</a:t>
            </a:r>
          </a:p>
        </p:txBody>
      </p:sp>
      <p:sp>
        <p:nvSpPr>
          <p:cNvPr id="7" name="Pseudo-labels from one judge. 95% paired CI [0.0">
            <a:extLst xmlns:a="http://schemas.openxmlformats.org/drawingml/2006/main">
              <a:ext uri="{FF2B5EF4-FFF2-40B4-BE49-F238E27FC236}">
                <a16:creationId xmlns:a16="http://schemas.microsoft.com/office/drawing/2014/main" id="{3897E149-3621-4503-8F9A-1A5685193766}"/>
              </a:ext>
            </a:extLst>
          </p:cNvPr>
          <p:cNvSpPr>
            <a:spLocks xmlns:a="http://schemas.openxmlformats.org/drawingml/2006/main" noGrp="1"/>
          </p:cNvSpPr>
          <p:nvPr/>
        </p:nvSpPr>
        <p:spPr>
          <a:xfrm xmlns:a="http://schemas.openxmlformats.org/drawingml/2006/main">
            <a:off x="609600" y="60198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Pseudo-labels from one judge. 95% paired CI [0.0082, 0.0095].</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Query-bootstrap intervals exclude judge uncertainty.</a:t>
            </a:r>
          </a:p>
        </p:txBody>
      </p:sp>
    </p:spTree>
    <p:extLst>
      <p:ext uri="{BB962C8B-B14F-4D97-AF65-F5344CB8AC3E}">
        <p14:creationId xmlns:p14="http://schemas.microsoft.com/office/powerpoint/2010/main" val="204792300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ool coverage can reverse a comparison">
            <a:extLst xmlns:a="http://schemas.openxmlformats.org/drawingml/2006/main">
              <a:ext uri="{FF2B5EF4-FFF2-40B4-BE49-F238E27FC236}">
                <a16:creationId xmlns:a16="http://schemas.microsoft.com/office/drawing/2014/main" id="{914499F0-CAAD-4D29-9C5A-358DC6E047C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Pool coverage can reverse a comparison</a:t>
            </a:r>
          </a:p>
        </p:txBody>
      </p:sp>
      <p:sp>
        <p:nvSpPr>
          <p:cNvPr id="2" name="11">
            <a:extLst xmlns:a="http://schemas.openxmlformats.org/drawingml/2006/main">
              <a:ext uri="{FF2B5EF4-FFF2-40B4-BE49-F238E27FC236}">
                <a16:creationId xmlns:a16="http://schemas.microsoft.com/office/drawing/2014/main" id="{00B71538-E9E8-4A0B-BC48-3EFE7AADD91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K: results per retriever in the pool     L: resu">
            <a:extLst xmlns:a="http://schemas.openxmlformats.org/drawingml/2006/main">
              <a:ext uri="{FF2B5EF4-FFF2-40B4-BE49-F238E27FC236}">
                <a16:creationId xmlns:a16="http://schemas.microsoft.com/office/drawing/2014/main" id="{1B696765-F342-46EC-9A6A-15A7F7225EC2}"/>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results per retriever in the pool     L: results per retriever fed to RRF</a:t>
            </a:r>
          </a:p>
        </p:txBody>
      </p:sp>
      <p:sp>
        <p:nvSpPr>
          <p:cNvPr id="4" name="Only K changes. L = 200 and both rankings stay f">
            <a:extLst xmlns:a="http://schemas.openxmlformats.org/drawingml/2006/main">
              <a:ext uri="{FF2B5EF4-FFF2-40B4-BE49-F238E27FC236}">
                <a16:creationId xmlns:a16="http://schemas.microsoft.com/office/drawing/2014/main" id="{E70A4C30-2E3F-4311-940C-5ABF74C2FC2E}"/>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Only K changes. L = 200 and both rankings stay fixed.</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492bba264934488d"/>
          </a:graphicData>
        </a:graphic>
      </p:graphicFrame>
      <p:sp>
        <p:nvSpPr>
          <p:cNvPr id="6" name="14.4%">
            <a:extLst xmlns:a="http://schemas.openxmlformats.org/drawingml/2006/main">
              <a:ext uri="{FF2B5EF4-FFF2-40B4-BE49-F238E27FC236}">
                <a16:creationId xmlns:a16="http://schemas.microsoft.com/office/drawing/2014/main" id="{5B230613-D764-4662-A01A-36E5506C0865}"/>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of RRF top-10 pairs&#10;outside the pool&#10;at K = 10">
            <a:extLst xmlns:a="http://schemas.openxmlformats.org/drawingml/2006/main">
              <a:ext uri="{FF2B5EF4-FFF2-40B4-BE49-F238E27FC236}">
                <a16:creationId xmlns:a16="http://schemas.microsoft.com/office/drawing/2014/main" id="{3892F89D-A5A5-4B05-BF0B-6D32DE0F6634}"/>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8" name="145,643 query–passage pairs">
            <a:extLst xmlns:a="http://schemas.openxmlformats.org/drawingml/2006/main">
              <a:ext uri="{FF2B5EF4-FFF2-40B4-BE49-F238E27FC236}">
                <a16:creationId xmlns:a16="http://schemas.microsoft.com/office/drawing/2014/main" id="{E8E87AA3-7DE5-4AB5-8E90-5F53C1C3681A}"/>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9" name="K = 10: −0.0661">
            <a:extLst xmlns:a="http://schemas.openxmlformats.org/drawingml/2006/main">
              <a:ext uri="{FF2B5EF4-FFF2-40B4-BE49-F238E27FC236}">
                <a16:creationId xmlns:a16="http://schemas.microsoft.com/office/drawing/2014/main" id="{8E127E84-3D58-4551-9C1B-A53765ACCE4B}"/>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2EFA5D04-1E3B-4AF6-A952-724BE9982E4C}"/>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minus E5 under pseudo-labels. Unjudged passa">
            <a:extLst xmlns:a="http://schemas.openxmlformats.org/drawingml/2006/main">
              <a:ext uri="{FF2B5EF4-FFF2-40B4-BE49-F238E27FC236}">
                <a16:creationId xmlns:a16="http://schemas.microsoft.com/office/drawing/2014/main" id="{C411D301-AB62-4910-9F04-4A5CDD233D8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RRF minus E5 under pseudo-labels. Unjudged passages receive zero gain.</a:t>
            </a:r>
          </a:p>
        </p:txBody>
      </p:sp>
    </p:spTree>
    <p:extLst>
      <p:ext uri="{BB962C8B-B14F-4D97-AF65-F5344CB8AC3E}">
        <p14:creationId xmlns:p14="http://schemas.microsoft.com/office/powerpoint/2010/main" val="24583068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cope and robustness">
            <a:extLst xmlns:a="http://schemas.openxmlformats.org/drawingml/2006/main">
              <a:ext uri="{FF2B5EF4-FFF2-40B4-BE49-F238E27FC236}">
                <a16:creationId xmlns:a16="http://schemas.microsoft.com/office/drawing/2014/main" id="{DAF93D9E-984D-4E71-B85D-617094CA8F4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7B047BB1-1310-484F-9513-FD8A1003FEB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Results survive query exclusions">
            <a:extLst xmlns:a="http://schemas.openxmlformats.org/drawingml/2006/main">
              <a:ext uri="{FF2B5EF4-FFF2-40B4-BE49-F238E27FC236}">
                <a16:creationId xmlns:a16="http://schemas.microsoft.com/office/drawing/2014/main" id="{AC0056BD-B9DD-48EF-9A43-78AB87B0D79A}"/>
              </a:ext>
            </a:extLst>
          </p:cNvPr>
          <p:cNvSpPr>
            <a:spLocks xmlns:a="http://schemas.openxmlformats.org/drawingml/2006/main" noGrp="1"/>
          </p:cNvSpPr>
          <p:nvPr/>
        </p:nvSpPr>
        <p:spPr>
          <a:xfrm xmlns:a="http://schemas.openxmlformats.org/drawingml/2006/main">
            <a:off x="609600" y="1695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Results survive query exclusions</a:t>
            </a:r>
          </a:p>
        </p:txBody>
      </p:sp>
      <p:graphicFrame>
        <p:nvGraphicFramePr>
          <p:cNvPr id="12" name=""/>
          <p:cNvGraphicFramePr/>
          <p:nvPr/>
        </p:nvGraphicFramePr>
        <p:xfrm>
          <a:off xmlns:a="http://schemas.openxmlformats.org/drawingml/2006/main" x="609600" y="22669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5EA271D-74D6-464C-911E-0498C0C8DA14}"/>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Manual pools: reference-assisted, with unmeasure">
            <a:extLst xmlns:a="http://schemas.openxmlformats.org/drawingml/2006/main">
              <a:ext uri="{FF2B5EF4-FFF2-40B4-BE49-F238E27FC236}">
                <a16:creationId xmlns:a16="http://schemas.microsoft.com/office/drawing/2014/main" id="{39C97C20-E25C-4FB8-B58E-CAC8B4FFF375}"/>
              </a:ext>
            </a:extLst>
          </p:cNvPr>
          <p:cNvSpPr>
            <a:spLocks xmlns:a="http://schemas.openxmlformats.org/drawingml/2006/main" noGrp="1"/>
          </p:cNvSpPr>
          <p:nvPr/>
        </p:nvSpPr>
        <p:spPr>
          <a:xfrm xmlns:a="http://schemas.openxmlformats.org/drawingml/2006/main">
            <a:off x="609600" y="496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Manual pools: reference-assisted, with unmeasured assessor agreement.</a:t>
            </a:r>
          </a:p>
        </p:txBody>
      </p:sp>
      <p:sp>
        <p:nvSpPr>
          <p:cNvPr id="7" name="Large pools: one judge, without independent huma">
            <a:extLst xmlns:a="http://schemas.openxmlformats.org/drawingml/2006/main">
              <a:ext uri="{FF2B5EF4-FFF2-40B4-BE49-F238E27FC236}">
                <a16:creationId xmlns:a16="http://schemas.microsoft.com/office/drawing/2014/main" id="{637A51A7-68BD-4B3C-B543-A5F87910FAEF}"/>
              </a:ext>
            </a:extLst>
          </p:cNvPr>
          <p:cNvSpPr>
            <a:spLocks xmlns:a="http://schemas.openxmlformats.org/drawingml/2006/main" noGrp="1"/>
          </p:cNvSpPr>
          <p:nvPr/>
        </p:nvSpPr>
        <p:spPr>
          <a:xfrm xmlns:a="http://schemas.openxmlformats.org/drawingml/2006/main">
            <a:off x="609600" y="546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Large pools: one judge, without independent human validation.</a:t>
            </a:r>
          </a:p>
        </p:txBody>
      </p:sp>
      <p:sp>
        <p:nvSpPr>
          <p:cNvPr id="8" name="Generalization beyond selected English MS MARCO ">
            <a:extLst xmlns:a="http://schemas.openxmlformats.org/drawingml/2006/main">
              <a:ext uri="{FF2B5EF4-FFF2-40B4-BE49-F238E27FC236}">
                <a16:creationId xmlns:a16="http://schemas.microsoft.com/office/drawing/2014/main" id="{49A2F651-1C3D-4B47-A37F-8E9B2ABAD66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Generalization beyond selected English MS MARCO pools remains untested.</a:t>
            </a:r>
          </a:p>
        </p:txBody>
      </p:sp>
    </p:spTree>
    <p:extLst>
      <p:ext uri="{BB962C8B-B14F-4D97-AF65-F5344CB8AC3E}">
        <p14:creationId xmlns:p14="http://schemas.microsoft.com/office/powerpoint/2010/main" val="393772999"/>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Judgment coverage affects retrieval evaluation">
            <a:extLst xmlns:a="http://schemas.openxmlformats.org/drawingml/2006/main">
              <a:ext uri="{FF2B5EF4-FFF2-40B4-BE49-F238E27FC236}">
                <a16:creationId xmlns:a16="http://schemas.microsoft.com/office/drawing/2014/main" id="{CD134F4B-84E3-49E6-BF1D-BD38260286A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C509ACE6-E5FA-4682-882A-551E706C7C5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08343A70-EAB5-49E0-9D40-E4F1C007E07B}"/>
              </a:ext>
            </a:extLst>
          </p:cNvPr>
          <p:cNvSpPr>
            <a:spLocks xmlns:a="http://schemas.openxmlformats.org/drawingml/2006/main" noGrp="1"/>
          </p:cNvSpPr>
          <p:nvPr/>
        </p:nvSpPr>
        <p:spPr>
          <a:xfrm xmlns:a="http://schemas.openxmlformats.org/drawingml/2006/main">
            <a:off x="609600" y="16954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BEF2E4F1-4206-441B-8A30-0B7611EAC662}"/>
              </a:ext>
            </a:extLst>
          </p:cNvPr>
          <p:cNvSpPr>
            <a:spLocks xmlns:a="http://schemas.openxmlformats.org/drawingml/2006/main" noGrp="1"/>
          </p:cNvSpPr>
          <p:nvPr/>
        </p:nvSpPr>
        <p:spPr>
          <a:xfrm xmlns:a="http://schemas.openxmlformats.org/drawingml/2006/main">
            <a:off x="609600" y="2238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6D1A3381-7E6D-4881-B8B0-05BB6AD657A9}"/>
              </a:ext>
            </a:extLst>
          </p:cNvPr>
          <p:cNvSpPr>
            <a:spLocks xmlns:a="http://schemas.openxmlformats.org/drawingml/2006/main" noGrp="1"/>
          </p:cNvSpPr>
          <p:nvPr/>
        </p:nvSpPr>
        <p:spPr>
          <a:xfrm xmlns:a="http://schemas.openxmlformats.org/drawingml/2006/main">
            <a:off x="609600" y="30480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E442754F-075E-49EB-81D0-153995F580E3}"/>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one automatic judge">
            <a:extLst xmlns:a="http://schemas.openxmlformats.org/drawingml/2006/main">
              <a:ext uri="{FF2B5EF4-FFF2-40B4-BE49-F238E27FC236}">
                <a16:creationId xmlns:a16="http://schemas.microsoft.com/office/drawing/2014/main" id="{6503617C-388B-4867-87A9-9153CA143E1D}"/>
              </a:ext>
            </a:extLst>
          </p:cNvPr>
          <p:cNvSpPr>
            <a:spLocks xmlns:a="http://schemas.openxmlformats.org/drawingml/2006/main" noGrp="1"/>
          </p:cNvSpPr>
          <p:nvPr/>
        </p:nvSpPr>
        <p:spPr>
          <a:xfrm xmlns:a="http://schemas.openxmlformats.org/drawingml/2006/main">
            <a:off x="609600" y="3962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Fixed rankings, one automatic judge</a:t>
            </a:r>
          </a:p>
        </p:txBody>
      </p:sp>
      <p:sp>
        <p:nvSpPr>
          <p:cNvPr id="8" name="Pool coverage can reverse the RRF vs E5 comparis">
            <a:extLst xmlns:a="http://schemas.openxmlformats.org/drawingml/2006/main">
              <a:ext uri="{FF2B5EF4-FFF2-40B4-BE49-F238E27FC236}">
                <a16:creationId xmlns:a16="http://schemas.microsoft.com/office/drawing/2014/main" id="{F5331D40-5A46-4940-924F-0CB6D50C87F2}"/>
              </a:ext>
            </a:extLst>
          </p:cNvPr>
          <p:cNvSpPr>
            <a:spLocks xmlns:a="http://schemas.openxmlformats.org/drawingml/2006/main" noGrp="1"/>
          </p:cNvSpPr>
          <p:nvPr/>
        </p:nvSpPr>
        <p:spPr>
          <a:xfrm xmlns:a="http://schemas.openxmlformats.org/drawingml/2006/main">
            <a:off x="609600" y="449580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FFFFFF"/>
                </a:solidFill>
                <a:latin typeface="Arial"/>
                <a:ea typeface="Arial"/>
                <a:cs typeface="Arial"/>
              </a:defRPr>
            </a:pPr>
            <a:r>
              <a:rPr sz="2625" b="0">
                <a:solidFill>
                  <a:srgbClr val="FFFFFF"/>
                </a:solidFill>
                <a:latin typeface="Arial"/>
                <a:ea typeface="Arial"/>
                <a:cs typeface="Arial"/>
              </a:rPr>
              <a:t>Pool coverage can reverse the RRF vs E5 comparison</a:t>
            </a:r>
          </a:p>
        </p:txBody>
      </p:sp>
      <p:sp>
        <p:nvSpPr>
          <p:cNvPr id="9" name="">
            <a:extLst xmlns:a="http://schemas.openxmlformats.org/drawingml/2006/main">
              <a:ext uri="{FF2B5EF4-FFF2-40B4-BE49-F238E27FC236}">
                <a16:creationId xmlns:a16="http://schemas.microsoft.com/office/drawing/2014/main" id="{3533826A-11B7-4CB4-8300-2BBAF522B51E}"/>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10" name="Next: test stronger judges and known-answer inpu">
            <a:extLst xmlns:a="http://schemas.openxmlformats.org/drawingml/2006/main">
              <a:ext uri="{FF2B5EF4-FFF2-40B4-BE49-F238E27FC236}">
                <a16:creationId xmlns:a16="http://schemas.microsoft.com/office/drawing/2014/main" id="{C4B641C7-6172-4DD4-878D-D377AC3BF111}"/>
              </a:ext>
            </a:extLst>
          </p:cNvPr>
          <p:cNvSpPr>
            <a:spLocks xmlns:a="http://schemas.openxmlformats.org/drawingml/2006/main" noGrp="1"/>
          </p:cNvSpPr>
          <p:nvPr/>
        </p:nvSpPr>
        <p:spPr>
          <a:xfrm xmlns:a="http://schemas.openxmlformats.org/drawingml/2006/main">
            <a:off x="609600" y="54578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Next: test stronger judges and known-answer inputs</a:t>
            </a:r>
          </a:p>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against independent human judgments.</a:t>
            </a:r>
          </a:p>
        </p:txBody>
      </p:sp>
      <p:sp>
        <p:nvSpPr>
          <p:cNvPr id="11" name="Evidence from selected English MS MARCO candidat">
            <a:extLst xmlns:a="http://schemas.openxmlformats.org/drawingml/2006/main">
              <a:ext uri="{FF2B5EF4-FFF2-40B4-BE49-F238E27FC236}">
                <a16:creationId xmlns:a16="http://schemas.microsoft.com/office/drawing/2014/main" id="{7CBF7F85-91F7-42E6-BA69-5E34EBC291F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Evidence from selected English MS MARCO candidate pools.</a:t>
            </a:r>
          </a:p>
        </p:txBody>
      </p:sp>
    </p:spTree>
    <p:extLst>
      <p:ext uri="{BB962C8B-B14F-4D97-AF65-F5344CB8AC3E}">
        <p14:creationId xmlns:p14="http://schemas.microsoft.com/office/powerpoint/2010/main" val="58992344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0F6082C4-FAC3-451F-8512-C276A0828CD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FDCA2385-1210-4A7C-AB0B-F7193161047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DEA6AB42-FD86-4C2E-AF11-74C59E460A03}"/>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10F905FA-68D1-451D-B2F5-F7CA315DE1E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25400639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Judge test protocol and observed errors">
            <a:extLst xmlns:a="http://schemas.openxmlformats.org/drawingml/2006/main">
              <a:ext uri="{FF2B5EF4-FFF2-40B4-BE49-F238E27FC236}">
                <a16:creationId xmlns:a16="http://schemas.microsoft.com/office/drawing/2014/main" id="{481E0F31-4DA9-404C-BACF-A9006D885CD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DDD44AE3-A7EB-4D4F-963E-8B41ECD4E90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Train queries">
            <a:extLst xmlns:a="http://schemas.openxmlformats.org/drawingml/2006/main">
              <a:ext uri="{FF2B5EF4-FFF2-40B4-BE49-F238E27FC236}">
                <a16:creationId xmlns:a16="http://schemas.microsoft.com/office/drawing/2014/main" id="{051B432E-B4AB-4CBA-8A22-8EEDE18D534F}"/>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Train queries</a:t>
            </a:r>
          </a:p>
        </p:txBody>
      </p:sp>
      <p:sp>
        <p:nvSpPr>
          <p:cNvPr id="4" name="825">
            <a:extLst xmlns:a="http://schemas.openxmlformats.org/drawingml/2006/main">
              <a:ext uri="{FF2B5EF4-FFF2-40B4-BE49-F238E27FC236}">
                <a16:creationId xmlns:a16="http://schemas.microsoft.com/office/drawing/2014/main" id="{AC7F6B79-BBFE-4AC7-8266-6399D7543A13}"/>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Validation queries">
            <a:extLst xmlns:a="http://schemas.openxmlformats.org/drawingml/2006/main">
              <a:ext uri="{FF2B5EF4-FFF2-40B4-BE49-F238E27FC236}">
                <a16:creationId xmlns:a16="http://schemas.microsoft.com/office/drawing/2014/main" id="{CC7DF454-C13E-4F16-B79E-6753D3D40D47}"/>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Validation queries</a:t>
            </a:r>
          </a:p>
        </p:txBody>
      </p:sp>
      <p:sp>
        <p:nvSpPr>
          <p:cNvPr id="6" name="177">
            <a:extLst xmlns:a="http://schemas.openxmlformats.org/drawingml/2006/main">
              <a:ext uri="{FF2B5EF4-FFF2-40B4-BE49-F238E27FC236}">
                <a16:creationId xmlns:a16="http://schemas.microsoft.com/office/drawing/2014/main" id="{53AD8FAA-9B04-401A-A26D-66E2B0781614}"/>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Test queries">
            <a:extLst xmlns:a="http://schemas.openxmlformats.org/drawingml/2006/main">
              <a:ext uri="{FF2B5EF4-FFF2-40B4-BE49-F238E27FC236}">
                <a16:creationId xmlns:a16="http://schemas.microsoft.com/office/drawing/2014/main" id="{9E7B6555-FDBA-406B-B631-0B0317B487EA}"/>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Test queries</a:t>
            </a:r>
          </a:p>
        </p:txBody>
      </p:sp>
      <p:sp>
        <p:nvSpPr>
          <p:cNvPr id="8" name="177">
            <a:extLst xmlns:a="http://schemas.openxmlformats.org/drawingml/2006/main">
              <a:ext uri="{FF2B5EF4-FFF2-40B4-BE49-F238E27FC236}">
                <a16:creationId xmlns:a16="http://schemas.microsoft.com/office/drawing/2014/main" id="{81E95B5B-D46D-4007-AEA3-74A2EF0AC0B7}"/>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Coded negative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Coded positive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Precision 0.851">
            <a:extLst xmlns:a="http://schemas.openxmlformats.org/drawingml/2006/main">
              <a:ext uri="{FF2B5EF4-FFF2-40B4-BE49-F238E27FC236}">
                <a16:creationId xmlns:a16="http://schemas.microsoft.com/office/drawing/2014/main" id="{A5356CA5-B471-446A-8B3F-7E73DE4A7033}"/>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11" name="Recall 0.902">
            <a:extLst xmlns:a="http://schemas.openxmlformats.org/drawingml/2006/main">
              <a:ext uri="{FF2B5EF4-FFF2-40B4-BE49-F238E27FC236}">
                <a16:creationId xmlns:a16="http://schemas.microsoft.com/office/drawing/2014/main" id="{6E6D2FE2-8451-43C8-94E5-308966234587}"/>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12" name="F1 0.875">
            <a:extLst xmlns:a="http://schemas.openxmlformats.org/drawingml/2006/main">
              <a:ext uri="{FF2B5EF4-FFF2-40B4-BE49-F238E27FC236}">
                <a16:creationId xmlns:a16="http://schemas.microsoft.com/office/drawing/2014/main" id="{B87E217D-A27F-4F14-B2EB-EC13552C469E}"/>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002 pairs; six unresolved targets mapped to ze">
            <a:extLst xmlns:a="http://schemas.openxmlformats.org/drawingml/2006/main">
              <a:ext uri="{FF2B5EF4-FFF2-40B4-BE49-F238E27FC236}">
                <a16:creationId xmlns:a16="http://schemas.microsoft.com/office/drawing/2014/main" id="{31737A26-D3A0-4959-9B70-B52181BA8C2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12319419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B7F2F263-3DB9-4C32-B93E-95EA199C13B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11124625-405B-4D4E-B44F-ACAA0C72D02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541DF952-0404-4B05-9325-1E48F7BD6C6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32966826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F3E6CB77-8973-406E-A589-ADA50E00F4A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351C11D1-7C11-4E35-A7A4-86DAF0DBE65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B1FC6AB1-8443-460C-B8B1-32D956F4592D}"/>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DB05E780-74F1-4E0F-B91E-E5762D067AC6}"/>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E37489CA-62C8-432F-9C4C-CF1108A72504}"/>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B5C23280-F73D-4FED-9D2B-444CA4C2226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192019148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41E515F4-9E53-4102-9005-6C2CD7C4F16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3DF3A153-FEDE-4397-894D-E9974953684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7D48E1B2-B1A2-46D6-8912-E5DF0DEF01F1}"/>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F9CC484C-02B1-4FAC-A2F6-DA2F228DA175}"/>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7F949C96-3CEF-4475-83CE-7055B6076EF5}"/>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Compare stronger judges against independent huma">
            <a:extLst xmlns:a="http://schemas.openxmlformats.org/drawingml/2006/main">
              <a:ext uri="{FF2B5EF4-FFF2-40B4-BE49-F238E27FC236}">
                <a16:creationId xmlns:a16="http://schemas.microsoft.com/office/drawing/2014/main" id="{75129019-E544-4888-AAF1-DD4ABD422C07}"/>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507B18DF-8B4E-4A0D-A4D2-825A7E693F5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20685993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DAMDID 2026 conference presentation</dc:subject>
  <dc:language>en-US</dc:language>
</coreProperties>
</file>