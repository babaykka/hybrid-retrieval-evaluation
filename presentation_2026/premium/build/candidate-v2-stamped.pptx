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acffdf810ab74cc7"/><Relationship Type="http://schemas.openxmlformats.org/officeDocument/2006/relationships/extended-properties" Target="/docProps/app.xml" Id="R16a800ef9e6d49a6"/><Relationship Type="http://schemas.openxmlformats.org/officeDocument/2006/relationships/officeDocument" Target="/ppt/presentation.xml" Id="R42e3e3798a104afa"/></Relationships>
</file>

<file path=ppt/presentation.xml><?xml version="1.0" encoding="utf-8"?>
<p:presentation xmlns:p="http://schemas.openxmlformats.org/presentationml/2006/main">
  <p:sldMasterIdLst>
    <p:sldMasterId xmlns:r="http://schemas.openxmlformats.org/officeDocument/2006/relationships" id="2147483648" r:id="Rdc6780aed3134bdd"/>
  </p:sldMasterIdLst>
  <p:notesMasterIdLst>
    <p:notesMasterId xmlns:r="http://schemas.openxmlformats.org/officeDocument/2006/relationships" r:id="R110ca8e017f14d7b"/>
  </p:notesMasterIdLst>
  <p:sldIdLst>
    <p:sldId xmlns:r="http://schemas.openxmlformats.org/officeDocument/2006/relationships" id="256" r:id="Rd9caa660ae9b4122"/>
    <p:sldId xmlns:r="http://schemas.openxmlformats.org/officeDocument/2006/relationships" id="257" r:id="Re12880d030f14344"/>
    <p:sldId xmlns:r="http://schemas.openxmlformats.org/officeDocument/2006/relationships" id="258" r:id="R6d445f28daa24e5e"/>
    <p:sldId xmlns:r="http://schemas.openxmlformats.org/officeDocument/2006/relationships" id="259" r:id="R1c37f4b5700d4072"/>
    <p:sldId xmlns:r="http://schemas.openxmlformats.org/officeDocument/2006/relationships" id="260" r:id="Rab5cce4987914c07"/>
    <p:sldId xmlns:r="http://schemas.openxmlformats.org/officeDocument/2006/relationships" id="261" r:id="R146ba695d67e4f8d"/>
    <p:sldId xmlns:r="http://schemas.openxmlformats.org/officeDocument/2006/relationships" id="262" r:id="R667a66aa634344be"/>
    <p:sldId xmlns:r="http://schemas.openxmlformats.org/officeDocument/2006/relationships" id="263" r:id="Re4396d3dd9744786"/>
    <p:sldId xmlns:r="http://schemas.openxmlformats.org/officeDocument/2006/relationships" id="264" r:id="R7d20b75c6aa34efc"/>
    <p:sldId xmlns:r="http://schemas.openxmlformats.org/officeDocument/2006/relationships" id="265" r:id="Rb0889b5b39204603"/>
    <p:sldId xmlns:r="http://schemas.openxmlformats.org/officeDocument/2006/relationships" id="266" r:id="R0c6eb7b5cb1c49be"/>
    <p:sldId xmlns:r="http://schemas.openxmlformats.org/officeDocument/2006/relationships" id="267" r:id="R6372beeaac344583"/>
    <p:sldId xmlns:r="http://schemas.openxmlformats.org/officeDocument/2006/relationships" id="268" r:id="R6e5b76b1595e4e70"/>
    <p:sldId xmlns:r="http://schemas.openxmlformats.org/officeDocument/2006/relationships" id="269" r:id="Re364047d11154ac3"/>
    <p:sldId xmlns:r="http://schemas.openxmlformats.org/officeDocument/2006/relationships" id="270" r:id="Rd65cfa4a9b4642ca"/>
    <p:sldId xmlns:r="http://schemas.openxmlformats.org/officeDocument/2006/relationships" id="271" r:id="R8c1549e031f049c4"/>
    <p:sldId xmlns:r="http://schemas.openxmlformats.org/officeDocument/2006/relationships" id="272" r:id="R897538cfd81448a5"/>
    <p:sldId xmlns:r="http://schemas.openxmlformats.org/officeDocument/2006/relationships" id="273" r:id="R28c9ac9cc1c245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2863361841044562"/><Relationship Type="http://schemas.openxmlformats.org/officeDocument/2006/relationships/slideMaster" Target="/ppt/slideMasters/slideMaster1.xml" Id="Rdc6780aed3134bdd"/><Relationship Type="http://schemas.openxmlformats.org/officeDocument/2006/relationships/notesMaster" Target="/ppt/notesMasters/notesMaster1.xml" Id="R110ca8e017f14d7b"/><Relationship Type="http://schemas.openxmlformats.org/officeDocument/2006/relationships/presProps" Target="/ppt/presProps.xml" Id="R75708035a6bd4f18"/><Relationship Type="http://schemas.openxmlformats.org/officeDocument/2006/relationships/tableStyles" Target="/ppt/tableStyles.xml" Id="R735cd03f15084324"/><Relationship Type="http://schemas.openxmlformats.org/officeDocument/2006/relationships/slide" Target="/ppt/slides/slide1.xml" Id="Rd9caa660ae9b4122"/><Relationship Type="http://schemas.openxmlformats.org/officeDocument/2006/relationships/slide" Target="/ppt/slides/slide2.xml" Id="Re12880d030f14344"/><Relationship Type="http://schemas.openxmlformats.org/officeDocument/2006/relationships/slide" Target="/ppt/slides/slide3.xml" Id="R6d445f28daa24e5e"/><Relationship Type="http://schemas.openxmlformats.org/officeDocument/2006/relationships/slide" Target="/ppt/slides/slide4.xml" Id="R1c37f4b5700d4072"/><Relationship Type="http://schemas.openxmlformats.org/officeDocument/2006/relationships/slide" Target="/ppt/slides/slide5.xml" Id="Rab5cce4987914c07"/><Relationship Type="http://schemas.openxmlformats.org/officeDocument/2006/relationships/slide" Target="/ppt/slides/slide6.xml" Id="R146ba695d67e4f8d"/><Relationship Type="http://schemas.openxmlformats.org/officeDocument/2006/relationships/slide" Target="/ppt/slides/slide7.xml" Id="R667a66aa634344be"/><Relationship Type="http://schemas.openxmlformats.org/officeDocument/2006/relationships/slide" Target="/ppt/slides/slide8.xml" Id="Re4396d3dd9744786"/><Relationship Type="http://schemas.openxmlformats.org/officeDocument/2006/relationships/slide" Target="/ppt/slides/slide9.xml" Id="R7d20b75c6aa34efc"/><Relationship Type="http://schemas.openxmlformats.org/officeDocument/2006/relationships/slide" Target="/ppt/slides/slide10.xml" Id="Rb0889b5b39204603"/><Relationship Type="http://schemas.openxmlformats.org/officeDocument/2006/relationships/slide" Target="/ppt/slides/slide11.xml" Id="R0c6eb7b5cb1c49be"/><Relationship Type="http://schemas.openxmlformats.org/officeDocument/2006/relationships/slide" Target="/ppt/slides/slide12.xml" Id="R6372beeaac344583"/><Relationship Type="http://schemas.openxmlformats.org/officeDocument/2006/relationships/slide" Target="/ppt/slides/slide13.xml" Id="R6e5b76b1595e4e70"/><Relationship Type="http://schemas.openxmlformats.org/officeDocument/2006/relationships/slide" Target="/ppt/slides/slide14.xml" Id="Re364047d11154ac3"/><Relationship Type="http://schemas.openxmlformats.org/officeDocument/2006/relationships/slide" Target="/ppt/slides/slide15.xml" Id="Rd65cfa4a9b4642ca"/><Relationship Type="http://schemas.openxmlformats.org/officeDocument/2006/relationships/slide" Target="/ppt/slides/slide16.xml" Id="R8c1549e031f049c4"/><Relationship Type="http://schemas.openxmlformats.org/officeDocument/2006/relationships/slide" Target="/ppt/slides/slide17.xml" Id="R897538cfd81448a5"/><Relationship Type="http://schemas.openxmlformats.org/officeDocument/2006/relationships/slide" Target="/ppt/slides/slide18.xml" Id="R28c9ac9cc1c245a5"/></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d57b56c95324d62"/></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2731ec6217244bea"/><Relationship Type="http://schemas.openxmlformats.org/officeDocument/2006/relationships/notesMaster" Target="/ppt/notesMasters/notesMaster1.xml" Id="R9065fc37fc4c436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6157ae41fd8d42dc"/><Relationship Type="http://schemas.openxmlformats.org/officeDocument/2006/relationships/notesMaster" Target="/ppt/notesMasters/notesMaster1.xml" Id="R80a983b2bb7246c9"/></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d91af03cd62d4a47"/><Relationship Type="http://schemas.openxmlformats.org/officeDocument/2006/relationships/notesMaster" Target="/ppt/notesMasters/notesMaster1.xml" Id="R78839116fdbb4a17"/></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95907abf56b44e0"/><Relationship Type="http://schemas.openxmlformats.org/officeDocument/2006/relationships/notesMaster" Target="/ppt/notesMasters/notesMaster1.xml" Id="R15e509257aec454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b8093d9397084df8"/><Relationship Type="http://schemas.openxmlformats.org/officeDocument/2006/relationships/notesMaster" Target="/ppt/notesMasters/notesMaster1.xml" Id="R2d529ff4282d4546"/></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1e2bca85359e483b"/><Relationship Type="http://schemas.openxmlformats.org/officeDocument/2006/relationships/notesMaster" Target="/ppt/notesMasters/notesMaster1.xml" Id="R2ef4e088afd44ef3"/></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ba6cbc4409e14348"/><Relationship Type="http://schemas.openxmlformats.org/officeDocument/2006/relationships/notesMaster" Target="/ppt/notesMasters/notesMaster1.xml" Id="R228c4141bf6740bb"/></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7e7305c6dd4d42d0"/><Relationship Type="http://schemas.openxmlformats.org/officeDocument/2006/relationships/notesMaster" Target="/ppt/notesMasters/notesMaster1.xml" Id="Re3ea6f2e70aa4f8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2db43e4f50d844da"/><Relationship Type="http://schemas.openxmlformats.org/officeDocument/2006/relationships/notesMaster" Target="/ppt/notesMasters/notesMaster1.xml" Id="R7a44ee4fcac54a71"/></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9e504fff785b4787"/><Relationship Type="http://schemas.openxmlformats.org/officeDocument/2006/relationships/notesMaster" Target="/ppt/notesMasters/notesMaster1.xml" Id="Rceb513d60a9d430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1195c38ed6f4294"/><Relationship Type="http://schemas.openxmlformats.org/officeDocument/2006/relationships/notesMaster" Target="/ppt/notesMasters/notesMaster1.xml" Id="Re64ef0cda82e470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5ffc0e4b2ff74566"/><Relationship Type="http://schemas.openxmlformats.org/officeDocument/2006/relationships/notesMaster" Target="/ppt/notesMasters/notesMaster1.xml" Id="R4a4dca891bda499b"/></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068148699844ce"/><Relationship Type="http://schemas.openxmlformats.org/officeDocument/2006/relationships/notesMaster" Target="/ppt/notesMasters/notesMaster1.xml" Id="R28d3faf1905543c6"/></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825570883bd046fc"/><Relationship Type="http://schemas.openxmlformats.org/officeDocument/2006/relationships/notesMaster" Target="/ppt/notesMasters/notesMaster1.xml" Id="Re35af9c88a784d73"/></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dd3b485ff0264a89"/><Relationship Type="http://schemas.openxmlformats.org/officeDocument/2006/relationships/notesMaster" Target="/ppt/notesMasters/notesMaster1.xml" Id="Rcc42968b628b4a55"/></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c7e39213517e4989"/><Relationship Type="http://schemas.openxmlformats.org/officeDocument/2006/relationships/notesMaster" Target="/ppt/notesMasters/notesMaster1.xml" Id="R00c322adfd6342f3"/></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23d471ccc2e40f0"/><Relationship Type="http://schemas.openxmlformats.org/officeDocument/2006/relationships/notesMaster" Target="/ppt/notesMasters/notesMaster1.xml" Id="Rf976a5110a8140e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b67c83698a0f4e9b"/><Relationship Type="http://schemas.openxmlformats.org/officeDocument/2006/relationships/notesMaster" Target="/ppt/notesMasters/notesMaster1.xml" Id="R34acf0707f2c4c4e"/></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файл суждений о релевантности запросам.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обучаемый baseline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Известный ответ был бы дополнительным полезным сигналом; такой формат — будущий эксперимент, а не уже полученный результат.</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ROC показывает долю найденных положительных пар относительно доли ложноположительных по всем порогам. Площадь под полной эмпирической кривой составляет 0,907, F1 при выбранном на валидации пороге — 0,875. Precision 0,851, recall 0,902. AUC не является процентом правильных ответов или вероятностью релевантности. Кривая визуально сокращена до 80 фактических точек, а число AUC рассчитано по полной кривой. Унаследованное бинарное кодирование относит категории 1 и 2 к положительным, остальные к нулю. Тест включает шесть неразрешённых категорий и одну пару с пустым текстом; после их исключения AUC составляет 0,909 и F1 0,876. Основные числа оставлены для исходного протокола.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empirical ROC reconstructed from saved judge scores and split IDs; provenance in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и первая десятка RRF, и первая десятка E5 одинаковы при каждой глубине оценочного пула.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человеческую валидацию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reference-conditioned судьи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Четыре эффекта проходят поправку Бонферрони. Интервалы точечные, они не учитывают повторное обучение или неопределённость человеческой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seed 42. Базовый checkpoint — cross-encoder/ms-marco-MiniLM-L6-v2. Порог -0,2187178284 по сырым scores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неразрешённых категорий и одну запись с пустым текстом. Исключение этих семи записей оставляет 4995 пар и даёт AUC 0,909, F1 0,876; это чувствительность, а не новый обученный судья. Повторная оценка использует сохранённые scores; новое нейросетевое обучение здесь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неразрешённых категорий и пять пустых текстов затрагивают 23 запроса. Основная оценка сохраняет все 1179, а чувствительность удаляет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независимой человеческой релевантности.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reference passage labeled relevant, кандидат.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Основной вклад текущей работы остаётся измерением влияния покрытия разметки и глубины пулов при фиксированных сохранённых ранжированиях.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921116165b3425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cdf67bc9c4a342e7"/><Relationship Type="http://schemas.openxmlformats.org/officeDocument/2006/relationships/slideLayout" Target="/ppt/slideLayouts/slideLayout1.xml" Id="R4ee60ad5d0cd4c42"/></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e60ad5d0cd4c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efbb04dd3c1d4c6a"/><Relationship Type="http://schemas.openxmlformats.org/officeDocument/2006/relationships/image" Target="/ppt/media/image.png" Id="R955a1d8062fd4190"/><Relationship Type="http://schemas.openxmlformats.org/officeDocument/2006/relationships/notesSlide" Target="/ppt/notesSlides/notesSlide1.xml" Id="R04187c561b7b4529"/></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cc08ea47c7654772"/><Relationship Type="http://schemas.openxmlformats.org/officeDocument/2006/relationships/notesSlide" Target="/ppt/notesSlides/notesSlide2.xml" Id="Rf5232d8bd6da4e1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538a67deffce4814"/><Relationship Type="http://schemas.openxmlformats.org/officeDocument/2006/relationships/notesSlide" Target="/ppt/notesSlides/notesSlide3.xml" Id="Rbb31bb119a2f433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29eec3ce7b664f8c"/><Relationship Type="http://schemas.openxmlformats.org/officeDocument/2006/relationships/notesSlide" Target="/ppt/notesSlides/notesSlide4.xml" Id="R3386f1c780a54c4d"/></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13ef55152e9483d"/><Relationship Type="http://schemas.openxmlformats.org/officeDocument/2006/relationships/notesSlide" Target="/ppt/notesSlides/notesSlide5.xml" Id="R56dd44d02c9f4e47"/></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3575ef531d4c48bd"/><Relationship Type="http://schemas.openxmlformats.org/officeDocument/2006/relationships/chart" Target="/ppt/slides/charts/chart1.xml" Id="R2fd5ef51da3b44f0"/><Relationship Type="http://schemas.openxmlformats.org/officeDocument/2006/relationships/notesSlide" Target="/ppt/notesSlides/notesSlide6.xml" Id="Re70e03af8ac64d4e"/></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91084afe84e046a0"/><Relationship Type="http://schemas.openxmlformats.org/officeDocument/2006/relationships/notesSlide" Target="/ppt/notesSlides/notesSlide7.xml" Id="Rfe1af6b52199427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1c26394c43243e0"/><Relationship Type="http://schemas.openxmlformats.org/officeDocument/2006/relationships/chart" Target="/ppt/slides/charts/chart2.xml" Id="R25ca54ca021c4ccc"/><Relationship Type="http://schemas.openxmlformats.org/officeDocument/2006/relationships/notesSlide" Target="/ppt/notesSlides/notesSlide8.xml" Id="R5c5ba7d8c3c046bb"/></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e3d19d864f74545"/><Relationship Type="http://schemas.openxmlformats.org/officeDocument/2006/relationships/chart" Target="/ppt/slides/charts/chart3.xml" Id="R9a1136a813f04a2b"/><Relationship Type="http://schemas.openxmlformats.org/officeDocument/2006/relationships/notesSlide" Target="/ppt/notesSlides/notesSlide9.xml" Id="R16ad09e0dd984708"/></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53acd451768480c"/><Relationship Type="http://schemas.openxmlformats.org/officeDocument/2006/relationships/chart" Target="/ppt/slides/charts/chart4.xml" Id="R55a091cde526461e"/><Relationship Type="http://schemas.openxmlformats.org/officeDocument/2006/relationships/notesSlide" Target="/ppt/notesSlides/notesSlide10.xml" Id="R98ad9b1e52de47c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3c6a83df10449cf"/><Relationship Type="http://schemas.openxmlformats.org/officeDocument/2006/relationships/chart" Target="/ppt/slides/charts/chart5.xml" Id="R999c96b1537d44c8"/><Relationship Type="http://schemas.openxmlformats.org/officeDocument/2006/relationships/notesSlide" Target="/ppt/notesSlides/notesSlide11.xml" Id="R7306759d34b04df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db2d56cd04274572"/><Relationship Type="http://schemas.openxmlformats.org/officeDocument/2006/relationships/notesSlide" Target="/ppt/notesSlides/notesSlide12.xml" Id="R97d6662d204947d7"/></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9473fbdb3a154aa7"/><Relationship Type="http://schemas.openxmlformats.org/officeDocument/2006/relationships/notesSlide" Target="/ppt/notesSlides/notesSlide13.xml" Id="Rf210b4767d134e4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977f088f4f654725"/><Relationship Type="http://schemas.openxmlformats.org/officeDocument/2006/relationships/notesSlide" Target="/ppt/notesSlides/notesSlide14.xml" Id="R281d57239cbd411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25c14e3881a4b3a"/><Relationship Type="http://schemas.openxmlformats.org/officeDocument/2006/relationships/notesSlide" Target="/ppt/notesSlides/notesSlide15.xml" Id="R8abbbce92d024a69"/></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f8144dae7074e4b"/><Relationship Type="http://schemas.openxmlformats.org/officeDocument/2006/relationships/notesSlide" Target="/ppt/notesSlides/notesSlide16.xml" Id="Rd57245134b1b46e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7e40c059b3a044bd"/><Relationship Type="http://schemas.openxmlformats.org/officeDocument/2006/relationships/notesSlide" Target="/ppt/notesSlides/notesSlide17.xml" Id="R5a127896376d448b"/></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039e4c74acb54d25"/><Relationship Type="http://schemas.openxmlformats.org/officeDocument/2006/relationships/notesSlide" Target="/ppt/notesSlides/notesSlide18.xml" Id="R032ff67c8ce84b18"/></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2"/>
              <c:pt idx="0">
                <c:v>0</c:v>
              </c:pt>
              <c:pt idx="1">
                <c:v>1</c:v>
              </c:pt>
            </c:numLit>
          </c:xVal>
          <c:yVal>
            <c:numLit>
              <c:formatCode>0.000</c:formatCode>
              <c:ptCount val="2"/>
              <c:pt idx="0">
                <c:v>0</c:v>
              </c:pt>
              <c:pt idx="1">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c:v>
              </c:pt>
              <c:pt idx="1">
                <c:v>10</c:v>
              </c:pt>
            </c:numLit>
          </c:xVal>
          <c:yVal>
            <c:numLit>
              <c:formatCode>0.000</c:formatCode>
              <c:ptCount val="2"/>
              <c:pt idx="0">
                <c:v>-0.02023617</c:v>
              </c:pt>
              <c:pt idx="1">
                <c:v>-0.01882729</c:v>
              </c:pt>
            </c:numLit>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30</c:v>
              </c:pt>
              <c:pt idx="1">
                <c:v>30</c:v>
              </c:pt>
            </c:numLit>
          </c:xVal>
          <c:yVal>
            <c:numLit>
              <c:formatCode>0.000</c:formatCode>
              <c:ptCount val="2"/>
              <c:pt idx="0">
                <c:v>0.01021579</c:v>
              </c:pt>
              <c:pt idx="1">
                <c:v>0.01150741</c:v>
              </c:pt>
            </c:numLit>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50</c:v>
              </c:pt>
              <c:pt idx="1">
                <c:v>50</c:v>
              </c:pt>
            </c:numLit>
          </c:xVal>
          <c:yVal>
            <c:numLit>
              <c:formatCode>0.000</c:formatCode>
              <c:ptCount val="2"/>
              <c:pt idx="0">
                <c:v>0.00784398</c:v>
              </c:pt>
              <c:pt idx="1">
                <c:v>0.00925389</c:v>
              </c:pt>
            </c:numLit>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100</c:v>
              </c:pt>
              <c:pt idx="1">
                <c:v>100</c:v>
              </c:pt>
            </c:numLit>
          </c:xVal>
          <c:yVal>
            <c:numLit>
              <c:formatCode>0.000</c:formatCode>
              <c:ptCount val="2"/>
              <c:pt idx="0">
                <c:v>0.00701006</c:v>
              </c:pt>
              <c:pt idx="1">
                <c:v>0.00843288</c:v>
              </c:pt>
            </c:numLit>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mooth val="0"/>
        </c:ser>
        <c:ser>
          <c:idx val="6"/>
          <c:order val="6"/>
          <c:tx>
            <c:v>RRF minus E5</c:v>
          </c:tx>
          <c:spPr>
            <a:solidFill xmlns:a="http://schemas.openxmlformats.org/drawingml/2006/main">
              <a:srgbClr val="C95236"/>
            </a:solidFill>
            <a:ln xmlns:a="http://schemas.openxmlformats.org/drawingml/2006/main" w="0">
              <a:noFill/>
            </a:ln>
          </c:spPr>
          <c:marker>
            <c:symbol val="circle"/>
            <c:size val="8"/>
            <c:spPr>
              <a:noFill xmlns:a="http://schemas.openxmlformats.org/drawingml/2006/main"/>
            </c:spPr>
          </c:marker>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15"/>
          <c:min val="-0.025"/>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mooth val="0"/>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mooth val="0"/>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mooth val="0"/>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mooth val="0"/>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mooth val="0"/>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mooth val="0"/>
        </c:ser>
        <c:ser>
          <c:idx val="6"/>
          <c:order val="6"/>
          <c:tx>
            <c:v>RRF minus E5</c:v>
          </c:tx>
          <c:spPr>
            <a:solidFill xmlns:a="http://schemas.openxmlformats.org/drawingml/2006/main">
              <a:srgbClr val="007F78"/>
            </a:solidFill>
            <a:ln xmlns:a="http://schemas.openxmlformats.org/drawingml/2006/main" w="28575">
              <a:solidFill>
                <a:srgbClr val="007F78"/>
              </a:solidFill>
            </a:ln>
          </c:spPr>
          <c:marker>
            <c:symbol val="circle"/>
            <c:size val="8"/>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7F9F7694-FC6A-43E9-A24F-2D505C10F67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55a1d8062fd419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4D582359-EFDE-4BEA-9102-77D9A10E541C}"/>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ADBF92E9-0967-4AC6-A2BF-9093A6A49DEF}"/>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66E7EC09-1EA7-4A3A-9FBB-A940EF59E718}"/>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F869E67E-05E9-4FB8-9BFF-734A65C45471}"/>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0385DCFE-0630-4C02-8404-B34D63B1E010}"/>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158441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C881A852-C017-4DE8-8E4F-E25F456B83C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FDE962E6-7A66-4DFD-B181-E4060702B3F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81C5E6B7-AC5D-4842-8BC3-D4066A238D91}"/>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932BFEA8-8D21-4269-B14C-D065D8AC7F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3689421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CF032221-CBB4-4AC3-943C-7D57D6A25DB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AE0556C3-85A3-4C71-A02D-AD44A9E5D50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D6DEA32A-FE73-4FFA-8179-0485C00B999F}"/>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B71E1ADD-7906-4392-BECF-03F26FDBADCF}"/>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A4F6449E-F0F4-418B-831D-67B90AE484DC}"/>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95AF6482-D3CE-488B-ABD4-87E75270BEBB}"/>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E334F9AB-B121-4B19-80C7-02041FCBB44A}"/>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53E335FC-0798-493B-92A0-262B732B302A}"/>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DD468520-5CC5-4F50-8D20-47E7574D9747}"/>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5188D36B-E062-4EFB-A341-564833790BF0}"/>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1CB804D8-3CDE-4795-A479-BDEDE8AFAB9E}"/>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49773A35-FF9E-437A-BA25-61EC1F35426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2922776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3164C2D7-A854-4C7B-8602-9B4F94659D4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5914968A-F878-4CC0-8E65-CFDF9FB0B2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0F04E847-8A42-4EA3-86F5-CE1DBA795FE6}"/>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Reference-based similarity">
            <a:extLst xmlns:a="http://schemas.openxmlformats.org/drawingml/2006/main">
              <a:ext uri="{FF2B5EF4-FFF2-40B4-BE49-F238E27FC236}">
                <a16:creationId xmlns:a16="http://schemas.microsoft.com/office/drawing/2014/main" id="{2AB1387D-FBC8-479F-9FFF-9EDC6B6FBF4F}"/>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Reference-based similarity</a:t>
            </a:r>
          </a:p>
        </p:txBody>
      </p:sp>
      <p:sp>
        <p:nvSpPr>
          <p:cNvPr id="5" name="Deduplicated&#10;candidate pool">
            <a:extLst xmlns:a="http://schemas.openxmlformats.org/drawingml/2006/main">
              <a:ext uri="{FF2B5EF4-FFF2-40B4-BE49-F238E27FC236}">
                <a16:creationId xmlns:a16="http://schemas.microsoft.com/office/drawing/2014/main" id="{3A565C3A-EC01-4838-89C5-54487701B6BF}"/>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CB4326EA-E29F-40D2-A774-50D227F3A821}"/>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DA9FC935-031A-4C8C-9EB1-8DBFEC8AB716}"/>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5704B046-138B-46B9-801C-5E08CC01FB89}"/>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59A8DB7E-9021-4ED8-834C-1041A2BCEC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6130837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FE63C8EF-5FD5-4CEF-BE3B-71B34FE4E8A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92547B1E-02E2-46B4-B5B8-07F37B44D9C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Relevant judgments per query">
            <a:extLst xmlns:a="http://schemas.openxmlformats.org/drawingml/2006/main">
              <a:ext uri="{FF2B5EF4-FFF2-40B4-BE49-F238E27FC236}">
                <a16:creationId xmlns:a16="http://schemas.microsoft.com/office/drawing/2014/main" id="{33BD839C-DDB5-4697-89F2-00FEBD0D1709}"/>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Relevant judgments per query</a:t>
            </a:r>
          </a:p>
        </p:txBody>
      </p:sp>
      <p:sp>
        <p:nvSpPr>
          <p:cNvPr id="4" name="1.05">
            <a:extLst xmlns:a="http://schemas.openxmlformats.org/drawingml/2006/main">
              <a:ext uri="{FF2B5EF4-FFF2-40B4-BE49-F238E27FC236}">
                <a16:creationId xmlns:a16="http://schemas.microsoft.com/office/drawing/2014/main" id="{E0B1EF60-F9F2-452A-A85D-3C370D401C2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EF7F6506-B4B4-4529-A249-D5700C7C2094}"/>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22FE1CD5-0E40-47AD-B790-149E563C0550}"/>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36F69593-F8D5-4CEC-9CC2-65F90C80B1AE}"/>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97A9524A-2369-4D7B-AEB5-247F4C92329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D033DF30-F36D-4AC8-B893-434FE7C19C1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38D741ED-B3CF-494F-A372-BEC85559F1C5}"/>
              </a:ext>
            </a:extLst>
          </p:cNvPr>
          <p:cNvSpPr>
            <a:spLocks xmlns:a="http://schemas.openxmlformats.org/drawingml/2006/main" noGrp="1"/>
          </p:cNvSpPr>
          <p:nvPr/>
        </p:nvSpPr>
        <p:spPr>
          <a:xfrm xmlns:a="http://schemas.openxmlformats.org/drawingml/2006/main">
            <a:off x="6705600" y="52959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49771CE3-4252-4122-9D7B-F524C1E2CDF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7220513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BD96FEAE-15CA-4098-902B-6B47D1D613F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D778C38E-CD90-4C88-A89C-FD31BCB0E97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2fd5ef51da3b44f0"/>
          </a:graphicData>
        </a:graphic>
      </p:graphicFrame>
      <p:sp>
        <p:nvSpPr>
          <p:cNvPr id="4" name="E5 paired change: +0.391   95% CI [0.365, 0.417]">
            <a:extLst xmlns:a="http://schemas.openxmlformats.org/drawingml/2006/main">
              <a:ext uri="{FF2B5EF4-FFF2-40B4-BE49-F238E27FC236}">
                <a16:creationId xmlns:a16="http://schemas.microsoft.com/office/drawing/2014/main" id="{84B21686-E841-4DDD-84F3-2E37BB615A3C}"/>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3B875D52-89AC-409E-BFC5-0FB70E20416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8664603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D8E4E77A-5CC5-42D7-BB45-61461B5AE2F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147DB56-7A9E-48A1-9EBE-92FD6F8932C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C86B3407-3480-46EF-81F0-4C8B8A151471}"/>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3355D446-7E3C-44A9-A876-41172BB567D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C515F31E-A4A8-42FA-87BB-BC3A161DD932}"/>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789DA306-D55D-43A9-843B-87CDA9C0B3FF}"/>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E1437C9B-B8EE-475D-9B09-4578FCC0F853}"/>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784420AB-6883-4EFB-9199-FFB39EE4FFE8}"/>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872BE8FB-4510-4F4C-B46E-790FFC28512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9391953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agreement on held-out queries">
            <a:extLst xmlns:a="http://schemas.openxmlformats.org/drawingml/2006/main">
              <a:ext uri="{FF2B5EF4-FFF2-40B4-BE49-F238E27FC236}">
                <a16:creationId xmlns:a16="http://schemas.microsoft.com/office/drawing/2014/main" id="{7EF9B969-58A0-474F-BDF3-15A1CE333D2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CC5CD7D7-4E45-4783-962A-24AD0CD9705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1"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25ca54ca021c4ccc"/>
          </a:graphicData>
        </a:graphic>
      </p:graphicFrame>
      <p:sp>
        <p:nvSpPr>
          <p:cNvPr id="4" name="0.907">
            <a:extLst xmlns:a="http://schemas.openxmlformats.org/drawingml/2006/main">
              <a:ext uri="{FF2B5EF4-FFF2-40B4-BE49-F238E27FC236}">
                <a16:creationId xmlns:a16="http://schemas.microsoft.com/office/drawing/2014/main" id="{0A471752-8276-4E93-B8CB-60D378E5633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C6325AA0-7333-4A40-BEED-EAA5E9BD925E}"/>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4A0DE961-2C72-4F28-90D3-55A3EE7F7647}"/>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860CA328-9934-4E8A-AA95-2BFD6D84CB40}"/>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177 held-out queries; 5,002 pairs. Inherited bin">
            <a:extLst xmlns:a="http://schemas.openxmlformats.org/drawingml/2006/main">
              <a:ext uri="{FF2B5EF4-FFF2-40B4-BE49-F238E27FC236}">
                <a16:creationId xmlns:a16="http://schemas.microsoft.com/office/drawing/2014/main" id="{C7DCE172-36A7-4C67-9665-78B25FF0E7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queries; 5,002 pairs. Inherited binary label encoding.</a:t>
            </a:r>
          </a:p>
        </p:txBody>
      </p:sp>
    </p:spTree>
    <p:extLst>
      <p:ext uri="{BB962C8B-B14F-4D97-AF65-F5344CB8AC3E}">
        <p14:creationId xmlns:p14="http://schemas.microsoft.com/office/powerpoint/2010/main" val="10679335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AC19C889-911B-4E6E-821F-327CA138B42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5393747C-38E4-406F-A8B5-731C6D984D6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181B5F96-6FFE-4C0D-9786-6836A4F7E3A9}"/>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9a1136a813f04a2b"/>
          </a:graphicData>
        </a:graphic>
      </p:graphicFrame>
      <p:sp>
        <p:nvSpPr>
          <p:cNvPr id="5" name="451.5">
            <a:extLst xmlns:a="http://schemas.openxmlformats.org/drawingml/2006/main">
              <a:ext uri="{FF2B5EF4-FFF2-40B4-BE49-F238E27FC236}">
                <a16:creationId xmlns:a16="http://schemas.microsoft.com/office/drawing/2014/main" id="{015DDDBF-29DF-4E5D-A4FB-BBC0C19C1D4F}"/>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56640AA7-89F8-4DB5-A11A-1C846BB3201E}"/>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A4917E08-3FBE-49C8-8278-F6DCD4C535C6}"/>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5C30F909-9CD0-45B3-A3BD-5ED002DB1FD5}"/>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66D617C4-7E0C-4855-A887-B76475595C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8512357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changes position relative to E5">
            <a:extLst xmlns:a="http://schemas.openxmlformats.org/drawingml/2006/main">
              <a:ext uri="{FF2B5EF4-FFF2-40B4-BE49-F238E27FC236}">
                <a16:creationId xmlns:a16="http://schemas.microsoft.com/office/drawing/2014/main" id="{5C7F84B0-9049-4988-80CB-C0B9120B49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715AD3E6-74AB-483D-BDD5-FC0D5F52EFD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Assessment depth K = RRF input depth L">
            <a:extLst xmlns:a="http://schemas.openxmlformats.org/drawingml/2006/main">
              <a:ext uri="{FF2B5EF4-FFF2-40B4-BE49-F238E27FC236}">
                <a16:creationId xmlns:a16="http://schemas.microsoft.com/office/drawing/2014/main" id="{D671FFB9-4FE1-4B38-8D18-5768543DD965}"/>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Assessment depth K = RRF input depth L</a:t>
            </a:r>
          </a:p>
        </p:txBody>
      </p:sp>
      <p:graphicFrame>
        <p:nvGraphicFramePr>
          <p:cNvPr id="15" name="Chart"/>
          <p:cNvGraphicFramePr/>
          <p:nvPr/>
        </p:nvGraphicFramePr>
        <p:xfrm>
          <a:off xmlns:a="http://schemas.openxmlformats.org/drawingml/2006/main" x="609600" y="2305050"/>
          <a:ext xmlns:a="http://schemas.openxmlformats.org/drawingml/2006/main" cx="8086725" cy="3409950"/>
        </p:xfrm>
        <a:graphic xmlns:a="http://schemas.openxmlformats.org/drawingml/2006/main">
          <a:graphicData uri="http://schemas.openxmlformats.org/drawingml/2006/chart">
            <c:chart xmlns:r="http://schemas.openxmlformats.org/officeDocument/2006/relationships" xmlns:c="http://schemas.openxmlformats.org/drawingml/2006/chart" r:id="R55a091cde526461e"/>
          </a:graphicData>
        </a:graphic>
      </p:graphicFrame>
      <p:sp>
        <p:nvSpPr>
          <p:cNvPr id="5" name="E5 higher">
            <a:extLst xmlns:a="http://schemas.openxmlformats.org/drawingml/2006/main">
              <a:ext uri="{FF2B5EF4-FFF2-40B4-BE49-F238E27FC236}">
                <a16:creationId xmlns:a16="http://schemas.microsoft.com/office/drawing/2014/main" id="{CE21D165-0985-4825-B1EB-4DA20F11DB33}"/>
              </a:ext>
            </a:extLst>
          </p:cNvPr>
          <p:cNvSpPr>
            <a:spLocks xmlns:a="http://schemas.openxmlformats.org/drawingml/2006/main" noGrp="1"/>
          </p:cNvSpPr>
          <p:nvPr/>
        </p:nvSpPr>
        <p:spPr>
          <a:xfrm xmlns:a="http://schemas.openxmlformats.org/drawingml/2006/main">
            <a:off x="9182100" y="24955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E5 higher</a:t>
            </a:r>
          </a:p>
        </p:txBody>
      </p:sp>
      <p:sp>
        <p:nvSpPr>
          <p:cNvPr id="6" name="−0.0195">
            <a:extLst xmlns:a="http://schemas.openxmlformats.org/drawingml/2006/main">
              <a:ext uri="{FF2B5EF4-FFF2-40B4-BE49-F238E27FC236}">
                <a16:creationId xmlns:a16="http://schemas.microsoft.com/office/drawing/2014/main" id="{8DBC1049-3A4C-4BDA-85D1-B4AFF8F11FCE}"/>
              </a:ext>
            </a:extLst>
          </p:cNvPr>
          <p:cNvSpPr>
            <a:spLocks xmlns:a="http://schemas.openxmlformats.org/drawingml/2006/main" noGrp="1"/>
          </p:cNvSpPr>
          <p:nvPr/>
        </p:nvSpPr>
        <p:spPr>
          <a:xfrm xmlns:a="http://schemas.openxmlformats.org/drawingml/2006/main">
            <a:off x="9182100" y="29527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−0.0195</a:t>
            </a:r>
          </a:p>
        </p:txBody>
      </p:sp>
      <p:sp>
        <p:nvSpPr>
          <p:cNvPr id="7" name="K = 10">
            <a:extLst xmlns:a="http://schemas.openxmlformats.org/drawingml/2006/main">
              <a:ext uri="{FF2B5EF4-FFF2-40B4-BE49-F238E27FC236}">
                <a16:creationId xmlns:a16="http://schemas.microsoft.com/office/drawing/2014/main" id="{BC833160-9A67-48B8-A43D-7677BE3159BB}"/>
              </a:ext>
            </a:extLst>
          </p:cNvPr>
          <p:cNvSpPr>
            <a:spLocks xmlns:a="http://schemas.openxmlformats.org/drawingml/2006/main" noGrp="1"/>
          </p:cNvSpPr>
          <p:nvPr/>
        </p:nvSpPr>
        <p:spPr>
          <a:xfrm xmlns:a="http://schemas.openxmlformats.org/drawingml/2006/main">
            <a:off x="9182100" y="36004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10</a:t>
            </a:r>
          </a:p>
        </p:txBody>
      </p:sp>
      <p:sp>
        <p:nvSpPr>
          <p:cNvPr id="8" name="RRF higher">
            <a:extLst xmlns:a="http://schemas.openxmlformats.org/drawingml/2006/main">
              <a:ext uri="{FF2B5EF4-FFF2-40B4-BE49-F238E27FC236}">
                <a16:creationId xmlns:a16="http://schemas.microsoft.com/office/drawing/2014/main" id="{ED4373F9-13A3-42FA-9BCB-AF213EEF30A4}"/>
              </a:ext>
            </a:extLst>
          </p:cNvPr>
          <p:cNvSpPr>
            <a:spLocks xmlns:a="http://schemas.openxmlformats.org/drawingml/2006/main" noGrp="1"/>
          </p:cNvSpPr>
          <p:nvPr/>
        </p:nvSpPr>
        <p:spPr>
          <a:xfrm xmlns:a="http://schemas.openxmlformats.org/drawingml/2006/main">
            <a:off x="9182100" y="42100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RRF higher</a:t>
            </a:r>
          </a:p>
        </p:txBody>
      </p:sp>
      <p:sp>
        <p:nvSpPr>
          <p:cNvPr id="9" name="+0.0088">
            <a:extLst xmlns:a="http://schemas.openxmlformats.org/drawingml/2006/main">
              <a:ext uri="{FF2B5EF4-FFF2-40B4-BE49-F238E27FC236}">
                <a16:creationId xmlns:a16="http://schemas.microsoft.com/office/drawing/2014/main" id="{8DB2549A-56CA-4520-B7FF-0B1A1B6DD7CB}"/>
              </a:ext>
            </a:extLst>
          </p:cNvPr>
          <p:cNvSpPr>
            <a:spLocks xmlns:a="http://schemas.openxmlformats.org/drawingml/2006/main" noGrp="1"/>
          </p:cNvSpPr>
          <p:nvPr/>
        </p:nvSpPr>
        <p:spPr>
          <a:xfrm xmlns:a="http://schemas.openxmlformats.org/drawingml/2006/main">
            <a:off x="9182100" y="46672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+0.0088</a:t>
            </a:r>
          </a:p>
        </p:txBody>
      </p:sp>
      <p:sp>
        <p:nvSpPr>
          <p:cNvPr id="10" name="K = 200">
            <a:extLst xmlns:a="http://schemas.openxmlformats.org/drawingml/2006/main">
              <a:ext uri="{FF2B5EF4-FFF2-40B4-BE49-F238E27FC236}">
                <a16:creationId xmlns:a16="http://schemas.microsoft.com/office/drawing/2014/main" id="{2CFAE29C-875A-4386-A632-4034A00C24BF}"/>
              </a:ext>
            </a:extLst>
          </p:cNvPr>
          <p:cNvSpPr>
            <a:spLocks xmlns:a="http://schemas.openxmlformats.org/drawingml/2006/main" noGrp="1"/>
          </p:cNvSpPr>
          <p:nvPr/>
        </p:nvSpPr>
        <p:spPr>
          <a:xfrm xmlns:a="http://schemas.openxmlformats.org/drawingml/2006/main">
            <a:off x="9182100" y="53149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200</a:t>
            </a:r>
          </a:p>
        </p:txBody>
      </p:sp>
      <p:sp>
        <p:nvSpPr>
          <p:cNvPr id="11" name="Single-judge pseudo-labels. Points with 95% pair">
            <a:extLst xmlns:a="http://schemas.openxmlformats.org/drawingml/2006/main">
              <a:ext uri="{FF2B5EF4-FFF2-40B4-BE49-F238E27FC236}">
                <a16:creationId xmlns:a16="http://schemas.microsoft.com/office/drawing/2014/main" id="{5B0FA296-101B-4827-9C15-28B67AB1D37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15125400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ssessment coverage can reverse a comparison">
            <a:extLst xmlns:a="http://schemas.openxmlformats.org/drawingml/2006/main">
              <a:ext uri="{FF2B5EF4-FFF2-40B4-BE49-F238E27FC236}">
                <a16:creationId xmlns:a16="http://schemas.microsoft.com/office/drawing/2014/main" id="{4F2D9930-765C-4335-99DB-60E2C0209D3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A50452F0-A2C4-44B3-851E-1286F6F26C3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8EA59923-AF64-414D-A23C-69BCB7F39705}"/>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2" name="Chart"/>
          <p:cNvGraphicFramePr/>
          <p:nvPr/>
        </p:nvGraphicFramePr>
        <p:xfrm>
          <a:off xmlns:a="http://schemas.openxmlformats.org/drawingml/2006/main" x="609600" y="26670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999c96b1537d44c8"/>
          </a:graphicData>
        </a:graphic>
      </p:graphicFrame>
      <p:sp>
        <p:nvSpPr>
          <p:cNvPr id="5" name="14.4%">
            <a:extLst xmlns:a="http://schemas.openxmlformats.org/drawingml/2006/main">
              <a:ext uri="{FF2B5EF4-FFF2-40B4-BE49-F238E27FC236}">
                <a16:creationId xmlns:a16="http://schemas.microsoft.com/office/drawing/2014/main" id="{BDDF3A83-AEBC-470F-8247-5C5A04BCB0B3}"/>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eturned RRF pairs&#10;outside the pool&#10;at K = 10">
            <a:extLst xmlns:a="http://schemas.openxmlformats.org/drawingml/2006/main">
              <a:ext uri="{FF2B5EF4-FFF2-40B4-BE49-F238E27FC236}">
                <a16:creationId xmlns:a16="http://schemas.microsoft.com/office/drawing/2014/main" id="{705EE9B2-DAF8-4322-8363-9C838B30CB7B}"/>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returned RRF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7AA89283-F4B1-47EC-8D9C-BFFA97BBD3F4}"/>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RRF minus E5 under pseudo-labels. Unjudged retur">
            <a:extLst xmlns:a="http://schemas.openxmlformats.org/drawingml/2006/main">
              <a:ext uri="{FF2B5EF4-FFF2-40B4-BE49-F238E27FC236}">
                <a16:creationId xmlns:a16="http://schemas.microsoft.com/office/drawing/2014/main" id="{DFC35CC6-AB3E-4061-9241-A6C5E5EC685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6664147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C04532E3-7278-483E-9C17-8AC85AA6939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D603306F-B105-4C9F-8165-D201D86D957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5C95F288-FB43-4EEE-AA95-491F239989A1}"/>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Comparison directions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541A68F-63A0-44E7-A59D-8D2A3B1E731B}"/>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2C75330D-8DE4-41EB-8CC0-B889D0A78C15}"/>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9C355775-666D-4E76-8DD4-14AB7566E8F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039023232"/>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8C5B0DEB-EEA1-4E4D-94FE-821DE3CC014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1862BD60-20B1-4F83-A2AC-BBD5BB829D7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8E9D829D-0FB5-4367-8BB8-BC5C6D6D7B79}"/>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0.488 to 0.879">
            <a:extLst xmlns:a="http://schemas.openxmlformats.org/drawingml/2006/main">
              <a:ext uri="{FF2B5EF4-FFF2-40B4-BE49-F238E27FC236}">
                <a16:creationId xmlns:a16="http://schemas.microsoft.com/office/drawing/2014/main" id="{5DCFAE50-0CA8-48B1-839E-2CB63FFBFE6E}"/>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0.488 to 0.879</a:t>
            </a:r>
          </a:p>
        </p:txBody>
      </p:sp>
      <p:sp>
        <p:nvSpPr>
          <p:cNvPr id="5" name="Same ranking; more complete relevance judgments">
            <a:extLst xmlns:a="http://schemas.openxmlformats.org/drawingml/2006/main">
              <a:ext uri="{FF2B5EF4-FFF2-40B4-BE49-F238E27FC236}">
                <a16:creationId xmlns:a16="http://schemas.microsoft.com/office/drawing/2014/main" id="{26940FE4-38F3-452A-915C-0AB27104A23D}"/>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5E89E3B4-52EE-4FB3-A077-2D7895378BF9}"/>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RF and E5 rankings">
            <a:extLst xmlns:a="http://schemas.openxmlformats.org/drawingml/2006/main">
              <a:ext uri="{FF2B5EF4-FFF2-40B4-BE49-F238E27FC236}">
                <a16:creationId xmlns:a16="http://schemas.microsoft.com/office/drawing/2014/main" id="{33805D28-6019-4652-B2FA-8F34945DACC0}"/>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RRF and E5 rankings</a:t>
            </a:r>
          </a:p>
        </p:txBody>
      </p:sp>
      <p:sp>
        <p:nvSpPr>
          <p:cNvPr id="8" name="Assessment coverage alone can change their order">
            <a:extLst xmlns:a="http://schemas.openxmlformats.org/drawingml/2006/main">
              <a:ext uri="{FF2B5EF4-FFF2-40B4-BE49-F238E27FC236}">
                <a16:creationId xmlns:a16="http://schemas.microsoft.com/office/drawing/2014/main" id="{EAD1C0EF-2C51-4105-8578-C698DA385015}"/>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Assessment coverage alone can change their order</a:t>
            </a:r>
          </a:p>
        </p:txBody>
      </p:sp>
      <p:sp>
        <p:nvSpPr>
          <p:cNvPr id="9" name="English MS MARCO; human judgments and single-jud">
            <a:extLst xmlns:a="http://schemas.openxmlformats.org/drawingml/2006/main">
              <a:ext uri="{FF2B5EF4-FFF2-40B4-BE49-F238E27FC236}">
                <a16:creationId xmlns:a16="http://schemas.microsoft.com/office/drawing/2014/main" id="{6FBB2F2D-55D0-4610-961E-AECEAD86BEC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6892552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4F7C8A6A-3C98-4D5A-848A-6D78187037B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4B0B732C-DB75-4F81-82A8-7FAC906740E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D6E5934E-7CC9-488D-8C39-860F1C9E2F21}"/>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07480040-776B-4744-A405-E537168DCD6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627560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Judge test protocol and observed errors">
            <a:extLst xmlns:a="http://schemas.openxmlformats.org/drawingml/2006/main">
              <a:ext uri="{FF2B5EF4-FFF2-40B4-BE49-F238E27FC236}">
                <a16:creationId xmlns:a16="http://schemas.microsoft.com/office/drawing/2014/main" id="{86028A80-187C-4BC5-B08F-D9CA0F2624F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1A90D64C-2367-4238-AA36-EC7371ECFA1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3C22BDAA-B4AC-4EFE-A6F6-9D651989869C}"/>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2EB173CA-2CFD-41CB-9197-7B2BAFDFE23D}"/>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R w="0">
                      <a:solidFill>
                        <a:srgbClr val="FFFFFF"/>
                      </a:solidFill>
                    </a:lnR>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6" name="Precision 0.851    Recall 0.902    F1 0.875">
            <a:extLst xmlns:a="http://schemas.openxmlformats.org/drawingml/2006/main">
              <a:ext uri="{FF2B5EF4-FFF2-40B4-BE49-F238E27FC236}">
                <a16:creationId xmlns:a16="http://schemas.microsoft.com/office/drawing/2014/main" id="{A0352C95-EA4F-4244-BD23-1791C1E62BFA}"/>
              </a:ext>
            </a:extLst>
          </p:cNvPr>
          <p:cNvSpPr>
            <a:spLocks xmlns:a="http://schemas.openxmlformats.org/drawingml/2006/main" noGrp="1"/>
          </p:cNvSpPr>
          <p:nvPr/>
        </p:nvSpPr>
        <p:spPr>
          <a:xfrm xmlns:a="http://schemas.openxmlformats.org/drawingml/2006/main">
            <a:off x="609600" y="5524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    Recall 0.902    F1 0.875</a:t>
            </a:r>
          </a:p>
        </p:txBody>
      </p:sp>
      <p:sp>
        <p:nvSpPr>
          <p:cNvPr id="7" name="5,002 pairs; six unresolved targets mapped to ze">
            <a:extLst xmlns:a="http://schemas.openxmlformats.org/drawingml/2006/main">
              <a:ext uri="{FF2B5EF4-FFF2-40B4-BE49-F238E27FC236}">
                <a16:creationId xmlns:a16="http://schemas.microsoft.com/office/drawing/2014/main" id="{4965DDA7-B105-4986-9C6B-F670FC68677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4461315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DB42FB79-0C22-4666-9C6A-4AFDE0A3FD0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7ADB0F5C-D6D8-4C4D-8C32-7E9AFB5BF00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70B4D9C6-02F5-4658-A336-B1C375EA59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8306949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nsitivity to query exclusions">
            <a:extLst xmlns:a="http://schemas.openxmlformats.org/drawingml/2006/main">
              <a:ext uri="{FF2B5EF4-FFF2-40B4-BE49-F238E27FC236}">
                <a16:creationId xmlns:a16="http://schemas.microsoft.com/office/drawing/2014/main" id="{4DD65B2E-8670-40A0-A846-364973CCA55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1A62AB9B-E0A5-471A-8655-C67DC77784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graphicFrame>
        <p:nvGraphicFramePr>
          <p:cNvPr id="9" name=""/>
          <p:cNvGraphicFramePr/>
          <p:nvPr/>
        </p:nvGraphicFramePr>
        <p:xfrm>
          <a:off xmlns:a="http://schemas.openxmlformats.org/drawingml/2006/main" x="609600" y="19145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Clean 1,156 queries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Full set without manual queries: N = 99,914">
            <a:extLst xmlns:a="http://schemas.openxmlformats.org/drawingml/2006/main">
              <a:ext uri="{FF2B5EF4-FFF2-40B4-BE49-F238E27FC236}">
                <a16:creationId xmlns:a16="http://schemas.microsoft.com/office/drawing/2014/main" id="{72C2460D-55B4-464D-BC10-25B2B48489A0}"/>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5" name="At K = 200: RRF − E5 = +0.00877">
            <a:extLst xmlns:a="http://schemas.openxmlformats.org/drawingml/2006/main">
              <a:ext uri="{FF2B5EF4-FFF2-40B4-BE49-F238E27FC236}">
                <a16:creationId xmlns:a16="http://schemas.microsoft.com/office/drawing/2014/main" id="{A85D8D3D-107E-4006-BA33-0D29FCD2BC9F}"/>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6" name="Exclusion checks preserve the observed direction">
            <a:extLst xmlns:a="http://schemas.openxmlformats.org/drawingml/2006/main">
              <a:ext uri="{FF2B5EF4-FFF2-40B4-BE49-F238E27FC236}">
                <a16:creationId xmlns:a16="http://schemas.microsoft.com/office/drawing/2014/main" id="{9BBE08AD-EF86-4811-880C-4DE97EB2A9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preserve the observed directions, not independent human validity.</a:t>
            </a:r>
          </a:p>
        </p:txBody>
      </p:sp>
    </p:spTree>
    <p:extLst>
      <p:ext uri="{BB962C8B-B14F-4D97-AF65-F5344CB8AC3E}">
        <p14:creationId xmlns:p14="http://schemas.microsoft.com/office/powerpoint/2010/main" val="3710866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EAC9E51-6986-4759-AD8F-DF3AAC612F6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91BD303D-D5D6-4E7C-B0E1-74F6A3349A1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0677D3A4-8B61-4105-ACCC-DF4CDE6997D0}"/>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6CEE50CA-4757-4712-9B5D-2C7B41BC7348}"/>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E0A7CDBC-A004-4539-951A-7892542FBDBE}"/>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66A40FB3-DCBB-4E9D-B63D-82CB17A7E9C0}"/>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896CC29D-6748-416A-BE31-8F8F16D72BB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422618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