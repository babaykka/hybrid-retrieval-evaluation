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94c4d1d86172461b"/><Relationship Type="http://schemas.openxmlformats.org/officeDocument/2006/relationships/extended-properties" Target="/docProps/app.xml" Id="R4be3a0d41f014161"/><Relationship Type="http://schemas.openxmlformats.org/officeDocument/2006/relationships/officeDocument" Target="/ppt/presentation.xml" Id="Rb1e65bcaf01b463c"/></Relationships>
</file>

<file path=ppt/presentation.xml><?xml version="1.0" encoding="utf-8"?>
<p:presentation xmlns:p="http://schemas.openxmlformats.org/presentationml/2006/main">
  <p:sldMasterIdLst>
    <p:sldMasterId xmlns:r="http://schemas.openxmlformats.org/officeDocument/2006/relationships" id="2147483648" r:id="R6c893b79ec31455d"/>
  </p:sldMasterIdLst>
  <p:notesMasterIdLst>
    <p:notesMasterId xmlns:r="http://schemas.openxmlformats.org/officeDocument/2006/relationships" r:id="Rd9d320520c0349bb"/>
  </p:notesMasterIdLst>
  <p:sldIdLst>
    <p:sldId xmlns:r="http://schemas.openxmlformats.org/officeDocument/2006/relationships" id="256" r:id="R5fe915a99d7c46d2"/>
    <p:sldId xmlns:r="http://schemas.openxmlformats.org/officeDocument/2006/relationships" id="257" r:id="R8a1c146cd1e348d6"/>
    <p:sldId xmlns:r="http://schemas.openxmlformats.org/officeDocument/2006/relationships" id="258" r:id="R87384f175540447e"/>
    <p:sldId xmlns:r="http://schemas.openxmlformats.org/officeDocument/2006/relationships" id="259" r:id="R7c4e437b20ed4bd0"/>
    <p:sldId xmlns:r="http://schemas.openxmlformats.org/officeDocument/2006/relationships" id="260" r:id="Rcfaac3960bcc46b9"/>
    <p:sldId xmlns:r="http://schemas.openxmlformats.org/officeDocument/2006/relationships" id="261" r:id="Rb9da4cde60544a3e"/>
    <p:sldId xmlns:r="http://schemas.openxmlformats.org/officeDocument/2006/relationships" id="262" r:id="R66b96da449af4e65"/>
    <p:sldId xmlns:r="http://schemas.openxmlformats.org/officeDocument/2006/relationships" id="263" r:id="R40f85d4a2b7d40f8"/>
    <p:sldId xmlns:r="http://schemas.openxmlformats.org/officeDocument/2006/relationships" id="264" r:id="Rf14e66c94e0d4873"/>
    <p:sldId xmlns:r="http://schemas.openxmlformats.org/officeDocument/2006/relationships" id="265" r:id="R38603e96a34c45de"/>
    <p:sldId xmlns:r="http://schemas.openxmlformats.org/officeDocument/2006/relationships" id="266" r:id="R58e4cb9d534042ea"/>
    <p:sldId xmlns:r="http://schemas.openxmlformats.org/officeDocument/2006/relationships" id="267" r:id="R8405ebe8a2da49bd"/>
    <p:sldId xmlns:r="http://schemas.openxmlformats.org/officeDocument/2006/relationships" id="268" r:id="R4bb4e248f52d47d1"/>
    <p:sldId xmlns:r="http://schemas.openxmlformats.org/officeDocument/2006/relationships" id="269" r:id="R900031601bba4dd6"/>
    <p:sldId xmlns:r="http://schemas.openxmlformats.org/officeDocument/2006/relationships" id="270" r:id="R6c8c8f2d3ab84693"/>
    <p:sldId xmlns:r="http://schemas.openxmlformats.org/officeDocument/2006/relationships" id="271" r:id="R3b40f1c95ac94c5a"/>
    <p:sldId xmlns:r="http://schemas.openxmlformats.org/officeDocument/2006/relationships" id="272" r:id="Ra6dc97a597cb4377"/>
    <p:sldId xmlns:r="http://schemas.openxmlformats.org/officeDocument/2006/relationships" id="273" r:id="R815988e1bf6f43f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1c9fddaf71e54d87"/><Relationship Type="http://schemas.openxmlformats.org/officeDocument/2006/relationships/slideMaster" Target="/ppt/slideMasters/slideMaster1.xml" Id="R6c893b79ec31455d"/><Relationship Type="http://schemas.openxmlformats.org/officeDocument/2006/relationships/notesMaster" Target="/ppt/notesMasters/notesMaster1.xml" Id="Rd9d320520c0349bb"/><Relationship Type="http://schemas.openxmlformats.org/officeDocument/2006/relationships/presProps" Target="/ppt/presProps.xml" Id="R309c38c3ca1e42e2"/><Relationship Type="http://schemas.openxmlformats.org/officeDocument/2006/relationships/tableStyles" Target="/ppt/tableStyles.xml" Id="Rafd6320cd8584dfa"/><Relationship Type="http://schemas.openxmlformats.org/officeDocument/2006/relationships/slide" Target="/ppt/slides/slide1.xml" Id="R5fe915a99d7c46d2"/><Relationship Type="http://schemas.openxmlformats.org/officeDocument/2006/relationships/slide" Target="/ppt/slides/slide2.xml" Id="R8a1c146cd1e348d6"/><Relationship Type="http://schemas.openxmlformats.org/officeDocument/2006/relationships/slide" Target="/ppt/slides/slide3.xml" Id="R87384f175540447e"/><Relationship Type="http://schemas.openxmlformats.org/officeDocument/2006/relationships/slide" Target="/ppt/slides/slide4.xml" Id="R7c4e437b20ed4bd0"/><Relationship Type="http://schemas.openxmlformats.org/officeDocument/2006/relationships/slide" Target="/ppt/slides/slide5.xml" Id="Rcfaac3960bcc46b9"/><Relationship Type="http://schemas.openxmlformats.org/officeDocument/2006/relationships/slide" Target="/ppt/slides/slide6.xml" Id="Rb9da4cde60544a3e"/><Relationship Type="http://schemas.openxmlformats.org/officeDocument/2006/relationships/slide" Target="/ppt/slides/slide7.xml" Id="R66b96da449af4e65"/><Relationship Type="http://schemas.openxmlformats.org/officeDocument/2006/relationships/slide" Target="/ppt/slides/slide8.xml" Id="R40f85d4a2b7d40f8"/><Relationship Type="http://schemas.openxmlformats.org/officeDocument/2006/relationships/slide" Target="/ppt/slides/slide9.xml" Id="Rf14e66c94e0d4873"/><Relationship Type="http://schemas.openxmlformats.org/officeDocument/2006/relationships/slide" Target="/ppt/slides/slide10.xml" Id="R38603e96a34c45de"/><Relationship Type="http://schemas.openxmlformats.org/officeDocument/2006/relationships/slide" Target="/ppt/slides/slide11.xml" Id="R58e4cb9d534042ea"/><Relationship Type="http://schemas.openxmlformats.org/officeDocument/2006/relationships/slide" Target="/ppt/slides/slide12.xml" Id="R8405ebe8a2da49bd"/><Relationship Type="http://schemas.openxmlformats.org/officeDocument/2006/relationships/slide" Target="/ppt/slides/slide13.xml" Id="R4bb4e248f52d47d1"/><Relationship Type="http://schemas.openxmlformats.org/officeDocument/2006/relationships/slide" Target="/ppt/slides/slide14.xml" Id="R900031601bba4dd6"/><Relationship Type="http://schemas.openxmlformats.org/officeDocument/2006/relationships/slide" Target="/ppt/slides/slide15.xml" Id="R6c8c8f2d3ab84693"/><Relationship Type="http://schemas.openxmlformats.org/officeDocument/2006/relationships/slide" Target="/ppt/slides/slide16.xml" Id="R3b40f1c95ac94c5a"/><Relationship Type="http://schemas.openxmlformats.org/officeDocument/2006/relationships/slide" Target="/ppt/slides/slide17.xml" Id="Ra6dc97a597cb4377"/><Relationship Type="http://schemas.openxmlformats.org/officeDocument/2006/relationships/slide" Target="/ppt/slides/slide18.xml" Id="R815988e1bf6f43f0"/></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b5add6d3d6f64a58"/></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2b1a3e8e16564348"/><Relationship Type="http://schemas.openxmlformats.org/officeDocument/2006/relationships/notesMaster" Target="/ppt/notesMasters/notesMaster1.xml" Id="R66ef063a8174434f"/></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f4d35b503f574fef"/><Relationship Type="http://schemas.openxmlformats.org/officeDocument/2006/relationships/notesMaster" Target="/ppt/notesMasters/notesMaster1.xml" Id="R65523272b13b4c9e"/></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3c871a5eedeb4bd3"/><Relationship Type="http://schemas.openxmlformats.org/officeDocument/2006/relationships/notesMaster" Target="/ppt/notesMasters/notesMaster1.xml" Id="R320d28d726694067"/></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e93c63247ae448c3"/><Relationship Type="http://schemas.openxmlformats.org/officeDocument/2006/relationships/notesMaster" Target="/ppt/notesMasters/notesMaster1.xml" Id="R7dfe60ed6f0b48be"/></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0ca0a9d1543e4633"/><Relationship Type="http://schemas.openxmlformats.org/officeDocument/2006/relationships/notesMaster" Target="/ppt/notesMasters/notesMaster1.xml" Id="R29594a21bcbd40ae"/></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14f475fb3b6a4036"/><Relationship Type="http://schemas.openxmlformats.org/officeDocument/2006/relationships/notesMaster" Target="/ppt/notesMasters/notesMaster1.xml" Id="Rf6351a12bdd94e19"/></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9a3d0bc9d96e46dc"/><Relationship Type="http://schemas.openxmlformats.org/officeDocument/2006/relationships/notesMaster" Target="/ppt/notesMasters/notesMaster1.xml" Id="Rc06ae935a6534ff1"/></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1c752290dc95464f"/><Relationship Type="http://schemas.openxmlformats.org/officeDocument/2006/relationships/notesMaster" Target="/ppt/notesMasters/notesMaster1.xml" Id="Rc28bccbde71c405c"/></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d63ec361d8f94971"/><Relationship Type="http://schemas.openxmlformats.org/officeDocument/2006/relationships/notesMaster" Target="/ppt/notesMasters/notesMaster1.xml" Id="R30512c7fbcf64552"/></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1c8eaa41e8e247a6"/><Relationship Type="http://schemas.openxmlformats.org/officeDocument/2006/relationships/notesMaster" Target="/ppt/notesMasters/notesMaster1.xml" Id="R851bdf97fde94675"/></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d70a8f076bcc4402"/><Relationship Type="http://schemas.openxmlformats.org/officeDocument/2006/relationships/notesMaster" Target="/ppt/notesMasters/notesMaster1.xml" Id="Ra2bd35c26a7f4dd0"/></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936ccc7e9f5a4235"/><Relationship Type="http://schemas.openxmlformats.org/officeDocument/2006/relationships/notesMaster" Target="/ppt/notesMasters/notesMaster1.xml" Id="R94a6827651b8431f"/></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1f80b59c7a574791"/><Relationship Type="http://schemas.openxmlformats.org/officeDocument/2006/relationships/notesMaster" Target="/ppt/notesMasters/notesMaster1.xml" Id="Rc04e19ebb8ec41a0"/></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1ece30cd307f426a"/><Relationship Type="http://schemas.openxmlformats.org/officeDocument/2006/relationships/notesMaster" Target="/ppt/notesMasters/notesMaster1.xml" Id="R2f28b43dfe504e57"/></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bbe03e330dd24298"/><Relationship Type="http://schemas.openxmlformats.org/officeDocument/2006/relationships/notesMaster" Target="/ppt/notesMasters/notesMaster1.xml" Id="Rdfbdc9f6614e4acc"/></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744dcc31132d48b6"/><Relationship Type="http://schemas.openxmlformats.org/officeDocument/2006/relationships/notesMaster" Target="/ppt/notesMasters/notesMaster1.xml" Id="Rc7dfe41443344972"/></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931449be4aed4d43"/><Relationship Type="http://schemas.openxmlformats.org/officeDocument/2006/relationships/notesMaster" Target="/ppt/notesMasters/notesMaster1.xml" Id="R7385b917b72e44a8"/></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060316dbe78f4d8d"/><Relationship Type="http://schemas.openxmlformats.org/officeDocument/2006/relationships/notesMaster" Target="/ppt/notesMasters/notesMaster1.xml" Id="R7302555607e14402"/></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будущей работе планируем проверить,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составляет 0,851, recall 0,902. F1 равен их гармоническому среднему.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Горизонтальная ось показывает разность NDCG RRF минус E5; каждой глубине пула соответствует отдельная строка.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рассчитаны при фиксированных выдачах, баллах судьи и пороге. Неопределённость обучения судьи и ошибки разметки в них не учтены.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Далее планируем проверить более сильных судей и судей с доступом к эталонному фрагменту, используя независимые человеческие оценки.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3b366a565a364b3a"/></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a5d6ade9c4f34cc0"/><Relationship Type="http://schemas.openxmlformats.org/officeDocument/2006/relationships/slideLayout" Target="/ppt/slideLayouts/slideLayout1.xml" Id="Rf16b4305047443ac"/></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16b4305047443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33799c164af04e5c"/><Relationship Type="http://schemas.openxmlformats.org/officeDocument/2006/relationships/image" Target="/ppt/media/image.png" Id="R70e3cd24c92746ca"/><Relationship Type="http://schemas.openxmlformats.org/officeDocument/2006/relationships/notesSlide" Target="/ppt/notesSlides/notesSlide1.xml" Id="R55eebe1b7670450e"/></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a375312362944168"/><Relationship Type="http://schemas.openxmlformats.org/officeDocument/2006/relationships/notesSlide" Target="/ppt/notesSlides/notesSlide2.xml" Id="Rd7220b5e8d47452f"/></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71e0e0b287b34e89"/><Relationship Type="http://schemas.openxmlformats.org/officeDocument/2006/relationships/notesSlide" Target="/ppt/notesSlides/notesSlide3.xml" Id="R00ef51c73b2e436d"/></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d07b552cd1f84d92"/><Relationship Type="http://schemas.openxmlformats.org/officeDocument/2006/relationships/notesSlide" Target="/ppt/notesSlides/notesSlide4.xml" Id="Ra212a14dbdbc4aa0"/></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c5ff408fde4e4cb0"/><Relationship Type="http://schemas.openxmlformats.org/officeDocument/2006/relationships/notesSlide" Target="/ppt/notesSlides/notesSlide5.xml" Id="Rdf162c3327da4662"/></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b324c09be4ae4ff4"/><Relationship Type="http://schemas.openxmlformats.org/officeDocument/2006/relationships/chart" Target="/ppt/slides/charts/chart1.xml" Id="R65b31536d79142a1"/><Relationship Type="http://schemas.openxmlformats.org/officeDocument/2006/relationships/notesSlide" Target="/ppt/notesSlides/notesSlide6.xml" Id="R26a89f29219b4e71"/></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412cbd6c74234bd7"/><Relationship Type="http://schemas.openxmlformats.org/officeDocument/2006/relationships/notesSlide" Target="/ppt/notesSlides/notesSlide7.xml" Id="Rd1c18fd21445496d"/></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db32f91a5e8a49ee"/><Relationship Type="http://schemas.openxmlformats.org/officeDocument/2006/relationships/chart" Target="/ppt/slides/charts/chart2.xml" Id="R3a10f349e98b49bd"/><Relationship Type="http://schemas.openxmlformats.org/officeDocument/2006/relationships/notesSlide" Target="/ppt/notesSlides/notesSlide8.xml" Id="R4aeb430d41ea44a8"/></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f135e99bb9384e78"/><Relationship Type="http://schemas.openxmlformats.org/officeDocument/2006/relationships/chart" Target="/ppt/slides/charts/chart3.xml" Id="R4d6a318e452b4cca"/><Relationship Type="http://schemas.openxmlformats.org/officeDocument/2006/relationships/notesSlide" Target="/ppt/notesSlides/notesSlide9.xml" Id="R8fd172ee0a8342c7"/></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b4ec30e685e3467e"/><Relationship Type="http://schemas.openxmlformats.org/officeDocument/2006/relationships/chart" Target="/ppt/slides/charts/chart4.xml" Id="R888fdfda4ed049a8"/><Relationship Type="http://schemas.openxmlformats.org/officeDocument/2006/relationships/notesSlide" Target="/ppt/notesSlides/notesSlide10.xml" Id="Rce593e6ca0864138"/></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9956dc48043349c5"/><Relationship Type="http://schemas.openxmlformats.org/officeDocument/2006/relationships/chart" Target="/ppt/slides/charts/chart5.xml" Id="R34605d364bf841c3"/><Relationship Type="http://schemas.openxmlformats.org/officeDocument/2006/relationships/notesSlide" Target="/ppt/notesSlides/notesSlide11.xml" Id="R16b5fe2cb32f4079"/></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6c5983dcca424aa6"/><Relationship Type="http://schemas.openxmlformats.org/officeDocument/2006/relationships/notesSlide" Target="/ppt/notesSlides/notesSlide12.xml" Id="Ra008c7db56784ab2"/></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b4a99c4bf0394a76"/><Relationship Type="http://schemas.openxmlformats.org/officeDocument/2006/relationships/notesSlide" Target="/ppt/notesSlides/notesSlide13.xml" Id="R6f7cbd22e8224b28"/></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3fa1f53afb5a4b64"/><Relationship Type="http://schemas.openxmlformats.org/officeDocument/2006/relationships/notesSlide" Target="/ppt/notesSlides/notesSlide14.xml" Id="R4bc518b49a3b4b05"/></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0f25342357d8469b"/><Relationship Type="http://schemas.openxmlformats.org/officeDocument/2006/relationships/notesSlide" Target="/ppt/notesSlides/notesSlide15.xml" Id="R4ec70ab7e38f4001"/></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3edb9c4c81354f71"/><Relationship Type="http://schemas.openxmlformats.org/officeDocument/2006/relationships/notesSlide" Target="/ppt/notesSlides/notesSlide16.xml" Id="Rb336f316e2624e67"/></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8b06f7a06fd44a68"/><Relationship Type="http://schemas.openxmlformats.org/officeDocument/2006/relationships/notesSlide" Target="/ppt/notesSlides/notesSlide17.xml" Id="R4fe2d3d21dbb452a"/></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991015466e6b46f7"/><Relationship Type="http://schemas.openxmlformats.org/officeDocument/2006/relationships/notesSlide" Target="/ppt/notesSlides/notesSlide18.xml" Id="Rc88e100a4e164591"/></Relationships>
</file>

<file path=ppt/slides/charts/chart1.xml><?xml version="1.0" encoding="utf-8"?>
<c:chartSpace xmlns:c="http://schemas.openxmlformats.org/drawingml/2006/chart">
  <c:lang val="en-US"/>
  <c:chart>
    <c:plotArea>
      <c:barChart>
        <c:barDir val="bar"/>
        <c:grouping val="clustered"/>
        <c:varyColors val="0"/>
        <c:ser>
          <c:idx val="0"/>
          <c:order val="0"/>
          <c:tx>
            <c:v>Original qrels</c:v>
          </c:tx>
          <c:spPr>
            <a:solidFill xmlns:a="http://schemas.openxmlformats.org/drawingml/2006/main">
              <a:srgbClr val="70858A"/>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Human judgments</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70858A"/>
              </a:solidFill>
            </a:ln>
          </c:spPr>
          <c:marker>
            <c:symbol val="none"/>
          </c:marker>
          <c:xVal>
            <c:numLit>
              <c:formatCode>General</c:formatCode>
              <c:ptCount val="2"/>
              <c:pt idx="0">
                <c:v>0</c:v>
              </c:pt>
              <c:pt idx="1">
                <c:v>1</c:v>
              </c:pt>
            </c:numLit>
          </c:xVal>
          <c:yVal>
            <c:numLit>
              <c:formatCode>0.000</c:formatCode>
              <c:ptCount val="2"/>
              <c:pt idx="0">
                <c:v>0</c:v>
              </c:pt>
              <c:pt idx="1">
                <c:v>1</c:v>
              </c:pt>
            </c:numLit>
          </c:yVal>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noFill xmlns:a="http://schemas.openxmlformats.org/drawingml/2006/main"/>
            </c:spPr>
          </c:marker>
          <c:xVal>
            <c:numLit>
              <c:formatCode>General</c:formatCode>
              <c:ptCount val="1"/>
              <c:pt idx="0">
                <c:v>0.28017719</c:v>
              </c:pt>
            </c:numLit>
          </c:xVal>
          <c:yVal>
            <c:numLit>
              <c:formatCode>0.000</c:formatCode>
              <c:ptCount val="1"/>
              <c:pt idx="0">
                <c:v>0.90175219</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All candidates</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5240">
              <a:solidFill>
                <a:srgbClr val="70858A"/>
              </a:solidFill>
            </a:ln>
          </c:spPr>
          <c:marker>
            <c:symbol val="none"/>
          </c:marker>
          <c:xVal>
            <c:numLit>
              <c:formatCode>General</c:formatCode>
              <c:ptCount val="2"/>
              <c:pt idx="0">
                <c:v>0</c:v>
              </c:pt>
              <c:pt idx="1">
                <c:v>0</c:v>
              </c:pt>
            </c:numLit>
          </c:xVal>
          <c:yVal>
            <c:numLit>
              <c:formatCode>0.000</c:formatCode>
              <c:ptCount val="2"/>
              <c:pt idx="0">
                <c:v>0.5</c:v>
              </c:pt>
              <c:pt idx="1">
                <c:v>5.5</c:v>
              </c:pt>
            </c:numLit>
          </c:yVal>
        </c:ser>
        <c:ser>
          <c:idx val="1"/>
          <c:order val="1"/>
          <c:tx>
            <c:v>95% paired CI at K=10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-0.02023617</c:v>
              </c:pt>
              <c:pt idx="1">
                <c:v>-0.01882729</c:v>
              </c:pt>
            </c:numLit>
          </c:xVal>
          <c:yVal>
            <c:numLit>
              <c:formatCode>0.000</c:formatCode>
              <c:ptCount val="2"/>
              <c:pt idx="0">
                <c:v>5</c:v>
              </c:pt>
              <c:pt idx="1">
                <c:v>5</c:v>
              </c:pt>
            </c:numLit>
          </c:yVal>
        </c:ser>
        <c:ser>
          <c:idx val="2"/>
          <c:order val="2"/>
          <c:tx>
            <c:v>95% paired CI at K=30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0.01021579</c:v>
              </c:pt>
              <c:pt idx="1">
                <c:v>0.01150741</c:v>
              </c:pt>
            </c:numLit>
          </c:xVal>
          <c:yVal>
            <c:numLit>
              <c:formatCode>0.000</c:formatCode>
              <c:ptCount val="2"/>
              <c:pt idx="0">
                <c:v>4</c:v>
              </c:pt>
              <c:pt idx="1">
                <c:v>4</c:v>
              </c:pt>
            </c:numLit>
          </c:yVal>
        </c:ser>
        <c:ser>
          <c:idx val="3"/>
          <c:order val="3"/>
          <c:tx>
            <c:v>95% paired CI at K=50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0.00784398</c:v>
              </c:pt>
              <c:pt idx="1">
                <c:v>0.00925389</c:v>
              </c:pt>
            </c:numLit>
          </c:xVal>
          <c:yVal>
            <c:numLit>
              <c:formatCode>0.000</c:formatCode>
              <c:ptCount val="2"/>
              <c:pt idx="0">
                <c:v>3</c:v>
              </c:pt>
              <c:pt idx="1">
                <c:v>3</c:v>
              </c:pt>
            </c:numLit>
          </c:yVal>
        </c:ser>
        <c:ser>
          <c:idx val="4"/>
          <c:order val="4"/>
          <c:tx>
            <c:v>95% paired CI at K=100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0.00701006</c:v>
              </c:pt>
              <c:pt idx="1">
                <c:v>0.00843288</c:v>
              </c:pt>
            </c:numLit>
          </c:xVal>
          <c:yVal>
            <c:numLit>
              <c:formatCode>0.000</c:formatCode>
              <c:ptCount val="2"/>
              <c:pt idx="0">
                <c:v>2</c:v>
              </c:pt>
              <c:pt idx="1">
                <c:v>2</c:v>
              </c:pt>
            </c:numLit>
          </c:yVal>
        </c:ser>
        <c:ser>
          <c:idx val="5"/>
          <c:order val="5"/>
          <c:tx>
            <c:v>95% paired CI at K=200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0.0081588</c:v>
              </c:pt>
              <c:pt idx="1">
                <c:v>0.00953703</c:v>
              </c:pt>
            </c:numLit>
          </c:xVal>
          <c:yVal>
            <c:numLit>
              <c:formatCode>0.000</c:formatCode>
              <c:ptCount val="2"/>
              <c:pt idx="0">
                <c:v>1</c:v>
              </c:pt>
              <c:pt idx="1">
                <c:v>1</c:v>
              </c:pt>
            </c:numLit>
          </c:yVal>
        </c:ser>
        <c:ser>
          <c:idx val="6"/>
          <c:order val="6"/>
          <c:tx>
            <c:v>CI lower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-0.02023617</c:v>
              </c:pt>
              <c:pt idx="1">
                <c:v>-0.02023617</c:v>
              </c:pt>
            </c:numLit>
          </c:xVal>
          <c:yVal>
            <c:numLit>
              <c:formatCode>0.000</c:formatCode>
              <c:ptCount val="2"/>
              <c:pt idx="0">
                <c:v>4.935</c:v>
              </c:pt>
              <c:pt idx="1">
                <c:v>5.065</c:v>
              </c:pt>
            </c:numLit>
          </c:yVal>
        </c:ser>
        <c:ser>
          <c:idx val="7"/>
          <c:order val="7"/>
          <c:tx>
            <c:v>CI upper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-0.01882729</c:v>
              </c:pt>
              <c:pt idx="1">
                <c:v>-0.01882729</c:v>
              </c:pt>
            </c:numLit>
          </c:xVal>
          <c:yVal>
            <c:numLit>
              <c:formatCode>0.000</c:formatCode>
              <c:ptCount val="2"/>
              <c:pt idx="0">
                <c:v>4.935</c:v>
              </c:pt>
              <c:pt idx="1">
                <c:v>5.065</c:v>
              </c:pt>
            </c:numLit>
          </c:yVal>
        </c:ser>
        <c:ser>
          <c:idx val="8"/>
          <c:order val="8"/>
          <c:tx>
            <c:v>CI lower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0.01021579</c:v>
              </c:pt>
              <c:pt idx="1">
                <c:v>0.01021579</c:v>
              </c:pt>
            </c:numLit>
          </c:xVal>
          <c:yVal>
            <c:numLit>
              <c:formatCode>0.000</c:formatCode>
              <c:ptCount val="2"/>
              <c:pt idx="0">
                <c:v>3.935</c:v>
              </c:pt>
              <c:pt idx="1">
                <c:v>4.065</c:v>
              </c:pt>
            </c:numLit>
          </c:yVal>
        </c:ser>
        <c:ser>
          <c:idx val="9"/>
          <c:order val="9"/>
          <c:tx>
            <c:v>CI upper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0.01150741</c:v>
              </c:pt>
              <c:pt idx="1">
                <c:v>0.01150741</c:v>
              </c:pt>
            </c:numLit>
          </c:xVal>
          <c:yVal>
            <c:numLit>
              <c:formatCode>0.000</c:formatCode>
              <c:ptCount val="2"/>
              <c:pt idx="0">
                <c:v>3.935</c:v>
              </c:pt>
              <c:pt idx="1">
                <c:v>4.065</c:v>
              </c:pt>
            </c:numLit>
          </c:yVal>
        </c:ser>
        <c:ser>
          <c:idx val="10"/>
          <c:order val="10"/>
          <c:tx>
            <c:v>CI lower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0.00784398</c:v>
              </c:pt>
              <c:pt idx="1">
                <c:v>0.00784398</c:v>
              </c:pt>
            </c:numLit>
          </c:xVal>
          <c:yVal>
            <c:numLit>
              <c:formatCode>0.000</c:formatCode>
              <c:ptCount val="2"/>
              <c:pt idx="0">
                <c:v>2.935</c:v>
              </c:pt>
              <c:pt idx="1">
                <c:v>3.065</c:v>
              </c:pt>
            </c:numLit>
          </c:yVal>
        </c:ser>
        <c:ser>
          <c:idx val="11"/>
          <c:order val="11"/>
          <c:tx>
            <c:v>CI upper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0.00925389</c:v>
              </c:pt>
              <c:pt idx="1">
                <c:v>0.00925389</c:v>
              </c:pt>
            </c:numLit>
          </c:xVal>
          <c:yVal>
            <c:numLit>
              <c:formatCode>0.000</c:formatCode>
              <c:ptCount val="2"/>
              <c:pt idx="0">
                <c:v>2.935</c:v>
              </c:pt>
              <c:pt idx="1">
                <c:v>3.065</c:v>
              </c:pt>
            </c:numLit>
          </c:yVal>
        </c:ser>
        <c:ser>
          <c:idx val="12"/>
          <c:order val="12"/>
          <c:tx>
            <c:v>CI lower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0.00701006</c:v>
              </c:pt>
              <c:pt idx="1">
                <c:v>0.00701006</c:v>
              </c:pt>
            </c:numLit>
          </c:xVal>
          <c:yVal>
            <c:numLit>
              <c:formatCode>0.000</c:formatCode>
              <c:ptCount val="2"/>
              <c:pt idx="0">
                <c:v>1.935</c:v>
              </c:pt>
              <c:pt idx="1">
                <c:v>2.065</c:v>
              </c:pt>
            </c:numLit>
          </c:yVal>
        </c:ser>
        <c:ser>
          <c:idx val="13"/>
          <c:order val="13"/>
          <c:tx>
            <c:v>CI upper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0.00843288</c:v>
              </c:pt>
              <c:pt idx="1">
                <c:v>0.00843288</c:v>
              </c:pt>
            </c:numLit>
          </c:xVal>
          <c:yVal>
            <c:numLit>
              <c:formatCode>0.000</c:formatCode>
              <c:ptCount val="2"/>
              <c:pt idx="0">
                <c:v>1.935</c:v>
              </c:pt>
              <c:pt idx="1">
                <c:v>2.065</c:v>
              </c:pt>
            </c:numLit>
          </c:yVal>
        </c:ser>
        <c:ser>
          <c:idx val="14"/>
          <c:order val="14"/>
          <c:tx>
            <c:v>CI lower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0.0081588</c:v>
              </c:pt>
              <c:pt idx="1">
                <c:v>0.0081588</c:v>
              </c:pt>
            </c:numLit>
          </c:xVal>
          <c:yVal>
            <c:numLit>
              <c:formatCode>0.000</c:formatCode>
              <c:ptCount val="2"/>
              <c:pt idx="0">
                <c:v>0.935</c:v>
              </c:pt>
              <c:pt idx="1">
                <c:v>1.065</c:v>
              </c:pt>
            </c:numLit>
          </c:yVal>
        </c:ser>
        <c:ser>
          <c:idx val="15"/>
          <c:order val="15"/>
          <c:tx>
            <c:v>CI upper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0.00953703</c:v>
              </c:pt>
              <c:pt idx="1">
                <c:v>0.00953703</c:v>
              </c:pt>
            </c:numLit>
          </c:xVal>
          <c:yVal>
            <c:numLit>
              <c:formatCode>0.000</c:formatCode>
              <c:ptCount val="2"/>
              <c:pt idx="0">
                <c:v>0.935</c:v>
              </c:pt>
              <c:pt idx="1">
                <c:v>1.065</c:v>
              </c:pt>
            </c:numLit>
          </c:yVal>
        </c:ser>
        <c:ser>
          <c:idx val="16"/>
          <c:order val="16"/>
          <c:tx>
            <c:v>RRF minus E5 (horizontal)</c:v>
          </c:tx>
          <c:spPr>
            <a:solidFill xmlns:a="http://schemas.openxmlformats.org/drawingml/2006/main">
              <a:srgbClr val="C95236"/>
            </a:solidFill>
            <a:ln xmlns:a="http://schemas.openxmlformats.org/drawingml/2006/main" w="0">
              <a:noFill/>
            </a:ln>
          </c:spPr>
          <c:marker>
            <c:symbol val="circle"/>
            <c:size val="4"/>
            <c:spPr>
              <a:noFill xmlns:a="http://schemas.openxmlformats.org/drawingml/2006/main"/>
            </c:spPr>
          </c:marker>
          <c:xVal>
            <c:numLit>
              <c:formatCode>General</c:formatCode>
              <c:ptCount val="5"/>
              <c:pt idx="0">
                <c:v>-0.01952103</c:v>
              </c:pt>
              <c:pt idx="1">
                <c:v>0.01085768</c:v>
              </c:pt>
              <c:pt idx="2">
                <c:v>0.00854269</c:v>
              </c:pt>
              <c:pt idx="3">
                <c:v>0.00771191</c:v>
              </c:pt>
              <c:pt idx="4">
                <c:v>0.00883193</c:v>
              </c:pt>
            </c:numLit>
          </c:xVal>
          <c:yVal>
            <c:numLit>
              <c:formatCode>0.000</c:formatCode>
              <c:ptCount val="5"/>
              <c:pt idx="0">
                <c:v>5</c:v>
              </c:pt>
              <c:pt idx="1">
                <c:v>4</c:v>
              </c:pt>
              <c:pt idx="2">
                <c:v>3</c:v>
              </c:pt>
              <c:pt idx="3">
                <c:v>2</c:v>
              </c:pt>
              <c:pt idx="4">
                <c:v>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1"/>
      </c:valAx>
      <c:valAx>
        <c:axId val="48650112"/>
        <c:scaling>
          <c:orientation val="minMax"/>
          <c:max val="0.02"/>
          <c:min val="-0.03"/>
        </c:scaling>
        <c:delete val="0"/>
        <c:axPos val="b"/>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NDCG@10 difference (RRF minus E5)</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3335">
              <a:solidFill>
                <a:srgbClr val="70858A"/>
              </a:solidFill>
            </a:ln>
          </c:spPr>
          <c:marker>
            <c:symbol val="none"/>
          </c:marker>
          <c:xVal>
            <c:numLit>
              <c:formatCode>General</c:formatCode>
              <c:ptCount val="2"/>
              <c:pt idx="0">
                <c:v>0</c:v>
              </c:pt>
              <c:pt idx="1">
                <c:v>210</c:v>
              </c:pt>
            </c:numLit>
          </c:xVal>
          <c:yVal>
            <c:numLit>
              <c:formatCode>0.000</c:formatCode>
              <c:ptCount val="2"/>
              <c:pt idx="0">
                <c:v>0</c:v>
              </c:pt>
              <c:pt idx="1">
                <c:v>0</c:v>
              </c:pt>
            </c:numLit>
          </c:yVal>
        </c:ser>
        <c:ser>
          <c:idx val="1"/>
          <c:order val="1"/>
          <c:tx>
            <c:v>95% paired CI at K=10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c:v>
              </c:pt>
              <c:pt idx="1">
                <c:v>10</c:v>
              </c:pt>
            </c:numLit>
          </c:xVal>
          <c:yVal>
            <c:numLit>
              <c:formatCode>0.000</c:formatCode>
              <c:ptCount val="2"/>
              <c:pt idx="0">
                <c:v>-0.06706846</c:v>
              </c:pt>
              <c:pt idx="1">
                <c:v>-0.06516868</c:v>
              </c:pt>
            </c:numLit>
          </c:yVal>
        </c:ser>
        <c:ser>
          <c:idx val="2"/>
          <c:order val="2"/>
          <c:tx>
            <c:v>95% paired CI at K=30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30</c:v>
              </c:pt>
              <c:pt idx="1">
                <c:v>30</c:v>
              </c:pt>
            </c:numLit>
          </c:xVal>
          <c:yVal>
            <c:numLit>
              <c:formatCode>0.000</c:formatCode>
              <c:ptCount val="2"/>
              <c:pt idx="0">
                <c:v>0.00727626</c:v>
              </c:pt>
              <c:pt idx="1">
                <c:v>0.00875623</c:v>
              </c:pt>
            </c:numLit>
          </c:yVal>
        </c:ser>
        <c:ser>
          <c:idx val="3"/>
          <c:order val="3"/>
          <c:tx>
            <c:v>95% paired CI at K=50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50</c:v>
              </c:pt>
              <c:pt idx="1">
                <c:v>50</c:v>
              </c:pt>
            </c:numLit>
          </c:xVal>
          <c:yVal>
            <c:numLit>
              <c:formatCode>0.000</c:formatCode>
              <c:ptCount val="2"/>
              <c:pt idx="0">
                <c:v>0.00828331</c:v>
              </c:pt>
              <c:pt idx="1">
                <c:v>0.0097065</c:v>
              </c:pt>
            </c:numLit>
          </c:yVal>
        </c:ser>
        <c:ser>
          <c:idx val="4"/>
          <c:order val="4"/>
          <c:tx>
            <c:v>95% paired CI at K=100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100</c:v>
              </c:pt>
              <c:pt idx="1">
                <c:v>100</c:v>
              </c:pt>
            </c:numLit>
          </c:xVal>
          <c:yVal>
            <c:numLit>
              <c:formatCode>0.000</c:formatCode>
              <c:ptCount val="2"/>
              <c:pt idx="0">
                <c:v>0.00822793</c:v>
              </c:pt>
              <c:pt idx="1">
                <c:v>0.00962559</c:v>
              </c:pt>
            </c:numLit>
          </c:yVal>
        </c:ser>
        <c:ser>
          <c:idx val="5"/>
          <c:order val="5"/>
          <c:tx>
            <c:v>95% paired CI at K=200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200</c:v>
              </c:pt>
              <c:pt idx="1">
                <c:v>200</c:v>
              </c:pt>
            </c:numLit>
          </c:xVal>
          <c:yVal>
            <c:numLit>
              <c:formatCode>0.000</c:formatCode>
              <c:ptCount val="2"/>
              <c:pt idx="0">
                <c:v>0.0081588</c:v>
              </c:pt>
              <c:pt idx="1">
                <c:v>0.00953703</c:v>
              </c:pt>
            </c:numLit>
          </c:yVal>
        </c:ser>
        <c:ser>
          <c:idx val="6"/>
          <c:order val="6"/>
          <c:tx>
            <c:v>CI lower cap at K=10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8.6</c:v>
              </c:pt>
              <c:pt idx="1">
                <c:v>11.4</c:v>
              </c:pt>
            </c:numLit>
          </c:xVal>
          <c:yVal>
            <c:numLit>
              <c:formatCode>0.000</c:formatCode>
              <c:ptCount val="2"/>
              <c:pt idx="0">
                <c:v>-0.06706846</c:v>
              </c:pt>
              <c:pt idx="1">
                <c:v>-0.06706846</c:v>
              </c:pt>
            </c:numLit>
          </c:yVal>
        </c:ser>
        <c:ser>
          <c:idx val="7"/>
          <c:order val="7"/>
          <c:tx>
            <c:v>CI upper cap at K=10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8.6</c:v>
              </c:pt>
              <c:pt idx="1">
                <c:v>11.4</c:v>
              </c:pt>
            </c:numLit>
          </c:xVal>
          <c:yVal>
            <c:numLit>
              <c:formatCode>0.000</c:formatCode>
              <c:ptCount val="2"/>
              <c:pt idx="0">
                <c:v>-0.06516868</c:v>
              </c:pt>
              <c:pt idx="1">
                <c:v>-0.06516868</c:v>
              </c:pt>
            </c:numLit>
          </c:yVal>
        </c:ser>
        <c:ser>
          <c:idx val="8"/>
          <c:order val="8"/>
          <c:tx>
            <c:v>CI lower cap at K=30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28.6</c:v>
              </c:pt>
              <c:pt idx="1">
                <c:v>31.4</c:v>
              </c:pt>
            </c:numLit>
          </c:xVal>
          <c:yVal>
            <c:numLit>
              <c:formatCode>0.000</c:formatCode>
              <c:ptCount val="2"/>
              <c:pt idx="0">
                <c:v>0.00727626</c:v>
              </c:pt>
              <c:pt idx="1">
                <c:v>0.00727626</c:v>
              </c:pt>
            </c:numLit>
          </c:yVal>
        </c:ser>
        <c:ser>
          <c:idx val="9"/>
          <c:order val="9"/>
          <c:tx>
            <c:v>CI upper cap at K=30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28.6</c:v>
              </c:pt>
              <c:pt idx="1">
                <c:v>31.4</c:v>
              </c:pt>
            </c:numLit>
          </c:xVal>
          <c:yVal>
            <c:numLit>
              <c:formatCode>0.000</c:formatCode>
              <c:ptCount val="2"/>
              <c:pt idx="0">
                <c:v>0.00875623</c:v>
              </c:pt>
              <c:pt idx="1">
                <c:v>0.00875623</c:v>
              </c:pt>
            </c:numLit>
          </c:yVal>
        </c:ser>
        <c:ser>
          <c:idx val="10"/>
          <c:order val="10"/>
          <c:tx>
            <c:v>CI lower cap at K=50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48.6</c:v>
              </c:pt>
              <c:pt idx="1">
                <c:v>51.4</c:v>
              </c:pt>
            </c:numLit>
          </c:xVal>
          <c:yVal>
            <c:numLit>
              <c:formatCode>0.000</c:formatCode>
              <c:ptCount val="2"/>
              <c:pt idx="0">
                <c:v>0.00828331</c:v>
              </c:pt>
              <c:pt idx="1">
                <c:v>0.00828331</c:v>
              </c:pt>
            </c:numLit>
          </c:yVal>
        </c:ser>
        <c:ser>
          <c:idx val="11"/>
          <c:order val="11"/>
          <c:tx>
            <c:v>CI upper cap at K=50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48.6</c:v>
              </c:pt>
              <c:pt idx="1">
                <c:v>51.4</c:v>
              </c:pt>
            </c:numLit>
          </c:xVal>
          <c:yVal>
            <c:numLit>
              <c:formatCode>0.000</c:formatCode>
              <c:ptCount val="2"/>
              <c:pt idx="0">
                <c:v>0.0097065</c:v>
              </c:pt>
              <c:pt idx="1">
                <c:v>0.0097065</c:v>
              </c:pt>
            </c:numLit>
          </c:yVal>
        </c:ser>
        <c:ser>
          <c:idx val="12"/>
          <c:order val="12"/>
          <c:tx>
            <c:v>CI lower cap at K=100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98.6</c:v>
              </c:pt>
              <c:pt idx="1">
                <c:v>101.4</c:v>
              </c:pt>
            </c:numLit>
          </c:xVal>
          <c:yVal>
            <c:numLit>
              <c:formatCode>0.000</c:formatCode>
              <c:ptCount val="2"/>
              <c:pt idx="0">
                <c:v>0.00822793</c:v>
              </c:pt>
              <c:pt idx="1">
                <c:v>0.00822793</c:v>
              </c:pt>
            </c:numLit>
          </c:yVal>
        </c:ser>
        <c:ser>
          <c:idx val="13"/>
          <c:order val="13"/>
          <c:tx>
            <c:v>CI upper cap at K=100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98.6</c:v>
              </c:pt>
              <c:pt idx="1">
                <c:v>101.4</c:v>
              </c:pt>
            </c:numLit>
          </c:xVal>
          <c:yVal>
            <c:numLit>
              <c:formatCode>0.000</c:formatCode>
              <c:ptCount val="2"/>
              <c:pt idx="0">
                <c:v>0.00962559</c:v>
              </c:pt>
              <c:pt idx="1">
                <c:v>0.00962559</c:v>
              </c:pt>
            </c:numLit>
          </c:yVal>
        </c:ser>
        <c:ser>
          <c:idx val="14"/>
          <c:order val="14"/>
          <c:tx>
            <c:v>CI lower cap at K=200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198.6</c:v>
              </c:pt>
              <c:pt idx="1">
                <c:v>201.4</c:v>
              </c:pt>
            </c:numLit>
          </c:xVal>
          <c:yVal>
            <c:numLit>
              <c:formatCode>0.000</c:formatCode>
              <c:ptCount val="2"/>
              <c:pt idx="0">
                <c:v>0.0081588</c:v>
              </c:pt>
              <c:pt idx="1">
                <c:v>0.0081588</c:v>
              </c:pt>
            </c:numLit>
          </c:yVal>
        </c:ser>
        <c:ser>
          <c:idx val="15"/>
          <c:order val="15"/>
          <c:tx>
            <c:v>CI upper cap at K=200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198.6</c:v>
              </c:pt>
              <c:pt idx="1">
                <c:v>201.4</c:v>
              </c:pt>
            </c:numLit>
          </c:xVal>
          <c:yVal>
            <c:numLit>
              <c:formatCode>0.000</c:formatCode>
              <c:ptCount val="2"/>
              <c:pt idx="0">
                <c:v>0.00953703</c:v>
              </c:pt>
              <c:pt idx="1">
                <c:v>0.00953703</c:v>
              </c:pt>
            </c:numLit>
          </c:yVal>
        </c:ser>
        <c:ser>
          <c:idx val="16"/>
          <c:order val="16"/>
          <c:tx>
            <c:v>RRF minus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c:spPr>
          </c:marker>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NDCG@10 gap</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4B43CD9B-6D56-4033-A3C9-A0E9998D9AB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0e3cd24c92746c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3FCABBCE-7E41-4FC8-99F3-615A550916E4}"/>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301C6D34-A837-4506-9A92-724998011DD1}"/>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4E34ECA7-5B56-46C0-ABFC-148919E26226}"/>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B517C2FA-2C8F-4512-8749-DFBC3CAC8970}"/>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9A2FE8EF-B396-4E14-8203-E69DA9C0742B}"/>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8849477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7E976610-291A-488F-80DA-91A0B28ACFA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5C7CFE0F-4052-4409-AEE9-6D0CB5409E0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FB8C9B31-B3FE-4743-B534-5D5CFA1E3195}"/>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R w="0">
                      <a:solidFill>
                        <a:srgbClr val="FFFFFF"/>
                      </a:solidFill>
                    </a:lnR>
                    <a:lnT w="0">
                      <a:solidFill>
                        <a:srgbClr val="FFFFFF"/>
                      </a:solidFill>
                    </a:lnT>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R w="0">
                      <a:solidFill>
                        <a:srgbClr val="FFFFFF"/>
                      </a:solidFill>
                    </a:lnR>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solidFill>
                        <a:srgbClr val="FFFFFF"/>
                      </a:solidFill>
                    </a:lnL>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R w="0">
                      <a:solidFill>
                        <a:srgbClr val="FFFFFF"/>
                      </a:solidFill>
                    </a:lnR>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47321E33-1113-4BFB-9AE3-D50B957E98A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55621194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ta and judgment coverage">
            <a:extLst xmlns:a="http://schemas.openxmlformats.org/drawingml/2006/main">
              <a:ext uri="{FF2B5EF4-FFF2-40B4-BE49-F238E27FC236}">
                <a16:creationId xmlns:a16="http://schemas.microsoft.com/office/drawing/2014/main" id="{BB5E0730-85CD-4889-BDE3-FB4C8DEDB30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Data and judgment coverage</a:t>
            </a:r>
          </a:p>
        </p:txBody>
      </p:sp>
      <p:sp>
        <p:nvSpPr>
          <p:cNvPr id="2" name="03">
            <a:extLst xmlns:a="http://schemas.openxmlformats.org/drawingml/2006/main">
              <a:ext uri="{FF2B5EF4-FFF2-40B4-BE49-F238E27FC236}">
                <a16:creationId xmlns:a16="http://schemas.microsoft.com/office/drawing/2014/main" id="{7C7CA90B-3E42-4F57-BDC4-AF49B0F5A34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4D54BD6C-FB13-467D-9120-5697BA561A4E}"/>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242FA110-4D27-4B22-BA10-924A8B61FBCF}"/>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334F0D8E-F0C7-4043-836D-21B2C4EEB294}"/>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4EB8BBC4-0D61-4EFC-9662-932CBAAABA6A}"/>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10EBA43D-D307-44E5-B988-5793C00BF7DE}"/>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1CEB1346-A953-4BB9-B281-8DAA9C452F8F}"/>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58014A15-6209-46DD-B1F9-814A477DD80F}"/>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6A6DAA8F-9704-4C47-91BB-436FB94DF4EB}"/>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D21CE6B9-6436-4805-BD59-A951990ABF19}"/>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89B0C5EF-BE73-44DC-80F5-61E88A76943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21409038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E06EB027-6063-4471-BD21-DC6C60928A4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1CB04196-00C3-4B55-A7F1-4FB717F0D62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C70C6951-9B4C-4618-A5BE-A2B54A59DF31}"/>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2469442F-4344-448E-BB3D-D8321AAEFC41}"/>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E81C4366-5C61-43A5-A1E9-8847B9D70DA0}"/>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CF0AD41E-2A38-4835-AE46-EBAF57D10889}"/>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Query + candidate +&#10;known relevant answer">
            <a:extLst xmlns:a="http://schemas.openxmlformats.org/drawingml/2006/main">
              <a:ext uri="{FF2B5EF4-FFF2-40B4-BE49-F238E27FC236}">
                <a16:creationId xmlns:a16="http://schemas.microsoft.com/office/drawing/2014/main" id="{173D7F37-DC1F-4F07-A903-E5F5F432822E}"/>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4F1D4B3A-3437-4D82-ABC2-0922577DA2DE}"/>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7AC7611C-E74C-4803-AF57-5FE8F9E114A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11973573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judgments within the same pools">
            <a:extLst xmlns:a="http://schemas.openxmlformats.org/drawingml/2006/main">
              <a:ext uri="{FF2B5EF4-FFF2-40B4-BE49-F238E27FC236}">
                <a16:creationId xmlns:a16="http://schemas.microsoft.com/office/drawing/2014/main" id="{444CCA43-FF54-4CB6-B11D-2F3823C5F95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judgments within the same pools</a:t>
            </a:r>
          </a:p>
        </p:txBody>
      </p:sp>
      <p:sp>
        <p:nvSpPr>
          <p:cNvPr id="2" name="05">
            <a:extLst xmlns:a="http://schemas.openxmlformats.org/drawingml/2006/main">
              <a:ext uri="{FF2B5EF4-FFF2-40B4-BE49-F238E27FC236}">
                <a16:creationId xmlns:a16="http://schemas.microsoft.com/office/drawing/2014/main" id="{798D733D-9A2E-462D-9137-A51B0173C81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ean passages judged relevant per query">
            <a:extLst xmlns:a="http://schemas.openxmlformats.org/drawingml/2006/main">
              <a:ext uri="{FF2B5EF4-FFF2-40B4-BE49-F238E27FC236}">
                <a16:creationId xmlns:a16="http://schemas.microsoft.com/office/drawing/2014/main" id="{84ACAC12-7858-496D-B1B6-C7BDB1A929F6}"/>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Mean passages judged relevant per query</a:t>
            </a:r>
          </a:p>
        </p:txBody>
      </p:sp>
      <p:sp>
        <p:nvSpPr>
          <p:cNvPr id="4" name="1.05">
            <a:extLst xmlns:a="http://schemas.openxmlformats.org/drawingml/2006/main">
              <a:ext uri="{FF2B5EF4-FFF2-40B4-BE49-F238E27FC236}">
                <a16:creationId xmlns:a16="http://schemas.microsoft.com/office/drawing/2014/main" id="{25B6504F-CEE4-4EF7-BF5A-159C833159DB}"/>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1496EA97-2857-4A6C-81B4-0CAC4E5814DE}"/>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065FFFCD-2AA5-4072-B6F7-EB84B9959D7A}"/>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10F4AE7F-861D-446B-9A52-274B5264BDEC}"/>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73594EAD-C2EB-455C-AFB0-66B05381CD0B}"/>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DE928170-6F2F-4CB3-AA6A-265BABCAD3C7}"/>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94D2EDA5-1828-458B-89D9-65E002E7C04A}"/>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C727F764-1239-4546-9D42-C12EDBB3C79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47015444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nser judgments change measured NDCG">
            <a:extLst xmlns:a="http://schemas.openxmlformats.org/drawingml/2006/main">
              <a:ext uri="{FF2B5EF4-FFF2-40B4-BE49-F238E27FC236}">
                <a16:creationId xmlns:a16="http://schemas.microsoft.com/office/drawing/2014/main" id="{0236E1D2-02EE-46AD-85C6-655D1AC7C93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Denser judgments change measured NDCG</a:t>
            </a:r>
          </a:p>
        </p:txBody>
      </p:sp>
      <p:sp>
        <p:nvSpPr>
          <p:cNvPr id="2" name="06">
            <a:extLst xmlns:a="http://schemas.openxmlformats.org/drawingml/2006/main">
              <a:ext uri="{FF2B5EF4-FFF2-40B4-BE49-F238E27FC236}">
                <a16:creationId xmlns:a16="http://schemas.microsoft.com/office/drawing/2014/main" id="{B84A4F8F-1633-481A-8A9F-4FFC5FA3160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graphicFrame>
        <p:nvGraphicFramePr>
          <p:cNvPr id="8" name="Chart"/>
          <p:cNvGraphicFramePr/>
          <p:nvPr/>
        </p:nvGraphicFramePr>
        <p:xfrm>
          <a:off xmlns:a="http://schemas.openxmlformats.org/drawingml/2006/main" x="609600" y="1695450"/>
          <a:ext xmlns:a="http://schemas.openxmlformats.org/drawingml/2006/main" cx="10972800" cy="3762375"/>
        </p:xfrm>
        <a:graphic xmlns:a="http://schemas.openxmlformats.org/drawingml/2006/main">
          <a:graphicData uri="http://schemas.openxmlformats.org/drawingml/2006/chart">
            <c:chart xmlns:r="http://schemas.openxmlformats.org/officeDocument/2006/relationships" xmlns:c="http://schemas.openxmlformats.org/drawingml/2006/chart" r:id="R65b31536d79142a1"/>
          </a:graphicData>
        </a:graphic>
      </p:graphicFrame>
      <p:sp>
        <p:nvSpPr>
          <p:cNvPr id="4" name="E5 paired change: +0.391   95% CI [0.365, 0.417]">
            <a:extLst xmlns:a="http://schemas.openxmlformats.org/drawingml/2006/main">
              <a:ext uri="{FF2B5EF4-FFF2-40B4-BE49-F238E27FC236}">
                <a16:creationId xmlns:a16="http://schemas.microsoft.com/office/drawing/2014/main" id="{D662986B-69AF-42CF-AC8A-9F01721AB26A}"/>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5" name="Pooled NDCG@10. Same rankings; shared ideal deno">
            <a:extLst xmlns:a="http://schemas.openxmlformats.org/drawingml/2006/main">
              <a:ext uri="{FF2B5EF4-FFF2-40B4-BE49-F238E27FC236}">
                <a16:creationId xmlns:a16="http://schemas.microsoft.com/office/drawing/2014/main" id="{CD845E72-AF16-45E6-BB1F-AD0C3A8427A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207266656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compact judge extends label coverage">
            <a:extLst xmlns:a="http://schemas.openxmlformats.org/drawingml/2006/main">
              <a:ext uri="{FF2B5EF4-FFF2-40B4-BE49-F238E27FC236}">
                <a16:creationId xmlns:a16="http://schemas.microsoft.com/office/drawing/2014/main" id="{C94000BE-AD0A-409A-BB99-870DEE0DAC6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BBDC1A12-8C79-4F79-B7FD-52B4FC381DE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71DBE294-C807-41A0-83A7-3884F9AFF053}"/>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MiniLM&#10;cross-encoder">
            <a:extLst xmlns:a="http://schemas.openxmlformats.org/drawingml/2006/main">
              <a:ext uri="{FF2B5EF4-FFF2-40B4-BE49-F238E27FC236}">
                <a16:creationId xmlns:a16="http://schemas.microsoft.com/office/drawing/2014/main" id="{FAAC60B2-F7FB-4A8F-AFB6-AB0C162B3BCF}"/>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5" name="Score&#10;Pseudo-label">
            <a:extLst xmlns:a="http://schemas.openxmlformats.org/drawingml/2006/main">
              <a:ext uri="{FF2B5EF4-FFF2-40B4-BE49-F238E27FC236}">
                <a16:creationId xmlns:a16="http://schemas.microsoft.com/office/drawing/2014/main" id="{94200DA2-DA94-4A06-A9A6-A6708FA46841}"/>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8" name="Jointly scores the two texts">
            <a:extLst xmlns:a="http://schemas.openxmlformats.org/drawingml/2006/main">
              <a:ext uri="{FF2B5EF4-FFF2-40B4-BE49-F238E27FC236}">
                <a16:creationId xmlns:a16="http://schemas.microsoft.com/office/drawing/2014/main" id="{388E144B-9A2D-4E84-9EDA-C05AFC33BEED}"/>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9" name="">
            <a:extLst xmlns:a="http://schemas.openxmlformats.org/drawingml/2006/main">
              <a:ext uri="{FF2B5EF4-FFF2-40B4-BE49-F238E27FC236}">
                <a16:creationId xmlns:a16="http://schemas.microsoft.com/office/drawing/2014/main" id="{620C88B3-417D-413B-B81E-6AAC7236C59A}"/>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0" name="Inputs exclude the reference answer, ranks and r">
            <a:extLst xmlns:a="http://schemas.openxmlformats.org/drawingml/2006/main">
              <a:ext uri="{FF2B5EF4-FFF2-40B4-BE49-F238E27FC236}">
                <a16:creationId xmlns:a16="http://schemas.microsoft.com/office/drawing/2014/main" id="{21D77754-9E04-4303-B825-93E4AEFF73E9}"/>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1" name="Pseudo-labels are model predictions.">
            <a:extLst xmlns:a="http://schemas.openxmlformats.org/drawingml/2006/main">
              <a:ext uri="{FF2B5EF4-FFF2-40B4-BE49-F238E27FC236}">
                <a16:creationId xmlns:a16="http://schemas.microsoft.com/office/drawing/2014/main" id="{96799D96-66F4-42C4-8513-B73173DE036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a:t>
            </a:r>
          </a:p>
        </p:txBody>
      </p:sp>
    </p:spTree>
    <p:extLst>
      <p:ext uri="{BB962C8B-B14F-4D97-AF65-F5344CB8AC3E}">
        <p14:creationId xmlns:p14="http://schemas.microsoft.com/office/powerpoint/2010/main" val="185354625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Judge agreement on held-out queries">
            <a:extLst xmlns:a="http://schemas.openxmlformats.org/drawingml/2006/main">
              <a:ext uri="{FF2B5EF4-FFF2-40B4-BE49-F238E27FC236}">
                <a16:creationId xmlns:a16="http://schemas.microsoft.com/office/drawing/2014/main" id="{58727947-2274-4857-933C-FBAE17A80D6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62F766BF-C9CE-48D0-A83F-1743B8B37B0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graphicFrame>
        <p:nvGraphicFramePr>
          <p:cNvPr id="12" name="Chart"/>
          <p:cNvGraphicFramePr/>
          <p:nvPr/>
        </p:nvGraphicFramePr>
        <p:xfrm>
          <a:off xmlns:a="http://schemas.openxmlformats.org/drawingml/2006/main" x="609600" y="1762125"/>
          <a:ext xmlns:a="http://schemas.openxmlformats.org/drawingml/2006/main" cx="7067550" cy="3914775"/>
        </p:xfrm>
        <a:graphic xmlns:a="http://schemas.openxmlformats.org/drawingml/2006/main">
          <a:graphicData uri="http://schemas.openxmlformats.org/drawingml/2006/chart">
            <c:chart xmlns:r="http://schemas.openxmlformats.org/officeDocument/2006/relationships" xmlns:c="http://schemas.openxmlformats.org/drawingml/2006/chart" r:id="R3a10f349e98b49bd"/>
          </a:graphicData>
        </a:graphic>
      </p:graphicFrame>
      <p:sp>
        <p:nvSpPr>
          <p:cNvPr id="4" name="0.907">
            <a:extLst xmlns:a="http://schemas.openxmlformats.org/drawingml/2006/main">
              <a:ext uri="{FF2B5EF4-FFF2-40B4-BE49-F238E27FC236}">
                <a16:creationId xmlns:a16="http://schemas.microsoft.com/office/drawing/2014/main" id="{CCFA2E2B-4934-49D4-A09D-CA8D8D131BEC}"/>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5" name="ROC-AUC">
            <a:extLst xmlns:a="http://schemas.openxmlformats.org/drawingml/2006/main">
              <a:ext uri="{FF2B5EF4-FFF2-40B4-BE49-F238E27FC236}">
                <a16:creationId xmlns:a16="http://schemas.microsoft.com/office/drawing/2014/main" id="{D55EBA31-8953-4D1D-AAE7-5AD51587125E}"/>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6" name="0.875">
            <a:extLst xmlns:a="http://schemas.openxmlformats.org/drawingml/2006/main">
              <a:ext uri="{FF2B5EF4-FFF2-40B4-BE49-F238E27FC236}">
                <a16:creationId xmlns:a16="http://schemas.microsoft.com/office/drawing/2014/main" id="{54D04BCC-873C-45E8-A372-57769C48DF9A}"/>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7" name="F1 at validation threshold">
            <a:extLst xmlns:a="http://schemas.openxmlformats.org/drawingml/2006/main">
              <a:ext uri="{FF2B5EF4-FFF2-40B4-BE49-F238E27FC236}">
                <a16:creationId xmlns:a16="http://schemas.microsoft.com/office/drawing/2014/main" id="{E9523266-9651-449E-AAF3-C28992F03ECA}"/>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8" name="Marked point: threshold selected on validation q">
            <a:extLst xmlns:a="http://schemas.openxmlformats.org/drawingml/2006/main">
              <a:ext uri="{FF2B5EF4-FFF2-40B4-BE49-F238E27FC236}">
                <a16:creationId xmlns:a16="http://schemas.microsoft.com/office/drawing/2014/main" id="{120B9110-FAE2-40D1-B9F7-36348CE899F6}"/>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Marked point: threshold selected on validation queries</a:t>
            </a:r>
          </a:p>
        </p:txBody>
      </p:sp>
      <p:sp>
        <p:nvSpPr>
          <p:cNvPr id="9" name="177 held-out manual-pool queries; 5,002 pairs. D">
            <a:extLst xmlns:a="http://schemas.openxmlformats.org/drawingml/2006/main">
              <a:ext uri="{FF2B5EF4-FFF2-40B4-BE49-F238E27FC236}">
                <a16:creationId xmlns:a16="http://schemas.microsoft.com/office/drawing/2014/main" id="{8D243CFB-9137-4153-970D-556A3758282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177 held-out manual-pool queries; 5,002 pairs. Deeper pools lack human validation.</a:t>
            </a:r>
          </a:p>
        </p:txBody>
      </p:sp>
    </p:spTree>
    <p:extLst>
      <p:ext uri="{BB962C8B-B14F-4D97-AF65-F5344CB8AC3E}">
        <p14:creationId xmlns:p14="http://schemas.microsoft.com/office/powerpoint/2010/main" val="60953584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arger pools contain more predicted positives">
            <a:extLst xmlns:a="http://schemas.openxmlformats.org/drawingml/2006/main">
              <a:ext uri="{FF2B5EF4-FFF2-40B4-BE49-F238E27FC236}">
                <a16:creationId xmlns:a16="http://schemas.microsoft.com/office/drawing/2014/main" id="{67BE3ABD-D020-4E70-8A2D-5AA442B527A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203D9C97-5EEB-4B88-B56B-0CB65A886DE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Mean passages per query">
            <a:extLst xmlns:a="http://schemas.openxmlformats.org/drawingml/2006/main">
              <a:ext uri="{FF2B5EF4-FFF2-40B4-BE49-F238E27FC236}">
                <a16:creationId xmlns:a16="http://schemas.microsoft.com/office/drawing/2014/main" id="{382C2B78-D68C-41FE-9B60-59003278E550}"/>
              </a:ext>
            </a:extLst>
          </p:cNvPr>
          <p:cNvSpPr>
            <a:spLocks xmlns:a="http://schemas.openxmlformats.org/drawingml/2006/main" noGrp="1"/>
          </p:cNvSpPr>
          <p:nvPr/>
        </p:nvSpPr>
        <p:spPr>
          <a:xfrm xmlns:a="http://schemas.openxmlformats.org/drawingml/2006/main">
            <a:off x="609600" y="16287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Mean passages per query</a:t>
            </a:r>
          </a:p>
        </p:txBody>
      </p:sp>
      <p:graphicFrame>
        <p:nvGraphicFramePr>
          <p:cNvPr id="13" name="Chart"/>
          <p:cNvGraphicFramePr/>
          <p:nvPr/>
        </p:nvGraphicFramePr>
        <p:xfrm>
          <a:off xmlns:a="http://schemas.openxmlformats.org/drawingml/2006/main" x="609600" y="2105025"/>
          <a:ext xmlns:a="http://schemas.openxmlformats.org/drawingml/2006/main" cx="8315325" cy="3571875"/>
        </p:xfrm>
        <a:graphic xmlns:a="http://schemas.openxmlformats.org/drawingml/2006/main">
          <a:graphicData uri="http://schemas.openxmlformats.org/drawingml/2006/chart">
            <c:chart xmlns:r="http://schemas.openxmlformats.org/officeDocument/2006/relationships" xmlns:c="http://schemas.openxmlformats.org/drawingml/2006/chart" r:id="R4d6a318e452b4cca"/>
          </a:graphicData>
        </a:graphic>
      </p:graphicFrame>
      <p:sp>
        <p:nvSpPr>
          <p:cNvPr id="5" name="451.5">
            <a:extLst xmlns:a="http://schemas.openxmlformats.org/drawingml/2006/main">
              <a:ext uri="{FF2B5EF4-FFF2-40B4-BE49-F238E27FC236}">
                <a16:creationId xmlns:a16="http://schemas.microsoft.com/office/drawing/2014/main" id="{2D986C14-5834-4F5C-8A12-294F797BC5E5}"/>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6" name="candidates">
            <a:extLst xmlns:a="http://schemas.openxmlformats.org/drawingml/2006/main">
              <a:ext uri="{FF2B5EF4-FFF2-40B4-BE49-F238E27FC236}">
                <a16:creationId xmlns:a16="http://schemas.microsoft.com/office/drawing/2014/main" id="{2625E95D-7549-4DCC-BB0C-668CB960EA81}"/>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7" name="128.6">
            <a:extLst xmlns:a="http://schemas.openxmlformats.org/drawingml/2006/main">
              <a:ext uri="{FF2B5EF4-FFF2-40B4-BE49-F238E27FC236}">
                <a16:creationId xmlns:a16="http://schemas.microsoft.com/office/drawing/2014/main" id="{044970F9-7648-4F04-A8F1-538233A70218}"/>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8" name="predicted relevant&#10;at K = 200">
            <a:extLst xmlns:a="http://schemas.openxmlformats.org/drawingml/2006/main">
              <a:ext uri="{FF2B5EF4-FFF2-40B4-BE49-F238E27FC236}">
                <a16:creationId xmlns:a16="http://schemas.microsoft.com/office/drawing/2014/main" id="{FD72F328-DA1E-421F-86E6-7581A9201557}"/>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9" name="101,093 queries, including zero-positive pools. ">
            <a:extLst xmlns:a="http://schemas.openxmlformats.org/drawingml/2006/main">
              <a:ext uri="{FF2B5EF4-FFF2-40B4-BE49-F238E27FC236}">
                <a16:creationId xmlns:a16="http://schemas.microsoft.com/office/drawing/2014/main" id="{A71D3222-9911-4BE2-A6A0-0EDD3BBDAAC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37117048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RRF and E5 across pool depths">
            <a:extLst xmlns:a="http://schemas.openxmlformats.org/drawingml/2006/main">
              <a:ext uri="{FF2B5EF4-FFF2-40B4-BE49-F238E27FC236}">
                <a16:creationId xmlns:a16="http://schemas.microsoft.com/office/drawing/2014/main" id="{25BED818-5E34-4B68-B78A-787B9817FCF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RRF and E5 across pool depths</a:t>
            </a:r>
          </a:p>
        </p:txBody>
      </p:sp>
      <p:sp>
        <p:nvSpPr>
          <p:cNvPr id="2" name="10">
            <a:extLst xmlns:a="http://schemas.openxmlformats.org/drawingml/2006/main">
              <a:ext uri="{FF2B5EF4-FFF2-40B4-BE49-F238E27FC236}">
                <a16:creationId xmlns:a16="http://schemas.microsoft.com/office/drawing/2014/main" id="{60E249A9-6562-417A-BEF7-7F632F6002D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RRF(L = K) vs E5. Pool and fusion input depths v">
            <a:extLst xmlns:a="http://schemas.openxmlformats.org/drawingml/2006/main">
              <a:ext uri="{FF2B5EF4-FFF2-40B4-BE49-F238E27FC236}">
                <a16:creationId xmlns:a16="http://schemas.microsoft.com/office/drawing/2014/main" id="{A5C09426-9276-4956-A576-988A6E56EDE3}"/>
              </a:ext>
            </a:extLst>
          </p:cNvPr>
          <p:cNvSpPr>
            <a:spLocks xmlns:a="http://schemas.openxmlformats.org/drawingml/2006/main" noGrp="1"/>
          </p:cNvSpPr>
          <p:nvPr/>
        </p:nvSpPr>
        <p:spPr>
          <a:xfrm xmlns:a="http://schemas.openxmlformats.org/drawingml/2006/main">
            <a:off x="609600" y="1676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RRF(L = K) vs E5. Pool and fusion input depths vary together.</a:t>
            </a:r>
          </a:p>
        </p:txBody>
      </p:sp>
      <p:graphicFrame>
        <p:nvGraphicFramePr>
          <p:cNvPr id="15" name="Chart"/>
          <p:cNvGraphicFramePr/>
          <p:nvPr/>
        </p:nvGraphicFramePr>
        <p:xfrm>
          <a:off xmlns:a="http://schemas.openxmlformats.org/drawingml/2006/main" x="1733550" y="2276475"/>
          <a:ext xmlns:a="http://schemas.openxmlformats.org/drawingml/2006/main" cx="9848850" cy="3267075"/>
        </p:xfrm>
        <a:graphic xmlns:a="http://schemas.openxmlformats.org/drawingml/2006/main">
          <a:graphicData uri="http://schemas.openxmlformats.org/drawingml/2006/chart">
            <c:chart xmlns:r="http://schemas.openxmlformats.org/officeDocument/2006/relationships" xmlns:c="http://schemas.openxmlformats.org/drawingml/2006/chart" r:id="R888fdfda4ed049a8"/>
          </a:graphicData>
        </a:graphic>
      </p:graphicFrame>
      <p:sp>
        <p:nvSpPr>
          <p:cNvPr id="5" name="K = 10">
            <a:extLst xmlns:a="http://schemas.openxmlformats.org/drawingml/2006/main">
              <a:ext uri="{FF2B5EF4-FFF2-40B4-BE49-F238E27FC236}">
                <a16:creationId xmlns:a16="http://schemas.microsoft.com/office/drawing/2014/main" id="{318048D5-A361-4B20-83BF-5F2F7993C94A}"/>
              </a:ext>
            </a:extLst>
          </p:cNvPr>
          <p:cNvSpPr>
            <a:spLocks xmlns:a="http://schemas.openxmlformats.org/drawingml/2006/main" noGrp="1"/>
          </p:cNvSpPr>
          <p:nvPr/>
        </p:nvSpPr>
        <p:spPr>
          <a:xfrm xmlns:a="http://schemas.openxmlformats.org/drawingml/2006/main">
            <a:off x="609600" y="2505075"/>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 10</a:t>
            </a:r>
          </a:p>
        </p:txBody>
      </p:sp>
      <p:sp>
        <p:nvSpPr>
          <p:cNvPr id="6" name="K = 30">
            <a:extLst xmlns:a="http://schemas.openxmlformats.org/drawingml/2006/main">
              <a:ext uri="{FF2B5EF4-FFF2-40B4-BE49-F238E27FC236}">
                <a16:creationId xmlns:a16="http://schemas.microsoft.com/office/drawing/2014/main" id="{C2BFFF2F-DB95-4F6F-9572-634BAB39C3A6}"/>
              </a:ext>
            </a:extLst>
          </p:cNvPr>
          <p:cNvSpPr>
            <a:spLocks xmlns:a="http://schemas.openxmlformats.org/drawingml/2006/main" noGrp="1"/>
          </p:cNvSpPr>
          <p:nvPr/>
        </p:nvSpPr>
        <p:spPr>
          <a:xfrm xmlns:a="http://schemas.openxmlformats.org/drawingml/2006/main">
            <a:off x="609600" y="297180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 30</a:t>
            </a:r>
          </a:p>
        </p:txBody>
      </p:sp>
      <p:sp>
        <p:nvSpPr>
          <p:cNvPr id="7" name="K = 50">
            <a:extLst xmlns:a="http://schemas.openxmlformats.org/drawingml/2006/main">
              <a:ext uri="{FF2B5EF4-FFF2-40B4-BE49-F238E27FC236}">
                <a16:creationId xmlns:a16="http://schemas.microsoft.com/office/drawing/2014/main" id="{626C7EEE-7314-4538-97C4-467C3D19EDCD}"/>
              </a:ext>
            </a:extLst>
          </p:cNvPr>
          <p:cNvSpPr>
            <a:spLocks xmlns:a="http://schemas.openxmlformats.org/drawingml/2006/main" noGrp="1"/>
          </p:cNvSpPr>
          <p:nvPr/>
        </p:nvSpPr>
        <p:spPr>
          <a:xfrm xmlns:a="http://schemas.openxmlformats.org/drawingml/2006/main">
            <a:off x="609600" y="3438525"/>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 50</a:t>
            </a:r>
          </a:p>
        </p:txBody>
      </p:sp>
      <p:sp>
        <p:nvSpPr>
          <p:cNvPr id="8" name="K = 100">
            <a:extLst xmlns:a="http://schemas.openxmlformats.org/drawingml/2006/main">
              <a:ext uri="{FF2B5EF4-FFF2-40B4-BE49-F238E27FC236}">
                <a16:creationId xmlns:a16="http://schemas.microsoft.com/office/drawing/2014/main" id="{D92D6E17-A19D-4A5E-BBFD-6AEE9F9F2C3B}"/>
              </a:ext>
            </a:extLst>
          </p:cNvPr>
          <p:cNvSpPr>
            <a:spLocks xmlns:a="http://schemas.openxmlformats.org/drawingml/2006/main" noGrp="1"/>
          </p:cNvSpPr>
          <p:nvPr/>
        </p:nvSpPr>
        <p:spPr>
          <a:xfrm xmlns:a="http://schemas.openxmlformats.org/drawingml/2006/main">
            <a:off x="609600" y="390525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 100</a:t>
            </a:r>
          </a:p>
        </p:txBody>
      </p:sp>
      <p:sp>
        <p:nvSpPr>
          <p:cNvPr id="9" name="K = 200">
            <a:extLst xmlns:a="http://schemas.openxmlformats.org/drawingml/2006/main">
              <a:ext uri="{FF2B5EF4-FFF2-40B4-BE49-F238E27FC236}">
                <a16:creationId xmlns:a16="http://schemas.microsoft.com/office/drawing/2014/main" id="{94A95C48-093B-42D2-B051-C72E5B928641}"/>
              </a:ext>
            </a:extLst>
          </p:cNvPr>
          <p:cNvSpPr>
            <a:spLocks xmlns:a="http://schemas.openxmlformats.org/drawingml/2006/main" noGrp="1"/>
          </p:cNvSpPr>
          <p:nvPr/>
        </p:nvSpPr>
        <p:spPr>
          <a:xfrm xmlns:a="http://schemas.openxmlformats.org/drawingml/2006/main">
            <a:off x="609600" y="4371975"/>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 200</a:t>
            </a:r>
          </a:p>
        </p:txBody>
      </p:sp>
      <p:sp>
        <p:nvSpPr>
          <p:cNvPr id="10" name="K = 200: +0.0088   95% CI [0.0082, 0.0095]">
            <a:extLst xmlns:a="http://schemas.openxmlformats.org/drawingml/2006/main">
              <a:ext uri="{FF2B5EF4-FFF2-40B4-BE49-F238E27FC236}">
                <a16:creationId xmlns:a16="http://schemas.microsoft.com/office/drawing/2014/main" id="{BB11F3D9-20B8-465A-83E1-D9136C9DD234}"/>
              </a:ext>
            </a:extLst>
          </p:cNvPr>
          <p:cNvSpPr>
            <a:spLocks xmlns:a="http://schemas.openxmlformats.org/drawingml/2006/main" noGrp="1"/>
          </p:cNvSpPr>
          <p:nvPr/>
        </p:nvSpPr>
        <p:spPr>
          <a:xfrm xmlns:a="http://schemas.openxmlformats.org/drawingml/2006/main">
            <a:off x="609600" y="56483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95236"/>
                </a:solidFill>
                <a:latin typeface="Arial"/>
                <a:ea typeface="Arial"/>
                <a:cs typeface="Arial"/>
              </a:defRPr>
            </a:pPr>
            <a:r>
              <a:rPr sz="2100" b="1">
                <a:solidFill>
                  <a:srgbClr val="C95236"/>
                </a:solidFill>
                <a:latin typeface="Arial"/>
                <a:ea typeface="Arial"/>
                <a:cs typeface="Arial"/>
              </a:rPr>
              <a:t>K = 200: +0.0088   95% CI [0.0082, 0.0095]</a:t>
            </a:r>
          </a:p>
        </p:txBody>
      </p:sp>
      <p:sp>
        <p:nvSpPr>
          <p:cNvPr id="11" name="Single-judge pseudo-labels. Mean differences wit">
            <a:extLst xmlns:a="http://schemas.openxmlformats.org/drawingml/2006/main">
              <a:ext uri="{FF2B5EF4-FFF2-40B4-BE49-F238E27FC236}">
                <a16:creationId xmlns:a16="http://schemas.microsoft.com/office/drawing/2014/main" id="{F40DCE8C-EA3F-4899-9BA3-23569328D09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Mean differences with 95% paired query-bootstrap intervals.</a:t>
            </a:r>
          </a:p>
        </p:txBody>
      </p:sp>
    </p:spTree>
    <p:extLst>
      <p:ext uri="{BB962C8B-B14F-4D97-AF65-F5344CB8AC3E}">
        <p14:creationId xmlns:p14="http://schemas.microsoft.com/office/powerpoint/2010/main" val="66419025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ool coverage can reverse a comparison">
            <a:extLst xmlns:a="http://schemas.openxmlformats.org/drawingml/2006/main">
              <a:ext uri="{FF2B5EF4-FFF2-40B4-BE49-F238E27FC236}">
                <a16:creationId xmlns:a16="http://schemas.microsoft.com/office/drawing/2014/main" id="{466E3207-D853-4F0C-9B7E-44F88015492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Pool coverage can reverse a comparison</a:t>
            </a:r>
          </a:p>
        </p:txBody>
      </p:sp>
      <p:sp>
        <p:nvSpPr>
          <p:cNvPr id="2" name="11">
            <a:extLst xmlns:a="http://schemas.openxmlformats.org/drawingml/2006/main">
              <a:ext uri="{FF2B5EF4-FFF2-40B4-BE49-F238E27FC236}">
                <a16:creationId xmlns:a16="http://schemas.microsoft.com/office/drawing/2014/main" id="{853A69D0-4BE8-4722-945E-614F93D7F68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Fixed RRF inputs: top 200. Both rankings remain ">
            <a:extLst xmlns:a="http://schemas.openxmlformats.org/drawingml/2006/main">
              <a:ext uri="{FF2B5EF4-FFF2-40B4-BE49-F238E27FC236}">
                <a16:creationId xmlns:a16="http://schemas.microsoft.com/office/drawing/2014/main" id="{EB3959C7-C89F-4D0D-AC9D-8E601F6CA681}"/>
              </a:ext>
            </a:extLst>
          </p:cNvPr>
          <p:cNvSpPr>
            <a:spLocks xmlns:a="http://schemas.openxmlformats.org/drawingml/2006/main" noGrp="1"/>
          </p:cNvSpPr>
          <p:nvPr/>
        </p:nvSpPr>
        <p:spPr>
          <a:xfrm xmlns:a="http://schemas.openxmlformats.org/drawingml/2006/main">
            <a:off x="609600" y="16764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Fixed RRF inputs: top 200. Both rankings remain unchanged.</a:t>
            </a:r>
          </a:p>
        </p:txBody>
      </p:sp>
      <p:graphicFrame>
        <p:nvGraphicFramePr>
          <p:cNvPr id="14"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34605d364bf841c3"/>
          </a:graphicData>
        </a:graphic>
      </p:graphicFrame>
      <p:sp>
        <p:nvSpPr>
          <p:cNvPr id="5" name="14.4%">
            <a:extLst xmlns:a="http://schemas.openxmlformats.org/drawingml/2006/main">
              <a:ext uri="{FF2B5EF4-FFF2-40B4-BE49-F238E27FC236}">
                <a16:creationId xmlns:a16="http://schemas.microsoft.com/office/drawing/2014/main" id="{64D834C2-5EAB-4A6A-8841-6978DB2950C2}"/>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6" name="of RRF top-10 pairs&#10;outside the pool&#10;at K = 10">
            <a:extLst xmlns:a="http://schemas.openxmlformats.org/drawingml/2006/main">
              <a:ext uri="{FF2B5EF4-FFF2-40B4-BE49-F238E27FC236}">
                <a16:creationId xmlns:a16="http://schemas.microsoft.com/office/drawing/2014/main" id="{A1FD44BB-7B16-4013-866A-35ADC466F3F0}"/>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RRF top-10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7" name="145,643 query–passage pairs">
            <a:extLst xmlns:a="http://schemas.openxmlformats.org/drawingml/2006/main">
              <a:ext uri="{FF2B5EF4-FFF2-40B4-BE49-F238E27FC236}">
                <a16:creationId xmlns:a16="http://schemas.microsoft.com/office/drawing/2014/main" id="{D63939BD-F77D-49C5-8205-71D026A5F43C}"/>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8" name="K = 10: −0.0661">
            <a:extLst xmlns:a="http://schemas.openxmlformats.org/drawingml/2006/main">
              <a:ext uri="{FF2B5EF4-FFF2-40B4-BE49-F238E27FC236}">
                <a16:creationId xmlns:a16="http://schemas.microsoft.com/office/drawing/2014/main" id="{A4FE4721-1AE2-4F38-9E2A-873E2837CA81}"/>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9" name="K = 30: +0.0080">
            <a:extLst xmlns:a="http://schemas.openxmlformats.org/drawingml/2006/main">
              <a:ext uri="{FF2B5EF4-FFF2-40B4-BE49-F238E27FC236}">
                <a16:creationId xmlns:a16="http://schemas.microsoft.com/office/drawing/2014/main" id="{83177271-3B30-4D0D-8C9D-13DF213885CD}"/>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0" name="RRF minus E5 under pseudo-labels. Unjudged retur">
            <a:extLst xmlns:a="http://schemas.openxmlformats.org/drawingml/2006/main">
              <a:ext uri="{FF2B5EF4-FFF2-40B4-BE49-F238E27FC236}">
                <a16:creationId xmlns:a16="http://schemas.microsoft.com/office/drawing/2014/main" id="{D8863A91-00D9-4BE7-B1BB-A676A259508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RRF minus E5 under pseudo-labels. Unjudged returned passages receive zero gain.</a:t>
            </a:r>
          </a:p>
        </p:txBody>
      </p:sp>
    </p:spTree>
    <p:extLst>
      <p:ext uri="{BB962C8B-B14F-4D97-AF65-F5344CB8AC3E}">
        <p14:creationId xmlns:p14="http://schemas.microsoft.com/office/powerpoint/2010/main" val="46004821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cope and robustness">
            <a:extLst xmlns:a="http://schemas.openxmlformats.org/drawingml/2006/main">
              <a:ext uri="{FF2B5EF4-FFF2-40B4-BE49-F238E27FC236}">
                <a16:creationId xmlns:a16="http://schemas.microsoft.com/office/drawing/2014/main" id="{13331B24-939A-4D0C-B550-2ADD46E4924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446AA98B-EDF3-46AA-8F1F-0DBE4067E24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ensitivity checks">
            <a:extLst xmlns:a="http://schemas.openxmlformats.org/drawingml/2006/main">
              <a:ext uri="{FF2B5EF4-FFF2-40B4-BE49-F238E27FC236}">
                <a16:creationId xmlns:a16="http://schemas.microsoft.com/office/drawing/2014/main" id="{306E9234-E805-4C9F-B42C-6E98535C39C9}"/>
              </a:ext>
            </a:extLst>
          </p:cNvPr>
          <p:cNvSpPr>
            <a:spLocks xmlns:a="http://schemas.openxmlformats.org/drawingml/2006/main" noGrp="1"/>
          </p:cNvSpPr>
          <p:nvPr/>
        </p:nvSpPr>
        <p:spPr>
          <a:xfrm xmlns:a="http://schemas.openxmlformats.org/drawingml/2006/main">
            <a:off x="6096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Sensitivity checks</a:t>
            </a:r>
          </a:p>
        </p:txBody>
      </p:sp>
      <p:graphicFrame>
        <p:nvGraphicFramePr>
          <p:cNvPr id="11" name=""/>
          <p:cNvGraphicFramePr/>
          <p:nvPr/>
        </p:nvGraphicFramePr>
        <p:xfrm>
          <a:off xmlns:a="http://schemas.openxmlformats.org/drawingml/2006/main" x="609600" y="23812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R w="0">
                      <a:solidFill>
                        <a:srgbClr val="FFFFFF"/>
                      </a:solidFill>
                    </a:lnR>
                    <a:lnT w="0">
                      <a:solidFill>
                        <a:srgbClr val="FFFFFF"/>
                      </a:solidFill>
                    </a:lnT>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R w="0">
                      <a:solidFill>
                        <a:srgbClr val="FFFFFF"/>
                      </a:solidFill>
                    </a:lnR>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Signs of RRF–E5 differences unchanged</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5DC70A5-DF85-4C4B-92C6-8E62BDB8B61E}"/>
              </a:ext>
            </a:extLst>
          </p:cNvPr>
          <p:cNvSpPr>
            <a:spLocks xmlns:a="http://schemas.openxmlformats.org/drawingml/2006/main" noGrp="1"/>
          </p:cNvSpPr>
          <p:nvPr/>
        </p:nvSpPr>
        <p:spPr>
          <a:xfrm xmlns:a="http://schemas.openxmlformats.org/drawingml/2006/main">
            <a:off x="609600" y="4924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Inter-assessor agreement is unmeasured.&#10;Full-set">
            <a:extLst xmlns:a="http://schemas.openxmlformats.org/drawingml/2006/main">
              <a:ext uri="{FF2B5EF4-FFF2-40B4-BE49-F238E27FC236}">
                <a16:creationId xmlns:a16="http://schemas.microsoft.com/office/drawing/2014/main" id="{86A7C535-8023-4EEA-91E7-ED9C98A7A829}"/>
              </a:ext>
            </a:extLst>
          </p:cNvPr>
          <p:cNvSpPr>
            <a:spLocks xmlns:a="http://schemas.openxmlformats.org/drawingml/2006/main" noGrp="1"/>
          </p:cNvSpPr>
          <p:nvPr/>
        </p:nvSpPr>
        <p:spPr>
          <a:xfrm xmlns:a="http://schemas.openxmlformats.org/drawingml/2006/main">
            <a:off x="609600" y="52387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Inter-assessor agreement is unmeasured.</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Full-set results lack independent human validation.</a:t>
            </a:r>
          </a:p>
        </p:txBody>
      </p:sp>
      <p:sp>
        <p:nvSpPr>
          <p:cNvPr id="7" name="Evidence concerns selected English MS MARCO pool">
            <a:extLst xmlns:a="http://schemas.openxmlformats.org/drawingml/2006/main">
              <a:ext uri="{FF2B5EF4-FFF2-40B4-BE49-F238E27FC236}">
                <a16:creationId xmlns:a16="http://schemas.microsoft.com/office/drawing/2014/main" id="{A688B501-BAC1-4A85-BEED-DE72D54AA2E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Evidence concerns selected English MS MARCO pools and one judge.</a:t>
            </a:r>
          </a:p>
        </p:txBody>
      </p:sp>
    </p:spTree>
    <p:extLst>
      <p:ext uri="{BB962C8B-B14F-4D97-AF65-F5344CB8AC3E}">
        <p14:creationId xmlns:p14="http://schemas.microsoft.com/office/powerpoint/2010/main" val="1704803505"/>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0" name="Judgment coverage affects retrieval evaluation">
            <a:extLst xmlns:a="http://schemas.openxmlformats.org/drawingml/2006/main">
              <a:ext uri="{FF2B5EF4-FFF2-40B4-BE49-F238E27FC236}">
                <a16:creationId xmlns:a16="http://schemas.microsoft.com/office/drawing/2014/main" id="{02309CCF-303D-44E6-8BD4-93EC3F46F5D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54781D7C-7CE8-49FE-BA55-EC07EC138D9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E1E1FE8A-5B32-43A0-8728-4C341B21AB33}"/>
              </a:ext>
            </a:extLst>
          </p:cNvPr>
          <p:cNvSpPr>
            <a:spLocks xmlns:a="http://schemas.openxmlformats.org/drawingml/2006/main" noGrp="1"/>
          </p:cNvSpPr>
          <p:nvPr/>
        </p:nvSpPr>
        <p:spPr>
          <a:xfrm xmlns:a="http://schemas.openxmlformats.org/drawingml/2006/main">
            <a:off x="609600" y="196215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ACEC4"/>
                </a:solidFill>
                <a:latin typeface="Arial"/>
                <a:ea typeface="Arial"/>
                <a:cs typeface="Arial"/>
              </a:defRPr>
            </a:pPr>
            <a:r>
              <a:rPr sz="2400" b="1">
                <a:solidFill>
                  <a:srgbClr val="8ACEC4"/>
                </a:solidFill>
                <a:latin typeface="Arial"/>
                <a:ea typeface="Arial"/>
                <a:cs typeface="Arial"/>
              </a:rPr>
              <a:t>Human judgments</a:t>
            </a:r>
          </a:p>
        </p:txBody>
      </p:sp>
      <p:sp>
        <p:nvSpPr>
          <p:cNvPr id="4" name="E5 NDCG@10: 0.488 to 0.879">
            <a:extLst xmlns:a="http://schemas.openxmlformats.org/drawingml/2006/main">
              <a:ext uri="{FF2B5EF4-FFF2-40B4-BE49-F238E27FC236}">
                <a16:creationId xmlns:a16="http://schemas.microsoft.com/office/drawing/2014/main" id="{9E7C3729-FDDD-4198-A07A-8B1A62885A30}"/>
              </a:ext>
            </a:extLst>
          </p:cNvPr>
          <p:cNvSpPr>
            <a:spLocks xmlns:a="http://schemas.openxmlformats.org/drawingml/2006/main" noGrp="1"/>
          </p:cNvSpPr>
          <p:nvPr/>
        </p:nvSpPr>
        <p:spPr>
          <a:xfrm xmlns:a="http://schemas.openxmlformats.org/drawingml/2006/main">
            <a:off x="609600" y="262890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0.488 to 0.879</a:t>
            </a:r>
          </a:p>
        </p:txBody>
      </p:sp>
      <p:sp>
        <p:nvSpPr>
          <p:cNvPr id="5" name="Same ranking; more complete relevance judgments">
            <a:extLst xmlns:a="http://schemas.openxmlformats.org/drawingml/2006/main">
              <a:ext uri="{FF2B5EF4-FFF2-40B4-BE49-F238E27FC236}">
                <a16:creationId xmlns:a16="http://schemas.microsoft.com/office/drawing/2014/main" id="{EA7ADF9B-2917-42A8-92CA-B4612F86A2BA}"/>
              </a:ext>
            </a:extLst>
          </p:cNvPr>
          <p:cNvSpPr>
            <a:spLocks xmlns:a="http://schemas.openxmlformats.org/drawingml/2006/main" noGrp="1"/>
          </p:cNvSpPr>
          <p:nvPr/>
        </p:nvSpPr>
        <p:spPr>
          <a:xfrm xmlns:a="http://schemas.openxmlformats.org/drawingml/2006/main">
            <a:off x="609600" y="34575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4F33253D-38BC-49F1-AB62-3BCE24DFF1B6}"/>
              </a:ext>
            </a:extLst>
          </p:cNvPr>
          <p:cNvSpPr>
            <a:spLocks xmlns:a="http://schemas.openxmlformats.org/drawingml/2006/main" noGrp="1"/>
          </p:cNvSpPr>
          <p:nvPr/>
        </p:nvSpPr>
        <p:spPr>
          <a:xfrm xmlns:a="http://schemas.openxmlformats.org/drawingml/2006/main">
            <a:off x="609600" y="423862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ankings; single-judge pseudo-labels">
            <a:extLst xmlns:a="http://schemas.openxmlformats.org/drawingml/2006/main">
              <a:ext uri="{FF2B5EF4-FFF2-40B4-BE49-F238E27FC236}">
                <a16:creationId xmlns:a16="http://schemas.microsoft.com/office/drawing/2014/main" id="{690598AD-8C8E-4A82-93C2-3BB98A485244}"/>
              </a:ext>
            </a:extLst>
          </p:cNvPr>
          <p:cNvSpPr>
            <a:spLocks xmlns:a="http://schemas.openxmlformats.org/drawingml/2006/main" noGrp="1"/>
          </p:cNvSpPr>
          <p:nvPr/>
        </p:nvSpPr>
        <p:spPr>
          <a:xfrm xmlns:a="http://schemas.openxmlformats.org/drawingml/2006/main">
            <a:off x="609600" y="4619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8ACEC4"/>
                </a:solidFill>
                <a:latin typeface="Arial"/>
                <a:ea typeface="Arial"/>
                <a:cs typeface="Arial"/>
              </a:defRPr>
            </a:pPr>
            <a:r>
              <a:rPr sz="2550" b="1">
                <a:solidFill>
                  <a:srgbClr val="8ACEC4"/>
                </a:solidFill>
                <a:latin typeface="Arial"/>
                <a:ea typeface="Arial"/>
                <a:cs typeface="Arial"/>
              </a:rPr>
              <a:t>Fixed rankings; single-judge pseudo-labels</a:t>
            </a:r>
          </a:p>
        </p:txBody>
      </p:sp>
      <p:sp>
        <p:nvSpPr>
          <p:cNvPr id="8" name="The judgment pool can change which system scores">
            <a:extLst xmlns:a="http://schemas.openxmlformats.org/drawingml/2006/main">
              <a:ext uri="{FF2B5EF4-FFF2-40B4-BE49-F238E27FC236}">
                <a16:creationId xmlns:a16="http://schemas.microsoft.com/office/drawing/2014/main" id="{5F9524AF-E053-4DDA-A8BA-E4D8A7BC25B2}"/>
              </a:ext>
            </a:extLst>
          </p:cNvPr>
          <p:cNvSpPr>
            <a:spLocks xmlns:a="http://schemas.openxmlformats.org/drawingml/2006/main" noGrp="1"/>
          </p:cNvSpPr>
          <p:nvPr/>
        </p:nvSpPr>
        <p:spPr>
          <a:xfrm xmlns:a="http://schemas.openxmlformats.org/drawingml/2006/main">
            <a:off x="609600" y="52482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The judgment pool can change which system scores higher</a:t>
            </a:r>
          </a:p>
        </p:txBody>
      </p:sp>
      <p:sp>
        <p:nvSpPr>
          <p:cNvPr id="9" name="Evidence from selected English MS MARCO candidat">
            <a:extLst xmlns:a="http://schemas.openxmlformats.org/drawingml/2006/main">
              <a:ext uri="{FF2B5EF4-FFF2-40B4-BE49-F238E27FC236}">
                <a16:creationId xmlns:a16="http://schemas.microsoft.com/office/drawing/2014/main" id="{9CE2FCE6-4A79-4653-A057-2E1151CC0F3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Evidence from selected English MS MARCO candidate pools.</a:t>
            </a:r>
          </a:p>
        </p:txBody>
      </p:sp>
    </p:spTree>
    <p:extLst>
      <p:ext uri="{BB962C8B-B14F-4D97-AF65-F5344CB8AC3E}">
        <p14:creationId xmlns:p14="http://schemas.microsoft.com/office/powerpoint/2010/main" val="14338583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CCEE2416-9DF8-4655-B80C-6C0A7DF1DD7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94F462EC-969A-4777-BC47-A0670667E7D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EED159D5-F702-4314-872B-DCE4727CFE8C}"/>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R w="0">
                      <a:solidFill>
                        <a:srgbClr val="FFFFFF"/>
                      </a:solidFill>
                    </a:lnR>
                    <a:lnT w="0">
                      <a:solidFill>
                        <a:srgbClr val="FFFFFF"/>
                      </a:solidFill>
                    </a:lnT>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D00D5C01-D163-4C30-8C64-2D5B248451A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125965089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Judge test protocol and observed errors">
            <a:extLst xmlns:a="http://schemas.openxmlformats.org/drawingml/2006/main">
              <a:ext uri="{FF2B5EF4-FFF2-40B4-BE49-F238E27FC236}">
                <a16:creationId xmlns:a16="http://schemas.microsoft.com/office/drawing/2014/main" id="{38C836DF-9736-40DD-90C6-B2E0D0A7F1A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D57E93BF-2FB6-4569-A37C-2CE16EF0DAB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Train queries">
            <a:extLst xmlns:a="http://schemas.openxmlformats.org/drawingml/2006/main">
              <a:ext uri="{FF2B5EF4-FFF2-40B4-BE49-F238E27FC236}">
                <a16:creationId xmlns:a16="http://schemas.microsoft.com/office/drawing/2014/main" id="{F79242BC-FC12-4756-8ADA-EC54435A9872}"/>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Train queries</a:t>
            </a:r>
          </a:p>
        </p:txBody>
      </p:sp>
      <p:sp>
        <p:nvSpPr>
          <p:cNvPr id="4" name="825">
            <a:extLst xmlns:a="http://schemas.openxmlformats.org/drawingml/2006/main">
              <a:ext uri="{FF2B5EF4-FFF2-40B4-BE49-F238E27FC236}">
                <a16:creationId xmlns:a16="http://schemas.microsoft.com/office/drawing/2014/main" id="{9C51B548-9F13-451C-B6C0-8F0B6F23AE7C}"/>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Validation queries">
            <a:extLst xmlns:a="http://schemas.openxmlformats.org/drawingml/2006/main">
              <a:ext uri="{FF2B5EF4-FFF2-40B4-BE49-F238E27FC236}">
                <a16:creationId xmlns:a16="http://schemas.microsoft.com/office/drawing/2014/main" id="{C6D9F3A6-F528-4DCB-8DD2-09421308061F}"/>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Validation queries</a:t>
            </a:r>
          </a:p>
        </p:txBody>
      </p:sp>
      <p:sp>
        <p:nvSpPr>
          <p:cNvPr id="6" name="177">
            <a:extLst xmlns:a="http://schemas.openxmlformats.org/drawingml/2006/main">
              <a:ext uri="{FF2B5EF4-FFF2-40B4-BE49-F238E27FC236}">
                <a16:creationId xmlns:a16="http://schemas.microsoft.com/office/drawing/2014/main" id="{8DD0FBA7-44C2-45C0-8032-480A8B03A934}"/>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Test queries">
            <a:extLst xmlns:a="http://schemas.openxmlformats.org/drawingml/2006/main">
              <a:ext uri="{FF2B5EF4-FFF2-40B4-BE49-F238E27FC236}">
                <a16:creationId xmlns:a16="http://schemas.microsoft.com/office/drawing/2014/main" id="{661F60C6-76DC-41C6-8A0F-CADC75B0C2A1}"/>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Test queries</a:t>
            </a:r>
          </a:p>
        </p:txBody>
      </p:sp>
      <p:sp>
        <p:nvSpPr>
          <p:cNvPr id="8" name="177">
            <a:extLst xmlns:a="http://schemas.openxmlformats.org/drawingml/2006/main">
              <a:ext uri="{FF2B5EF4-FFF2-40B4-BE49-F238E27FC236}">
                <a16:creationId xmlns:a16="http://schemas.microsoft.com/office/drawing/2014/main" id="{317EBDEC-C711-4D80-834D-FDB4ED35B5F4}"/>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R w="0">
                      <a:solidFill>
                        <a:srgbClr val="FFFFFF"/>
                      </a:solidFill>
                    </a:lnR>
                    <a:lnT w="0">
                      <a:solidFill>
                        <a:srgbClr val="FFFFFF"/>
                      </a:solidFill>
                    </a:lnT>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Coded negative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R w="0">
                      <a:solidFill>
                        <a:srgbClr val="FFFFFF"/>
                      </a:solidFill>
                    </a:lnR>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Coded positive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R w="0">
                      <a:solidFill>
                        <a:srgbClr val="FFFFFF"/>
                      </a:solidFill>
                    </a:lnR>
                    <a:lnB w="7620">
                      <a:solidFill>
                        <a:srgbClr val="D4E1E0"/>
                      </a:solidFill>
                    </a:lnB>
                    <a:solidFill>
                      <a:srgbClr val="E4F2ED"/>
                    </a:solidFill>
                  </a:tcPr>
                </a:tc>
              </a:tr>
            </a:tbl>
          </a:graphicData>
        </a:graphic>
      </p:graphicFrame>
      <p:sp>
        <p:nvSpPr>
          <p:cNvPr id="10" name="Precision 0.851">
            <a:extLst xmlns:a="http://schemas.openxmlformats.org/drawingml/2006/main">
              <a:ext uri="{FF2B5EF4-FFF2-40B4-BE49-F238E27FC236}">
                <a16:creationId xmlns:a16="http://schemas.microsoft.com/office/drawing/2014/main" id="{7D95E158-09B6-43EE-B5E2-9E34145B1598}"/>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a:t>
            </a:r>
          </a:p>
        </p:txBody>
      </p:sp>
      <p:sp>
        <p:nvSpPr>
          <p:cNvPr id="11" name="Recall 0.902">
            <a:extLst xmlns:a="http://schemas.openxmlformats.org/drawingml/2006/main">
              <a:ext uri="{FF2B5EF4-FFF2-40B4-BE49-F238E27FC236}">
                <a16:creationId xmlns:a16="http://schemas.microsoft.com/office/drawing/2014/main" id="{3B747D10-A135-480E-BC0F-F3B621EBC986}"/>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Recall 0.902</a:t>
            </a:r>
          </a:p>
        </p:txBody>
      </p:sp>
      <p:sp>
        <p:nvSpPr>
          <p:cNvPr id="12" name="F1 0.875">
            <a:extLst xmlns:a="http://schemas.openxmlformats.org/drawingml/2006/main">
              <a:ext uri="{FF2B5EF4-FFF2-40B4-BE49-F238E27FC236}">
                <a16:creationId xmlns:a16="http://schemas.microsoft.com/office/drawing/2014/main" id="{1629E97A-4C72-4B29-8AC4-10334AFE55DB}"/>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002 pairs; six unresolved targets mapped to ze">
            <a:extLst xmlns:a="http://schemas.openxmlformats.org/drawingml/2006/main">
              <a:ext uri="{FF2B5EF4-FFF2-40B4-BE49-F238E27FC236}">
                <a16:creationId xmlns:a16="http://schemas.microsoft.com/office/drawing/2014/main" id="{BBF6C806-B247-4A5D-9342-4215713AE4D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107445530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10FABF23-B481-4085-8845-56CE21530BC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C8BD4F3C-0AFC-4001-A700-E567AB1A7BB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R w="0">
                      <a:solidFill>
                        <a:srgbClr val="FFFFFF"/>
                      </a:solidFill>
                    </a:lnR>
                    <a:lnT w="0">
                      <a:solidFill>
                        <a:srgbClr val="FFFFFF"/>
                      </a:solidFill>
                    </a:lnT>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69C900B3-9CF8-4529-81BC-E9BFAB61BF3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51208544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nsitivity to query exclusions">
            <a:extLst xmlns:a="http://schemas.openxmlformats.org/drawingml/2006/main">
              <a:ext uri="{FF2B5EF4-FFF2-40B4-BE49-F238E27FC236}">
                <a16:creationId xmlns:a16="http://schemas.microsoft.com/office/drawing/2014/main" id="{58C27889-CEAC-4683-A880-D0436DDF96C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EC7A1D69-4B7C-4CD4-840F-76649AB334C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sp>
        <p:nvSpPr>
          <p:cNvPr id="3" name="Human-label NDCG@10">
            <a:extLst xmlns:a="http://schemas.openxmlformats.org/drawingml/2006/main">
              <a:ext uri="{FF2B5EF4-FFF2-40B4-BE49-F238E27FC236}">
                <a16:creationId xmlns:a16="http://schemas.microsoft.com/office/drawing/2014/main" id="{FB49ACC9-2FAE-4CB0-A291-C9B2B424642A}"/>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Human-label NDCG@10</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1,156 after exclusions</a:t>
                      </a:r>
                    </a:p>
                  </a:txBody>
                  <a:tcPr marL="91440" marR="91440" marT="45720" marB="45720" anchor="ctr">
                    <a:lnR w="0">
                      <a:solidFill>
                        <a:srgbClr val="FFFFFF"/>
                      </a:solidFill>
                    </a:lnR>
                    <a:lnT w="0">
                      <a:solidFill>
                        <a:srgbClr val="FFFFFF"/>
                      </a:solidFill>
                    </a:lnT>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Full set without manual queries: N = 99,914">
            <a:extLst xmlns:a="http://schemas.openxmlformats.org/drawingml/2006/main">
              <a:ext uri="{FF2B5EF4-FFF2-40B4-BE49-F238E27FC236}">
                <a16:creationId xmlns:a16="http://schemas.microsoft.com/office/drawing/2014/main" id="{73A40A15-D739-421C-8800-43E437F1BF39}"/>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6" name="At K = 200: RRF − E5 = +0.00877">
            <a:extLst xmlns:a="http://schemas.openxmlformats.org/drawingml/2006/main">
              <a:ext uri="{FF2B5EF4-FFF2-40B4-BE49-F238E27FC236}">
                <a16:creationId xmlns:a16="http://schemas.microsoft.com/office/drawing/2014/main" id="{9AC8E9C9-8694-441B-B5C5-658794C62B51}"/>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7" name="Exclusion checks do not replace independent huma">
            <a:extLst xmlns:a="http://schemas.openxmlformats.org/drawingml/2006/main">
              <a:ext uri="{FF2B5EF4-FFF2-40B4-BE49-F238E27FC236}">
                <a16:creationId xmlns:a16="http://schemas.microsoft.com/office/drawing/2014/main" id="{45CFAD58-5FD9-4A3E-8B77-6AC90E26084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do not replace independent human assessment.</a:t>
            </a:r>
          </a:p>
        </p:txBody>
      </p:sp>
    </p:spTree>
    <p:extLst>
      <p:ext uri="{BB962C8B-B14F-4D97-AF65-F5344CB8AC3E}">
        <p14:creationId xmlns:p14="http://schemas.microsoft.com/office/powerpoint/2010/main" val="14874684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9DE3B3FB-6E4D-4D77-80C2-2DFE1747E4D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2964DC49-C4BB-4507-9E57-9959103FDDC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A6FF0011-31B0-4B49-AA3D-7DDDED4158BF}"/>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C18E1196-106B-4677-A01B-AF086E1BBD13}"/>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84384DF8-B2F0-47BE-81F6-B3DCAD207347}"/>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Compare stronger judges against independent huma">
            <a:extLst xmlns:a="http://schemas.openxmlformats.org/drawingml/2006/main">
              <a:ext uri="{FF2B5EF4-FFF2-40B4-BE49-F238E27FC236}">
                <a16:creationId xmlns:a16="http://schemas.microsoft.com/office/drawing/2014/main" id="{5F4E3AFC-43A5-4E2A-9C3E-C738CB4E2293}"/>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295FDF5A-2C36-441A-8DA0-CA1DC0D307B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7495734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Presentation</dc:title>
  <dcterms:created xsi:type="dcterms:W3CDTF"/>
  <dcterms:modified xsi:type="dcterms:W3CDTF"/>
</coreProperties>
</file>