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r="http://schemas.openxmlformats.org/officeDocument/2006/relationships" id="256" r:id="R1b78786234bc4c34"/>
    <p:sldId xmlns:r="http://schemas.openxmlformats.org/officeDocument/2006/relationships" id="257" r:id="R308caa75f4974794"/>
    <p:sldId xmlns:r="http://schemas.openxmlformats.org/officeDocument/2006/relationships" id="258" r:id="Rc2e16312072346fc"/>
    <p:sldId xmlns:r="http://schemas.openxmlformats.org/officeDocument/2006/relationships" id="259" r:id="Rbc07fb6187dc441f"/>
    <p:sldId xmlns:r="http://schemas.openxmlformats.org/officeDocument/2006/relationships" id="260" r:id="R49d790a9626c4166"/>
    <p:sldId xmlns:r="http://schemas.openxmlformats.org/officeDocument/2006/relationships" id="261" r:id="R9bebf51513b54225"/>
    <p:sldId xmlns:r="http://schemas.openxmlformats.org/officeDocument/2006/relationships" id="262" r:id="Reade4cf27cdf471e"/>
    <p:sldId xmlns:r="http://schemas.openxmlformats.org/officeDocument/2006/relationships" id="263" r:id="Ra91d658d1c494a24"/>
    <p:sldId xmlns:r="http://schemas.openxmlformats.org/officeDocument/2006/relationships" id="264" r:id="Rae29bbe8b5c74d30"/>
    <p:sldId xmlns:r="http://schemas.openxmlformats.org/officeDocument/2006/relationships" id="265" r:id="Rc945c2d106ca4687"/>
    <p:sldId xmlns:r="http://schemas.openxmlformats.org/officeDocument/2006/relationships" id="266" r:id="R1a7923ae1afc4511"/>
    <p:sldId xmlns:r="http://schemas.openxmlformats.org/officeDocument/2006/relationships" id="267" r:id="Re57df592b105476d"/>
    <p:sldId xmlns:r="http://schemas.openxmlformats.org/officeDocument/2006/relationships" id="268" r:id="R1fa05d50cb0c43a1"/>
    <p:sldId xmlns:r="http://schemas.openxmlformats.org/officeDocument/2006/relationships" id="269" r:id="R08ec46a784e14088"/>
    <p:sldId xmlns:r="http://schemas.openxmlformats.org/officeDocument/2006/relationships" id="270" r:id="R687a3932498c4456"/>
    <p:sldId xmlns:r="http://schemas.openxmlformats.org/officeDocument/2006/relationships" id="271" r:id="R76b154ba5e7e4d24"/>
    <p:sldId xmlns:r="http://schemas.openxmlformats.org/officeDocument/2006/relationships" id="272" r:id="Rccd64b9c89fa4245"/>
    <p:sldId xmlns:r="http://schemas.openxmlformats.org/officeDocument/2006/relationships" id="273" r:id="R4d2c3a6ab9ed4645"/>
    <p:sldId xmlns:r="http://schemas.openxmlformats.org/officeDocument/2006/relationships" id="274" r:id="R47fdfe65a7c74b49"/>
    <p:sldId xmlns:r="http://schemas.openxmlformats.org/officeDocument/2006/relationships" id="275" r: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Здравствуйте!  Я представлю нашу работу по углублённой доразметке MS MARCO и оценке поиска на контролируемых пулах кандидатов, .</a:t>
            </a:r>
          </a:p>
          <a:p xmlns:a="http://schemas.openxmlformats.org/drawingml/2006/main">
            <a:r>
              <a:t/>
            </a:r>
          </a:p>
          <a:p xmlns:a="http://schemas.openxmlformats.org/drawingml/2006/main">
            <a:r>
              <a: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a:t>
            </a:r>
          </a:p>
          <a:p xmlns:a="http://schemas.openxmlformats.org/drawingml/2006/main">
            <a:r>
              <a:t/>
            </a:r>
          </a:p>
          <a:p xmlns:a="http://schemas.openxmlformats.org/drawingml/2006/main">
            <a:r>
              <a: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a:t>
            </a:r>
          </a:p>
          <a:p xmlns:a="http://schemas.openxmlformats.org/drawingml/2006/main">
            <a:r>
              <a:t/>
            </a:r>
          </a:p>
          <a:p xmlns:a="http://schemas.openxmlformats.org/drawingml/2006/main">
            <a:r>
              <a:t>Размах опубликованных оценок составляет 0,014. Значения близки, но это ещё не доказывает ни равенство систем, ни неполноту разметки. Мы задаём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её с этой таблицей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растворённого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её повышения.</a:t>
            </a:r>
          </a:p>
          <a:p xmlns:a="http://schemas.openxmlformats.org/drawingml/2006/main">
            <a:r>
              <a:t/>
            </a:r>
          </a:p>
          <a:p xmlns:a="http://schemas.openxmlformats.org/drawingml/2006/main">
            <a:r>
              <a:t>Оценки релевантности обычно называют qrels, от английского query relevance judgments. Это оценки того, насколько текст соответствует запросу. В нашем расчёте метрики неразмеченный фрагмент даёт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Мы используем англоязычную коллекцию фрагментов MS MARCO: в ней около 8,84 миллиона текстов. Исследование состоит из двух частей. Ручная часть охватывает 1179 запросов и 33 667 пар из запроса и фрагмента. В масштабной части модель-судья оценивает кандидатов для чуть более 101 тысячи запросов; глубина пула при этом меняется.</a:t>
            </a:r>
          </a:p>
          <a:p xmlns:a="http://schemas.openxmlformats.org/drawingml/2006/main">
            <a:r>
              <a:t/>
            </a:r>
          </a:p>
          <a:p xmlns:a="http://schemas.openxmlformats.org/drawingml/2006/main">
            <a:r>
              <a:t>Эти части дают разные основания для выводов. В первой мы опираемся на оценки людей, во второй используем предсказания модели. Под углублённой доразметкой здесь понимается оценка множества кандидатов внутри заданного пула. Слово «углублённая» относится к охвату разметки, а не к глубине нейросети. Мы не утверждаем, что полностью разметили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сохранённый список, полученный поиском по запросу, добавляет в пул десять результатов.</a:t>
            </a:r>
          </a:p>
          <a:p xmlns:a="http://schemas.openxmlformats.org/drawingml/2006/main">
            <a:r>
              <a:t/>
            </a:r>
          </a:p>
          <a:p xmlns:a="http://schemas.openxmlformats.org/drawingml/2006/main">
            <a:r>
              <a: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a:t>
            </a:r>
          </a:p>
          <a:p xmlns:a="http://schemas.openxmlformats.org/drawingml/2006/main">
            <a:r>
              <a:t/>
            </a:r>
          </a:p>
          <a:p xmlns:a="http://schemas.openxmlformats.org/drawingml/2006/main">
            <a:r>
              <a: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a:t>
            </a:r>
          </a:p>
          <a:p xmlns:a="http://schemas.openxmlformats.org/drawingml/2006/main">
            <a:r>
              <a:t/>
            </a:r>
          </a:p>
          <a:p xmlns:a="http://schemas.openxmlformats.org/drawingml/2006/main">
            <a:r>
              <a: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a:t>
            </a:r>
          </a:p>
          <a:p xmlns:a="http://schemas.openxmlformats.org/drawingml/2006/main">
            <a:r>
              <a:t/>
            </a:r>
          </a:p>
          <a:p xmlns:a="http://schemas.openxmlformats.org/drawingml/2006/main">
            <a:r>
              <a: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её влияние на измеряемое качество при неизменной выдаче.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Качество ранжирования мы измеряем с помощью NDCG на первых десяти позициях. Метрика даёт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a:t>
            </a:r>
          </a:p>
          <a:p xmlns:a="http://schemas.openxmlformats.org/drawingml/2006/main">
            <a:r>
              <a:t/>
            </a:r>
          </a:p>
          <a:p xmlns:a="http://schemas.openxmlformats.org/drawingml/2006/main">
            <a:r>
              <a:t>В сравнение включён и RRF, метод слияния по обратным рангам. Он объединяет списки BM25, E5 и BGE, используя позиции результатов, а не исходные численные оценки этих моделей.</a:t>
            </a:r>
          </a:p>
          <a:p xmlns:a="http://schemas.openxmlformats.org/drawingml/2006/main">
            <a:r>
              <a:t/>
            </a:r>
          </a:p>
          <a:p xmlns:a="http://schemas.openxmlformats.org/drawingml/2006/main">
            <a:r>
              <a:t>Серые столбцы соответствуют исходным qrels, а зелёные показывают результаты по ручной разметке. Среднее качество растёт у всех четырёх систем. У E5 значение NDCG увеличивается с 0,488 до 0,879. Средний прирост в парном сравнении составляет около 0,391; доверительный интервал показан под графиком.</a:t>
            </a:r>
          </a:p>
          <a:p xmlns:a="http://schemas.openxmlformats.org/drawingml/2006/main">
            <a:r>
              <a:t/>
            </a:r>
          </a:p>
          <a:p xmlns:a="http://schemas.openxmlformats.org/drawingml/2006/main">
            <a:r>
              <a:t>Здесь изменилась оценка качества благодаря более полной разметке. Сами поисковые системы мы не улучшали и не переобучали. Их порядок остаётся прежним: E5, RRF, BGE и BM25. Это результаты внутри размеченных пулов, а не показатели поиска по всему корпусу для общей таблицы лидеров.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разметка позволяет непосредственно изучить этот эффект, но оценивать таким способом гораздо более крупные пулы дорого. Поэтому мы дообучаем компактный кросс-энкодер MiniLM на человеческих оценках и используем его как модель-судью для получения псевдометок релевантности.</a:t>
            </a:r>
          </a:p>
          <a:p xmlns:a="http://schemas.openxmlformats.org/drawingml/2006/main">
            <a:r>
              <a:t/>
            </a:r>
          </a:p>
          <a:p xmlns:a="http://schemas.openxmlformats.org/drawingml/2006/main">
            <a:r>
              <a: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a:t>
            </a:r>
          </a:p>
          <a:p xmlns:a="http://schemas.openxmlformats.org/drawingml/2006/main">
            <a:r>
              <a:t/>
            </a:r>
          </a:p>
          <a:p xmlns:a="http://schemas.openxmlformats.org/drawingml/2006/main">
            <a:r>
              <a:t>Порог принятия решения выбирается на валидационных запросах. Затем модель-судья позволяет исследовать охват разметки в большем масштабе. Но её метки остаются предсказаниями, а не человеческими оценками, поэтому согласие модели с ручной разметкой мы проверяем отдельно.</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Ручные данные разделены на обучающую, валидационную и тестовую части по запросам. В тестовую часть входят 177 отложенных запросов и 5002 пары. Таким образом, качество проверяется на запросах, не использованных при обучении и выборе порога.</a:t>
            </a:r>
          </a:p>
          <a:p xmlns:a="http://schemas.openxmlformats.org/drawingml/2006/main">
            <a:r>
              <a:t/>
            </a:r>
          </a:p>
          <a:p xmlns:a="http://schemas.openxmlformats.org/drawingml/2006/main">
            <a:r>
              <a:t>ROC-кривая показывает соотношение долей верно найденных положительных примеров и ложных срабатываний при изменении порога. Площадь под кривой равна 0,907. При пороге, выбранном на валидации, F1 составляет 0,875, точность около 0,851, а полнота около 0,902. Эти показатели описывают согласие с целевыми метками, полученными из человеческих оценок в ручных пулах.</a:t>
            </a:r>
          </a:p>
          <a:p xmlns:a="http://schemas.openxmlformats.org/drawingml/2006/main">
            <a:r>
              <a:t/>
            </a:r>
          </a:p>
          <a:p xmlns:a="http://schemas.openxmlformats.org/drawingml/2006/main">
            <a:r>
              <a:t>Однако это не независимая проверка более глубоких пулов следующего эксперимента. Там могут встретиться другие кандидаты и другие ошибки. Поэтому результаты ручной разметки мы отделяем от масштабного эксперимента, который следует понимать как оценивание с помощью одной конкретной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В масштабном эксперименте мы объединяем первые K результатов каждой системы: BM25, E5 и BGE. K обозначает число результатов от одного поискового метода, а не количество уникальных фрагментов после удаления дубликатов. Модель-судья и порог её решения остаются неизменными.</a:t>
            </a:r>
          </a:p>
          <a:p xmlns:a="http://schemas.openxmlformats.org/drawingml/2006/main">
            <a:r>
              <a:t/>
            </a:r>
          </a:p>
          <a:p xmlns:a="http://schemas.openxmlformats.org/drawingml/2006/main">
            <a:r>
              <a:t>При увеличении K с десяти до двухсот средний размер пула растёт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a:t>
            </a:r>
          </a:p>
          <a:p xmlns:a="http://schemas.openxmlformats.org/drawingml/2006/main">
            <a:r>
              <a:t/>
            </a:r>
          </a:p>
          <a:p xmlns:a="http://schemas.openxmlformats.org/drawingml/2006/main">
            <a:r>
              <a: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Здесь мы сравниваем RRF с E5 и различаем две глубины. K задаёт число результатов от каждой системы в пуле для разметки. L задаёт число результатов, поступающих на слияние рангов. В этой конфигурации обе величины растут вместе: L равно K.</a:t>
            </a:r>
          </a:p>
          <a:p xmlns:a="http://schemas.openxmlformats.org/drawingml/2006/main">
            <a:r>
              <a:t/>
            </a:r>
          </a:p>
          <a:p xmlns:a="http://schemas.openxmlformats.org/drawingml/2006/main">
            <a:r>
              <a: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четырёх больших глубинах разность небольшая, но положительная. При глубине двести она составляет около 0,0088.</a:t>
            </a:r>
          </a:p>
          <a:p xmlns:a="http://schemas.openxmlformats.org/drawingml/2006/main">
            <a:r>
              <a:t/>
            </a:r>
          </a:p>
          <a:p xmlns:a="http://schemas.openxmlformats.org/drawingml/2006/main">
            <a:r>
              <a:t>Интервалы получены парным бутстрэпом по запросам. Они рассчитаны для фиксированной модели-судьи и не учитывают неопределённость её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a:t>
            </a:r>
          </a:p>
          <a:p xmlns:a="http://schemas.openxmlformats.org/drawingml/2006/main">
            <a:r>
              <a:t/>
            </a:r>
          </a:p>
          <a:p xmlns:a="http://schemas.openxmlformats.org/drawingml/2006/main">
            <a:r>
              <a: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a:t>
            </a:r>
          </a:p>
          <a:p xmlns:a="http://schemas.openxmlformats.org/drawingml/2006/main">
            <a:r>
              <a:t/>
            </a:r>
          </a:p>
          <a:p xmlns:a="http://schemas.openxmlformats.org/drawingml/2006/main">
            <a:r>
              <a:t>Подпись справа помогает понять роль охвата. На минимальной глубине 14,4 процента пар из первых десяти результатов RRF оказываются за пределами размеченного пула. В метрике они получают нулевой вклад, поскольку не оценены. Это вовсе не означает, что все эти фрагменты релевантны.</a:t>
            </a:r>
          </a:p>
          <a:p xmlns:a="http://schemas.openxmlformats.org/drawingml/2006/main">
            <a:r>
              <a:t/>
            </a:r>
          </a:p>
          <a:p xmlns:a="http://schemas.openxmlformats.org/drawingml/2006/main">
            <a:r>
              <a:t>Более широкий пул даёт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Мы проверили чувствительность результатов к двум исключениям. В ручном эксперименте удалили 23 запроса, для которых оставались неясности с категориями меток или встречались пустые тексты. Порядок систем не изменился. В масштабном эксперименте после исключения всех запросов с ручной разметкой остаётся 99 914 запросов. Знаки различий между RRF и E5 сохраняются на всех проверенных глубинах.</a:t>
            </a:r>
          </a:p>
          <a:p xmlns:a="http://schemas.openxmlformats.org/drawingml/2006/main">
            <a:r>
              <a:t/>
            </a:r>
          </a:p>
          <a:p xmlns:a="http://schemas.openxmlformats.org/drawingml/2006/main">
            <a:r>
              <a:t>Эти проверки касаются конкретных проблем данных и пересечения двух наборов запросов, но не устраняют все возможные смещения. Ручные пулы используют информацию об эталонном ответе; согласие между разметчиками не измерялось. Масштабный эксперимент опирается на одну компактную модель-судью, а более глубокие пулы не проходили независимую ручную проверку.</a:t>
            </a:r>
          </a:p>
          <a:p xmlns:a="http://schemas.openxmlformats.org/drawingml/2006/main">
            <a:r>
              <a:t/>
            </a:r>
          </a:p>
          <a:p xmlns:a="http://schemas.openxmlformats.org/drawingml/2006/main">
            <a:r>
              <a:t>Поэтому наши выводы относятся к выбранным англоязычным пулам MS MARCO. Переносимость результатов на другие языки, предметные области и поисковые сервисы ещё предстоит проверить.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a:t>
            </a:r>
          </a:p>
          <a:p xmlns:a="http://schemas.openxmlformats.org/drawingml/2006/main">
            <a:r>
              <a:t/>
            </a:r>
          </a:p>
          <a:p xmlns:a="http://schemas.openxmlformats.org/drawingml/2006/main">
            <a:r>
              <a: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моделью-судьёй и зависит от её оценок.</a:t>
            </a:r>
          </a:p>
          <a:p xmlns:a="http://schemas.openxmlformats.org/drawingml/2006/main">
            <a:r>
              <a:t/>
            </a:r>
          </a:p>
          <a:p xmlns:a="http://schemas.openxmlformats.org/drawingml/2006/main">
            <a:r>
              <a:t>Поэтому вместе с метрикой качества поиска нужно указывать пул разметки, источник меток и настройки слияния. На следующем этапе мы сравним более сильные модели-судьи с доступом к известному релевантному фрагменту и без него, используя независимые человеческие оценки для проверки. Этот эксперимент запланирован, но пока не выполнен.</a:t>
            </a:r>
          </a:p>
          <a:p xmlns:a="http://schemas.openxmlformats.org/drawingml/2006/main">
            <a:r>
              <a:t/>
            </a:r>
          </a:p>
          <a:p xmlns:a="http://schemas.openxmlformats.org/drawingml/2006/main">
            <a:r>
              <a:t>Спасибо за внимание! Буду рад вашим вопросам.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charts/chart1.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R w="0">
                      <a:solidFill>
                        <a:srgbClr val="FFFFFF"/>
                      </a:solidFill>
                    </a:lnR>
                    <a:lnT w="0">
                      <a:solidFill>
                        <a:srgbClr val="FFFFFF"/>
                      </a:solidFill>
                    </a:lnT>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R w="0">
                      <a:solidFill>
                        <a:srgbClr val="FFFFFF"/>
                      </a:solidFill>
                    </a:lnR>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R w="0">
                      <a:solidFill>
                        <a:srgbClr val="FFFFFF"/>
                      </a:solidFill>
                    </a:lnR>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solidFill>
                        <a:srgbClr val="FFFFFF"/>
                      </a:solidFill>
                    </a:lnL>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R w="0">
                      <a:solidFill>
                        <a:srgbClr val="FFFFFF"/>
                      </a:solidFill>
                    </a:lnR>
                    <a:lnT w="0">
                      <a:solidFill>
                        <a:srgbClr val="FFFFFF"/>
                      </a:solidFill>
                    </a:lnT>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R w="0">
                      <a:solidFill>
                        <a:srgbClr val="FFFFFF"/>
                      </a:solidFill>
                    </a:lnR>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R w="0">
                      <a:solidFill>
                        <a:srgbClr val="FFFFFF"/>
                      </a:solidFill>
                    </a:lnR>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R w="0">
                      <a:solidFill>
                        <a:srgbClr val="FFFFFF"/>
                      </a:solidFill>
                    </a:lnR>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анные и покрытие разметкой">
            <a:extLst xmlns:a="http://schemas.openxmlformats.org/drawingml/2006/main">
              <a:ext uri="{FF2B5EF4-FFF2-40B4-BE49-F238E27FC236}">
                <a16:creationId xmlns:a16="http://schemas.microsoft.com/office/drawing/2014/main" id="{4640FAC2-87BA-4AD7-B645-16A1EA41B48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и покрытие разметкой</a:t>
            </a:r>
          </a:p>
        </p:txBody>
      </p:sp>
      <p:sp>
        <p:nvSpPr>
          <p:cNvPr id="2" name="05">
            <a:extLst xmlns:a="http://schemas.openxmlformats.org/drawingml/2006/main">
              <a:ext uri="{FF2B5EF4-FFF2-40B4-BE49-F238E27FC236}">
                <a16:creationId xmlns:a16="http://schemas.microsoft.com/office/drawing/2014/main" id="{7D357777-C1CA-4A83-8B56-4898D8FC1F7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Англоязычный MS MARCO">
            <a:extLst xmlns:a="http://schemas.openxmlformats.org/drawingml/2006/main">
              <a:ext uri="{FF2B5EF4-FFF2-40B4-BE49-F238E27FC236}">
                <a16:creationId xmlns:a16="http://schemas.microsoft.com/office/drawing/2014/main" id="{21C1F5CD-EC38-4876-831F-D93794B85700}"/>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Англоязычный MS MARCO</a:t>
            </a:r>
          </a:p>
        </p:txBody>
      </p:sp>
      <p:sp>
        <p:nvSpPr>
          <p:cNvPr id="4" name="8,84 млн текстовых фрагментов">
            <a:extLst xmlns:a="http://schemas.openxmlformats.org/drawingml/2006/main">
              <a:ext uri="{FF2B5EF4-FFF2-40B4-BE49-F238E27FC236}">
                <a16:creationId xmlns:a16="http://schemas.microsoft.com/office/drawing/2014/main" id="{D59D8BA0-4710-4A84-BBC7-98E9E68478BB}"/>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млн текстовых фрагментов</a:t>
            </a:r>
          </a:p>
        </p:txBody>
      </p:sp>
      <p:sp>
        <p:nvSpPr>
          <p:cNvPr id="5" name="">
            <a:extLst xmlns:a="http://schemas.openxmlformats.org/drawingml/2006/main">
              <a:ext uri="{FF2B5EF4-FFF2-40B4-BE49-F238E27FC236}">
                <a16:creationId xmlns:a16="http://schemas.microsoft.com/office/drawing/2014/main" id="{4808A2FD-39DB-4AA3-92FC-72968F9D8B37}"/>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Оценки человека">
            <a:extLst xmlns:a="http://schemas.openxmlformats.org/drawingml/2006/main">
              <a:ext uri="{FF2B5EF4-FFF2-40B4-BE49-F238E27FC236}">
                <a16:creationId xmlns:a16="http://schemas.microsoft.com/office/drawing/2014/main" id="{9AE9F043-E6DA-477E-A2B3-AFB89910F26D}"/>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Оценки человека</a:t>
            </a:r>
          </a:p>
        </p:txBody>
      </p:sp>
      <p:sp>
        <p:nvSpPr>
          <p:cNvPr id="7" name="1 179">
            <a:extLst xmlns:a="http://schemas.openxmlformats.org/drawingml/2006/main">
              <a:ext uri="{FF2B5EF4-FFF2-40B4-BE49-F238E27FC236}">
                <a16:creationId xmlns:a16="http://schemas.microsoft.com/office/drawing/2014/main" id="{2ABC94A7-49A8-40A8-9B70-E2DC1BD36F86}"/>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1 179</a:t>
            </a:r>
          </a:p>
        </p:txBody>
      </p:sp>
      <p:sp>
        <p:nvSpPr>
          <p:cNvPr id="8" name="запросов, 33 667 пар">
            <a:extLst xmlns:a="http://schemas.openxmlformats.org/drawingml/2006/main">
              <a:ext uri="{FF2B5EF4-FFF2-40B4-BE49-F238E27FC236}">
                <a16:creationId xmlns:a16="http://schemas.microsoft.com/office/drawing/2014/main" id="{B084AB60-7A47-458D-BA52-8250AB6F99CA}"/>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33 667 пар</a:t>
            </a:r>
          </a:p>
        </p:txBody>
      </p:sp>
      <p:sp>
        <p:nvSpPr>
          <p:cNvPr id="9" name="Предсказания судьи">
            <a:extLst xmlns:a="http://schemas.openxmlformats.org/drawingml/2006/main">
              <a:ext uri="{FF2B5EF4-FFF2-40B4-BE49-F238E27FC236}">
                <a16:creationId xmlns:a16="http://schemas.microsoft.com/office/drawing/2014/main" id="{E2A77084-79D3-4DBB-A5D4-9C964749A63D}"/>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Предсказания судьи</a:t>
            </a:r>
          </a:p>
        </p:txBody>
      </p:sp>
      <p:sp>
        <p:nvSpPr>
          <p:cNvPr id="10" name="101 093">
            <a:extLst xmlns:a="http://schemas.openxmlformats.org/drawingml/2006/main">
              <a:ext uri="{FF2B5EF4-FFF2-40B4-BE49-F238E27FC236}">
                <a16:creationId xmlns:a16="http://schemas.microsoft.com/office/drawing/2014/main" id="{7A4B9A5B-6509-409D-B337-9BD49AF6B517}"/>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101 093</a:t>
            </a:r>
          </a:p>
        </p:txBody>
      </p:sp>
      <p:sp>
        <p:nvSpPr>
          <p:cNvPr id="11" name="запроса, разная глубина пулов">
            <a:extLst xmlns:a="http://schemas.openxmlformats.org/drawingml/2006/main">
              <a:ext uri="{FF2B5EF4-FFF2-40B4-BE49-F238E27FC236}">
                <a16:creationId xmlns:a16="http://schemas.microsoft.com/office/drawing/2014/main" id="{9A03C7E3-D3D4-4FDA-A4AE-1FF41B69E13C}"/>
              </a:ext>
            </a:extLst>
          </p:cNvPr>
          <p:cNvSpPr>
            <a:spLocks xmlns:a="http://schemas.openxmlformats.org/drawingml/2006/main" noGrp="1"/>
          </p:cNvSpPr>
          <p:nvPr/>
        </p:nvSpPr>
        <p:spPr>
          <a:xfrm xmlns:a="http://schemas.openxmlformats.org/drawingml/2006/main">
            <a:off x="6705600" y="4933950"/>
            <a:ext cx="4876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запроса, разная глубина пулов</a:t>
            </a:r>
          </a:p>
        </p:txBody>
      </p:sp>
      <p:sp>
        <p:nvSpPr>
          <p:cNvPr id="12" name="Глубокая доразметка: оценивание многих кандидато">
            <a:extLst xmlns:a="http://schemas.openxmlformats.org/drawingml/2006/main">
              <a:ext uri="{FF2B5EF4-FFF2-40B4-BE49-F238E27FC236}">
                <a16:creationId xmlns:a16="http://schemas.microsoft.com/office/drawing/2014/main" id="{8D0A4B22-4F28-4B2B-B833-47EA02A875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Глубокая доразметка: оценивание многих кандидатов внутри заданного пула.</a:t>
            </a:r>
          </a:p>
        </p:txBody>
      </p:sp>
    </p:spTree>
    <p:extLst>
      <p:ext uri="{BB962C8B-B14F-4D97-AF65-F5344CB8AC3E}">
        <p14:creationId xmlns:p14="http://schemas.microsoft.com/office/powerpoint/2010/main" val="12976868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E5EEFA26-A836-4D17-B606-DFD02F5001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Точка: порог, выбранный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15</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