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f0851e6eadda4df6"/><Relationship Type="http://schemas.openxmlformats.org/officeDocument/2006/relationships/extended-properties" Target="/docProps/app.xml" Id="R46789c036d734c02"/><Relationship Type="http://schemas.openxmlformats.org/officeDocument/2006/relationships/officeDocument" Target="/ppt/presentation.xml" Id="R74d7f77865c8443f"/></Relationships>
</file>

<file path=ppt/presentation.xml><?xml version="1.0" encoding="utf-8"?>
<p:presentation xmlns:p="http://schemas.openxmlformats.org/presentationml/2006/main">
  <p:sldMasterIdLst>
    <p:sldMasterId xmlns:r="http://schemas.openxmlformats.org/officeDocument/2006/relationships" id="2147483648" r:id="Ra8880ca821474177"/>
  </p:sldMasterIdLst>
  <p:notesMasterIdLst>
    <p:notesMasterId xmlns:r="http://schemas.openxmlformats.org/officeDocument/2006/relationships" r:id="R914f2a6a0f654051"/>
  </p:notesMasterIdLst>
  <p:sldIdLst>
    <p:sldId xmlns:r="http://schemas.openxmlformats.org/officeDocument/2006/relationships" id="256" r:id="R3c7a3cf4f4a64c39"/>
    <p:sldId xmlns:r="http://schemas.openxmlformats.org/officeDocument/2006/relationships" id="257" r:id="R97583347d9db4064"/>
    <p:sldId xmlns:r="http://schemas.openxmlformats.org/officeDocument/2006/relationships" id="258" r:id="Re933040fdf94492f"/>
    <p:sldId xmlns:r="http://schemas.openxmlformats.org/officeDocument/2006/relationships" id="259" r:id="R5025647e02da4d58"/>
    <p:sldId xmlns:r="http://schemas.openxmlformats.org/officeDocument/2006/relationships" id="260" r:id="R17a3074ea11847c2"/>
    <p:sldId xmlns:r="http://schemas.openxmlformats.org/officeDocument/2006/relationships" id="261" r:id="Rd3ad122f6c584252"/>
    <p:sldId xmlns:r="http://schemas.openxmlformats.org/officeDocument/2006/relationships" id="262" r:id="Rbef6be075d624899"/>
    <p:sldId xmlns:r="http://schemas.openxmlformats.org/officeDocument/2006/relationships" id="263" r:id="R3f638b937c3a48b9"/>
    <p:sldId xmlns:r="http://schemas.openxmlformats.org/officeDocument/2006/relationships" id="264" r:id="R6c45cdf234ba46b0"/>
    <p:sldId xmlns:r="http://schemas.openxmlformats.org/officeDocument/2006/relationships" id="265" r:id="Rd6f237e554ca4faa"/>
    <p:sldId xmlns:r="http://schemas.openxmlformats.org/officeDocument/2006/relationships" id="266" r:id="Ra05dcacd707a4f6d"/>
    <p:sldId xmlns:r="http://schemas.openxmlformats.org/officeDocument/2006/relationships" id="267" r:id="R8c53f7bc59724208"/>
    <p:sldId xmlns:r="http://schemas.openxmlformats.org/officeDocument/2006/relationships" id="268" r:id="Rdd92a6b690354da8"/>
    <p:sldId xmlns:r="http://schemas.openxmlformats.org/officeDocument/2006/relationships" id="269" r:id="Rbaa13407a8224998"/>
    <p:sldId xmlns:r="http://schemas.openxmlformats.org/officeDocument/2006/relationships" id="270" r:id="Rfe5e3d2733ee4809"/>
    <p:sldId xmlns:r="http://schemas.openxmlformats.org/officeDocument/2006/relationships" id="271" r:id="R536647308ae34383"/>
    <p:sldId xmlns:r="http://schemas.openxmlformats.org/officeDocument/2006/relationships" id="272" r:id="R99a05933b1a24bfc"/>
    <p:sldId xmlns:r="http://schemas.openxmlformats.org/officeDocument/2006/relationships" id="273" r:id="R40170fc3d4d24c0b"/>
    <p:sldId xmlns:r="http://schemas.openxmlformats.org/officeDocument/2006/relationships" id="274" r:id="R39b12f5a840e4084"/>
    <p:sldId xmlns:r="http://schemas.openxmlformats.org/officeDocument/2006/relationships" id="275" r:id="Rfbecc633dc104c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ae797e535964a53"/><Relationship Type="http://schemas.openxmlformats.org/officeDocument/2006/relationships/slideMaster" Target="/ppt/slideMasters/slideMaster1.xml" Id="Ra8880ca821474177"/><Relationship Type="http://schemas.openxmlformats.org/officeDocument/2006/relationships/notesMaster" Target="/ppt/notesMasters/notesMaster1.xml" Id="R914f2a6a0f654051"/><Relationship Type="http://schemas.openxmlformats.org/officeDocument/2006/relationships/presProps" Target="/ppt/presProps.xml" Id="R737551fb99814ec7"/><Relationship Type="http://schemas.openxmlformats.org/officeDocument/2006/relationships/tableStyles" Target="/ppt/tableStyles.xml" Id="Rcac2e8058ca24cef"/><Relationship Type="http://schemas.openxmlformats.org/officeDocument/2006/relationships/slide" Target="/ppt/slides/slide1.xml" Id="R3c7a3cf4f4a64c39"/><Relationship Type="http://schemas.openxmlformats.org/officeDocument/2006/relationships/slide" Target="/ppt/slides/slide2.xml" Id="R97583347d9db4064"/><Relationship Type="http://schemas.openxmlformats.org/officeDocument/2006/relationships/slide" Target="/ppt/slides/slide3.xml" Id="Re933040fdf94492f"/><Relationship Type="http://schemas.openxmlformats.org/officeDocument/2006/relationships/slide" Target="/ppt/slides/slide4.xml" Id="R5025647e02da4d58"/><Relationship Type="http://schemas.openxmlformats.org/officeDocument/2006/relationships/slide" Target="/ppt/slides/slide5.xml" Id="R17a3074ea11847c2"/><Relationship Type="http://schemas.openxmlformats.org/officeDocument/2006/relationships/slide" Target="/ppt/slides/slide6.xml" Id="Rd3ad122f6c584252"/><Relationship Type="http://schemas.openxmlformats.org/officeDocument/2006/relationships/slide" Target="/ppt/slides/slide7.xml" Id="Rbef6be075d624899"/><Relationship Type="http://schemas.openxmlformats.org/officeDocument/2006/relationships/slide" Target="/ppt/slides/slide8.xml" Id="R3f638b937c3a48b9"/><Relationship Type="http://schemas.openxmlformats.org/officeDocument/2006/relationships/slide" Target="/ppt/slides/slide9.xml" Id="R6c45cdf234ba46b0"/><Relationship Type="http://schemas.openxmlformats.org/officeDocument/2006/relationships/slide" Target="/ppt/slides/slide10.xml" Id="Rd6f237e554ca4faa"/><Relationship Type="http://schemas.openxmlformats.org/officeDocument/2006/relationships/slide" Target="/ppt/slides/slide11.xml" Id="Ra05dcacd707a4f6d"/><Relationship Type="http://schemas.openxmlformats.org/officeDocument/2006/relationships/slide" Target="/ppt/slides/slide12.xml" Id="R8c53f7bc59724208"/><Relationship Type="http://schemas.openxmlformats.org/officeDocument/2006/relationships/slide" Target="/ppt/slides/slide13.xml" Id="Rdd92a6b690354da8"/><Relationship Type="http://schemas.openxmlformats.org/officeDocument/2006/relationships/slide" Target="/ppt/slides/slide14.xml" Id="Rbaa13407a8224998"/><Relationship Type="http://schemas.openxmlformats.org/officeDocument/2006/relationships/slide" Target="/ppt/slides/slide15.xml" Id="Rfe5e3d2733ee4809"/><Relationship Type="http://schemas.openxmlformats.org/officeDocument/2006/relationships/slide" Target="/ppt/slides/slide16.xml" Id="R536647308ae34383"/><Relationship Type="http://schemas.openxmlformats.org/officeDocument/2006/relationships/slide" Target="/ppt/slides/slide17.xml" Id="R99a05933b1a24bfc"/><Relationship Type="http://schemas.openxmlformats.org/officeDocument/2006/relationships/slide" Target="/ppt/slides/slide18.xml" Id="R40170fc3d4d24c0b"/><Relationship Type="http://schemas.openxmlformats.org/officeDocument/2006/relationships/slide" Target="/ppt/slides/slide19.xml" Id="R39b12f5a840e4084"/><Relationship Type="http://schemas.openxmlformats.org/officeDocument/2006/relationships/slide" Target="/ppt/slides/slide20.xml" Id="Rfbecc633dc104c4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b3365f45c248b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ac9d70e6df924656"/><Relationship Type="http://schemas.openxmlformats.org/officeDocument/2006/relationships/notesMaster" Target="/ppt/notesMasters/notesMaster1.xml" Id="R076c9cf19e7c4c6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882468d56b8f4c96"/><Relationship Type="http://schemas.openxmlformats.org/officeDocument/2006/relationships/notesMaster" Target="/ppt/notesMasters/notesMaster1.xml" Id="R6047efe117064e0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2915bed73b6d447b"/><Relationship Type="http://schemas.openxmlformats.org/officeDocument/2006/relationships/notesMaster" Target="/ppt/notesMasters/notesMaster1.xml" Id="Rbeacb2a5868b4ff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40e4a088dec40a3"/><Relationship Type="http://schemas.openxmlformats.org/officeDocument/2006/relationships/notesMaster" Target="/ppt/notesMasters/notesMaster1.xml" Id="Rdb8db888b15d45e5"/></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bdddbd68dde4943"/><Relationship Type="http://schemas.openxmlformats.org/officeDocument/2006/relationships/notesMaster" Target="/ppt/notesMasters/notesMaster1.xml" Id="Rf1cc1dacd914436c"/></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f8b92f47d9054d81"/><Relationship Type="http://schemas.openxmlformats.org/officeDocument/2006/relationships/notesMaster" Target="/ppt/notesMasters/notesMaster1.xml" Id="Rbd202b99bf53427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755be8ab913a45b9"/><Relationship Type="http://schemas.openxmlformats.org/officeDocument/2006/relationships/notesMaster" Target="/ppt/notesMasters/notesMaster1.xml" Id="R1aa3f07ef7d74fe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dacd58d3ed44f79"/><Relationship Type="http://schemas.openxmlformats.org/officeDocument/2006/relationships/notesMaster" Target="/ppt/notesMasters/notesMaster1.xml" Id="R2aa2a334c6834d7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651d69d747f84303"/><Relationship Type="http://schemas.openxmlformats.org/officeDocument/2006/relationships/notesMaster" Target="/ppt/notesMasters/notesMaster1.xml" Id="R8ac8350991444e7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8df524614c14205"/><Relationship Type="http://schemas.openxmlformats.org/officeDocument/2006/relationships/notesMaster" Target="/ppt/notesMasters/notesMaster1.xml" Id="Rb916cdd5df7e4f10"/></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3a2e75783cb4563"/><Relationship Type="http://schemas.openxmlformats.org/officeDocument/2006/relationships/notesMaster" Target="/ppt/notesMasters/notesMaster1.xml" Id="R03d58f36393a4d1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a3053b5fd23541c3"/><Relationship Type="http://schemas.openxmlformats.org/officeDocument/2006/relationships/notesMaster" Target="/ppt/notesMasters/notesMaster1.xml" Id="R3280d98735a14693"/></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5a871f5b92e4328"/><Relationship Type="http://schemas.openxmlformats.org/officeDocument/2006/relationships/notesMaster" Target="/ppt/notesMasters/notesMaster1.xml" Id="Rb78cdbd1d8284c97"/></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deff3a4db0554101"/><Relationship Type="http://schemas.openxmlformats.org/officeDocument/2006/relationships/notesMaster" Target="/ppt/notesMasters/notesMaster1.xml" Id="Rd4b33d086259435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52208e6edb604a70"/><Relationship Type="http://schemas.openxmlformats.org/officeDocument/2006/relationships/notesMaster" Target="/ppt/notesMasters/notesMaster1.xml" Id="Rcd633265976c4fbd"/></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62dd2e297c8440ae"/><Relationship Type="http://schemas.openxmlformats.org/officeDocument/2006/relationships/notesMaster" Target="/ppt/notesMasters/notesMaster1.xml" Id="R2003acb8b0bf4c4b"/></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094482c13e7146c9"/><Relationship Type="http://schemas.openxmlformats.org/officeDocument/2006/relationships/notesMaster" Target="/ppt/notesMasters/notesMaster1.xml" Id="R7273cc4f4d8a441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9a6e9f7b15c4910"/><Relationship Type="http://schemas.openxmlformats.org/officeDocument/2006/relationships/notesMaster" Target="/ppt/notesMasters/notesMaster1.xml" Id="R3fe88f7a9b204fe3"/></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8b5beb29c7a845ab"/><Relationship Type="http://schemas.openxmlformats.org/officeDocument/2006/relationships/notesMaster" Target="/ppt/notesMasters/notesMaster1.xml" Id="Rc4d56603f0fa4919"/></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acc820aec2124170"/><Relationship Type="http://schemas.openxmlformats.org/officeDocument/2006/relationships/notesMaster" Target="/ppt/notesMasters/notesMaster1.xml" Id="Rbba1b121eaa442f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исследования поиска существуют разные коллекции. Natural Questions использует реальные запросы Google и разметку ответов в статьях Wikipedia. BEIR объединяет разнородные задачи для проверки переноса. Мы выбираем MS MARCO: это веб-поиск по реальным запросам Bing, открытые тексты и разреженные оценки релевантности. Такой набор позволяет исследовать влияние доразметки. Выбор не означает универсальности результатов.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Это исторический срез MS MARCO Passage Ranking на 30 ноября 2022 года, а не текущий рейтинг 2026 года. Четыре ведущие именованные системы в режиме full ranking на закрытом eval получили MRR@10 от 0,436 до 0,450. Размах 0,014. Метрика усредняет обратную позицию первого релевантного результата в первой десятке. Близость опубликованных средних не доказывает статистического равенства систем или неполноты разметки. Наш отдельный вопрос: насколько сравнение зависит от покрытия оценками? Далее приведён конкретный пример. Внешний MRR не сопоставляется напрямую с NDCG в наших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19b10fa65d44a0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10444bbe8cd649e7"/><Relationship Type="http://schemas.openxmlformats.org/officeDocument/2006/relationships/slideLayout" Target="/ppt/slideLayouts/slideLayout1.xml" Id="R759ab5e23007463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9ab5e23007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a8b4671fce34f03"/><Relationship Type="http://schemas.openxmlformats.org/officeDocument/2006/relationships/image" Target="/ppt/media/image.png" Id="R11b266abe71b45f2"/><Relationship Type="http://schemas.openxmlformats.org/officeDocument/2006/relationships/notesSlide" Target="/ppt/notesSlides/notesSlide1.xml" Id="R3d6905eeebd34ba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2aefc3f1898945a1"/><Relationship Type="http://schemas.openxmlformats.org/officeDocument/2006/relationships/notesSlide" Target="/ppt/notesSlides/notesSlide2.xml" Id="R5856274dcd4d435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036ef0037e5143db"/><Relationship Type="http://schemas.openxmlformats.org/officeDocument/2006/relationships/notesSlide" Target="/ppt/notesSlides/notesSlide3.xml" Id="R6267d641c8d443b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fcebb885b3204ceb"/><Relationship Type="http://schemas.openxmlformats.org/officeDocument/2006/relationships/notesSlide" Target="/ppt/notesSlides/notesSlide4.xml" Id="Rf33877c18281429f"/></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f0454e4fbb074bc8"/><Relationship Type="http://schemas.openxmlformats.org/officeDocument/2006/relationships/notesSlide" Target="/ppt/notesSlides/notesSlide5.xml" Id="Rd8678a04cb4d499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2730cd95e134abe"/><Relationship Type="http://schemas.openxmlformats.org/officeDocument/2006/relationships/notesSlide" Target="/ppt/notesSlides/notesSlide6.xml" Id="Raf11ee3739bc49d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bfdd600a117436a"/><Relationship Type="http://schemas.openxmlformats.org/officeDocument/2006/relationships/notesSlide" Target="/ppt/notesSlides/notesSlide7.xml" Id="R10131aadcb324fa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14bd098a81e247ee"/><Relationship Type="http://schemas.openxmlformats.org/officeDocument/2006/relationships/chart" Target="/ppt/slides/charts/chart1.xml" Id="Rae10bc0b107a4920"/><Relationship Type="http://schemas.openxmlformats.org/officeDocument/2006/relationships/notesSlide" Target="/ppt/notesSlides/notesSlide8.xml" Id="R70d75f256223499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627bd908e7140d1"/><Relationship Type="http://schemas.openxmlformats.org/officeDocument/2006/relationships/notesSlide" Target="/ppt/notesSlides/notesSlide9.xml" Id="Ra6994755bf6b442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abf54b9105748b9"/><Relationship Type="http://schemas.openxmlformats.org/officeDocument/2006/relationships/chart" Target="/ppt/slides/charts/chart2.xml" Id="R1c15ac8e8c214121"/><Relationship Type="http://schemas.openxmlformats.org/officeDocument/2006/relationships/notesSlide" Target="/ppt/notesSlides/notesSlide10.xml" Id="R4fb5e8ecf1e8451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fe27082499814c66"/><Relationship Type="http://schemas.openxmlformats.org/officeDocument/2006/relationships/chart" Target="/ppt/slides/charts/chart3.xml" Id="Rb16ce5a367b3433a"/><Relationship Type="http://schemas.openxmlformats.org/officeDocument/2006/relationships/notesSlide" Target="/ppt/notesSlides/notesSlide11.xml" Id="Rff6e0648cf1a476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71d1ea8d6a34501"/><Relationship Type="http://schemas.openxmlformats.org/officeDocument/2006/relationships/chart" Target="/ppt/slides/charts/chart4.xml" Id="Raf5a3cd61f1d408b"/><Relationship Type="http://schemas.openxmlformats.org/officeDocument/2006/relationships/notesSlide" Target="/ppt/notesSlides/notesSlide12.xml" Id="R06a146841b0d4f57"/></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3f7291cc4ad54cc8"/><Relationship Type="http://schemas.openxmlformats.org/officeDocument/2006/relationships/chart" Target="/ppt/slides/charts/chart5.xml" Id="R58600d943d744728"/><Relationship Type="http://schemas.openxmlformats.org/officeDocument/2006/relationships/notesSlide" Target="/ppt/notesSlides/notesSlide13.xml" Id="R27fc45790ccd4126"/></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0f7d97b16be40a4"/><Relationship Type="http://schemas.openxmlformats.org/officeDocument/2006/relationships/notesSlide" Target="/ppt/notesSlides/notesSlide14.xml" Id="R463b664073894f8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f5e78e1f8e84c2f"/><Relationship Type="http://schemas.openxmlformats.org/officeDocument/2006/relationships/notesSlide" Target="/ppt/notesSlides/notesSlide15.xml" Id="R9dfd4bb8d0224bd3"/></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50b3b4386114e3c"/><Relationship Type="http://schemas.openxmlformats.org/officeDocument/2006/relationships/notesSlide" Target="/ppt/notesSlides/notesSlide16.xml" Id="Rdddc0fb209dd49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6987fa5217946f8"/><Relationship Type="http://schemas.openxmlformats.org/officeDocument/2006/relationships/notesSlide" Target="/ppt/notesSlides/notesSlide17.xml" Id="R3d18c9ec10d0415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34274f418c3a4889"/><Relationship Type="http://schemas.openxmlformats.org/officeDocument/2006/relationships/notesSlide" Target="/ppt/notesSlides/notesSlide18.xml" Id="R1bea09837b1f4293"/></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1ac69eb1c2b4a95"/><Relationship Type="http://schemas.openxmlformats.org/officeDocument/2006/relationships/notesSlide" Target="/ppt/notesSlides/notesSlide19.xml" Id="Rc1ebdc5cbaed459f"/></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39d683892d2a4f57"/><Relationship Type="http://schemas.openxmlformats.org/officeDocument/2006/relationships/notesSlide" Target="/ppt/notesSlides/notesSlide20.xml" Id="R67ab39ace55a4fa5"/></Relationships>
</file>

<file path=ppt/slides/charts/chart1.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43F12FB4-DDEA-4DB3-8B21-61EA06F94D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1b266abe71b45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9CDBCD0D-5EFC-42AB-8D71-04BE332C096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224CD1C3-37ED-4A64-ADE9-8DAF11D18A1C}"/>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34A40AF9-3B13-4EB5-9B3D-748167F77B3E}"/>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C8D5587F-D7D3-4159-8DEB-892E51228FE5}"/>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51818432-F04C-4AB1-8882-B75767D5C174}"/>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6100971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74F01B8E-7852-4571-B837-8BBD0434556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15A80769-E2B2-42E1-8D84-B0785855A1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R w="0">
                      <a:solidFill>
                        <a:srgbClr val="FFFFFF"/>
                      </a:solidFill>
                    </a:lnR>
                    <a:lnT w="0">
                      <a:solidFill>
                        <a:srgbClr val="FFFFFF"/>
                      </a:solidFill>
                    </a:lnT>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R w="0">
                      <a:solidFill>
                        <a:srgbClr val="FFFFFF"/>
                      </a:solidFill>
                    </a:lnR>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R w="0">
                      <a:solidFill>
                        <a:srgbClr val="FFFFFF"/>
                      </a:solidFill>
                    </a:lnR>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solidFill>
                        <a:srgbClr val="FFFFFF"/>
                      </a:solidFill>
                    </a:lnL>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6BA3A037-B849-4AAE-9755-03E15914ACE5}"/>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3AA3DE5B-5DFE-47FB-8D08-B0377D49E0BE}"/>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68EF8AE0-0C4C-4E59-BE25-226702C04C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7502466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17C1A799-4922-4814-B073-A4E5A2EF5C0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9BA5557E-8F5F-422B-BE71-345960BB366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полный поиск, тестовый">
            <a:extLst xmlns:a="http://schemas.openxmlformats.org/drawingml/2006/main">
              <a:ext uri="{FF2B5EF4-FFF2-40B4-BE49-F238E27FC236}">
                <a16:creationId xmlns:a16="http://schemas.microsoft.com/office/drawing/2014/main" id="{4BCE8C1A-C89F-42FF-9471-94BBA9552AED}"/>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MS MARCO Passage Ranking, полный поиск, тестовый набор eval</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R w="0">
                      <a:solidFill>
                        <a:srgbClr val="FFFFFF"/>
                      </a:solidFill>
                    </a:lnR>
                    <a:lnT w="0">
                      <a:solidFill>
                        <a:srgbClr val="FFFFFF"/>
                      </a:solidFill>
                    </a:lnT>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R w="0">
                      <a:solidFill>
                        <a:srgbClr val="FFFFFF"/>
                      </a:solidFill>
                    </a:lnR>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EC8378FF-0AC0-4C5B-B24C-EB2C4B82E270}"/>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C8A4E4C-DEDE-4AB5-A2B7-CF28B8AF4F51}"/>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C5CC4724-F766-43F2-9C14-A77DFD4986EF}"/>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CAA6E908-2CED-494F-A328-367ABE88074E}"/>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С">
            <a:extLst xmlns:a="http://schemas.openxmlformats.org/drawingml/2006/main">
              <a:ext uri="{FF2B5EF4-FFF2-40B4-BE49-F238E27FC236}">
                <a16:creationId xmlns:a16="http://schemas.microsoft.com/office/drawing/2014/main" id="{CE0666A3-B449-48E3-B2E1-21C1D1ABCEBE}"/>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Срез на 30.11.2022.</a:t>
            </a:r>
          </a:p>
        </p:txBody>
      </p:sp>
    </p:spTree>
    <p:extLst>
      <p:ext uri="{BB962C8B-B14F-4D97-AF65-F5344CB8AC3E}">
        <p14:creationId xmlns:p14="http://schemas.microsoft.com/office/powerpoint/2010/main" val="9982802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E462883E-901E-4E20-B845-ABDAE56259E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71CE37D1-9669-4472-9A52-D3CA7FC2DDE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5BC45797-7A17-41F5-A538-B6928A14EC93}"/>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Фрагмент в сокращении</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818BB88C-CD6B-4292-97C6-338446FD5D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 Тексты переведены и сокращены.</a:t>
            </a:r>
          </a:p>
        </p:txBody>
      </p:sp>
    </p:spTree>
    <p:extLst>
      <p:ext uri="{BB962C8B-B14F-4D97-AF65-F5344CB8AC3E}">
        <p14:creationId xmlns:p14="http://schemas.microsoft.com/office/powerpoint/2010/main" val="3120355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анные и покрытие разметкой">
            <a:extLst xmlns:a="http://schemas.openxmlformats.org/drawingml/2006/main">
              <a:ext uri="{FF2B5EF4-FFF2-40B4-BE49-F238E27FC236}">
                <a16:creationId xmlns:a16="http://schemas.microsoft.com/office/drawing/2014/main" id="{29440B49-DDFD-465C-B6B4-58D748470CB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и покрытие разметкой</a:t>
            </a:r>
          </a:p>
        </p:txBody>
      </p:sp>
      <p:sp>
        <p:nvSpPr>
          <p:cNvPr id="2" name="05">
            <a:extLst xmlns:a="http://schemas.openxmlformats.org/drawingml/2006/main">
              <a:ext uri="{FF2B5EF4-FFF2-40B4-BE49-F238E27FC236}">
                <a16:creationId xmlns:a16="http://schemas.microsoft.com/office/drawing/2014/main" id="{0809FE34-21C9-4F2C-AC36-84C5B2DECBF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Англоязычный MS MARCO">
            <a:extLst xmlns:a="http://schemas.openxmlformats.org/drawingml/2006/main">
              <a:ext uri="{FF2B5EF4-FFF2-40B4-BE49-F238E27FC236}">
                <a16:creationId xmlns:a16="http://schemas.microsoft.com/office/drawing/2014/main" id="{885590F3-214F-45B1-A7AE-C26A64A43227}"/>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Англоязычный MS MARCO</a:t>
            </a:r>
          </a:p>
        </p:txBody>
      </p:sp>
      <p:sp>
        <p:nvSpPr>
          <p:cNvPr id="4" name="8,84 млн текстовых фрагментов">
            <a:extLst xmlns:a="http://schemas.openxmlformats.org/drawingml/2006/main">
              <a:ext uri="{FF2B5EF4-FFF2-40B4-BE49-F238E27FC236}">
                <a16:creationId xmlns:a16="http://schemas.microsoft.com/office/drawing/2014/main" id="{0DADC2AB-0A94-4F00-9A6F-B1C0A88E53C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млн текстовых фрагментов</a:t>
            </a:r>
          </a:p>
        </p:txBody>
      </p:sp>
      <p:sp>
        <p:nvSpPr>
          <p:cNvPr id="5" name="">
            <a:extLst xmlns:a="http://schemas.openxmlformats.org/drawingml/2006/main">
              <a:ext uri="{FF2B5EF4-FFF2-40B4-BE49-F238E27FC236}">
                <a16:creationId xmlns:a16="http://schemas.microsoft.com/office/drawing/2014/main" id="{7992A276-434E-447B-B4F5-B25E844000A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Оценки человека">
            <a:extLst xmlns:a="http://schemas.openxmlformats.org/drawingml/2006/main">
              <a:ext uri="{FF2B5EF4-FFF2-40B4-BE49-F238E27FC236}">
                <a16:creationId xmlns:a16="http://schemas.microsoft.com/office/drawing/2014/main" id="{8F487C3B-3C81-4606-98A2-7D8003F251EC}"/>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Оценки человека</a:t>
            </a:r>
          </a:p>
        </p:txBody>
      </p:sp>
      <p:sp>
        <p:nvSpPr>
          <p:cNvPr id="7" name="1 179">
            <a:extLst xmlns:a="http://schemas.openxmlformats.org/drawingml/2006/main">
              <a:ext uri="{FF2B5EF4-FFF2-40B4-BE49-F238E27FC236}">
                <a16:creationId xmlns:a16="http://schemas.microsoft.com/office/drawing/2014/main" id="{424A0CF9-F2D1-49EA-8DCF-DB48E54C5CCB}"/>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1 179</a:t>
            </a:r>
          </a:p>
        </p:txBody>
      </p:sp>
      <p:sp>
        <p:nvSpPr>
          <p:cNvPr id="8" name="запросов, 33 667 пар">
            <a:extLst xmlns:a="http://schemas.openxmlformats.org/drawingml/2006/main">
              <a:ext uri="{FF2B5EF4-FFF2-40B4-BE49-F238E27FC236}">
                <a16:creationId xmlns:a16="http://schemas.microsoft.com/office/drawing/2014/main" id="{97292762-C224-4238-96F1-63596DF8E0F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33 667 пар</a:t>
            </a:r>
          </a:p>
        </p:txBody>
      </p:sp>
      <p:sp>
        <p:nvSpPr>
          <p:cNvPr id="9" name="Предсказания судьи">
            <a:extLst xmlns:a="http://schemas.openxmlformats.org/drawingml/2006/main">
              <a:ext uri="{FF2B5EF4-FFF2-40B4-BE49-F238E27FC236}">
                <a16:creationId xmlns:a16="http://schemas.microsoft.com/office/drawing/2014/main" id="{FF802F60-5108-414E-8817-64B7547556B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Предсказания судьи</a:t>
            </a:r>
          </a:p>
        </p:txBody>
      </p:sp>
      <p:sp>
        <p:nvSpPr>
          <p:cNvPr id="10" name="101 093">
            <a:extLst xmlns:a="http://schemas.openxmlformats.org/drawingml/2006/main">
              <a:ext uri="{FF2B5EF4-FFF2-40B4-BE49-F238E27FC236}">
                <a16:creationId xmlns:a16="http://schemas.microsoft.com/office/drawing/2014/main" id="{0C15585C-9684-4427-84E9-D52FC610E66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101 093</a:t>
            </a:r>
          </a:p>
        </p:txBody>
      </p:sp>
      <p:sp>
        <p:nvSpPr>
          <p:cNvPr id="11" name="запроса, разная глубина пулов">
            <a:extLst xmlns:a="http://schemas.openxmlformats.org/drawingml/2006/main">
              <a:ext uri="{FF2B5EF4-FFF2-40B4-BE49-F238E27FC236}">
                <a16:creationId xmlns:a16="http://schemas.microsoft.com/office/drawing/2014/main" id="{027926A5-BE63-41C5-8A64-5C753293EC9D}"/>
              </a:ext>
            </a:extLst>
          </p:cNvPr>
          <p:cNvSpPr>
            <a:spLocks xmlns:a="http://schemas.openxmlformats.org/drawingml/2006/main" noGrp="1"/>
          </p:cNvSpPr>
          <p:nvPr/>
        </p:nvSpPr>
        <p:spPr>
          <a:xfrm xmlns:a="http://schemas.openxmlformats.org/drawingml/2006/main">
            <a:off x="6705600" y="4933950"/>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B30"/>
                </a:solidFill>
                <a:latin typeface="Arial"/>
                <a:ea typeface="Arial"/>
                <a:cs typeface="Arial"/>
              </a:defRPr>
            </a:pPr>
            <a:r>
              <a:rPr sz="1950" b="0">
                <a:solidFill>
                  <a:srgbClr val="182B30"/>
                </a:solidFill>
                <a:latin typeface="Arial"/>
                <a:ea typeface="Arial"/>
                <a:cs typeface="Arial"/>
              </a:rPr>
              <a:t>запроса, разная глубина пулов</a:t>
            </a:r>
          </a:p>
        </p:txBody>
      </p:sp>
      <p:sp>
        <p:nvSpPr>
          <p:cNvPr id="12" name="Глубокая доразметка: оценивание многих кандидато">
            <a:extLst xmlns:a="http://schemas.openxmlformats.org/drawingml/2006/main">
              <a:ext uri="{FF2B5EF4-FFF2-40B4-BE49-F238E27FC236}">
                <a16:creationId xmlns:a16="http://schemas.microsoft.com/office/drawing/2014/main" id="{D55EAFBC-2984-4120-BE2D-F4161F67F7D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Глубокая доразметка: оценивание многих кандидатов внутри заданного пула.</a:t>
            </a:r>
          </a:p>
        </p:txBody>
      </p:sp>
    </p:spTree>
    <p:extLst>
      <p:ext uri="{BB962C8B-B14F-4D97-AF65-F5344CB8AC3E}">
        <p14:creationId xmlns:p14="http://schemas.microsoft.com/office/powerpoint/2010/main" val="328056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180C7DB2-459B-4FCA-B79E-4F7B01D8FB3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8727F5A5-8D83-4689-8D44-300EC745B5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122F6B6B-D2C8-41A5-82B2-7E3C49807359}"/>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9043F992-32D7-4449-818D-8A689A365371}"/>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4E8EC3BB-D1E0-4F01-9ECF-DE639FB8DCB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52BC621C-33D9-4797-AA40-B1DCA0C2B305}"/>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2BAC93DA-3DBF-43EE-9A26-630664A6CAC3}"/>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EC4BFF6D-EB88-4B26-9FCE-237431C292EB}"/>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EC799A55-7998-4E95-94EA-2E58E2265DC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5849022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2F84F334-3FCA-4185-A0B7-D9B4957261B4}"/>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27841D99-97A6-4E23-AF83-2F34537AB9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F206EA3E-742D-40EB-B494-42785A50D57D}"/>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8661E4D4-46D6-455E-B58B-0DC6B9E7CD37}"/>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C30C539F-5666-435A-A529-864C3E40D117}"/>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8D375D0-B31D-4BC8-8ABD-4A7624FFD4C0}"/>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6E654A1D-412E-41F4-B5D4-B2B2C7032D94}"/>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C2CFF259-CFAE-41C7-BADE-34ECD590AC53}"/>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7EE3F3E2-8DC4-4A75-BAD1-2C44C28FC79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331F238E-5D12-4A92-A05F-A43F00CD91A5}"/>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54395DF9-884F-4120-943B-ABA535AD06C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515653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A52BD454-9902-459D-8BAC-0A7268AC614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2E01C210-BF32-4CD2-8E09-A1719ADCB21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572BA23-5366-4F82-A986-62D1F22C734A}"/>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ae10bc0b107a4920"/>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B57DDB50-6925-42ED-B7EF-D724ACFADED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E6EA5B10-B1ED-4E23-8E80-B90DA7A9B3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0993570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02A6FC39-BC0B-4EF3-9AE8-EF954A6ADC3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134C94FC-E04A-4FFD-9C20-F2C65B38AE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438A7F86-A146-4E76-81EE-BEA22EB9BB72}"/>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74610700-EFCB-4214-95DA-06649207DBD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DB05FA60-A375-4286-B946-1FA613A52C8B}"/>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2EDE7226-1D53-48B7-BE6B-98E8EA37A17F}"/>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3622A992-FEB0-4994-809E-4A3AFDDA142F}"/>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28D39B00-7159-478F-81A4-EC86D1279D6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456DC5FA-8092-4A8F-A989-E27A3D4028D2}"/>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C2542CD9-03DB-4860-B0A9-F584330EB9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18016905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EB45E93D-CD0E-4A10-8959-0FAA367E062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4CC34399-9D4E-4752-BEA1-492AC641292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D5EC8F41-7F7B-4A2A-B015-ED24654413E8}"/>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1c15ac8e8c214121"/>
          </a:graphicData>
        </a:graphic>
      </p:graphicFrame>
      <p:sp>
        <p:nvSpPr>
          <p:cNvPr id="5" name="0,907">
            <a:extLst xmlns:a="http://schemas.openxmlformats.org/drawingml/2006/main">
              <a:ext uri="{FF2B5EF4-FFF2-40B4-BE49-F238E27FC236}">
                <a16:creationId xmlns:a16="http://schemas.microsoft.com/office/drawing/2014/main" id="{9BCCD319-E60F-41BB-A76E-2A02BB383104}"/>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056B5D30-D47B-4219-8610-E0D231C5FEC1}"/>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EA9B9CEC-524D-41FC-9FA3-E482F5EB66EE}"/>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CD95DE05-ACC6-417A-A691-5E9340BC662C}"/>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DC01530B-174D-49D6-A902-494EA2EDE126}"/>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Точка: порог, выбранный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F98DCA31-DBE9-49D9-99AC-D27419C70E0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18459086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80A24C4-5B46-4BED-A63B-DD2A9F1A174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891422B3-B4CE-43F7-A005-8AB8DEF11AF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F7230BB2-9734-4D60-AFDE-8C1CDE205EB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824F135C-B9EB-4F6D-A6E8-E78F31BD5131}"/>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b16ce5a367b3433a"/>
          </a:graphicData>
        </a:graphic>
      </p:graphicFrame>
      <p:sp>
        <p:nvSpPr>
          <p:cNvPr id="6" name="451,5">
            <a:extLst xmlns:a="http://schemas.openxmlformats.org/drawingml/2006/main">
              <a:ext uri="{FF2B5EF4-FFF2-40B4-BE49-F238E27FC236}">
                <a16:creationId xmlns:a16="http://schemas.microsoft.com/office/drawing/2014/main" id="{440526EC-EAC4-41F6-B0AA-F5A1CF2E40C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3E38A391-5AB4-43CD-8CA8-5F5BD802FE8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F3579888-4EAB-4DC7-BECE-F4F532C841D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релевантных&#10;по судье при K = 200">
            <a:extLst xmlns:a="http://schemas.openxmlformats.org/drawingml/2006/main">
              <a:ext uri="{FF2B5EF4-FFF2-40B4-BE49-F238E27FC236}">
                <a16:creationId xmlns:a16="http://schemas.microsoft.com/office/drawing/2014/main" id="{1EC994F1-98D3-41BE-B0EC-ACAEDFAB086C}"/>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релевантных</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 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4D4BAF8-1AF8-484E-AB49-0AAA95854C4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9188845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63A290C3-5A20-41A4-BB3D-FED9B3675C2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3D2F3BA3-F106-4AEC-AC8A-9985286820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2F3594EC-A2CC-4D03-ADE7-3FD87A976AAF}"/>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39A7910-143B-42D7-89CD-09906D8642AD}"/>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Обе глубины меняются одновременно: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af5a3cd61f1d408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8FB2A5CF-72BE-4C32-9DB7-87EB58FD8331}"/>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B2E5AE54-9044-44ED-A1EF-20933CA79193}"/>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2635158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462138B4-4770-4D8C-BFC9-3DA5F61178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7C6F62FE-2B87-4224-9A91-18A4DA1A9F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D53FEB83-E5AD-4576-811C-0BC24C0D2343}"/>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DDFBBED2-8400-4A0A-A58F-9F83CD75C48F}"/>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8600d943d744728"/>
          </a:graphicData>
        </a:graphic>
      </p:graphicFrame>
      <p:sp>
        <p:nvSpPr>
          <p:cNvPr id="6" name="14,4%">
            <a:extLst xmlns:a="http://schemas.openxmlformats.org/drawingml/2006/main">
              <a:ext uri="{FF2B5EF4-FFF2-40B4-BE49-F238E27FC236}">
                <a16:creationId xmlns:a16="http://schemas.microsoft.com/office/drawing/2014/main" id="{752B4FE5-2C43-4438-AF44-B4BAC97BDF8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C1120972-0F48-4634-8166-CA65336E180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4B81C201-E648-4B20-9895-BA8D05300DF5}"/>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AF6FD07E-A697-465C-839B-C8E2B761A488}"/>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A9046A9A-23C4-40E2-AFE5-06BFB75269A4}"/>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304F5906-69AC-413F-BDF1-70DD3E5945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минус E5 по псевдометкам. Фрагменты без оценки дают нулевой вклад.</a:t>
            </a:r>
          </a:p>
        </p:txBody>
      </p:sp>
    </p:spTree>
    <p:extLst>
      <p:ext uri="{BB962C8B-B14F-4D97-AF65-F5344CB8AC3E}">
        <p14:creationId xmlns:p14="http://schemas.microsoft.com/office/powerpoint/2010/main" val="16619578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C8052B11-72BA-4D3A-B5BF-08C73A13D40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C552EA4A-A8E6-442F-958E-3BD9A0E3089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F5028198-35FC-4032-A823-30BDE8611501}"/>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Сравнение после исключения части запросов</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Оценивание</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Запросов</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Результат</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Ручная разметка</a:t>
                      </a:r>
                    </a:p>
                    <a:p>
                      <a:r>
                        <a:rPr sz="1875" b="0">
                          <a:solidFill>
                            <a:srgbClr val="182B30"/>
                          </a:solidFill>
                          <a:latin typeface="Arial"/>
                          <a:ea typeface="Arial"/>
                          <a:cs typeface="Arial"/>
                        </a:rPr>
                        <a:t>Исключены 23 запроса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1 156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Порядок систем сохранён</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Псевдометки</a:t>
                      </a:r>
                    </a:p>
                    <a:p>
                      <a:r>
                        <a:rPr sz="1875" b="0">
                          <a:solidFill>
                            <a:srgbClr val="182B30"/>
                          </a:solidFill>
                          <a:latin typeface="Arial"/>
                          <a:ea typeface="Arial"/>
                          <a:cs typeface="Arial"/>
                        </a:rPr>
                        <a:t>Без ручных запросов</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Знаки разностей</a:t>
                      </a:r>
                    </a:p>
                    <a:p>
                      <a:r>
                        <a:rPr sz="1875" b="0">
                          <a:solidFill>
                            <a:srgbClr val="182B30"/>
                          </a:solidFill>
                          <a:latin typeface="Arial"/>
                          <a:ea typeface="Arial"/>
                          <a:cs typeface="Arial"/>
                        </a:rPr>
                        <a:t>RRF–E5 сохранены</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823344-FAE0-4CD2-8939-01B5175ACAF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153C452C-765B-4086-87CE-9EEE1BC85A66}"/>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8BC29F2F-7FB3-44A7-9F09-F13CCD6A21CD}"/>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454D62ED-66DF-4512-9C7B-23273E9FEC0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15531979"/>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938B4A72-BF4C-4CBE-8406-C7CF24AE010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3EB6A038-62F4-43CF-973B-9C6160FDFA2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15</a:t>
            </a:r>
          </a:p>
        </p:txBody>
      </p:sp>
      <p:sp>
        <p:nvSpPr>
          <p:cNvPr id="3" name="Оценки человека">
            <a:extLst xmlns:a="http://schemas.openxmlformats.org/drawingml/2006/main">
              <a:ext uri="{FF2B5EF4-FFF2-40B4-BE49-F238E27FC236}">
                <a16:creationId xmlns:a16="http://schemas.microsoft.com/office/drawing/2014/main" id="{7846F2EE-7B9B-4AFA-A458-4F77F0D676DA}"/>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2365C996-1720-4E6E-97B4-58796E4DD5B3}"/>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44DD5A1C-ADBC-492E-BE83-B8C1392967D0}"/>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6E07553B-2969-4EF6-8031-43E629AD136C}"/>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9B0C9924-AAF6-4820-AB64-45BA6931E979}"/>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908663B-D9E6-4D61-A816-301DABB69F29}"/>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6E1327D9-6879-4D60-B7EA-6CF349D235E7}"/>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2E895D64-7ACB-4F92-A337-8A06E025BDE4}"/>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Далее: более сильные судьи с эталонным ответом и без него.</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Проверка по независимым человеческим оценкам.</a:t>
            </a:r>
          </a: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72A0D8F9-A4DE-4C74-9D9F-4C6FA0AE3F5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14051107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7B795499-130E-4798-9F0C-1D59211110F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4772FEB0-0CEA-4F34-B187-B459EF84AAF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sp>
        <p:nvSpPr>
          <p:cNvPr id="3" name="NDCG@10 = DCG@10 / идеальный DCG@10">
            <a:extLst xmlns:a="http://schemas.openxmlformats.org/drawingml/2006/main">
              <a:ext uri="{FF2B5EF4-FFF2-40B4-BE49-F238E27FC236}">
                <a16:creationId xmlns:a16="http://schemas.microsoft.com/office/drawing/2014/main" id="{50CA82AB-E216-49F5-8303-68EB429CD59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0429838F-D6DD-4E49-905D-39E467FDB9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8095961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9066D727-6F67-485B-928E-6CA347AFB4A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C7A120FD-59F6-4E66-AE7A-9B135B5BBE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3D9CB67-32A2-4272-8064-3EEAEB83A32D}"/>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75FE748-E62E-4D62-B06D-1B1F4685D8A9}"/>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D63CE268-64D7-4D03-B1F5-8DEE5469F04E}"/>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097C24B-ACF4-4AFB-986F-09232AA1C169}"/>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4583A6BD-2671-4F4E-99AE-F8E35EC68D5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B1077A71-5687-4CA9-BA6E-51E572B2ECA8}"/>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3A1DBFD4-2A2E-4A82-A172-FED2377C78E1}"/>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3CFB25D7-1F68-4A24-A094-262125DBE4D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C0AD2B7-30FE-4113-9051-1A77F4818F5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7C677603-DF95-4B0B-9971-92DB8F29A5B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5331609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6D6AD37F-0F1E-4BDF-B101-9DE6640398E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DF7F38DB-A090-4343-932A-4DDBA04ED2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D00D5A5F-0AFB-4A56-9636-B6842DE97A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6504251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38E3C9B5-2B9F-44DD-9F82-52F5437D74D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258AD341-910C-454D-BB23-F68E97DF044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6663FD39-1B78-4362-8331-4DFB2791C31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BFD009CC-439E-4F26-9704-53280FA1CCC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AFCF15DC-D875-42C3-AC43-0F8D2AE67FF7}"/>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66F7FDD1-E0A7-40D1-A3C4-843AB00953F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3777754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73D8C87D-21CE-48A3-97C8-CCA323B33A9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Следующий шаг: судья с эталонным ответом</a:t>
            </a:r>
          </a:p>
        </p:txBody>
      </p:sp>
      <p:sp>
        <p:nvSpPr>
          <p:cNvPr id="2" name="РЕЗЕРВ 5">
            <a:extLst xmlns:a="http://schemas.openxmlformats.org/drawingml/2006/main">
              <a:ext uri="{FF2B5EF4-FFF2-40B4-BE49-F238E27FC236}">
                <a16:creationId xmlns:a16="http://schemas.microsoft.com/office/drawing/2014/main" id="{A7E9FB7B-2D33-470A-9CEE-44DE6D871A5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Предлагаемый вход">
            <a:extLst xmlns:a="http://schemas.openxmlformats.org/drawingml/2006/main">
              <a:ext uri="{FF2B5EF4-FFF2-40B4-BE49-F238E27FC236}">
                <a16:creationId xmlns:a16="http://schemas.microsoft.com/office/drawing/2014/main" id="{5AC31B4B-D50E-464E-80E8-00995441643A}"/>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C4281E0-89F7-4707-8BC9-A44C30AB9BBB}"/>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9273025A-11FA-4325-AF96-B9F97B67FDD2}"/>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EA0D7BF0-89DE-4230-B7D7-51F8274019AF}"/>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81B7482A-035C-407A-8BA2-578C3A6B3E8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5469967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