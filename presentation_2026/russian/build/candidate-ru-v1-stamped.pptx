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f0851e6eadda4df6"/><Relationship Type="http://schemas.openxmlformats.org/officeDocument/2006/relationships/extended-properties" Target="/docProps/app.xml" Id="R46789c036d734c02"/><Relationship Type="http://schemas.openxmlformats.org/officeDocument/2006/relationships/officeDocument" Target="/ppt/presentation.xml" Id="R74d7f77865c8443f"/></Relationships>
</file>

<file path=ppt/presentation.xml><?xml version="1.0" encoding="utf-8"?>
<p:presentation xmlns:p="http://schemas.openxmlformats.org/presentationml/2006/main">
  <p:sldMasterIdLst>
    <p:sldMasterId xmlns:r="http://schemas.openxmlformats.org/officeDocument/2006/relationships" id="2147483648" r:id="Ra8880ca821474177"/>
  </p:sldMasterIdLst>
  <p:notesMasterIdLst>
    <p:notesMasterId xmlns:r="http://schemas.openxmlformats.org/officeDocument/2006/relationships" r:id="R914f2a6a0f654051"/>
  </p:notesMasterIdLst>
  <p:sldIdLst>
    <p:sldId xmlns:r="http://schemas.openxmlformats.org/officeDocument/2006/relationships" id="256" r:id="R3c7a3cf4f4a64c39"/>
    <p:sldId xmlns:r="http://schemas.openxmlformats.org/officeDocument/2006/relationships" id="257" r:id="R97583347d9db4064"/>
    <p:sldId xmlns:r="http://schemas.openxmlformats.org/officeDocument/2006/relationships" id="258" r:id="Re933040fdf94492f"/>
    <p:sldId xmlns:r="http://schemas.openxmlformats.org/officeDocument/2006/relationships" id="259" r:id="R5025647e02da4d58"/>
    <p:sldId xmlns:r="http://schemas.openxmlformats.org/officeDocument/2006/relationships" id="260" r:id="R17a3074ea11847c2"/>
    <p:sldId xmlns:r="http://schemas.openxmlformats.org/officeDocument/2006/relationships" id="261" r:id="Rd3ad122f6c584252"/>
    <p:sldId xmlns:r="http://schemas.openxmlformats.org/officeDocument/2006/relationships" id="262" r:id="Rbef6be075d624899"/>
    <p:sldId xmlns:r="http://schemas.openxmlformats.org/officeDocument/2006/relationships" id="263" r:id="R3f638b937c3a48b9"/>
    <p:sldId xmlns:r="http://schemas.openxmlformats.org/officeDocument/2006/relationships" id="264" r:id="R6c45cdf234ba46b0"/>
    <p:sldId xmlns:r="http://schemas.openxmlformats.org/officeDocument/2006/relationships" id="265" r:id="Rd6f237e554ca4faa"/>
    <p:sldId xmlns:r="http://schemas.openxmlformats.org/officeDocument/2006/relationships" id="266" r:id="Ra05dcacd707a4f6d"/>
    <p:sldId xmlns:r="http://schemas.openxmlformats.org/officeDocument/2006/relationships" id="267" r:id="R8c53f7bc59724208"/>
    <p:sldId xmlns:r="http://schemas.openxmlformats.org/officeDocument/2006/relationships" id="268" r:id="Rdd92a6b690354da8"/>
    <p:sldId xmlns:r="http://schemas.openxmlformats.org/officeDocument/2006/relationships" id="269" r:id="Rbaa13407a8224998"/>
    <p:sldId xmlns:r="http://schemas.openxmlformats.org/officeDocument/2006/relationships" id="270" r:id="Rfe5e3d2733ee4809"/>
    <p:sldId xmlns:r="http://schemas.openxmlformats.org/officeDocument/2006/relationships" id="271" r:id="R536647308ae34383"/>
    <p:sldId xmlns:r="http://schemas.openxmlformats.org/officeDocument/2006/relationships" id="272" r:id="R99a05933b1a24bfc"/>
    <p:sldId xmlns:r="http://schemas.openxmlformats.org/officeDocument/2006/relationships" id="273" r:id="R40170fc3d4d24c0b"/>
    <p:sldId xmlns:r="http://schemas.openxmlformats.org/officeDocument/2006/relationships" id="274" r:id="R39b12f5a840e4084"/>
    <p:sldId xmlns:r="http://schemas.openxmlformats.org/officeDocument/2006/relationships" id="275" r:id="Rfbecc633dc104c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2ae797e535964a53"/><Relationship Type="http://schemas.openxmlformats.org/officeDocument/2006/relationships/slideMaster" Target="/ppt/slideMasters/slideMaster1.xml" Id="Ra8880ca821474177"/><Relationship Type="http://schemas.openxmlformats.org/officeDocument/2006/relationships/notesMaster" Target="/ppt/notesMasters/notesMaster1.xml" Id="R914f2a6a0f654051"/><Relationship Type="http://schemas.openxmlformats.org/officeDocument/2006/relationships/presProps" Target="/ppt/presProps.xml" Id="R737551fb99814ec7"/><Relationship Type="http://schemas.openxmlformats.org/officeDocument/2006/relationships/tableStyles" Target="/ppt/tableStyles.xml" Id="Rcac2e8058ca24cef"/><Relationship Type="http://schemas.openxmlformats.org/officeDocument/2006/relationships/slide" Target="/ppt/slides/slide1.xml" Id="R3c7a3cf4f4a64c39"/><Relationship Type="http://schemas.openxmlformats.org/officeDocument/2006/relationships/slide" Target="/ppt/slides/slide2.xml" Id="R97583347d9db4064"/><Relationship Type="http://schemas.openxmlformats.org/officeDocument/2006/relationships/slide" Target="/ppt/slides/slide3.xml" Id="Re933040fdf94492f"/><Relationship Type="http://schemas.openxmlformats.org/officeDocument/2006/relationships/slide" Target="/ppt/slides/slide4.xml" Id="R5025647e02da4d58"/><Relationship Type="http://schemas.openxmlformats.org/officeDocument/2006/relationships/slide" Target="/ppt/slides/slide5.xml" Id="R17a3074ea11847c2"/><Relationship Type="http://schemas.openxmlformats.org/officeDocument/2006/relationships/slide" Target="/ppt/slides/slide6.xml" Id="Rd3ad122f6c584252"/><Relationship Type="http://schemas.openxmlformats.org/officeDocument/2006/relationships/slide" Target="/ppt/slides/slide7.xml" Id="Rbef6be075d624899"/><Relationship Type="http://schemas.openxmlformats.org/officeDocument/2006/relationships/slide" Target="/ppt/slides/slide8.xml" Id="R3f638b937c3a48b9"/><Relationship Type="http://schemas.openxmlformats.org/officeDocument/2006/relationships/slide" Target="/ppt/slides/slide9.xml" Id="R6c45cdf234ba46b0"/><Relationship Type="http://schemas.openxmlformats.org/officeDocument/2006/relationships/slide" Target="/ppt/slides/slide10.xml" Id="Rd6f237e554ca4faa"/><Relationship Type="http://schemas.openxmlformats.org/officeDocument/2006/relationships/slide" Target="/ppt/slides/slide11.xml" Id="Ra05dcacd707a4f6d"/><Relationship Type="http://schemas.openxmlformats.org/officeDocument/2006/relationships/slide" Target="/ppt/slides/slide12.xml" Id="R8c53f7bc59724208"/><Relationship Type="http://schemas.openxmlformats.org/officeDocument/2006/relationships/slide" Target="/ppt/slides/slide13.xml" Id="Rdd92a6b690354da8"/><Relationship Type="http://schemas.openxmlformats.org/officeDocument/2006/relationships/slide" Target="/ppt/slides/slide14.xml" Id="Rbaa13407a8224998"/><Relationship Type="http://schemas.openxmlformats.org/officeDocument/2006/relationships/slide" Target="/ppt/slides/slide15.xml" Id="Rfe5e3d2733ee4809"/><Relationship Type="http://schemas.openxmlformats.org/officeDocument/2006/relationships/slide" Target="/ppt/slides/slide16.xml" Id="R536647308ae34383"/><Relationship Type="http://schemas.openxmlformats.org/officeDocument/2006/relationships/slide" Target="/ppt/slides/slide17.xml" Id="R99a05933b1a24bfc"/><Relationship Type="http://schemas.openxmlformats.org/officeDocument/2006/relationships/slide" Target="/ppt/slides/slide18.xml" Id="R40170fc3d4d24c0b"/><Relationship Type="http://schemas.openxmlformats.org/officeDocument/2006/relationships/slide" Target="/ppt/slides/slide19.xml" Id="R39b12f5a840e4084"/><Relationship Type="http://schemas.openxmlformats.org/officeDocument/2006/relationships/slide" Target="/ppt/slides/slide20.xml" Id="Rfbecc633dc104c41"/></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b5b3365f45c248b7"/></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ac9d70e6df924656"/><Relationship Type="http://schemas.openxmlformats.org/officeDocument/2006/relationships/notesMaster" Target="/ppt/notesMasters/notesMaster1.xml" Id="R076c9cf19e7c4c62"/></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882468d56b8f4c96"/><Relationship Type="http://schemas.openxmlformats.org/officeDocument/2006/relationships/notesMaster" Target="/ppt/notesMasters/notesMaster1.xml" Id="R6047efe117064e04"/></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2915bed73b6d447b"/><Relationship Type="http://schemas.openxmlformats.org/officeDocument/2006/relationships/notesMaster" Target="/ppt/notesMasters/notesMaster1.xml" Id="Rbeacb2a5868b4ffc"/></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e40e4a088dec40a3"/><Relationship Type="http://schemas.openxmlformats.org/officeDocument/2006/relationships/notesMaster" Target="/ppt/notesMasters/notesMaster1.xml" Id="Rdb8db888b15d45e5"/></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7bdddbd68dde4943"/><Relationship Type="http://schemas.openxmlformats.org/officeDocument/2006/relationships/notesMaster" Target="/ppt/notesMasters/notesMaster1.xml" Id="Rf1cc1dacd914436c"/></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f8b92f47d9054d81"/><Relationship Type="http://schemas.openxmlformats.org/officeDocument/2006/relationships/notesMaster" Target="/ppt/notesMasters/notesMaster1.xml" Id="Rbd202b99bf53427e"/></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755be8ab913a45b9"/><Relationship Type="http://schemas.openxmlformats.org/officeDocument/2006/relationships/notesMaster" Target="/ppt/notesMasters/notesMaster1.xml" Id="R1aa3f07ef7d74feb"/></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adacd58d3ed44f79"/><Relationship Type="http://schemas.openxmlformats.org/officeDocument/2006/relationships/notesMaster" Target="/ppt/notesMasters/notesMaster1.xml" Id="R2aa2a334c6834d7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651d69d747f84303"/><Relationship Type="http://schemas.openxmlformats.org/officeDocument/2006/relationships/notesMaster" Target="/ppt/notesMasters/notesMaster1.xml" Id="R8ac8350991444e7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38df524614c14205"/><Relationship Type="http://schemas.openxmlformats.org/officeDocument/2006/relationships/notesMaster" Target="/ppt/notesMasters/notesMaster1.xml" Id="Rb916cdd5df7e4f10"/></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23a2e75783cb4563"/><Relationship Type="http://schemas.openxmlformats.org/officeDocument/2006/relationships/notesMaster" Target="/ppt/notesMasters/notesMaster1.xml" Id="R03d58f36393a4d1c"/></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a3053b5fd23541c3"/><Relationship Type="http://schemas.openxmlformats.org/officeDocument/2006/relationships/notesMaster" Target="/ppt/notesMasters/notesMaster1.xml" Id="R3280d98735a14693"/></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85a871f5b92e4328"/><Relationship Type="http://schemas.openxmlformats.org/officeDocument/2006/relationships/notesMaster" Target="/ppt/notesMasters/notesMaster1.xml" Id="Rb78cdbd1d8284c97"/></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deff3a4db0554101"/><Relationship Type="http://schemas.openxmlformats.org/officeDocument/2006/relationships/notesMaster" Target="/ppt/notesMasters/notesMaster1.xml" Id="Rd4b33d0862594353"/></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52208e6edb604a70"/><Relationship Type="http://schemas.openxmlformats.org/officeDocument/2006/relationships/notesMaster" Target="/ppt/notesMasters/notesMaster1.xml" Id="Rcd633265976c4fbd"/></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62dd2e297c8440ae"/><Relationship Type="http://schemas.openxmlformats.org/officeDocument/2006/relationships/notesMaster" Target="/ppt/notesMasters/notesMaster1.xml" Id="R2003acb8b0bf4c4b"/></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094482c13e7146c9"/><Relationship Type="http://schemas.openxmlformats.org/officeDocument/2006/relationships/notesMaster" Target="/ppt/notesMasters/notesMaster1.xml" Id="R7273cc4f4d8a4417"/></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29a6e9f7b15c4910"/><Relationship Type="http://schemas.openxmlformats.org/officeDocument/2006/relationships/notesMaster" Target="/ppt/notesMasters/notesMaster1.xml" Id="R3fe88f7a9b204fe3"/></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8b5beb29c7a845ab"/><Relationship Type="http://schemas.openxmlformats.org/officeDocument/2006/relationships/notesMaster" Target="/ppt/notesMasters/notesMaster1.xml" Id="Rc4d56603f0fa4919"/></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acc820aec2124170"/><Relationship Type="http://schemas.openxmlformats.org/officeDocument/2006/relationships/notesMaster" Target="/ppt/notesMasters/notesMaster1.xml" Id="Rbba1b121eaa442f7"/></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исследования поиска существуют разные коллекции. Natural Questions использует реальные запросы Google и разметку ответов в статьях Wikipedia. BEIR объединяет разнородные задачи для проверки переноса. Мы выбираем MS MARCO: это веб-поиск по реальным запросам Bing, открытые тексты и разреженные оценки релевантности. Такой набор позволяет исследовать влияние доразметки. Выбор не означает универсальности результатов.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Microsoft, MS MARCO datasets: https://microsoft.github.io/msmarco/Datasets.html</a:t>
            </a:r>
          </a:p>
          <a:p xmlns:a="http://schemas.openxmlformats.org/drawingml/2006/main">
            <a:r>
              <a:t>Kwiatkowski et al. (2019), Natural Questions: https://research.google/pubs/natural-questions-a-benchmark-for-question-answering-research/</a:t>
            </a:r>
          </a:p>
          <a:p xmlns:a="http://schemas.openxmlformats.org/drawingml/2006/main">
            <a:r>
              <a:t>Thakur et al. (2021), BEIR: https://arxiv.org/abs/2104.08663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Это исторический срез MS MARCO Passage Ranking на 30 ноября 2022 года, а не текущий рейтинг 2026 года. Четыре ведущие именованные системы в режиме full ranking на закрытом eval получили MRR@10 от 0,436 до 0,450. Размах 0,014. Метрика усредняет обратную позицию первого релевантного результата в первой десятке. Близость опубликованных средних не доказывает статистического равенства систем или неполноты разметки. Наш отдельный вопрос: насколько сравнение зависит от покрытия оценками? Далее приведён конкретный пример. Внешний MRR не сопоставляется напрямую с NDCG в наших пулах.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https://github.com/microsoft/MSMARCO-Passage-Ranking-Submissions/blob/abb44144f563e7972d5131f5d6acc2092877964c/leaderboard/leaderboard.csv</a:t>
            </a:r>
          </a:p>
          <a:p xmlns:a="http://schemas.openxmlformats.org/drawingml/2006/main">
            <a:r>
              <a:t>Microsoft, Submission: https://microsoft.github.io/msmarco/Submission.html</a:t>
            </a:r>
          </a:p>
          <a:p xmlns:a="http://schemas.openxmlformats.org/drawingml/2006/main">
            <a:r>
              <a:t>Показаны четыре лучшие именованные заявки по eval среди full ranking. Анонимные заявки не включены. Полные названия: AliceMind Search LM (SLM) + Hybird List Aware Reranking (HLAR); Listwise + Fusion reranker; CoT-MAE; Lichee-xxlarge + deberta_v3-large + Reranking. Значения округлены как в официальном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f19b10fa65d44a03"/></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10444bbe8cd649e7"/><Relationship Type="http://schemas.openxmlformats.org/officeDocument/2006/relationships/slideLayout" Target="/ppt/slideLayouts/slideLayout1.xml" Id="R759ab5e23007463d"/></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9ab5e2300746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9a8b4671fce34f03"/><Relationship Type="http://schemas.openxmlformats.org/officeDocument/2006/relationships/image" Target="/ppt/media/image.png" Id="R11b266abe71b45f2"/><Relationship Type="http://schemas.openxmlformats.org/officeDocument/2006/relationships/notesSlide" Target="/ppt/notesSlides/notesSlide1.xml" Id="R3d6905eeebd34ba3"/></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2aefc3f1898945a1"/><Relationship Type="http://schemas.openxmlformats.org/officeDocument/2006/relationships/notesSlide" Target="/ppt/notesSlides/notesSlide2.xml" Id="R5856274dcd4d435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036ef0037e5143db"/><Relationship Type="http://schemas.openxmlformats.org/officeDocument/2006/relationships/notesSlide" Target="/ppt/notesSlides/notesSlide3.xml" Id="R6267d641c8d443b9"/></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fcebb885b3204ceb"/><Relationship Type="http://schemas.openxmlformats.org/officeDocument/2006/relationships/notesSlide" Target="/ppt/notesSlides/notesSlide4.xml" Id="Rf33877c18281429f"/></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f0454e4fbb074bc8"/><Relationship Type="http://schemas.openxmlformats.org/officeDocument/2006/relationships/notesSlide" Target="/ppt/notesSlides/notesSlide5.xml" Id="Rd8678a04cb4d4999"/></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12730cd95e134abe"/><Relationship Type="http://schemas.openxmlformats.org/officeDocument/2006/relationships/notesSlide" Target="/ppt/notesSlides/notesSlide6.xml" Id="Raf11ee3739bc49d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cbfdd600a117436a"/><Relationship Type="http://schemas.openxmlformats.org/officeDocument/2006/relationships/notesSlide" Target="/ppt/notesSlides/notesSlide7.xml" Id="R10131aadcb324fa4"/></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14bd098a81e247ee"/><Relationship Type="http://schemas.openxmlformats.org/officeDocument/2006/relationships/chart" Target="/ppt/slides/charts/chart1.xml" Id="Rae10bc0b107a4920"/><Relationship Type="http://schemas.openxmlformats.org/officeDocument/2006/relationships/notesSlide" Target="/ppt/notesSlides/notesSlide8.xml" Id="R70d75f256223499d"/></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0627bd908e7140d1"/><Relationship Type="http://schemas.openxmlformats.org/officeDocument/2006/relationships/notesSlide" Target="/ppt/notesSlides/notesSlide9.xml" Id="Ra6994755bf6b4427"/></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dabf54b9105748b9"/><Relationship Type="http://schemas.openxmlformats.org/officeDocument/2006/relationships/chart" Target="/ppt/slides/charts/chart2.xml" Id="R1c15ac8e8c214121"/><Relationship Type="http://schemas.openxmlformats.org/officeDocument/2006/relationships/notesSlide" Target="/ppt/notesSlides/notesSlide10.xml" Id="R4fb5e8ecf1e8451d"/></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fe27082499814c66"/><Relationship Type="http://schemas.openxmlformats.org/officeDocument/2006/relationships/chart" Target="/ppt/slides/charts/chart3.xml" Id="Rb16ce5a367b3433a"/><Relationship Type="http://schemas.openxmlformats.org/officeDocument/2006/relationships/notesSlide" Target="/ppt/notesSlides/notesSlide11.xml" Id="Rff6e0648cf1a4767"/></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571d1ea8d6a34501"/><Relationship Type="http://schemas.openxmlformats.org/officeDocument/2006/relationships/chart" Target="/ppt/slides/charts/chart4.xml" Id="Raf5a3cd61f1d408b"/><Relationship Type="http://schemas.openxmlformats.org/officeDocument/2006/relationships/notesSlide" Target="/ppt/notesSlides/notesSlide12.xml" Id="R06a146841b0d4f57"/></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3f7291cc4ad54cc8"/><Relationship Type="http://schemas.openxmlformats.org/officeDocument/2006/relationships/chart" Target="/ppt/slides/charts/chart5.xml" Id="R58600d943d744728"/><Relationship Type="http://schemas.openxmlformats.org/officeDocument/2006/relationships/notesSlide" Target="/ppt/notesSlides/notesSlide13.xml" Id="R27fc45790ccd4126"/></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20f7d97b16be40a4"/><Relationship Type="http://schemas.openxmlformats.org/officeDocument/2006/relationships/notesSlide" Target="/ppt/notesSlides/notesSlide14.xml" Id="R463b664073894f81"/></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0f5e78e1f8e84c2f"/><Relationship Type="http://schemas.openxmlformats.org/officeDocument/2006/relationships/notesSlide" Target="/ppt/notesSlides/notesSlide15.xml" Id="R9dfd4bb8d0224bd3"/></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050b3b4386114e3c"/><Relationship Type="http://schemas.openxmlformats.org/officeDocument/2006/relationships/notesSlide" Target="/ppt/notesSlides/notesSlide16.xml" Id="Rdddc0fb209dd498c"/></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f6987fa5217946f8"/><Relationship Type="http://schemas.openxmlformats.org/officeDocument/2006/relationships/notesSlide" Target="/ppt/notesSlides/notesSlide17.xml" Id="R3d18c9ec10d0415d"/></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34274f418c3a4889"/><Relationship Type="http://schemas.openxmlformats.org/officeDocument/2006/relationships/notesSlide" Target="/ppt/notesSlides/notesSlide18.xml" Id="R1bea09837b1f4293"/></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71ac69eb1c2b4a95"/><Relationship Type="http://schemas.openxmlformats.org/officeDocument/2006/relationships/notesSlide" Target="/ppt/notesSlides/notesSlide19.xml" Id="Rc1ebdc5cbaed459f"/></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39d683892d2a4f57"/><Relationship Type="http://schemas.openxmlformats.org/officeDocument/2006/relationships/notesSlide" Target="/ppt/notesSlides/notesSlide20.xml" Id="R67ab39ace55a4fa5"/></Relationships>
</file>

<file path=ppt/slides/charts/chart1.xml><?xml version="1.0" encoding="utf-8"?>
<c:chartSpace xmlns:c="http://schemas.openxmlformats.org/drawingml/2006/chart">
  <c:lang val="en-US"/>
  <c:chart>
    <c:plotArea>
      <c:barChart>
        <c:barDir val="bar"/>
        <c:grouping val="clustered"/>
        <c:varyColors val="0"/>
        <c:ser>
          <c:idx val="0"/>
          <c:order val="0"/>
          <c:tx>
            <c:v>Исходные оценки</c:v>
          </c:tx>
          <c:spPr>
            <a:solidFill xmlns:a="http://schemas.openxmlformats.org/drawingml/2006/main">
              <a:srgbClr val="70858A"/>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Оценки человека</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Случайный классификатор</c:v>
          </c:tx>
          <c:spPr>
            <a:solidFill xmlns:a="http://schemas.openxmlformats.org/drawingml/2006/main">
              <a:srgbClr val="D4E1E0"/>
            </a:solidFill>
            <a:ln xmlns:a="http://schemas.openxmlformats.org/drawingml/2006/main" w="12383">
              <a:solidFill>
                <a:srgbClr val="70858A"/>
              </a:solidFill>
            </a:ln>
          </c:spPr>
          <c:marker>
            <c:symbol val="none"/>
          </c:marker>
          <c:xVal>
            <c:numLit>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xVal>
          <c:yVal>
            <c:numLit>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yVal>
          <c:smooth val="0"/>
        </c:ser>
        <c:ser>
          <c:idx val="1"/>
          <c:order val="1"/>
          <c:tx>
            <c:v>ROC-кривая MiniLM</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mooth val="0"/>
        </c:ser>
        <c:ser>
          <c:idx val="2"/>
          <c:order val="2"/>
          <c:tx>
            <c:v>Порог по валидации</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Lit>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Lit>
          </c:xVal>
          <c:yVal>
            <c:numLit>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Все кандидаты</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mooth val="0"/>
        </c:ser>
        <c:ser>
          <c:idx val="1"/>
          <c:order val="1"/>
          <c:tx>
            <c:v>Предсказаны релевантными</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5240">
              <a:solidFill>
                <a:srgbClr val="70858A"/>
              </a:solidFill>
            </a:ln>
          </c:spPr>
          <c:marker>
            <c:symbol val="none"/>
          </c:marker>
          <c:xVal>
            <c:numLit>
              <c:formatCode>General</c:formatCode>
              <c:ptCount val="5"/>
              <c:pt idx="0">
                <c:v>0</c:v>
              </c:pt>
              <c:pt idx="1">
                <c:v>0</c:v>
              </c:pt>
              <c:pt idx="2">
                <c:v>0</c:v>
              </c:pt>
              <c:pt idx="3">
                <c:v>0</c:v>
              </c:pt>
              <c:pt idx="4">
                <c:v>0</c:v>
              </c:pt>
            </c:numLit>
          </c:xVal>
          <c:yVal>
            <c:numLit>
              <c:formatCode>0.000</c:formatCode>
              <c:ptCount val="5"/>
              <c:pt idx="0">
                <c:v>0.5</c:v>
              </c:pt>
              <c:pt idx="1">
                <c:v>5.5</c:v>
              </c:pt>
              <c:pt idx="2">
                <c:v>5.5</c:v>
              </c:pt>
              <c:pt idx="3">
                <c:v>5.5</c:v>
              </c:pt>
              <c:pt idx="4">
                <c:v>5.5</c:v>
              </c:pt>
            </c:numLit>
          </c:yVal>
          <c:smooth val="0"/>
        </c:ser>
        <c:ser>
          <c:idx val="1"/>
          <c:order val="1"/>
          <c:tx>
            <c:v>95%-ный парный ДИ при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-0.02023617</c:v>
              </c:pt>
              <c:pt idx="1">
                <c:v>-0.01882729</c:v>
              </c:pt>
              <c:pt idx="2">
                <c:v>-0.01882729</c:v>
              </c:pt>
              <c:pt idx="3">
                <c:v>-0.01882729</c:v>
              </c:pt>
              <c:pt idx="4">
                <c:v>-0.01882729</c:v>
              </c:pt>
            </c:numLit>
          </c:xVal>
          <c:yVal>
            <c:numLit>
              <c:formatCode>0.000</c:formatCode>
              <c:ptCount val="5"/>
              <c:pt idx="0">
                <c:v>5</c:v>
              </c:pt>
              <c:pt idx="1">
                <c:v>5</c:v>
              </c:pt>
              <c:pt idx="2">
                <c:v>5</c:v>
              </c:pt>
              <c:pt idx="3">
                <c:v>5</c:v>
              </c:pt>
              <c:pt idx="4">
                <c:v>5</c:v>
              </c:pt>
            </c:numLit>
          </c:yVal>
          <c:smooth val="0"/>
        </c:ser>
        <c:ser>
          <c:idx val="2"/>
          <c:order val="2"/>
          <c:tx>
            <c:v>95%-ный парный ДИ при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0.01021579</c:v>
              </c:pt>
              <c:pt idx="1">
                <c:v>0.01150741</c:v>
              </c:pt>
              <c:pt idx="2">
                <c:v>0.01150741</c:v>
              </c:pt>
              <c:pt idx="3">
                <c:v>0.01150741</c:v>
              </c:pt>
              <c:pt idx="4">
                <c:v>0.01150741</c:v>
              </c:pt>
            </c:numLit>
          </c:xVal>
          <c:yVal>
            <c:numLit>
              <c:formatCode>0.000</c:formatCode>
              <c:ptCount val="5"/>
              <c:pt idx="0">
                <c:v>4</c:v>
              </c:pt>
              <c:pt idx="1">
                <c:v>4</c:v>
              </c:pt>
              <c:pt idx="2">
                <c:v>4</c:v>
              </c:pt>
              <c:pt idx="3">
                <c:v>4</c:v>
              </c:pt>
              <c:pt idx="4">
                <c:v>4</c:v>
              </c:pt>
            </c:numLit>
          </c:yVal>
          <c:smooth val="0"/>
        </c:ser>
        <c:ser>
          <c:idx val="3"/>
          <c:order val="3"/>
          <c:tx>
            <c:v>95%-ный парный ДИ при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0.00784398</c:v>
              </c:pt>
              <c:pt idx="1">
                <c:v>0.00925389</c:v>
              </c:pt>
              <c:pt idx="2">
                <c:v>0.00925389</c:v>
              </c:pt>
              <c:pt idx="3">
                <c:v>0.00925389</c:v>
              </c:pt>
              <c:pt idx="4">
                <c:v>0.00925389</c:v>
              </c:pt>
            </c:numLit>
          </c:xVal>
          <c:yVal>
            <c:numLit>
              <c:formatCode>0.000</c:formatCode>
              <c:ptCount val="5"/>
              <c:pt idx="0">
                <c:v>3</c:v>
              </c:pt>
              <c:pt idx="1">
                <c:v>3</c:v>
              </c:pt>
              <c:pt idx="2">
                <c:v>3</c:v>
              </c:pt>
              <c:pt idx="3">
                <c:v>3</c:v>
              </c:pt>
              <c:pt idx="4">
                <c:v>3</c:v>
              </c:pt>
            </c:numLit>
          </c:yVal>
          <c:smooth val="0"/>
        </c:ser>
        <c:ser>
          <c:idx val="4"/>
          <c:order val="4"/>
          <c:tx>
            <c:v>95%-ный парный ДИ при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0.00701006</c:v>
              </c:pt>
              <c:pt idx="1">
                <c:v>0.00843288</c:v>
              </c:pt>
              <c:pt idx="2">
                <c:v>0.00843288</c:v>
              </c:pt>
              <c:pt idx="3">
                <c:v>0.00843288</c:v>
              </c:pt>
              <c:pt idx="4">
                <c:v>0.00843288</c:v>
              </c:pt>
            </c:numLit>
          </c:xVal>
          <c:yVal>
            <c:numLit>
              <c:formatCode>0.000</c:formatCode>
              <c:ptCount val="5"/>
              <c:pt idx="0">
                <c:v>2</c:v>
              </c:pt>
              <c:pt idx="1">
                <c:v>2</c:v>
              </c:pt>
              <c:pt idx="2">
                <c:v>2</c:v>
              </c:pt>
              <c:pt idx="3">
                <c:v>2</c:v>
              </c:pt>
              <c:pt idx="4">
                <c:v>2</c:v>
              </c:pt>
            </c:numLit>
          </c:yVal>
          <c:smooth val="0"/>
        </c:ser>
        <c:ser>
          <c:idx val="5"/>
          <c:order val="5"/>
          <c:tx>
            <c:v>95%-ный парный ДИ при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0.0081588</c:v>
              </c:pt>
              <c:pt idx="1">
                <c:v>0.00953703</c:v>
              </c:pt>
              <c:pt idx="2">
                <c:v>0.00953703</c:v>
              </c:pt>
              <c:pt idx="3">
                <c:v>0.00953703</c:v>
              </c:pt>
              <c:pt idx="4">
                <c:v>0.00953703</c:v>
              </c:pt>
            </c:numLit>
          </c:xVal>
          <c:yVal>
            <c:numLit>
              <c:formatCode>0.000</c:formatCode>
              <c:ptCount val="5"/>
              <c:pt idx="0">
                <c:v>1</c:v>
              </c:pt>
              <c:pt idx="1">
                <c:v>1</c:v>
              </c:pt>
              <c:pt idx="2">
                <c:v>1</c:v>
              </c:pt>
              <c:pt idx="3">
                <c:v>1</c:v>
              </c:pt>
              <c:pt idx="4">
                <c:v>1</c:v>
              </c:pt>
            </c:numLit>
          </c:yVal>
          <c:smooth val="0"/>
        </c:ser>
        <c:ser>
          <c:idx val="6"/>
          <c:order val="6"/>
          <c:tx>
            <c:v>Нижняя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-0.02023617</c:v>
              </c:pt>
              <c:pt idx="1">
                <c:v>-0.02023617</c:v>
              </c:pt>
              <c:pt idx="2">
                <c:v>-0.02023617</c:v>
              </c:pt>
              <c:pt idx="3">
                <c:v>-0.02023617</c:v>
              </c:pt>
              <c:pt idx="4">
                <c:v>-0.02023617</c:v>
              </c:pt>
            </c:numLit>
          </c:xVal>
          <c:yVal>
            <c:numLit>
              <c:formatCode>0.000</c:formatCode>
              <c:ptCount val="5"/>
              <c:pt idx="0">
                <c:v>4.935</c:v>
              </c:pt>
              <c:pt idx="1">
                <c:v>5.065</c:v>
              </c:pt>
              <c:pt idx="2">
                <c:v>5.065</c:v>
              </c:pt>
              <c:pt idx="3">
                <c:v>5.065</c:v>
              </c:pt>
              <c:pt idx="4">
                <c:v>5.065</c:v>
              </c:pt>
            </c:numLit>
          </c:yVal>
          <c:smooth val="0"/>
        </c:ser>
        <c:ser>
          <c:idx val="7"/>
          <c:order val="7"/>
          <c:tx>
            <c:v>Верхняя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-0.01882729</c:v>
              </c:pt>
              <c:pt idx="1">
                <c:v>-0.01882729</c:v>
              </c:pt>
              <c:pt idx="2">
                <c:v>-0.01882729</c:v>
              </c:pt>
              <c:pt idx="3">
                <c:v>-0.01882729</c:v>
              </c:pt>
              <c:pt idx="4">
                <c:v>-0.01882729</c:v>
              </c:pt>
            </c:numLit>
          </c:xVal>
          <c:yVal>
            <c:numLit>
              <c:formatCode>0.000</c:formatCode>
              <c:ptCount val="5"/>
              <c:pt idx="0">
                <c:v>4.935</c:v>
              </c:pt>
              <c:pt idx="1">
                <c:v>5.065</c:v>
              </c:pt>
              <c:pt idx="2">
                <c:v>5.065</c:v>
              </c:pt>
              <c:pt idx="3">
                <c:v>5.065</c:v>
              </c:pt>
              <c:pt idx="4">
                <c:v>5.065</c:v>
              </c:pt>
            </c:numLit>
          </c:yVal>
          <c:smooth val="0"/>
        </c:ser>
        <c:ser>
          <c:idx val="8"/>
          <c:order val="8"/>
          <c:tx>
            <c:v>Нижняя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0.01021579</c:v>
              </c:pt>
              <c:pt idx="1">
                <c:v>0.01021579</c:v>
              </c:pt>
              <c:pt idx="2">
                <c:v>0.01021579</c:v>
              </c:pt>
              <c:pt idx="3">
                <c:v>0.01021579</c:v>
              </c:pt>
              <c:pt idx="4">
                <c:v>0.01021579</c:v>
              </c:pt>
            </c:numLit>
          </c:xVal>
          <c:yVal>
            <c:numLit>
              <c:formatCode>0.000</c:formatCode>
              <c:ptCount val="5"/>
              <c:pt idx="0">
                <c:v>3.935</c:v>
              </c:pt>
              <c:pt idx="1">
                <c:v>4.065</c:v>
              </c:pt>
              <c:pt idx="2">
                <c:v>4.065</c:v>
              </c:pt>
              <c:pt idx="3">
                <c:v>4.065</c:v>
              </c:pt>
              <c:pt idx="4">
                <c:v>4.065</c:v>
              </c:pt>
            </c:numLit>
          </c:yVal>
          <c:smooth val="0"/>
        </c:ser>
        <c:ser>
          <c:idx val="9"/>
          <c:order val="9"/>
          <c:tx>
            <c:v>Верхняя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0.01150741</c:v>
              </c:pt>
              <c:pt idx="1">
                <c:v>0.01150741</c:v>
              </c:pt>
              <c:pt idx="2">
                <c:v>0.01150741</c:v>
              </c:pt>
              <c:pt idx="3">
                <c:v>0.01150741</c:v>
              </c:pt>
              <c:pt idx="4">
                <c:v>0.01150741</c:v>
              </c:pt>
            </c:numLit>
          </c:xVal>
          <c:yVal>
            <c:numLit>
              <c:formatCode>0.000</c:formatCode>
              <c:ptCount val="5"/>
              <c:pt idx="0">
                <c:v>3.935</c:v>
              </c:pt>
              <c:pt idx="1">
                <c:v>4.065</c:v>
              </c:pt>
              <c:pt idx="2">
                <c:v>4.065</c:v>
              </c:pt>
              <c:pt idx="3">
                <c:v>4.065</c:v>
              </c:pt>
              <c:pt idx="4">
                <c:v>4.065</c:v>
              </c:pt>
            </c:numLit>
          </c:yVal>
          <c:smooth val="0"/>
        </c:ser>
        <c:ser>
          <c:idx val="10"/>
          <c:order val="10"/>
          <c:tx>
            <c:v>Нижняя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0.00784398</c:v>
              </c:pt>
              <c:pt idx="1">
                <c:v>0.00784398</c:v>
              </c:pt>
              <c:pt idx="2">
                <c:v>0.00784398</c:v>
              </c:pt>
              <c:pt idx="3">
                <c:v>0.00784398</c:v>
              </c:pt>
              <c:pt idx="4">
                <c:v>0.00784398</c:v>
              </c:pt>
            </c:numLit>
          </c:xVal>
          <c:yVal>
            <c:numLit>
              <c:formatCode>0.000</c:formatCode>
              <c:ptCount val="5"/>
              <c:pt idx="0">
                <c:v>2.935</c:v>
              </c:pt>
              <c:pt idx="1">
                <c:v>3.065</c:v>
              </c:pt>
              <c:pt idx="2">
                <c:v>3.065</c:v>
              </c:pt>
              <c:pt idx="3">
                <c:v>3.065</c:v>
              </c:pt>
              <c:pt idx="4">
                <c:v>3.065</c:v>
              </c:pt>
            </c:numLit>
          </c:yVal>
          <c:smooth val="0"/>
        </c:ser>
        <c:ser>
          <c:idx val="11"/>
          <c:order val="11"/>
          <c:tx>
            <c:v>Верхняя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0.00925389</c:v>
              </c:pt>
              <c:pt idx="1">
                <c:v>0.00925389</c:v>
              </c:pt>
              <c:pt idx="2">
                <c:v>0.00925389</c:v>
              </c:pt>
              <c:pt idx="3">
                <c:v>0.00925389</c:v>
              </c:pt>
              <c:pt idx="4">
                <c:v>0.00925389</c:v>
              </c:pt>
            </c:numLit>
          </c:xVal>
          <c:yVal>
            <c:numLit>
              <c:formatCode>0.000</c:formatCode>
              <c:ptCount val="5"/>
              <c:pt idx="0">
                <c:v>2.935</c:v>
              </c:pt>
              <c:pt idx="1">
                <c:v>3.065</c:v>
              </c:pt>
              <c:pt idx="2">
                <c:v>3.065</c:v>
              </c:pt>
              <c:pt idx="3">
                <c:v>3.065</c:v>
              </c:pt>
              <c:pt idx="4">
                <c:v>3.065</c:v>
              </c:pt>
            </c:numLit>
          </c:yVal>
          <c:smooth val="0"/>
        </c:ser>
        <c:ser>
          <c:idx val="12"/>
          <c:order val="12"/>
          <c:tx>
            <c:v>Нижняя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0.00701006</c:v>
              </c:pt>
              <c:pt idx="1">
                <c:v>0.00701006</c:v>
              </c:pt>
              <c:pt idx="2">
                <c:v>0.00701006</c:v>
              </c:pt>
              <c:pt idx="3">
                <c:v>0.00701006</c:v>
              </c:pt>
              <c:pt idx="4">
                <c:v>0.00701006</c:v>
              </c:pt>
            </c:numLit>
          </c:xVal>
          <c:yVal>
            <c:numLit>
              <c:formatCode>0.000</c:formatCode>
              <c:ptCount val="5"/>
              <c:pt idx="0">
                <c:v>1.935</c:v>
              </c:pt>
              <c:pt idx="1">
                <c:v>2.065</c:v>
              </c:pt>
              <c:pt idx="2">
                <c:v>2.065</c:v>
              </c:pt>
              <c:pt idx="3">
                <c:v>2.065</c:v>
              </c:pt>
              <c:pt idx="4">
                <c:v>2.065</c:v>
              </c:pt>
            </c:numLit>
          </c:yVal>
          <c:smooth val="0"/>
        </c:ser>
        <c:ser>
          <c:idx val="13"/>
          <c:order val="13"/>
          <c:tx>
            <c:v>Верхняя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0.00843288</c:v>
              </c:pt>
              <c:pt idx="1">
                <c:v>0.00843288</c:v>
              </c:pt>
              <c:pt idx="2">
                <c:v>0.00843288</c:v>
              </c:pt>
              <c:pt idx="3">
                <c:v>0.00843288</c:v>
              </c:pt>
              <c:pt idx="4">
                <c:v>0.00843288</c:v>
              </c:pt>
            </c:numLit>
          </c:xVal>
          <c:yVal>
            <c:numLit>
              <c:formatCode>0.000</c:formatCode>
              <c:ptCount val="5"/>
              <c:pt idx="0">
                <c:v>1.935</c:v>
              </c:pt>
              <c:pt idx="1">
                <c:v>2.065</c:v>
              </c:pt>
              <c:pt idx="2">
                <c:v>2.065</c:v>
              </c:pt>
              <c:pt idx="3">
                <c:v>2.065</c:v>
              </c:pt>
              <c:pt idx="4">
                <c:v>2.065</c:v>
              </c:pt>
            </c:numLit>
          </c:yVal>
          <c:smooth val="0"/>
        </c:ser>
        <c:ser>
          <c:idx val="14"/>
          <c:order val="14"/>
          <c:tx>
            <c:v>Нижняя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0.0081588</c:v>
              </c:pt>
              <c:pt idx="1">
                <c:v>0.0081588</c:v>
              </c:pt>
              <c:pt idx="2">
                <c:v>0.0081588</c:v>
              </c:pt>
              <c:pt idx="3">
                <c:v>0.0081588</c:v>
              </c:pt>
              <c:pt idx="4">
                <c:v>0.0081588</c:v>
              </c:pt>
            </c:numLit>
          </c:xVal>
          <c:yVal>
            <c:numLit>
              <c:formatCode>0.000</c:formatCode>
              <c:ptCount val="5"/>
              <c:pt idx="0">
                <c:v>0.935</c:v>
              </c:pt>
              <c:pt idx="1">
                <c:v>1.065</c:v>
              </c:pt>
              <c:pt idx="2">
                <c:v>1.065</c:v>
              </c:pt>
              <c:pt idx="3">
                <c:v>1.065</c:v>
              </c:pt>
              <c:pt idx="4">
                <c:v>1.065</c:v>
              </c:pt>
            </c:numLit>
          </c:yVal>
          <c:smooth val="0"/>
        </c:ser>
        <c:ser>
          <c:idx val="15"/>
          <c:order val="15"/>
          <c:tx>
            <c:v>Верхняя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0.00953703</c:v>
              </c:pt>
              <c:pt idx="1">
                <c:v>0.00953703</c:v>
              </c:pt>
              <c:pt idx="2">
                <c:v>0.00953703</c:v>
              </c:pt>
              <c:pt idx="3">
                <c:v>0.00953703</c:v>
              </c:pt>
              <c:pt idx="4">
                <c:v>0.00953703</c:v>
              </c:pt>
            </c:numLit>
          </c:xVal>
          <c:yVal>
            <c:numLit>
              <c:formatCode>0.000</c:formatCode>
              <c:ptCount val="5"/>
              <c:pt idx="0">
                <c:v>0.935</c:v>
              </c:pt>
              <c:pt idx="1">
                <c:v>1.065</c:v>
              </c:pt>
              <c:pt idx="2">
                <c:v>1.065</c:v>
              </c:pt>
              <c:pt idx="3">
                <c:v>1.065</c:v>
              </c:pt>
              <c:pt idx="4">
                <c:v>1.065</c:v>
              </c:pt>
            </c:numLit>
          </c:yVal>
          <c:smooth val="0"/>
        </c:ser>
        <c:ser>
          <c:idx val="16"/>
          <c:order val="16"/>
          <c:tx>
            <c:v>Глубина пула</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Lit>
              <c:formatCode>General</c:formatCode>
              <c:ptCount val="5"/>
              <c:pt idx="0">
                <c:v>-0.03</c:v>
              </c:pt>
              <c:pt idx="1">
                <c:v>-0.03</c:v>
              </c:pt>
              <c:pt idx="2">
                <c:v>-0.03</c:v>
              </c:pt>
              <c:pt idx="3">
                <c:v>-0.03</c:v>
              </c:pt>
              <c:pt idx="4">
                <c:v>-0.03</c:v>
              </c:pt>
            </c:numLit>
          </c:xVal>
          <c:yVal>
            <c:numLit>
              <c:formatCode>0.000</c:formatCode>
              <c:ptCount val="5"/>
              <c:pt idx="0">
                <c:v>5</c:v>
              </c:pt>
              <c:pt idx="1">
                <c:v>4</c:v>
              </c:pt>
              <c:pt idx="2">
                <c:v>3</c:v>
              </c:pt>
              <c:pt idx="3">
                <c:v>2</c:v>
              </c:pt>
              <c:pt idx="4">
                <c:v>1</c:v>
              </c:pt>
            </c:numLit>
          </c:yVal>
          <c:smooth val="0"/>
        </c:ser>
        <c:ser>
          <c:idx val="17"/>
          <c:order val="17"/>
          <c:tx>
            <c:v>RRF минус E5 по горизонтали</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3335">
              <a:solidFill>
                <a:srgbClr val="70858A"/>
              </a:solidFill>
            </a:ln>
          </c:spPr>
          <c:marker>
            <c:symbol val="none"/>
          </c:marker>
          <c:xVal>
            <c:numLit>
              <c:formatCode>General</c:formatCode>
              <c:ptCount val="5"/>
              <c:pt idx="0">
                <c:v>0</c:v>
              </c:pt>
              <c:pt idx="1">
                <c:v>210</c:v>
              </c:pt>
              <c:pt idx="2">
                <c:v>210</c:v>
              </c:pt>
              <c:pt idx="3">
                <c:v>210</c:v>
              </c:pt>
              <c:pt idx="4">
                <c:v>210</c:v>
              </c:pt>
            </c:numLit>
          </c:xVal>
          <c:yVal>
            <c:numLit>
              <c:formatCode>0.000</c:formatCode>
              <c:ptCount val="5"/>
              <c:pt idx="0">
                <c:v>0</c:v>
              </c:pt>
              <c:pt idx="1">
                <c:v>0</c:v>
              </c:pt>
              <c:pt idx="2">
                <c:v>0</c:v>
              </c:pt>
              <c:pt idx="3">
                <c:v>0</c:v>
              </c:pt>
              <c:pt idx="4">
                <c:v>0</c:v>
              </c:pt>
            </c:numLit>
          </c:yVal>
          <c:smooth val="0"/>
        </c:ser>
        <c:ser>
          <c:idx val="1"/>
          <c:order val="1"/>
          <c:tx>
            <c:v>RRF минус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43F12FB4-DDEA-4DB3-8B21-61EA06F94D2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1b266abe71b45f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9CDBCD0D-5EFC-42AB-8D71-04BE332C096D}"/>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Доразметка&#10;и контролируемые&#10;пулы кандидатов">
            <a:extLst xmlns:a="http://schemas.openxmlformats.org/drawingml/2006/main">
              <a:ext uri="{FF2B5EF4-FFF2-40B4-BE49-F238E27FC236}">
                <a16:creationId xmlns:a16="http://schemas.microsoft.com/office/drawing/2014/main" id="{224CD1C3-37ED-4A64-ADE9-8DAF11D18A1C}"/>
              </a:ext>
            </a:extLst>
          </p:cNvPr>
          <p:cNvSpPr>
            <a:spLocks xmlns:a="http://schemas.openxmlformats.org/drawingml/2006/main" noGrp="1"/>
          </p:cNvSpPr>
          <p:nvPr/>
        </p:nvSpPr>
        <p:spPr>
          <a:xfrm xmlns:a="http://schemas.openxmlformats.org/drawingml/2006/main">
            <a:off x="609600" y="1247775"/>
            <a:ext cx="8096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Доразметка</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и контролируемые</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пулы кандидатов</a:t>
            </a:r>
          </a:p>
        </p:txBody>
      </p:sp>
      <p:sp>
        <p:nvSpPr>
          <p:cNvPr id="5" name="Переоценка поисковых моделей&#10;на MS MARCO">
            <a:extLst xmlns:a="http://schemas.openxmlformats.org/drawingml/2006/main">
              <a:ext uri="{FF2B5EF4-FFF2-40B4-BE49-F238E27FC236}">
                <a16:creationId xmlns:a16="http://schemas.microsoft.com/office/drawing/2014/main" id="{34A40AF9-3B13-4EB5-9B3D-748167F77B3E}"/>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Переоценка поисковых моделей</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на MS MARCO</a:t>
            </a:r>
          </a:p>
        </p:txBody>
      </p:sp>
      <p:sp>
        <p:nvSpPr>
          <p:cNvPr id="6" name=", ,&#10; Лукашеви">
            <a:extLst xmlns:a="http://schemas.openxmlformats.org/drawingml/2006/main">
              <a:ext uri="{FF2B5EF4-FFF2-40B4-BE49-F238E27FC236}">
                <a16:creationId xmlns:a16="http://schemas.microsoft.com/office/drawing/2014/main" id="{C8D5587F-D7D3-4159-8DEB-892E51228FE5}"/>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51818432-F04C-4AB1-8882-B75767D5C174}"/>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6100971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Наборы данных для оценки поиска">
            <a:extLst xmlns:a="http://schemas.openxmlformats.org/drawingml/2006/main">
              <a:ext uri="{FF2B5EF4-FFF2-40B4-BE49-F238E27FC236}">
                <a16:creationId xmlns:a16="http://schemas.microsoft.com/office/drawing/2014/main" id="{74F01B8E-7852-4571-B837-8BBD0434556B}"/>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Наборы данных для оценки поиска</a:t>
            </a:r>
          </a:p>
        </p:txBody>
      </p:sp>
      <p:sp>
        <p:nvSpPr>
          <p:cNvPr id="2" name="02">
            <a:extLst xmlns:a="http://schemas.openxmlformats.org/drawingml/2006/main">
              <a:ext uri="{FF2B5EF4-FFF2-40B4-BE49-F238E27FC236}">
                <a16:creationId xmlns:a16="http://schemas.microsoft.com/office/drawing/2014/main" id="{15A80769-E2B2-42E1-8D84-B0785855A10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graphicFrame>
        <p:nvGraphicFramePr>
          <p:cNvPr id="9" name=""/>
          <p:cNvGraphicFramePr/>
          <p:nvPr/>
        </p:nvGraphicFramePr>
        <p:xfrm>
          <a:off xmlns:a="http://schemas.openxmlformats.org/drawingml/2006/main" x="609600" y="1790700"/>
          <a:ext xmlns:a="http://schemas.openxmlformats.org/drawingml/2006/main" cx="10972800" cy="2657475"/>
        </p:xfrm>
        <a:graphic xmlns:a="http://schemas.openxmlformats.org/drawingml/2006/main">
          <a:graphicData uri="http://schemas.openxmlformats.org/drawingml/2006/table">
            <a:tbl>
              <a:tblPr firstRow="0" bandRow="0" bandCol="0"/>
              <a:tblGrid>
                <a:gridCol w="3476625"/>
                <a:gridCol w="7496175"/>
              </a:tblGrid>
              <a:tr h="523875">
                <a:tc>
                  <a:txBody>
                    <a:bodyPr lIns="171450" tIns="95250" rIns="171450" bIns="95250">
                      <a:noAutofit/>
                    </a:bodyPr>
                    <a:lstStyle/>
                    <a:p>
                      <a:r>
                        <a:rPr sz="1950" b="1">
                          <a:solidFill>
                            <a:srgbClr val="526970"/>
                          </a:solidFill>
                          <a:latin typeface="Arial"/>
                          <a:ea typeface="Arial"/>
                          <a:cs typeface="Arial"/>
                        </a:rPr>
                        <a:t>Набор / бенчмарк</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Источник и задача</a:t>
                      </a:r>
                    </a:p>
                  </a:txBody>
                  <a:tcPr marL="91440" marR="91440" marT="45720" marB="45720" anchor="ctr">
                    <a:lnL w="0">
                      <a:noFill/>
                    </a:lnL>
                    <a:lnR w="0">
                      <a:noFill/>
                    </a:lnR>
                    <a:lnT w="0">
                      <a:noFill/>
                    </a:lnT>
                    <a:lnB w="7620">
                      <a:solidFill>
                        <a:srgbClr val="D4E1E0"/>
                      </a:solidFill>
                    </a:lnB>
                    <a:solidFill>
                      <a:srgbClr val="EFF5F4"/>
                    </a:solidFill>
                  </a:tcPr>
                </a:tc>
              </a:tr>
              <a:tr h="685800">
                <a:tc>
                  <a:txBody>
                    <a:bodyPr lIns="171450" tIns="95250" rIns="171450" bIns="95250">
                      <a:noAutofit/>
                    </a:bodyPr>
                    <a:lstStyle/>
                    <a:p>
                      <a:r>
                        <a:rPr sz="2100" b="0">
                          <a:solidFill>
                            <a:srgbClr val="182B30"/>
                          </a:solidFill>
                          <a:latin typeface="Arial"/>
                          <a:ea typeface="Arial"/>
                          <a:cs typeface="Arial"/>
                        </a:rPr>
                        <a:t>Natural Questions</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Запросы Google, ответы в Wikipedia</a:t>
                      </a:r>
                    </a:p>
                  </a:txBody>
                  <a:tcPr marL="91440" marR="91440" marT="45720" marB="45720" anchor="ctr">
                    <a:lnL w="0">
                      <a:noFill/>
                    </a:lnL>
                    <a:lnR w="0">
                      <a:noFill/>
                    </a:lnR>
                    <a:lnT w="0">
                      <a:noFill/>
                    </a:lnT>
                    <a:lnB w="7620">
                      <a:solidFill>
                        <a:srgbClr val="D4E1E0"/>
                      </a:solidFill>
                    </a:lnB>
                    <a:solidFill>
                      <a:srgbClr val="FFFFFF"/>
                    </a:solidFill>
                  </a:tcPr>
                </a:tc>
              </a:tr>
              <a:tr h="685800">
                <a:tc>
                  <a:txBody>
                    <a:bodyPr lIns="171450" tIns="95250" rIns="171450" bIns="95250">
                      <a:noAutofit/>
                    </a:bodyPr>
                    <a:lstStyle/>
                    <a:p>
                      <a:r>
                        <a:rPr sz="2100" b="0">
                          <a:solidFill>
                            <a:srgbClr val="182B30"/>
                          </a:solidFill>
                          <a:latin typeface="Arial"/>
                          <a:ea typeface="Arial"/>
                          <a:cs typeface="Arial"/>
                        </a:rPr>
                        <a:t>BEIR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Разные задачи и домены поиска</a:t>
                      </a:r>
                    </a:p>
                  </a:txBody>
                  <a:tcPr marL="91440" marR="91440" marT="45720" marB="45720" anchor="ctr">
                    <a:lnL w="0">
                      <a:noFill/>
                    </a:lnL>
                    <a:lnR w="0">
                      <a:noFill/>
                    </a:lnR>
                    <a:lnT w="0">
                      <a:noFill/>
                    </a:lnT>
                    <a:lnB w="7620">
                      <a:solidFill>
                        <a:srgbClr val="D4E1E0"/>
                      </a:solidFill>
                    </a:lnB>
                    <a:solidFill>
                      <a:srgbClr val="FFFFFF"/>
                    </a:solidFill>
                  </a:tcPr>
                </a:tc>
              </a:tr>
              <a:tr h="762000">
                <a:tc>
                  <a:txBody>
                    <a:bodyPr lIns="171450" tIns="95250" rIns="171450" bIns="95250">
                      <a:noAutofit/>
                    </a:bodyPr>
                    <a:lstStyle/>
                    <a:p>
                      <a:r>
                        <a:rPr sz="2100" b="1">
                          <a:solidFill>
                            <a:srgbClr val="007F78"/>
                          </a:solidFill>
                          <a:latin typeface="Arial"/>
                          <a:ea typeface="Arial"/>
                          <a:cs typeface="Arial"/>
                        </a:rPr>
                        <a:t>MS MARCO</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100" b="1">
                          <a:solidFill>
                            <a:srgbClr val="007F78"/>
                          </a:solidFill>
                          <a:latin typeface="Arial"/>
                          <a:ea typeface="Arial"/>
                          <a:cs typeface="Arial"/>
                        </a:rPr>
                        <a:t>Запросы Bing, поиск по веб-фрагментам</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4" name="Почему MS MARCO">
            <a:extLst xmlns:a="http://schemas.openxmlformats.org/drawingml/2006/main">
              <a:ext uri="{FF2B5EF4-FFF2-40B4-BE49-F238E27FC236}">
                <a16:creationId xmlns:a16="http://schemas.microsoft.com/office/drawing/2014/main" id="{6BA3A037-B849-4AAE-9755-03E15914ACE5}"/>
              </a:ext>
            </a:extLst>
          </p:cNvPr>
          <p:cNvSpPr>
            <a:spLocks xmlns:a="http://schemas.openxmlformats.org/drawingml/2006/main" noGrp="1"/>
          </p:cNvSpPr>
          <p:nvPr/>
        </p:nvSpPr>
        <p:spPr>
          <a:xfrm xmlns:a="http://schemas.openxmlformats.org/drawingml/2006/main">
            <a:off x="609600" y="48672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F78"/>
                </a:solidFill>
                <a:latin typeface="Arial"/>
                <a:ea typeface="Arial"/>
                <a:cs typeface="Arial"/>
              </a:defRPr>
            </a:pPr>
            <a:r>
              <a:rPr sz="2400" b="1">
                <a:solidFill>
                  <a:srgbClr val="007F78"/>
                </a:solidFill>
                <a:latin typeface="Arial"/>
                <a:ea typeface="Arial"/>
                <a:cs typeface="Arial"/>
              </a:rPr>
              <a:t>Почему MS MARCO</a:t>
            </a:r>
          </a:p>
        </p:txBody>
      </p:sp>
      <p:sp>
        <p:nvSpPr>
          <p:cNvPr id="5" name="Открытые тексты и разреженные оценки релевантнос">
            <a:extLst xmlns:a="http://schemas.openxmlformats.org/drawingml/2006/main">
              <a:ext uri="{FF2B5EF4-FFF2-40B4-BE49-F238E27FC236}">
                <a16:creationId xmlns:a16="http://schemas.microsoft.com/office/drawing/2014/main" id="{3AA3DE5B-5DFE-47FB-8D08-B0377D49E0BE}"/>
              </a:ext>
            </a:extLst>
          </p:cNvPr>
          <p:cNvSpPr>
            <a:spLocks xmlns:a="http://schemas.openxmlformats.org/drawingml/2006/main" noGrp="1"/>
          </p:cNvSpPr>
          <p:nvPr/>
        </p:nvSpPr>
        <p:spPr>
          <a:xfrm xmlns:a="http://schemas.openxmlformats.org/drawingml/2006/main">
            <a:off x="609600" y="54197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82B30"/>
                </a:solidFill>
                <a:latin typeface="Arial"/>
                <a:ea typeface="Arial"/>
                <a:cs typeface="Arial"/>
              </a:defRPr>
            </a:pPr>
            <a:r>
              <a:rPr sz="2175" b="0">
                <a:solidFill>
                  <a:srgbClr val="182B30"/>
                </a:solidFill>
                <a:latin typeface="Arial"/>
                <a:ea typeface="Arial"/>
                <a:cs typeface="Arial"/>
              </a:rPr>
              <a:t>Открытые тексты и разреженные оценки релевантности</a:t>
            </a:r>
          </a:p>
        </p:txBody>
      </p:sp>
      <p:sp>
        <p:nvSpPr>
          <p:cNvPr id="6" name="Источники: Bajaj и др., 2016/2018; Kwiatkowski и">
            <a:extLst xmlns:a="http://schemas.openxmlformats.org/drawingml/2006/main">
              <a:ext uri="{FF2B5EF4-FFF2-40B4-BE49-F238E27FC236}">
                <a16:creationId xmlns:a16="http://schemas.microsoft.com/office/drawing/2014/main" id="{68EF8AE0-0C4C-4E59-BE25-226702C04CE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7502466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результаты ведущих систем">
            <a:extLst xmlns:a="http://schemas.openxmlformats.org/drawingml/2006/main">
              <a:ext uri="{FF2B5EF4-FFF2-40B4-BE49-F238E27FC236}">
                <a16:creationId xmlns:a16="http://schemas.microsoft.com/office/drawing/2014/main" id="{17C1A799-4922-4814-B073-A4E5A2EF5C02}"/>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Близкие результаты ведущих систем</a:t>
            </a:r>
          </a:p>
        </p:txBody>
      </p:sp>
      <p:sp>
        <p:nvSpPr>
          <p:cNvPr id="2" name="03">
            <a:extLst xmlns:a="http://schemas.openxmlformats.org/drawingml/2006/main">
              <a:ext uri="{FF2B5EF4-FFF2-40B4-BE49-F238E27FC236}">
                <a16:creationId xmlns:a16="http://schemas.microsoft.com/office/drawing/2014/main" id="{9BA5557E-8F5F-422B-BE71-345960BB366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MS MARCO Passage Ranking, полный поиск, тестовый">
            <a:extLst xmlns:a="http://schemas.openxmlformats.org/drawingml/2006/main">
              <a:ext uri="{FF2B5EF4-FFF2-40B4-BE49-F238E27FC236}">
                <a16:creationId xmlns:a16="http://schemas.microsoft.com/office/drawing/2014/main" id="{4BCE8C1A-C89F-42FF-9471-94BBA9552AED}"/>
              </a:ext>
            </a:extLst>
          </p:cNvPr>
          <p:cNvSpPr>
            <a:spLocks xmlns:a="http://schemas.openxmlformats.org/drawingml/2006/main" noGrp="1"/>
          </p:cNvSpPr>
          <p:nvPr/>
        </p:nvSpPr>
        <p:spPr>
          <a:xfrm xmlns:a="http://schemas.openxmlformats.org/drawingml/2006/main">
            <a:off x="609600" y="16002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MS MARCO Passage Ranking, полный поиск, тестовый набор eval</a:t>
            </a:r>
          </a:p>
        </p:txBody>
      </p:sp>
      <p:graphicFrame>
        <p:nvGraphicFramePr>
          <p:cNvPr id="13" name=""/>
          <p:cNvGraphicFramePr/>
          <p:nvPr/>
        </p:nvGraphicFramePr>
        <p:xfrm>
          <a:off xmlns:a="http://schemas.openxmlformats.org/drawingml/2006/main" x="609600" y="2219325"/>
          <a:ext xmlns:a="http://schemas.openxmlformats.org/drawingml/2006/main" cx="7762875" cy="2800350"/>
        </p:xfrm>
        <a:graphic xmlns:a="http://schemas.openxmlformats.org/drawingml/2006/main">
          <a:graphicData uri="http://schemas.openxmlformats.org/drawingml/2006/table">
            <a:tbl>
              <a:tblPr firstRow="0" bandRow="0" bandCol="0"/>
              <a:tblGrid>
                <a:gridCol w="5810250"/>
                <a:gridCol w="1952625"/>
              </a:tblGrid>
              <a:tr h="514350">
                <a:tc>
                  <a:txBody>
                    <a:bodyPr lIns="171450" tIns="95250" rIns="171450" bIns="95250">
                      <a:noAutofit/>
                    </a:bodyPr>
                    <a:lstStyle/>
                    <a:p>
                      <a:r>
                        <a:rPr sz="1950"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MRR@10</a:t>
                      </a:r>
                    </a:p>
                  </a:txBody>
                  <a:tcPr marL="91440" marR="91440" marT="45720" marB="45720" anchor="ctr">
                    <a:lnL w="0">
                      <a:noFill/>
                    </a:lnL>
                    <a:lnR w="0">
                      <a:noFill/>
                    </a:lnR>
                    <a:lnT w="0">
                      <a:noFill/>
                    </a:lnT>
                    <a:lnB w="7620">
                      <a:solidFill>
                        <a:srgbClr val="D4E1E0"/>
                      </a:solidFill>
                    </a:lnB>
                    <a:solidFill>
                      <a:srgbClr val="EFF5F4"/>
                    </a:solidFill>
                  </a:tcPr>
                </a:tc>
              </a:tr>
              <a:tr h="571500">
                <a:tc>
                  <a:txBody>
                    <a:bodyPr lIns="171450" tIns="95250" rIns="171450" bIns="95250">
                      <a:noAutofit/>
                    </a:bodyPr>
                    <a:lstStyle/>
                    <a:p>
                      <a:r>
                        <a:rPr sz="2100" b="0">
                          <a:solidFill>
                            <a:srgbClr val="182B30"/>
                          </a:solidFill>
                          <a:latin typeface="Arial"/>
                          <a:ea typeface="Arial"/>
                          <a:cs typeface="Arial"/>
                        </a:rPr>
                        <a:t>AliceMind SLM + HLAR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0,450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Listwise + Fusion</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0,440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CoT-MAE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0,438</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Lichee + DeBERTa + reranking</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0,436</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0,014">
            <a:extLst xmlns:a="http://schemas.openxmlformats.org/drawingml/2006/main">
              <a:ext uri="{FF2B5EF4-FFF2-40B4-BE49-F238E27FC236}">
                <a16:creationId xmlns:a16="http://schemas.microsoft.com/office/drawing/2014/main" id="{EC8378FF-0AC0-4C5B-B24C-EB2C4B82E270}"/>
              </a:ext>
            </a:extLst>
          </p:cNvPr>
          <p:cNvSpPr>
            <a:spLocks xmlns:a="http://schemas.openxmlformats.org/drawingml/2006/main" noGrp="1"/>
          </p:cNvSpPr>
          <p:nvPr/>
        </p:nvSpPr>
        <p:spPr>
          <a:xfrm xmlns:a="http://schemas.openxmlformats.org/drawingml/2006/main">
            <a:off x="8858250" y="2476500"/>
            <a:ext cx="2714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07F78"/>
                </a:solidFill>
                <a:latin typeface="Arial"/>
                <a:ea typeface="Arial"/>
                <a:cs typeface="Arial"/>
              </a:defRPr>
            </a:pPr>
            <a:r>
              <a:rPr sz="5400" b="1">
                <a:solidFill>
                  <a:srgbClr val="007F78"/>
                </a:solidFill>
                <a:latin typeface="Arial"/>
                <a:ea typeface="Arial"/>
                <a:cs typeface="Arial"/>
              </a:rPr>
              <a:t>0,014</a:t>
            </a:r>
          </a:p>
        </p:txBody>
      </p:sp>
      <p:sp>
        <p:nvSpPr>
          <p:cNvPr id="6" name="размах&#10;значений">
            <a:extLst xmlns:a="http://schemas.openxmlformats.org/drawingml/2006/main">
              <a:ext uri="{FF2B5EF4-FFF2-40B4-BE49-F238E27FC236}">
                <a16:creationId xmlns:a16="http://schemas.microsoft.com/office/drawing/2014/main" id="{8C8A4E4C-DEDE-4AB5-A2B7-CF28B8AF4F51}"/>
              </a:ext>
            </a:extLst>
          </p:cNvPr>
          <p:cNvSpPr>
            <a:spLocks xmlns:a="http://schemas.openxmlformats.org/drawingml/2006/main" noGrp="1"/>
          </p:cNvSpPr>
          <p:nvPr/>
        </p:nvSpPr>
        <p:spPr>
          <a:xfrm xmlns:a="http://schemas.openxmlformats.org/drawingml/2006/main">
            <a:off x="8858250" y="3390900"/>
            <a:ext cx="2714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размах</a:t>
            </a:r>
          </a:p>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значений</a:t>
            </a:r>
          </a:p>
        </p:txBody>
      </p:sp>
      <p:sp>
        <p:nvSpPr>
          <p:cNvPr id="7" name="MRR@10: обратная позиция первого релевантного от">
            <a:extLst xmlns:a="http://schemas.openxmlformats.org/drawingml/2006/main">
              <a:ext uri="{FF2B5EF4-FFF2-40B4-BE49-F238E27FC236}">
                <a16:creationId xmlns:a16="http://schemas.microsoft.com/office/drawing/2014/main" id="{C5CC4724-F766-43F2-9C14-A77DFD4986EF}"/>
              </a:ext>
            </a:extLst>
          </p:cNvPr>
          <p:cNvSpPr>
            <a:spLocks xmlns:a="http://schemas.openxmlformats.org/drawingml/2006/main" noGrp="1"/>
          </p:cNvSpPr>
          <p:nvPr/>
        </p:nvSpPr>
        <p:spPr>
          <a:xfrm xmlns:a="http://schemas.openxmlformats.org/drawingml/2006/main">
            <a:off x="609600" y="5286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MRR@10: обратная позиция первого релевантного ответа в топ-10, в среднем.</a:t>
            </a:r>
          </a:p>
        </p:txBody>
      </p:sp>
      <p:sp>
        <p:nvSpPr>
          <p:cNvPr id="8" name="Близкие метрики не доказывают равенство качества">
            <a:extLst xmlns:a="http://schemas.openxmlformats.org/drawingml/2006/main">
              <a:ext uri="{FF2B5EF4-FFF2-40B4-BE49-F238E27FC236}">
                <a16:creationId xmlns:a16="http://schemas.microsoft.com/office/drawing/2014/main" id="{CAA6E908-2CED-494F-A328-367ABE88074E}"/>
              </a:ext>
            </a:extLst>
          </p:cNvPr>
          <p:cNvSpPr>
            <a:spLocks xmlns:a="http://schemas.openxmlformats.org/drawingml/2006/main" noGrp="1"/>
          </p:cNvSpPr>
          <p:nvPr/>
        </p:nvSpPr>
        <p:spPr>
          <a:xfrm xmlns:a="http://schemas.openxmlformats.org/drawingml/2006/main">
            <a:off x="609600" y="58007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Близкие метрики не доказывают равенство качества.</a:t>
            </a:r>
          </a:p>
        </p:txBody>
      </p:sp>
      <p:sp>
        <p:nvSpPr>
          <p:cNvPr id="9" name="Microsoft, четыре ведущие именованные системы. С">
            <a:extLst xmlns:a="http://schemas.openxmlformats.org/drawingml/2006/main">
              <a:ext uri="{FF2B5EF4-FFF2-40B4-BE49-F238E27FC236}">
                <a16:creationId xmlns:a16="http://schemas.microsoft.com/office/drawing/2014/main" id="{CE0666A3-B449-48E3-B2E1-21C1D1ABCEBE}"/>
              </a:ext>
            </a:extLst>
          </p:cNvPr>
          <p:cNvSpPr>
            <a:spLocks xmlns:a="http://schemas.openxmlformats.org/drawingml/2006/main" noGrp="1"/>
          </p:cNvSpPr>
          <p:nvPr/>
        </p:nvSpPr>
        <p:spPr>
          <a:xfrm xmlns:a="http://schemas.openxmlformats.org/drawingml/2006/main">
            <a:off x="609600" y="6267450"/>
            <a:ext cx="1000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970"/>
                </a:solidFill>
                <a:latin typeface="Arial"/>
                <a:ea typeface="Arial"/>
                <a:cs typeface="Arial"/>
              </a:defRPr>
            </a:pPr>
            <a:r>
              <a:rPr sz="1500" b="0">
                <a:solidFill>
                  <a:srgbClr val="526970"/>
                </a:solidFill>
                <a:latin typeface="Arial"/>
                <a:ea typeface="Arial"/>
                <a:cs typeface="Arial"/>
              </a:rPr>
              <a:t>Microsoft, четыре ведущие именованные системы. Срез на 30.11.2022.</a:t>
            </a:r>
          </a:p>
        </p:txBody>
      </p:sp>
    </p:spTree>
    <p:extLst>
      <p:ext uri="{BB962C8B-B14F-4D97-AF65-F5344CB8AC3E}">
        <p14:creationId xmlns:p14="http://schemas.microsoft.com/office/powerpoint/2010/main" val="9982802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Релевантный ответ без оценки">
            <a:extLst xmlns:a="http://schemas.openxmlformats.org/drawingml/2006/main">
              <a:ext uri="{FF2B5EF4-FFF2-40B4-BE49-F238E27FC236}">
                <a16:creationId xmlns:a16="http://schemas.microsoft.com/office/drawing/2014/main" id="{E462883E-901E-4E20-B845-ABDAE56259E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Релевантный ответ без оценки</a:t>
            </a:r>
          </a:p>
        </p:txBody>
      </p:sp>
      <p:sp>
        <p:nvSpPr>
          <p:cNvPr id="2" name="04">
            <a:extLst xmlns:a="http://schemas.openxmlformats.org/drawingml/2006/main">
              <a:ext uri="{FF2B5EF4-FFF2-40B4-BE49-F238E27FC236}">
                <a16:creationId xmlns:a16="http://schemas.microsoft.com/office/drawing/2014/main" id="{71CE37D1-9669-4472-9A52-D3CA7FC2DDE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5BC45797-7A17-41F5-A538-B6928A14EC93}"/>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«Что вызывает повышение температуры кипения?»</a:t>
            </a:r>
          </a:p>
        </p:txBody>
      </p:sp>
      <p:graphicFrame>
        <p:nvGraphicFramePr>
          <p:cNvPr id="9"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26970"/>
                          </a:solidFill>
                          <a:latin typeface="Arial"/>
                          <a:ea typeface="Arial"/>
                          <a:cs typeface="Arial"/>
                        </a:rPr>
                        <a:t>Фрагмент в сокращении</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Исходные оценки</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Оценка человека</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00" b="0">
                          <a:solidFill>
                            <a:srgbClr val="182B30"/>
                          </a:solidFill>
                          <a:latin typeface="Arial"/>
                          <a:ea typeface="Arial"/>
                          <a:cs typeface="Arial"/>
                        </a:rPr>
                        <a:t>7112148   Добавление соли повышает</a:t>
                      </a:r>
                    </a:p>
                    <a:p>
                      <a:r>
                        <a:rPr sz="1800" b="0">
                          <a:solidFill>
                            <a:srgbClr val="182B30"/>
                          </a:solidFill>
                          <a:latin typeface="Arial"/>
                          <a:ea typeface="Arial"/>
                          <a:cs typeface="Arial"/>
                        </a:rPr>
                        <a:t>температуру кипения.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00" b="1">
                          <a:solidFill>
                            <a:srgbClr val="007F78"/>
                          </a:solidFill>
                          <a:latin typeface="Arial"/>
                          <a:ea typeface="Arial"/>
                          <a:cs typeface="Arial"/>
                        </a:rPr>
                        <a:t>7399382   Нелетучее растворённое вещество</a:t>
                      </a:r>
                    </a:p>
                    <a:p>
                      <a:r>
                        <a:rPr sz="1800" b="1">
                          <a:solidFill>
                            <a:srgbClr val="007F78"/>
                          </a:solidFill>
                          <a:latin typeface="Arial"/>
                          <a:ea typeface="Arial"/>
                          <a:cs typeface="Arial"/>
                        </a:rPr>
                        <a:t>повышает температуру кипения.</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1">
                          <a:solidFill>
                            <a:srgbClr val="007F78"/>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00" b="0">
                          <a:solidFill>
                            <a:srgbClr val="182B30"/>
                          </a:solidFill>
                          <a:latin typeface="Arial"/>
                          <a:ea typeface="Arial"/>
                          <a:cs typeface="Arial"/>
                        </a:rPr>
                        <a:t>987600   Температура кипения ацетона.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Нерелевантен</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оценки релевантности. Нет оценки: нулевой">
            <a:extLst xmlns:a="http://schemas.openxmlformats.org/drawingml/2006/main">
              <a:ext uri="{FF2B5EF4-FFF2-40B4-BE49-F238E27FC236}">
                <a16:creationId xmlns:a16="http://schemas.microsoft.com/office/drawing/2014/main" id="{818BB88C-CD6B-4292-97C6-338446FD5D1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оценки релевантности. Нет оценки: нулевой вклад. Тексты переведены и сокращены.</a:t>
            </a:r>
          </a:p>
        </p:txBody>
      </p:sp>
    </p:spTree>
    <p:extLst>
      <p:ext uri="{BB962C8B-B14F-4D97-AF65-F5344CB8AC3E}">
        <p14:creationId xmlns:p14="http://schemas.microsoft.com/office/powerpoint/2010/main" val="3120355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Данные и покрытие разметкой">
            <a:extLst xmlns:a="http://schemas.openxmlformats.org/drawingml/2006/main">
              <a:ext uri="{FF2B5EF4-FFF2-40B4-BE49-F238E27FC236}">
                <a16:creationId xmlns:a16="http://schemas.microsoft.com/office/drawing/2014/main" id="{29440B49-DDFD-465C-B6B4-58D748470CB7}"/>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Данные и покрытие разметкой</a:t>
            </a:r>
          </a:p>
        </p:txBody>
      </p:sp>
      <p:sp>
        <p:nvSpPr>
          <p:cNvPr id="2" name="05">
            <a:extLst xmlns:a="http://schemas.openxmlformats.org/drawingml/2006/main">
              <a:ext uri="{FF2B5EF4-FFF2-40B4-BE49-F238E27FC236}">
                <a16:creationId xmlns:a16="http://schemas.microsoft.com/office/drawing/2014/main" id="{0809FE34-21C9-4F2C-AC36-84C5B2DECBF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Англоязычный MS MARCO">
            <a:extLst xmlns:a="http://schemas.openxmlformats.org/drawingml/2006/main">
              <a:ext uri="{FF2B5EF4-FFF2-40B4-BE49-F238E27FC236}">
                <a16:creationId xmlns:a16="http://schemas.microsoft.com/office/drawing/2014/main" id="{885590F3-214F-45B1-A7AE-C26A64A43227}"/>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Англоязычный MS MARCO</a:t>
            </a:r>
          </a:p>
        </p:txBody>
      </p:sp>
      <p:sp>
        <p:nvSpPr>
          <p:cNvPr id="4" name="8,84 млн текстовых фрагментов">
            <a:extLst xmlns:a="http://schemas.openxmlformats.org/drawingml/2006/main">
              <a:ext uri="{FF2B5EF4-FFF2-40B4-BE49-F238E27FC236}">
                <a16:creationId xmlns:a16="http://schemas.microsoft.com/office/drawing/2014/main" id="{0DADC2AB-0A94-4F00-9A6F-B1C0A88E53C8}"/>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млн текстовых фрагментов</a:t>
            </a:r>
          </a:p>
        </p:txBody>
      </p:sp>
      <p:sp>
        <p:nvSpPr>
          <p:cNvPr id="5" name="">
            <a:extLst xmlns:a="http://schemas.openxmlformats.org/drawingml/2006/main">
              <a:ext uri="{FF2B5EF4-FFF2-40B4-BE49-F238E27FC236}">
                <a16:creationId xmlns:a16="http://schemas.microsoft.com/office/drawing/2014/main" id="{7992A276-434E-447B-B4F5-B25E844000A4}"/>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Оценки человека">
            <a:extLst xmlns:a="http://schemas.openxmlformats.org/drawingml/2006/main">
              <a:ext uri="{FF2B5EF4-FFF2-40B4-BE49-F238E27FC236}">
                <a16:creationId xmlns:a16="http://schemas.microsoft.com/office/drawing/2014/main" id="{8F487C3B-3C81-4606-98A2-7D8003F251EC}"/>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Оценки человека</a:t>
            </a:r>
          </a:p>
        </p:txBody>
      </p:sp>
      <p:sp>
        <p:nvSpPr>
          <p:cNvPr id="7" name="1 179">
            <a:extLst xmlns:a="http://schemas.openxmlformats.org/drawingml/2006/main">
              <a:ext uri="{FF2B5EF4-FFF2-40B4-BE49-F238E27FC236}">
                <a16:creationId xmlns:a16="http://schemas.microsoft.com/office/drawing/2014/main" id="{424A0CF9-F2D1-49EA-8DCF-DB48E54C5CCB}"/>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1 179</a:t>
            </a:r>
          </a:p>
        </p:txBody>
      </p:sp>
      <p:sp>
        <p:nvSpPr>
          <p:cNvPr id="8" name="запросов, 33 667 пар">
            <a:extLst xmlns:a="http://schemas.openxmlformats.org/drawingml/2006/main">
              <a:ext uri="{FF2B5EF4-FFF2-40B4-BE49-F238E27FC236}">
                <a16:creationId xmlns:a16="http://schemas.microsoft.com/office/drawing/2014/main" id="{97292762-C224-4238-96F1-63596DF8E0F4}"/>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33 667 пар</a:t>
            </a:r>
          </a:p>
        </p:txBody>
      </p:sp>
      <p:sp>
        <p:nvSpPr>
          <p:cNvPr id="9" name="Предсказания судьи">
            <a:extLst xmlns:a="http://schemas.openxmlformats.org/drawingml/2006/main">
              <a:ext uri="{FF2B5EF4-FFF2-40B4-BE49-F238E27FC236}">
                <a16:creationId xmlns:a16="http://schemas.microsoft.com/office/drawing/2014/main" id="{FF802F60-5108-414E-8817-64B7547556B0}"/>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Предсказания судьи</a:t>
            </a:r>
          </a:p>
        </p:txBody>
      </p:sp>
      <p:sp>
        <p:nvSpPr>
          <p:cNvPr id="10" name="101 093">
            <a:extLst xmlns:a="http://schemas.openxmlformats.org/drawingml/2006/main">
              <a:ext uri="{FF2B5EF4-FFF2-40B4-BE49-F238E27FC236}">
                <a16:creationId xmlns:a16="http://schemas.microsoft.com/office/drawing/2014/main" id="{0C15585C-9684-4427-84E9-D52FC610E667}"/>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101 093</a:t>
            </a:r>
          </a:p>
        </p:txBody>
      </p:sp>
      <p:sp>
        <p:nvSpPr>
          <p:cNvPr id="11" name="запроса, разная глубина пулов">
            <a:extLst xmlns:a="http://schemas.openxmlformats.org/drawingml/2006/main">
              <a:ext uri="{FF2B5EF4-FFF2-40B4-BE49-F238E27FC236}">
                <a16:creationId xmlns:a16="http://schemas.microsoft.com/office/drawing/2014/main" id="{027926A5-BE63-41C5-8A64-5C753293EC9D}"/>
              </a:ext>
            </a:extLst>
          </p:cNvPr>
          <p:cNvSpPr>
            <a:spLocks xmlns:a="http://schemas.openxmlformats.org/drawingml/2006/main" noGrp="1"/>
          </p:cNvSpPr>
          <p:nvPr/>
        </p:nvSpPr>
        <p:spPr>
          <a:xfrm xmlns:a="http://schemas.openxmlformats.org/drawingml/2006/main">
            <a:off x="6705600" y="4933950"/>
            <a:ext cx="4876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2B30"/>
                </a:solidFill>
                <a:latin typeface="Arial"/>
                <a:ea typeface="Arial"/>
                <a:cs typeface="Arial"/>
              </a:defRPr>
            </a:pPr>
            <a:r>
              <a:rPr sz="1950" b="0">
                <a:solidFill>
                  <a:srgbClr val="182B30"/>
                </a:solidFill>
                <a:latin typeface="Arial"/>
                <a:ea typeface="Arial"/>
                <a:cs typeface="Arial"/>
              </a:rPr>
              <a:t>запроса, разная глубина пулов</a:t>
            </a:r>
          </a:p>
        </p:txBody>
      </p:sp>
      <p:sp>
        <p:nvSpPr>
          <p:cNvPr id="12" name="Глубокая доразметка: оценивание многих кандидато">
            <a:extLst xmlns:a="http://schemas.openxmlformats.org/drawingml/2006/main">
              <a:ext uri="{FF2B5EF4-FFF2-40B4-BE49-F238E27FC236}">
                <a16:creationId xmlns:a16="http://schemas.microsoft.com/office/drawing/2014/main" id="{D55EAFBC-2984-4120-BE2D-F4161F67F7D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Глубокая доразметка: оценивание многих кандидатов внутри заданного пула.</a:t>
            </a:r>
          </a:p>
        </p:txBody>
      </p:sp>
    </p:spTree>
    <p:extLst>
      <p:ext uri="{BB962C8B-B14F-4D97-AF65-F5344CB8AC3E}">
        <p14:creationId xmlns:p14="http://schemas.microsoft.com/office/powerpoint/2010/main" val="3280566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Разметка с известным релевантным ответом">
            <a:extLst xmlns:a="http://schemas.openxmlformats.org/drawingml/2006/main">
              <a:ext uri="{FF2B5EF4-FFF2-40B4-BE49-F238E27FC236}">
                <a16:creationId xmlns:a16="http://schemas.microsoft.com/office/drawing/2014/main" id="{180C7DB2-459B-4FCA-B79E-4F7B01D8FB38}"/>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Разметка с известным релевантным ответом</a:t>
            </a:r>
          </a:p>
        </p:txBody>
      </p:sp>
      <p:sp>
        <p:nvSpPr>
          <p:cNvPr id="2" name="06">
            <a:extLst xmlns:a="http://schemas.openxmlformats.org/drawingml/2006/main">
              <a:ext uri="{FF2B5EF4-FFF2-40B4-BE49-F238E27FC236}">
                <a16:creationId xmlns:a16="http://schemas.microsoft.com/office/drawing/2014/main" id="{8727F5A5-8D83-4689-8D44-300EC745B56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BM25   E5   BGE&#10;По 10 результатов">
            <a:extLst xmlns:a="http://schemas.openxmlformats.org/drawingml/2006/main">
              <a:ext uri="{FF2B5EF4-FFF2-40B4-BE49-F238E27FC236}">
                <a16:creationId xmlns:a16="http://schemas.microsoft.com/office/drawing/2014/main" id="{122F6B6B-D2C8-41A5-82B2-7E3C49807359}"/>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По 10 результатов</a:t>
            </a:r>
          </a:p>
        </p:txBody>
      </p:sp>
      <p:sp>
        <p:nvSpPr>
          <p:cNvPr id="4" name="Дополнительный отбор&#10;Сходство с ответом по E5">
            <a:extLst xmlns:a="http://schemas.openxmlformats.org/drawingml/2006/main">
              <a:ext uri="{FF2B5EF4-FFF2-40B4-BE49-F238E27FC236}">
                <a16:creationId xmlns:a16="http://schemas.microsoft.com/office/drawing/2014/main" id="{9043F992-32D7-4449-818D-8A689A365371}"/>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Дополнительный отбор</a:t>
            </a:r>
          </a:p>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Сходство с ответом по E5</a:t>
            </a:r>
          </a:p>
        </p:txBody>
      </p:sp>
      <p:sp>
        <p:nvSpPr>
          <p:cNvPr id="5" name="Пул кандидатов&#10;без дубликатов">
            <a:extLst xmlns:a="http://schemas.openxmlformats.org/drawingml/2006/main">
              <a:ext uri="{FF2B5EF4-FFF2-40B4-BE49-F238E27FC236}">
                <a16:creationId xmlns:a16="http://schemas.microsoft.com/office/drawing/2014/main" id="{4E8EC3BB-D1E0-4F01-9ECF-DE639FB8DCB6}"/>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Пул кандидатов</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без дубликатов</a:t>
            </a:r>
          </a:p>
        </p:txBody>
      </p:sp>
      <p:sp>
        <p:nvSpPr>
          <p:cNvPr id="6" name="Ручная&#10;оценка">
            <a:extLst xmlns:a="http://schemas.openxmlformats.org/drawingml/2006/main">
              <a:ext uri="{FF2B5EF4-FFF2-40B4-BE49-F238E27FC236}">
                <a16:creationId xmlns:a16="http://schemas.microsoft.com/office/drawing/2014/main" id="{52BC621C-33D9-4797-AA40-B1DCA0C2B305}"/>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Ручная</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оценка</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Запрос + кандидат +&#10;релевантный ответ">
            <a:extLst xmlns:a="http://schemas.openxmlformats.org/drawingml/2006/main">
              <a:ext uri="{FF2B5EF4-FFF2-40B4-BE49-F238E27FC236}">
                <a16:creationId xmlns:a16="http://schemas.microsoft.com/office/drawing/2014/main" id="{2BAC93DA-3DBF-43EE-9A26-630664A6CAC3}"/>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Запрос + кандидат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релевантный ответ</a:t>
            </a:r>
          </a:p>
        </p:txBody>
      </p:sp>
      <p:sp>
        <p:nvSpPr>
          <p:cNvPr id="11" name="В среднем 28,56&#10;кандидата на запрос">
            <a:extLst xmlns:a="http://schemas.openxmlformats.org/drawingml/2006/main">
              <a:ext uri="{FF2B5EF4-FFF2-40B4-BE49-F238E27FC236}">
                <a16:creationId xmlns:a16="http://schemas.microsoft.com/office/drawing/2014/main" id="{EC4BFF6D-EB88-4B26-9FCE-237431C292EB}"/>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В среднем 28,56</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кандидата на запрос</a:t>
            </a:r>
          </a:p>
        </p:txBody>
      </p:sp>
      <p:sp>
        <p:nvSpPr>
          <p:cNvPr id="12" name="Известный ответ используется при отборе кандидат">
            <a:extLst xmlns:a="http://schemas.openxmlformats.org/drawingml/2006/main">
              <a:ext uri="{FF2B5EF4-FFF2-40B4-BE49-F238E27FC236}">
                <a16:creationId xmlns:a16="http://schemas.microsoft.com/office/drawing/2014/main" id="{EC799A55-7998-4E95-94EA-2E58E2265DC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Известный ответ используется при отборе кандидатов и ручной разметке.</a:t>
            </a:r>
          </a:p>
        </p:txBody>
      </p:sp>
    </p:spTree>
    <p:extLst>
      <p:ext uri="{BB962C8B-B14F-4D97-AF65-F5344CB8AC3E}">
        <p14:creationId xmlns:p14="http://schemas.microsoft.com/office/powerpoint/2010/main" val="5849022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Больше оценок в тех же пулах">
            <a:extLst xmlns:a="http://schemas.openxmlformats.org/drawingml/2006/main">
              <a:ext uri="{FF2B5EF4-FFF2-40B4-BE49-F238E27FC236}">
                <a16:creationId xmlns:a16="http://schemas.microsoft.com/office/drawing/2014/main" id="{2F84F334-3FCA-4185-A0B7-D9B4957261B4}"/>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Больше оценок в тех же пулах</a:t>
            </a:r>
          </a:p>
        </p:txBody>
      </p:sp>
      <p:sp>
        <p:nvSpPr>
          <p:cNvPr id="2" name="07">
            <a:extLst xmlns:a="http://schemas.openxmlformats.org/drawingml/2006/main">
              <a:ext uri="{FF2B5EF4-FFF2-40B4-BE49-F238E27FC236}">
                <a16:creationId xmlns:a16="http://schemas.microsoft.com/office/drawing/2014/main" id="{27841D99-97A6-4E23-AF83-2F34537AB9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Среднее число релевантных фрагментов на запрос">
            <a:extLst xmlns:a="http://schemas.openxmlformats.org/drawingml/2006/main">
              <a:ext uri="{FF2B5EF4-FFF2-40B4-BE49-F238E27FC236}">
                <a16:creationId xmlns:a16="http://schemas.microsoft.com/office/drawing/2014/main" id="{F206EA3E-742D-40EB-B494-42785A50D57D}"/>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Среднее число релевантных фрагментов на запрос</a:t>
            </a:r>
          </a:p>
        </p:txBody>
      </p:sp>
      <p:sp>
        <p:nvSpPr>
          <p:cNvPr id="4" name="1,05">
            <a:extLst xmlns:a="http://schemas.openxmlformats.org/drawingml/2006/main">
              <a:ext uri="{FF2B5EF4-FFF2-40B4-BE49-F238E27FC236}">
                <a16:creationId xmlns:a16="http://schemas.microsoft.com/office/drawing/2014/main" id="{8661E4D4-46D6-455E-B58B-0DC6B9E7CD37}"/>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C30C539F-5666-435A-A529-864C3E40D117}"/>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D8D375D0-B31D-4BC8-8ABD-4A7624FFD4C0}"/>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Исходные оценки">
            <a:extLst xmlns:a="http://schemas.openxmlformats.org/drawingml/2006/main">
              <a:ext uri="{FF2B5EF4-FFF2-40B4-BE49-F238E27FC236}">
                <a16:creationId xmlns:a16="http://schemas.microsoft.com/office/drawing/2014/main" id="{6E654A1D-412E-41F4-B5D4-B2B2C7032D94}"/>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Исходные оценки</a:t>
            </a:r>
          </a:p>
        </p:txBody>
      </p:sp>
      <p:sp>
        <p:nvSpPr>
          <p:cNvPr id="8" name="1 243 релевантные пары">
            <a:extLst xmlns:a="http://schemas.openxmlformats.org/drawingml/2006/main">
              <a:ext uri="{FF2B5EF4-FFF2-40B4-BE49-F238E27FC236}">
                <a16:creationId xmlns:a16="http://schemas.microsoft.com/office/drawing/2014/main" id="{C2CFF259-CFAE-41C7-BADE-34ECD590AC53}"/>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1 243 релевантные пары</a:t>
            </a:r>
          </a:p>
        </p:txBody>
      </p:sp>
      <p:sp>
        <p:nvSpPr>
          <p:cNvPr id="9" name="После доразметки">
            <a:extLst xmlns:a="http://schemas.openxmlformats.org/drawingml/2006/main">
              <a:ext uri="{FF2B5EF4-FFF2-40B4-BE49-F238E27FC236}">
                <a16:creationId xmlns:a16="http://schemas.microsoft.com/office/drawing/2014/main" id="{7EE3F3E2-8DC4-4A75-BAD1-2C44C28FC793}"/>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После доразметки</a:t>
            </a:r>
          </a:p>
        </p:txBody>
      </p:sp>
      <p:sp>
        <p:nvSpPr>
          <p:cNvPr id="10" name="20 597 релевантных пар">
            <a:extLst xmlns:a="http://schemas.openxmlformats.org/drawingml/2006/main">
              <a:ext uri="{FF2B5EF4-FFF2-40B4-BE49-F238E27FC236}">
                <a16:creationId xmlns:a16="http://schemas.microsoft.com/office/drawing/2014/main" id="{331F238E-5D12-4A92-A05F-A43F00CD91A5}"/>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20 597 релевантных пар</a:t>
            </a:r>
          </a:p>
        </p:txBody>
      </p:sp>
      <p:sp>
        <p:nvSpPr>
          <p:cNvPr id="11" name="1 179 запросов. Пулы кандидатов и порядок поиско">
            <a:extLst xmlns:a="http://schemas.openxmlformats.org/drawingml/2006/main">
              <a:ext uri="{FF2B5EF4-FFF2-40B4-BE49-F238E27FC236}">
                <a16:creationId xmlns:a16="http://schemas.microsoft.com/office/drawing/2014/main" id="{54395DF9-884F-4120-943B-ABA535AD06C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15156530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Доразметка меняет оценку NDCG@10">
            <a:extLst xmlns:a="http://schemas.openxmlformats.org/drawingml/2006/main">
              <a:ext uri="{FF2B5EF4-FFF2-40B4-BE49-F238E27FC236}">
                <a16:creationId xmlns:a16="http://schemas.microsoft.com/office/drawing/2014/main" id="{A52BD454-9902-459D-8BAC-0A7268AC6143}"/>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Доразметка меняет оценку NDCG@10</a:t>
            </a:r>
          </a:p>
        </p:txBody>
      </p:sp>
      <p:sp>
        <p:nvSpPr>
          <p:cNvPr id="2" name="08">
            <a:extLst xmlns:a="http://schemas.openxmlformats.org/drawingml/2006/main">
              <a:ext uri="{FF2B5EF4-FFF2-40B4-BE49-F238E27FC236}">
                <a16:creationId xmlns:a16="http://schemas.microsoft.com/office/drawing/2014/main" id="{2E01C210-BF32-4CD2-8E09-A1719ADCB21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RRF: объединение выдач BM25, E5 и BGE по обратны">
            <a:extLst xmlns:a="http://schemas.openxmlformats.org/drawingml/2006/main">
              <a:ext uri="{FF2B5EF4-FFF2-40B4-BE49-F238E27FC236}">
                <a16:creationId xmlns:a16="http://schemas.microsoft.com/office/drawing/2014/main" id="{8572BA23-5366-4F82-A986-62D1F22C734A}"/>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объединение выдач BM25, E5 и BGE по обратным рангам</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ae10bc0b107a4920"/>
          </a:graphicData>
        </a:graphic>
      </p:graphicFrame>
      <p:sp>
        <p:nvSpPr>
          <p:cNvPr id="5" name="Изменение E5: +0,391   95%-ный ДИ [0,365; 0,417]">
            <a:extLst xmlns:a="http://schemas.openxmlformats.org/drawingml/2006/main">
              <a:ext uri="{FF2B5EF4-FFF2-40B4-BE49-F238E27FC236}">
                <a16:creationId xmlns:a16="http://schemas.microsoft.com/office/drawing/2014/main" id="{B57DDB50-6925-42ED-B7EF-D724ACFADEDA}"/>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Изменение E5: +0,391   95%-ный ДИ [0,365; 0,417]</a:t>
            </a:r>
          </a:p>
        </p:txBody>
      </p:sp>
      <p:sp>
        <p:nvSpPr>
          <p:cNvPr id="6" name="NDCG@10 внутри пулов. Общий идеальный знаменател">
            <a:extLst xmlns:a="http://schemas.openxmlformats.org/drawingml/2006/main">
              <a:ext uri="{FF2B5EF4-FFF2-40B4-BE49-F238E27FC236}">
                <a16:creationId xmlns:a16="http://schemas.microsoft.com/office/drawing/2014/main" id="{E6EA5B10-B1ED-4E23-8E80-B90DA7A9B37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NDCG@10 внутри пулов. Общий идеальный знаменатель для запроса и набора меток.</a:t>
            </a:r>
          </a:p>
        </p:txBody>
      </p:sp>
    </p:spTree>
    <p:extLst>
      <p:ext uri="{BB962C8B-B14F-4D97-AF65-F5344CB8AC3E}">
        <p14:creationId xmlns:p14="http://schemas.microsoft.com/office/powerpoint/2010/main" val="109935704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Модель-судья для больших пулов">
            <a:extLst xmlns:a="http://schemas.openxmlformats.org/drawingml/2006/main">
              <a:ext uri="{FF2B5EF4-FFF2-40B4-BE49-F238E27FC236}">
                <a16:creationId xmlns:a16="http://schemas.microsoft.com/office/drawing/2014/main" id="{02A6FC39-BC0B-4EF3-9AE8-EF954A6ADC3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Модель-судья для больших пулов</a:t>
            </a:r>
          </a:p>
        </p:txBody>
      </p:sp>
      <p:sp>
        <p:nvSpPr>
          <p:cNvPr id="2" name="09">
            <a:extLst xmlns:a="http://schemas.openxmlformats.org/drawingml/2006/main">
              <a:ext uri="{FF2B5EF4-FFF2-40B4-BE49-F238E27FC236}">
                <a16:creationId xmlns:a16="http://schemas.microsoft.com/office/drawing/2014/main" id="{134C94FC-E04A-4FFD-9C20-F2C65B38AE0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Текст запроса&#10;Текст кандидата">
            <a:extLst xmlns:a="http://schemas.openxmlformats.org/drawingml/2006/main">
              <a:ext uri="{FF2B5EF4-FFF2-40B4-BE49-F238E27FC236}">
                <a16:creationId xmlns:a16="http://schemas.microsoft.com/office/drawing/2014/main" id="{438A7F86-A146-4E76-81EE-BEA22EB9BB72}"/>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запроса</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кандидата</a:t>
            </a:r>
          </a:p>
        </p:txBody>
      </p:sp>
      <p:sp>
        <p:nvSpPr>
          <p:cNvPr id="4" name="Ручные оценки обучают судью для автоматической р">
            <a:extLst xmlns:a="http://schemas.openxmlformats.org/drawingml/2006/main">
              <a:ext uri="{FF2B5EF4-FFF2-40B4-BE49-F238E27FC236}">
                <a16:creationId xmlns:a16="http://schemas.microsoft.com/office/drawing/2014/main" id="{74610700-EFCB-4214-95DA-06649207DBD5}"/>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Ручные оценки обучают судью для автоматической разметки.</a:t>
            </a:r>
          </a:p>
        </p:txBody>
      </p:sp>
      <p:sp>
        <p:nvSpPr>
          <p:cNvPr id="5" name="MiniLM&#10;кросс-энкодер">
            <a:extLst xmlns:a="http://schemas.openxmlformats.org/drawingml/2006/main">
              <a:ext uri="{FF2B5EF4-FFF2-40B4-BE49-F238E27FC236}">
                <a16:creationId xmlns:a16="http://schemas.microsoft.com/office/drawing/2014/main" id="{DB05FA60-A375-4286-B946-1FA613A52C8B}"/>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2EDE7226-1D53-48B7-BE6B-98E8EA37A17F}"/>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Балл модели</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Псевдометка</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Совместно оценивает два текста">
            <a:extLst xmlns:a="http://schemas.openxmlformats.org/drawingml/2006/main">
              <a:ext uri="{FF2B5EF4-FFF2-40B4-BE49-F238E27FC236}">
                <a16:creationId xmlns:a16="http://schemas.microsoft.com/office/drawing/2014/main" id="{3622A992-FEB0-4994-809E-4A3AFDDA142F}"/>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Совместно оценивает два текста</a:t>
            </a:r>
          </a:p>
        </p:txBody>
      </p:sp>
      <p:sp>
        <p:nvSpPr>
          <p:cNvPr id="10" name="">
            <a:extLst xmlns:a="http://schemas.openxmlformats.org/drawingml/2006/main">
              <a:ext uri="{FF2B5EF4-FFF2-40B4-BE49-F238E27FC236}">
                <a16:creationId xmlns:a16="http://schemas.microsoft.com/office/drawing/2014/main" id="{28D39B00-7159-478F-81A4-EC86D1279D6D}"/>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На входе нет эталонного ответа, рангов и баллов ">
            <a:extLst xmlns:a="http://schemas.openxmlformats.org/drawingml/2006/main">
              <a:ext uri="{FF2B5EF4-FFF2-40B4-BE49-F238E27FC236}">
                <a16:creationId xmlns:a16="http://schemas.microsoft.com/office/drawing/2014/main" id="{456DC5FA-8092-4A8F-A989-E27A3D4028D2}"/>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На входе нет эталонного ответа, рангов и баллов поисковых моделей.</a:t>
            </a:r>
          </a:p>
        </p:txBody>
      </p:sp>
      <p:sp>
        <p:nvSpPr>
          <p:cNvPr id="12" name="Псевдометки остаются предсказаниями модели.">
            <a:extLst xmlns:a="http://schemas.openxmlformats.org/drawingml/2006/main">
              <a:ext uri="{FF2B5EF4-FFF2-40B4-BE49-F238E27FC236}">
                <a16:creationId xmlns:a16="http://schemas.microsoft.com/office/drawing/2014/main" id="{C2542CD9-03DB-4860-B0A9-F584330EB93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остаются предсказаниями модели.</a:t>
            </a:r>
          </a:p>
        </p:txBody>
      </p:sp>
    </p:spTree>
    <p:extLst>
      <p:ext uri="{BB962C8B-B14F-4D97-AF65-F5344CB8AC3E}">
        <p14:creationId xmlns:p14="http://schemas.microsoft.com/office/powerpoint/2010/main" val="18016905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Согласие судьи с ручной разметкой">
            <a:extLst xmlns:a="http://schemas.openxmlformats.org/drawingml/2006/main">
              <a:ext uri="{FF2B5EF4-FFF2-40B4-BE49-F238E27FC236}">
                <a16:creationId xmlns:a16="http://schemas.microsoft.com/office/drawing/2014/main" id="{EB45E93D-CD0E-4A10-8959-0FAA367E062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Согласие судьи с ручной разметкой</a:t>
            </a:r>
          </a:p>
        </p:txBody>
      </p:sp>
      <p:sp>
        <p:nvSpPr>
          <p:cNvPr id="2" name="10">
            <a:extLst xmlns:a="http://schemas.openxmlformats.org/drawingml/2006/main">
              <a:ext uri="{FF2B5EF4-FFF2-40B4-BE49-F238E27FC236}">
                <a16:creationId xmlns:a16="http://schemas.microsoft.com/office/drawing/2014/main" id="{4CC34399-9D4E-4752-BEA1-492AC641292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Тест: 177 отложенных запросов, 5 002 пары из руч">
            <a:extLst xmlns:a="http://schemas.openxmlformats.org/drawingml/2006/main">
              <a:ext uri="{FF2B5EF4-FFF2-40B4-BE49-F238E27FC236}">
                <a16:creationId xmlns:a16="http://schemas.microsoft.com/office/drawing/2014/main" id="{D5EC8F41-7F7B-4A2A-B015-ED24654413E8}"/>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 177 отложенных запросов, 5 002 пары из ручных пулов</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1c15ac8e8c214121"/>
          </a:graphicData>
        </a:graphic>
      </p:graphicFrame>
      <p:sp>
        <p:nvSpPr>
          <p:cNvPr id="5" name="0,907">
            <a:extLst xmlns:a="http://schemas.openxmlformats.org/drawingml/2006/main">
              <a:ext uri="{FF2B5EF4-FFF2-40B4-BE49-F238E27FC236}">
                <a16:creationId xmlns:a16="http://schemas.microsoft.com/office/drawing/2014/main" id="{9BCCD319-E60F-41BB-A76E-2A02BB383104}"/>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056B5D30-D47B-4219-8610-E0D231C5FEC1}"/>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EA9B9CEC-524D-41FC-9FA3-E482F5EB66EE}"/>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CD95DE05-ACC6-417A-A691-5E9340BC662C}"/>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при выбранном</a:t>
            </a:r>
          </a:p>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пороге</a:t>
            </a:r>
          </a:p>
        </p:txBody>
      </p:sp>
      <p:sp>
        <p:nvSpPr>
          <p:cNvPr id="9" name="Точка: порог, выбранный на валидационных запроса">
            <a:extLst xmlns:a="http://schemas.openxmlformats.org/drawingml/2006/main">
              <a:ext uri="{FF2B5EF4-FFF2-40B4-BE49-F238E27FC236}">
                <a16:creationId xmlns:a16="http://schemas.microsoft.com/office/drawing/2014/main" id="{DC01530B-174D-49D6-A902-494EA2EDE126}"/>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Точка: порог, выбранный на валидационных запросах</a:t>
            </a:r>
          </a:p>
        </p:txBody>
      </p:sp>
      <p:sp>
        <p:nvSpPr>
          <p:cNvPr id="10" name="Для глубоких пулов нет независимой ручной провер">
            <a:extLst xmlns:a="http://schemas.openxmlformats.org/drawingml/2006/main">
              <a:ext uri="{FF2B5EF4-FFF2-40B4-BE49-F238E27FC236}">
                <a16:creationId xmlns:a16="http://schemas.microsoft.com/office/drawing/2014/main" id="{F98DCA31-DBE9-49D9-99AC-D27419C70E0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875" b="1">
                <a:solidFill>
                  <a:srgbClr val="182B30"/>
                </a:solidFill>
                <a:latin typeface="Arial"/>
                <a:ea typeface="Arial"/>
                <a:cs typeface="Arial"/>
              </a:rPr>
              <a:t>Для глубоких пулов нет независимой ручной проверки.</a:t>
            </a:r>
          </a:p>
        </p:txBody>
      </p:sp>
    </p:spTree>
    <p:extLst>
      <p:ext uri="{BB962C8B-B14F-4D97-AF65-F5344CB8AC3E}">
        <p14:creationId xmlns:p14="http://schemas.microsoft.com/office/powerpoint/2010/main" val="18459086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Размер пула и предсказанная релевантность">
            <a:extLst xmlns:a="http://schemas.openxmlformats.org/drawingml/2006/main">
              <a:ext uri="{FF2B5EF4-FFF2-40B4-BE49-F238E27FC236}">
                <a16:creationId xmlns:a16="http://schemas.microsoft.com/office/drawing/2014/main" id="{C80A24C4-5B46-4BED-A63B-DD2A9F1A174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Размер пула и предсказанная релевантность</a:t>
            </a:r>
          </a:p>
        </p:txBody>
      </p:sp>
      <p:sp>
        <p:nvSpPr>
          <p:cNvPr id="2" name="11">
            <a:extLst xmlns:a="http://schemas.openxmlformats.org/drawingml/2006/main">
              <a:ext uri="{FF2B5EF4-FFF2-40B4-BE49-F238E27FC236}">
                <a16:creationId xmlns:a16="http://schemas.microsoft.com/office/drawing/2014/main" id="{891422B3-B4CE-43F7-A005-8AB8DEF11AF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K: число результатов каждой модели для оценочног">
            <a:extLst xmlns:a="http://schemas.openxmlformats.org/drawingml/2006/main">
              <a:ext uri="{FF2B5EF4-FFF2-40B4-BE49-F238E27FC236}">
                <a16:creationId xmlns:a16="http://schemas.microsoft.com/office/drawing/2014/main" id="{F7230BB2-9734-4D60-AFDE-8C1CDE205EBB}"/>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число результатов каждой модели для оценочного пула</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824F135C-B9EB-4F6D-A6E8-E78F31BD5131}"/>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b16ce5a367b3433a"/>
          </a:graphicData>
        </a:graphic>
      </p:graphicFrame>
      <p:sp>
        <p:nvSpPr>
          <p:cNvPr id="6" name="451,5">
            <a:extLst xmlns:a="http://schemas.openxmlformats.org/drawingml/2006/main">
              <a:ext uri="{FF2B5EF4-FFF2-40B4-BE49-F238E27FC236}">
                <a16:creationId xmlns:a16="http://schemas.microsoft.com/office/drawing/2014/main" id="{440526EC-EAC4-41F6-B0AA-F5A1CF2E40C7}"/>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3E38A391-5AB4-43CD-8CA8-5F5BD802FE8E}"/>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F3579888-4EAB-4DC7-BECE-F4F532C841D8}"/>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релевантных&#10;по судье при K = 200">
            <a:extLst xmlns:a="http://schemas.openxmlformats.org/drawingml/2006/main">
              <a:ext uri="{FF2B5EF4-FFF2-40B4-BE49-F238E27FC236}">
                <a16:creationId xmlns:a16="http://schemas.microsoft.com/office/drawing/2014/main" id="{1EC994F1-98D3-41BE-B0EC-ACAEDFAB086C}"/>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релевантных</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по судье 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E4D4BAF8-1AF8-484E-AB49-0AAA95854C4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191888458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Меняются пул и входные списки RRF">
            <a:extLst xmlns:a="http://schemas.openxmlformats.org/drawingml/2006/main">
              <a:ext uri="{FF2B5EF4-FFF2-40B4-BE49-F238E27FC236}">
                <a16:creationId xmlns:a16="http://schemas.microsoft.com/office/drawing/2014/main" id="{63A290C3-5A20-41A4-BB3D-FED9B3675C25}"/>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Меняются пул и входные списки RRF</a:t>
            </a:r>
          </a:p>
        </p:txBody>
      </p:sp>
      <p:sp>
        <p:nvSpPr>
          <p:cNvPr id="2" name="12">
            <a:extLst xmlns:a="http://schemas.openxmlformats.org/drawingml/2006/main">
              <a:ext uri="{FF2B5EF4-FFF2-40B4-BE49-F238E27FC236}">
                <a16:creationId xmlns:a16="http://schemas.microsoft.com/office/drawing/2014/main" id="{3D2F3BA3-F106-4AEC-AC8A-99852868202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2F3594EC-A2CC-4D03-ADE7-3FD87A976AAF}"/>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Обе глубины меняются одновременно: L = K">
            <a:extLst xmlns:a="http://schemas.openxmlformats.org/drawingml/2006/main">
              <a:ext uri="{FF2B5EF4-FFF2-40B4-BE49-F238E27FC236}">
                <a16:creationId xmlns:a16="http://schemas.microsoft.com/office/drawing/2014/main" id="{739A7910-143B-42D7-89CD-09906D8642AD}"/>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95236"/>
                </a:solidFill>
                <a:latin typeface="Arial"/>
                <a:ea typeface="Arial"/>
                <a:cs typeface="Arial"/>
              </a:defRPr>
            </a:pPr>
            <a:r>
              <a:rPr sz="2175" b="1">
                <a:solidFill>
                  <a:srgbClr val="C95236"/>
                </a:solidFill>
                <a:latin typeface="Arial"/>
                <a:ea typeface="Arial"/>
                <a:cs typeface="Arial"/>
              </a:rPr>
              <a:t>Обе глубины меняются одновременно: L = K</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af5a3cd61f1d408b"/>
          </a:graphicData>
        </a:graphic>
      </p:graphicFrame>
      <p:sp>
        <p:nvSpPr>
          <p:cNvPr id="6" name="При K = 200 разность NDCG@10 составляет +0,0088">
            <a:extLst xmlns:a="http://schemas.openxmlformats.org/drawingml/2006/main">
              <a:ext uri="{FF2B5EF4-FFF2-40B4-BE49-F238E27FC236}">
                <a16:creationId xmlns:a16="http://schemas.microsoft.com/office/drawing/2014/main" id="{8FB2A5CF-72BE-4C32-9DB7-87EB58FD8331}"/>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При K = 200 разность NDCG@10 составляет +0,0088</a:t>
            </a:r>
          </a:p>
        </p:txBody>
      </p:sp>
      <p:sp>
        <p:nvSpPr>
          <p:cNvPr id="7" name="Один судья. 95%-ный парный ДИ [0,0082; 0,0095].&#10;">
            <a:extLst xmlns:a="http://schemas.openxmlformats.org/drawingml/2006/main">
              <a:ext uri="{FF2B5EF4-FFF2-40B4-BE49-F238E27FC236}">
                <a16:creationId xmlns:a16="http://schemas.microsoft.com/office/drawing/2014/main" id="{B2E5AE54-9044-44ED-A1EF-20933CA79193}"/>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Один судья. 95%-ный парный ДИ [0,0082; 0,0095].</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Бутстрэп по запросам не учитывает неопределённость судьи.</a:t>
            </a:r>
          </a:p>
        </p:txBody>
      </p:sp>
    </p:spTree>
    <p:extLst>
      <p:ext uri="{BB962C8B-B14F-4D97-AF65-F5344CB8AC3E}">
        <p14:creationId xmlns:p14="http://schemas.microsoft.com/office/powerpoint/2010/main" val="126351582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Покрытие разметкой меняет сравнение">
            <a:extLst xmlns:a="http://schemas.openxmlformats.org/drawingml/2006/main">
              <a:ext uri="{FF2B5EF4-FFF2-40B4-BE49-F238E27FC236}">
                <a16:creationId xmlns:a16="http://schemas.microsoft.com/office/drawing/2014/main" id="{462138B4-4770-4D8C-BFC9-3DA5F611785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Покрытие разметкой меняет сравнение</a:t>
            </a:r>
          </a:p>
        </p:txBody>
      </p:sp>
      <p:sp>
        <p:nvSpPr>
          <p:cNvPr id="2" name="13">
            <a:extLst xmlns:a="http://schemas.openxmlformats.org/drawingml/2006/main">
              <a:ext uri="{FF2B5EF4-FFF2-40B4-BE49-F238E27FC236}">
                <a16:creationId xmlns:a16="http://schemas.microsoft.com/office/drawing/2014/main" id="{7C6F62FE-2B87-4224-9A91-18A4DA1A9FE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13</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D53FEB83-E5AD-4576-811C-0BC24C0D2343}"/>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Меняется только K. L = 200, обе выдачи зафиксиро">
            <a:extLst xmlns:a="http://schemas.openxmlformats.org/drawingml/2006/main">
              <a:ext uri="{FF2B5EF4-FFF2-40B4-BE49-F238E27FC236}">
                <a16:creationId xmlns:a16="http://schemas.microsoft.com/office/drawing/2014/main" id="{DDFBBED2-8400-4A0A-A58F-9F83CD75C48F}"/>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Меняется только K. L = 200, обе выдачи зафиксированы.</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58600d943d744728"/>
          </a:graphicData>
        </a:graphic>
      </p:graphicFrame>
      <p:sp>
        <p:nvSpPr>
          <p:cNvPr id="6" name="14,4%">
            <a:extLst xmlns:a="http://schemas.openxmlformats.org/drawingml/2006/main">
              <a:ext uri="{FF2B5EF4-FFF2-40B4-BE49-F238E27FC236}">
                <a16:creationId xmlns:a16="http://schemas.microsoft.com/office/drawing/2014/main" id="{752B4FE5-2C43-4438-AF44-B4BAC97BDF8F}"/>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C1120972-0F48-4634-8166-CA65336E1800}"/>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пар из топ-10 RRF</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вне оценочного пула</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при K = 10</a:t>
            </a:r>
          </a:p>
        </p:txBody>
      </p:sp>
      <p:sp>
        <p:nvSpPr>
          <p:cNvPr id="8" name="145 643 пары&#10;«запрос–фрагмент»">
            <a:extLst xmlns:a="http://schemas.openxmlformats.org/drawingml/2006/main">
              <a:ext uri="{FF2B5EF4-FFF2-40B4-BE49-F238E27FC236}">
                <a16:creationId xmlns:a16="http://schemas.microsoft.com/office/drawing/2014/main" id="{4B81C201-E648-4B20-9895-BA8D05300DF5}"/>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145 643 пары</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«запрос–фрагмент»</a:t>
            </a:r>
          </a:p>
        </p:txBody>
      </p:sp>
      <p:sp>
        <p:nvSpPr>
          <p:cNvPr id="9" name="K = 10: −0,0661">
            <a:extLst xmlns:a="http://schemas.openxmlformats.org/drawingml/2006/main">
              <a:ext uri="{FF2B5EF4-FFF2-40B4-BE49-F238E27FC236}">
                <a16:creationId xmlns:a16="http://schemas.microsoft.com/office/drawing/2014/main" id="{AF6FD07E-A697-465C-839B-C8E2B761A488}"/>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A9046A9A-23C4-40E2-AFE5-06BFB75269A4}"/>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минус E5 по псевдометкам. Фрагменты без оцен">
            <a:extLst xmlns:a="http://schemas.openxmlformats.org/drawingml/2006/main">
              <a:ext uri="{FF2B5EF4-FFF2-40B4-BE49-F238E27FC236}">
                <a16:creationId xmlns:a16="http://schemas.microsoft.com/office/drawing/2014/main" id="{304F5906-69AC-413F-BDF1-70DD3E59451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RRF минус E5 по псевдометкам. Фрагменты без оценки дают нулевой вклад.</a:t>
            </a:r>
          </a:p>
        </p:txBody>
      </p:sp>
    </p:spTree>
    <p:extLst>
      <p:ext uri="{BB962C8B-B14F-4D97-AF65-F5344CB8AC3E}">
        <p14:creationId xmlns:p14="http://schemas.microsoft.com/office/powerpoint/2010/main" val="166195781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Устойчивость и ограничения">
            <a:extLst xmlns:a="http://schemas.openxmlformats.org/drawingml/2006/main">
              <a:ext uri="{FF2B5EF4-FFF2-40B4-BE49-F238E27FC236}">
                <a16:creationId xmlns:a16="http://schemas.microsoft.com/office/drawing/2014/main" id="{C8052B11-72BA-4D3A-B5BF-08C73A13D40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Устойчивость и ограничения</a:t>
            </a:r>
          </a:p>
        </p:txBody>
      </p:sp>
      <p:sp>
        <p:nvSpPr>
          <p:cNvPr id="2" name="14">
            <a:extLst xmlns:a="http://schemas.openxmlformats.org/drawingml/2006/main">
              <a:ext uri="{FF2B5EF4-FFF2-40B4-BE49-F238E27FC236}">
                <a16:creationId xmlns:a16="http://schemas.microsoft.com/office/drawing/2014/main" id="{C552EA4A-A8E6-442F-958E-3BD9A0E3089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14</a:t>
            </a:r>
          </a:p>
        </p:txBody>
      </p:sp>
      <p:sp>
        <p:nvSpPr>
          <p:cNvPr id="3" name="Сравнение после исключения части запросов">
            <a:extLst xmlns:a="http://schemas.openxmlformats.org/drawingml/2006/main">
              <a:ext uri="{FF2B5EF4-FFF2-40B4-BE49-F238E27FC236}">
                <a16:creationId xmlns:a16="http://schemas.microsoft.com/office/drawing/2014/main" id="{F5028198-35FC-4032-A823-30BDE8611501}"/>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Сравнение после исключения части запросов</a:t>
            </a:r>
          </a: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Оценивание</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Запросов</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Результат</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Ручная разметка</a:t>
                      </a:r>
                    </a:p>
                    <a:p>
                      <a:r>
                        <a:rPr sz="1875" b="0">
                          <a:solidFill>
                            <a:srgbClr val="182B30"/>
                          </a:solidFill>
                          <a:latin typeface="Arial"/>
                          <a:ea typeface="Arial"/>
                          <a:cs typeface="Arial"/>
                        </a:rPr>
                        <a:t>Исключены 23 запроса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1 156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Порядок систем сохранён</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Псевдометки</a:t>
                      </a:r>
                    </a:p>
                    <a:p>
                      <a:r>
                        <a:rPr sz="1875" b="0">
                          <a:solidFill>
                            <a:srgbClr val="182B30"/>
                          </a:solidFill>
                          <a:latin typeface="Arial"/>
                          <a:ea typeface="Arial"/>
                          <a:cs typeface="Arial"/>
                        </a:rPr>
                        <a:t>Без ручных запросов</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99 914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Знаки разностей</a:t>
                      </a:r>
                    </a:p>
                    <a:p>
                      <a:r>
                        <a:rPr sz="1875" b="0">
                          <a:solidFill>
                            <a:srgbClr val="182B30"/>
                          </a:solidFill>
                          <a:latin typeface="Arial"/>
                          <a:ea typeface="Arial"/>
                          <a:cs typeface="Arial"/>
                        </a:rPr>
                        <a:t>RRF–E5 сохранены</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E823344-FAE0-4CD2-8939-01B5175ACAFB}"/>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Ручные пулы: известный ответ, согласие экспертов">
            <a:extLst xmlns:a="http://schemas.openxmlformats.org/drawingml/2006/main">
              <a:ext uri="{FF2B5EF4-FFF2-40B4-BE49-F238E27FC236}">
                <a16:creationId xmlns:a16="http://schemas.microsoft.com/office/drawing/2014/main" id="{153C452C-765B-4086-87CE-9EEE1BC85A66}"/>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Ручные пулы: известный ответ, согласие экспертов не измерено.</a:t>
            </a:r>
          </a:p>
        </p:txBody>
      </p:sp>
      <p:sp>
        <p:nvSpPr>
          <p:cNvPr id="7" name="Большие пулы: один судья, без независимой ручной">
            <a:extLst xmlns:a="http://schemas.openxmlformats.org/drawingml/2006/main">
              <a:ext uri="{FF2B5EF4-FFF2-40B4-BE49-F238E27FC236}">
                <a16:creationId xmlns:a16="http://schemas.microsoft.com/office/drawing/2014/main" id="{8BC29F2F-7FB3-44A7-9F09-F13CCD6A21CD}"/>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Большие пулы: один судья, без независимой ручной проверки.</a:t>
            </a:r>
          </a:p>
        </p:txBody>
      </p:sp>
      <p:sp>
        <p:nvSpPr>
          <p:cNvPr id="8" name="Перенос за пределы выбранных пулов английского M">
            <a:extLst xmlns:a="http://schemas.openxmlformats.org/drawingml/2006/main">
              <a:ext uri="{FF2B5EF4-FFF2-40B4-BE49-F238E27FC236}">
                <a16:creationId xmlns:a16="http://schemas.microsoft.com/office/drawing/2014/main" id="{454D62ED-66DF-4512-9C7B-23273E9FEC0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Перенос за пределы выбранных пулов английского MS MARCO не проверен.</a:t>
            </a:r>
          </a:p>
        </p:txBody>
      </p:sp>
    </p:spTree>
    <p:extLst>
      <p:ext uri="{BB962C8B-B14F-4D97-AF65-F5344CB8AC3E}">
        <p14:creationId xmlns:p14="http://schemas.microsoft.com/office/powerpoint/2010/main" val="1315531979"/>
      </p:ext>
    </p:extLst>
  </p:cSld>
</p:sld>
</file>

<file path=ppt/slides/slide15.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Полнота разметки влияет на оценку поиска">
            <a:extLst xmlns:a="http://schemas.openxmlformats.org/drawingml/2006/main">
              <a:ext uri="{FF2B5EF4-FFF2-40B4-BE49-F238E27FC236}">
                <a16:creationId xmlns:a16="http://schemas.microsoft.com/office/drawing/2014/main" id="{938B4A72-BF4C-4CBE-8406-C7CF24AE010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Полнота разметки влияет на оценку поиска</a:t>
            </a:r>
          </a:p>
        </p:txBody>
      </p:sp>
      <p:sp>
        <p:nvSpPr>
          <p:cNvPr id="2" name="15">
            <a:extLst xmlns:a="http://schemas.openxmlformats.org/drawingml/2006/main">
              <a:ext uri="{FF2B5EF4-FFF2-40B4-BE49-F238E27FC236}">
                <a16:creationId xmlns:a16="http://schemas.microsoft.com/office/drawing/2014/main" id="{3EB6A038-62F4-43CF-973B-9C6160FDFA2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15</a:t>
            </a:r>
          </a:p>
        </p:txBody>
      </p:sp>
      <p:sp>
        <p:nvSpPr>
          <p:cNvPr id="3" name="Оценки человека">
            <a:extLst xmlns:a="http://schemas.openxmlformats.org/drawingml/2006/main">
              <a:ext uri="{FF2B5EF4-FFF2-40B4-BE49-F238E27FC236}">
                <a16:creationId xmlns:a16="http://schemas.microsoft.com/office/drawing/2014/main" id="{7846F2EE-7B9B-4AFA-A458-4F77F0D676DA}"/>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Оценки человека</a:t>
            </a:r>
          </a:p>
        </p:txBody>
      </p:sp>
      <p:sp>
        <p:nvSpPr>
          <p:cNvPr id="4" name="E5 NDCG@10: с 0,488 до 0,879">
            <a:extLst xmlns:a="http://schemas.openxmlformats.org/drawingml/2006/main">
              <a:ext uri="{FF2B5EF4-FFF2-40B4-BE49-F238E27FC236}">
                <a16:creationId xmlns:a16="http://schemas.microsoft.com/office/drawing/2014/main" id="{2365C996-1720-4E6E-97B4-58796E4DD5B3}"/>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с 0,488 до 0,879</a:t>
            </a:r>
          </a:p>
        </p:txBody>
      </p:sp>
      <p:sp>
        <p:nvSpPr>
          <p:cNvPr id="5" name="Та же выдача, более полная разметка">
            <a:extLst xmlns:a="http://schemas.openxmlformats.org/drawingml/2006/main">
              <a:ext uri="{FF2B5EF4-FFF2-40B4-BE49-F238E27FC236}">
                <a16:creationId xmlns:a16="http://schemas.microsoft.com/office/drawing/2014/main" id="{44DD5A1C-ADBC-492E-BE83-B8C1392967D0}"/>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Та же выдача, более полная разметка</a:t>
            </a:r>
          </a:p>
        </p:txBody>
      </p:sp>
      <p:sp>
        <p:nvSpPr>
          <p:cNvPr id="6" name="">
            <a:extLst xmlns:a="http://schemas.openxmlformats.org/drawingml/2006/main">
              <a:ext uri="{FF2B5EF4-FFF2-40B4-BE49-F238E27FC236}">
                <a16:creationId xmlns:a16="http://schemas.microsoft.com/office/drawing/2014/main" id="{6E07553B-2969-4EF6-8031-43E629AD136C}"/>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Фиксированные выдачи, один судья">
            <a:extLst xmlns:a="http://schemas.openxmlformats.org/drawingml/2006/main">
              <a:ext uri="{FF2B5EF4-FFF2-40B4-BE49-F238E27FC236}">
                <a16:creationId xmlns:a16="http://schemas.microsoft.com/office/drawing/2014/main" id="{9B0C9924-AAF6-4820-AB64-45BA6931E979}"/>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Фиксированные выдачи, один судья</a:t>
            </a:r>
          </a:p>
        </p:txBody>
      </p:sp>
      <p:sp>
        <p:nvSpPr>
          <p:cNvPr id="8" name="Расширение пула может изменить порядок RRF и E5">
            <a:extLst xmlns:a="http://schemas.openxmlformats.org/drawingml/2006/main">
              <a:ext uri="{FF2B5EF4-FFF2-40B4-BE49-F238E27FC236}">
                <a16:creationId xmlns:a16="http://schemas.microsoft.com/office/drawing/2014/main" id="{C908663B-D9E6-4D61-A816-301DABB69F29}"/>
              </a:ext>
            </a:extLst>
          </p:cNvPr>
          <p:cNvSpPr>
            <a:spLocks xmlns:a="http://schemas.openxmlformats.org/drawingml/2006/main" noGrp="1"/>
          </p:cNvSpPr>
          <p:nvPr/>
        </p:nvSpPr>
        <p:spPr>
          <a:xfrm xmlns:a="http://schemas.openxmlformats.org/drawingml/2006/main">
            <a:off x="609600" y="44958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Расширение пула может изменить порядок RRF и E5</a:t>
            </a:r>
          </a:p>
        </p:txBody>
      </p:sp>
      <p:sp>
        <p:nvSpPr>
          <p:cNvPr id="9" name="">
            <a:extLst xmlns:a="http://schemas.openxmlformats.org/drawingml/2006/main">
              <a:ext uri="{FF2B5EF4-FFF2-40B4-BE49-F238E27FC236}">
                <a16:creationId xmlns:a16="http://schemas.microsoft.com/office/drawing/2014/main" id="{6E1327D9-6879-4D60-B7EA-6CF349D235E7}"/>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Далее: более сильные судьи с эталонным ответом и">
            <a:extLst xmlns:a="http://schemas.openxmlformats.org/drawingml/2006/main">
              <a:ext uri="{FF2B5EF4-FFF2-40B4-BE49-F238E27FC236}">
                <a16:creationId xmlns:a16="http://schemas.microsoft.com/office/drawing/2014/main" id="{2E895D64-7ACB-4F92-A337-8A06E025BDE4}"/>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Далее: более сильные судьи с эталонным ответом и без него.</a:t>
            </a:r>
          </a:p>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Проверка по независимым человеческим оценкам.</a:t>
            </a:r>
          </a:p>
        </p:txBody>
      </p:sp>
      <p:sp>
        <p:nvSpPr>
          <p:cNvPr id="11" name="Результаты для выбранных пулов английского MS MA">
            <a:extLst xmlns:a="http://schemas.openxmlformats.org/drawingml/2006/main">
              <a:ext uri="{FF2B5EF4-FFF2-40B4-BE49-F238E27FC236}">
                <a16:creationId xmlns:a16="http://schemas.microsoft.com/office/drawing/2014/main" id="{72A0D8F9-A4DE-4C74-9D9F-4C6FA0AE3F5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Результаты для выбранных пулов английского MS MARCO.</a:t>
            </a:r>
          </a:p>
        </p:txBody>
      </p:sp>
    </p:spTree>
    <p:extLst>
      <p:ext uri="{BB962C8B-B14F-4D97-AF65-F5344CB8AC3E}">
        <p14:creationId xmlns:p14="http://schemas.microsoft.com/office/powerpoint/2010/main" val="140511078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7B795499-130E-4798-9F0C-1D59211110F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4772FEB0-0CEA-4F34-B187-B459EF84AAF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1</a:t>
            </a:r>
          </a:p>
        </p:txBody>
      </p:sp>
      <p:sp>
        <p:nvSpPr>
          <p:cNvPr id="3" name="NDCG@10 = DCG@10 / идеальный DCG@10">
            <a:extLst xmlns:a="http://schemas.openxmlformats.org/drawingml/2006/main">
              <a:ext uri="{FF2B5EF4-FFF2-40B4-BE49-F238E27FC236}">
                <a16:creationId xmlns:a16="http://schemas.microsoft.com/office/drawing/2014/main" id="{50CA82AB-E216-49F5-8303-68EB429CD59C}"/>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идеальный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После − до</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95%-ный парный ДИ</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 000 парных бутстрэп-выборок по запросам. Для в">
            <a:extLst xmlns:a="http://schemas.openxmlformats.org/drawingml/2006/main">
              <a:ext uri="{FF2B5EF4-FFF2-40B4-BE49-F238E27FC236}">
                <a16:creationId xmlns:a16="http://schemas.microsoft.com/office/drawing/2014/main" id="{0429838F-D6DD-4E49-905D-39E467FDB9B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5 000 парных бутстрэп-выборок по запросам. Для всех четырёх эффектов p &lt; 0,001.</a:t>
            </a:r>
          </a:p>
        </p:txBody>
      </p:sp>
    </p:spTree>
    <p:extLst>
      <p:ext uri="{BB962C8B-B14F-4D97-AF65-F5344CB8AC3E}">
        <p14:creationId xmlns:p14="http://schemas.microsoft.com/office/powerpoint/2010/main" val="80959613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9066D727-6F67-485B-928E-6CA347AFB4A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C7A120FD-59F6-4E66-AE7A-9B135B5BBE6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2</a:t>
            </a:r>
          </a:p>
        </p:txBody>
      </p:sp>
      <p:sp>
        <p:nvSpPr>
          <p:cNvPr id="3" name="Обучение">
            <a:extLst xmlns:a="http://schemas.openxmlformats.org/drawingml/2006/main">
              <a:ext uri="{FF2B5EF4-FFF2-40B4-BE49-F238E27FC236}">
                <a16:creationId xmlns:a16="http://schemas.microsoft.com/office/drawing/2014/main" id="{73D9CB67-32A2-4272-8064-3EEAEB83A32D}"/>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875FE748-E62E-4D62-B06D-1B1F4685D8A9}"/>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D63CE268-64D7-4D03-B1F5-8DEE5469F04E}"/>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4097C24B-ACF4-4AFB-986F-09232AA1C169}"/>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4583A6BD-2671-4F4E-99AE-F8E35EC68D57}"/>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B1077A71-5687-4CA9-BA6E-51E572B2ECA8}"/>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Метка в тесте</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нет</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да</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Отрицательная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1 300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Положительная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2 882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3A1DBFD4-2A2E-4A82-A172-FED2377C78E1}"/>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3CFB25D7-1F68-4A24-A094-262125DBE4DB}"/>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1C0AD2B7-30FE-4113-9051-1A77F4818F5A}"/>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7C677603-DF95-4B0B-9971-92DB8F29A5B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53316094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6D6AD37F-0F1E-4BDF-B101-9DE6640398E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DF7F38DB-A090-4343-932A-4DDBA04ED22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3</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Кандидатов</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Релевантных</a:t>
                      </a:r>
                    </a:p>
                    <a:p>
                      <a:r>
                        <a:rPr sz="1650" b="1">
                          <a:solidFill>
                            <a:srgbClr val="526970"/>
                          </a:solidFill>
                          <a:latin typeface="Arial"/>
                          <a:ea typeface="Arial"/>
                          <a:cs typeface="Arial"/>
                        </a:rPr>
                        <a:t>по судье</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Псевдометки одного судьи. В каждом среднем учтен">
            <a:extLst xmlns:a="http://schemas.openxmlformats.org/drawingml/2006/main">
              <a:ext uri="{FF2B5EF4-FFF2-40B4-BE49-F238E27FC236}">
                <a16:creationId xmlns:a16="http://schemas.microsoft.com/office/drawing/2014/main" id="{D00D5A5F-0AFB-4A56-9636-B6842DE97AB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одного судьи. В каждом среднем учтены все 101 093 запроса.</a:t>
            </a:r>
          </a:p>
        </p:txBody>
      </p:sp>
    </p:spTree>
    <p:extLst>
      <p:ext uri="{BB962C8B-B14F-4D97-AF65-F5344CB8AC3E}">
        <p14:creationId xmlns:p14="http://schemas.microsoft.com/office/powerpoint/2010/main" val="65042510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38E3C9B5-2B9F-44DD-9F82-52F5437D74D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Чувствительность к исключению запросов</a:t>
            </a:r>
          </a:p>
        </p:txBody>
      </p:sp>
      <p:sp>
        <p:nvSpPr>
          <p:cNvPr id="2" name="РЕЗЕРВ 4">
            <a:extLst xmlns:a="http://schemas.openxmlformats.org/drawingml/2006/main">
              <a:ext uri="{FF2B5EF4-FFF2-40B4-BE49-F238E27FC236}">
                <a16:creationId xmlns:a16="http://schemas.microsoft.com/office/drawing/2014/main" id="{258AD341-910C-454D-BB23-F68E97DF044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4</a:t>
            </a:r>
          </a:p>
        </p:txBody>
      </p:sp>
      <p:sp>
        <p:nvSpPr>
          <p:cNvPr id="3" name="NDCG@10 по ручным оценкам">
            <a:extLst xmlns:a="http://schemas.openxmlformats.org/drawingml/2006/main">
              <a:ext uri="{FF2B5EF4-FFF2-40B4-BE49-F238E27FC236}">
                <a16:creationId xmlns:a16="http://schemas.microsoft.com/office/drawing/2014/main" id="{6663FD39-1B78-4362-8331-4DFB2791C310}"/>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NDCG@10 по ручным оценкам</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Все 1 179 запросов</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1 156 после исключения</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BFD009CC-439E-4F26-9704-53280FA1CCC0}"/>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Большой набор без ручных запросов: N = 99 914</a:t>
            </a:r>
          </a:p>
        </p:txBody>
      </p:sp>
      <p:sp>
        <p:nvSpPr>
          <p:cNvPr id="6" name="При K = 200: RRF − E5 = +0,00877">
            <a:extLst xmlns:a="http://schemas.openxmlformats.org/drawingml/2006/main">
              <a:ext uri="{FF2B5EF4-FFF2-40B4-BE49-F238E27FC236}">
                <a16:creationId xmlns:a16="http://schemas.microsoft.com/office/drawing/2014/main" id="{AFCF15DC-D875-42C3-AC43-0F8D2AE67FF7}"/>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При K = 200: RRF − E5 = +0,00877</a:t>
            </a:r>
          </a: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66F7FDD1-E0A7-40D1-A3C4-843AB00953F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Проверки исключением не заменяют независимую ручную оценку.</a:t>
            </a:r>
          </a:p>
        </p:txBody>
      </p:sp>
    </p:spTree>
    <p:extLst>
      <p:ext uri="{BB962C8B-B14F-4D97-AF65-F5344CB8AC3E}">
        <p14:creationId xmlns:p14="http://schemas.microsoft.com/office/powerpoint/2010/main" val="37777545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Следующий шаг: судья с эталонным ответом">
            <a:extLst xmlns:a="http://schemas.openxmlformats.org/drawingml/2006/main">
              <a:ext uri="{FF2B5EF4-FFF2-40B4-BE49-F238E27FC236}">
                <a16:creationId xmlns:a16="http://schemas.microsoft.com/office/drawing/2014/main" id="{73D8C87D-21CE-48A3-97C8-CCA323B33A9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Следующий шаг: судья с эталонным ответом</a:t>
            </a:r>
          </a:p>
        </p:txBody>
      </p:sp>
      <p:sp>
        <p:nvSpPr>
          <p:cNvPr id="2" name="РЕЗЕРВ 5">
            <a:extLst xmlns:a="http://schemas.openxmlformats.org/drawingml/2006/main">
              <a:ext uri="{FF2B5EF4-FFF2-40B4-BE49-F238E27FC236}">
                <a16:creationId xmlns:a16="http://schemas.microsoft.com/office/drawing/2014/main" id="{A7E9FB7B-2D33-470A-9CEE-44DE6D871A5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5</a:t>
            </a:r>
          </a:p>
        </p:txBody>
      </p:sp>
      <p:sp>
        <p:nvSpPr>
          <p:cNvPr id="3" name="Предлагаемый вход">
            <a:extLst xmlns:a="http://schemas.openxmlformats.org/drawingml/2006/main">
              <a:ext uri="{FF2B5EF4-FFF2-40B4-BE49-F238E27FC236}">
                <a16:creationId xmlns:a16="http://schemas.microsoft.com/office/drawing/2014/main" id="{5AC31B4B-D50E-464E-80E8-00995441643A}"/>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Предлагаемый вход</a:t>
            </a:r>
          </a:p>
        </p:txBody>
      </p:sp>
      <p:sp>
        <p:nvSpPr>
          <p:cNvPr id="4" name="Запрос&#10;Известный релевантный ответ&#10;Фрагмент-кандидат">
            <a:extLst xmlns:a="http://schemas.openxmlformats.org/drawingml/2006/main">
              <a:ext uri="{FF2B5EF4-FFF2-40B4-BE49-F238E27FC236}">
                <a16:creationId xmlns:a16="http://schemas.microsoft.com/office/drawing/2014/main" id="{9C4281E0-89F7-4707-8BC9-A44C30AB9BBB}"/>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Запрос</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Известный релевантный ответ</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Фрагмент-кандидат</a:t>
            </a:r>
          </a:p>
        </p:txBody>
      </p:sp>
      <p:sp>
        <p:nvSpPr>
          <p:cNvPr id="5" name="Кросс-энкодер&#10;с эталонным ответом">
            <a:extLst xmlns:a="http://schemas.openxmlformats.org/drawingml/2006/main">
              <a:ext uri="{FF2B5EF4-FFF2-40B4-BE49-F238E27FC236}">
                <a16:creationId xmlns:a16="http://schemas.microsoft.com/office/drawing/2014/main" id="{9273025A-11FA-4325-AF96-B9F97B67FDD2}"/>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Кросс-энкодер</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с эталонным ответом</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Сравнение более сильных судей&#10;по независимым чел">
            <a:extLst xmlns:a="http://schemas.openxmlformats.org/drawingml/2006/main">
              <a:ext uri="{FF2B5EF4-FFF2-40B4-BE49-F238E27FC236}">
                <a16:creationId xmlns:a16="http://schemas.microsoft.com/office/drawing/2014/main" id="{EA0D7BF0-89DE-4230-B7D7-51F8274019AF}"/>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Сравнение более сильных судей</a:t>
            </a:r>
          </a:p>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по независимым человеческим оценкам</a:t>
            </a:r>
          </a:p>
        </p:txBody>
      </p:sp>
      <p:sp>
        <p:nvSpPr>
          <p:cNvPr id="8" name="Запланированный эксперимент. Результаты для тако">
            <a:extLst xmlns:a="http://schemas.openxmlformats.org/drawingml/2006/main">
              <a:ext uri="{FF2B5EF4-FFF2-40B4-BE49-F238E27FC236}">
                <a16:creationId xmlns:a16="http://schemas.microsoft.com/office/drawing/2014/main" id="{81B7482A-035C-407A-8BA2-578C3A6B3E8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Запланированный эксперимент. Результаты для такого судьи пока не получены.</a:t>
            </a:r>
          </a:p>
        </p:txBody>
      </p:sp>
    </p:spTree>
    <p:extLst>
      <p:ext uri="{BB962C8B-B14F-4D97-AF65-F5344CB8AC3E}">
        <p14:creationId xmlns:p14="http://schemas.microsoft.com/office/powerpoint/2010/main" val="5469967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Доклад на конференции DAMDID 2026</dc:subject>
  <dc:language>ru-RU</dc:language>
</coreProperties>
</file>