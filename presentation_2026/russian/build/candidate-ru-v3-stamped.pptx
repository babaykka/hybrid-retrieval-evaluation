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7fb4a3ecc47149b1"/><Relationship Type="http://schemas.openxmlformats.org/officeDocument/2006/relationships/extended-properties" Target="/docProps/app.xml" Id="R32f23a33e5534aaf"/><Relationship Type="http://schemas.openxmlformats.org/officeDocument/2006/relationships/officeDocument" Target="/ppt/presentation.xml" Id="R20e01e1bd5414541"/></Relationships>
</file>

<file path=ppt/presentation.xml><?xml version="1.0" encoding="utf-8"?>
<p:presentation xmlns:p="http://schemas.openxmlformats.org/presentationml/2006/main">
  <p:sldMasterIdLst>
    <p:sldMasterId xmlns:r="http://schemas.openxmlformats.org/officeDocument/2006/relationships" id="2147483648" r:id="R59517b2bffc047a2"/>
  </p:sldMasterIdLst>
  <p:notesMasterIdLst>
    <p:notesMasterId xmlns:r="http://schemas.openxmlformats.org/officeDocument/2006/relationships" r:id="R96d77d4526884098"/>
  </p:notesMasterIdLst>
  <p:sldIdLst>
    <p:sldId xmlns:r="http://schemas.openxmlformats.org/officeDocument/2006/relationships" id="256" r:id="R1b78786234bc4c34"/>
    <p:sldId xmlns:r="http://schemas.openxmlformats.org/officeDocument/2006/relationships" id="257" r:id="R308caa75f4974794"/>
    <p:sldId xmlns:r="http://schemas.openxmlformats.org/officeDocument/2006/relationships" id="258" r:id="Rc2e16312072346fc"/>
    <p:sldId xmlns:r="http://schemas.openxmlformats.org/officeDocument/2006/relationships" id="259" r:id="Rbc07fb6187dc441f"/>
    <p:sldId xmlns:r="http://schemas.openxmlformats.org/officeDocument/2006/relationships" id="260" r:id="R49d790a9626c4166"/>
    <p:sldId xmlns:r="http://schemas.openxmlformats.org/officeDocument/2006/relationships" id="261" r:id="R9bebf51513b54225"/>
    <p:sldId xmlns:r="http://schemas.openxmlformats.org/officeDocument/2006/relationships" id="262" r:id="Reade4cf27cdf471e"/>
    <p:sldId xmlns:r="http://schemas.openxmlformats.org/officeDocument/2006/relationships" id="263" r:id="Ra91d658d1c494a24"/>
    <p:sldId xmlns:r="http://schemas.openxmlformats.org/officeDocument/2006/relationships" id="264" r:id="Rae29bbe8b5c74d30"/>
    <p:sldId xmlns:r="http://schemas.openxmlformats.org/officeDocument/2006/relationships" id="265" r:id="Rc945c2d106ca4687"/>
    <p:sldId xmlns:r="http://schemas.openxmlformats.org/officeDocument/2006/relationships" id="266" r:id="R1a7923ae1afc4511"/>
    <p:sldId xmlns:r="http://schemas.openxmlformats.org/officeDocument/2006/relationships" id="267" r:id="Re57df592b105476d"/>
    <p:sldId xmlns:r="http://schemas.openxmlformats.org/officeDocument/2006/relationships" id="268" r:id="R1fa05d50cb0c43a1"/>
    <p:sldId xmlns:r="http://schemas.openxmlformats.org/officeDocument/2006/relationships" id="269" r:id="R08ec46a784e14088"/>
    <p:sldId xmlns:r="http://schemas.openxmlformats.org/officeDocument/2006/relationships" id="270" r:id="R687a3932498c4456"/>
    <p:sldId xmlns:r="http://schemas.openxmlformats.org/officeDocument/2006/relationships" id="271" r:id="R76b154ba5e7e4d24"/>
    <p:sldId xmlns:r="http://schemas.openxmlformats.org/officeDocument/2006/relationships" id="272" r:id="Rccd64b9c89fa4245"/>
    <p:sldId xmlns:r="http://schemas.openxmlformats.org/officeDocument/2006/relationships" id="273" r:id="R4d2c3a6ab9ed4645"/>
    <p:sldId xmlns:r="http://schemas.openxmlformats.org/officeDocument/2006/relationships" id="274" r:id="R47fdfe65a7c74b49"/>
    <p:sldId xmlns:r="http://schemas.openxmlformats.org/officeDocument/2006/relationships" id="275" r:id="R9953b0c292f247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ab0eba8d397a424e"/><Relationship Type="http://schemas.openxmlformats.org/officeDocument/2006/relationships/slideMaster" Target="/ppt/slideMasters/slideMaster1.xml" Id="R59517b2bffc047a2"/><Relationship Type="http://schemas.openxmlformats.org/officeDocument/2006/relationships/notesMaster" Target="/ppt/notesMasters/notesMaster1.xml" Id="R96d77d4526884098"/><Relationship Type="http://schemas.openxmlformats.org/officeDocument/2006/relationships/presProps" Target="/ppt/presProps.xml" Id="Rc25933a6aa6b4975"/><Relationship Type="http://schemas.openxmlformats.org/officeDocument/2006/relationships/tableStyles" Target="/ppt/tableStyles.xml" Id="Ra77222ad7d614f9f"/><Relationship Type="http://schemas.openxmlformats.org/officeDocument/2006/relationships/slide" Target="/ppt/slides/slide1.xml" Id="R1b78786234bc4c34"/><Relationship Type="http://schemas.openxmlformats.org/officeDocument/2006/relationships/slide" Target="/ppt/slides/slide2.xml" Id="R308caa75f4974794"/><Relationship Type="http://schemas.openxmlformats.org/officeDocument/2006/relationships/slide" Target="/ppt/slides/slide3.xml" Id="Rc2e16312072346fc"/><Relationship Type="http://schemas.openxmlformats.org/officeDocument/2006/relationships/slide" Target="/ppt/slides/slide4.xml" Id="Rbc07fb6187dc441f"/><Relationship Type="http://schemas.openxmlformats.org/officeDocument/2006/relationships/slide" Target="/ppt/slides/slide5.xml" Id="R49d790a9626c4166"/><Relationship Type="http://schemas.openxmlformats.org/officeDocument/2006/relationships/slide" Target="/ppt/slides/slide6.xml" Id="R9bebf51513b54225"/><Relationship Type="http://schemas.openxmlformats.org/officeDocument/2006/relationships/slide" Target="/ppt/slides/slide7.xml" Id="Reade4cf27cdf471e"/><Relationship Type="http://schemas.openxmlformats.org/officeDocument/2006/relationships/slide" Target="/ppt/slides/slide8.xml" Id="Ra91d658d1c494a24"/><Relationship Type="http://schemas.openxmlformats.org/officeDocument/2006/relationships/slide" Target="/ppt/slides/slide9.xml" Id="Rae29bbe8b5c74d30"/><Relationship Type="http://schemas.openxmlformats.org/officeDocument/2006/relationships/slide" Target="/ppt/slides/slide10.xml" Id="Rc945c2d106ca4687"/><Relationship Type="http://schemas.openxmlformats.org/officeDocument/2006/relationships/slide" Target="/ppt/slides/slide11.xml" Id="R1a7923ae1afc4511"/><Relationship Type="http://schemas.openxmlformats.org/officeDocument/2006/relationships/slide" Target="/ppt/slides/slide12.xml" Id="Re57df592b105476d"/><Relationship Type="http://schemas.openxmlformats.org/officeDocument/2006/relationships/slide" Target="/ppt/slides/slide13.xml" Id="R1fa05d50cb0c43a1"/><Relationship Type="http://schemas.openxmlformats.org/officeDocument/2006/relationships/slide" Target="/ppt/slides/slide14.xml" Id="R08ec46a784e14088"/><Relationship Type="http://schemas.openxmlformats.org/officeDocument/2006/relationships/slide" Target="/ppt/slides/slide15.xml" Id="R687a3932498c4456"/><Relationship Type="http://schemas.openxmlformats.org/officeDocument/2006/relationships/slide" Target="/ppt/slides/slide16.xml" Id="R76b154ba5e7e4d24"/><Relationship Type="http://schemas.openxmlformats.org/officeDocument/2006/relationships/slide" Target="/ppt/slides/slide17.xml" Id="Rccd64b9c89fa4245"/><Relationship Type="http://schemas.openxmlformats.org/officeDocument/2006/relationships/slide" Target="/ppt/slides/slide18.xml" Id="R4d2c3a6ab9ed4645"/><Relationship Type="http://schemas.openxmlformats.org/officeDocument/2006/relationships/slide" Target="/ppt/slides/slide19.xml" Id="R47fdfe65a7c74b49"/><Relationship Type="http://schemas.openxmlformats.org/officeDocument/2006/relationships/slide" Target="/ppt/slides/slide20.xml" Id="R9953b0c292f247df"/></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df3bc83623e54fa4"/></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d819a0d5dee94248"/><Relationship Type="http://schemas.openxmlformats.org/officeDocument/2006/relationships/notesMaster" Target="/ppt/notesMasters/notesMaster1.xml" Id="R78dbfa4c83974c73"/></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0872be84bd74c90"/><Relationship Type="http://schemas.openxmlformats.org/officeDocument/2006/relationships/notesMaster" Target="/ppt/notesMasters/notesMaster1.xml" Id="R0a7755347a234632"/></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1f84b4ecbb6e4f18"/><Relationship Type="http://schemas.openxmlformats.org/officeDocument/2006/relationships/notesMaster" Target="/ppt/notesMasters/notesMaster1.xml" Id="R12268708981845f3"/></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b87a8831cc964700"/><Relationship Type="http://schemas.openxmlformats.org/officeDocument/2006/relationships/notesMaster" Target="/ppt/notesMasters/notesMaster1.xml" Id="Rac72e978765e4f30"/></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798dafedf4834424"/><Relationship Type="http://schemas.openxmlformats.org/officeDocument/2006/relationships/notesMaster" Target="/ppt/notesMasters/notesMaster1.xml" Id="R2bf373a1fc5248a3"/></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2959334d7f074c9b"/><Relationship Type="http://schemas.openxmlformats.org/officeDocument/2006/relationships/notesMaster" Target="/ppt/notesMasters/notesMaster1.xml" Id="R782cc6168c42404b"/></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ee97f805d1b14d4a"/><Relationship Type="http://schemas.openxmlformats.org/officeDocument/2006/relationships/notesMaster" Target="/ppt/notesMasters/notesMaster1.xml" Id="R1f4f6d6b608940ac"/></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d9536fb6e95240d4"/><Relationship Type="http://schemas.openxmlformats.org/officeDocument/2006/relationships/notesMaster" Target="/ppt/notesMasters/notesMaster1.xml" Id="R96ca1fd56a524b2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e7ce650ea03c46e3"/><Relationship Type="http://schemas.openxmlformats.org/officeDocument/2006/relationships/notesMaster" Target="/ppt/notesMasters/notesMaster1.xml" Id="Ra99d10b0bf0a4ed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4d0f458622284362"/><Relationship Type="http://schemas.openxmlformats.org/officeDocument/2006/relationships/notesMaster" Target="/ppt/notesMasters/notesMaster1.xml" Id="R4fa9ce9b0ae44265"/></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0fcbb8bc0b444c63"/><Relationship Type="http://schemas.openxmlformats.org/officeDocument/2006/relationships/notesMaster" Target="/ppt/notesMasters/notesMaster1.xml" Id="R9bc05418d64d4e09"/></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4daacc99cfba421c"/><Relationship Type="http://schemas.openxmlformats.org/officeDocument/2006/relationships/notesMaster" Target="/ppt/notesMasters/notesMaster1.xml" Id="Rd5dd82eba2b44c7f"/></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f87b6ef3585f4933"/><Relationship Type="http://schemas.openxmlformats.org/officeDocument/2006/relationships/notesMaster" Target="/ppt/notesMasters/notesMaster1.xml" Id="R549f2062f23e4c6b"/></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ea18d135cd9e43b1"/><Relationship Type="http://schemas.openxmlformats.org/officeDocument/2006/relationships/notesMaster" Target="/ppt/notesMasters/notesMaster1.xml" Id="R545fc6b50a27458c"/></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0ddc8fa565a1400c"/><Relationship Type="http://schemas.openxmlformats.org/officeDocument/2006/relationships/notesMaster" Target="/ppt/notesMasters/notesMaster1.xml" Id="R95fadb2f21db415b"/></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73c27a0ca4174d2a"/><Relationship Type="http://schemas.openxmlformats.org/officeDocument/2006/relationships/notesMaster" Target="/ppt/notesMasters/notesMaster1.xml" Id="R97691a278cf24d65"/></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7a7d3a35b34c4a0b"/><Relationship Type="http://schemas.openxmlformats.org/officeDocument/2006/relationships/notesMaster" Target="/ppt/notesMasters/notesMaster1.xml" Id="R83ee8e6f9b224bc9"/></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44991df8a0db4707"/><Relationship Type="http://schemas.openxmlformats.org/officeDocument/2006/relationships/notesMaster" Target="/ppt/notesMasters/notesMaster1.xml" Id="Rc26d97ace02a41cd"/></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0247b1f2cd7848e5"/><Relationship Type="http://schemas.openxmlformats.org/officeDocument/2006/relationships/notesMaster" Target="/ppt/notesMasters/notesMaster1.xml" Id="R4a9ed6f673b84c42"/></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d6681c2c5a984720"/><Relationship Type="http://schemas.openxmlformats.org/officeDocument/2006/relationships/notesMaster" Target="/ppt/notesMasters/notesMaster1.xml" Id="Rfde93e5a727b41c1"/></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35 секунд.</a:t>
            </a:r>
          </a:p>
          <a:p xmlns:a="http://schemas.openxmlformats.org/drawingml/2006/main">
            <a:r>
              <a:t/>
            </a:r>
          </a:p>
          <a:p xmlns:a="http://schemas.openxmlformats.org/drawingml/2006/main">
            <a:r>
              <a:t>Здравствуйте!  Я представлю нашу работу по углублённой доразметке MS MARCO и оценке поиска на контролируемых пулах кандидатов, .</a:t>
            </a:r>
          </a:p>
          <a:p xmlns:a="http://schemas.openxmlformats.org/drawingml/2006/main">
            <a:r>
              <a:t/>
            </a:r>
          </a:p>
          <a:p xmlns:a="http://schemas.openxmlformats.org/drawingml/2006/main">
            <a:r>
              <a:t>Главный вопрос работы: насколько оценка поисковой системы зависит от того, какие фрагменты текста получили оценку релевантности? Чтобы разобраться в этом, сначала поясню, почему для исследования мы выбрали именно MS MARCO.</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Для оценки поиска существуют разные наборы данных. В Natural Questions используются реальные запросы Google и ответы в статьях Википедии. BEIR объединяет разные задачи и предметные области, чтобы проверять переносимость поисковых методов.</a:t>
            </a:r>
          </a:p>
          <a:p xmlns:a="http://schemas.openxmlformats.org/drawingml/2006/main">
            <a:r>
              <a:t/>
            </a:r>
          </a:p>
          <a:p xmlns:a="http://schemas.openxmlformats.org/drawingml/2006/main">
            <a:r>
              <a:t>Мы выбрали MS MARCO. Он основан на реальных запросах Bing и содержит открытые тексты веб-фрагментов. Для нашей задачи особенно важна разреженность оценок релевантности: исходная разметка может не охватывать все подходящие ответы. Это позволяет исследовать, как дополнительная разметка меняет оценку поиска. При этом MS MARCO не представляет все поисковые сценарии, поэтому перенос наших выводов на другие коллекции требует отдельной проверки.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Microsoft, MS MARCO datasets: https://microsoft.github.io/msmarco/Datasets.html</a:t>
            </a:r>
          </a:p>
          <a:p xmlns:a="http://schemas.openxmlformats.org/drawingml/2006/main">
            <a:r>
              <a:t>Kwiatkowski et al. (2019), Natural Questions: https://research.google/pubs/natural-questions-a-benchmark-for-question-answering-research/</a:t>
            </a:r>
          </a:p>
          <a:p xmlns:a="http://schemas.openxmlformats.org/drawingml/2006/main">
            <a:r>
              <a:t>Thakur et al. (2021), BEIR: https://arxiv.org/abs/2104.08663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Посмотрим на внешний ориентир: исторический срез официальной таблицы MS MARCO на ноябрь 2022 года. Здесь четыре ведущие системы с опубликованными названиями, все в одной постановке полного поиска и на одном закрытом тестовом наборе. Их MRR на первых десяти позициях лежит в диапазоне от 0,436 до 0,450. Эта метрика усредняет обратную позицию первого найденного релевантного ответа в первой десятке.</a:t>
            </a:r>
          </a:p>
          <a:p xmlns:a="http://schemas.openxmlformats.org/drawingml/2006/main">
            <a:r>
              <a:t/>
            </a:r>
          </a:p>
          <a:p xmlns:a="http://schemas.openxmlformats.org/drawingml/2006/main">
            <a:r>
              <a:t>Размах опубликованных оценок составляет 0,014. Значения близки, но это ещё не доказывает ни равенство систем, ни неполноту разметки. Мы задаём отдельный вопрос: насколько сравнение зависит от того, какие ответы вообще оценены? Следующий пример показывает проблему, которую мы исследуем. А в собственных экспериментах далее используем другую метрику, NDCG, рассчитанную внутри размеченных пулов. Напрямую сравнивать её с этой таблицей нельзя.</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https://github.com/microsoft/MSMARCO-Passage-Ranking-Submissions/blob/abb44144f563e7972d5131f5d6acc2092877964c/leaderboard/leaderboard.csv</a:t>
            </a:r>
          </a:p>
          <a:p xmlns:a="http://schemas.openxmlformats.org/drawingml/2006/main">
            <a:r>
              <a:t>Microsoft, Submission: https://microsoft.github.io/msmarco/Submission.html</a:t>
            </a:r>
          </a:p>
          <a:p xmlns:a="http://schemas.openxmlformats.org/drawingml/2006/main">
            <a:r>
              <a:t>Показаны четыре лучшие именованные заявки по eval среди full ranking. Анонимные заявки не включены. Полные названия: AliceMind Search LM (SLM) + Hybird List Aware Reranking (HLAR); Listwise + Fusion reranker; CoT-MAE; Lichee-xxlarge + deberta_v3-large + Reranking. Значения округлены как в официальном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этом примере запрос звучит так: что вызывает повышение температуры кипения? Первый фрагмент говорит о добавлении соли и отмечен как релевантный в исходной разметке. Второй объясняет роль нелетучего растворённого вещества. Человек тоже считает его релевантным, однако в исходной разметке оценки для него нет. Третий фрагмент сообщает температуру кипения ацетона, но не отвечает на вопрос о причине её повышения.</a:t>
            </a:r>
          </a:p>
          <a:p xmlns:a="http://schemas.openxmlformats.org/drawingml/2006/main">
            <a:r>
              <a:t/>
            </a:r>
          </a:p>
          <a:p xmlns:a="http://schemas.openxmlformats.org/drawingml/2006/main">
            <a:r>
              <a:t>Оценки релевантности обычно называют qrels, от английского query relevance judgments. Это оценки того, насколько текст соответствует запросу. В нашем расчёте метрики неразмеченный фрагмент даёт нулевой вклад. Получается, система может найти полезный ответ, но не получить за него баллов. Отсутствие оценки не означает нерелевантность. Именно эту проблему мы исследуем.</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Мы используем англоязычную коллекцию фрагментов MS MARCO: в ней около 8,84 миллиона текстов. Исследование состоит из двух частей. Ручная часть охватывает 1179 запросов и 33 667 пар из запроса и фрагмента. В масштабной части модель-судья оценивает кандидатов для чуть более 101 тысячи запросов; глубина пула при этом меняется.</a:t>
            </a:r>
          </a:p>
          <a:p xmlns:a="http://schemas.openxmlformats.org/drawingml/2006/main">
            <a:r>
              <a:t/>
            </a:r>
          </a:p>
          <a:p xmlns:a="http://schemas.openxmlformats.org/drawingml/2006/main">
            <a:r>
              <a:t>Эти части дают разные основания для выводов. В первой мы опираемся на оценки людей, во второй используем предсказания модели. Под углублённой доразметкой здесь понимается оценка множества кандидатов внутри заданного пула. Слово «углублённая» относится к охвату разметки, а не к глубине нейросети. Мы не утверждаем, что полностью разметили весь корпус.</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Для подготовки ручной выборки мы применили пулинг: объединили списки кандидатов и удалили дубликаты. BM25 ищет по лексическим совпадениям. E5 и BGE используют плотные векторные представления: запрос и фрагмент кодируются отдельно. Каждый сохранённый список, полученный поиском по запросу, добавляет в пул десять результатов.</a:t>
            </a:r>
          </a:p>
          <a:p xmlns:a="http://schemas.openxmlformats.org/drawingml/2006/main">
            <a:r>
              <a:t/>
            </a:r>
          </a:p>
          <a:p xmlns:a="http://schemas.openxmlformats.org/drawingml/2006/main">
            <a:r>
              <a:t>Пул расширяют дополнительные способы отбора, в том числе поиск похожих фрагментов по E5 относительно заранее известного релевантного ответа. Разметчик также видит запрос, проверяемый фрагмент и этот ответ. Это разметка с опорой на эталон: она использует сведения, которых нет у обычной поисковой системы, получающей только запрос.</a:t>
            </a:r>
          </a:p>
          <a:p xmlns:a="http://schemas.openxmlformats.org/drawingml/2006/main">
            <a:r>
              <a:t/>
            </a:r>
          </a:p>
          <a:p xmlns:a="http://schemas.openxmlformats.org/drawingml/2006/main">
            <a:r>
              <a:t>В среднем в пуле около 28,6 кандидата на запрос. Они отобраны целенаправленно и не являются случайной выборкой из корпуса. Это важно помнить, когда мы говорим о большом числе найденных релевантных фрагментов.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a:p xmlns:a="http://schemas.openxmlformats.org/drawingml/2006/main">
            <a:r>
              <a:t>Методическое уточнение: точная архитектура дополнительных каналов отбора не полностью установлена. Они не рассматриваются как отдельные сопоставимые поисковые системы.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этих же пулах исходные qrels содержат 1243 пары с положительной оценкой. После расширенной ручной разметки таких пар становится 20 597. Среднее число фрагментов, признанных релевантными одному запросу, увеличивается с 1,05 до 17,47.</a:t>
            </a:r>
          </a:p>
          <a:p xmlns:a="http://schemas.openxmlformats.org/drawingml/2006/main">
            <a:r>
              <a:t/>
            </a:r>
          </a:p>
          <a:p xmlns:a="http://schemas.openxmlformats.org/drawingml/2006/main">
            <a:r>
              <a:t>Это не значит, что исходные положительные оценки ошибочны. Просто многие другие подходящие ответы оставались без оценки. Вместе с тем наблюдаемый рост относится именно к отобранным пулам. По нему нельзя судить о количестве всех релевантных фрагментов в коллекции.</a:t>
            </a:r>
          </a:p>
          <a:p xmlns:a="http://schemas.openxmlformats.org/drawingml/2006/main">
            <a:r>
              <a:t/>
            </a:r>
          </a:p>
          <a:p xmlns:a="http://schemas.openxmlformats.org/drawingml/2006/main">
            <a:r>
              <a:t>Теперь сравним оценки поисковых систем по двум вариантам разметки. Запросы, пулы кандидатов и порядок результатов поиска остаются прежними. Меняется только разметка релевантности. Так мы можем увидеть её влияние на измеряемое качество при неизменной выдаче.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80 секунд.</a:t>
            </a:r>
          </a:p>
          <a:p xmlns:a="http://schemas.openxmlformats.org/drawingml/2006/main">
            <a:r>
              <a:t/>
            </a:r>
          </a:p>
          <a:p xmlns:a="http://schemas.openxmlformats.org/drawingml/2006/main">
            <a:r>
              <a:t>Качество ранжирования мы измеряем с помощью NDCG на первых десяти позициях. Метрика даёт больший вес релевантным фрагментам ближе к началу выдачи и нормирует результат относительно идеального порядка. Для одного запроса и одного набора меток знаменатель, соответствующий идеальной выдаче, одинаков у всех систем.</a:t>
            </a:r>
          </a:p>
          <a:p xmlns:a="http://schemas.openxmlformats.org/drawingml/2006/main">
            <a:r>
              <a:t/>
            </a:r>
          </a:p>
          <a:p xmlns:a="http://schemas.openxmlformats.org/drawingml/2006/main">
            <a:r>
              <a:t>В сравнение включён и RRF, метод слияния по обратным рангам. Он объединяет списки BM25, E5 и BGE, используя позиции результатов, а не исходные численные оценки этих моделей.</a:t>
            </a:r>
          </a:p>
          <a:p xmlns:a="http://schemas.openxmlformats.org/drawingml/2006/main">
            <a:r>
              <a:t/>
            </a:r>
          </a:p>
          <a:p xmlns:a="http://schemas.openxmlformats.org/drawingml/2006/main">
            <a:r>
              <a:t>Серые столбцы соответствуют исходным qrels, а зелёные показывают результаты по ручной разметке. Среднее качество растёт у всех четырёх систем. У E5 значение NDCG увеличивается с 0,488 до 0,879. Средний прирост в парном сравнении составляет около 0,391; доверительный интервал показан под графиком.</a:t>
            </a:r>
          </a:p>
          <a:p xmlns:a="http://schemas.openxmlformats.org/drawingml/2006/main">
            <a:r>
              <a:t/>
            </a:r>
          </a:p>
          <a:p xmlns:a="http://schemas.openxmlformats.org/drawingml/2006/main">
            <a:r>
              <a:t>Здесь изменилась оценка качества благодаря более полной разметке. Сами поисковые системы мы не улучшали и не переобучали. Их порядок остаётся прежним: E5, RRF, BGE и BM25. Это результаты внутри размеченных пулов, а не показатели поиска по всему корпусу для общей таблицы лидеров.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разметка позволяет непосредственно изучить этот эффект, но оценивать таким способом гораздо более крупные пулы дорого. Поэтому мы дообучаем компактный кросс-энкодер MiniLM на человеческих оценках и используем его как модель-судью для получения псевдометок релевантности.</a:t>
            </a:r>
          </a:p>
          <a:p xmlns:a="http://schemas.openxmlformats.org/drawingml/2006/main">
            <a:r>
              <a:t/>
            </a:r>
          </a:p>
          <a:p xmlns:a="http://schemas.openxmlformats.org/drawingml/2006/main">
            <a:r>
              <a:t>Кросс-энкодер обрабатывает запрос и проверяемый фрагмент совместно. Этим он отличается от E5 и BGE, которые строят отдельные представления запроса и текста. На вход нашей модели-судьи поступают только эти два текста. Ни известного релевантного ответа, ни позиций в выдаче, ни оценок других моделей она не получает.</a:t>
            </a:r>
          </a:p>
          <a:p xmlns:a="http://schemas.openxmlformats.org/drawingml/2006/main">
            <a:r>
              <a:t/>
            </a:r>
          </a:p>
          <a:p xmlns:a="http://schemas.openxmlformats.org/drawingml/2006/main">
            <a:r>
              <a:t>Порог принятия решения выбирается на валидационных запросах. Затем модель-судья позволяет исследовать охват разметки в большем масштабе. Но её метки остаются предсказаниями, а не человеческими оценками, поэтому согласие модели с ручной разметкой мы проверяем отдельно.</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Ручные данные разделены на обучающую, валидационную и тестовую части по запросам. В тестовую часть входят 177 отложенных запросов и 5002 пары. Таким образом, качество проверяется на запросах, не использованных при обучении и выборе порога.</a:t>
            </a:r>
          </a:p>
          <a:p xmlns:a="http://schemas.openxmlformats.org/drawingml/2006/main">
            <a:r>
              <a:t/>
            </a:r>
          </a:p>
          <a:p xmlns:a="http://schemas.openxmlformats.org/drawingml/2006/main">
            <a:r>
              <a:t>ROC-кривая показывает соотношение долей верно найденных положительных примеров и ложных срабатываний при изменении порога. Площадь под кривой равна 0,907. При пороге, выбранном на валидации, F1 составляет 0,875, точность около 0,851, а полнота около 0,902. Эти показатели описывают согласие с целевыми метками, полученными из человеческих оценок в ручных пулах.</a:t>
            </a:r>
          </a:p>
          <a:p xmlns:a="http://schemas.openxmlformats.org/drawingml/2006/main">
            <a:r>
              <a:t/>
            </a:r>
          </a:p>
          <a:p xmlns:a="http://schemas.openxmlformats.org/drawingml/2006/main">
            <a:r>
              <a:t>Однако это не независимая проверка более глубоких пулов следующего эксперимента. Там могут встретиться другие кандидаты и другие ошибки. Поэтому результаты ручной разметки мы отделяем от масштабного эксперимента, который следует понимать как оценивание с помощью одной конкретной модели-судьи.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В масштабном эксперименте мы объединяем первые K результатов каждой системы: BM25, E5 и BGE. K обозначает число результатов от одного поискового метода, а не количество уникальных фрагментов после удаления дубликатов. Модель-судья и порог её решения остаются неизменными.</a:t>
            </a:r>
          </a:p>
          <a:p xmlns:a="http://schemas.openxmlformats.org/drawingml/2006/main">
            <a:r>
              <a:t/>
            </a:r>
          </a:p>
          <a:p xmlns:a="http://schemas.openxmlformats.org/drawingml/2006/main">
            <a:r>
              <a:t>При увеличении K с десяти до двухсот средний размер пула растёт примерно с 22 до 452 кандидатов. Число фрагментов, которые модель считает релевантными, в среднем увеличивается примерно с 14 до 129. Эти средние рассчитаны по всем запросам, включая запросы без единого положительного предсказания.</a:t>
            </a:r>
          </a:p>
          <a:p xmlns:a="http://schemas.openxmlformats.org/drawingml/2006/main">
            <a:r>
              <a:t/>
            </a:r>
          </a:p>
          <a:p xmlns:a="http://schemas.openxmlformats.org/drawingml/2006/main">
            <a:r>
              <a:t>Рост зависит от того, какой пул мы выбрали для оценки. Эти числа нельзя трактовать как количество всех подходящих ответов в корпусе. Далее посмотрим, как изменение охвата разметки влияет на сравнение поисковых систем.</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Здесь мы сравниваем RRF с E5 и различаем две глубины. K задаёт число результатов от каждой системы в пуле для разметки. L задаёт число результатов, поступающих на слияние рангов. В этой конфигурации обе величины растут вместе: L равно K.</a:t>
            </a:r>
          </a:p>
          <a:p xmlns:a="http://schemas.openxmlformats.org/drawingml/2006/main">
            <a:r>
              <a:t/>
            </a:r>
          </a:p>
          <a:p xmlns:a="http://schemas.openxmlformats.org/drawingml/2006/main">
            <a:r>
              <a:t>По горизонтальной оси отложена разность NDCG: RRF минус E5. Значения слева от нуля означают преимущество E5, справа от нуля преимущество RRF. При K, равном десяти, RRF уступает. На четырёх больших глубинах разность небольшая, но положительная. При глубине двести она составляет около 0,0088.</a:t>
            </a:r>
          </a:p>
          <a:p xmlns:a="http://schemas.openxmlformats.org/drawingml/2006/main">
            <a:r>
              <a:t/>
            </a:r>
          </a:p>
          <a:p xmlns:a="http://schemas.openxmlformats.org/drawingml/2006/main">
            <a:r>
              <a:t>Интервалы получены парным бутстрэпом по запросам. Они рассчитаны для фиксированной модели-судьи и не учитывают неопределённость её обучения и ошибки разметки. Кроме того, здесь одновременно меняются и охват, и входные списки для слияния. Чтобы яснее выделить влияние охвата, дальше зафиксируем ранжирование.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75 секунд.</a:t>
            </a:r>
          </a:p>
          <a:p xmlns:a="http://schemas.openxmlformats.org/drawingml/2006/main">
            <a:r>
              <a:t/>
            </a:r>
          </a:p>
          <a:p xmlns:a="http://schemas.openxmlformats.org/drawingml/2006/main">
            <a:r>
              <a:t>Теперь RRF всегда использует первые двести результатов каждого источника. Глубина L фиксирована, а первые десять результатов RRF и E5 не меняются. Варьируется только K, то есть глубина пула, для которого получаем оценки релевантности.</a:t>
            </a:r>
          </a:p>
          <a:p xmlns:a="http://schemas.openxmlformats.org/drawingml/2006/main">
            <a:r>
              <a:t/>
            </a:r>
          </a:p>
          <a:p xmlns:a="http://schemas.openxmlformats.org/drawingml/2006/main">
            <a:r>
              <a:t>Даже при такой неизменной выдаче преимущество переходит от одной системы к другой. Разность RRF минус E5 составляет примерно минус 0,066 при K, равном десяти, и плюс 0,008 при K, равном тридцати.</a:t>
            </a:r>
          </a:p>
          <a:p xmlns:a="http://schemas.openxmlformats.org/drawingml/2006/main">
            <a:r>
              <a:t/>
            </a:r>
          </a:p>
          <a:p xmlns:a="http://schemas.openxmlformats.org/drawingml/2006/main">
            <a:r>
              <a:t>Подпись справа помогает понять роль охвата. На минимальной глубине 14,4 процента пар из первых десяти результатов RRF оказываются за пределами размеченного пула. В метрике они получают нулевой вклад, поскольку не оценены. Это вовсе не означает, что все эти фрагменты релевантны.</a:t>
            </a:r>
          </a:p>
          <a:p xmlns:a="http://schemas.openxmlformats.org/drawingml/2006/main">
            <a:r>
              <a:t/>
            </a:r>
          </a:p>
          <a:p xmlns:a="http://schemas.openxmlformats.org/drawingml/2006/main">
            <a:r>
              <a:t>Более широкий пул даёт оценки для большего числа найденных фрагментов и может изменить знаменатель, соответствующий идеальному ранжированию. Основной результат: измеряемый порядок систем способен измениться без изменения их выдачи. При этом вывод по-прежнему зависит от псевдометок одной модели-судьи.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Мы проверили чувствительность результатов к двум исключениям. В ручном эксперименте удалили 23 запроса, для которых оставались неясности с категориями меток или встречались пустые тексты. Порядок систем не изменился. В масштабном эксперименте после исключения всех запросов с ручной разметкой остаётся 99 914 запросов. Знаки различий между RRF и E5 сохраняются на всех проверенных глубинах.</a:t>
            </a:r>
          </a:p>
          <a:p xmlns:a="http://schemas.openxmlformats.org/drawingml/2006/main">
            <a:r>
              <a:t/>
            </a:r>
          </a:p>
          <a:p xmlns:a="http://schemas.openxmlformats.org/drawingml/2006/main">
            <a:r>
              <a:t>Эти проверки касаются конкретных проблем данных и пересечения двух наборов запросов, но не устраняют все возможные смещения. Ручные пулы используют информацию об эталонном ответе; согласие между разметчиками не измерялось. Масштабный эксперимент опирается на одну компактную модель-судью, а более глубокие пулы не проходили независимую ручную проверку.</a:t>
            </a:r>
          </a:p>
          <a:p xmlns:a="http://schemas.openxmlformats.org/drawingml/2006/main">
            <a:r>
              <a:t/>
            </a:r>
          </a:p>
          <a:p xmlns:a="http://schemas.openxmlformats.org/drawingml/2006/main">
            <a:r>
              <a:t>Поэтому наши выводы относятся к выбранным англоязычным пулам MS MARCO. Переносимость результатов на другие языки, предметные области и поисковые сервисы ещё предстоит проверить.</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Подведу итог. Более полная ручная разметка существенно меняет оценку уже полученных результатов поиска. В наших ручных пулах NDCG системы E5 увеличивается с 0,488 до 0,879 при совершенно неизменном ранжировании.</a:t>
            </a:r>
          </a:p>
          <a:p xmlns:a="http://schemas.openxmlformats.org/drawingml/2006/main">
            <a:r>
              <a:t/>
            </a:r>
          </a:p>
          <a:p xmlns:a="http://schemas.openxmlformats.org/drawingml/2006/main">
            <a:r>
              <a:t>Масштабный эксперимент показывает, что охват разметки способен даже поменять местами RRF и E5 в сравнении качества при фиксированной выдаче обеих систем. Этот результат получен с одной моделью-судьёй и зависит от её оценок.</a:t>
            </a:r>
          </a:p>
          <a:p xmlns:a="http://schemas.openxmlformats.org/drawingml/2006/main">
            <a:r>
              <a:t/>
            </a:r>
          </a:p>
          <a:p xmlns:a="http://schemas.openxmlformats.org/drawingml/2006/main">
            <a:r>
              <a:t>Поэтому вместе с метрикой качества поиска нужно указывать пул разметки, источник меток и настройки слияния. На следующем этапе мы сравним более сильные модели-судьи с доступом к известному релевантному фрагменту и без него, используя независимые человеческие оценки для проверки. Этот эксперимент запланирован, но пока не выполнен.</a:t>
            </a:r>
          </a:p>
          <a:p xmlns:a="http://schemas.openxmlformats.org/drawingml/2006/main">
            <a:r>
              <a:t/>
            </a:r>
          </a:p>
          <a:p xmlns:a="http://schemas.openxmlformats.org/drawingml/2006/main">
            <a:r>
              <a:t>Спасибо за внимание! Буду рад вашим вопросам.</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463e2930fc5f4835"/></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fd4ad75555dc485f"/><Relationship Type="http://schemas.openxmlformats.org/officeDocument/2006/relationships/slideLayout" Target="/ppt/slideLayouts/slideLayout1.xml" Id="R41f7dd0fdee04860"/></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f7dd0fdee048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b548e157f662428a"/><Relationship Type="http://schemas.openxmlformats.org/officeDocument/2006/relationships/image" Target="/ppt/media/image.png" Id="Ra852c025e70249f2"/><Relationship Type="http://schemas.openxmlformats.org/officeDocument/2006/relationships/notesSlide" Target="/ppt/notesSlides/notesSlide1.xml" Id="Red0ae3427c50426b"/></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83f769b28e5a4bd9"/><Relationship Type="http://schemas.openxmlformats.org/officeDocument/2006/relationships/notesSlide" Target="/ppt/notesSlides/notesSlide2.xml" Id="Ra832184fd26040f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f505a19461de44d2"/><Relationship Type="http://schemas.openxmlformats.org/officeDocument/2006/relationships/notesSlide" Target="/ppt/notesSlides/notesSlide3.xml" Id="R00dfdd5f49c242e1"/></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0c6d588fde0245f3"/><Relationship Type="http://schemas.openxmlformats.org/officeDocument/2006/relationships/notesSlide" Target="/ppt/notesSlides/notesSlide4.xml" Id="Rd2cbfb2f1fcf4434"/></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3b6750007ad445d4"/><Relationship Type="http://schemas.openxmlformats.org/officeDocument/2006/relationships/notesSlide" Target="/ppt/notesSlides/notesSlide5.xml" Id="Rbc507630edaa480b"/></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16213cbf28104090"/><Relationship Type="http://schemas.openxmlformats.org/officeDocument/2006/relationships/notesSlide" Target="/ppt/notesSlides/notesSlide6.xml" Id="R4af18cabceb746a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3f8f63cd15ea4a22"/><Relationship Type="http://schemas.openxmlformats.org/officeDocument/2006/relationships/notesSlide" Target="/ppt/notesSlides/notesSlide7.xml" Id="R2ef5dfc6b5384ce2"/></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44846080617f43ea"/><Relationship Type="http://schemas.openxmlformats.org/officeDocument/2006/relationships/chart" Target="/ppt/slides/charts/chart1.xml" Id="Re4ce4ac20cf84723"/><Relationship Type="http://schemas.openxmlformats.org/officeDocument/2006/relationships/notesSlide" Target="/ppt/notesSlides/notesSlide8.xml" Id="Rb70a6f8144194d9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14b973c171684a26"/><Relationship Type="http://schemas.openxmlformats.org/officeDocument/2006/relationships/notesSlide" Target="/ppt/notesSlides/notesSlide9.xml" Id="R3f4a2fade3f54d3f"/></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e674efa043ae4164"/><Relationship Type="http://schemas.openxmlformats.org/officeDocument/2006/relationships/chart" Target="/ppt/slides/charts/chart2.xml" Id="R844053ccd91f412b"/><Relationship Type="http://schemas.openxmlformats.org/officeDocument/2006/relationships/notesSlide" Target="/ppt/notesSlides/notesSlide10.xml" Id="R0b3fc6edc3c74e06"/></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367bb4e5d0cb4cfc"/><Relationship Type="http://schemas.openxmlformats.org/officeDocument/2006/relationships/chart" Target="/ppt/slides/charts/chart3.xml" Id="Rebd804f6f84f40aa"/><Relationship Type="http://schemas.openxmlformats.org/officeDocument/2006/relationships/notesSlide" Target="/ppt/notesSlides/notesSlide11.xml" Id="Re62babd54316425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9ccf9fab8b384d6f"/><Relationship Type="http://schemas.openxmlformats.org/officeDocument/2006/relationships/chart" Target="/ppt/slides/charts/chart4.xml" Id="Rfdf911735eaa494b"/><Relationship Type="http://schemas.openxmlformats.org/officeDocument/2006/relationships/notesSlide" Target="/ppt/notesSlides/notesSlide12.xml" Id="R57ca027101d94695"/></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1376f16a04934593"/><Relationship Type="http://schemas.openxmlformats.org/officeDocument/2006/relationships/chart" Target="/ppt/slides/charts/chart5.xml" Id="R3400bf8777044912"/><Relationship Type="http://schemas.openxmlformats.org/officeDocument/2006/relationships/notesSlide" Target="/ppt/notesSlides/notesSlide13.xml" Id="Raca6ed0377fb4ac2"/></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281eb85499884ed1"/><Relationship Type="http://schemas.openxmlformats.org/officeDocument/2006/relationships/notesSlide" Target="/ppt/notesSlides/notesSlide14.xml" Id="R3ed2cc7631b94464"/></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2e06103532fa42cb"/><Relationship Type="http://schemas.openxmlformats.org/officeDocument/2006/relationships/notesSlide" Target="/ppt/notesSlides/notesSlide15.xml" Id="Rcd84cd3388564cce"/></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5ea1467191e4951"/><Relationship Type="http://schemas.openxmlformats.org/officeDocument/2006/relationships/notesSlide" Target="/ppt/notesSlides/notesSlide16.xml" Id="R94b35b408add4271"/></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9a855f0ecb5a4a78"/><Relationship Type="http://schemas.openxmlformats.org/officeDocument/2006/relationships/notesSlide" Target="/ppt/notesSlides/notesSlide17.xml" Id="R4167904842d94ad2"/></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bc02ce268df44ee9"/><Relationship Type="http://schemas.openxmlformats.org/officeDocument/2006/relationships/notesSlide" Target="/ppt/notesSlides/notesSlide18.xml" Id="R7f54f7dba40d4328"/></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ad34b33f8777430e"/><Relationship Type="http://schemas.openxmlformats.org/officeDocument/2006/relationships/notesSlide" Target="/ppt/notesSlides/notesSlide19.xml" Id="Rcc603e9bbeae4126"/></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624cdc1c6fda4f61"/><Relationship Type="http://schemas.openxmlformats.org/officeDocument/2006/relationships/notesSlide" Target="/ppt/notesSlides/notesSlide20.xml" Id="Red8f7c4a599f446d"/></Relationships>
</file>

<file path=ppt/slides/charts/chart1.xml><?xml version="1.0" encoding="utf-8"?>
<c:chartSpace xmlns:c="http://schemas.openxmlformats.org/drawingml/2006/chart">
  <c:lang val="en-US"/>
  <c:chart>
    <c:plotArea>
      <c:barChart>
        <c:barDir val="bar"/>
        <c:grouping val="clustered"/>
        <c:varyColors val="0"/>
        <c:ser>
          <c:idx val="0"/>
          <c:order val="0"/>
          <c:tx>
            <c:v>Исходные оценки</c:v>
          </c:tx>
          <c:spPr>
            <a:solidFill xmlns:a="http://schemas.openxmlformats.org/drawingml/2006/main">
              <a:srgbClr val="70858A"/>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Оценки человека</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Случайный классификатор</c:v>
          </c:tx>
          <c:spPr>
            <a:solidFill xmlns:a="http://schemas.openxmlformats.org/drawingml/2006/main">
              <a:srgbClr val="D4E1E0"/>
            </a:solidFill>
            <a:ln xmlns:a="http://schemas.openxmlformats.org/drawingml/2006/main" w="12383">
              <a:solidFill>
                <a:srgbClr val="70858A"/>
              </a:solidFill>
            </a:ln>
          </c:spPr>
          <c:marker>
            <c:symbol val="none"/>
          </c:marker>
          <c:xVal>
            <c:numLit>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xVal>
          <c:yVal>
            <c:numLit>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yVal>
          <c:smooth val="0"/>
        </c:ser>
        <c:ser>
          <c:idx val="1"/>
          <c:order val="1"/>
          <c:tx>
            <c:v>ROC-кривая MiniLM</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mooth val="0"/>
        </c:ser>
        <c:ser>
          <c:idx val="2"/>
          <c:order val="2"/>
          <c:tx>
            <c:v>Порог по валидации</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Lit>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Lit>
          </c:xVal>
          <c:yVal>
            <c:numLit>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Все кандидаты</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mooth val="0"/>
        </c:ser>
        <c:ser>
          <c:idx val="1"/>
          <c:order val="1"/>
          <c:tx>
            <c:v>Предсказаны релевантными</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5240">
              <a:solidFill>
                <a:srgbClr val="70858A"/>
              </a:solidFill>
            </a:ln>
          </c:spPr>
          <c:marker>
            <c:symbol val="none"/>
          </c:marker>
          <c:xVal>
            <c:numLit>
              <c:formatCode>General</c:formatCode>
              <c:ptCount val="5"/>
              <c:pt idx="0">
                <c:v>0</c:v>
              </c:pt>
              <c:pt idx="1">
                <c:v>0</c:v>
              </c:pt>
              <c:pt idx="2">
                <c:v>0</c:v>
              </c:pt>
              <c:pt idx="3">
                <c:v>0</c:v>
              </c:pt>
              <c:pt idx="4">
                <c:v>0</c:v>
              </c:pt>
            </c:numLit>
          </c:xVal>
          <c:yVal>
            <c:numLit>
              <c:formatCode>0.000</c:formatCode>
              <c:ptCount val="5"/>
              <c:pt idx="0">
                <c:v>0.5</c:v>
              </c:pt>
              <c:pt idx="1">
                <c:v>5.5</c:v>
              </c:pt>
              <c:pt idx="2">
                <c:v>5.5</c:v>
              </c:pt>
              <c:pt idx="3">
                <c:v>5.5</c:v>
              </c:pt>
              <c:pt idx="4">
                <c:v>5.5</c:v>
              </c:pt>
            </c:numLit>
          </c:yVal>
          <c:smooth val="0"/>
        </c:ser>
        <c:ser>
          <c:idx val="1"/>
          <c:order val="1"/>
          <c:tx>
            <c:v>95%-ный парный ДИ при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-0.02023617</c:v>
              </c:pt>
              <c:pt idx="1">
                <c:v>-0.01882729</c:v>
              </c:pt>
              <c:pt idx="2">
                <c:v>-0.01882729</c:v>
              </c:pt>
              <c:pt idx="3">
                <c:v>-0.01882729</c:v>
              </c:pt>
              <c:pt idx="4">
                <c:v>-0.01882729</c:v>
              </c:pt>
            </c:numLit>
          </c:xVal>
          <c:yVal>
            <c:numLit>
              <c:formatCode>0.000</c:formatCode>
              <c:ptCount val="5"/>
              <c:pt idx="0">
                <c:v>5</c:v>
              </c:pt>
              <c:pt idx="1">
                <c:v>5</c:v>
              </c:pt>
              <c:pt idx="2">
                <c:v>5</c:v>
              </c:pt>
              <c:pt idx="3">
                <c:v>5</c:v>
              </c:pt>
              <c:pt idx="4">
                <c:v>5</c:v>
              </c:pt>
            </c:numLit>
          </c:yVal>
          <c:smooth val="0"/>
        </c:ser>
        <c:ser>
          <c:idx val="2"/>
          <c:order val="2"/>
          <c:tx>
            <c:v>95%-ный парный ДИ при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0.01021579</c:v>
              </c:pt>
              <c:pt idx="1">
                <c:v>0.01150741</c:v>
              </c:pt>
              <c:pt idx="2">
                <c:v>0.01150741</c:v>
              </c:pt>
              <c:pt idx="3">
                <c:v>0.01150741</c:v>
              </c:pt>
              <c:pt idx="4">
                <c:v>0.01150741</c:v>
              </c:pt>
            </c:numLit>
          </c:xVal>
          <c:yVal>
            <c:numLit>
              <c:formatCode>0.000</c:formatCode>
              <c:ptCount val="5"/>
              <c:pt idx="0">
                <c:v>4</c:v>
              </c:pt>
              <c:pt idx="1">
                <c:v>4</c:v>
              </c:pt>
              <c:pt idx="2">
                <c:v>4</c:v>
              </c:pt>
              <c:pt idx="3">
                <c:v>4</c:v>
              </c:pt>
              <c:pt idx="4">
                <c:v>4</c:v>
              </c:pt>
            </c:numLit>
          </c:yVal>
          <c:smooth val="0"/>
        </c:ser>
        <c:ser>
          <c:idx val="3"/>
          <c:order val="3"/>
          <c:tx>
            <c:v>95%-ный парный ДИ при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0.00784398</c:v>
              </c:pt>
              <c:pt idx="1">
                <c:v>0.00925389</c:v>
              </c:pt>
              <c:pt idx="2">
                <c:v>0.00925389</c:v>
              </c:pt>
              <c:pt idx="3">
                <c:v>0.00925389</c:v>
              </c:pt>
              <c:pt idx="4">
                <c:v>0.00925389</c:v>
              </c:pt>
            </c:numLit>
          </c:xVal>
          <c:yVal>
            <c:numLit>
              <c:formatCode>0.000</c:formatCode>
              <c:ptCount val="5"/>
              <c:pt idx="0">
                <c:v>3</c:v>
              </c:pt>
              <c:pt idx="1">
                <c:v>3</c:v>
              </c:pt>
              <c:pt idx="2">
                <c:v>3</c:v>
              </c:pt>
              <c:pt idx="3">
                <c:v>3</c:v>
              </c:pt>
              <c:pt idx="4">
                <c:v>3</c:v>
              </c:pt>
            </c:numLit>
          </c:yVal>
          <c:smooth val="0"/>
        </c:ser>
        <c:ser>
          <c:idx val="4"/>
          <c:order val="4"/>
          <c:tx>
            <c:v>95%-ный парный ДИ при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0.00701006</c:v>
              </c:pt>
              <c:pt idx="1">
                <c:v>0.00843288</c:v>
              </c:pt>
              <c:pt idx="2">
                <c:v>0.00843288</c:v>
              </c:pt>
              <c:pt idx="3">
                <c:v>0.00843288</c:v>
              </c:pt>
              <c:pt idx="4">
                <c:v>0.00843288</c:v>
              </c:pt>
            </c:numLit>
          </c:xVal>
          <c:yVal>
            <c:numLit>
              <c:formatCode>0.000</c:formatCode>
              <c:ptCount val="5"/>
              <c:pt idx="0">
                <c:v>2</c:v>
              </c:pt>
              <c:pt idx="1">
                <c:v>2</c:v>
              </c:pt>
              <c:pt idx="2">
                <c:v>2</c:v>
              </c:pt>
              <c:pt idx="3">
                <c:v>2</c:v>
              </c:pt>
              <c:pt idx="4">
                <c:v>2</c:v>
              </c:pt>
            </c:numLit>
          </c:yVal>
          <c:smooth val="0"/>
        </c:ser>
        <c:ser>
          <c:idx val="5"/>
          <c:order val="5"/>
          <c:tx>
            <c:v>95%-ный парный ДИ при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0.0081588</c:v>
              </c:pt>
              <c:pt idx="1">
                <c:v>0.00953703</c:v>
              </c:pt>
              <c:pt idx="2">
                <c:v>0.00953703</c:v>
              </c:pt>
              <c:pt idx="3">
                <c:v>0.00953703</c:v>
              </c:pt>
              <c:pt idx="4">
                <c:v>0.00953703</c:v>
              </c:pt>
            </c:numLit>
          </c:xVal>
          <c:yVal>
            <c:numLit>
              <c:formatCode>0.000</c:formatCode>
              <c:ptCount val="5"/>
              <c:pt idx="0">
                <c:v>1</c:v>
              </c:pt>
              <c:pt idx="1">
                <c:v>1</c:v>
              </c:pt>
              <c:pt idx="2">
                <c:v>1</c:v>
              </c:pt>
              <c:pt idx="3">
                <c:v>1</c:v>
              </c:pt>
              <c:pt idx="4">
                <c:v>1</c:v>
              </c:pt>
            </c:numLit>
          </c:yVal>
          <c:smooth val="0"/>
        </c:ser>
        <c:ser>
          <c:idx val="6"/>
          <c:order val="6"/>
          <c:tx>
            <c:v>Нижняя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-0.02023617</c:v>
              </c:pt>
              <c:pt idx="1">
                <c:v>-0.02023617</c:v>
              </c:pt>
              <c:pt idx="2">
                <c:v>-0.02023617</c:v>
              </c:pt>
              <c:pt idx="3">
                <c:v>-0.02023617</c:v>
              </c:pt>
              <c:pt idx="4">
                <c:v>-0.02023617</c:v>
              </c:pt>
            </c:numLit>
          </c:xVal>
          <c:yVal>
            <c:numLit>
              <c:formatCode>0.000</c:formatCode>
              <c:ptCount val="5"/>
              <c:pt idx="0">
                <c:v>4.935</c:v>
              </c:pt>
              <c:pt idx="1">
                <c:v>5.065</c:v>
              </c:pt>
              <c:pt idx="2">
                <c:v>5.065</c:v>
              </c:pt>
              <c:pt idx="3">
                <c:v>5.065</c:v>
              </c:pt>
              <c:pt idx="4">
                <c:v>5.065</c:v>
              </c:pt>
            </c:numLit>
          </c:yVal>
          <c:smooth val="0"/>
        </c:ser>
        <c:ser>
          <c:idx val="7"/>
          <c:order val="7"/>
          <c:tx>
            <c:v>Верхняя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-0.01882729</c:v>
              </c:pt>
              <c:pt idx="1">
                <c:v>-0.01882729</c:v>
              </c:pt>
              <c:pt idx="2">
                <c:v>-0.01882729</c:v>
              </c:pt>
              <c:pt idx="3">
                <c:v>-0.01882729</c:v>
              </c:pt>
              <c:pt idx="4">
                <c:v>-0.01882729</c:v>
              </c:pt>
            </c:numLit>
          </c:xVal>
          <c:yVal>
            <c:numLit>
              <c:formatCode>0.000</c:formatCode>
              <c:ptCount val="5"/>
              <c:pt idx="0">
                <c:v>4.935</c:v>
              </c:pt>
              <c:pt idx="1">
                <c:v>5.065</c:v>
              </c:pt>
              <c:pt idx="2">
                <c:v>5.065</c:v>
              </c:pt>
              <c:pt idx="3">
                <c:v>5.065</c:v>
              </c:pt>
              <c:pt idx="4">
                <c:v>5.065</c:v>
              </c:pt>
            </c:numLit>
          </c:yVal>
          <c:smooth val="0"/>
        </c:ser>
        <c:ser>
          <c:idx val="8"/>
          <c:order val="8"/>
          <c:tx>
            <c:v>Нижняя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0.01021579</c:v>
              </c:pt>
              <c:pt idx="1">
                <c:v>0.01021579</c:v>
              </c:pt>
              <c:pt idx="2">
                <c:v>0.01021579</c:v>
              </c:pt>
              <c:pt idx="3">
                <c:v>0.01021579</c:v>
              </c:pt>
              <c:pt idx="4">
                <c:v>0.01021579</c:v>
              </c:pt>
            </c:numLit>
          </c:xVal>
          <c:yVal>
            <c:numLit>
              <c:formatCode>0.000</c:formatCode>
              <c:ptCount val="5"/>
              <c:pt idx="0">
                <c:v>3.935</c:v>
              </c:pt>
              <c:pt idx="1">
                <c:v>4.065</c:v>
              </c:pt>
              <c:pt idx="2">
                <c:v>4.065</c:v>
              </c:pt>
              <c:pt idx="3">
                <c:v>4.065</c:v>
              </c:pt>
              <c:pt idx="4">
                <c:v>4.065</c:v>
              </c:pt>
            </c:numLit>
          </c:yVal>
          <c:smooth val="0"/>
        </c:ser>
        <c:ser>
          <c:idx val="9"/>
          <c:order val="9"/>
          <c:tx>
            <c:v>Верхняя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0.01150741</c:v>
              </c:pt>
              <c:pt idx="1">
                <c:v>0.01150741</c:v>
              </c:pt>
              <c:pt idx="2">
                <c:v>0.01150741</c:v>
              </c:pt>
              <c:pt idx="3">
                <c:v>0.01150741</c:v>
              </c:pt>
              <c:pt idx="4">
                <c:v>0.01150741</c:v>
              </c:pt>
            </c:numLit>
          </c:xVal>
          <c:yVal>
            <c:numLit>
              <c:formatCode>0.000</c:formatCode>
              <c:ptCount val="5"/>
              <c:pt idx="0">
                <c:v>3.935</c:v>
              </c:pt>
              <c:pt idx="1">
                <c:v>4.065</c:v>
              </c:pt>
              <c:pt idx="2">
                <c:v>4.065</c:v>
              </c:pt>
              <c:pt idx="3">
                <c:v>4.065</c:v>
              </c:pt>
              <c:pt idx="4">
                <c:v>4.065</c:v>
              </c:pt>
            </c:numLit>
          </c:yVal>
          <c:smooth val="0"/>
        </c:ser>
        <c:ser>
          <c:idx val="10"/>
          <c:order val="10"/>
          <c:tx>
            <c:v>Нижняя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0.00784398</c:v>
              </c:pt>
              <c:pt idx="1">
                <c:v>0.00784398</c:v>
              </c:pt>
              <c:pt idx="2">
                <c:v>0.00784398</c:v>
              </c:pt>
              <c:pt idx="3">
                <c:v>0.00784398</c:v>
              </c:pt>
              <c:pt idx="4">
                <c:v>0.00784398</c:v>
              </c:pt>
            </c:numLit>
          </c:xVal>
          <c:yVal>
            <c:numLit>
              <c:formatCode>0.000</c:formatCode>
              <c:ptCount val="5"/>
              <c:pt idx="0">
                <c:v>2.935</c:v>
              </c:pt>
              <c:pt idx="1">
                <c:v>3.065</c:v>
              </c:pt>
              <c:pt idx="2">
                <c:v>3.065</c:v>
              </c:pt>
              <c:pt idx="3">
                <c:v>3.065</c:v>
              </c:pt>
              <c:pt idx="4">
                <c:v>3.065</c:v>
              </c:pt>
            </c:numLit>
          </c:yVal>
          <c:smooth val="0"/>
        </c:ser>
        <c:ser>
          <c:idx val="11"/>
          <c:order val="11"/>
          <c:tx>
            <c:v>Верхняя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0.00925389</c:v>
              </c:pt>
              <c:pt idx="1">
                <c:v>0.00925389</c:v>
              </c:pt>
              <c:pt idx="2">
                <c:v>0.00925389</c:v>
              </c:pt>
              <c:pt idx="3">
                <c:v>0.00925389</c:v>
              </c:pt>
              <c:pt idx="4">
                <c:v>0.00925389</c:v>
              </c:pt>
            </c:numLit>
          </c:xVal>
          <c:yVal>
            <c:numLit>
              <c:formatCode>0.000</c:formatCode>
              <c:ptCount val="5"/>
              <c:pt idx="0">
                <c:v>2.935</c:v>
              </c:pt>
              <c:pt idx="1">
                <c:v>3.065</c:v>
              </c:pt>
              <c:pt idx="2">
                <c:v>3.065</c:v>
              </c:pt>
              <c:pt idx="3">
                <c:v>3.065</c:v>
              </c:pt>
              <c:pt idx="4">
                <c:v>3.065</c:v>
              </c:pt>
            </c:numLit>
          </c:yVal>
          <c:smooth val="0"/>
        </c:ser>
        <c:ser>
          <c:idx val="12"/>
          <c:order val="12"/>
          <c:tx>
            <c:v>Нижняя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0.00701006</c:v>
              </c:pt>
              <c:pt idx="1">
                <c:v>0.00701006</c:v>
              </c:pt>
              <c:pt idx="2">
                <c:v>0.00701006</c:v>
              </c:pt>
              <c:pt idx="3">
                <c:v>0.00701006</c:v>
              </c:pt>
              <c:pt idx="4">
                <c:v>0.00701006</c:v>
              </c:pt>
            </c:numLit>
          </c:xVal>
          <c:yVal>
            <c:numLit>
              <c:formatCode>0.000</c:formatCode>
              <c:ptCount val="5"/>
              <c:pt idx="0">
                <c:v>1.935</c:v>
              </c:pt>
              <c:pt idx="1">
                <c:v>2.065</c:v>
              </c:pt>
              <c:pt idx="2">
                <c:v>2.065</c:v>
              </c:pt>
              <c:pt idx="3">
                <c:v>2.065</c:v>
              </c:pt>
              <c:pt idx="4">
                <c:v>2.065</c:v>
              </c:pt>
            </c:numLit>
          </c:yVal>
          <c:smooth val="0"/>
        </c:ser>
        <c:ser>
          <c:idx val="13"/>
          <c:order val="13"/>
          <c:tx>
            <c:v>Верхняя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0.00843288</c:v>
              </c:pt>
              <c:pt idx="1">
                <c:v>0.00843288</c:v>
              </c:pt>
              <c:pt idx="2">
                <c:v>0.00843288</c:v>
              </c:pt>
              <c:pt idx="3">
                <c:v>0.00843288</c:v>
              </c:pt>
              <c:pt idx="4">
                <c:v>0.00843288</c:v>
              </c:pt>
            </c:numLit>
          </c:xVal>
          <c:yVal>
            <c:numLit>
              <c:formatCode>0.000</c:formatCode>
              <c:ptCount val="5"/>
              <c:pt idx="0">
                <c:v>1.935</c:v>
              </c:pt>
              <c:pt idx="1">
                <c:v>2.065</c:v>
              </c:pt>
              <c:pt idx="2">
                <c:v>2.065</c:v>
              </c:pt>
              <c:pt idx="3">
                <c:v>2.065</c:v>
              </c:pt>
              <c:pt idx="4">
                <c:v>2.065</c:v>
              </c:pt>
            </c:numLit>
          </c:yVal>
          <c:smooth val="0"/>
        </c:ser>
        <c:ser>
          <c:idx val="14"/>
          <c:order val="14"/>
          <c:tx>
            <c:v>Нижняя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0.0081588</c:v>
              </c:pt>
              <c:pt idx="1">
                <c:v>0.0081588</c:v>
              </c:pt>
              <c:pt idx="2">
                <c:v>0.0081588</c:v>
              </c:pt>
              <c:pt idx="3">
                <c:v>0.0081588</c:v>
              </c:pt>
              <c:pt idx="4">
                <c:v>0.0081588</c:v>
              </c:pt>
            </c:numLit>
          </c:xVal>
          <c:yVal>
            <c:numLit>
              <c:formatCode>0.000</c:formatCode>
              <c:ptCount val="5"/>
              <c:pt idx="0">
                <c:v>0.935</c:v>
              </c:pt>
              <c:pt idx="1">
                <c:v>1.065</c:v>
              </c:pt>
              <c:pt idx="2">
                <c:v>1.065</c:v>
              </c:pt>
              <c:pt idx="3">
                <c:v>1.065</c:v>
              </c:pt>
              <c:pt idx="4">
                <c:v>1.065</c:v>
              </c:pt>
            </c:numLit>
          </c:yVal>
          <c:smooth val="0"/>
        </c:ser>
        <c:ser>
          <c:idx val="15"/>
          <c:order val="15"/>
          <c:tx>
            <c:v>Верхняя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0.00953703</c:v>
              </c:pt>
              <c:pt idx="1">
                <c:v>0.00953703</c:v>
              </c:pt>
              <c:pt idx="2">
                <c:v>0.00953703</c:v>
              </c:pt>
              <c:pt idx="3">
                <c:v>0.00953703</c:v>
              </c:pt>
              <c:pt idx="4">
                <c:v>0.00953703</c:v>
              </c:pt>
            </c:numLit>
          </c:xVal>
          <c:yVal>
            <c:numLit>
              <c:formatCode>0.000</c:formatCode>
              <c:ptCount val="5"/>
              <c:pt idx="0">
                <c:v>0.935</c:v>
              </c:pt>
              <c:pt idx="1">
                <c:v>1.065</c:v>
              </c:pt>
              <c:pt idx="2">
                <c:v>1.065</c:v>
              </c:pt>
              <c:pt idx="3">
                <c:v>1.065</c:v>
              </c:pt>
              <c:pt idx="4">
                <c:v>1.065</c:v>
              </c:pt>
            </c:numLit>
          </c:yVal>
          <c:smooth val="0"/>
        </c:ser>
        <c:ser>
          <c:idx val="16"/>
          <c:order val="16"/>
          <c:tx>
            <c:v>Глубина пула</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mooth val="0"/>
        </c:ser>
        <c:ser>
          <c:idx val="17"/>
          <c:order val="17"/>
          <c:tx>
            <c:v>RRF минус E5 по горизонтали</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3335">
              <a:solidFill>
                <a:srgbClr val="70858A"/>
              </a:solidFill>
            </a:ln>
          </c:spPr>
          <c:marker>
            <c:symbol val="none"/>
          </c:marker>
          <c:xVal>
            <c:numLit>
              <c:formatCode>General</c:formatCode>
              <c:ptCount val="5"/>
              <c:pt idx="0">
                <c:v>0</c:v>
              </c:pt>
              <c:pt idx="1">
                <c:v>210</c:v>
              </c:pt>
              <c:pt idx="2">
                <c:v>210</c:v>
              </c:pt>
              <c:pt idx="3">
                <c:v>210</c:v>
              </c:pt>
              <c:pt idx="4">
                <c:v>210</c:v>
              </c:pt>
            </c:numLit>
          </c:xVal>
          <c:yVal>
            <c:numLit>
              <c:formatCode>0.000</c:formatCode>
              <c:ptCount val="5"/>
              <c:pt idx="0">
                <c:v>0</c:v>
              </c:pt>
              <c:pt idx="1">
                <c:v>0</c:v>
              </c:pt>
              <c:pt idx="2">
                <c:v>0</c:v>
              </c:pt>
              <c:pt idx="3">
                <c:v>0</c:v>
              </c:pt>
              <c:pt idx="4">
                <c:v>0</c:v>
              </c:pt>
            </c:numLit>
          </c:yVal>
          <c:smooth val="0"/>
        </c:ser>
        <c:ser>
          <c:idx val="1"/>
          <c:order val="1"/>
          <c:tx>
            <c:v>RRF минус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C7C3492E-22AD-4920-9426-661B04211C7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852c025e70249f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662EF985-391F-4637-9390-D87891E31A43}"/>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Доразметка&#10;и контролируемые&#10;пулы кандидатов">
            <a:extLst xmlns:a="http://schemas.openxmlformats.org/drawingml/2006/main">
              <a:ext uri="{FF2B5EF4-FFF2-40B4-BE49-F238E27FC236}">
                <a16:creationId xmlns:a16="http://schemas.microsoft.com/office/drawing/2014/main" id="{3D019271-32C9-4AF9-8EF4-51B4064403FA}"/>
              </a:ext>
            </a:extLst>
          </p:cNvPr>
          <p:cNvSpPr>
            <a:spLocks xmlns:a="http://schemas.openxmlformats.org/drawingml/2006/main" noGrp="1"/>
          </p:cNvSpPr>
          <p:nvPr/>
        </p:nvSpPr>
        <p:spPr>
          <a:xfrm xmlns:a="http://schemas.openxmlformats.org/drawingml/2006/main">
            <a:off x="609600" y="1247775"/>
            <a:ext cx="8096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Доразметка</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и контролируемые</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пулы кандидатов</a:t>
            </a:r>
          </a:p>
        </p:txBody>
      </p:sp>
      <p:sp>
        <p:nvSpPr>
          <p:cNvPr id="5" name="Переоценка поисковых моделей&#10;на MS MARCO">
            <a:extLst xmlns:a="http://schemas.openxmlformats.org/drawingml/2006/main">
              <a:ext uri="{FF2B5EF4-FFF2-40B4-BE49-F238E27FC236}">
                <a16:creationId xmlns:a16="http://schemas.microsoft.com/office/drawing/2014/main" id="{675C4EB1-99BD-4526-A2E3-B972B3697B9A}"/>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Переоценка поисковых моделей</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на MS MARCO</a:t>
            </a:r>
          </a:p>
        </p:txBody>
      </p:sp>
      <p:sp>
        <p:nvSpPr>
          <p:cNvPr id="6" name=", ,&#10; Лукашеви">
            <a:extLst xmlns:a="http://schemas.openxmlformats.org/drawingml/2006/main">
              <a:ext uri="{FF2B5EF4-FFF2-40B4-BE49-F238E27FC236}">
                <a16:creationId xmlns:a16="http://schemas.microsoft.com/office/drawing/2014/main" id="{7575EC79-5D15-4F4D-9594-619B04EC5CEE}"/>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B723C650-29AC-460C-924A-EEFBBDA61F9D}"/>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9604782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Наборы данных для оценки поиска">
            <a:extLst xmlns:a="http://schemas.openxmlformats.org/drawingml/2006/main">
              <a:ext uri="{FF2B5EF4-FFF2-40B4-BE49-F238E27FC236}">
                <a16:creationId xmlns:a16="http://schemas.microsoft.com/office/drawing/2014/main" id="{2F891781-5CE2-402D-B581-022173137B1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Наборы данных для оценки поиска</a:t>
            </a:r>
          </a:p>
        </p:txBody>
      </p:sp>
      <p:sp>
        <p:nvSpPr>
          <p:cNvPr id="2" name="02">
            <a:extLst xmlns:a="http://schemas.openxmlformats.org/drawingml/2006/main">
              <a:ext uri="{FF2B5EF4-FFF2-40B4-BE49-F238E27FC236}">
                <a16:creationId xmlns:a16="http://schemas.microsoft.com/office/drawing/2014/main" id="{F71D1E0E-97BF-4C4F-9DE0-2D5D488903B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graphicFrame>
        <p:nvGraphicFramePr>
          <p:cNvPr id="9" name=""/>
          <p:cNvGraphicFramePr/>
          <p:nvPr/>
        </p:nvGraphicFramePr>
        <p:xfrm>
          <a:off xmlns:a="http://schemas.openxmlformats.org/drawingml/2006/main" x="609600" y="1790700"/>
          <a:ext xmlns:a="http://schemas.openxmlformats.org/drawingml/2006/main" cx="10972800" cy="2657475"/>
        </p:xfrm>
        <a:graphic xmlns:a="http://schemas.openxmlformats.org/drawingml/2006/main">
          <a:graphicData uri="http://schemas.openxmlformats.org/drawingml/2006/table">
            <a:tbl>
              <a:tblPr firstRow="0" bandRow="0" bandCol="0"/>
              <a:tblGrid>
                <a:gridCol w="3476625"/>
                <a:gridCol w="7496175"/>
              </a:tblGrid>
              <a:tr h="523875">
                <a:tc>
                  <a:txBody>
                    <a:bodyPr lIns="171450" tIns="95250" rIns="171450" bIns="95250">
                      <a:noAutofit/>
                    </a:bodyPr>
                    <a:lstStyle/>
                    <a:p>
                      <a:r>
                        <a:rPr sz="1950" b="1">
                          <a:solidFill>
                            <a:srgbClr val="526970"/>
                          </a:solidFill>
                          <a:latin typeface="Arial"/>
                          <a:ea typeface="Arial"/>
                          <a:cs typeface="Arial"/>
                        </a:rPr>
                        <a:t>Набор / бенчмарк</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Источник и задача</a:t>
                      </a:r>
                    </a:p>
                  </a:txBody>
                  <a:tcPr marL="91440" marR="91440" marT="45720" marB="45720" anchor="ctr">
                    <a:lnL w="0">
                      <a:noFill/>
                    </a:lnL>
                    <a:lnR w="0">
                      <a:noFill/>
                    </a:lnR>
                    <a:lnT w="0">
                      <a:noFill/>
                    </a:lnT>
                    <a:lnB w="7620">
                      <a:solidFill>
                        <a:srgbClr val="D4E1E0"/>
                      </a:solidFill>
                    </a:lnB>
                    <a:solidFill>
                      <a:srgbClr val="EFF5F4"/>
                    </a:solidFill>
                  </a:tcPr>
                </a:tc>
              </a:tr>
              <a:tr h="685800">
                <a:tc>
                  <a:txBody>
                    <a:bodyPr lIns="171450" tIns="95250" rIns="171450" bIns="95250">
                      <a:noAutofit/>
                    </a:bodyPr>
                    <a:lstStyle/>
                    <a:p>
                      <a:r>
                        <a:rPr sz="2100" b="0">
                          <a:solidFill>
                            <a:srgbClr val="182B30"/>
                          </a:solidFill>
                          <a:latin typeface="Arial"/>
                          <a:ea typeface="Arial"/>
                          <a:cs typeface="Arial"/>
                        </a:rPr>
                        <a:t>Natural Questions</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Запросы Google, ответы в Wikipedia</a:t>
                      </a:r>
                    </a:p>
                  </a:txBody>
                  <a:tcPr marL="91440" marR="91440" marT="45720" marB="45720" anchor="ctr">
                    <a:lnL w="0">
                      <a:noFill/>
                    </a:lnL>
                    <a:lnR w="0">
                      <a:noFill/>
                    </a:lnR>
                    <a:lnT w="0">
                      <a:noFill/>
                    </a:lnT>
                    <a:lnB w="7620">
                      <a:solidFill>
                        <a:srgbClr val="D4E1E0"/>
                      </a:solidFill>
                    </a:lnB>
                    <a:solidFill>
                      <a:srgbClr val="FFFFFF"/>
                    </a:solidFill>
                  </a:tcPr>
                </a:tc>
              </a:tr>
              <a:tr h="685800">
                <a:tc>
                  <a:txBody>
                    <a:bodyPr lIns="171450" tIns="95250" rIns="171450" bIns="95250">
                      <a:noAutofit/>
                    </a:bodyPr>
                    <a:lstStyle/>
                    <a:p>
                      <a:r>
                        <a:rPr sz="2100" b="0">
                          <a:solidFill>
                            <a:srgbClr val="182B30"/>
                          </a:solidFill>
                          <a:latin typeface="Arial"/>
                          <a:ea typeface="Arial"/>
                          <a:cs typeface="Arial"/>
                        </a:rPr>
                        <a:t>BEIR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Разные задачи и домены поиска</a:t>
                      </a:r>
                    </a:p>
                  </a:txBody>
                  <a:tcPr marL="91440" marR="91440" marT="45720" marB="45720" anchor="ctr">
                    <a:lnL w="0">
                      <a:noFill/>
                    </a:lnL>
                    <a:lnR w="0">
                      <a:noFill/>
                    </a:lnR>
                    <a:lnT w="0">
                      <a:noFill/>
                    </a:lnT>
                    <a:lnB w="7620">
                      <a:solidFill>
                        <a:srgbClr val="D4E1E0"/>
                      </a:solidFill>
                    </a:lnB>
                    <a:solidFill>
                      <a:srgbClr val="FFFFFF"/>
                    </a:solidFill>
                  </a:tcPr>
                </a:tc>
              </a:tr>
              <a:tr h="762000">
                <a:tc>
                  <a:txBody>
                    <a:bodyPr lIns="171450" tIns="95250" rIns="171450" bIns="95250">
                      <a:noAutofit/>
                    </a:bodyPr>
                    <a:lstStyle/>
                    <a:p>
                      <a:r>
                        <a:rPr sz="2100" b="1">
                          <a:solidFill>
                            <a:srgbClr val="007F78"/>
                          </a:solidFill>
                          <a:latin typeface="Arial"/>
                          <a:ea typeface="Arial"/>
                          <a:cs typeface="Arial"/>
                        </a:rPr>
                        <a:t>MS MARCO</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100" b="1">
                          <a:solidFill>
                            <a:srgbClr val="007F78"/>
                          </a:solidFill>
                          <a:latin typeface="Arial"/>
                          <a:ea typeface="Arial"/>
                          <a:cs typeface="Arial"/>
                        </a:rPr>
                        <a:t>Запросы Bing, поиск по веб-фрагментам</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4" name="Почему MS MARCO">
            <a:extLst xmlns:a="http://schemas.openxmlformats.org/drawingml/2006/main">
              <a:ext uri="{FF2B5EF4-FFF2-40B4-BE49-F238E27FC236}">
                <a16:creationId xmlns:a16="http://schemas.microsoft.com/office/drawing/2014/main" id="{11577D97-8375-4866-8E73-2C5B2185B64D}"/>
              </a:ext>
            </a:extLst>
          </p:cNvPr>
          <p:cNvSpPr>
            <a:spLocks xmlns:a="http://schemas.openxmlformats.org/drawingml/2006/main" noGrp="1"/>
          </p:cNvSpPr>
          <p:nvPr/>
        </p:nvSpPr>
        <p:spPr>
          <a:xfrm xmlns:a="http://schemas.openxmlformats.org/drawingml/2006/main">
            <a:off x="609600" y="48672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F78"/>
                </a:solidFill>
                <a:latin typeface="Arial"/>
                <a:ea typeface="Arial"/>
                <a:cs typeface="Arial"/>
              </a:defRPr>
            </a:pPr>
            <a:r>
              <a:rPr sz="2400" b="1">
                <a:solidFill>
                  <a:srgbClr val="007F78"/>
                </a:solidFill>
                <a:latin typeface="Arial"/>
                <a:ea typeface="Arial"/>
                <a:cs typeface="Arial"/>
              </a:rPr>
              <a:t>Почему MS MARCO</a:t>
            </a:r>
          </a:p>
        </p:txBody>
      </p:sp>
      <p:sp>
        <p:nvSpPr>
          <p:cNvPr id="5" name="Открытые тексты и разреженные оценки релевантнос">
            <a:extLst xmlns:a="http://schemas.openxmlformats.org/drawingml/2006/main">
              <a:ext uri="{FF2B5EF4-FFF2-40B4-BE49-F238E27FC236}">
                <a16:creationId xmlns:a16="http://schemas.microsoft.com/office/drawing/2014/main" id="{0C879FB9-9E24-461A-B2A7-2CF3B2C2FAAA}"/>
              </a:ext>
            </a:extLst>
          </p:cNvPr>
          <p:cNvSpPr>
            <a:spLocks xmlns:a="http://schemas.openxmlformats.org/drawingml/2006/main" noGrp="1"/>
          </p:cNvSpPr>
          <p:nvPr/>
        </p:nvSpPr>
        <p:spPr>
          <a:xfrm xmlns:a="http://schemas.openxmlformats.org/drawingml/2006/main">
            <a:off x="609600" y="54197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2B30"/>
                </a:solidFill>
                <a:latin typeface="Arial"/>
                <a:ea typeface="Arial"/>
                <a:cs typeface="Arial"/>
              </a:defRPr>
            </a:pPr>
            <a:r>
              <a:rPr sz="2175" b="0">
                <a:solidFill>
                  <a:srgbClr val="182B30"/>
                </a:solidFill>
                <a:latin typeface="Arial"/>
                <a:ea typeface="Arial"/>
                <a:cs typeface="Arial"/>
              </a:rPr>
              <a:t>Открытые тексты и разреженные оценки релевантности</a:t>
            </a:r>
          </a:p>
        </p:txBody>
      </p:sp>
      <p:sp>
        <p:nvSpPr>
          <p:cNvPr id="6" name="Источники: Bajaj и др., 2016/2018; Kwiatkowski и">
            <a:extLst xmlns:a="http://schemas.openxmlformats.org/drawingml/2006/main">
              <a:ext uri="{FF2B5EF4-FFF2-40B4-BE49-F238E27FC236}">
                <a16:creationId xmlns:a16="http://schemas.microsoft.com/office/drawing/2014/main" id="{D5E59AFC-D6DF-4887-8DEB-CA19C471F9A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14734252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результаты ведущих систем">
            <a:extLst xmlns:a="http://schemas.openxmlformats.org/drawingml/2006/main">
              <a:ext uri="{FF2B5EF4-FFF2-40B4-BE49-F238E27FC236}">
                <a16:creationId xmlns:a16="http://schemas.microsoft.com/office/drawing/2014/main" id="{3E439587-929A-43B0-A800-C37A233BB77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Близкие результаты ведущих систем</a:t>
            </a:r>
          </a:p>
        </p:txBody>
      </p:sp>
      <p:sp>
        <p:nvSpPr>
          <p:cNvPr id="2" name="03">
            <a:extLst xmlns:a="http://schemas.openxmlformats.org/drawingml/2006/main">
              <a:ext uri="{FF2B5EF4-FFF2-40B4-BE49-F238E27FC236}">
                <a16:creationId xmlns:a16="http://schemas.microsoft.com/office/drawing/2014/main" id="{2D522899-17C5-4EDB-8AF6-8CC754F73FB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MS MARCO Passage Ranking, тест eval, исторически">
            <a:extLst xmlns:a="http://schemas.openxmlformats.org/drawingml/2006/main">
              <a:ext uri="{FF2B5EF4-FFF2-40B4-BE49-F238E27FC236}">
                <a16:creationId xmlns:a16="http://schemas.microsoft.com/office/drawing/2014/main" id="{5E183FEF-C4D0-4B49-9D47-7E2B26800B2C}"/>
              </a:ext>
            </a:extLst>
          </p:cNvPr>
          <p:cNvSpPr>
            <a:spLocks xmlns:a="http://schemas.openxmlformats.org/drawingml/2006/main" noGrp="1"/>
          </p:cNvSpPr>
          <p:nvPr/>
        </p:nvSpPr>
        <p:spPr>
          <a:xfrm xmlns:a="http://schemas.openxmlformats.org/drawingml/2006/main">
            <a:off x="609600" y="16002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MS MARCO Passage Ranking, тест eval, исторический срез 30.11.2022</a:t>
            </a:r>
          </a:p>
        </p:txBody>
      </p:sp>
      <p:graphicFrame>
        <p:nvGraphicFramePr>
          <p:cNvPr id="13" name=""/>
          <p:cNvGraphicFramePr/>
          <p:nvPr/>
        </p:nvGraphicFramePr>
        <p:xfrm>
          <a:off xmlns:a="http://schemas.openxmlformats.org/drawingml/2006/main" x="609600" y="2219325"/>
          <a:ext xmlns:a="http://schemas.openxmlformats.org/drawingml/2006/main" cx="7762875" cy="2800350"/>
        </p:xfrm>
        <a:graphic xmlns:a="http://schemas.openxmlformats.org/drawingml/2006/main">
          <a:graphicData uri="http://schemas.openxmlformats.org/drawingml/2006/table">
            <a:tbl>
              <a:tblPr firstRow="0" bandRow="0" bandCol="0"/>
              <a:tblGrid>
                <a:gridCol w="5810250"/>
                <a:gridCol w="1952625"/>
              </a:tblGrid>
              <a:tr h="514350">
                <a:tc>
                  <a:txBody>
                    <a:bodyPr lIns="171450" tIns="95250" rIns="171450" bIns="95250">
                      <a:noAutofit/>
                    </a:bodyPr>
                    <a:lstStyle/>
                    <a:p>
                      <a:r>
                        <a:rPr sz="1950"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MRR@10</a:t>
                      </a:r>
                    </a:p>
                  </a:txBody>
                  <a:tcPr marL="91440" marR="91440" marT="45720" marB="45720" anchor="ctr">
                    <a:lnL w="0">
                      <a:noFill/>
                    </a:lnL>
                    <a:lnR w="0">
                      <a:noFill/>
                    </a:lnR>
                    <a:lnT w="0">
                      <a:noFill/>
                    </a:lnT>
                    <a:lnB w="7620">
                      <a:solidFill>
                        <a:srgbClr val="D4E1E0"/>
                      </a:solidFill>
                    </a:lnB>
                    <a:solidFill>
                      <a:srgbClr val="EFF5F4"/>
                    </a:solidFill>
                  </a:tcPr>
                </a:tc>
              </a:tr>
              <a:tr h="571500">
                <a:tc>
                  <a:txBody>
                    <a:bodyPr lIns="171450" tIns="95250" rIns="171450" bIns="95250">
                      <a:noAutofit/>
                    </a:bodyPr>
                    <a:lstStyle/>
                    <a:p>
                      <a:r>
                        <a:rPr sz="2100" b="0">
                          <a:solidFill>
                            <a:srgbClr val="182B30"/>
                          </a:solidFill>
                          <a:latin typeface="Arial"/>
                          <a:ea typeface="Arial"/>
                          <a:cs typeface="Arial"/>
                        </a:rPr>
                        <a:t>AliceMind SLM + HLAR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0,450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Listwise + Fusion</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0,440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CoT-MAE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0,438</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Lichee + DeBERTa + reranking</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0,436</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0,014">
            <a:extLst xmlns:a="http://schemas.openxmlformats.org/drawingml/2006/main">
              <a:ext uri="{FF2B5EF4-FFF2-40B4-BE49-F238E27FC236}">
                <a16:creationId xmlns:a16="http://schemas.microsoft.com/office/drawing/2014/main" id="{16BBCA8E-49CC-4B48-9AC3-22D2A94136BF}"/>
              </a:ext>
            </a:extLst>
          </p:cNvPr>
          <p:cNvSpPr>
            <a:spLocks xmlns:a="http://schemas.openxmlformats.org/drawingml/2006/main" noGrp="1"/>
          </p:cNvSpPr>
          <p:nvPr/>
        </p:nvSpPr>
        <p:spPr>
          <a:xfrm xmlns:a="http://schemas.openxmlformats.org/drawingml/2006/main">
            <a:off x="8858250" y="2476500"/>
            <a:ext cx="2714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07F78"/>
                </a:solidFill>
                <a:latin typeface="Arial"/>
                <a:ea typeface="Arial"/>
                <a:cs typeface="Arial"/>
              </a:defRPr>
            </a:pPr>
            <a:r>
              <a:rPr sz="5400" b="1">
                <a:solidFill>
                  <a:srgbClr val="007F78"/>
                </a:solidFill>
                <a:latin typeface="Arial"/>
                <a:ea typeface="Arial"/>
                <a:cs typeface="Arial"/>
              </a:rPr>
              <a:t>0,014</a:t>
            </a:r>
          </a:p>
        </p:txBody>
      </p:sp>
      <p:sp>
        <p:nvSpPr>
          <p:cNvPr id="6" name="размах&#10;значений">
            <a:extLst xmlns:a="http://schemas.openxmlformats.org/drawingml/2006/main">
              <a:ext uri="{FF2B5EF4-FFF2-40B4-BE49-F238E27FC236}">
                <a16:creationId xmlns:a16="http://schemas.microsoft.com/office/drawing/2014/main" id="{81A875BD-9CD0-4DD7-B28C-5BA27F5D0ACC}"/>
              </a:ext>
            </a:extLst>
          </p:cNvPr>
          <p:cNvSpPr>
            <a:spLocks xmlns:a="http://schemas.openxmlformats.org/drawingml/2006/main" noGrp="1"/>
          </p:cNvSpPr>
          <p:nvPr/>
        </p:nvSpPr>
        <p:spPr>
          <a:xfrm xmlns:a="http://schemas.openxmlformats.org/drawingml/2006/main">
            <a:off x="8858250" y="3390900"/>
            <a:ext cx="2714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размах</a:t>
            </a:r>
          </a:p>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значений</a:t>
            </a:r>
          </a:p>
        </p:txBody>
      </p:sp>
      <p:sp>
        <p:nvSpPr>
          <p:cNvPr id="7" name="MRR@10: обратная позиция первого релевантного от">
            <a:extLst xmlns:a="http://schemas.openxmlformats.org/drawingml/2006/main">
              <a:ext uri="{FF2B5EF4-FFF2-40B4-BE49-F238E27FC236}">
                <a16:creationId xmlns:a16="http://schemas.microsoft.com/office/drawing/2014/main" id="{60D1B159-625C-4AD4-86D0-3B3E3554BF40}"/>
              </a:ext>
            </a:extLst>
          </p:cNvPr>
          <p:cNvSpPr>
            <a:spLocks xmlns:a="http://schemas.openxmlformats.org/drawingml/2006/main" noGrp="1"/>
          </p:cNvSpPr>
          <p:nvPr/>
        </p:nvSpPr>
        <p:spPr>
          <a:xfrm xmlns:a="http://schemas.openxmlformats.org/drawingml/2006/main">
            <a:off x="609600" y="5286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MRR@10: обратная позиция первого релевантного ответа в топ-10, в среднем.</a:t>
            </a:r>
          </a:p>
        </p:txBody>
      </p:sp>
      <p:sp>
        <p:nvSpPr>
          <p:cNvPr id="8" name="Близкие метрики не доказывают равенство качества">
            <a:extLst xmlns:a="http://schemas.openxmlformats.org/drawingml/2006/main">
              <a:ext uri="{FF2B5EF4-FFF2-40B4-BE49-F238E27FC236}">
                <a16:creationId xmlns:a16="http://schemas.microsoft.com/office/drawing/2014/main" id="{03E99439-7468-4708-941D-E7EBD0800A2F}"/>
              </a:ext>
            </a:extLst>
          </p:cNvPr>
          <p:cNvSpPr>
            <a:spLocks xmlns:a="http://schemas.openxmlformats.org/drawingml/2006/main" noGrp="1"/>
          </p:cNvSpPr>
          <p:nvPr/>
        </p:nvSpPr>
        <p:spPr>
          <a:xfrm xmlns:a="http://schemas.openxmlformats.org/drawingml/2006/main">
            <a:off x="609600" y="5800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Близкие метрики не доказывают равенство качества.</a:t>
            </a:r>
          </a:p>
        </p:txBody>
      </p:sp>
      <p:sp>
        <p:nvSpPr>
          <p:cNvPr id="9" name="Microsoft, четыре ведущие именованные системы в ">
            <a:extLst xmlns:a="http://schemas.openxmlformats.org/drawingml/2006/main">
              <a:ext uri="{FF2B5EF4-FFF2-40B4-BE49-F238E27FC236}">
                <a16:creationId xmlns:a16="http://schemas.microsoft.com/office/drawing/2014/main" id="{C56C3BAF-1E96-4ED7-9B13-1B805B164267}"/>
              </a:ext>
            </a:extLst>
          </p:cNvPr>
          <p:cNvSpPr>
            <a:spLocks xmlns:a="http://schemas.openxmlformats.org/drawingml/2006/main" noGrp="1"/>
          </p:cNvSpPr>
          <p:nvPr/>
        </p:nvSpPr>
        <p:spPr>
          <a:xfrm xmlns:a="http://schemas.openxmlformats.org/drawingml/2006/main">
            <a:off x="609600" y="6267450"/>
            <a:ext cx="1000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970"/>
                </a:solidFill>
                <a:latin typeface="Arial"/>
                <a:ea typeface="Arial"/>
                <a:cs typeface="Arial"/>
              </a:defRPr>
            </a:pPr>
            <a:r>
              <a:rPr sz="1500" b="0">
                <a:solidFill>
                  <a:srgbClr val="526970"/>
                </a:solidFill>
                <a:latin typeface="Arial"/>
                <a:ea typeface="Arial"/>
                <a:cs typeface="Arial"/>
              </a:rPr>
              <a:t>Microsoft, четыре ведущие именованные системы в режиме полного поиска.</a:t>
            </a:r>
          </a:p>
        </p:txBody>
      </p:sp>
    </p:spTree>
    <p:extLst>
      <p:ext uri="{BB962C8B-B14F-4D97-AF65-F5344CB8AC3E}">
        <p14:creationId xmlns:p14="http://schemas.microsoft.com/office/powerpoint/2010/main" val="8812198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Релевантный ответ без оценки">
            <a:extLst xmlns:a="http://schemas.openxmlformats.org/drawingml/2006/main">
              <a:ext uri="{FF2B5EF4-FFF2-40B4-BE49-F238E27FC236}">
                <a16:creationId xmlns:a16="http://schemas.microsoft.com/office/drawing/2014/main" id="{334DD0EA-0A05-4641-AA05-35F3A325D91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Релевантный ответ без оценки</a:t>
            </a:r>
          </a:p>
        </p:txBody>
      </p:sp>
      <p:sp>
        <p:nvSpPr>
          <p:cNvPr id="2" name="04">
            <a:extLst xmlns:a="http://schemas.openxmlformats.org/drawingml/2006/main">
              <a:ext uri="{FF2B5EF4-FFF2-40B4-BE49-F238E27FC236}">
                <a16:creationId xmlns:a16="http://schemas.microsoft.com/office/drawing/2014/main" id="{88277A78-B55B-40D3-BB92-46D7F0436CF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94134873-7E97-45CA-BA35-450C12C190E2}"/>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«Что вызывает повышение температуры кипения?»</a:t>
            </a:r>
          </a:p>
        </p:txBody>
      </p:sp>
      <p:graphicFrame>
        <p:nvGraphicFramePr>
          <p:cNvPr id="9"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26970"/>
                          </a:solidFill>
                          <a:latin typeface="Arial"/>
                          <a:ea typeface="Arial"/>
                          <a:cs typeface="Arial"/>
                        </a:rPr>
                        <a:t>Сокращённый пересказ фрагмента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Исходные оценки</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Оценка человека</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00" b="0">
                          <a:solidFill>
                            <a:srgbClr val="182B30"/>
                          </a:solidFill>
                          <a:latin typeface="Arial"/>
                          <a:ea typeface="Arial"/>
                          <a:cs typeface="Arial"/>
                        </a:rPr>
                        <a:t>7112148   Добавление соли повышает</a:t>
                      </a:r>
                    </a:p>
                    <a:p>
                      <a:r>
                        <a:rPr sz="1800" b="0">
                          <a:solidFill>
                            <a:srgbClr val="182B30"/>
                          </a:solidFill>
                          <a:latin typeface="Arial"/>
                          <a:ea typeface="Arial"/>
                          <a:cs typeface="Arial"/>
                        </a:rPr>
                        <a:t>температуру кипения.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00" b="1">
                          <a:solidFill>
                            <a:srgbClr val="007F78"/>
                          </a:solidFill>
                          <a:latin typeface="Arial"/>
                          <a:ea typeface="Arial"/>
                          <a:cs typeface="Arial"/>
                        </a:rPr>
                        <a:t>7399382   Нелетучее растворённое вещество</a:t>
                      </a:r>
                    </a:p>
                    <a:p>
                      <a:r>
                        <a:rPr sz="1800" b="1">
                          <a:solidFill>
                            <a:srgbClr val="007F78"/>
                          </a:solidFill>
                          <a:latin typeface="Arial"/>
                          <a:ea typeface="Arial"/>
                          <a:cs typeface="Arial"/>
                        </a:rPr>
                        <a:t>повышает температуру кипения.</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1">
                          <a:solidFill>
                            <a:srgbClr val="007F78"/>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00" b="0">
                          <a:solidFill>
                            <a:srgbClr val="182B30"/>
                          </a:solidFill>
                          <a:latin typeface="Arial"/>
                          <a:ea typeface="Arial"/>
                          <a:cs typeface="Arial"/>
                        </a:rPr>
                        <a:t>987600   Температура кипения ацетона.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Нерелевантен</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оценки релевантности. Нет оценки: нулевой">
            <a:extLst xmlns:a="http://schemas.openxmlformats.org/drawingml/2006/main">
              <a:ext uri="{FF2B5EF4-FFF2-40B4-BE49-F238E27FC236}">
                <a16:creationId xmlns:a16="http://schemas.microsoft.com/office/drawing/2014/main" id="{1D3E2C44-7336-4B9D-BD9F-DCB71CA25FA6}"/>
              </a:ext>
            </a:extLst>
          </p:cNvPr>
          <p:cNvSpPr>
            <a:spLocks xmlns:a="http://schemas.openxmlformats.org/drawingml/2006/main" noGrp="1"/>
          </p:cNvSpPr>
          <p:nvPr/>
        </p:nvSpPr>
        <p:spPr>
          <a:xfrm xmlns:a="http://schemas.openxmlformats.org/drawingml/2006/main">
            <a:off x="609600" y="6019800"/>
            <a:ext cx="1081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оценки релевантности. Нет оценки: нулевой вклад.</a:t>
            </a:r>
          </a:p>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Русский пересказ исходных фрагментов. Метки относятся к оригиналам.</a:t>
            </a:r>
          </a:p>
        </p:txBody>
      </p:sp>
    </p:spTree>
    <p:extLst>
      <p:ext uri="{BB962C8B-B14F-4D97-AF65-F5344CB8AC3E}">
        <p14:creationId xmlns:p14="http://schemas.microsoft.com/office/powerpoint/2010/main" val="10946752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Данные и покрытие разметкой">
            <a:extLst xmlns:a="http://schemas.openxmlformats.org/drawingml/2006/main">
              <a:ext uri="{FF2B5EF4-FFF2-40B4-BE49-F238E27FC236}">
                <a16:creationId xmlns:a16="http://schemas.microsoft.com/office/drawing/2014/main" id="{4640FAC2-87BA-4AD7-B645-16A1EA41B48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Данные и покрытие разметкой</a:t>
            </a:r>
          </a:p>
        </p:txBody>
      </p:sp>
      <p:sp>
        <p:nvSpPr>
          <p:cNvPr id="2" name="05">
            <a:extLst xmlns:a="http://schemas.openxmlformats.org/drawingml/2006/main">
              <a:ext uri="{FF2B5EF4-FFF2-40B4-BE49-F238E27FC236}">
                <a16:creationId xmlns:a16="http://schemas.microsoft.com/office/drawing/2014/main" id="{7D357777-C1CA-4A83-8B56-4898D8FC1F7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Англоязычный MS MARCO">
            <a:extLst xmlns:a="http://schemas.openxmlformats.org/drawingml/2006/main">
              <a:ext uri="{FF2B5EF4-FFF2-40B4-BE49-F238E27FC236}">
                <a16:creationId xmlns:a16="http://schemas.microsoft.com/office/drawing/2014/main" id="{21C1F5CD-EC38-4876-831F-D93794B85700}"/>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Англоязычный MS MARCO</a:t>
            </a:r>
          </a:p>
        </p:txBody>
      </p:sp>
      <p:sp>
        <p:nvSpPr>
          <p:cNvPr id="4" name="8,84 млн текстовых фрагментов">
            <a:extLst xmlns:a="http://schemas.openxmlformats.org/drawingml/2006/main">
              <a:ext uri="{FF2B5EF4-FFF2-40B4-BE49-F238E27FC236}">
                <a16:creationId xmlns:a16="http://schemas.microsoft.com/office/drawing/2014/main" id="{D59D8BA0-4710-4A84-BBC7-98E9E68478BB}"/>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млн текстовых фрагментов</a:t>
            </a:r>
          </a:p>
        </p:txBody>
      </p:sp>
      <p:sp>
        <p:nvSpPr>
          <p:cNvPr id="5" name="">
            <a:extLst xmlns:a="http://schemas.openxmlformats.org/drawingml/2006/main">
              <a:ext uri="{FF2B5EF4-FFF2-40B4-BE49-F238E27FC236}">
                <a16:creationId xmlns:a16="http://schemas.microsoft.com/office/drawing/2014/main" id="{4808A2FD-39DB-4AA3-92FC-72968F9D8B37}"/>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Оценки человека">
            <a:extLst xmlns:a="http://schemas.openxmlformats.org/drawingml/2006/main">
              <a:ext uri="{FF2B5EF4-FFF2-40B4-BE49-F238E27FC236}">
                <a16:creationId xmlns:a16="http://schemas.microsoft.com/office/drawing/2014/main" id="{9AE9F043-E6DA-477E-A2B3-AFB89910F26D}"/>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Оценки человека</a:t>
            </a:r>
          </a:p>
        </p:txBody>
      </p:sp>
      <p:sp>
        <p:nvSpPr>
          <p:cNvPr id="7" name="1 179">
            <a:extLst xmlns:a="http://schemas.openxmlformats.org/drawingml/2006/main">
              <a:ext uri="{FF2B5EF4-FFF2-40B4-BE49-F238E27FC236}">
                <a16:creationId xmlns:a16="http://schemas.microsoft.com/office/drawing/2014/main" id="{2ABC94A7-49A8-40A8-9B70-E2DC1BD36F86}"/>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1 179</a:t>
            </a:r>
          </a:p>
        </p:txBody>
      </p:sp>
      <p:sp>
        <p:nvSpPr>
          <p:cNvPr id="8" name="запросов, 33 667 пар">
            <a:extLst xmlns:a="http://schemas.openxmlformats.org/drawingml/2006/main">
              <a:ext uri="{FF2B5EF4-FFF2-40B4-BE49-F238E27FC236}">
                <a16:creationId xmlns:a16="http://schemas.microsoft.com/office/drawing/2014/main" id="{B084AB60-7A47-458D-BA52-8250AB6F99CA}"/>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33 667 пар</a:t>
            </a:r>
          </a:p>
        </p:txBody>
      </p:sp>
      <p:sp>
        <p:nvSpPr>
          <p:cNvPr id="9" name="Предсказания судьи">
            <a:extLst xmlns:a="http://schemas.openxmlformats.org/drawingml/2006/main">
              <a:ext uri="{FF2B5EF4-FFF2-40B4-BE49-F238E27FC236}">
                <a16:creationId xmlns:a16="http://schemas.microsoft.com/office/drawing/2014/main" id="{E2A77084-79D3-4DBB-A5D4-9C964749A63D}"/>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Предсказания судьи</a:t>
            </a:r>
          </a:p>
        </p:txBody>
      </p:sp>
      <p:sp>
        <p:nvSpPr>
          <p:cNvPr id="10" name="101 093">
            <a:extLst xmlns:a="http://schemas.openxmlformats.org/drawingml/2006/main">
              <a:ext uri="{FF2B5EF4-FFF2-40B4-BE49-F238E27FC236}">
                <a16:creationId xmlns:a16="http://schemas.microsoft.com/office/drawing/2014/main" id="{7A4B9A5B-6509-409D-B337-9BD49AF6B517}"/>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101 093</a:t>
            </a:r>
          </a:p>
        </p:txBody>
      </p:sp>
      <p:sp>
        <p:nvSpPr>
          <p:cNvPr id="11" name="запроса, разная глубина пулов">
            <a:extLst xmlns:a="http://schemas.openxmlformats.org/drawingml/2006/main">
              <a:ext uri="{FF2B5EF4-FFF2-40B4-BE49-F238E27FC236}">
                <a16:creationId xmlns:a16="http://schemas.microsoft.com/office/drawing/2014/main" id="{9A03C7E3-D3D4-4FDA-A4AE-1FF41B69E13C}"/>
              </a:ext>
            </a:extLst>
          </p:cNvPr>
          <p:cNvSpPr>
            <a:spLocks xmlns:a="http://schemas.openxmlformats.org/drawingml/2006/main" noGrp="1"/>
          </p:cNvSpPr>
          <p:nvPr/>
        </p:nvSpPr>
        <p:spPr>
          <a:xfrm xmlns:a="http://schemas.openxmlformats.org/drawingml/2006/main">
            <a:off x="6705600" y="4933950"/>
            <a:ext cx="4876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B30"/>
                </a:solidFill>
                <a:latin typeface="Arial"/>
                <a:ea typeface="Arial"/>
                <a:cs typeface="Arial"/>
              </a:defRPr>
            </a:pPr>
            <a:r>
              <a:rPr sz="1950" b="0">
                <a:solidFill>
                  <a:srgbClr val="182B30"/>
                </a:solidFill>
                <a:latin typeface="Arial"/>
                <a:ea typeface="Arial"/>
                <a:cs typeface="Arial"/>
              </a:rPr>
              <a:t>запроса, разная глубина пулов</a:t>
            </a:r>
          </a:p>
        </p:txBody>
      </p:sp>
      <p:sp>
        <p:nvSpPr>
          <p:cNvPr id="12" name="Глубокая доразметка: оценивание многих кандидато">
            <a:extLst xmlns:a="http://schemas.openxmlformats.org/drawingml/2006/main">
              <a:ext uri="{FF2B5EF4-FFF2-40B4-BE49-F238E27FC236}">
                <a16:creationId xmlns:a16="http://schemas.microsoft.com/office/drawing/2014/main" id="{8D0A4B22-4F28-4B2B-B833-47EA02A8756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Глубокая доразметка: оценивание многих кандидатов внутри заданного пула.</a:t>
            </a:r>
          </a:p>
        </p:txBody>
      </p:sp>
    </p:spTree>
    <p:extLst>
      <p:ext uri="{BB962C8B-B14F-4D97-AF65-F5344CB8AC3E}">
        <p14:creationId xmlns:p14="http://schemas.microsoft.com/office/powerpoint/2010/main" val="12976868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Разметка с известным релевантным ответом">
            <a:extLst xmlns:a="http://schemas.openxmlformats.org/drawingml/2006/main">
              <a:ext uri="{FF2B5EF4-FFF2-40B4-BE49-F238E27FC236}">
                <a16:creationId xmlns:a16="http://schemas.microsoft.com/office/drawing/2014/main" id="{4F08E455-965E-4FD3-8FB7-D561BA763F75}"/>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Разметка с известным релевантным ответом</a:t>
            </a:r>
          </a:p>
        </p:txBody>
      </p:sp>
      <p:sp>
        <p:nvSpPr>
          <p:cNvPr id="2" name="06">
            <a:extLst xmlns:a="http://schemas.openxmlformats.org/drawingml/2006/main">
              <a:ext uri="{FF2B5EF4-FFF2-40B4-BE49-F238E27FC236}">
                <a16:creationId xmlns:a16="http://schemas.microsoft.com/office/drawing/2014/main" id="{9F6A7005-F48E-49E7-A616-E8BA12856E9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BM25   E5   BGE&#10;По 10 результатов">
            <a:extLst xmlns:a="http://schemas.openxmlformats.org/drawingml/2006/main">
              <a:ext uri="{FF2B5EF4-FFF2-40B4-BE49-F238E27FC236}">
                <a16:creationId xmlns:a16="http://schemas.microsoft.com/office/drawing/2014/main" id="{E06B08BB-DEBF-4476-A79E-EC33232EEF82}"/>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По 10 результатов</a:t>
            </a:r>
          </a:p>
        </p:txBody>
      </p:sp>
      <p:sp>
        <p:nvSpPr>
          <p:cNvPr id="4" name="Дополнительный отбор&#10;Сходство с ответом по E5">
            <a:extLst xmlns:a="http://schemas.openxmlformats.org/drawingml/2006/main">
              <a:ext uri="{FF2B5EF4-FFF2-40B4-BE49-F238E27FC236}">
                <a16:creationId xmlns:a16="http://schemas.microsoft.com/office/drawing/2014/main" id="{B5224D1A-E575-427A-AC94-52A3C3695468}"/>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Дополнительный отбор</a:t>
            </a:r>
          </a:p>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Сходство с ответом по E5</a:t>
            </a:r>
          </a:p>
        </p:txBody>
      </p:sp>
      <p:sp>
        <p:nvSpPr>
          <p:cNvPr id="5" name="Пул кандидатов&#10;без дубликатов">
            <a:extLst xmlns:a="http://schemas.openxmlformats.org/drawingml/2006/main">
              <a:ext uri="{FF2B5EF4-FFF2-40B4-BE49-F238E27FC236}">
                <a16:creationId xmlns:a16="http://schemas.microsoft.com/office/drawing/2014/main" id="{5118D0C7-C21D-4D05-8EE0-3051D5EB73E6}"/>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Пул кандидатов</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без дубликатов</a:t>
            </a:r>
          </a:p>
        </p:txBody>
      </p:sp>
      <p:sp>
        <p:nvSpPr>
          <p:cNvPr id="6" name="Ручная&#10;оценка">
            <a:extLst xmlns:a="http://schemas.openxmlformats.org/drawingml/2006/main">
              <a:ext uri="{FF2B5EF4-FFF2-40B4-BE49-F238E27FC236}">
                <a16:creationId xmlns:a16="http://schemas.microsoft.com/office/drawing/2014/main" id="{2CBD2ADC-55FF-4AB8-A47A-DE8B60C304FD}"/>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Ручная</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оценка</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Запрос + кандидат +&#10;релевантный ответ">
            <a:extLst xmlns:a="http://schemas.openxmlformats.org/drawingml/2006/main">
              <a:ext uri="{FF2B5EF4-FFF2-40B4-BE49-F238E27FC236}">
                <a16:creationId xmlns:a16="http://schemas.microsoft.com/office/drawing/2014/main" id="{03F078DF-D752-4928-AC8C-02CEC1C0B7A2}"/>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Запрос + кандидат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релевантный ответ</a:t>
            </a:r>
          </a:p>
        </p:txBody>
      </p:sp>
      <p:sp>
        <p:nvSpPr>
          <p:cNvPr id="11" name="В среднем 28,56&#10;кандидата на запрос">
            <a:extLst xmlns:a="http://schemas.openxmlformats.org/drawingml/2006/main">
              <a:ext uri="{FF2B5EF4-FFF2-40B4-BE49-F238E27FC236}">
                <a16:creationId xmlns:a16="http://schemas.microsoft.com/office/drawing/2014/main" id="{A96799E4-5CA0-4D48-9EF5-BD74CD3F2D58}"/>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В среднем 28,56</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кандидата на запрос</a:t>
            </a:r>
          </a:p>
        </p:txBody>
      </p:sp>
      <p:sp>
        <p:nvSpPr>
          <p:cNvPr id="12" name="Известный ответ используется при отборе кандидат">
            <a:extLst xmlns:a="http://schemas.openxmlformats.org/drawingml/2006/main">
              <a:ext uri="{FF2B5EF4-FFF2-40B4-BE49-F238E27FC236}">
                <a16:creationId xmlns:a16="http://schemas.microsoft.com/office/drawing/2014/main" id="{2149C239-EB6B-47AB-BCF5-DD07EC739EE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Известный ответ используется при отборе кандидатов и ручной разметке.</a:t>
            </a:r>
          </a:p>
        </p:txBody>
      </p:sp>
    </p:spTree>
    <p:extLst>
      <p:ext uri="{BB962C8B-B14F-4D97-AF65-F5344CB8AC3E}">
        <p14:creationId xmlns:p14="http://schemas.microsoft.com/office/powerpoint/2010/main" val="19735779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Больше оценок в тех же пулах">
            <a:extLst xmlns:a="http://schemas.openxmlformats.org/drawingml/2006/main">
              <a:ext uri="{FF2B5EF4-FFF2-40B4-BE49-F238E27FC236}">
                <a16:creationId xmlns:a16="http://schemas.microsoft.com/office/drawing/2014/main" id="{1CF79C95-B654-4F76-82D3-8E5010CEDC5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Больше оценок в тех же пулах</a:t>
            </a:r>
          </a:p>
        </p:txBody>
      </p:sp>
      <p:sp>
        <p:nvSpPr>
          <p:cNvPr id="2" name="07">
            <a:extLst xmlns:a="http://schemas.openxmlformats.org/drawingml/2006/main">
              <a:ext uri="{FF2B5EF4-FFF2-40B4-BE49-F238E27FC236}">
                <a16:creationId xmlns:a16="http://schemas.microsoft.com/office/drawing/2014/main" id="{D6E70AE6-5793-4E2A-AA54-5849FD26316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Среднее число релевантных фрагментов на запрос">
            <a:extLst xmlns:a="http://schemas.openxmlformats.org/drawingml/2006/main">
              <a:ext uri="{FF2B5EF4-FFF2-40B4-BE49-F238E27FC236}">
                <a16:creationId xmlns:a16="http://schemas.microsoft.com/office/drawing/2014/main" id="{692B7626-67E4-4142-B831-A1FCB9F7BC73}"/>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Среднее число релевантных фрагментов на запрос</a:t>
            </a:r>
          </a:p>
        </p:txBody>
      </p:sp>
      <p:sp>
        <p:nvSpPr>
          <p:cNvPr id="4" name="1,05">
            <a:extLst xmlns:a="http://schemas.openxmlformats.org/drawingml/2006/main">
              <a:ext uri="{FF2B5EF4-FFF2-40B4-BE49-F238E27FC236}">
                <a16:creationId xmlns:a16="http://schemas.microsoft.com/office/drawing/2014/main" id="{0A936E03-03E7-4610-925F-691691EB830C}"/>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86802D41-005F-4A54-BC81-35AC162315B9}"/>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875058B1-BFE6-4833-AF53-6EE18183FFF3}"/>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Исходные оценки">
            <a:extLst xmlns:a="http://schemas.openxmlformats.org/drawingml/2006/main">
              <a:ext uri="{FF2B5EF4-FFF2-40B4-BE49-F238E27FC236}">
                <a16:creationId xmlns:a16="http://schemas.microsoft.com/office/drawing/2014/main" id="{C5FC8E12-57E2-4AA9-88DF-91540478064A}"/>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Исходные оценки</a:t>
            </a:r>
          </a:p>
        </p:txBody>
      </p:sp>
      <p:sp>
        <p:nvSpPr>
          <p:cNvPr id="8" name="1 243 релевантные пары">
            <a:extLst xmlns:a="http://schemas.openxmlformats.org/drawingml/2006/main">
              <a:ext uri="{FF2B5EF4-FFF2-40B4-BE49-F238E27FC236}">
                <a16:creationId xmlns:a16="http://schemas.microsoft.com/office/drawing/2014/main" id="{0098175C-E3E2-42CF-8B6F-AC0938AC4158}"/>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1 243 релевантные пары</a:t>
            </a:r>
          </a:p>
        </p:txBody>
      </p:sp>
      <p:sp>
        <p:nvSpPr>
          <p:cNvPr id="9" name="После доразметки">
            <a:extLst xmlns:a="http://schemas.openxmlformats.org/drawingml/2006/main">
              <a:ext uri="{FF2B5EF4-FFF2-40B4-BE49-F238E27FC236}">
                <a16:creationId xmlns:a16="http://schemas.microsoft.com/office/drawing/2014/main" id="{B9260C2C-7876-4DC8-A068-81AA1DBFCCDC}"/>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После доразметки</a:t>
            </a:r>
          </a:p>
        </p:txBody>
      </p:sp>
      <p:sp>
        <p:nvSpPr>
          <p:cNvPr id="10" name="20 597 релевантных пар">
            <a:extLst xmlns:a="http://schemas.openxmlformats.org/drawingml/2006/main">
              <a:ext uri="{FF2B5EF4-FFF2-40B4-BE49-F238E27FC236}">
                <a16:creationId xmlns:a16="http://schemas.microsoft.com/office/drawing/2014/main" id="{F2D0DE64-5F0F-4C0D-B7E2-4EDA124CD26E}"/>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20 597 релевантных пар</a:t>
            </a:r>
          </a:p>
        </p:txBody>
      </p:sp>
      <p:sp>
        <p:nvSpPr>
          <p:cNvPr id="11" name="1 179 запросов. Пулы кандидатов и порядок поиско">
            <a:extLst xmlns:a="http://schemas.openxmlformats.org/drawingml/2006/main">
              <a:ext uri="{FF2B5EF4-FFF2-40B4-BE49-F238E27FC236}">
                <a16:creationId xmlns:a16="http://schemas.microsoft.com/office/drawing/2014/main" id="{FE3F3B17-B292-4BF7-9744-1EBFB2D6019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2663007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Доразметка меняет оценку NDCG@10">
            <a:extLst xmlns:a="http://schemas.openxmlformats.org/drawingml/2006/main">
              <a:ext uri="{FF2B5EF4-FFF2-40B4-BE49-F238E27FC236}">
                <a16:creationId xmlns:a16="http://schemas.microsoft.com/office/drawing/2014/main" id="{C57A67B4-84D5-4B46-A2C5-3620CDE8A41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Доразметка меняет оценку NDCG@10</a:t>
            </a:r>
          </a:p>
        </p:txBody>
      </p:sp>
      <p:sp>
        <p:nvSpPr>
          <p:cNvPr id="2" name="08">
            <a:extLst xmlns:a="http://schemas.openxmlformats.org/drawingml/2006/main">
              <a:ext uri="{FF2B5EF4-FFF2-40B4-BE49-F238E27FC236}">
                <a16:creationId xmlns:a16="http://schemas.microsoft.com/office/drawing/2014/main" id="{92AF1EEE-C890-41AD-A2FE-87D635EAB21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RRF: объединение выдач BM25, E5 и BGE по обратны">
            <a:extLst xmlns:a="http://schemas.openxmlformats.org/drawingml/2006/main">
              <a:ext uri="{FF2B5EF4-FFF2-40B4-BE49-F238E27FC236}">
                <a16:creationId xmlns:a16="http://schemas.microsoft.com/office/drawing/2014/main" id="{83F10504-FD85-4B19-94F7-D2971BBEB240}"/>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объединение выдач BM25, E5 и BGE по обратным рангам</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e4ce4ac20cf84723"/>
          </a:graphicData>
        </a:graphic>
      </p:graphicFrame>
      <p:sp>
        <p:nvSpPr>
          <p:cNvPr id="5" name="Изменение E5: +0,391   95%-ный ДИ [0,365; 0,417]">
            <a:extLst xmlns:a="http://schemas.openxmlformats.org/drawingml/2006/main">
              <a:ext uri="{FF2B5EF4-FFF2-40B4-BE49-F238E27FC236}">
                <a16:creationId xmlns:a16="http://schemas.microsoft.com/office/drawing/2014/main" id="{2F8596F9-2EF5-4D66-B616-218A321BDDE7}"/>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Изменение E5: +0,391   95%-ный ДИ [0,365; 0,417]</a:t>
            </a:r>
          </a:p>
        </p:txBody>
      </p:sp>
      <p:sp>
        <p:nvSpPr>
          <p:cNvPr id="6" name="NDCG@10 внутри пулов. Общий идеальный знаменател">
            <a:extLst xmlns:a="http://schemas.openxmlformats.org/drawingml/2006/main">
              <a:ext uri="{FF2B5EF4-FFF2-40B4-BE49-F238E27FC236}">
                <a16:creationId xmlns:a16="http://schemas.microsoft.com/office/drawing/2014/main" id="{C8EFE03B-381A-44C7-A6A9-44590528263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NDCG@10 внутри пулов. Общий идеальный знаменатель для запроса и набора меток.</a:t>
            </a:r>
          </a:p>
        </p:txBody>
      </p:sp>
    </p:spTree>
    <p:extLst>
      <p:ext uri="{BB962C8B-B14F-4D97-AF65-F5344CB8AC3E}">
        <p14:creationId xmlns:p14="http://schemas.microsoft.com/office/powerpoint/2010/main" val="15548091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Модель-судья для больших пулов">
            <a:extLst xmlns:a="http://schemas.openxmlformats.org/drawingml/2006/main">
              <a:ext uri="{FF2B5EF4-FFF2-40B4-BE49-F238E27FC236}">
                <a16:creationId xmlns:a16="http://schemas.microsoft.com/office/drawing/2014/main" id="{1C317943-E193-4781-8893-B0FAB927128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Модель-судья для больших пулов</a:t>
            </a:r>
          </a:p>
        </p:txBody>
      </p:sp>
      <p:sp>
        <p:nvSpPr>
          <p:cNvPr id="2" name="09">
            <a:extLst xmlns:a="http://schemas.openxmlformats.org/drawingml/2006/main">
              <a:ext uri="{FF2B5EF4-FFF2-40B4-BE49-F238E27FC236}">
                <a16:creationId xmlns:a16="http://schemas.microsoft.com/office/drawing/2014/main" id="{4272979E-E477-4A23-AD5D-D41B7931E92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Текст запроса&#10;Текст кандидата">
            <a:extLst xmlns:a="http://schemas.openxmlformats.org/drawingml/2006/main">
              <a:ext uri="{FF2B5EF4-FFF2-40B4-BE49-F238E27FC236}">
                <a16:creationId xmlns:a16="http://schemas.microsoft.com/office/drawing/2014/main" id="{26D13347-3281-4F06-BDAF-8D5A0F7294AB}"/>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запроса</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кандидата</a:t>
            </a:r>
          </a:p>
        </p:txBody>
      </p:sp>
      <p:sp>
        <p:nvSpPr>
          <p:cNvPr id="4" name="Ручные оценки обучают судью для автоматической р">
            <a:extLst xmlns:a="http://schemas.openxmlformats.org/drawingml/2006/main">
              <a:ext uri="{FF2B5EF4-FFF2-40B4-BE49-F238E27FC236}">
                <a16:creationId xmlns:a16="http://schemas.microsoft.com/office/drawing/2014/main" id="{242EFFE6-5830-4D14-A815-9CCC678FCCF5}"/>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Ручные оценки обучают судью для автоматической разметки.</a:t>
            </a:r>
          </a:p>
        </p:txBody>
      </p:sp>
      <p:sp>
        <p:nvSpPr>
          <p:cNvPr id="5" name="MiniLM&#10;кросс-энкодер">
            <a:extLst xmlns:a="http://schemas.openxmlformats.org/drawingml/2006/main">
              <a:ext uri="{FF2B5EF4-FFF2-40B4-BE49-F238E27FC236}">
                <a16:creationId xmlns:a16="http://schemas.microsoft.com/office/drawing/2014/main" id="{39881BD3-3F33-4537-A1CD-D7255EA0F3E2}"/>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8253BA28-6F62-41FF-8CB6-14C83D0EBC2C}"/>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Балл модели</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Псевдометка</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Совместно оценивает два текста">
            <a:extLst xmlns:a="http://schemas.openxmlformats.org/drawingml/2006/main">
              <a:ext uri="{FF2B5EF4-FFF2-40B4-BE49-F238E27FC236}">
                <a16:creationId xmlns:a16="http://schemas.microsoft.com/office/drawing/2014/main" id="{A625AD98-7162-453C-9409-BAFAE9A765FA}"/>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Совместно оценивает два текста</a:t>
            </a:r>
          </a:p>
        </p:txBody>
      </p:sp>
      <p:sp>
        <p:nvSpPr>
          <p:cNvPr id="10" name="">
            <a:extLst xmlns:a="http://schemas.openxmlformats.org/drawingml/2006/main">
              <a:ext uri="{FF2B5EF4-FFF2-40B4-BE49-F238E27FC236}">
                <a16:creationId xmlns:a16="http://schemas.microsoft.com/office/drawing/2014/main" id="{DDA8774B-F006-4CA7-8007-2BB4FEE1EF0D}"/>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На входе нет эталонного ответа, рангов и баллов ">
            <a:extLst xmlns:a="http://schemas.openxmlformats.org/drawingml/2006/main">
              <a:ext uri="{FF2B5EF4-FFF2-40B4-BE49-F238E27FC236}">
                <a16:creationId xmlns:a16="http://schemas.microsoft.com/office/drawing/2014/main" id="{29D5D23C-9396-4EFC-AE80-F4BC37555AE5}"/>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На входе нет эталонного ответа, рангов и баллов поисковых моделей.</a:t>
            </a:r>
          </a:p>
        </p:txBody>
      </p:sp>
      <p:sp>
        <p:nvSpPr>
          <p:cNvPr id="12" name="Псевдометки остаются предсказаниями модели.">
            <a:extLst xmlns:a="http://schemas.openxmlformats.org/drawingml/2006/main">
              <a:ext uri="{FF2B5EF4-FFF2-40B4-BE49-F238E27FC236}">
                <a16:creationId xmlns:a16="http://schemas.microsoft.com/office/drawing/2014/main" id="{E5EEFA26-A836-4D17-B606-DFD02F50011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остаются предсказаниями модели.</a:t>
            </a:r>
          </a:p>
        </p:txBody>
      </p:sp>
    </p:spTree>
    <p:extLst>
      <p:ext uri="{BB962C8B-B14F-4D97-AF65-F5344CB8AC3E}">
        <p14:creationId xmlns:p14="http://schemas.microsoft.com/office/powerpoint/2010/main" val="36080628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Согласие судьи с ручной разметкой">
            <a:extLst xmlns:a="http://schemas.openxmlformats.org/drawingml/2006/main">
              <a:ext uri="{FF2B5EF4-FFF2-40B4-BE49-F238E27FC236}">
                <a16:creationId xmlns:a16="http://schemas.microsoft.com/office/drawing/2014/main" id="{91AE5F0E-201B-432D-9D85-E8354F5F328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Согласие судьи с ручной разметкой</a:t>
            </a:r>
          </a:p>
        </p:txBody>
      </p:sp>
      <p:sp>
        <p:nvSpPr>
          <p:cNvPr id="2" name="10">
            <a:extLst xmlns:a="http://schemas.openxmlformats.org/drawingml/2006/main">
              <a:ext uri="{FF2B5EF4-FFF2-40B4-BE49-F238E27FC236}">
                <a16:creationId xmlns:a16="http://schemas.microsoft.com/office/drawing/2014/main" id="{B0AD9B9A-DFEE-4C8F-B7F9-0CFA820FE76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Тест: 177 отложенных запросов, 5 002 пары из руч">
            <a:extLst xmlns:a="http://schemas.openxmlformats.org/drawingml/2006/main">
              <a:ext uri="{FF2B5EF4-FFF2-40B4-BE49-F238E27FC236}">
                <a16:creationId xmlns:a16="http://schemas.microsoft.com/office/drawing/2014/main" id="{9042F927-B8D5-4B44-B3A6-50ED190B368F}"/>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 177 отложенных запросов, 5 002 пары из ручных пулов</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844053ccd91f412b"/>
          </a:graphicData>
        </a:graphic>
      </p:graphicFrame>
      <p:sp>
        <p:nvSpPr>
          <p:cNvPr id="5" name="0,907">
            <a:extLst xmlns:a="http://schemas.openxmlformats.org/drawingml/2006/main">
              <a:ext uri="{FF2B5EF4-FFF2-40B4-BE49-F238E27FC236}">
                <a16:creationId xmlns:a16="http://schemas.microsoft.com/office/drawing/2014/main" id="{D609A069-22B6-45C0-9AC3-4FF25D06A9E2}"/>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CB736417-86A8-4067-B9D2-41DE95789CF6}"/>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FD18F278-C87E-4D99-BB55-FF9A4E0700C5}"/>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1DFC7CC4-AFEE-491F-B1BB-531DBBFA3A07}"/>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при выбранном</a:t>
            </a:r>
          </a:p>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пороге</a:t>
            </a:r>
          </a:p>
        </p:txBody>
      </p:sp>
      <p:sp>
        <p:nvSpPr>
          <p:cNvPr id="9" name="Точка: порог, выбранный на валидационных запроса">
            <a:extLst xmlns:a="http://schemas.openxmlformats.org/drawingml/2006/main">
              <a:ext uri="{FF2B5EF4-FFF2-40B4-BE49-F238E27FC236}">
                <a16:creationId xmlns:a16="http://schemas.microsoft.com/office/drawing/2014/main" id="{C2A3BF9E-2D7E-4DCA-B4D5-AF30022F1DBA}"/>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Точка: порог, выбранный на валидационных запросах</a:t>
            </a:r>
          </a:p>
        </p:txBody>
      </p:sp>
      <p:sp>
        <p:nvSpPr>
          <p:cNvPr id="10" name="Для глубоких пулов нет независимой ручной провер">
            <a:extLst xmlns:a="http://schemas.openxmlformats.org/drawingml/2006/main">
              <a:ext uri="{FF2B5EF4-FFF2-40B4-BE49-F238E27FC236}">
                <a16:creationId xmlns:a16="http://schemas.microsoft.com/office/drawing/2014/main" id="{CF57EB44-E413-4E54-8664-3AB5C45CF7C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875" b="1">
                <a:solidFill>
                  <a:srgbClr val="182B30"/>
                </a:solidFill>
                <a:latin typeface="Arial"/>
                <a:ea typeface="Arial"/>
                <a:cs typeface="Arial"/>
              </a:rPr>
              <a:t>Для глубоких пулов нет независимой ручной проверки.</a:t>
            </a:r>
          </a:p>
        </p:txBody>
      </p:sp>
    </p:spTree>
    <p:extLst>
      <p:ext uri="{BB962C8B-B14F-4D97-AF65-F5344CB8AC3E}">
        <p14:creationId xmlns:p14="http://schemas.microsoft.com/office/powerpoint/2010/main" val="3879658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Размер пула и предсказанная релевантность">
            <a:extLst xmlns:a="http://schemas.openxmlformats.org/drawingml/2006/main">
              <a:ext uri="{FF2B5EF4-FFF2-40B4-BE49-F238E27FC236}">
                <a16:creationId xmlns:a16="http://schemas.microsoft.com/office/drawing/2014/main" id="{C455C868-F2F3-4957-A6F4-0C5264002E18}"/>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Размер пула и предсказанная релевантность</a:t>
            </a:r>
          </a:p>
        </p:txBody>
      </p:sp>
      <p:sp>
        <p:nvSpPr>
          <p:cNvPr id="2" name="11">
            <a:extLst xmlns:a="http://schemas.openxmlformats.org/drawingml/2006/main">
              <a:ext uri="{FF2B5EF4-FFF2-40B4-BE49-F238E27FC236}">
                <a16:creationId xmlns:a16="http://schemas.microsoft.com/office/drawing/2014/main" id="{78598B3E-D80F-499A-B0C4-6E304FFF437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K: число результатов каждой модели для оценочног">
            <a:extLst xmlns:a="http://schemas.openxmlformats.org/drawingml/2006/main">
              <a:ext uri="{FF2B5EF4-FFF2-40B4-BE49-F238E27FC236}">
                <a16:creationId xmlns:a16="http://schemas.microsoft.com/office/drawing/2014/main" id="{E0E9E0F1-9EE7-413A-A5B5-031516151B0B}"/>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число результатов каждой модели для оценочного пула</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51415D26-0F44-457D-8163-AEEA791D86DF}"/>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ebd804f6f84f40aa"/>
          </a:graphicData>
        </a:graphic>
      </p:graphicFrame>
      <p:sp>
        <p:nvSpPr>
          <p:cNvPr id="6" name="451,5">
            <a:extLst xmlns:a="http://schemas.openxmlformats.org/drawingml/2006/main">
              <a:ext uri="{FF2B5EF4-FFF2-40B4-BE49-F238E27FC236}">
                <a16:creationId xmlns:a16="http://schemas.microsoft.com/office/drawing/2014/main" id="{96D6F927-3939-4335-991E-B65CAC387627}"/>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8C9050D0-5434-40B3-8DBB-D8ED964C3687}"/>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8A09CABC-B85B-4D1B-92FD-F63F6AA3E62C}"/>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4718A07C-8E0D-4B57-94E0-0C883610EC22}"/>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по судье</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EF4AF13C-4075-4A33-AB6F-7CDE0F2A94B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3167324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Меняются пул и входные списки RRF">
            <a:extLst xmlns:a="http://schemas.openxmlformats.org/drawingml/2006/main">
              <a:ext uri="{FF2B5EF4-FFF2-40B4-BE49-F238E27FC236}">
                <a16:creationId xmlns:a16="http://schemas.microsoft.com/office/drawing/2014/main" id="{A649FAD2-0A4D-43D3-9E07-083A9E66B95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Меняются пул и входные списки RRF</a:t>
            </a:r>
          </a:p>
        </p:txBody>
      </p:sp>
      <p:sp>
        <p:nvSpPr>
          <p:cNvPr id="2" name="12">
            <a:extLst xmlns:a="http://schemas.openxmlformats.org/drawingml/2006/main">
              <a:ext uri="{FF2B5EF4-FFF2-40B4-BE49-F238E27FC236}">
                <a16:creationId xmlns:a16="http://schemas.microsoft.com/office/drawing/2014/main" id="{75292B7D-DD7F-4711-8811-95C01F7F692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1575DE7C-E89A-4CD2-9645-7FC1AF9FA2A8}"/>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Обе глубины меняются одновременно: L = K">
            <a:extLst xmlns:a="http://schemas.openxmlformats.org/drawingml/2006/main">
              <a:ext uri="{FF2B5EF4-FFF2-40B4-BE49-F238E27FC236}">
                <a16:creationId xmlns:a16="http://schemas.microsoft.com/office/drawing/2014/main" id="{78742252-A3B0-49E0-A036-61D3688E36C7}"/>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95236"/>
                </a:solidFill>
                <a:latin typeface="Arial"/>
                <a:ea typeface="Arial"/>
                <a:cs typeface="Arial"/>
              </a:defRPr>
            </a:pPr>
            <a:r>
              <a:rPr sz="2175" b="1">
                <a:solidFill>
                  <a:srgbClr val="C95236"/>
                </a:solidFill>
                <a:latin typeface="Arial"/>
                <a:ea typeface="Arial"/>
                <a:cs typeface="Arial"/>
              </a:rPr>
              <a:t>Обе глубины меняются одновременно: L = K</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fdf911735eaa494b"/>
          </a:graphicData>
        </a:graphic>
      </p:graphicFrame>
      <p:sp>
        <p:nvSpPr>
          <p:cNvPr id="6" name="При K = 200 разность NDCG@10 составляет +0,0088">
            <a:extLst xmlns:a="http://schemas.openxmlformats.org/drawingml/2006/main">
              <a:ext uri="{FF2B5EF4-FFF2-40B4-BE49-F238E27FC236}">
                <a16:creationId xmlns:a16="http://schemas.microsoft.com/office/drawing/2014/main" id="{17A6A8B7-B3CF-42A7-B59B-E38F298709FA}"/>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При K = 200 разность NDCG@10 составляет +0,0088</a:t>
            </a:r>
          </a:p>
        </p:txBody>
      </p:sp>
      <p:sp>
        <p:nvSpPr>
          <p:cNvPr id="7" name="Один судья. 95%-ный парный ДИ [0,0082; 0,0095].&#10;">
            <a:extLst xmlns:a="http://schemas.openxmlformats.org/drawingml/2006/main">
              <a:ext uri="{FF2B5EF4-FFF2-40B4-BE49-F238E27FC236}">
                <a16:creationId xmlns:a16="http://schemas.microsoft.com/office/drawing/2014/main" id="{1B66ED6F-573C-49DA-8081-829286359296}"/>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Один судья. 95%-ный парный ДИ [0,0082; 0,0095].</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Бутстрэп по запросам не учитывает неопределённость судьи.</a:t>
            </a:r>
          </a:p>
        </p:txBody>
      </p:sp>
    </p:spTree>
    <p:extLst>
      <p:ext uri="{BB962C8B-B14F-4D97-AF65-F5344CB8AC3E}">
        <p14:creationId xmlns:p14="http://schemas.microsoft.com/office/powerpoint/2010/main" val="15318309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Покрытие разметкой меняет сравнение">
            <a:extLst xmlns:a="http://schemas.openxmlformats.org/drawingml/2006/main">
              <a:ext uri="{FF2B5EF4-FFF2-40B4-BE49-F238E27FC236}">
                <a16:creationId xmlns:a16="http://schemas.microsoft.com/office/drawing/2014/main" id="{893DC6B4-8608-4DD7-B6E8-3D10ACC2E6D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Покрытие разметкой меняет сравнение</a:t>
            </a:r>
          </a:p>
        </p:txBody>
      </p:sp>
      <p:sp>
        <p:nvSpPr>
          <p:cNvPr id="2" name="13">
            <a:extLst xmlns:a="http://schemas.openxmlformats.org/drawingml/2006/main">
              <a:ext uri="{FF2B5EF4-FFF2-40B4-BE49-F238E27FC236}">
                <a16:creationId xmlns:a16="http://schemas.microsoft.com/office/drawing/2014/main" id="{25ED950A-71A0-49BD-9DD9-CDAA7E5E23D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13</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8D233C68-BA22-4150-B1DD-4948CD9BF1DC}"/>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Меняется только K. L = 200, обе выдачи зафиксиро">
            <a:extLst xmlns:a="http://schemas.openxmlformats.org/drawingml/2006/main">
              <a:ext uri="{FF2B5EF4-FFF2-40B4-BE49-F238E27FC236}">
                <a16:creationId xmlns:a16="http://schemas.microsoft.com/office/drawing/2014/main" id="{A803AB49-181C-45E5-B2EB-A609645252FC}"/>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Меняется только K. L = 200, обе выдачи зафиксированы.</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3400bf8777044912"/>
          </a:graphicData>
        </a:graphic>
      </p:graphicFrame>
      <p:sp>
        <p:nvSpPr>
          <p:cNvPr id="6" name="14,4%">
            <a:extLst xmlns:a="http://schemas.openxmlformats.org/drawingml/2006/main">
              <a:ext uri="{FF2B5EF4-FFF2-40B4-BE49-F238E27FC236}">
                <a16:creationId xmlns:a16="http://schemas.microsoft.com/office/drawing/2014/main" id="{A9582D6B-B9D1-4F70-A5A4-302326BDB6F7}"/>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BE80F4F9-C505-4D8C-94A5-43C1C7E4EF6F}"/>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пар из топ-10 RRF</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вне оценочного пула</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при K = 10</a:t>
            </a:r>
          </a:p>
        </p:txBody>
      </p:sp>
      <p:sp>
        <p:nvSpPr>
          <p:cNvPr id="8" name="145 643 пары&#10;«запрос–фрагмент»">
            <a:extLst xmlns:a="http://schemas.openxmlformats.org/drawingml/2006/main">
              <a:ext uri="{FF2B5EF4-FFF2-40B4-BE49-F238E27FC236}">
                <a16:creationId xmlns:a16="http://schemas.microsoft.com/office/drawing/2014/main" id="{83A123AE-1E5D-46B6-9406-C806F0168066}"/>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145 643 пары</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«запрос–фрагмент»</a:t>
            </a:r>
          </a:p>
        </p:txBody>
      </p:sp>
      <p:sp>
        <p:nvSpPr>
          <p:cNvPr id="9" name="K = 10: −0,0661">
            <a:extLst xmlns:a="http://schemas.openxmlformats.org/drawingml/2006/main">
              <a:ext uri="{FF2B5EF4-FFF2-40B4-BE49-F238E27FC236}">
                <a16:creationId xmlns:a16="http://schemas.microsoft.com/office/drawing/2014/main" id="{17FCF1BB-7E14-4A43-949A-1FA1EE242DD2}"/>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3B777154-EAE9-42A6-BE19-1EB05E481127}"/>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минус E5 по псевдометкам. Фрагменты без оцен">
            <a:extLst xmlns:a="http://schemas.openxmlformats.org/drawingml/2006/main">
              <a:ext uri="{FF2B5EF4-FFF2-40B4-BE49-F238E27FC236}">
                <a16:creationId xmlns:a16="http://schemas.microsoft.com/office/drawing/2014/main" id="{B3A6ED8C-8FF2-4B68-85FD-C3F9AF55778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RRF минус E5 по псевдометкам. Фрагменты без оценки дают нулевой вклад.</a:t>
            </a:r>
          </a:p>
        </p:txBody>
      </p:sp>
    </p:spTree>
    <p:extLst>
      <p:ext uri="{BB962C8B-B14F-4D97-AF65-F5344CB8AC3E}">
        <p14:creationId xmlns:p14="http://schemas.microsoft.com/office/powerpoint/2010/main" val="9123962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Устойчивость и ограничения">
            <a:extLst xmlns:a="http://schemas.openxmlformats.org/drawingml/2006/main">
              <a:ext uri="{FF2B5EF4-FFF2-40B4-BE49-F238E27FC236}">
                <a16:creationId xmlns:a16="http://schemas.microsoft.com/office/drawing/2014/main" id="{ED891985-AEA3-4505-AE91-B93BB800593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Устойчивость и ограничения</a:t>
            </a:r>
          </a:p>
        </p:txBody>
      </p:sp>
      <p:sp>
        <p:nvSpPr>
          <p:cNvPr id="2" name="14">
            <a:extLst xmlns:a="http://schemas.openxmlformats.org/drawingml/2006/main">
              <a:ext uri="{FF2B5EF4-FFF2-40B4-BE49-F238E27FC236}">
                <a16:creationId xmlns:a16="http://schemas.microsoft.com/office/drawing/2014/main" id="{FAD774E1-05AF-439C-B3C6-CB817BA38AB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14</a:t>
            </a:r>
          </a:p>
        </p:txBody>
      </p:sp>
      <p:sp>
        <p:nvSpPr>
          <p:cNvPr id="3" name="Сравнение после исключения части запросов">
            <a:extLst xmlns:a="http://schemas.openxmlformats.org/drawingml/2006/main">
              <a:ext uri="{FF2B5EF4-FFF2-40B4-BE49-F238E27FC236}">
                <a16:creationId xmlns:a16="http://schemas.microsoft.com/office/drawing/2014/main" id="{17A5C90D-B0D7-4AE0-AFF2-A360B61BEAC0}"/>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Сравнение после исключения части запросов</a:t>
            </a:r>
          </a: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Оценивание</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Запросов</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Результат</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Ручная разметка</a:t>
                      </a:r>
                    </a:p>
                    <a:p>
                      <a:r>
                        <a:rPr sz="1875" b="0">
                          <a:solidFill>
                            <a:srgbClr val="182B30"/>
                          </a:solidFill>
                          <a:latin typeface="Arial"/>
                          <a:ea typeface="Arial"/>
                          <a:cs typeface="Arial"/>
                        </a:rPr>
                        <a:t>Исключены 23 запроса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1 156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Порядок систем сохранён</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Псевдометки</a:t>
                      </a:r>
                    </a:p>
                    <a:p>
                      <a:r>
                        <a:rPr sz="1875" b="0">
                          <a:solidFill>
                            <a:srgbClr val="182B30"/>
                          </a:solidFill>
                          <a:latin typeface="Arial"/>
                          <a:ea typeface="Arial"/>
                          <a:cs typeface="Arial"/>
                        </a:rPr>
                        <a:t>Без ручных запросов</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99 914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Знаки разностей</a:t>
                      </a:r>
                    </a:p>
                    <a:p>
                      <a:r>
                        <a:rPr sz="1875" b="0">
                          <a:solidFill>
                            <a:srgbClr val="182B30"/>
                          </a:solidFill>
                          <a:latin typeface="Arial"/>
                          <a:ea typeface="Arial"/>
                          <a:cs typeface="Arial"/>
                        </a:rPr>
                        <a:t>RRF–E5 сохранены</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788E524-F7E7-4ED6-9EDA-036F133EB5A0}"/>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Ручные пулы: известный ответ, согласие экспертов">
            <a:extLst xmlns:a="http://schemas.openxmlformats.org/drawingml/2006/main">
              <a:ext uri="{FF2B5EF4-FFF2-40B4-BE49-F238E27FC236}">
                <a16:creationId xmlns:a16="http://schemas.microsoft.com/office/drawing/2014/main" id="{855EF571-426E-4635-B0A8-1BF73A0F96FD}"/>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Ручные пулы: известный ответ, согласие экспертов не измерено.</a:t>
            </a:r>
          </a:p>
        </p:txBody>
      </p:sp>
      <p:sp>
        <p:nvSpPr>
          <p:cNvPr id="7" name="Большие пулы: один судья, без независимой ручной">
            <a:extLst xmlns:a="http://schemas.openxmlformats.org/drawingml/2006/main">
              <a:ext uri="{FF2B5EF4-FFF2-40B4-BE49-F238E27FC236}">
                <a16:creationId xmlns:a16="http://schemas.microsoft.com/office/drawing/2014/main" id="{D23353FC-8C22-457C-A88D-23DDFD95D67E}"/>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Большие пулы: один судья, без независимой ручной проверки.</a:t>
            </a:r>
          </a:p>
        </p:txBody>
      </p:sp>
      <p:sp>
        <p:nvSpPr>
          <p:cNvPr id="8" name="Перенос за пределы выбранных пулов английского M">
            <a:extLst xmlns:a="http://schemas.openxmlformats.org/drawingml/2006/main">
              <a:ext uri="{FF2B5EF4-FFF2-40B4-BE49-F238E27FC236}">
                <a16:creationId xmlns:a16="http://schemas.microsoft.com/office/drawing/2014/main" id="{1C7B951B-135F-4F65-9E3D-38B3C826B54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Перенос за пределы выбранных пулов английского MS MARCO не проверен.</a:t>
            </a:r>
          </a:p>
        </p:txBody>
      </p:sp>
    </p:spTree>
    <p:extLst>
      <p:ext uri="{BB962C8B-B14F-4D97-AF65-F5344CB8AC3E}">
        <p14:creationId xmlns:p14="http://schemas.microsoft.com/office/powerpoint/2010/main" val="1393510011"/>
      </p:ext>
    </p:extLst>
  </p:cSld>
</p:sld>
</file>

<file path=ppt/slides/slide15.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Полнота разметки влияет на оценку поиска">
            <a:extLst xmlns:a="http://schemas.openxmlformats.org/drawingml/2006/main">
              <a:ext uri="{FF2B5EF4-FFF2-40B4-BE49-F238E27FC236}">
                <a16:creationId xmlns:a16="http://schemas.microsoft.com/office/drawing/2014/main" id="{5E6830FA-6B24-4FC5-B4B8-1E33AC381AA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Полнота разметки влияет на оценку поиска</a:t>
            </a:r>
          </a:p>
        </p:txBody>
      </p:sp>
      <p:sp>
        <p:nvSpPr>
          <p:cNvPr id="2" name="15">
            <a:extLst xmlns:a="http://schemas.openxmlformats.org/drawingml/2006/main">
              <a:ext uri="{FF2B5EF4-FFF2-40B4-BE49-F238E27FC236}">
                <a16:creationId xmlns:a16="http://schemas.microsoft.com/office/drawing/2014/main" id="{0EA51AD1-5EF4-4C59-8B10-AFC1683CD8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15</a:t>
            </a:r>
          </a:p>
        </p:txBody>
      </p:sp>
      <p:sp>
        <p:nvSpPr>
          <p:cNvPr id="3" name="Оценки человека">
            <a:extLst xmlns:a="http://schemas.openxmlformats.org/drawingml/2006/main">
              <a:ext uri="{FF2B5EF4-FFF2-40B4-BE49-F238E27FC236}">
                <a16:creationId xmlns:a16="http://schemas.microsoft.com/office/drawing/2014/main" id="{824567DE-3DC6-409F-91CE-43F54635805E}"/>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Оценки человека</a:t>
            </a:r>
          </a:p>
        </p:txBody>
      </p:sp>
      <p:sp>
        <p:nvSpPr>
          <p:cNvPr id="4" name="E5 NDCG@10: с 0,488 до 0,879">
            <a:extLst xmlns:a="http://schemas.openxmlformats.org/drawingml/2006/main">
              <a:ext uri="{FF2B5EF4-FFF2-40B4-BE49-F238E27FC236}">
                <a16:creationId xmlns:a16="http://schemas.microsoft.com/office/drawing/2014/main" id="{1318D601-01BA-4BC1-925B-84BB893A453B}"/>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с 0,488 до 0,879</a:t>
            </a:r>
          </a:p>
        </p:txBody>
      </p:sp>
      <p:sp>
        <p:nvSpPr>
          <p:cNvPr id="5" name="Та же выдача, более полная разметка">
            <a:extLst xmlns:a="http://schemas.openxmlformats.org/drawingml/2006/main">
              <a:ext uri="{FF2B5EF4-FFF2-40B4-BE49-F238E27FC236}">
                <a16:creationId xmlns:a16="http://schemas.microsoft.com/office/drawing/2014/main" id="{F253C9CE-8A3A-4965-A712-FA468C91C31B}"/>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Та же выдача, более полная разметка</a:t>
            </a:r>
          </a:p>
        </p:txBody>
      </p:sp>
      <p:sp>
        <p:nvSpPr>
          <p:cNvPr id="6" name="">
            <a:extLst xmlns:a="http://schemas.openxmlformats.org/drawingml/2006/main">
              <a:ext uri="{FF2B5EF4-FFF2-40B4-BE49-F238E27FC236}">
                <a16:creationId xmlns:a16="http://schemas.microsoft.com/office/drawing/2014/main" id="{89E06602-392C-4B92-9D8A-29BBBEC2FC4A}"/>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Фиксированные выдачи, один судья">
            <a:extLst xmlns:a="http://schemas.openxmlformats.org/drawingml/2006/main">
              <a:ext uri="{FF2B5EF4-FFF2-40B4-BE49-F238E27FC236}">
                <a16:creationId xmlns:a16="http://schemas.microsoft.com/office/drawing/2014/main" id="{3F7ABDF7-8C0D-47F5-B05A-ACE52D31CF60}"/>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Фиксированные выдачи, один судья</a:t>
            </a:r>
          </a:p>
        </p:txBody>
      </p:sp>
      <p:sp>
        <p:nvSpPr>
          <p:cNvPr id="8" name="Расширение пула может изменить порядок RRF и E5">
            <a:extLst xmlns:a="http://schemas.openxmlformats.org/drawingml/2006/main">
              <a:ext uri="{FF2B5EF4-FFF2-40B4-BE49-F238E27FC236}">
                <a16:creationId xmlns:a16="http://schemas.microsoft.com/office/drawing/2014/main" id="{CE0F19DB-D496-41FD-BDFF-9FE31E3C40D4}"/>
              </a:ext>
            </a:extLst>
          </p:cNvPr>
          <p:cNvSpPr>
            <a:spLocks xmlns:a="http://schemas.openxmlformats.org/drawingml/2006/main" noGrp="1"/>
          </p:cNvSpPr>
          <p:nvPr/>
        </p:nvSpPr>
        <p:spPr>
          <a:xfrm xmlns:a="http://schemas.openxmlformats.org/drawingml/2006/main">
            <a:off x="609600" y="44958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Расширение пула может изменить порядок RRF и E5</a:t>
            </a:r>
          </a:p>
        </p:txBody>
      </p:sp>
      <p:sp>
        <p:nvSpPr>
          <p:cNvPr id="9" name="">
            <a:extLst xmlns:a="http://schemas.openxmlformats.org/drawingml/2006/main">
              <a:ext uri="{FF2B5EF4-FFF2-40B4-BE49-F238E27FC236}">
                <a16:creationId xmlns:a16="http://schemas.microsoft.com/office/drawing/2014/main" id="{FFBB8109-9405-409B-B231-D129FD718FE5}"/>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Далее: более сильные судьи с эталонным ответом и">
            <a:extLst xmlns:a="http://schemas.openxmlformats.org/drawingml/2006/main">
              <a:ext uri="{FF2B5EF4-FFF2-40B4-BE49-F238E27FC236}">
                <a16:creationId xmlns:a16="http://schemas.microsoft.com/office/drawing/2014/main" id="{35AA4F24-D638-4451-9E6A-83C26E37B82F}"/>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Далее: более сильные судьи с эталонным ответом и без него.</a:t>
            </a:r>
          </a:p>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Проверка по независимым человеческим оценкам.</a:t>
            </a:r>
          </a:p>
        </p:txBody>
      </p:sp>
      <p:sp>
        <p:nvSpPr>
          <p:cNvPr id="11" name="Результаты для выбранных пулов английского MS MA">
            <a:extLst xmlns:a="http://schemas.openxmlformats.org/drawingml/2006/main">
              <a:ext uri="{FF2B5EF4-FFF2-40B4-BE49-F238E27FC236}">
                <a16:creationId xmlns:a16="http://schemas.microsoft.com/office/drawing/2014/main" id="{C2512A4B-93FA-4003-AF07-347F969F8FC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Результаты для выбранных пулов английского MS MARCO.</a:t>
            </a:r>
          </a:p>
        </p:txBody>
      </p:sp>
    </p:spTree>
    <p:extLst>
      <p:ext uri="{BB962C8B-B14F-4D97-AF65-F5344CB8AC3E}">
        <p14:creationId xmlns:p14="http://schemas.microsoft.com/office/powerpoint/2010/main" val="62237785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64FE41A2-C4AF-474F-9FCD-6E005D0E749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F2A4A689-EBF7-4448-B9DA-188EB09E151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1</a:t>
            </a:r>
          </a:p>
        </p:txBody>
      </p:sp>
      <p:sp>
        <p:nvSpPr>
          <p:cNvPr id="3" name="NDCG@10 = DCG@10 / идеальный DCG@10">
            <a:extLst xmlns:a="http://schemas.openxmlformats.org/drawingml/2006/main">
              <a:ext uri="{FF2B5EF4-FFF2-40B4-BE49-F238E27FC236}">
                <a16:creationId xmlns:a16="http://schemas.microsoft.com/office/drawing/2014/main" id="{3BF60AEC-1E9C-4DBE-8080-352F9360DD8D}"/>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идеальный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После − до</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95%-ный парный ДИ</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 000 парных бутстрэп-выборок по запросам. Для в">
            <a:extLst xmlns:a="http://schemas.openxmlformats.org/drawingml/2006/main">
              <a:ext uri="{FF2B5EF4-FFF2-40B4-BE49-F238E27FC236}">
                <a16:creationId xmlns:a16="http://schemas.microsoft.com/office/drawing/2014/main" id="{76F32C76-7D7A-4648-9125-EF0A8A2087D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5 000 парных бутстрэп-выборок по запросам. Для всех четырёх эффектов p &lt; 0,001.</a:t>
            </a:r>
          </a:p>
        </p:txBody>
      </p:sp>
    </p:spTree>
    <p:extLst>
      <p:ext uri="{BB962C8B-B14F-4D97-AF65-F5344CB8AC3E}">
        <p14:creationId xmlns:p14="http://schemas.microsoft.com/office/powerpoint/2010/main" val="1934150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A3FB63F2-E26E-413E-8184-A81F9BEEC75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6B14EBB8-D421-4371-8104-CD6B661AA88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2</a:t>
            </a:r>
          </a:p>
        </p:txBody>
      </p:sp>
      <p:sp>
        <p:nvSpPr>
          <p:cNvPr id="3" name="Обучение">
            <a:extLst xmlns:a="http://schemas.openxmlformats.org/drawingml/2006/main">
              <a:ext uri="{FF2B5EF4-FFF2-40B4-BE49-F238E27FC236}">
                <a16:creationId xmlns:a16="http://schemas.microsoft.com/office/drawing/2014/main" id="{B0074F6B-BF66-498C-B1D7-2C91D75F8F28}"/>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8E61C322-1DEF-41B8-9C56-18BB35F7EED8}"/>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ECB98A03-7A65-4522-BDE0-ED9F853CAA94}"/>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5356EB37-426F-4574-B034-2B55A21C3FBA}"/>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209C21D2-231E-447C-80B4-DFFC8C8951CB}"/>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930BE2EA-BC06-4989-8BAF-11F1871EDEE4}"/>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Метка в тесте</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нет</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да</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Отрицательная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1 300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Положительная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2 882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51871FC4-4325-4F0A-BB63-2F4555F3CFE6}"/>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CBCF0C21-0199-4E9E-9FD9-4ABD228C9B61}"/>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3EEF060C-A63C-407F-BEDE-CC7248B1450A}"/>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D147A019-82BB-4C5C-AA20-6594216524C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12826898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9878F464-4720-471F-A708-DF0DEB2B4613}"/>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6922032D-AECA-4ADA-9F40-A46B079DE07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3</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Кандидатов</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Релевантных</a:t>
                      </a:r>
                    </a:p>
                    <a:p>
                      <a:r>
                        <a:rPr sz="1650" b="1">
                          <a:solidFill>
                            <a:srgbClr val="526970"/>
                          </a:solidFill>
                          <a:latin typeface="Arial"/>
                          <a:ea typeface="Arial"/>
                          <a:cs typeface="Arial"/>
                        </a:rPr>
                        <a:t>по судье</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Псевдометки одного судьи. В каждом среднем учтен">
            <a:extLst xmlns:a="http://schemas.openxmlformats.org/drawingml/2006/main">
              <a:ext uri="{FF2B5EF4-FFF2-40B4-BE49-F238E27FC236}">
                <a16:creationId xmlns:a16="http://schemas.microsoft.com/office/drawing/2014/main" id="{824170C2-6150-4E0A-BEA0-1D0CAFC232C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одного судьи. В каждом среднем учтены все 101 093 запроса.</a:t>
            </a:r>
          </a:p>
        </p:txBody>
      </p:sp>
    </p:spTree>
    <p:extLst>
      <p:ext uri="{BB962C8B-B14F-4D97-AF65-F5344CB8AC3E}">
        <p14:creationId xmlns:p14="http://schemas.microsoft.com/office/powerpoint/2010/main" val="162162388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28FCC684-DC91-4AC3-9B9E-EE8BFD54C1F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Чувствительность к исключению запросов</a:t>
            </a:r>
          </a:p>
        </p:txBody>
      </p:sp>
      <p:sp>
        <p:nvSpPr>
          <p:cNvPr id="2" name="РЕЗЕРВ 4">
            <a:extLst xmlns:a="http://schemas.openxmlformats.org/drawingml/2006/main">
              <a:ext uri="{FF2B5EF4-FFF2-40B4-BE49-F238E27FC236}">
                <a16:creationId xmlns:a16="http://schemas.microsoft.com/office/drawing/2014/main" id="{40560BA3-F950-4501-86BB-6BBB20FBFCD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4</a:t>
            </a:r>
          </a:p>
        </p:txBody>
      </p:sp>
      <p:sp>
        <p:nvSpPr>
          <p:cNvPr id="3" name="NDCG@10 по ручным оценкам">
            <a:extLst xmlns:a="http://schemas.openxmlformats.org/drawingml/2006/main">
              <a:ext uri="{FF2B5EF4-FFF2-40B4-BE49-F238E27FC236}">
                <a16:creationId xmlns:a16="http://schemas.microsoft.com/office/drawing/2014/main" id="{5BC7CF8A-8A66-4D2B-BB84-31D65FD675C8}"/>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NDCG@10 по ручным оценкам</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Все 1 179 запросов</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1 156 после исключения</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58E8A587-3CA8-40FD-AF5E-3E8C552C0C17}"/>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Большой набор без ручных запросов: N = 99 914</a:t>
            </a:r>
          </a:p>
        </p:txBody>
      </p:sp>
      <p:sp>
        <p:nvSpPr>
          <p:cNvPr id="6" name="При K = 200: RRF − E5 = +0,00877">
            <a:extLst xmlns:a="http://schemas.openxmlformats.org/drawingml/2006/main">
              <a:ext uri="{FF2B5EF4-FFF2-40B4-BE49-F238E27FC236}">
                <a16:creationId xmlns:a16="http://schemas.microsoft.com/office/drawing/2014/main" id="{9CF32D85-4613-482F-8B19-0DEEF1AB81FA}"/>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При K = 200: RRF − E5 = +0,00877</a:t>
            </a:r>
          </a: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CDBB4910-106E-4D8F-B12B-42CCE277D5C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Проверки исключением не заменяют независимую ручную оценку.</a:t>
            </a:r>
          </a:p>
        </p:txBody>
      </p:sp>
    </p:spTree>
    <p:extLst>
      <p:ext uri="{BB962C8B-B14F-4D97-AF65-F5344CB8AC3E}">
        <p14:creationId xmlns:p14="http://schemas.microsoft.com/office/powerpoint/2010/main" val="68603700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Следующий шаг: судья с эталонным ответом">
            <a:extLst xmlns:a="http://schemas.openxmlformats.org/drawingml/2006/main">
              <a:ext uri="{FF2B5EF4-FFF2-40B4-BE49-F238E27FC236}">
                <a16:creationId xmlns:a16="http://schemas.microsoft.com/office/drawing/2014/main" id="{8BB88DBE-1FA1-4812-A58B-00395E190D0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Следующий шаг: судья с эталонным ответом</a:t>
            </a:r>
          </a:p>
        </p:txBody>
      </p:sp>
      <p:sp>
        <p:nvSpPr>
          <p:cNvPr id="2" name="РЕЗЕРВ 5">
            <a:extLst xmlns:a="http://schemas.openxmlformats.org/drawingml/2006/main">
              <a:ext uri="{FF2B5EF4-FFF2-40B4-BE49-F238E27FC236}">
                <a16:creationId xmlns:a16="http://schemas.microsoft.com/office/drawing/2014/main" id="{1C286169-48C8-4BF7-B807-41C16EF962B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5</a:t>
            </a:r>
          </a:p>
        </p:txBody>
      </p:sp>
      <p:sp>
        <p:nvSpPr>
          <p:cNvPr id="3" name="Предлагаемый вход">
            <a:extLst xmlns:a="http://schemas.openxmlformats.org/drawingml/2006/main">
              <a:ext uri="{FF2B5EF4-FFF2-40B4-BE49-F238E27FC236}">
                <a16:creationId xmlns:a16="http://schemas.microsoft.com/office/drawing/2014/main" id="{E3C7D543-2F1E-43A6-BC62-EBAB217B6D65}"/>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Предлагаемый вход</a:t>
            </a:r>
          </a:p>
        </p:txBody>
      </p:sp>
      <p:sp>
        <p:nvSpPr>
          <p:cNvPr id="4" name="Запрос&#10;Известный релевантный ответ&#10;Фрагмент-кандидат">
            <a:extLst xmlns:a="http://schemas.openxmlformats.org/drawingml/2006/main">
              <a:ext uri="{FF2B5EF4-FFF2-40B4-BE49-F238E27FC236}">
                <a16:creationId xmlns:a16="http://schemas.microsoft.com/office/drawing/2014/main" id="{90118D05-C33A-416F-8B29-520EE248E66E}"/>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Запрос</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Известный релевантный ответ</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Фрагмент-кандидат</a:t>
            </a:r>
          </a:p>
        </p:txBody>
      </p:sp>
      <p:sp>
        <p:nvSpPr>
          <p:cNvPr id="5" name="Кросс-энкодер&#10;с эталонным ответом">
            <a:extLst xmlns:a="http://schemas.openxmlformats.org/drawingml/2006/main">
              <a:ext uri="{FF2B5EF4-FFF2-40B4-BE49-F238E27FC236}">
                <a16:creationId xmlns:a16="http://schemas.microsoft.com/office/drawing/2014/main" id="{30F17433-3B9E-4FAE-A8FA-52B6AA615CC4}"/>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Кросс-энкодер</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с эталонным ответом</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Сравнение более сильных судей&#10;по независимым чел">
            <a:extLst xmlns:a="http://schemas.openxmlformats.org/drawingml/2006/main">
              <a:ext uri="{FF2B5EF4-FFF2-40B4-BE49-F238E27FC236}">
                <a16:creationId xmlns:a16="http://schemas.microsoft.com/office/drawing/2014/main" id="{A105146A-D8EA-4210-99A3-4C12DEC0F712}"/>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Сравнение более сильных судей</a:t>
            </a:r>
          </a:p>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по независимым человеческим оценкам</a:t>
            </a:r>
          </a:p>
        </p:txBody>
      </p:sp>
      <p:sp>
        <p:nvSpPr>
          <p:cNvPr id="8" name="Запланированный эксперимент. Результаты для тако">
            <a:extLst xmlns:a="http://schemas.openxmlformats.org/drawingml/2006/main">
              <a:ext uri="{FF2B5EF4-FFF2-40B4-BE49-F238E27FC236}">
                <a16:creationId xmlns:a16="http://schemas.microsoft.com/office/drawing/2014/main" id="{E0AF8946-8C97-46ED-8055-EDF230D8EF7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Запланированный эксперимент. Результаты для такого судьи пока не получены.</a:t>
            </a:r>
          </a:p>
        </p:txBody>
      </p:sp>
    </p:spTree>
    <p:extLst>
      <p:ext uri="{BB962C8B-B14F-4D97-AF65-F5344CB8AC3E}">
        <p14:creationId xmlns:p14="http://schemas.microsoft.com/office/powerpoint/2010/main" val="15179722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Доклад на конференции DAMDID 2026</dc:subject>
  <dc:language>ru-RU</dc:language>
</coreProperties>
</file>