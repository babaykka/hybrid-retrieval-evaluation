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ff8a664af517489a"/><Relationship Type="http://schemas.openxmlformats.org/officeDocument/2006/relationships/extended-properties" Target="/docProps/app.xml" Id="Re82a31e24acf4cb5"/><Relationship Type="http://schemas.openxmlformats.org/officeDocument/2006/relationships/officeDocument" Target="/ppt/presentation.xml" Id="R6b4791760ef24c6b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a3cdc899d340a7"/>
  </p:sldMasterIdLst>
  <p:notesMasterIdLst>
    <p:notesMasterId xmlns:r="http://schemas.openxmlformats.org/officeDocument/2006/relationships" r:id="Rde98015c7f39475d"/>
  </p:notesMasterIdLst>
  <p:sldIdLst>
    <p:sldId xmlns:r="http://schemas.openxmlformats.org/officeDocument/2006/relationships" id="256" r:id="R1949447d95004933"/>
    <p:sldId xmlns:r="http://schemas.openxmlformats.org/officeDocument/2006/relationships" id="257" r:id="R0a6d97cdfa174f1c"/>
    <p:sldId xmlns:r="http://schemas.openxmlformats.org/officeDocument/2006/relationships" id="258" r:id="R6050484ccd4a4267"/>
    <p:sldId xmlns:r="http://schemas.openxmlformats.org/officeDocument/2006/relationships" id="259" r:id="R3a680d40fa384fe3"/>
    <p:sldId xmlns:r="http://schemas.openxmlformats.org/officeDocument/2006/relationships" id="260" r:id="R1a47c7393e0647de"/>
    <p:sldId xmlns:r="http://schemas.openxmlformats.org/officeDocument/2006/relationships" id="261" r:id="R51306f35e8384a96"/>
    <p:sldId xmlns:r="http://schemas.openxmlformats.org/officeDocument/2006/relationships" id="262" r:id="Re5e182ac9bff44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348ef927c21147d5"/><Relationship Type="http://schemas.openxmlformats.org/officeDocument/2006/relationships/slideMaster" Target="/ppt/slideMasters/slideMaster1.xml" Id="R07a3cdc899d340a7"/><Relationship Type="http://schemas.openxmlformats.org/officeDocument/2006/relationships/notesMaster" Target="/ppt/notesMasters/notesMaster1.xml" Id="Rde98015c7f39475d"/><Relationship Type="http://schemas.openxmlformats.org/officeDocument/2006/relationships/presProps" Target="/ppt/presProps.xml" Id="R15f031cb27af46b1"/><Relationship Type="http://schemas.openxmlformats.org/officeDocument/2006/relationships/tableStyles" Target="/ppt/tableStyles.xml" Id="Rf2b5ebfd2d574902"/><Relationship Type="http://schemas.openxmlformats.org/officeDocument/2006/relationships/slide" Target="/ppt/slides/slide1.xml" Id="R1949447d95004933"/><Relationship Type="http://schemas.openxmlformats.org/officeDocument/2006/relationships/slide" Target="/ppt/slides/slide2.xml" Id="R0a6d97cdfa174f1c"/><Relationship Type="http://schemas.openxmlformats.org/officeDocument/2006/relationships/slide" Target="/ppt/slides/slide3.xml" Id="R6050484ccd4a4267"/><Relationship Type="http://schemas.openxmlformats.org/officeDocument/2006/relationships/slide" Target="/ppt/slides/slide4.xml" Id="R3a680d40fa384fe3"/><Relationship Type="http://schemas.openxmlformats.org/officeDocument/2006/relationships/slide" Target="/ppt/slides/slide5.xml" Id="R1a47c7393e0647de"/><Relationship Type="http://schemas.openxmlformats.org/officeDocument/2006/relationships/slide" Target="/ppt/slides/slide6.xml" Id="R51306f35e8384a96"/><Relationship Type="http://schemas.openxmlformats.org/officeDocument/2006/relationships/slide" Target="/ppt/slides/slide7.xml" Id="Re5e182ac9bff44c3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c680698de6d1484a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bcf8ae68c69448cd"/><Relationship Type="http://schemas.openxmlformats.org/officeDocument/2006/relationships/notesMaster" Target="/ppt/notesMasters/notesMaster1.xml" Id="R9832f74770cd4f13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6d645e0e92ff4e18"/><Relationship Type="http://schemas.openxmlformats.org/officeDocument/2006/relationships/notesMaster" Target="/ppt/notesMasters/notesMaster1.xml" Id="Rd22ba2af6c4e4e12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26de6397060a48ac"/><Relationship Type="http://schemas.openxmlformats.org/officeDocument/2006/relationships/notesMaster" Target="/ppt/notesMasters/notesMaster1.xml" Id="R5d772796117246f0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16654941d50e43b9"/><Relationship Type="http://schemas.openxmlformats.org/officeDocument/2006/relationships/notesMaster" Target="/ppt/notesMasters/notesMaster1.xml" Id="Rbdbe6b3ee5dd40ff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0ba6e1f520a4424f"/><Relationship Type="http://schemas.openxmlformats.org/officeDocument/2006/relationships/notesMaster" Target="/ppt/notesMasters/notesMaster1.xml" Id="R03a30ab7317540f6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680f24c5c73a427a"/><Relationship Type="http://schemas.openxmlformats.org/officeDocument/2006/relationships/notesMaster" Target="/ppt/notesMasters/notesMaster1.xml" Id="R55cc0806e7f74ff7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8ab5d1f55c194c38"/><Relationship Type="http://schemas.openxmlformats.org/officeDocument/2006/relationships/notesMaster" Target="/ppt/notesMasters/notesMaster1.xml" Id="Rfe3cb05654514f6d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330cdfa20c547e9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be1050a314d94ab0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c6dd8338379b4a8b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ae2bba8777e34a6b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c7a35bcaa9474452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c22f594d99049ba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20A65A-7F23-47FD-A2A1-2727DB6156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FA0E3E2-4134-4665-89A0-FD6C376C23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5F5AA43-694C-4398-87B7-F89C9084BD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B20DDF-843F-4BDF-AB02-B212367659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D23368-70EE-4414-95BD-CE843C191E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6D1836-AFDE-4AB6-88D8-9F3CCE7B2B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461441-9158-48EB-923B-D8589A65DF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015D3A-EAA4-41BD-B624-2A4B8D2401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8150AA-4066-4E67-A120-DFB127CBE8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D63693-701B-412E-8C57-21C38FD4E3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27572148d8a546f2"/><Relationship Type="http://schemas.openxmlformats.org/officeDocument/2006/relationships/slideLayout" Target="/ppt/slideLayouts/slideLayout1.xml" Id="Rdb0941edd1534c42"/><Relationship Type="http://schemas.openxmlformats.org/officeDocument/2006/relationships/slideLayout" Target="/ppt/slideLayouts/slideLayout2.xml" Id="R4718bc0860f94b8e"/><Relationship Type="http://schemas.openxmlformats.org/officeDocument/2006/relationships/slideLayout" Target="/ppt/slideLayouts/slideLayout3.xml" Id="R48c0b01f1714473f"/><Relationship Type="http://schemas.openxmlformats.org/officeDocument/2006/relationships/slideLayout" Target="/ppt/slideLayouts/slideLayout4.xml" Id="Ra83d8cd21f4b47f1"/><Relationship Type="http://schemas.openxmlformats.org/officeDocument/2006/relationships/slideLayout" Target="/ppt/slideLayouts/slideLayout5.xml" Id="Rc094160e23b24104"/><Relationship Type="http://schemas.openxmlformats.org/officeDocument/2006/relationships/slideLayout" Target="/ppt/slideLayouts/slideLayout6.xml" Id="Re036f7eba6c84f21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0941edd1534c42"/>
    <p:sldLayoutId xmlns:r="http://schemas.openxmlformats.org/officeDocument/2006/relationships" id="2147483650" r:id="R4718bc0860f94b8e"/>
    <p:sldLayoutId xmlns:r="http://schemas.openxmlformats.org/officeDocument/2006/relationships" id="2147483651" r:id="R48c0b01f1714473f"/>
    <p:sldLayoutId xmlns:r="http://schemas.openxmlformats.org/officeDocument/2006/relationships" id="2147483652" r:id="Ra83d8cd21f4b47f1"/>
    <p:sldLayoutId xmlns:r="http://schemas.openxmlformats.org/officeDocument/2006/relationships" id="2147483653" r:id="Rc094160e23b24104"/>
    <p:sldLayoutId xmlns:r="http://schemas.openxmlformats.org/officeDocument/2006/relationships" id="2147483654" r:id="Re036f7eba6c84f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f1d6f82b89240de"/><Relationship Type="http://schemas.openxmlformats.org/officeDocument/2006/relationships/notesSlide" Target="/ppt/notesSlides/notesSlide1.xml" Id="Ra9c5d5a908c84a18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bdb5b3fa507415a"/><Relationship Type="http://schemas.openxmlformats.org/officeDocument/2006/relationships/notesSlide" Target="/ppt/notesSlides/notesSlide2.xml" Id="R8ad4f31405424ab5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6cfdb7376694c5c"/><Relationship Type="http://schemas.openxmlformats.org/officeDocument/2006/relationships/notesSlide" Target="/ppt/notesSlides/notesSlide3.xml" Id="R0351b5f1ad2f4ca7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e58e01ef96242bc"/><Relationship Type="http://schemas.openxmlformats.org/officeDocument/2006/relationships/notesSlide" Target="/ppt/notesSlides/notesSlide4.xml" Id="R56a45a9935e64947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a36f4d33a3140f7"/><Relationship Type="http://schemas.openxmlformats.org/officeDocument/2006/relationships/notesSlide" Target="/ppt/notesSlides/notesSlide5.xml" Id="R3178c2bd6c2b4bb6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0ed4de0211b420f"/><Relationship Type="http://schemas.openxmlformats.org/officeDocument/2006/relationships/notesSlide" Target="/ppt/notesSlides/notesSlide6.xml" Id="R5e15858f4919455d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da9ddb75c6c44c2"/><Relationship Type="http://schemas.openxmlformats.org/officeDocument/2006/relationships/notesSlide" Target="/ppt/notesSlides/notesSlide7.xml" Id="R85927c65adc6441c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Данные для ручной доразметки">
            <a:extLst xmlns:a="http://schemas.openxmlformats.org/drawingml/2006/main">
              <a:ext uri="{FF2B5EF4-FFF2-40B4-BE49-F238E27FC236}">
                <a16:creationId xmlns:a16="http://schemas.microsoft.com/office/drawing/2014/main" id="{A34BA3CC-C0E2-4636-87E7-42AF23E2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Данные для ручной доразметки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2353822A-C676-4110-936E-E30726F7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865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MS MARCO Passage Ranking: 8 841 823 англоязычных фрагмента">
            <a:extLst xmlns:a="http://schemas.openxmlformats.org/drawingml/2006/main">
              <a:ext uri="{FF2B5EF4-FFF2-40B4-BE49-F238E27FC236}">
                <a16:creationId xmlns:a16="http://schemas.microsoft.com/office/drawing/2014/main" id="{C4E448FC-7633-44A8-ACC7-B8922870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MS MARCO Passage Ranking: 8 841 823 англоязычных фрагмента</a:t>
            </a:r>
          </a:p>
        </p:txBody>
      </p:sp>
      <p:sp>
        <p:nvSpPr>
          <p:cNvPr id="4" name="dev/small">
            <a:extLst xmlns:a="http://schemas.openxmlformats.org/drawingml/2006/main">
              <a:ext uri="{FF2B5EF4-FFF2-40B4-BE49-F238E27FC236}">
                <a16:creationId xmlns:a16="http://schemas.microsoft.com/office/drawing/2014/main" id="{2ED41703-E32F-4B8B-8DCC-4A841119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dev/small</a:t>
            </a:r>
          </a:p>
        </p:txBody>
      </p:sp>
      <p:sp>
        <p:nvSpPr>
          <p:cNvPr id="5" name="6 980">
            <a:extLst xmlns:a="http://schemas.openxmlformats.org/drawingml/2006/main">
              <a:ext uri="{FF2B5EF4-FFF2-40B4-BE49-F238E27FC236}">
                <a16:creationId xmlns:a16="http://schemas.microsoft.com/office/drawing/2014/main" id="{2DB9E5FA-2063-4D9D-8B35-5CB16277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4381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6 980</a:t>
            </a:r>
          </a:p>
        </p:txBody>
      </p:sp>
      <p:sp>
        <p:nvSpPr>
          <p:cNvPr id="6" name="запросов в стандартной&#10;оценочной подвыборке">
            <a:extLst xmlns:a="http://schemas.openxmlformats.org/drawingml/2006/main">
              <a:ext uri="{FF2B5EF4-FFF2-40B4-BE49-F238E27FC236}">
                <a16:creationId xmlns:a16="http://schemas.microsoft.com/office/drawing/2014/main" id="{0C2A625A-9F0D-46DA-B13E-5D29811B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0"/>
                </a:solidFill>
                <a:latin typeface="Arial"/>
                <a:ea typeface="Arial"/>
                <a:cs typeface="Arial"/>
              </a:rPr>
              <a:t>запросов в стандартной</a:t>
            </a:r>
          </a:p>
          <a:p xmlns:a="http://schemas.openxmlformats.org/drawingml/2006/main">
            <a:pPr algn="l">
              <a:defRPr sz="21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0"/>
                </a:solidFill>
                <a:latin typeface="Arial"/>
                <a:ea typeface="Arial"/>
                <a:cs typeface="Arial"/>
              </a:rPr>
              <a:t>оценочной подвыборке</a:t>
            </a:r>
          </a:p>
        </p:txBody>
      </p:sp>
      <p:sp>
        <p:nvSpPr>
          <p:cNvPr id="7" name="7 437 исходных положительных пар">
            <a:extLst xmlns:a="http://schemas.openxmlformats.org/drawingml/2006/main">
              <a:ext uri="{FF2B5EF4-FFF2-40B4-BE49-F238E27FC236}">
                <a16:creationId xmlns:a16="http://schemas.microsoft.com/office/drawing/2014/main" id="{334388CF-080F-4290-9A46-4B6903A2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7 437 исходных положительных пар</a:t>
            </a:r>
          </a:p>
        </p:txBody>
      </p:sp>
      <p:sp>
        <p:nvSpPr>
          <p:cNvPr id="8" name="Ручная подвыборка из dev/small">
            <a:extLst xmlns:a="http://schemas.openxmlformats.org/drawingml/2006/main">
              <a:ext uri="{FF2B5EF4-FFF2-40B4-BE49-F238E27FC236}">
                <a16:creationId xmlns:a16="http://schemas.microsoft.com/office/drawing/2014/main" id="{22B42E78-BD55-4445-A8FE-4309BC4B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5353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Ручная подвыборка из dev/small</a:t>
            </a:r>
          </a:p>
        </p:txBody>
      </p:sp>
      <p:sp>
        <p:nvSpPr>
          <p:cNvPr id="9" name="1 179">
            <a:extLst xmlns:a="http://schemas.openxmlformats.org/drawingml/2006/main">
              <a:ext uri="{FF2B5EF4-FFF2-40B4-BE49-F238E27FC236}">
                <a16:creationId xmlns:a16="http://schemas.microsoft.com/office/drawing/2014/main" id="{59C256A8-9894-4A34-8A0F-574E12AF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62275"/>
            <a:ext cx="4381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1 179</a:t>
            </a:r>
          </a:p>
        </p:txBody>
      </p:sp>
      <p:sp>
        <p:nvSpPr>
          <p:cNvPr id="10" name="запросов с дополнительными&#10;человеческими оценками">
            <a:extLst xmlns:a="http://schemas.openxmlformats.org/drawingml/2006/main">
              <a:ext uri="{FF2B5EF4-FFF2-40B4-BE49-F238E27FC236}">
                <a16:creationId xmlns:a16="http://schemas.microsoft.com/office/drawing/2014/main" id="{CBA07B85-828A-40A0-83EE-7F24D9A0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481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0"/>
                </a:solidFill>
                <a:latin typeface="Arial"/>
                <a:ea typeface="Arial"/>
                <a:cs typeface="Arial"/>
              </a:rPr>
              <a:t>запросов с дополнительными</a:t>
            </a:r>
          </a:p>
          <a:p xmlns:a="http://schemas.openxmlformats.org/drawingml/2006/main">
            <a:pPr algn="l">
              <a:defRPr sz="21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0"/>
                </a:solidFill>
                <a:latin typeface="Arial"/>
                <a:ea typeface="Arial"/>
                <a:cs typeface="Arial"/>
              </a:rPr>
              <a:t>человеческими оценками</a:t>
            </a:r>
          </a:p>
        </p:txBody>
      </p:sp>
      <p:sp>
        <p:nvSpPr>
          <p:cNvPr id="11" name="33 667 пар «запрос – фрагмент»">
            <a:extLst xmlns:a="http://schemas.openxmlformats.org/drawingml/2006/main">
              <a:ext uri="{FF2B5EF4-FFF2-40B4-BE49-F238E27FC236}">
                <a16:creationId xmlns:a16="http://schemas.microsoft.com/office/drawing/2014/main" id="{0CA45C8D-9073-4691-848F-B62AC53E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00625"/>
            <a:ext cx="5353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33 667 пар «запрос – фрагмент»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3ADBC-1693-4423-8E87-5C9EA3A3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4E1E0"/>
            </a:solidFill>
          </a:ln>
        </p:spPr>
      </p:sp>
      <p:sp>
        <p:nvSpPr>
          <p:cNvPr id="13" name="Доразметка охватывает отобранных кандидатов для каждого запроса.">
            <a:extLst xmlns:a="http://schemas.openxmlformats.org/drawingml/2006/main">
              <a:ext uri="{FF2B5EF4-FFF2-40B4-BE49-F238E27FC236}">
                <a16:creationId xmlns:a16="http://schemas.microsoft.com/office/drawing/2014/main" id="{1E9E408D-C93E-45C3-95F9-3F5EC458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Доразметка охватывает отобранных кандидатов для каждого запроса.</a:t>
            </a:r>
          </a:p>
        </p:txBody>
      </p:sp>
    </p:spTree>
    <p:extLst>
      <p:ext uri="{BB962C8B-B14F-4D97-AF65-F5344CB8AC3E}">
        <p14:creationId xmlns:p14="http://schemas.microsoft.com/office/powerpoint/2010/main" val="1935300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Полная dev-часть для масштабной оценки">
            <a:extLst xmlns:a="http://schemas.openxmlformats.org/drawingml/2006/main">
              <a:ext uri="{FF2B5EF4-FFF2-40B4-BE49-F238E27FC236}">
                <a16:creationId xmlns:a16="http://schemas.microsoft.com/office/drawing/2014/main" id="{2B9A8261-9949-4488-9D48-53C08C66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Полная dev-часть для масштабной оценки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15478C3A-5184-42AE-8DFA-18DE758B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865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101 093">
            <a:extLst xmlns:a="http://schemas.openxmlformats.org/drawingml/2006/main">
              <a:ext uri="{FF2B5EF4-FFF2-40B4-BE49-F238E27FC236}">
                <a16:creationId xmlns:a16="http://schemas.microsoft.com/office/drawing/2014/main" id="{2077CA7F-B524-4CC1-842C-6AF4B2D3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6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101 093</a:t>
            </a:r>
          </a:p>
        </p:txBody>
      </p:sp>
      <p:sp>
        <p:nvSpPr>
          <p:cNvPr id="4" name="запроса в queries.dev.tsv">
            <a:extLst xmlns:a="http://schemas.openxmlformats.org/drawingml/2006/main">
              <a:ext uri="{FF2B5EF4-FFF2-40B4-BE49-F238E27FC236}">
                <a16:creationId xmlns:a16="http://schemas.microsoft.com/office/drawing/2014/main" id="{69389898-20D0-4BEF-9DC9-B302A76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запроса в queries.dev.tsv</a:t>
            </a:r>
          </a:p>
        </p:txBody>
      </p:sp>
      <p:sp>
        <p:nvSpPr>
          <p:cNvPr id="5" name="MS MARCO Passage Ranking v1">
            <a:extLst xmlns:a="http://schemas.openxmlformats.org/drawingml/2006/main">
              <a:ext uri="{FF2B5EF4-FFF2-40B4-BE49-F238E27FC236}">
                <a16:creationId xmlns:a16="http://schemas.microsoft.com/office/drawing/2014/main" id="{51CC0684-1327-4BC3-A025-1397E4CE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MS MARCO Passage Ranking 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D9565-FB0D-48DF-A6A6-5CB34B98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4E1E0"/>
            </a:solidFill>
          </a:ln>
        </p:spPr>
      </p:sp>
      <p:sp>
        <p:nvSpPr>
          <p:cNvPr id="7" name="Для этих запросов подготовили поисковые выдачи.&#10;После обучения судья о">
            <a:extLst xmlns:a="http://schemas.openxmlformats.org/drawingml/2006/main">
              <a:ext uri="{FF2B5EF4-FFF2-40B4-BE49-F238E27FC236}">
                <a16:creationId xmlns:a16="http://schemas.microsoft.com/office/drawing/2014/main" id="{6A8F38E8-5CB3-4209-9F32-3162AF29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0"/>
                </a:solidFill>
                <a:latin typeface="Arial"/>
                <a:ea typeface="Arial"/>
                <a:cs typeface="Arial"/>
              </a:rPr>
              <a:t>Для этих запросов подготовили поисковые выдачи.</a:t>
            </a:r>
          </a:p>
          <a:p xmlns:a="http://schemas.openxmlformats.org/drawingml/2006/main">
            <a:pPr algn="l">
              <a:defRPr sz="225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0"/>
                </a:solidFill>
                <a:latin typeface="Arial"/>
                <a:ea typeface="Arial"/>
                <a:cs typeface="Arial"/>
              </a:rPr>
              <a:t>После обучения судья оценивает найденные фрагменты.</a:t>
            </a:r>
          </a:p>
        </p:txBody>
      </p:sp>
      <p:sp>
        <p:nvSpPr>
          <p:cNvPr id="8" name="101 093 запроса в эксперименте совпадают с полной dev-частью по иденти">
            <a:extLst xmlns:a="http://schemas.openxmlformats.org/drawingml/2006/main">
              <a:ext uri="{FF2B5EF4-FFF2-40B4-BE49-F238E27FC236}">
                <a16:creationId xmlns:a16="http://schemas.microsoft.com/office/drawing/2014/main" id="{9F975805-5422-4909-8A78-974A095B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101 093 запроса в эксперименте совпадают с полной dev-частью по идентификаторам.</a:t>
            </a:r>
          </a:p>
        </p:txBody>
      </p:sp>
    </p:spTree>
    <p:extLst>
      <p:ext uri="{BB962C8B-B14F-4D97-AF65-F5344CB8AC3E}">
        <p14:creationId xmlns:p14="http://schemas.microsoft.com/office/powerpoint/2010/main" val="17833355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774A0-A021-4D39-82EC-B8310EB78AF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810625" y="3562350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26970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19830-39EE-49CE-8B96-37BCA4255EF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210300" y="3562350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26970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B1A34-F3A2-4ADF-B8B5-118B3E58EE3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800350" y="3562350"/>
            <a:ext cx="83820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26970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5CD1C-C7B9-4EF6-82BE-EC948942575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00350" y="35623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26970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E2B75-ED35-40FB-B910-C5AF7386878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00350" y="2628900"/>
            <a:ext cx="83820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26970"/>
            </a:solidFill>
            <a:tailEnd type="triangle" w="med" len="med"/>
          </a:ln>
        </p:spPr>
      </p:cxnSp>
      <p:sp>
        <p:nvSpPr>
          <p:cNvPr id="17" name="Пулы кандидатов для модели-судьи">
            <a:extLst xmlns:a="http://schemas.openxmlformats.org/drawingml/2006/main">
              <a:ext uri="{FF2B5EF4-FFF2-40B4-BE49-F238E27FC236}">
                <a16:creationId xmlns:a16="http://schemas.microsoft.com/office/drawing/2014/main" id="{41E850F8-10CA-44D8-BE1F-EE579E35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Пулы кандидатов для модели-судьи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B8524155-95B6-4806-94B3-99C08507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865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K задаёт число результатов от каждого поискового метода">
            <a:extLst xmlns:a="http://schemas.openxmlformats.org/drawingml/2006/main">
              <a:ext uri="{FF2B5EF4-FFF2-40B4-BE49-F238E27FC236}">
                <a16:creationId xmlns:a16="http://schemas.microsoft.com/office/drawing/2014/main" id="{BA938D0F-D1C3-4577-BBA3-93D726C7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K задаёт число результатов от каждого поискового метода</a:t>
            </a:r>
          </a:p>
        </p:txBody>
      </p:sp>
      <p:sp>
        <p:nvSpPr>
          <p:cNvPr id="4" name="BM25&#10;первые K">
            <a:extLst xmlns:a="http://schemas.openxmlformats.org/drawingml/2006/main">
              <a:ext uri="{FF2B5EF4-FFF2-40B4-BE49-F238E27FC236}">
                <a16:creationId xmlns:a16="http://schemas.microsoft.com/office/drawing/2014/main" id="{D1493ED4-A8A6-456B-BE4A-A6C59408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5"/>
          </a:solidFill>
          <a:ln xmlns:a="http://schemas.openxmlformats.org/drawingml/2006/main" w="11430">
            <a:solidFill>
              <a:srgbClr val="D4E1E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BM25</a:t>
            </a:r>
          </a:p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первые K</a:t>
            </a:r>
          </a:p>
        </p:txBody>
      </p:sp>
      <p:sp>
        <p:nvSpPr>
          <p:cNvPr id="5" name="E5&#10;первые K">
            <a:extLst xmlns:a="http://schemas.openxmlformats.org/drawingml/2006/main">
              <a:ext uri="{FF2B5EF4-FFF2-40B4-BE49-F238E27FC236}">
                <a16:creationId xmlns:a16="http://schemas.microsoft.com/office/drawing/2014/main" id="{9B4EC669-F96C-4AF6-BCE6-FB69AF2E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5"/>
          </a:solidFill>
          <a:ln xmlns:a="http://schemas.openxmlformats.org/drawingml/2006/main" w="11430">
            <a:solidFill>
              <a:srgbClr val="D4E1E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E5</a:t>
            </a:r>
          </a:p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первые K</a:t>
            </a:r>
          </a:p>
        </p:txBody>
      </p:sp>
      <p:sp>
        <p:nvSpPr>
          <p:cNvPr id="6" name="BGE&#10;первые K">
            <a:extLst xmlns:a="http://schemas.openxmlformats.org/drawingml/2006/main">
              <a:ext uri="{FF2B5EF4-FFF2-40B4-BE49-F238E27FC236}">
                <a16:creationId xmlns:a16="http://schemas.microsoft.com/office/drawing/2014/main" id="{4C8AD222-7201-480C-8B29-CAE6DB24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5"/>
          </a:solidFill>
          <a:ln xmlns:a="http://schemas.openxmlformats.org/drawingml/2006/main" w="11430">
            <a:solidFill>
              <a:srgbClr val="D4E1E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BGE</a:t>
            </a:r>
          </a:p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первые K</a:t>
            </a:r>
          </a:p>
        </p:txBody>
      </p:sp>
      <p:sp>
        <p:nvSpPr>
          <p:cNvPr id="7" name="Общий пул&#10;без дубликатов">
            <a:extLst xmlns:a="http://schemas.openxmlformats.org/drawingml/2006/main">
              <a:ext uri="{FF2B5EF4-FFF2-40B4-BE49-F238E27FC236}">
                <a16:creationId xmlns:a16="http://schemas.microsoft.com/office/drawing/2014/main" id="{F11F59E8-3113-4FE5-9058-E52D8596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257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5"/>
          </a:solidFill>
          <a:ln xmlns:a="http://schemas.openxmlformats.org/drawingml/2006/main" w="11430">
            <a:solidFill>
              <a:srgbClr val="D4E1E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Общий пул</a:t>
            </a:r>
          </a:p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без дубликатов</a:t>
            </a:r>
          </a:p>
        </p:txBody>
      </p:sp>
      <p:sp>
        <p:nvSpPr>
          <p:cNvPr id="8" name="Судья&#10;MiniLM">
            <a:extLst xmlns:a="http://schemas.openxmlformats.org/drawingml/2006/main">
              <a:ext uri="{FF2B5EF4-FFF2-40B4-BE49-F238E27FC236}">
                <a16:creationId xmlns:a16="http://schemas.microsoft.com/office/drawing/2014/main" id="{CA3440FA-9196-4E18-9E03-FBF19BA1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90850"/>
            <a:ext cx="1905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1EF"/>
          </a:solidFill>
          <a:ln xmlns:a="http://schemas.openxmlformats.org/drawingml/2006/main" w="11430">
            <a:solidFill>
              <a:srgbClr val="D4E1E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Судья</a:t>
            </a:r>
          </a:p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MiniLM</a:t>
            </a:r>
          </a:p>
        </p:txBody>
      </p:sp>
      <p:sp>
        <p:nvSpPr>
          <p:cNvPr id="9" name="Псевдометки&#10;0 или 1">
            <a:extLst xmlns:a="http://schemas.openxmlformats.org/drawingml/2006/main">
              <a:ext uri="{FF2B5EF4-FFF2-40B4-BE49-F238E27FC236}">
                <a16:creationId xmlns:a16="http://schemas.microsoft.com/office/drawing/2014/main" id="{8D3E6DBD-0EE9-466E-B812-C69FE0AD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90850"/>
            <a:ext cx="2076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1EF"/>
          </a:solidFill>
          <a:ln xmlns:a="http://schemas.openxmlformats.org/drawingml/2006/main" w="11430">
            <a:solidFill>
              <a:srgbClr val="D4E1E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Псевдометки</a:t>
            </a:r>
          </a:p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0 или 1</a:t>
            </a:r>
          </a:p>
        </p:txBody>
      </p:sp>
      <p:sp>
        <p:nvSpPr>
          <p:cNvPr id="15" name="K = 10, 30, 50, 100, 200">
            <a:extLst xmlns:a="http://schemas.openxmlformats.org/drawingml/2006/main">
              <a:ext uri="{FF2B5EF4-FFF2-40B4-BE49-F238E27FC236}">
                <a16:creationId xmlns:a16="http://schemas.microsoft.com/office/drawing/2014/main" id="{042F81F9-3D36-49A5-9BA1-6952EED0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647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K = 10, 30, 50, 100, 200</a:t>
            </a:r>
          </a:p>
        </p:txBody>
      </p:sp>
      <p:sp>
        <p:nvSpPr>
          <p:cNvPr id="16" name="Судья и порог −0,2187 фиксированы. Размер пула может быть меньше 3K.">
            <a:extLst xmlns:a="http://schemas.openxmlformats.org/drawingml/2006/main">
              <a:ext uri="{FF2B5EF4-FFF2-40B4-BE49-F238E27FC236}">
                <a16:creationId xmlns:a16="http://schemas.microsoft.com/office/drawing/2014/main" id="{50259D60-B4FE-49AC-BF2A-02DE5163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Судья и порог −0,2187 фиксированы. Размер пула может быть меньше 3K.</a:t>
            </a:r>
          </a:p>
        </p:txBody>
      </p:sp>
    </p:spTree>
    <p:extLst>
      <p:ext uri="{BB962C8B-B14F-4D97-AF65-F5344CB8AC3E}">
        <p14:creationId xmlns:p14="http://schemas.microsoft.com/office/powerpoint/2010/main" val="318776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822FD-5B19-4010-A14D-25DCC8F9DF7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72325" y="3533775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26970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FDB77-9180-48A9-923F-97DEB5891B4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752725" y="3533775"/>
            <a:ext cx="97155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26970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996B1-57F6-4A8C-8368-A24CB67B9C1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52725" y="3448050"/>
            <a:ext cx="971550" cy="857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26970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4D392-3471-4718-B882-F023CD6D192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52725" y="2638425"/>
            <a:ext cx="97155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526970"/>
            </a:solidFill>
            <a:tailEnd type="triangle" w="med" len="med"/>
          </a:ln>
        </p:spPr>
      </p:cxnSp>
      <p:sp>
        <p:nvSpPr>
          <p:cNvPr id="16" name="Зачем объединять результаты с помощью RRF">
            <a:extLst xmlns:a="http://schemas.openxmlformats.org/drawingml/2006/main">
              <a:ext uri="{FF2B5EF4-FFF2-40B4-BE49-F238E27FC236}">
                <a16:creationId xmlns:a16="http://schemas.microsoft.com/office/drawing/2014/main" id="{6FAAFDDA-7410-4DB1-9544-F04C6185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Зачем объединять результаты с помощью RRF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C3224F00-6630-4665-9B48-C8CE5059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865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Проверяем, дополняют ли друг друга разные способы поиска">
            <a:extLst xmlns:a="http://schemas.openxmlformats.org/drawingml/2006/main">
              <a:ext uri="{FF2B5EF4-FFF2-40B4-BE49-F238E27FC236}">
                <a16:creationId xmlns:a16="http://schemas.microsoft.com/office/drawing/2014/main" id="{EF2A1E1A-A731-4158-B6D4-9B9DACF9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Проверяем, дополняют ли друг друга разные способы поиска</a:t>
            </a:r>
          </a:p>
        </p:txBody>
      </p:sp>
      <p:sp>
        <p:nvSpPr>
          <p:cNvPr id="4" name="BM25">
            <a:extLst xmlns:a="http://schemas.openxmlformats.org/drawingml/2006/main">
              <a:ext uri="{FF2B5EF4-FFF2-40B4-BE49-F238E27FC236}">
                <a16:creationId xmlns:a16="http://schemas.microsoft.com/office/drawing/2014/main" id="{7EBB8D5F-B2FB-4CA8-B757-853CB185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143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5"/>
          </a:solidFill>
          <a:ln xmlns:a="http://schemas.openxmlformats.org/drawingml/2006/main" w="11430">
            <a:solidFill>
              <a:srgbClr val="D4E1E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BM25</a:t>
            </a:r>
          </a:p>
        </p:txBody>
      </p:sp>
      <p:sp>
        <p:nvSpPr>
          <p:cNvPr id="5" name="E5">
            <a:extLst xmlns:a="http://schemas.openxmlformats.org/drawingml/2006/main">
              <a:ext uri="{FF2B5EF4-FFF2-40B4-BE49-F238E27FC236}">
                <a16:creationId xmlns:a16="http://schemas.microsoft.com/office/drawing/2014/main" id="{370C3F5C-0D77-4F2B-A7A7-A53AD714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2143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5"/>
          </a:solidFill>
          <a:ln xmlns:a="http://schemas.openxmlformats.org/drawingml/2006/main" w="11430">
            <a:solidFill>
              <a:srgbClr val="D4E1E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E5</a:t>
            </a:r>
          </a:p>
        </p:txBody>
      </p:sp>
      <p:sp>
        <p:nvSpPr>
          <p:cNvPr id="6" name="BGE">
            <a:extLst xmlns:a="http://schemas.openxmlformats.org/drawingml/2006/main">
              <a:ext uri="{FF2B5EF4-FFF2-40B4-BE49-F238E27FC236}">
                <a16:creationId xmlns:a16="http://schemas.microsoft.com/office/drawing/2014/main" id="{B049F26B-A2DC-4F8A-9D83-80ABE0A0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143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5"/>
          </a:solidFill>
          <a:ln xmlns:a="http://schemas.openxmlformats.org/drawingml/2006/main" w="11430">
            <a:solidFill>
              <a:srgbClr val="D4E1E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BGE</a:t>
            </a:r>
          </a:p>
        </p:txBody>
      </p:sp>
      <p:sp>
        <p:nvSpPr>
          <p:cNvPr id="7" name="RRF&#10;слияние по позициям">
            <a:extLst xmlns:a="http://schemas.openxmlformats.org/drawingml/2006/main">
              <a:ext uri="{FF2B5EF4-FFF2-40B4-BE49-F238E27FC236}">
                <a16:creationId xmlns:a16="http://schemas.microsoft.com/office/drawing/2014/main" id="{1EDE10D0-6BAA-4082-AE1B-FE8DD271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14650"/>
            <a:ext cx="3448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1EF"/>
          </a:solidFill>
          <a:ln xmlns:a="http://schemas.openxmlformats.org/drawingml/2006/main" w="11430">
            <a:solidFill>
              <a:srgbClr val="D4E1E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>
            <a:defPPr algn="ctr">
              <a:defRPr sz="2175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82B30"/>
                </a:solidFill>
                <a:latin typeface="Arial"/>
                <a:ea typeface="Arial"/>
                <a:cs typeface="Arial"/>
              </a:rPr>
              <a:t>RRF</a:t>
            </a:r>
          </a:p>
          <a:p xmlns:a="http://schemas.openxmlformats.org/drawingml/2006/main">
            <a:pPr algn="ctr">
              <a:defRPr sz="2175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82B30"/>
                </a:solidFill>
                <a:latin typeface="Arial"/>
                <a:ea typeface="Arial"/>
                <a:cs typeface="Arial"/>
              </a:rPr>
              <a:t>слияние по позициям</a:t>
            </a:r>
          </a:p>
        </p:txBody>
      </p:sp>
      <p:sp>
        <p:nvSpPr>
          <p:cNvPr id="8" name="Один итоговый&#10;список фрагментов">
            <a:extLst xmlns:a="http://schemas.openxmlformats.org/drawingml/2006/main">
              <a:ext uri="{FF2B5EF4-FFF2-40B4-BE49-F238E27FC236}">
                <a16:creationId xmlns:a16="http://schemas.microsoft.com/office/drawing/2014/main" id="{7054BE41-EDF8-4B5C-8C4E-6B1BD86B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14650"/>
            <a:ext cx="3381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5"/>
          </a:solidFill>
          <a:ln xmlns:a="http://schemas.openxmlformats.org/drawingml/2006/main" w="11430">
            <a:solidFill>
              <a:srgbClr val="D4E1E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Один итоговый</a:t>
            </a:r>
          </a:p>
          <a:p xmlns:a="http://schemas.openxmlformats.org/drawingml/2006/main">
            <a:pPr algn="ctr">
              <a:defRPr sz="210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2B30"/>
                </a:solidFill>
                <a:latin typeface="Arial"/>
                <a:ea typeface="Arial"/>
                <a:cs typeface="Arial"/>
              </a:rPr>
              <a:t>список фрагментов</a:t>
            </a:r>
          </a:p>
        </p:txBody>
      </p:sp>
      <p:sp>
        <p:nvSpPr>
          <p:cNvPr id="13" name="RRF(d) = Σ 1 / (60 + rankᵢ(d))">
            <a:extLst xmlns:a="http://schemas.openxmlformats.org/drawingml/2006/main">
              <a:ext uri="{FF2B5EF4-FFF2-40B4-BE49-F238E27FC236}">
                <a16:creationId xmlns:a16="http://schemas.microsoft.com/office/drawing/2014/main" id="{AA6B5DCC-14AF-49EE-82AD-6C3EF200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771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RRF(d) = Σ 1 / (60 + rankᵢ(d))</a:t>
            </a:r>
          </a:p>
        </p:txBody>
      </p:sp>
      <p:sp>
        <p:nvSpPr>
          <p:cNvPr id="14" name="Равный вес трёх источников. Исходные баллы моделей не суммируются.">
            <a:extLst xmlns:a="http://schemas.openxmlformats.org/drawingml/2006/main">
              <a:ext uri="{FF2B5EF4-FFF2-40B4-BE49-F238E27FC236}">
                <a16:creationId xmlns:a16="http://schemas.microsoft.com/office/drawing/2014/main" id="{1BBC45CA-E952-41F3-A2D6-11B7FC24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2B30"/>
                </a:solidFill>
                <a:latin typeface="Arial"/>
                <a:ea typeface="Arial"/>
                <a:cs typeface="Arial"/>
              </a:rPr>
              <a:t>Равный вес трёх источников. Исходные баллы моделей не суммируются.</a:t>
            </a:r>
          </a:p>
        </p:txBody>
      </p:sp>
      <p:sp>
        <p:nvSpPr>
          <p:cNvPr id="15" name="Cormack, Clarke, Büttcher, SIGIR 2009. Оценки судьи не входят в формул">
            <a:extLst xmlns:a="http://schemas.openxmlformats.org/drawingml/2006/main">
              <a:ext uri="{FF2B5EF4-FFF2-40B4-BE49-F238E27FC236}">
                <a16:creationId xmlns:a16="http://schemas.microsoft.com/office/drawing/2014/main" id="{636AD666-D12C-4C23-811C-64F8A380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Cormack, Clarke, Büttcher, SIGIR 2009. Оценки судьи не входят в формулу RRF.</a:t>
            </a:r>
          </a:p>
        </p:txBody>
      </p:sp>
    </p:spTree>
    <p:extLst>
      <p:ext uri="{BB962C8B-B14F-4D97-AF65-F5344CB8AC3E}">
        <p14:creationId xmlns:p14="http://schemas.microsoft.com/office/powerpoint/2010/main" val="8164507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Литература и ресурсы">
            <a:extLst xmlns:a="http://schemas.openxmlformats.org/drawingml/2006/main">
              <a:ext uri="{FF2B5EF4-FFF2-40B4-BE49-F238E27FC236}">
                <a16:creationId xmlns:a16="http://schemas.microsoft.com/office/drawing/2014/main" id="{A4A0C6BD-6351-4B31-8728-75022184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Литература и ресурсы</a:t>
            </a:r>
          </a:p>
        </p:txBody>
      </p:sp>
      <p:sp>
        <p:nvSpPr>
          <p:cNvPr id="2" name="19">
            <a:extLst xmlns:a="http://schemas.openxmlformats.org/drawingml/2006/main">
              <a:ext uri="{FF2B5EF4-FFF2-40B4-BE49-F238E27FC236}">
                <a16:creationId xmlns:a16="http://schemas.microsoft.com/office/drawing/2014/main" id="{63609DAA-536A-428E-9283-7D7FB820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865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MS MARCO">
            <a:extLst xmlns:a="http://schemas.openxmlformats.org/drawingml/2006/main">
              <a:ext uri="{FF2B5EF4-FFF2-40B4-BE49-F238E27FC236}">
                <a16:creationId xmlns:a16="http://schemas.microsoft.com/office/drawing/2014/main" id="{2C9655CF-4325-444F-A190-BE05EC9A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MS MARCO</a:t>
            </a:r>
          </a:p>
        </p:txBody>
      </p:sp>
      <p:sp>
        <p:nvSpPr>
          <p:cNvPr id="4" name="Bajaj et al., 2016">
            <a:extLst xmlns:a="http://schemas.openxmlformats.org/drawingml/2006/main">
              <a:ext uri="{FF2B5EF4-FFF2-40B4-BE49-F238E27FC236}">
                <a16:creationId xmlns:a16="http://schemas.microsoft.com/office/drawing/2014/main" id="{5E02D452-7B6E-497E-8A39-D1BCC94C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Bajaj et al., 2016</a:t>
            </a:r>
          </a:p>
        </p:txBody>
      </p:sp>
      <p:sp>
        <p:nvSpPr>
          <p:cNvPr id="5" name="arxiv.org/abs/1611.09268">
            <a:extLst xmlns:a="http://schemas.openxmlformats.org/drawingml/2006/main">
              <a:ext uri="{FF2B5EF4-FFF2-40B4-BE49-F238E27FC236}">
                <a16:creationId xmlns:a16="http://schemas.microsoft.com/office/drawing/2014/main" id="{1770FB05-F0FE-40A9-89B7-4C3A26F6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62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F78"/>
                </a:solidFill>
                <a:latin typeface="Arial"/>
                <a:ea typeface="Arial"/>
                <a:cs typeface="Arial"/>
              </a:rPr>
              <a:t>arxiv.org/abs/1611.09268</a:t>
            </a:r>
          </a:p>
        </p:txBody>
      </p:sp>
      <p:sp>
        <p:nvSpPr>
          <p:cNvPr id="6" name="Natural Questions">
            <a:extLst xmlns:a="http://schemas.openxmlformats.org/drawingml/2006/main">
              <a:ext uri="{FF2B5EF4-FFF2-40B4-BE49-F238E27FC236}">
                <a16:creationId xmlns:a16="http://schemas.microsoft.com/office/drawing/2014/main" id="{F97DE8AF-F43B-4795-AB1B-21C457CE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Natural Questions</a:t>
            </a:r>
          </a:p>
        </p:txBody>
      </p:sp>
      <p:sp>
        <p:nvSpPr>
          <p:cNvPr id="7" name="Kwiatkowski et al., 2019">
            <a:extLst xmlns:a="http://schemas.openxmlformats.org/drawingml/2006/main">
              <a:ext uri="{FF2B5EF4-FFF2-40B4-BE49-F238E27FC236}">
                <a16:creationId xmlns:a16="http://schemas.microsoft.com/office/drawing/2014/main" id="{14F5A30A-8EC3-4BB8-B2E0-703B7583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Kwiatkowski et al., 2019</a:t>
            </a:r>
          </a:p>
        </p:txBody>
      </p:sp>
      <p:sp>
        <p:nvSpPr>
          <p:cNvPr id="8" name="aclanthology.org/Q19-1026">
            <a:extLst xmlns:a="http://schemas.openxmlformats.org/drawingml/2006/main">
              <a:ext uri="{FF2B5EF4-FFF2-40B4-BE49-F238E27FC236}">
                <a16:creationId xmlns:a16="http://schemas.microsoft.com/office/drawing/2014/main" id="{60F6F0E0-553C-42CD-8E3C-BBA7B11F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162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F78"/>
                </a:solidFill>
                <a:latin typeface="Arial"/>
                <a:ea typeface="Arial"/>
                <a:cs typeface="Arial"/>
              </a:rPr>
              <a:t>aclanthology.org/Q19-1026</a:t>
            </a:r>
          </a:p>
        </p:txBody>
      </p:sp>
      <p:sp>
        <p:nvSpPr>
          <p:cNvPr id="9" name="BEIR">
            <a:extLst xmlns:a="http://schemas.openxmlformats.org/drawingml/2006/main">
              <a:ext uri="{FF2B5EF4-FFF2-40B4-BE49-F238E27FC236}">
                <a16:creationId xmlns:a16="http://schemas.microsoft.com/office/drawing/2014/main" id="{A59B7C08-F44F-420A-B890-509F2587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BEIR</a:t>
            </a:r>
          </a:p>
        </p:txBody>
      </p:sp>
      <p:sp>
        <p:nvSpPr>
          <p:cNvPr id="10" name="Thakur et al., 2021">
            <a:extLst xmlns:a="http://schemas.openxmlformats.org/drawingml/2006/main">
              <a:ext uri="{FF2B5EF4-FFF2-40B4-BE49-F238E27FC236}">
                <a16:creationId xmlns:a16="http://schemas.microsoft.com/office/drawing/2014/main" id="{EEE046B8-919E-4D3A-BEA3-1491F9EB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Thakur et al., 2021</a:t>
            </a:r>
          </a:p>
        </p:txBody>
      </p:sp>
      <p:sp>
        <p:nvSpPr>
          <p:cNvPr id="11" name="arxiv.org/abs/2104.08663">
            <a:extLst xmlns:a="http://schemas.openxmlformats.org/drawingml/2006/main">
              <a:ext uri="{FF2B5EF4-FFF2-40B4-BE49-F238E27FC236}">
                <a16:creationId xmlns:a16="http://schemas.microsoft.com/office/drawing/2014/main" id="{6ED52645-A687-4B8C-B757-A7B3B4C6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5162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F78"/>
                </a:solidFill>
                <a:latin typeface="Arial"/>
                <a:ea typeface="Arial"/>
                <a:cs typeface="Arial"/>
              </a:rPr>
              <a:t>arxiv.org/abs/2104.08663</a:t>
            </a:r>
          </a:p>
        </p:txBody>
      </p:sp>
      <p:sp>
        <p:nvSpPr>
          <p:cNvPr id="12" name="BM25">
            <a:extLst xmlns:a="http://schemas.openxmlformats.org/drawingml/2006/main">
              <a:ext uri="{FF2B5EF4-FFF2-40B4-BE49-F238E27FC236}">
                <a16:creationId xmlns:a16="http://schemas.microsoft.com/office/drawing/2014/main" id="{495A2F35-8ABE-47A5-A9EC-F4C677D7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BM25</a:t>
            </a:r>
          </a:p>
        </p:txBody>
      </p:sp>
      <p:sp>
        <p:nvSpPr>
          <p:cNvPr id="13" name="Robertson &amp; Zaragoza, 2009">
            <a:extLst xmlns:a="http://schemas.openxmlformats.org/drawingml/2006/main">
              <a:ext uri="{FF2B5EF4-FFF2-40B4-BE49-F238E27FC236}">
                <a16:creationId xmlns:a16="http://schemas.microsoft.com/office/drawing/2014/main" id="{FBE4DAC5-48FC-4CD0-BB1C-65DFDC9F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Robertson &amp; Zaragoza, 2009</a:t>
            </a:r>
          </a:p>
        </p:txBody>
      </p:sp>
      <p:sp>
        <p:nvSpPr>
          <p:cNvPr id="14" name="doi.org/10.1561/1500000019">
            <a:extLst xmlns:a="http://schemas.openxmlformats.org/drawingml/2006/main">
              <a:ext uri="{FF2B5EF4-FFF2-40B4-BE49-F238E27FC236}">
                <a16:creationId xmlns:a16="http://schemas.microsoft.com/office/drawing/2014/main" id="{1F79FCC9-A53A-41DD-B7BE-0A8DD9E7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162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F78"/>
                </a:solidFill>
                <a:latin typeface="Arial"/>
                <a:ea typeface="Arial"/>
                <a:cs typeface="Arial"/>
              </a:rPr>
              <a:t>doi.org/10.1561/1500000019</a:t>
            </a:r>
          </a:p>
        </p:txBody>
      </p:sp>
      <p:sp>
        <p:nvSpPr>
          <p:cNvPr id="15" name="E5">
            <a:extLst xmlns:a="http://schemas.openxmlformats.org/drawingml/2006/main">
              <a:ext uri="{FF2B5EF4-FFF2-40B4-BE49-F238E27FC236}">
                <a16:creationId xmlns:a16="http://schemas.microsoft.com/office/drawing/2014/main" id="{FF175FCC-EC7A-469E-836C-2D4F521A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716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E5</a:t>
            </a:r>
          </a:p>
        </p:txBody>
      </p:sp>
      <p:sp>
        <p:nvSpPr>
          <p:cNvPr id="16" name="Wang et al., 2022">
            <a:extLst xmlns:a="http://schemas.openxmlformats.org/drawingml/2006/main">
              <a:ext uri="{FF2B5EF4-FFF2-40B4-BE49-F238E27FC236}">
                <a16:creationId xmlns:a16="http://schemas.microsoft.com/office/drawing/2014/main" id="{7F01C309-F4C0-42FA-A079-18863649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Wang et al., 2022</a:t>
            </a:r>
          </a:p>
        </p:txBody>
      </p:sp>
      <p:sp>
        <p:nvSpPr>
          <p:cNvPr id="17" name="arxiv.org/abs/2212.03533">
            <a:extLst xmlns:a="http://schemas.openxmlformats.org/drawingml/2006/main">
              <a:ext uri="{FF2B5EF4-FFF2-40B4-BE49-F238E27FC236}">
                <a16:creationId xmlns:a16="http://schemas.microsoft.com/office/drawing/2014/main" id="{9926AAEA-3EAE-4442-8119-EB33DEF6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5162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F78"/>
                </a:solidFill>
                <a:latin typeface="Arial"/>
                <a:ea typeface="Arial"/>
                <a:cs typeface="Arial"/>
              </a:rPr>
              <a:t>arxiv.org/abs/2212.03533</a:t>
            </a:r>
          </a:p>
        </p:txBody>
      </p:sp>
      <p:sp>
        <p:nvSpPr>
          <p:cNvPr id="18" name="BGE / FlagEmbedding">
            <a:extLst xmlns:a="http://schemas.openxmlformats.org/drawingml/2006/main">
              <a:ext uri="{FF2B5EF4-FFF2-40B4-BE49-F238E27FC236}">
                <a16:creationId xmlns:a16="http://schemas.microsoft.com/office/drawing/2014/main" id="{27FCE838-924F-4181-9CAF-91650DCA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384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BGE / FlagEmbedding</a:t>
            </a:r>
          </a:p>
        </p:txBody>
      </p:sp>
      <p:sp>
        <p:nvSpPr>
          <p:cNvPr id="19" name="Модель bge-small-en-v1.5">
            <a:extLst xmlns:a="http://schemas.openxmlformats.org/drawingml/2006/main">
              <a:ext uri="{FF2B5EF4-FFF2-40B4-BE49-F238E27FC236}">
                <a16:creationId xmlns:a16="http://schemas.microsoft.com/office/drawing/2014/main" id="{B4171707-7635-4B0F-B51A-EFE373C0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718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Модель bge-small-en-v1.5</a:t>
            </a:r>
          </a:p>
        </p:txBody>
      </p:sp>
      <p:sp>
        <p:nvSpPr>
          <p:cNvPr id="20" name="huggingface.co/BAAI/bge-small-en-v1.5">
            <a:extLst xmlns:a="http://schemas.openxmlformats.org/drawingml/2006/main">
              <a:ext uri="{FF2B5EF4-FFF2-40B4-BE49-F238E27FC236}">
                <a16:creationId xmlns:a16="http://schemas.microsoft.com/office/drawing/2014/main" id="{E088F081-695F-44E4-A1D8-559B2647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5162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F78"/>
                </a:solidFill>
                <a:latin typeface="Arial"/>
                <a:ea typeface="Arial"/>
                <a:cs typeface="Arial"/>
              </a:rPr>
              <a:t>huggingface.co/BAAI/bge-small-en-v1.5</a:t>
            </a:r>
          </a:p>
        </p:txBody>
      </p:sp>
      <p:sp>
        <p:nvSpPr>
          <p:cNvPr id="21" name="MiniLM">
            <a:extLst xmlns:a="http://schemas.openxmlformats.org/drawingml/2006/main">
              <a:ext uri="{FF2B5EF4-FFF2-40B4-BE49-F238E27FC236}">
                <a16:creationId xmlns:a16="http://schemas.microsoft.com/office/drawing/2014/main" id="{D993E484-9C7F-4234-8825-8160F9D1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052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MiniLM</a:t>
            </a:r>
          </a:p>
        </p:txBody>
      </p:sp>
      <p:sp>
        <p:nvSpPr>
          <p:cNvPr id="22" name="Wang et al., 2020">
            <a:extLst xmlns:a="http://schemas.openxmlformats.org/drawingml/2006/main">
              <a:ext uri="{FF2B5EF4-FFF2-40B4-BE49-F238E27FC236}">
                <a16:creationId xmlns:a16="http://schemas.microsoft.com/office/drawing/2014/main" id="{BD6E0B2F-8AE6-4B08-BFBB-A539A08C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386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Wang et al., 2020</a:t>
            </a:r>
          </a:p>
        </p:txBody>
      </p:sp>
      <p:sp>
        <p:nvSpPr>
          <p:cNvPr id="23" name="arxiv.org/abs/2002.10957">
            <a:extLst xmlns:a="http://schemas.openxmlformats.org/drawingml/2006/main">
              <a:ext uri="{FF2B5EF4-FFF2-40B4-BE49-F238E27FC236}">
                <a16:creationId xmlns:a16="http://schemas.microsoft.com/office/drawing/2014/main" id="{E553A558-A451-4FE1-827A-DDFB43FC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43400"/>
            <a:ext cx="5162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F78"/>
                </a:solidFill>
                <a:latin typeface="Arial"/>
                <a:ea typeface="Arial"/>
                <a:cs typeface="Arial"/>
              </a:rPr>
              <a:t>arxiv.org/abs/2002.10957</a:t>
            </a:r>
          </a:p>
        </p:txBody>
      </p:sp>
      <p:sp>
        <p:nvSpPr>
          <p:cNvPr id="24" name="Reciprocal Rank Fusion">
            <a:extLst xmlns:a="http://schemas.openxmlformats.org/drawingml/2006/main">
              <a:ext uri="{FF2B5EF4-FFF2-40B4-BE49-F238E27FC236}">
                <a16:creationId xmlns:a16="http://schemas.microsoft.com/office/drawing/2014/main" id="{4F841DDF-A002-4DD4-9C35-3E5C31D3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7202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Reciprocal Rank Fusion</a:t>
            </a:r>
          </a:p>
        </p:txBody>
      </p:sp>
      <p:sp>
        <p:nvSpPr>
          <p:cNvPr id="25" name="Cormack et al., 2009">
            <a:extLst xmlns:a="http://schemas.openxmlformats.org/drawingml/2006/main">
              <a:ext uri="{FF2B5EF4-FFF2-40B4-BE49-F238E27FC236}">
                <a16:creationId xmlns:a16="http://schemas.microsoft.com/office/drawing/2014/main" id="{4DFC7256-ABCB-42F0-8978-A9834133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054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Cormack et al., 2009</a:t>
            </a:r>
          </a:p>
        </p:txBody>
      </p:sp>
      <p:sp>
        <p:nvSpPr>
          <p:cNvPr id="26" name="doi.org/10.1145/1571941.1572114">
            <a:extLst xmlns:a="http://schemas.openxmlformats.org/drawingml/2006/main">
              <a:ext uri="{FF2B5EF4-FFF2-40B4-BE49-F238E27FC236}">
                <a16:creationId xmlns:a16="http://schemas.microsoft.com/office/drawing/2014/main" id="{27908AFA-1F0E-49CF-829C-9B6DB9B2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10200"/>
            <a:ext cx="5162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F78"/>
                </a:solidFill>
                <a:latin typeface="Arial"/>
                <a:ea typeface="Arial"/>
                <a:cs typeface="Arial"/>
              </a:rPr>
              <a:t>doi.org/10.1145/1571941.1572114</a:t>
            </a:r>
          </a:p>
        </p:txBody>
      </p:sp>
      <p:sp>
        <p:nvSpPr>
          <p:cNvPr id="27" name="Спецификация dev и dev/small: ir-datasets.com/msmarco-passage.html">
            <a:extLst xmlns:a="http://schemas.openxmlformats.org/drawingml/2006/main">
              <a:ext uri="{FF2B5EF4-FFF2-40B4-BE49-F238E27FC236}">
                <a16:creationId xmlns:a16="http://schemas.microsoft.com/office/drawing/2014/main" id="{103B9138-7D3D-40AE-8875-64130695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Спецификация dev и dev/small: ir-datasets.com/msmarco-passage.html</a:t>
            </a:r>
          </a:p>
        </p:txBody>
      </p:sp>
    </p:spTree>
    <p:extLst>
      <p:ext uri="{BB962C8B-B14F-4D97-AF65-F5344CB8AC3E}">
        <p14:creationId xmlns:p14="http://schemas.microsoft.com/office/powerpoint/2010/main" val="13398574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07240-FA87-4C30-B4F7-BE348157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20">
            <a:extLst xmlns:a="http://schemas.openxmlformats.org/drawingml/2006/main">
              <a:ext uri="{FF2B5EF4-FFF2-40B4-BE49-F238E27FC236}">
                <a16:creationId xmlns:a16="http://schemas.microsoft.com/office/drawing/2014/main" id="{C5DC1C39-22EA-4EC5-AA48-52C01026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865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Спасибо за внимание">
            <a:extLst xmlns:a="http://schemas.openxmlformats.org/drawingml/2006/main">
              <a:ext uri="{FF2B5EF4-FFF2-40B4-BE49-F238E27FC236}">
                <a16:creationId xmlns:a16="http://schemas.microsoft.com/office/drawing/2014/main" id="{F8430587-5841-4911-9959-76BCCDF1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Спасибо за внимание</a:t>
            </a:r>
          </a:p>
        </p:txBody>
      </p:sp>
      <p:sp>
        <p:nvSpPr>
          <p:cNvPr id="4" name="Вопросы и обсуждение">
            <a:extLst xmlns:a="http://schemas.openxmlformats.org/drawingml/2006/main">
              <a:ext uri="{FF2B5EF4-FFF2-40B4-BE49-F238E27FC236}">
                <a16:creationId xmlns:a16="http://schemas.microsoft.com/office/drawing/2014/main" id="{A07AFDC1-BA08-4BE3-AC49-915F59A6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07F78"/>
                </a:solidFill>
                <a:latin typeface="Arial"/>
                <a:ea typeface="Arial"/>
                <a:cs typeface="Arial"/>
              </a:rPr>
              <a:t>Вопросы и обсуждение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72BAF-F3E9-45C7-B352-61F535B1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4E1E0"/>
            </a:solidFill>
          </a:ln>
        </p:spPr>
      </p:sp>
      <p:sp>
        <p:nvSpPr>
          <p:cNvPr id="6" name=", , ">
            <a:extLst xmlns:a="http://schemas.openxmlformats.org/drawingml/2006/main">
              <a:ext uri="{FF2B5EF4-FFF2-40B4-BE49-F238E27FC236}">
                <a16:creationId xmlns:a16="http://schemas.microsoft.com/office/drawing/2014/main" id="{5668CE3A-6A6F-4131-8944-CB3DA37B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E579D-4DAE-4505-BA45-380F0DA8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Работа поддержана Российским научным фондом, соглашение № .">
            <a:extLst xmlns:a="http://schemas.openxmlformats.org/drawingml/2006/main">
              <a:ext uri="{FF2B5EF4-FFF2-40B4-BE49-F238E27FC236}">
                <a16:creationId xmlns:a16="http://schemas.microsoft.com/office/drawing/2014/main" id="{8F854F36-DC6C-4EFC-B609-BC1285F1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11218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Какие части данных мы использовали">
            <a:extLst xmlns:a="http://schemas.openxmlformats.org/drawingml/2006/main">
              <a:ext uri="{FF2B5EF4-FFF2-40B4-BE49-F238E27FC236}">
                <a16:creationId xmlns:a16="http://schemas.microsoft.com/office/drawing/2014/main" id="{C9192BF0-02DB-4776-8EED-9940866E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82B3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0"/>
                </a:solidFill>
                <a:latin typeface="Arial"/>
                <a:ea typeface="Arial"/>
                <a:cs typeface="Arial"/>
              </a:rPr>
              <a:t>Какие части данных мы использовали</a:t>
            </a:r>
          </a:p>
        </p:txBody>
      </p:sp>
      <p:sp>
        <p:nvSpPr>
          <p:cNvPr id="2" name="РЕЗЕРВ 1">
            <a:extLst xmlns:a="http://schemas.openxmlformats.org/drawingml/2006/main">
              <a:ext uri="{FF2B5EF4-FFF2-40B4-BE49-F238E27FC236}">
                <a16:creationId xmlns:a16="http://schemas.microsoft.com/office/drawing/2014/main" id="{6FB64FA0-FE5C-4760-8AD6-5AAB9A53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865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РЕЗЕРВ 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684F5-DDA2-4257-8EB6-3AA86FC08731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33750"/>
                <a:gridCol w="1905000"/>
                <a:gridCol w="5734050"/>
              </a:tblGrid>
              <a:tr h="5524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6970"/>
                          </a:solidFill>
                          <a:latin typeface="Arial"/>
                          <a:ea typeface="Arial"/>
                          <a:cs typeface="Arial"/>
                        </a:rPr>
                        <a:t>Набор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T w="0">
                      <a:solidFill>
                        <a:srgbClr val="FFFFFF"/>
                      </a:solidFill>
                    </a:lnT>
                    <a:solidFill>
                      <a:srgbClr val="EFF5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6970"/>
                          </a:solidFill>
                          <a:latin typeface="Arial"/>
                          <a:ea typeface="Arial"/>
                          <a:cs typeface="Arial"/>
                        </a:rPr>
                        <a:t>Запросы</a:t>
                      </a:r>
                    </a:p>
                  </a:txBody>
                  <a:tcPr marL="91440" marR="91440" marT="45720" marB="45720" anchor="ctr">
                    <a:lnT w="0">
                      <a:solidFill>
                        <a:srgbClr val="FFFFFF"/>
                      </a:solidFill>
                    </a:lnT>
                    <a:solidFill>
                      <a:srgbClr val="EFF5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6970"/>
                          </a:solidFill>
                          <a:latin typeface="Arial"/>
                          <a:ea typeface="Arial"/>
                          <a:cs typeface="Arial"/>
                        </a:rPr>
                        <a:t>Роль в исследовании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solidFill>
                      <a:srgbClr val="EFF5F5"/>
                    </a:solidFill>
                  </a:tcPr>
                </a:tc>
              </a:tr>
              <a:tr h="5524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Полная dev-часть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101 093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Масштабная оценка судьёй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dev/small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6 980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Исходная оценочная подвыборка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Ручная подвыборка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1 179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Доразметка 33 667 пар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Обучение судьи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825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Дообучение на ручных метках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Валидация судьи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177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Выбор порога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Тест судьи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FFFFFF"/>
                      </a:solidFill>
                    </a:lnL>
                    <a:lnB w="7620">
                      <a:solidFill>
                        <a:srgbClr val="D4E1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177</a:t>
                      </a:r>
                    </a:p>
                  </a:txBody>
                  <a:tcPr marL="91440" marR="91440" marT="45720" marB="45720" anchor="ctr">
                    <a:lnB w="7620">
                      <a:solidFill>
                        <a:srgbClr val="D4E1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2B30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на отложенных запросах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FFFFFF"/>
                      </a:solidFill>
                    </a:lnR>
                    <a:lnB w="7620">
                      <a:solidFill>
                        <a:srgbClr val="D4E1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Ручная подвыборка входит в dev/small, а dev/small входит в полную dev-">
            <a:extLst xmlns:a="http://schemas.openxmlformats.org/drawingml/2006/main">
              <a:ext uri="{FF2B5EF4-FFF2-40B4-BE49-F238E27FC236}">
                <a16:creationId xmlns:a16="http://schemas.microsoft.com/office/drawing/2014/main" id="{C3F9466B-844F-4F05-ACF8-877FF549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9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0"/>
                </a:solidFill>
                <a:latin typeface="Arial"/>
                <a:ea typeface="Arial"/>
                <a:cs typeface="Arial"/>
              </a:rPr>
              <a:t>Ручная подвыборка входит в dev/small, а dev/small входит в полную dev-часть.</a:t>
            </a:r>
          </a:p>
        </p:txBody>
      </p:sp>
    </p:spTree>
    <p:extLst>
      <p:ext uri="{BB962C8B-B14F-4D97-AF65-F5344CB8AC3E}">
        <p14:creationId xmlns:p14="http://schemas.microsoft.com/office/powerpoint/2010/main" val="713388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Presentation</dc:title>
  <dcterms:created xsi:type="dcterms:W3CDTF"/>
  <dcterms:modified xsi:type="dcterms:W3CDTF"/>
</coreProperties>
</file>