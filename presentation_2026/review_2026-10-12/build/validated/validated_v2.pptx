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7fb4a3ecc47149b1"/><Relationship Type="http://schemas.openxmlformats.org/officeDocument/2006/relationships/extended-properties" Target="/docProps/app.xml" Id="R32f23a33e5534aaf"/><Relationship Type="http://schemas.openxmlformats.org/officeDocument/2006/relationships/officeDocument" Target="/ppt/presentation.xml" Id="R20e01e1bd5414541"/></Relationships>
</file>

<file path=ppt/presentation.xml><?xml version="1.0" encoding="utf-8"?>
<p:presentation xmlns:p="http://schemas.openxmlformats.org/presentationml/2006/main">
  <p:sldMasterIdLst>
    <p:sldMasterId xmlns:r="http://schemas.openxmlformats.org/officeDocument/2006/relationships" id="2147483648" r:id="R59517b2bffc047a2"/>
  </p:sldMasterIdLst>
  <p:notesMasterIdLst>
    <p:notesMasterId xmlns:r="http://schemas.openxmlformats.org/officeDocument/2006/relationships" r:id="R96d77d4526884098"/>
  </p:notesMasterIdLst>
  <p:sldIdLst>
    <p:sldId xmlns:ns0="http://schemas.openxmlformats.org/officeDocument/2006/relationships" id="276" ns0:id="R1b78786234bc4c34"/>
    <p:sldId xmlns:ns1="http://schemas.openxmlformats.org/officeDocument/2006/relationships" id="277" ns1:id="R308caa75f4974794"/>
    <p:sldId xmlns:ns2="http://schemas.openxmlformats.org/officeDocument/2006/relationships" id="278" ns2:id="Rc2e16312072346fc"/>
    <p:sldId xmlns:ns3="http://schemas.openxmlformats.org/officeDocument/2006/relationships" id="279" ns3:id="Rbc07fb6187dc441f"/>
    <p:sldId xmlns:ns4="http://schemas.openxmlformats.org/officeDocument/2006/relationships" id="280" ns4:id="R49d790a9626c4166"/>
    <p:sldId xmlns:ns5="http://schemas.openxmlformats.org/officeDocument/2006/relationships" id="281" ns5:id="R9bebf51513b54225"/>
    <p:sldId xmlns:ns6="http://schemas.openxmlformats.org/officeDocument/2006/relationships" id="282" ns6:id="Reade4cf27cdf471e"/>
    <p:sldId xmlns:ns7="http://schemas.openxmlformats.org/officeDocument/2006/relationships" id="283" ns7:id="Ra91d658d1c494a24"/>
    <p:sldId xmlns:ns8="http://schemas.openxmlformats.org/officeDocument/2006/relationships" id="284" ns8:id="Rae29bbe8b5c74d30"/>
    <p:sldId xmlns:ns9="http://schemas.openxmlformats.org/officeDocument/2006/relationships" id="285" ns9:id="Rc945c2d106ca4687"/>
    <p:sldId xmlns:ns10="http://schemas.openxmlformats.org/officeDocument/2006/relationships" id="286" ns10:id="rAddedSlide21"/>
    <p:sldId xmlns:ns11="http://schemas.openxmlformats.org/officeDocument/2006/relationships" id="287" ns11:id="rAddedSlide22"/>
    <p:sldId xmlns:ns12="http://schemas.openxmlformats.org/officeDocument/2006/relationships" id="288" ns12:id="R1a7923ae1afc4511"/>
    <p:sldId xmlns:ns13="http://schemas.openxmlformats.org/officeDocument/2006/relationships" id="289" ns13:id="rAddedSlide23"/>
    <p:sldId xmlns:ns14="http://schemas.openxmlformats.org/officeDocument/2006/relationships" id="290" ns14:id="Re57df592b105476d"/>
    <p:sldId xmlns:ns15="http://schemas.openxmlformats.org/officeDocument/2006/relationships" id="291" ns15:id="R1fa05d50cb0c43a1"/>
    <p:sldId xmlns:ns16="http://schemas.openxmlformats.org/officeDocument/2006/relationships" id="292" ns16:id="R08ec46a784e14088"/>
    <p:sldId xmlns:ns17="http://schemas.openxmlformats.org/officeDocument/2006/relationships" id="293" ns17:id="R687a3932498c4456"/>
    <p:sldId xmlns:ns18="http://schemas.openxmlformats.org/officeDocument/2006/relationships" id="294" ns18:id="rAddedSlide24"/>
    <p:sldId xmlns:ns19="http://schemas.openxmlformats.org/officeDocument/2006/relationships" id="295" ns19:id="rAddedSlide25"/>
    <p:sldId xmlns:ns20="http://schemas.openxmlformats.org/officeDocument/2006/relationships" id="296" ns20:id="rAddedSlide26"/>
    <p:sldId xmlns:ns21="http://schemas.openxmlformats.org/officeDocument/2006/relationships" id="297" ns21:id="R76b154ba5e7e4d24"/>
    <p:sldId xmlns:ns22="http://schemas.openxmlformats.org/officeDocument/2006/relationships" id="298" ns22:id="Rccd64b9c89fa4245"/>
    <p:sldId xmlns:ns23="http://schemas.openxmlformats.org/officeDocument/2006/relationships" id="299" ns23:id="R4d2c3a6ab9ed4645"/>
    <p:sldId xmlns:ns24="http://schemas.openxmlformats.org/officeDocument/2006/relationships" id="300" ns24:id="R47fdfe65a7c74b49"/>
    <p:sldId xmlns:ns25="http://schemas.openxmlformats.org/officeDocument/2006/relationships" id="301" ns25:id="R9953b0c292f247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ab0eba8d397a424e"/><Relationship Type="http://schemas.openxmlformats.org/officeDocument/2006/relationships/slideMaster" Target="/ppt/slideMasters/slideMaster1.xml" Id="R59517b2bffc047a2"/><Relationship Type="http://schemas.openxmlformats.org/officeDocument/2006/relationships/notesMaster" Target="/ppt/notesMasters/notesMaster1.xml" Id="R96d77d4526884098"/><Relationship Type="http://schemas.openxmlformats.org/officeDocument/2006/relationships/presProps" Target="/ppt/presProps.xml" Id="Rc25933a6aa6b4975"/><Relationship Type="http://schemas.openxmlformats.org/officeDocument/2006/relationships/tableStyles" Target="/ppt/tableStyles.xml" Id="Ra77222ad7d614f9f"/><Relationship Type="http://schemas.openxmlformats.org/officeDocument/2006/relationships/slide" Target="/ppt/slides/slide1.xml" Id="R1b78786234bc4c34"/><Relationship Type="http://schemas.openxmlformats.org/officeDocument/2006/relationships/slide" Target="/ppt/slides/slide2.xml" Id="R308caa75f4974794"/><Relationship Type="http://schemas.openxmlformats.org/officeDocument/2006/relationships/slide" Target="/ppt/slides/slide3.xml" Id="Rc2e16312072346fc"/><Relationship Type="http://schemas.openxmlformats.org/officeDocument/2006/relationships/slide" Target="/ppt/slides/slide4.xml" Id="Rbc07fb6187dc441f"/><Relationship Type="http://schemas.openxmlformats.org/officeDocument/2006/relationships/slide" Target="/ppt/slides/slide5.xml" Id="R49d790a9626c4166"/><Relationship Type="http://schemas.openxmlformats.org/officeDocument/2006/relationships/slide" Target="/ppt/slides/slide6.xml" Id="R9bebf51513b54225"/><Relationship Type="http://schemas.openxmlformats.org/officeDocument/2006/relationships/slide" Target="/ppt/slides/slide7.xml" Id="Reade4cf27cdf471e"/><Relationship Type="http://schemas.openxmlformats.org/officeDocument/2006/relationships/slide" Target="/ppt/slides/slide8.xml" Id="Ra91d658d1c494a24"/><Relationship Type="http://schemas.openxmlformats.org/officeDocument/2006/relationships/slide" Target="/ppt/slides/slide9.xml" Id="Rae29bbe8b5c74d30"/><Relationship Type="http://schemas.openxmlformats.org/officeDocument/2006/relationships/slide" Target="/ppt/slides/slide10.xml" Id="Rc945c2d106ca4687"/><Relationship Type="http://schemas.openxmlformats.org/officeDocument/2006/relationships/slide" Target="/ppt/slides/slide11.xml" Id="R1a7923ae1afc4511"/><Relationship Type="http://schemas.openxmlformats.org/officeDocument/2006/relationships/slide" Target="/ppt/slides/slide12.xml" Id="Re57df592b105476d"/><Relationship Type="http://schemas.openxmlformats.org/officeDocument/2006/relationships/slide" Target="/ppt/slides/slide13.xml" Id="R1fa05d50cb0c43a1"/><Relationship Type="http://schemas.openxmlformats.org/officeDocument/2006/relationships/slide" Target="/ppt/slides/slide14.xml" Id="R08ec46a784e14088"/><Relationship Type="http://schemas.openxmlformats.org/officeDocument/2006/relationships/slide" Target="/ppt/slides/slide15.xml" Id="R687a3932498c4456"/><Relationship Type="http://schemas.openxmlformats.org/officeDocument/2006/relationships/slide" Target="/ppt/slides/slide16.xml" Id="R76b154ba5e7e4d24"/><Relationship Type="http://schemas.openxmlformats.org/officeDocument/2006/relationships/slide" Target="/ppt/slides/slide17.xml" Id="Rccd64b9c89fa4245"/><Relationship Type="http://schemas.openxmlformats.org/officeDocument/2006/relationships/slide" Target="/ppt/slides/slide18.xml" Id="R4d2c3a6ab9ed4645"/><Relationship Type="http://schemas.openxmlformats.org/officeDocument/2006/relationships/slide" Target="/ppt/slides/slide19.xml" Id="R47fdfe65a7c74b49"/><Relationship Type="http://schemas.openxmlformats.org/officeDocument/2006/relationships/slide" Target="/ppt/slides/slide20.xml" Id="R9953b0c292f247df"/><Relationship Id="rAddedSlide21" Type="http://schemas.openxmlformats.org/officeDocument/2006/relationships/slide" Target="/ppt/slides/slide21.xml"/><Relationship Id="rAddedSlide22" Type="http://schemas.openxmlformats.org/officeDocument/2006/relationships/slide" Target="/ppt/slides/slide22.xml"/><Relationship Id="rAddedSlide23" Type="http://schemas.openxmlformats.org/officeDocument/2006/relationships/slide" Target="/ppt/slides/slide23.xml"/><Relationship Id="rAddedSlide24" Type="http://schemas.openxmlformats.org/officeDocument/2006/relationships/slide" Target="/ppt/slides/slide24.xml"/><Relationship Id="rAddedSlide25" Type="http://schemas.openxmlformats.org/officeDocument/2006/relationships/slide" Target="/ppt/slides/slide25.xml"/><Relationship Id="rAddedSlide26" Type="http://schemas.openxmlformats.org/officeDocument/2006/relationships/slide" Target="/ppt/slides/slide26.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df3bc83623e54fa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d819a0d5dee94248"/><Relationship Type="http://schemas.openxmlformats.org/officeDocument/2006/relationships/notesMaster" Target="/ppt/notesMasters/notesMaster1.xml" Id="R78dbfa4c83974c73"/></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0872be84bd74c90"/><Relationship Type="http://schemas.openxmlformats.org/officeDocument/2006/relationships/notesMaster" Target="/ppt/notesMasters/notesMaster1.xml" Id="R0a7755347a23463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1f84b4ecbb6e4f18"/><Relationship Type="http://schemas.openxmlformats.org/officeDocument/2006/relationships/notesMaster" Target="/ppt/notesMasters/notesMaster1.xml" Id="R12268708981845f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87a8831cc964700"/><Relationship Type="http://schemas.openxmlformats.org/officeDocument/2006/relationships/notesMaster" Target="/ppt/notesMasters/notesMaster1.xml" Id="Rac72e978765e4f3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98dafedf4834424"/><Relationship Type="http://schemas.openxmlformats.org/officeDocument/2006/relationships/notesMaster" Target="/ppt/notesMasters/notesMaster1.xml" Id="R2bf373a1fc5248a3"/></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2959334d7f074c9b"/><Relationship Type="http://schemas.openxmlformats.org/officeDocument/2006/relationships/notesMaster" Target="/ppt/notesMasters/notesMaster1.xml" Id="R782cc6168c42404b"/></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e97f805d1b14d4a"/><Relationship Type="http://schemas.openxmlformats.org/officeDocument/2006/relationships/notesMaster" Target="/ppt/notesMasters/notesMaster1.xml" Id="R1f4f6d6b608940a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9536fb6e95240d4"/><Relationship Type="http://schemas.openxmlformats.org/officeDocument/2006/relationships/notesMaster" Target="/ppt/notesMasters/notesMaster1.xml" Id="R96ca1fd56a524b2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7ce650ea03c46e3"/><Relationship Type="http://schemas.openxmlformats.org/officeDocument/2006/relationships/notesMaster" Target="/ppt/notesMasters/notesMaster1.xml" Id="Ra99d10b0bf0a4ed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d0f458622284362"/><Relationship Type="http://schemas.openxmlformats.org/officeDocument/2006/relationships/notesMaster" Target="/ppt/notesMasters/notesMaster1.xml" Id="R4fa9ce9b0ae4426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0fcbb8bc0b444c63"/><Relationship Type="http://schemas.openxmlformats.org/officeDocument/2006/relationships/notesMaster" Target="/ppt/notesMasters/notesMaster1.xml" Id="R9bc05418d64d4e0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daacc99cfba421c"/><Relationship Type="http://schemas.openxmlformats.org/officeDocument/2006/relationships/notesMaster" Target="/ppt/notesMasters/notesMaster1.xml" Id="Rd5dd82eba2b44c7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87b6ef3585f4933"/><Relationship Type="http://schemas.openxmlformats.org/officeDocument/2006/relationships/notesMaster" Target="/ppt/notesMasters/notesMaster1.xml" Id="R549f2062f23e4c6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ea18d135cd9e43b1"/><Relationship Type="http://schemas.openxmlformats.org/officeDocument/2006/relationships/notesMaster" Target="/ppt/notesMasters/notesMaster1.xml" Id="R545fc6b50a27458c"/></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ddc8fa565a1400c"/><Relationship Type="http://schemas.openxmlformats.org/officeDocument/2006/relationships/notesMaster" Target="/ppt/notesMasters/notesMaster1.xml" Id="R95fadb2f21db415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73c27a0ca4174d2a"/><Relationship Type="http://schemas.openxmlformats.org/officeDocument/2006/relationships/notesMaster" Target="/ppt/notesMasters/notesMaster1.xml" Id="R97691a278cf24d65"/></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7a7d3a35b34c4a0b"/><Relationship Type="http://schemas.openxmlformats.org/officeDocument/2006/relationships/notesMaster" Target="/ppt/notesMasters/notesMaster1.xml" Id="R83ee8e6f9b224bc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4991df8a0db4707"/><Relationship Type="http://schemas.openxmlformats.org/officeDocument/2006/relationships/notesMaster" Target="/ppt/notesMasters/notesMaster1.xml" Id="Rc26d97ace02a41cd"/></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247b1f2cd7848e5"/><Relationship Type="http://schemas.openxmlformats.org/officeDocument/2006/relationships/notesMaster" Target="/ppt/notesMasters/notesMaster1.xml" Id="R4a9ed6f673b84c42"/></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d6681c2c5a984720"/><Relationship Type="http://schemas.openxmlformats.org/officeDocument/2006/relationships/notesMaster" Target="/ppt/notesMasters/notesMaster1.xml" Id="Rfde93e5a727b41c1"/></Relationships>
</file>

<file path=ppt/notesSlides/_rels/notesSlide21.xml.rels><?xml version='1.0' encoding='UTF-8' standalone='yes'?>
<Relationships xmlns="http://schemas.openxmlformats.org/package/2006/relationships"><Relationship Id="rSlide" Type="http://schemas.openxmlformats.org/officeDocument/2006/relationships/slide" Target="/ppt/slides/slide21.xml"/><Relationship Id="rMaster" Type="http://schemas.openxmlformats.org/officeDocument/2006/relationships/notesMaster" Target="/ppt/notesMasters/notesMaster1.xml"/></Relationships>
</file>

<file path=ppt/notesSlides/_rels/notesSlide22.xml.rels><?xml version='1.0' encoding='UTF-8' standalone='yes'?>
<Relationships xmlns="http://schemas.openxmlformats.org/package/2006/relationships"><Relationship Id="rSlide" Type="http://schemas.openxmlformats.org/officeDocument/2006/relationships/slide" Target="/ppt/slides/slide22.xml"/><Relationship Id="rMaster" Type="http://schemas.openxmlformats.org/officeDocument/2006/relationships/notesMaster" Target="/ppt/notesMasters/notesMaster1.xml"/></Relationships>
</file>

<file path=ppt/notesSlides/_rels/notesSlide23.xml.rels><?xml version='1.0' encoding='UTF-8' standalone='yes'?>
<Relationships xmlns="http://schemas.openxmlformats.org/package/2006/relationships"><Relationship Id="rSlide" Type="http://schemas.openxmlformats.org/officeDocument/2006/relationships/slide" Target="/ppt/slides/slide23.xml"/><Relationship Id="rMaster" Type="http://schemas.openxmlformats.org/officeDocument/2006/relationships/notesMaster" Target="/ppt/notesMasters/notesMaster1.xml"/></Relationships>
</file>

<file path=ppt/notesSlides/_rels/notesSlide24.xml.rels><?xml version='1.0' encoding='UTF-8' standalone='yes'?>
<Relationships xmlns="http://schemas.openxmlformats.org/package/2006/relationships"><Relationship Id="rSlide" Type="http://schemas.openxmlformats.org/officeDocument/2006/relationships/slide" Target="/ppt/slides/slide24.xml"/><Relationship Id="rMaster" Type="http://schemas.openxmlformats.org/officeDocument/2006/relationships/notesMaster" Target="/ppt/notesMasters/notesMaster1.xml"/></Relationships>
</file>

<file path=ppt/notesSlides/_rels/notesSlide25.xml.rels><?xml version='1.0' encoding='UTF-8' standalone='yes'?>
<Relationships xmlns="http://schemas.openxmlformats.org/package/2006/relationships"><Relationship Id="rSlide" Type="http://schemas.openxmlformats.org/officeDocument/2006/relationships/slide" Target="/ppt/slides/slide25.xml"/><Relationship Id="rMaster" Type="http://schemas.openxmlformats.org/officeDocument/2006/relationships/notesMaster" Target="/ppt/notesMasters/notesMaster1.xml"/></Relationships>
</file>

<file path=ppt/notesSlides/_rels/notesSlide26.xml.rels><?xml version='1.0' encoding='UTF-8' standalone='yes'?>
<Relationships xmlns="http://schemas.openxmlformats.org/package/2006/relationships"><Relationship Id="rSlide" Type="http://schemas.openxmlformats.org/officeDocument/2006/relationships/slide" Target="/ppt/slides/slide26.xml"/><Relationship Id="rMaster" Type="http://schemas.openxmlformats.org/officeDocument/2006/relationships/notesMaster" Target="/pp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Здравствуйте!  Я представлю нашу работу по углублённой доразметке MS MARCO и оценке поиска на контролируемых пулах кандидатов, .</ns0:t>
            </ns0:r>
          </ns0:p>
          <ns1:p xmlns:ns1="http://schemas.openxmlformats.org/drawingml/2006/main">
            <ns1:r>
              <ns1: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ns0:t>
            </ns0:r>
          </ns0:p>
          <ns1:p xmlns:ns1="http://schemas.openxmlformats.org/drawingml/2006/main">
            <ns1:r>
              <ns1: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MS MARCO: https://arxiv.org/abs/1611.09268</ns5:t>
            </ns5:r>
          </ns5:p>
          <ns6:p xmlns:ns6="http://schemas.openxmlformats.org/drawingml/2006/main">
            <ns6:r>
              <ns6:t>Natural Questions: https://aclanthology.org/Q19-1026/</ns6:t>
            </ns6:r>
          </ns6:p>
          <ns7:p xmlns:ns7="http://schemas.openxmlformats.org/drawingml/2006/main">
            <ns7:r>
              <ns7:t>BEIR: https://arxiv.org/abs/2104.08663</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ns0:t>
            </ns0:r>
          </ns0:p>
          <ns1:p xmlns:ns1="http://schemas.openxmlformats.org/drawingml/2006/main">
            <ns1:r>
              <ns1:t>Размах опубликованных оценок составляет 0,014. Значения близки, но это ещё не доказывает ни равенство систем, ни неполноту разметки. Мы задаём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её с этой таблицей нельзя.</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Историческая таблица MS MARCO Passage Ranking, срез 30 ноября 2022 года. https://github.com/microsoft/MSMARCO-Passage-Ranking-Submissions/blob/abb44144f563e7972d5131f5d6acc2092877964c/leaderboard/leaderboard.csv</ns5:t>
            </ns5:r>
          </ns5:p>
          <ns6:p xmlns:ns6="http://schemas.openxmlformats.org/drawingml/2006/main">
            <ns6:r>
              <ns6:t>Показаны четыре лучшие именованные заявки по eval среди full ranking. Анонимные заявки не включены. Значения округлены как в официальном CSV. https://microsoft.github.io/msmarco/Submission.html</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растворённого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её повышения.</ns0:t>
            </ns0:r>
          </ns0:p>
          <ns1:p xmlns:ns1="http://schemas.openxmlformats.org/drawingml/2006/main">
            <ns1:r>
              <ns1:t>Оценки релевантности обычно называют qrels, от английского query relevance judgments. Это оценки того, насколько текст соответствует запросу. В нашем расчёте метрики неразмеченный фрагмент даёт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Сначала рассмотрим человеческие оценки. В англоязычном корпусе MS MARCO около 8,84 миллиона фрагментов. Стандартная оценочная подвыборка dev/small содержит 6 980 запросов и 7 437 исходных положительных пар. Пара здесь означает один запрос и один фрагмент, связанный с ним оценкой релевантности.</ns0:t>
            </ns0:r>
          </ns0:p>
          <ns1:p xmlns:ns1="http://schemas.openxmlformats.org/drawingml/2006/main">
            <ns1:r>
              <ns1:t>Из dev/small взяты 1 179 запросов для расширенной ручной разметки. Для них оценены 33 667 различных пар. Под углублённой доразметкой мы понимаем оценку нескольких кандидатов для каждого запроса внутри заданного пула. Речь идёт об охвате разметки, а не о глубине нейросети или полной разметке всего корпуса.</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MS MARCO Passage Ranking v1. https://ir-datasets.com/msmarco-passage.html#msmarco-passage/dev</ns5:t>
            </ns5:r>
          </ns5:p>
          <ns6:p xmlns:ns6="http://schemas.openxmlformats.org/drawingml/2006/main">
            <ns6:r>
              <ns6:t>Архив запросов: https://msmarco.z22.web.core.windows.net/msmarcoranking/queries.tar.gz</ns6:t>
            </ns6:r>
          </ns6:p>
          <ns7:p xmlns:ns7="http://schemas.openxmlformats.org/drawingml/2006/main">
            <ns7:r>
              <ns7:t>MS MARCO Passage Ranking dev/small. https://ir-datasets.com/msmarco-passage.html#msmarco-passage/dev/small</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сохранённый список, полученный поиском по запросу, добавляет в пул десять результатов.</ns0:t>
            </ns0:r>
          </ns0:p>
          <ns1:p xmlns:ns1="http://schemas.openxmlformats.org/drawingml/2006/main">
            <ns1:r>
              <ns1: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ns1:t>
            </ns1:r>
          </ns1:p>
          <ns2:p xmlns:ns2="http://schemas.openxmlformats.org/drawingml/2006/main">
            <ns2:r>
              <ns2: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ns0:t>
            </ns0:r>
          </ns0:p>
          <ns1:p xmlns:ns1="http://schemas.openxmlformats.org/drawingml/2006/main">
            <ns1:r>
              <ns1: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ns1:t>
            </ns1:r>
          </ns1:p>
          <ns2:p xmlns:ns2="http://schemas.openxmlformats.org/drawingml/2006/main">
            <ns2:r>
              <ns2: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её влияние на измеряемое качество при неизменной выдаче.</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Качество ранжирования мы измеряем с помощью NDCG на первых десяти позициях. Метрика даёт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ns0:t>
            </ns0:r>
          </ns0:p>
          <ns1:p xmlns:ns1="http://schemas.openxmlformats.org/drawingml/2006/main">
            <ns1:r>
              <ns1:t>В сравнение включён и RRF, метод слияния по обратным рангам. Он объединяет списки BM25, E5 и BGE, используя позиции результатов, а не исходные численные оценки этих моделей.</ns1:t>
            </ns1:r>
          </ns1:p>
          <ns2:p xmlns:ns2="http://schemas.openxmlformats.org/drawingml/2006/main">
            <ns2:r>
              <ns2:t>Серые столбцы соответствуют исходным qrels, а зелёные показывают результаты по ручной разметке. Среднее качество растёт у всех четырёх систем. У E5 значение NDCG увеличивается с 0,488 до 0,879. Средний прирост в парном сравнении составляет около 0,391; доверительный интервал показан под графиком.</ns2:t>
            </ns2:r>
          </ns2:p>
          <ns3:p xmlns:ns3="http://schemas.openxmlformats.org/drawingml/2006/main">
            <ns3:r>
              <ns3:t>Здесь изменилась оценка качества благодаря более полной разметке. Сами поисковые системы мы не улучшали и не переобучали. Их порядок остаётся прежним: E5, RRF, BGE и BM25. Это результаты внутри размеченных пулов, а не показатели поиска по всему корпусу для общей таблицы лидеров.</ns3:t>
            </ns3:r>
          </ns3:p>
          <ns4:p xmlns:ns4="http://schemas.openxmlformats.org/drawingml/2006/main">
            <ns4:r>
              <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BM25: https://doi.org/10.1561/1500000019</ns7:t>
            </ns7:r>
          </ns7:p>
          <ns8:p xmlns:ns8="http://schemas.openxmlformats.org/drawingml/2006/main">
            <ns8:r>
              <ns8:t>E5: https://arxiv.org/abs/2212.03533</ns8:t>
            </ns8:r>
          </ns8:p>
          <ns9:p xmlns:ns9="http://schemas.openxmlformats.org/drawingml/2006/main">
            <ns9:r>
              <ns9:t>Модель E5: https://huggingface.co/intfloat/e5-small-v2</ns9:t>
            </ns9:r>
          </ns9:p>
          <ns10:p xmlns:ns10="http://schemas.openxmlformats.org/drawingml/2006/main">
            <ns10:r>
              <ns10:t>Модель BGE: https://huggingface.co/BAAI/bge-small-en-v1.5</ns10:t>
            </ns10:r>
          </ns10:p>
          <ns11:p xmlns:ns11="http://schemas.openxmlformats.org/drawingml/2006/main">
            <ns11:r>
              <ns11:t>Cormack, Clarke, Büttcher. Reciprocal Rank Fusion outperforms Condorcet and individual Rank Learning Methods. SIGIR 2009. https://doi.org/10.1145/1571941.1572114</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Человеческие оценки позволили измерить эффект доразметки. Но проверять вручную гораздо более крупные пулы дорого. Поэтому мы дообучили компактный кросс-энкодер MiniLM на этих оценках и используем его как модель-судью. Он предсказывает релевантность пары из запроса и фрагмента. Такие предсказания называем псевдометками, чтобы отличать их от человеческих оценок.</ns0:t>
            </ns0:r>
          </ns0:p>
          <ns1:p xmlns:ns1="http://schemas.openxmlformats.org/drawingml/2006/main">
            <ns1:r>
              <ns1: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ns1:t>
            </ns1:r>
          </ns1:p>
          <ns2:p xmlns:ns2="http://schemas.openxmlformats.org/drawingml/2006/main">
            <ns2:r>
              <ns2:t>Ручная разметка нужна и для дообучения судьи, и для проверки его ошибок на отложенных запросах. Поисковые модели при этом сохраняют свою роль: они находят кандидатов, которых затем оценивает судья. Сначала покажу, насколько его предсказания согласуются с человеческими оценками.</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Wang et al. MiniLM. 2020. https://arxiv.org/abs/2002.10957</ns6:t>
            </ns6:r>
          </ns6:p>
          <ns7:p xmlns:ns7="http://schemas.openxmlformats.org/drawingml/2006/main">
            <ns7:r>
              <ns7:t>Исходная модель: https://huggingface.co/cross-encoder/ms-marco-MiniLM-L6-v2</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Всю ручную подвыборку разделили по запросам: 825 для дообучения, 177 для валидации и 177 для теста. Все пары одного запроса остаются в одной части. Это наше внутреннее разбиение для судьи внутри dev/small, а не исходные train и test всего MS MARCO.</ns0:t>
            </ns0:r>
          </ns0:p>
          <ns1:p xmlns:ns1="http://schemas.openxmlformats.org/drawingml/2006/main">
            <ns1:r>
              <ns1:t>На валидационной части выбрали порог минус 0,2187. Если выходной балл судьи не ниже этого порога, присваиваем положительную псевдометку. Отрицательный порог допустим: модель выдаёт балл, а не вероятность. После выбора порога его фиксируем.</ns1:t>
            </ns1:r>
          </ns1:p>
          <ns2:p xmlns:ns2="http://schemas.openxmlformats.org/drawingml/2006/main">
            <ns2:r>
              <ns2:t>На тестовых 177 запросах и 5 002 парах площадь под ROC-кривой составляет 0,907, а F1 при выбранном пороге равна 0,875. Точность составляет 0,851, полнота 0,902. Это согласие с человеческими оценками в ручных пулах. Проверка не гарантирует такого же качества на более глубоких пулах.</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Wang et al. MiniLM. 2020. https://arxiv.org/abs/2002.10957</ns6:t>
            </ns6:r>
          </ns6:p>
          <ns7:p xmlns:ns7="http://schemas.openxmlformats.org/drawingml/2006/main">
            <ns7:r>
              <ns7:t>Исходная модель: https://huggingface.co/cross-encoder/ms-marco-MiniLM-L6-v2</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При увеличении K с десяти до двухсот средний размер пула растёт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ns0:t>
            </ns0:r>
          </ns0:p>
          <ns1:p xmlns:ns1="http://schemas.openxmlformats.org/drawingml/2006/main">
            <ns1:r>
              <ns1: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Здесь мы сравниваем RRF с E5 и различаем две глубины. K задаёт число результатов от каждой системы в пуле для разметки. L задаёт число результатов, поступающих на слияние рангов. В этой конфигурации обе величины растут вместе: L равно K.</ns0:t>
            </ns0:r>
          </ns0:p>
          <ns1:p xmlns:ns1="http://schemas.openxmlformats.org/drawingml/2006/main">
            <ns1:r>
              <ns1:t>По горизонтальной оси отложена разность NDCG: RRF минус E5. Значения слева от нуля означают преимущество E5, справа от нуля преимущество RRF. При K, равном десяти, RRF уступает. На четырёх больших глубинах разность небольшая, но положительная. При глубине двести она составляет около 0,0088.</ns1:t>
            </ns1:r>
          </ns1:p>
          <ns2:p xmlns:ns2="http://schemas.openxmlformats.org/drawingml/2006/main">
            <ns2:r>
              <ns2:t>Интервалы получены парным бутстрэпом по запросам. Они рассчитаны для фиксированной модели-судьи и не учитывают неопределённость её обучения и ошибки разметки. Кроме того, здесь одновременно меняются и охват, и входные списки для слияния. Чтобы яснее выделить влияние охвата, дальше зафиксируем ранжирование.</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ns0:t>
            </ns0:r>
          </ns0:p>
          <ns1:p xmlns:ns1="http://schemas.openxmlformats.org/drawingml/2006/main">
            <ns1:r>
              <ns1:t>Даже при такой неизменной выдаче преимущество переходит от одной системы к другой. Разность RRF минус E5 составляет примерно минус 0,066 при K, равном десяти, и плюс 0,008 при K, равном тридцати.</ns1:t>
            </ns1:r>
          </ns1:p>
          <ns2:p xmlns:ns2="http://schemas.openxmlformats.org/drawingml/2006/main">
            <ns2:r>
              <ns2:t>Подпись справа помогает понять роль охвата. На минимальной глубине 14,4 процента пар из первых десяти результатов RRF оказываются за пределами размеченного пула. В метрике они получают нулевой вклад, поскольку не оценены. Это вовсе не означает, что все эти фрагменты релевантны.</ns2:t>
            </ns2:r>
          </ns2:p>
          <ns3:p xmlns:ns3="http://schemas.openxmlformats.org/drawingml/2006/main">
            <ns3:r>
              <ns3:t>Более широкий пул даёт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ns3:t>
            </ns3:r>
          </ns3:p>
          <ns4:p xmlns:ns4="http://schemas.openxmlformats.org/drawingml/2006/main">
            <ns4:r>
              <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Cormack, Clarke, Büttcher. Reciprocal Rank Fusion outperforms Condorcet and individual Rank Learning Methods. SIGIR 2009. https://doi.org/10.1145/1571941.1572114</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Мы проверили чувствительность результатов к двум исключениям. В ручном эксперименте удалили 23 запроса, для которых оставались неясности с категориями меток или встречались пустые тексты. Порядок систем не изменился. В масштабном эксперименте после исключения всех запросов с ручной разметкой остаётся 99 914 запросов. Знаки различий между RRF и E5 сохраняются на всех проверенных глубинах.</ns0:t>
            </ns0:r>
          </ns0:p>
          <ns1:p xmlns:ns1="http://schemas.openxmlformats.org/drawingml/2006/main">
            <ns1:r>
              <ns1:t>Эти проверки касаются конкретных проблем данных и пересечения двух наборов запросов, но не устраняют все возможные смещения. Ручные пулы используют информацию об эталонном ответе; согласие между разметчиками не измерялось. Масштабный эксперимент опирается на одну компактную модель-судью, а более глубокие пулы не проходили независимую ручную проверку.</ns1:t>
            </ns1:r>
          </ns1:p>
          <ns2:p xmlns:ns2="http://schemas.openxmlformats.org/drawingml/2006/main">
            <ns2:r>
              <ns2:t>Поэтому наши выводы относятся к выбранным англоязычным пулам MS MARCO. Переносимость результатов на другие языки, предметные области и поисковые сервисы ещё предстоит проверить.</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Подведу итог. Более полная ручная разметка существенно меняет оценку уже полученных результатов поиска. В наших ручных пулах NDCG системы E5 увеличивается с 0,488 до 0,879 при совершенно неизменном ранжировании.</ns0:t>
            </ns0:r>
          </ns0:p>
          <ns1:p xmlns:ns1="http://schemas.openxmlformats.org/drawingml/2006/main">
            <ns1:r>
              <ns1:t>Масштабный эксперимент показывает, что охват разметки способен даже поменять местами RRF и E5 в сравнении качества при фиксированной выдаче обеих систем. Этот результат получен с одной моделью-судьёй и зависит от её оценок.</ns1:t>
            </ns1:r>
          </ns1:p>
          <ns2:p xmlns:ns2="http://schemas.openxmlformats.org/drawingml/2006/main">
            <ns2:r>
              <ns2:t>Поэтому вместе с метрикой качества поиска нужно указывать пул разметки, источник меток и настройки слияния. На следующем этапе мы сравним более сильные модели-судьи с доступом к известному релевантному фрагменту и без него, используя независимые человеческие оценки для проверки. Этот эксперимент запланирован, но пока не выполнен.</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ручном сравнении поисковая выдача не менялась. Изменились метки, по которым мы её оцениваем: ранее неоценённые полезные ответы стали давать вклад в метрику. Поэтому выросла измеренная оценка качества, а не возможности самой поисковой модели. NDCG@10 учитывает релевантность в первой десятке с большим весом верхних позиций и нормирует её относительно идеальной выдачи.</ns0:t>
            </ns0:r>
          </ns0:p>
          <ns1:p xmlns:ns1="http://schemas.openxmlformats.org/drawingml/2006/main">
            <ns1:r>
              <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Используется ненормированный выходной балл модели. Его шкала допускает отрицательные числа и не совпадает со шкалой вероятностей от нуля до единицы. Порог −0,2187178284 выбрали на 177 валидационных запросах и затем не меняли ни для теста, ни для разных K. На слайдах значение округлено до −0,2187. Тестовая F1 при этом пороге равна 0,875.</ns0:t>
            </ns0:r>
          </ns0:p>
          <ns1:p xmlns:ns1="http://schemas.openxmlformats.org/drawingml/2006/main">
            <ns1:r>
              <ns1:t>На 5 002 тестовых парах получены 2 882 верных положительных и 1 300 верных отрицательных решения, 506 ложноположительных и 314 ложноотрицательных. Точность 0,851 означает, что около 85% положительных предсказаний совпали с целевыми ручными метками на этом тесте. Эти доли нельзя автоматически переносить на все более глубокие пулы.</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 определяет, сколько результатов от каждой системы попадает в пул разметки. L определяет, сколько результатов от каждой системы поступает на слияние RRF. В первом сравнении L равно K, поэтому меняются и пул, и итоговое ранжирование. В контрольном сравнении L всегда равно 200: выдача фиксирована, меняется только пул с оценками. Повторяющиеся кандидаты учитываются один раз.</ns0:t>
            </ns0:r>
          </ns0:p>
          <ns1:p xmlns:ns1="http://schemas.openxmlformats.org/drawingml/2006/main">
            <ns1:r>
              <ns1:t>Нет. RRF суммирует величины, зависящие от места документа в списках BM25, E5 и BGE: 1/(60 + место). Веса источников одинаковы. Сырые поисковые баллы и оценки судьи в формулу не входят. Например, первое место у любого источника даёт вклад 1/61. Судья используется отдельно для оценки полученного списка.</ns1:t>
            </ns1:r>
          </ns1:p>
          <ns2:p xmlns:ns2="http://schemas.openxmlformats.org/drawingml/2006/main">
            <ns2:r>
              <ns2:t>17,47 относится к среднему числу положительных человеческих оценок внутри ручных пулов. 128,6 относится к положительным предсказаниям одного судьи при K = 200 на полной dev-части. Пулы целенаправленно отобраны поисковыми методами. Ни одно число не оценивает полное количество релевантных ответов во всём корпусе.</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Полная dev-часть действительно включает ручные запросы, в том числе использованные для дообучения судьи. Поэтому все 101 093 запроса нельзя называть независимым тестом судьи. Мы отдельно исключили все 1 179 ручных запросов: осталось 99 914. Знаки различий RRF и E5 сохранились на проверенных глубинах. Это проверка устойчивости сравнения, а не замена независимой человеческой оценки глубоких пулов.</ns0:t>
            </ns0:r>
          </ns0:p>
          <ns1:p xmlns:ns1="http://schemas.openxmlformats.org/drawingml/2006/main">
            <ns1:r>
              <ns1:t>Эксперимент показывает, что неполные оценки и выбранный пул могут существенно влиять на измеряемое качество. Конкретные численные эффекты получены на англоязычных пулах MS MARCO. Их перенос на другие языки, предметные области и поисковые сервисы нужно проверять отдельно.</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Человек видел запрос, оцениваемый фрагмент и известный релевантный ответ. Подготовка ручных кандидатов также использовала сходство E5 с этим ответом. Судья получает только тексты запроса и кандидата. Он не получает известного ответа, позиций, баллов BM25, E5 или BGE и заранее рассчитанных эмбеддингов. Добавление эталонного ответа ко входу судьи предложено как следующий эксперимент.</ns0:t>
            </ns0:r>
          </ns0:p>
          <ns1:p xmlns:ns1="http://schemas.openxmlformats.org/drawingml/2006/main">
            <ns1:r>
              <ns1:t>Судья нужен как доступный способ получить много дополнительных оценок и исследовать зависимость метрик от охвата. Он не заменяет поисковые системы и не считается безошибочным эталоном. BM25, E5 и BGE по-прежнему находят и ранжируют кандидатов. На ручных данных их сравнение опирается на человеческие оценки. Масштабные выводы с MiniLM условны и требуют проверки более сильными судьями и независимой ручной разметкой.</ns1:t>
            </ns1:r>
          </ns1:p>
          <ns2:p xmlns:ns2="http://schemas.openxmlformats.org/drawingml/2006/main">
            <ns2:r>
              <ns2:t>Это компактная исходная модель cross-encoder/ms-marco-MiniLM-L6-v2, пригодная для оценки большого числа пар. В представленном эксперименте её дообучили на ручных оценках. Сравнения нескольких судей и модели со входом «запрос, эталонный ответ, кандидат» пока не выполнены. Результаты таких сравнений не заявляются.</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Wang et al. MiniLM. 2020. https://arxiv.org/abs/2002.10957</ns6:t>
            </ns6:r>
          </ns6:p>
          <ns7:p xmlns:ns7="http://schemas.openxmlformats.org/drawingml/2006/main">
            <ns7:r>
              <ns7:t>Исходная модель: https://huggingface.co/cross-encoder/ms-marco-MiniLM-L6-v2</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переходим к масштабному эксперименту. Число 101 093 имеет конкретное происхождение: столько запросов содержит полная dev-часть MS MARCO Passage Ranking, файл queries.dev.tsv. Набор идентификаторов в наших результатах полностью совпадает с этим файлом. Это количество запросов, а не ответов или пар.</ns0:t>
            </ns0:r>
          </ns0:p>
          <ns1:p xmlns:ns1="http://schemas.openxmlformats.org/drawingml/2006/main">
            <ns1:r>
              <ns1:t>Важно различать полную dev-часть из 101 093 запросов и её стандартную подвыборку dev/small из 6 980. Ручная разметка охватывает 1 179 запросов из dev/small. Для полной dev-части заранее получили поисковые выдачи, а теперь применяем обученного судью к найденным кандидатам. Сам судья не обучается на всех 101 тысяче запросов.</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MS MARCO Passage Ranking v1. https://ir-datasets.com/msmarco-passage.html#msmarco-passage/dev</ns5:t>
            </ns5:r>
          </ns5:p>
          <ns6:p xmlns:ns6="http://schemas.openxmlformats.org/drawingml/2006/main">
            <ns6:r>
              <ns6:t>Архив запросов: https://msmarco.z22.web.core.windows.net/msmarcoranking/queries.tar.gz</ns6:t>
            </ns6:r>
          </ns6:p>
          <ns7:p xmlns:ns7="http://schemas.openxmlformats.org/drawingml/2006/main">
            <ns7:r>
              <ns7:t>MS MARCO Passage Ranking dev/small. https://ir-datasets.com/msmarco-passage.html#msmarco-passage/dev/small</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Пул для судьи строится так. Для каждого запроса берём первые K результатов BM25, E5 и BGE, объединяем их и удаляем повторяющиеся фрагменты. Затем судья получает каждую пару из запроса и кандидата и присваивает ей псевдометку.</ns0:t>
            </ns0:r>
          </ns0:p>
          <ns1:p xmlns:ns1="http://schemas.openxmlformats.org/drawingml/2006/main">
            <ns1:r>
              <ns1:t>K называют глубиной пула: это число результатов от одного метода до объединения. Например, при K, равном десяти, три списка дают не более тридцати уникальных кандидатов. После удаления повторов их обычно меньше. Мы проверяем K от десяти до двухсот. Модель и порог минус 0,2187 остаются прежними, меняется только набор оцениваемых кандидатов.</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BM25: https://doi.org/10.1561/1500000019</ns5:t>
            </ns5:r>
          </ns5:p>
          <ns6:p xmlns:ns6="http://schemas.openxmlformats.org/drawingml/2006/main">
            <ns6:r>
              <ns6:t>E5: https://arxiv.org/abs/2212.03533</ns6:t>
            </ns6:r>
          </ns6:p>
          <ns7:p xmlns:ns7="http://schemas.openxmlformats.org/drawingml/2006/main">
            <ns7:r>
              <ns7:t>Модель E5: https://huggingface.co/intfloat/e5-small-v2</ns7:t>
            </ns7:r>
          </ns7:p>
          <ns8:p xmlns:ns8="http://schemas.openxmlformats.org/drawingml/2006/main">
            <ns8:r>
              <ns8:t>Модель BGE: https://huggingface.co/BAAI/bge-small-en-v1.5</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Зачем здесь RRF? Лексический поиск BM25 и векторные модели E5 и BGE могут находить разные полезные фрагменты. Мы хотим проверить, помогает ли простое объединение их выдач, и насколько ответ зависит от полноты разметки.</ns0:t>
            </ns0:r>
          </ns0:p>
          <ns1:p xmlns:ns1="http://schemas.openxmlformats.org/drawingml/2006/main">
            <ns1:r>
              <ns1:t>RRF означает слияние по обратным рангам. Каждый источник добавляет документу величину один, делённый на шестьдесят плюс его место в списке. Складываем эти величины для BM25, E5 и BGE и сортируем документы по сумме. У источников одинаковый вес. Если документа нет в используемом списке, вклад этого источника равен нулю.</ns1:t>
            </ns1:r>
          </ns1:p>
          <ns2:p xmlns:ns2="http://schemas.openxmlformats.org/drawingml/2006/main">
            <ns2:r>
              <ns2:t>Поэтому RRF объединяет позиции, а не усредняет исходные баллы трёх моделей. Это удобно, потому что их баллы имеют разные шкалы. На выходе получаем один итоговый ранжированный список. Оценки судьи не участвуют в его построении, они нужны для последующего сравнения качества.</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Cormack, Clarke, Büttcher. Reciprocal Rank Fusion outperforms Condorcet and individual Rank Learning Methods. SIGIR 2009. https://doi.org/10.1145/1571941.1572114</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На слайде приведены основные работы и ссылки на использованные методы и наборы данных.</ns0:t>
            </ns0:r>
          </ns0:p>
          <ns1:p xmlns:ns1="http://schemas.openxmlformats.org/drawingml/2006/main">
            <ns1:r>
              <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https://arxiv.org/abs/1611.09268</ns4:t>
            </ns4:r>
          </ns4:p>
          <ns5:p xmlns:ns5="http://schemas.openxmlformats.org/drawingml/2006/main">
            <ns5:r>
              <ns5:t>Natural Questions: https://aclanthology.org/Q19-1026/</ns5:t>
            </ns5:r>
          </ns5:p>
          <ns6:p xmlns:ns6="http://schemas.openxmlformats.org/drawingml/2006/main">
            <ns6:r>
              <ns6:t>BEIR: https://arxiv.org/abs/2104.08663</ns6:t>
            </ns6:r>
          </ns6:p>
          <ns7:p xmlns:ns7="http://schemas.openxmlformats.org/drawingml/2006/main">
            <ns7:r>
              <ns7:t>BM25: https://doi.org/10.1561/1500000019</ns7:t>
            </ns7:r>
          </ns7:p>
          <ns8:p xmlns:ns8="http://schemas.openxmlformats.org/drawingml/2006/main">
            <ns8:r>
              <ns8:t>E5: https://arxiv.org/abs/2212.03533</ns8:t>
            </ns8:r>
          </ns8:p>
          <ns9:p xmlns:ns9="http://schemas.openxmlformats.org/drawingml/2006/main">
            <ns9:r>
              <ns9:t>Модель E5: https://huggingface.co/intfloat/e5-small-v2</ns9:t>
            </ns9:r>
          </ns9:p>
          <ns10:p xmlns:ns10="http://schemas.openxmlformats.org/drawingml/2006/main">
            <ns10:r>
              <ns10:t>Модель BGE: https://huggingface.co/BAAI/bge-small-en-v1.5</ns10:t>
            </ns10:r>
          </ns10:p>
          <ns11:p xmlns:ns11="http://schemas.openxmlformats.org/drawingml/2006/main">
            <ns11:r>
              <ns11:t>Wang et al. MiniLM. 2020. https://arxiv.org/abs/2002.10957</ns11:t>
            </ns11:r>
          </ns11:p>
          <ns12:p xmlns:ns12="http://schemas.openxmlformats.org/drawingml/2006/main">
            <ns12:r>
              <ns12:t>Исходная модель: https://huggingface.co/cross-encoder/ms-marco-MiniLM-L6-v2</ns12:t>
            </ns12:r>
          </ns12:p>
          <ns13:p xmlns:ns13="http://schemas.openxmlformats.org/drawingml/2006/main">
            <ns13:r>
              <ns13:t>Cormack, Clarke, Büttcher. Reciprocal Rank Fusion outperforms Condorcet and individual Rank Learning Methods. SIGIR 2009. https://doi.org/10.1145/1571941.1572114</ns13:t>
            </ns13:r>
          </ns13:p>
          <ns14:p xmlns:ns14="http://schemas.openxmlformats.org/drawingml/2006/main">
            <ns14:r>
              <ns14:t>MS MARCO Passage Ranking v1. https://ir-datasets.com/msmarco-passage.html#msmarco-passage/dev</ns14:t>
            </ns14:r>
          </ns14:p>
          <ns15:p xmlns:ns15="http://schemas.openxmlformats.org/drawingml/2006/main">
            <ns15:r>
              <ns15:t>Архив запросов: https://msmarco.z22.web.core.windows.net/msmarcoranking/queries.tar.gz</ns15:t>
            </ns15:r>
          </ns1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Спасибо за внимание! Буду рад вашим вопросам.</ns0:t>
            </ns0:r>
          </ns0:p>
          <ns1:p xmlns:ns1="http://schemas.openxmlformats.org/drawingml/2006/main">
            <ns1:r>
              <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Это полный набор запросов dev в MS MARCO Passage Ranking v1, файл queries.dev.tsv. Совпадает не только количество: множество идентификаторов в результатах эксперимента полностью совпадает с официальным файлом. Поэтому говорить об отборе 101 тысячи из 140 тысяч оснований нет. Число около 140 тысяч к этой части данных не относится.</ns0:t>
            </ns0:r>
          </ns0:p>
          <ns1:p xmlns:ns1="http://schemas.openxmlformats.org/drawingml/2006/main">
            <ns1:r>
              <ns1:t>101 093 запроса входят в полную dev-часть. dev/small содержит 6 980 из них и исходные оценки релевантности для стандартного оценивания. Ручная подвыборка содержит 1 179 запросов из dev/small. Один запрос может иметь много кандидатов, поэтому в ручной части 33 667 пар. Размер корпуса другой: 8 841 823 фрагмента.</ns1:t>
            </ns1:r>
          </ns1:p>
          <ns2:p xmlns:ns2="http://schemas.openxmlformats.org/drawingml/2006/main">
            <ns2:r>
              <ns2:t>Дообучение нашего судьи и его локальная проверка выполнялись на ручной подвыборке из dev/small. Мы отдельно разделили её на 825 обучающих, 177 валидационных и 177 тестовых запросов. Это внутренние части эксперимента, а не официальный закрытый test MS MARCO. Исходный MiniLM уже был предварительно обучен; проверка исключает пересечение запросов в нашем дообучении, но сама по себе не доказывает отсутствие пересечений с его предобучением.</ns2:t>
            </ns2:r>
          </ns2:p>
          <ns3:p xmlns:ns3="http://schemas.openxmlformats.org/drawingml/2006/main">
            <ns3:r>
              <ns3:t>Это объём подготовленной ручной подвыборки, на которой выполнен эксперимент. Её принадлежность dev/small проверена по идентификаторам. Мы не рассматриваем её как случайную или репрезентативную выборку из всего MS MARCO. Выводы ручного эксперимента относятся к этой подвыборке и её кандидатным пулам.</ns3:t>
            </ns3:r>
          </ns3:p>
          <ns4:p xmlns:ns4="http://schemas.openxmlformats.org/drawingml/2006/main">
            <ns4:r>
              <ns4:t>Для E5 и BGE сохранены выдачи для всех 101 093 запросов. У BM25 отсутствуют списки для трёх запросов, а некоторые списки короче заданной глубины. Пулы строятся из доступных результатов. Для отсутствующего документа вклад соответствующего источника в RRF равен нулю. Число 101 093 описывает весь набор запросов, а не гарантию трёх полных списков у каждого.</ns4:t>
            </ns4:r>
          </ns4:p>
          <ns5:p xmlns:ns5="http://schemas.openxmlformats.org/drawingml/2006/main">
            <ns5:r>
              <ns5:t/>
            </ns5:r>
          </ns5:p>
          <ns6:p xmlns:ns6="http://schemas.openxmlformats.org/drawingml/2006/main">
            <ns6:r>
              <ns6:t>Источники</ns6:t>
            </ns6:r>
          </ns6:p>
          <ns7:p xmlns:ns7="http://schemas.openxmlformats.org/drawingml/2006/main">
            <ns7:r>
              <ns7:t>, G. , N. . Deep Re-annotation and Controlled Candidate Pools for Re-evaluating Ranking Models on MS MARCO. DAMDID 2026. Результаты экспериментов в контролируемых пулах.</ns7:t>
            </ns7:r>
          </ns7:p>
          <ns8:p xmlns:ns8="http://schemas.openxmlformats.org/drawingml/2006/main">
            <ns8:r>
              <ns8:t>MS MARCO Passage Ranking v1. https://ir-datasets.com/msmarco-passage.html#msmarco-passage/dev</ns8:t>
            </ns8:r>
          </ns8:p>
          <ns9:p xmlns:ns9="http://schemas.openxmlformats.org/drawingml/2006/main">
            <ns9:r>
              <ns9:t>Архив запросов: https://msmarco.z22.web.core.windows.net/msmarcoranking/queries.tar.gz</ns9:t>
            </ns9:r>
          </ns9:p>
          <ns10:p xmlns:ns10="http://schemas.openxmlformats.org/drawingml/2006/main">
            <ns10:r>
              <ns10:t>MS MARCO Passage Ranking dev/small. https://ir-datasets.com/msmarco-passage.html#msmarco-passage/dev/small</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63e2930fc5f483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d4ad75555dc485f"/><Relationship Type="http://schemas.openxmlformats.org/officeDocument/2006/relationships/slideLayout" Target="/ppt/slideLayouts/slideLayout1.xml" Id="R41f7dd0fdee0486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f7dd0fdee048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b548e157f662428a"/><Relationship Type="http://schemas.openxmlformats.org/officeDocument/2006/relationships/image" Target="/ppt/media/image.png" Id="Ra852c025e70249f2"/><Relationship Type="http://schemas.openxmlformats.org/officeDocument/2006/relationships/notesSlide" Target="/ppt/notesSlides/notesSlide1.xml" Id="Red0ae3427c50426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83f769b28e5a4bd9"/><Relationship Type="http://schemas.openxmlformats.org/officeDocument/2006/relationships/notesSlide" Target="/ppt/notesSlides/notesSlide2.xml" Id="Ra832184fd26040f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505a19461de44d2"/><Relationship Type="http://schemas.openxmlformats.org/officeDocument/2006/relationships/notesSlide" Target="/ppt/notesSlides/notesSlide3.xml" Id="R00dfdd5f49c242e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c6d588fde0245f3"/><Relationship Type="http://schemas.openxmlformats.org/officeDocument/2006/relationships/notesSlide" Target="/ppt/notesSlides/notesSlide4.xml" Id="Rd2cbfb2f1fcf443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b6750007ad445d4"/><Relationship Type="http://schemas.openxmlformats.org/officeDocument/2006/relationships/notesSlide" Target="/ppt/notesSlides/notesSlide5.xml" Id="Rbc507630edaa480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6213cbf28104090"/><Relationship Type="http://schemas.openxmlformats.org/officeDocument/2006/relationships/notesSlide" Target="/ppt/notesSlides/notesSlide6.xml" Id="R4af18cabceb746a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3f8f63cd15ea4a22"/><Relationship Type="http://schemas.openxmlformats.org/officeDocument/2006/relationships/notesSlide" Target="/ppt/notesSlides/notesSlide7.xml" Id="R2ef5dfc6b5384ce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44846080617f43ea"/><Relationship Type="http://schemas.openxmlformats.org/officeDocument/2006/relationships/chart" Target="/ppt/slides/charts/chart1.xml" Id="Re4ce4ac20cf84723"/><Relationship Type="http://schemas.openxmlformats.org/officeDocument/2006/relationships/notesSlide" Target="/ppt/notesSlides/notesSlide8.xml" Id="Rb70a6f8144194d9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4b973c171684a26"/><Relationship Type="http://schemas.openxmlformats.org/officeDocument/2006/relationships/notesSlide" Target="/ppt/notesSlides/notesSlide9.xml" Id="R3f4a2fade3f54d3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e674efa043ae4164"/><Relationship Type="http://schemas.openxmlformats.org/officeDocument/2006/relationships/chart" Target="/ppt/slides/charts/chart2.xml" Id="R844053ccd91f412b"/><Relationship Type="http://schemas.openxmlformats.org/officeDocument/2006/relationships/notesSlide" Target="/ppt/notesSlides/notesSlide10.xml" Id="R0b3fc6edc3c74e0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367bb4e5d0cb4cfc"/><Relationship Type="http://schemas.openxmlformats.org/officeDocument/2006/relationships/chart" Target="/ppt/slides/charts/chart3.xml" Id="Rebd804f6f84f40aa"/><Relationship Type="http://schemas.openxmlformats.org/officeDocument/2006/relationships/notesSlide" Target="/ppt/notesSlides/notesSlide11.xml" Id="Re62babd54316425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9ccf9fab8b384d6f"/><Relationship Type="http://schemas.openxmlformats.org/officeDocument/2006/relationships/chart" Target="/ppt/slides/charts/chart4.xml" Id="Rfdf911735eaa494b"/><Relationship Type="http://schemas.openxmlformats.org/officeDocument/2006/relationships/notesSlide" Target="/ppt/notesSlides/notesSlide12.xml" Id="R57ca027101d9469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376f16a04934593"/><Relationship Type="http://schemas.openxmlformats.org/officeDocument/2006/relationships/chart" Target="/ppt/slides/charts/chart5.xml" Id="R3400bf8777044912"/><Relationship Type="http://schemas.openxmlformats.org/officeDocument/2006/relationships/notesSlide" Target="/ppt/notesSlides/notesSlide13.xml" Id="Raca6ed0377fb4ac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81eb85499884ed1"/><Relationship Type="http://schemas.openxmlformats.org/officeDocument/2006/relationships/notesSlide" Target="/ppt/notesSlides/notesSlide14.xml" Id="R3ed2cc7631b9446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e06103532fa42cb"/><Relationship Type="http://schemas.openxmlformats.org/officeDocument/2006/relationships/notesSlide" Target="/ppt/notesSlides/notesSlide15.xml" Id="Rcd84cd3388564cc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5ea1467191e4951"/><Relationship Type="http://schemas.openxmlformats.org/officeDocument/2006/relationships/notesSlide" Target="/ppt/notesSlides/notesSlide16.xml" Id="R94b35b408add427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a855f0ecb5a4a78"/><Relationship Type="http://schemas.openxmlformats.org/officeDocument/2006/relationships/notesSlide" Target="/ppt/notesSlides/notesSlide17.xml" Id="R4167904842d94ad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c02ce268df44ee9"/><Relationship Type="http://schemas.openxmlformats.org/officeDocument/2006/relationships/notesSlide" Target="/ppt/notesSlides/notesSlide18.xml" Id="R7f54f7dba40d432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ad34b33f8777430e"/><Relationship Type="http://schemas.openxmlformats.org/officeDocument/2006/relationships/notesSlide" Target="/ppt/notesSlides/notesSlide19.xml" Id="Rcc603e9bbeae4126"/></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624cdc1c6fda4f61"/><Relationship Type="http://schemas.openxmlformats.org/officeDocument/2006/relationships/notesSlide" Target="/ppt/notesSlides/notesSlide20.xml" Id="Red8f7c4a599f446d"/></Relationships>
</file>

<file path=ppt/slides/_rels/slide21.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1.xml"/></Relationships>
</file>

<file path=ppt/slides/_rels/slide22.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2.xml"/></Relationships>
</file>

<file path=ppt/slides/_rels/slide23.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3.xml"/></Relationships>
</file>

<file path=ppt/slides/_rels/slide24.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4.xml"/><Relationship Id="rLink4" Type="http://schemas.openxmlformats.org/officeDocument/2006/relationships/hyperlink" Target="https://arxiv.org/abs/1611.09268" TargetMode="External"/><Relationship Id="rLink7" Type="http://schemas.openxmlformats.org/officeDocument/2006/relationships/hyperlink" Target="https://aclanthology.org/Q19-1026" TargetMode="External"/><Relationship Id="rLink10" Type="http://schemas.openxmlformats.org/officeDocument/2006/relationships/hyperlink" Target="https://arxiv.org/abs/2104.08663" TargetMode="External"/><Relationship Id="rLink13" Type="http://schemas.openxmlformats.org/officeDocument/2006/relationships/hyperlink" Target="https://doi.org/10.1561/1500000019" TargetMode="External"/><Relationship Id="rLink16" Type="http://schemas.openxmlformats.org/officeDocument/2006/relationships/hyperlink" Target="https://arxiv.org/abs/2212.03533" TargetMode="External"/><Relationship Id="rLink19" Type="http://schemas.openxmlformats.org/officeDocument/2006/relationships/hyperlink" Target="https://huggingface.co/BAAI/bge-small-en-v1.5" TargetMode="External"/><Relationship Id="rLink22" Type="http://schemas.openxmlformats.org/officeDocument/2006/relationships/hyperlink" Target="https://arxiv.org/abs/2002.10957" TargetMode="External"/><Relationship Id="rLink25" Type="http://schemas.openxmlformats.org/officeDocument/2006/relationships/hyperlink" Target="https://doi.org/10.1145/1571941.1572114" TargetMode="External"/></Relationships>
</file>

<file path=ppt/slides/_rels/slide25.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5.xml"/></Relationships>
</file>

<file path=ppt/slides/_rels/slide26.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6.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70858A"/>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C7C3492E-22AD-4920-9426-661B04211C7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852c025e70249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662EF985-391F-4637-9390-D87891E31A43}"/>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3D019271-32C9-4AF9-8EF4-51B4064403FA}"/>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675C4EB1-99BD-4526-A2E3-B972B3697B9A}"/>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7575EC79-5D15-4F4D-9594-619B04EC5CEE}"/>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B723C650-29AC-460C-924A-EEFBBDA61F9D}"/>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9604782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2F891781-5CE2-402D-B581-022173137B1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F71D1E0E-97BF-4C4F-9DE0-2D5D488903B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L w="0">
                      <a:noFill/>
                    </a:lnL>
                    <a:lnR w="0">
                      <a:noFill/>
                    </a:lnR>
                    <a:lnT w="0">
                      <a:noFill/>
                    </a:lnT>
                    <a:lnB w="7620">
                      <a:solidFill>
                        <a:srgbClr val="D4E1E0"/>
                      </a:solidFill>
                    </a:lnB>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L w="0">
                      <a:noFill/>
                    </a:lnL>
                    <a:lnR w="0">
                      <a:noFill/>
                    </a:lnR>
                    <a:lnT w="0">
                      <a:noFill/>
                    </a:lnT>
                    <a:lnB w="7620">
                      <a:solidFill>
                        <a:srgbClr val="D4E1E0"/>
                      </a:solidFill>
                    </a:lnB>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L w="0">
                      <a:noFill/>
                    </a:lnL>
                    <a:lnR w="0">
                      <a:noFill/>
                    </a:lnR>
                    <a:lnT w="0">
                      <a:noFill/>
                    </a:lnT>
                    <a:lnB w="7620">
                      <a:solidFill>
                        <a:srgbClr val="D4E1E0"/>
                      </a:solidFill>
                    </a:lnB>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11577D97-8375-4866-8E73-2C5B2185B64D}"/>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0C879FB9-9E24-461A-B2A7-2CF3B2C2FAAA}"/>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D5E59AFC-D6DF-4887-8DEB-CA19C471F9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34252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3E439587-929A-43B0-A800-C37A233BB77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2D522899-17C5-4EDB-8AF6-8CC754F73FB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xmlns:a="http://schemas.openxmlformats.org/drawingml/2006/main">
              <a:ext uri="{FF2B5EF4-FFF2-40B4-BE49-F238E27FC236}">
                <a16:creationId xmlns:a16="http://schemas.microsoft.com/office/drawing/2014/main" id="{5E183FEF-C4D0-4B49-9D47-7E2B26800B2C}"/>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L w="0">
                      <a:noFill/>
                    </a:lnL>
                    <a:lnR w="0">
                      <a:noFill/>
                    </a:lnR>
                    <a:lnT w="0">
                      <a:noFill/>
                    </a:lnT>
                    <a:lnB w="7620">
                      <a:solidFill>
                        <a:srgbClr val="D4E1E0"/>
                      </a:solidFill>
                    </a:lnB>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16BBCA8E-49CC-4B48-9AC3-22D2A94136BF}"/>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81A875BD-9CD0-4DD7-B28C-5BA27F5D0ACC}"/>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60D1B159-625C-4AD4-86D0-3B3E3554BF40}"/>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03E99439-7468-4708-941D-E7EBD0800A2F}"/>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xmlns:a="http://schemas.openxmlformats.org/drawingml/2006/main">
              <a:ext uri="{FF2B5EF4-FFF2-40B4-BE49-F238E27FC236}">
                <a16:creationId xmlns:a16="http://schemas.microsoft.com/office/drawing/2014/main" id="{C56C3BAF-1E96-4ED7-9B13-1B805B164267}"/>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8812198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334DD0EA-0A05-4641-AA05-35F3A325D91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88277A78-B55B-40D3-BB92-46D7F0436CF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94134873-7E97-45CA-BA35-450C12C190E2}"/>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1D3E2C44-7336-4B9D-BD9F-DCB71CA25FA6}"/>
              </a:ext>
            </a:extLst>
          </p:cNvPr>
          <p:cNvSpPr>
            <a:spLocks xmlns:a="http://schemas.openxmlformats.org/drawingml/2006/main" noGrp="1"/>
          </p:cNvSpPr>
          <p:nvPr/>
        </p:nvSpPr>
        <p:spPr>
          <a:xfrm xmlns:a="http://schemas.openxmlformats.org/drawingml/2006/main">
            <a:off x="609600" y="60198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a:t>
            </a:r>
          </a:p>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Русский пересказ исходных фрагментов. Метки относятся к оригиналам.</a:t>
            </a:r>
          </a:p>
        </p:txBody>
      </p:sp>
    </p:spTree>
    <p:extLst>
      <p:ext uri="{BB962C8B-B14F-4D97-AF65-F5344CB8AC3E}">
        <p14:creationId xmlns:p14="http://schemas.microsoft.com/office/powerpoint/2010/main" val="10946752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анные для ручной доразметки">
            <a:extLst xmlns:a="http://schemas.openxmlformats.org/drawingml/2006/main">
              <a:ext uri="{FF2B5EF4-FFF2-40B4-BE49-F238E27FC236}">
                <a16:creationId xmlns:a16="http://schemas.microsoft.com/office/drawing/2014/main" id="{A34BA3CC-C0E2-4636-87E7-42AF23E254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для ручной доразметки</a:t>
            </a:r>
          </a:p>
        </p:txBody>
      </p:sp>
      <p:sp>
        <p:nvSpPr>
          <p:cNvPr id="2" name="05">
            <a:extLst xmlns:a="http://schemas.openxmlformats.org/drawingml/2006/main">
              <a:ext uri="{FF2B5EF4-FFF2-40B4-BE49-F238E27FC236}">
                <a16:creationId xmlns:a16="http://schemas.microsoft.com/office/drawing/2014/main" id="{2353822A-C676-4110-936E-E30726F7D8D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S MARCO Passage Ranking: 8 841 823 англоязычных фрагмента">
            <a:extLst xmlns:a="http://schemas.openxmlformats.org/drawingml/2006/main">
              <a:ext uri="{FF2B5EF4-FFF2-40B4-BE49-F238E27FC236}">
                <a16:creationId xmlns:a16="http://schemas.microsoft.com/office/drawing/2014/main" id="{C4E448FC-7633-44A8-ACC7-B8922870AD71}"/>
              </a:ext>
            </a:extLst>
          </p:cNvPr>
          <p:cNvSpPr>
            <a:spLocks xmlns:a="http://schemas.openxmlformats.org/drawingml/2006/main" noGrp="1"/>
          </p:cNvSpPr>
          <p:nvPr/>
        </p:nvSpPr>
        <p:spPr>
          <a:xfrm xmlns:a="http://schemas.openxmlformats.org/drawingml/2006/main">
            <a:off x="609600" y="16097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8 841 823 англоязычных фрагмента</a:t>
            </a:r>
          </a:p>
        </p:txBody>
      </p:sp>
      <p:sp>
        <p:nvSpPr>
          <p:cNvPr id="4" name="dev/small">
            <a:extLst xmlns:a="http://schemas.openxmlformats.org/drawingml/2006/main">
              <a:ext uri="{FF2B5EF4-FFF2-40B4-BE49-F238E27FC236}">
                <a16:creationId xmlns:a16="http://schemas.microsoft.com/office/drawing/2014/main" id="{2ED41703-E32F-4B8B-8DCC-4A841119316C}"/>
              </a:ext>
            </a:extLst>
          </p:cNvPr>
          <p:cNvSpPr>
            <a:spLocks xmlns:a="http://schemas.openxmlformats.org/drawingml/2006/main" noGrp="1"/>
          </p:cNvSpPr>
          <p:nvPr/>
        </p:nvSpPr>
        <p:spPr>
          <a:xfrm xmlns:a="http://schemas.openxmlformats.org/drawingml/2006/main">
            <a:off x="609600" y="24765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dev/small</a:t>
            </a:r>
          </a:p>
        </p:txBody>
      </p:sp>
      <p:sp>
        <p:nvSpPr>
          <p:cNvPr id="5" name="6 980">
            <a:extLst xmlns:a="http://schemas.openxmlformats.org/drawingml/2006/main">
              <a:ext uri="{FF2B5EF4-FFF2-40B4-BE49-F238E27FC236}">
                <a16:creationId xmlns:a16="http://schemas.microsoft.com/office/drawing/2014/main" id="{2DB9E5FA-2063-4D9D-8B35-5CB16277C07E}"/>
              </a:ext>
            </a:extLst>
          </p:cNvPr>
          <p:cNvSpPr>
            <a:spLocks xmlns:a="http://schemas.openxmlformats.org/drawingml/2006/main" noGrp="1"/>
          </p:cNvSpPr>
          <p:nvPr/>
        </p:nvSpPr>
        <p:spPr>
          <a:xfrm xmlns:a="http://schemas.openxmlformats.org/drawingml/2006/main">
            <a:off x="60960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6 980</a:t>
            </a:r>
          </a:p>
        </p:txBody>
      </p:sp>
      <p:sp>
        <p:nvSpPr>
          <p:cNvPr id="6" name="запросов в стандартной&#10;оценочной подвыборке">
            <a:extLst xmlns:a="http://schemas.openxmlformats.org/drawingml/2006/main">
              <a:ext uri="{FF2B5EF4-FFF2-40B4-BE49-F238E27FC236}">
                <a16:creationId xmlns:a16="http://schemas.microsoft.com/office/drawing/2014/main" id="{0C2A625A-9F0D-46DA-B13E-5D29811BAA5B}"/>
              </a:ext>
            </a:extLst>
          </p:cNvPr>
          <p:cNvSpPr>
            <a:spLocks xmlns:a="http://schemas.openxmlformats.org/drawingml/2006/main" noGrp="1"/>
          </p:cNvSpPr>
          <p:nvPr/>
        </p:nvSpPr>
        <p:spPr>
          <a:xfrm xmlns:a="http://schemas.openxmlformats.org/drawingml/2006/main">
            <a:off x="609600" y="38481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в стандартной</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оценочной подвыборке</a:t>
            </a:r>
          </a:p>
        </p:txBody>
      </p:sp>
      <p:sp>
        <p:nvSpPr>
          <p:cNvPr id="7" name="7 437 исходных положительных пар">
            <a:extLst xmlns:a="http://schemas.openxmlformats.org/drawingml/2006/main">
              <a:ext uri="{FF2B5EF4-FFF2-40B4-BE49-F238E27FC236}">
                <a16:creationId xmlns:a16="http://schemas.microsoft.com/office/drawing/2014/main" id="{334388CF-080F-4290-9A46-4B6903A25C6E}"/>
              </a:ext>
            </a:extLst>
          </p:cNvPr>
          <p:cNvSpPr>
            <a:spLocks xmlns:a="http://schemas.openxmlformats.org/drawingml/2006/main" noGrp="1"/>
          </p:cNvSpPr>
          <p:nvPr/>
        </p:nvSpPr>
        <p:spPr>
          <a:xfrm xmlns:a="http://schemas.openxmlformats.org/drawingml/2006/main">
            <a:off x="609600" y="50006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7 437 исходных положительных пар</a:t>
            </a:r>
          </a:p>
        </p:txBody>
      </p:sp>
      <p:sp>
        <p:nvSpPr>
          <p:cNvPr id="8" name="Ручная подвыборка из dev/small">
            <a:extLst xmlns:a="http://schemas.openxmlformats.org/drawingml/2006/main">
              <a:ext uri="{FF2B5EF4-FFF2-40B4-BE49-F238E27FC236}">
                <a16:creationId xmlns:a16="http://schemas.microsoft.com/office/drawing/2014/main" id="{22B42E78-BD55-4445-A8FE-4309BC4BC35B}"/>
              </a:ext>
            </a:extLst>
          </p:cNvPr>
          <p:cNvSpPr>
            <a:spLocks xmlns:a="http://schemas.openxmlformats.org/drawingml/2006/main" noGrp="1"/>
          </p:cNvSpPr>
          <p:nvPr/>
        </p:nvSpPr>
        <p:spPr>
          <a:xfrm xmlns:a="http://schemas.openxmlformats.org/drawingml/2006/main">
            <a:off x="6229350" y="2476500"/>
            <a:ext cx="5353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Ручная подвыборка из dev/small</a:t>
            </a:r>
          </a:p>
        </p:txBody>
      </p:sp>
      <p:sp>
        <p:nvSpPr>
          <p:cNvPr id="9" name="1 179">
            <a:extLst xmlns:a="http://schemas.openxmlformats.org/drawingml/2006/main">
              <a:ext uri="{FF2B5EF4-FFF2-40B4-BE49-F238E27FC236}">
                <a16:creationId xmlns:a16="http://schemas.microsoft.com/office/drawing/2014/main" id="{59C256A8-9894-4A34-8A0F-574E12AFEF55}"/>
              </a:ext>
            </a:extLst>
          </p:cNvPr>
          <p:cNvSpPr>
            <a:spLocks xmlns:a="http://schemas.openxmlformats.org/drawingml/2006/main" noGrp="1"/>
          </p:cNvSpPr>
          <p:nvPr/>
        </p:nvSpPr>
        <p:spPr>
          <a:xfrm xmlns:a="http://schemas.openxmlformats.org/drawingml/2006/main">
            <a:off x="622935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1 179</a:t>
            </a:r>
          </a:p>
        </p:txBody>
      </p:sp>
      <p:sp>
        <p:nvSpPr>
          <p:cNvPr id="10" name="запросов с дополнительными&#10;человеческими оценками">
            <a:extLst xmlns:a="http://schemas.openxmlformats.org/drawingml/2006/main">
              <a:ext uri="{FF2B5EF4-FFF2-40B4-BE49-F238E27FC236}">
                <a16:creationId xmlns:a16="http://schemas.microsoft.com/office/drawing/2014/main" id="{CBA07B85-828A-40A0-83EE-7F24D9A0ADCF}"/>
              </a:ext>
            </a:extLst>
          </p:cNvPr>
          <p:cNvSpPr>
            <a:spLocks xmlns:a="http://schemas.openxmlformats.org/drawingml/2006/main" noGrp="1"/>
          </p:cNvSpPr>
          <p:nvPr/>
        </p:nvSpPr>
        <p:spPr>
          <a:xfrm xmlns:a="http://schemas.openxmlformats.org/drawingml/2006/main">
            <a:off x="6229350" y="38481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с дополнительными</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человеческими оценками</a:t>
            </a:r>
          </a:p>
        </p:txBody>
      </p:sp>
      <p:sp>
        <p:nvSpPr>
          <p:cNvPr id="11" name="33 667 пар «запрос – фрагмент»">
            <a:extLst xmlns:a="http://schemas.openxmlformats.org/drawingml/2006/main">
              <a:ext uri="{FF2B5EF4-FFF2-40B4-BE49-F238E27FC236}">
                <a16:creationId xmlns:a16="http://schemas.microsoft.com/office/drawing/2014/main" id="{0CA45C8D-9073-4691-848F-B62AC53E5DFD}"/>
              </a:ext>
            </a:extLst>
          </p:cNvPr>
          <p:cNvSpPr>
            <a:spLocks xmlns:a="http://schemas.openxmlformats.org/drawingml/2006/main" noGrp="1"/>
          </p:cNvSpPr>
          <p:nvPr/>
        </p:nvSpPr>
        <p:spPr>
          <a:xfrm xmlns:a="http://schemas.openxmlformats.org/drawingml/2006/main">
            <a:off x="6229350" y="5000625"/>
            <a:ext cx="5353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33 667 пар «запрос – фрагмент»</a:t>
            </a:r>
          </a:p>
        </p:txBody>
      </p:sp>
      <p:sp>
        <p:nvSpPr>
          <p:cNvPr id="12" name="">
            <a:extLst xmlns:a="http://schemas.openxmlformats.org/drawingml/2006/main">
              <a:ext uri="{FF2B5EF4-FFF2-40B4-BE49-F238E27FC236}">
                <a16:creationId xmlns:a16="http://schemas.microsoft.com/office/drawing/2014/main" id="{5F53ADBC-1693-4423-8E87-5C9EA3A3EE22}"/>
              </a:ext>
            </a:extLst>
          </p:cNvPr>
          <p:cNvSpPr>
            <a:spLocks xmlns:a="http://schemas.openxmlformats.org/drawingml/2006/main" noGrp="1"/>
          </p:cNvSpPr>
          <p:nvPr/>
        </p:nvSpPr>
        <p:spPr>
          <a:xfrm xmlns:a="http://schemas.openxmlformats.org/drawingml/2006/main">
            <a:off x="609600" y="221932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13" name="Доразметка охватывает отобранных кандидатов для каждого запроса.">
            <a:extLst xmlns:a="http://schemas.openxmlformats.org/drawingml/2006/main">
              <a:ext uri="{FF2B5EF4-FFF2-40B4-BE49-F238E27FC236}">
                <a16:creationId xmlns:a16="http://schemas.microsoft.com/office/drawing/2014/main" id="{1E9E408D-C93E-45C3-95F9-3F5EC4587A20}"/>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Доразметка охватывает отобранных кандидатов для каждого запроса.</a:t>
            </a:r>
          </a:p>
        </p:txBody>
      </p:sp>
    </p:spTree>
    <p:extLst>
      <p:ext uri="{BB962C8B-B14F-4D97-AF65-F5344CB8AC3E}">
        <p14:creationId xmlns:p14="http://schemas.microsoft.com/office/powerpoint/2010/main" val="19353008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4F08E455-965E-4FD3-8FB7-D561BA763F7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9F6A7005-F48E-49E7-A616-E8BA12856E9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E06B08BB-DEBF-4476-A79E-EC33232EEF82}"/>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B5224D1A-E575-427A-AC94-52A3C3695468}"/>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5118D0C7-C21D-4D05-8EE0-3051D5EB73E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2CBD2ADC-55FF-4AB8-A47A-DE8B60C304FD}"/>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03F078DF-D752-4928-AC8C-02CEC1C0B7A2}"/>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A96799E4-5CA0-4D48-9EF5-BD74CD3F2D58}"/>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2149C239-EB6B-47AB-BCF5-DD07EC739E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9735779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1CF79C95-B654-4F76-82D3-8E5010CEDC5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D6E70AE6-5793-4E2A-AA54-5849FD2631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692B7626-67E4-4142-B831-A1FCB9F7BC73}"/>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0A936E03-03E7-4610-925F-691691EB830C}"/>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86802D41-005F-4A54-BC81-35AC162315B9}"/>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875058B1-BFE6-4833-AF53-6EE18183FFF3}"/>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C5FC8E12-57E2-4AA9-88DF-91540478064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0098175C-E3E2-42CF-8B6F-AC0938AC415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B9260C2C-7876-4DC8-A068-81AA1DBFCCDC}"/>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F2D0DE64-5F0F-4C0D-B7E2-4EDA124CD26E}"/>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FE3F3B17-B292-4BF7-9744-1EBFB2D6019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266300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C57A67B4-84D5-4B46-A2C5-3620CDE8A41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92AF1EEE-C890-41AD-A2FE-87D635EAB2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83F10504-FD85-4B19-94F7-D2971BBEB240}"/>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e4ce4ac20cf84723"/>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2F8596F9-2EF5-4D66-B616-218A321BDDE7}"/>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95%-ный ДИ [0,365; 0,417]</a:t>
            </a:r>
          </a: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C8EFE03B-381A-44C7-A6A9-44590528263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5548091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1C317943-E193-4781-8893-B0FAB927128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4272979E-E477-4A23-AD5D-D41B7931E9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26D13347-3281-4F06-BDAF-8D5A0F7294AB}"/>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242EFFE6-5830-4D14-A815-9CCC678FCCF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39881BD3-3F33-4537-A1CD-D7255EA0F3E2}"/>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8253BA28-6F62-41FF-8CB6-14C83D0EBC2C}"/>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A625AD98-7162-453C-9409-BAFAE9A765FA}"/>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DDA8774B-F006-4CA7-8007-2BB4FEE1EF0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29D5D23C-9396-4EFC-AE80-F4BC37555AE5}"/>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
        <p:nvSpPr>
          <p:cNvPr id="12" name="Псевдометки остаются предсказаниями модели.">
            <a:extLst xmlns:a="http://schemas.openxmlformats.org/drawingml/2006/main">
              <a:ext uri="{FF2B5EF4-FFF2-40B4-BE49-F238E27FC236}">
                <a16:creationId xmlns:a16="http://schemas.microsoft.com/office/drawing/2014/main" id="{E5EEFA26-A836-4D17-B606-DFD02F50011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остаются предсказаниями модели.</a:t>
            </a:r>
          </a:p>
        </p:txBody>
      </p:sp>
    </p:spTree>
    <p:extLst>
      <p:ext uri="{BB962C8B-B14F-4D97-AF65-F5344CB8AC3E}">
        <p14:creationId xmlns:p14="http://schemas.microsoft.com/office/powerpoint/2010/main" val="3608062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91AE5F0E-201B-432D-9D85-E8354F5F328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B0AD9B9A-DFEE-4C8F-B7F9-0CFA820FE76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9042F927-B8D5-4B44-B3A6-50ED190B368F}"/>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844053ccd91f412b"/>
          </a:graphicData>
        </a:graphic>
      </p:graphicFrame>
      <p:sp>
        <p:nvSpPr>
          <p:cNvPr id="5" name="0,907">
            <a:extLst xmlns:a="http://schemas.openxmlformats.org/drawingml/2006/main">
              <a:ext uri="{FF2B5EF4-FFF2-40B4-BE49-F238E27FC236}">
                <a16:creationId xmlns:a16="http://schemas.microsoft.com/office/drawing/2014/main" id="{D609A069-22B6-45C0-9AC3-4FF25D06A9E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CB736417-86A8-4067-B9D2-41DE95789CF6}"/>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FD18F278-C87E-4D99-BB55-FF9A4E0700C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1DFC7CC4-AFEE-491F-B1BB-531DBBFA3A07}"/>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C2A3BF9E-2D7E-4DCA-B4D5-AF30022F1DB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Порог −0,2187 выбран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CF57EB44-E413-4E54-8664-3AB5C45CF7C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387965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C455C868-F2F3-4957-A6F4-0C5264002E1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78598B3E-D80F-499A-B0C4-6E304FFF437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E0E9E0F1-9EE7-413A-A5B5-031516151B0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51415D26-0F44-457D-8163-AEEA791D86DF}"/>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ebd804f6f84f40aa"/>
          </a:graphicData>
        </a:graphic>
      </p:graphicFrame>
      <p:sp>
        <p:nvSpPr>
          <p:cNvPr id="6" name="451,5">
            <a:extLst xmlns:a="http://schemas.openxmlformats.org/drawingml/2006/main">
              <a:ext uri="{FF2B5EF4-FFF2-40B4-BE49-F238E27FC236}">
                <a16:creationId xmlns:a16="http://schemas.microsoft.com/office/drawing/2014/main" id="{96D6F927-3939-4335-991E-B65CAC38762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8C9050D0-5434-40B3-8DBB-D8ED964C3687}"/>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A09CABC-B85B-4D1B-92FD-F63F6AA3E62C}"/>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4718A07C-8E0D-4B57-94E0-0C883610EC22}"/>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F4AF13C-4075-4A33-AB6F-7CDE0F2A94B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316732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A649FAD2-0A4D-43D3-9E07-083A9E66B95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75292B7D-DD7F-4711-8811-95C01F7F69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15</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1575DE7C-E89A-4CD2-9645-7FC1AF9FA2A8}"/>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78742252-A3B0-49E0-A036-61D3688E36C7}"/>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Обе глубины меняются одновременно: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fdf911735eaa494b"/>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17A6A8B7-B3CF-42A7-B59B-E38F298709FA}"/>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1B66ED6F-573C-49DA-8081-829286359296}"/>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95%-ный парный ДИ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Бутстрэп по запросам не учитывает неопределённость судьи.</a:t>
            </a:r>
          </a:p>
        </p:txBody>
      </p:sp>
    </p:spTree>
    <p:extLst>
      <p:ext uri="{BB962C8B-B14F-4D97-AF65-F5344CB8AC3E}">
        <p14:creationId xmlns:p14="http://schemas.microsoft.com/office/powerpoint/2010/main" val="15318309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893DC6B4-8608-4DD7-B6E8-3D10ACC2E6D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25ED950A-71A0-49BD-9DD9-CDAA7E5E23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16</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8D233C68-BA22-4150-B1DD-4948CD9BF1DC}"/>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A803AB49-181C-45E5-B2EB-A609645252FC}"/>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400bf8777044912"/>
          </a:graphicData>
        </a:graphic>
      </p:graphicFrame>
      <p:sp>
        <p:nvSpPr>
          <p:cNvPr id="6" name="14,4%">
            <a:extLst xmlns:a="http://schemas.openxmlformats.org/drawingml/2006/main">
              <a:ext uri="{FF2B5EF4-FFF2-40B4-BE49-F238E27FC236}">
                <a16:creationId xmlns:a16="http://schemas.microsoft.com/office/drawing/2014/main" id="{A9582D6B-B9D1-4F70-A5A4-302326BDB6F7}"/>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BE80F4F9-C505-4D8C-94A5-43C1C7E4EF6F}"/>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83A123AE-1E5D-46B6-9406-C806F016806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17FCF1BB-7E14-4A43-949A-1FA1EE242DD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3B777154-EAE9-42A6-BE19-1EB05E481127}"/>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B3A6ED8C-8FF2-4B68-85FD-C3F9AF5577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минус E5 по псевдометкам. Фрагменты без оценки дают нулевой вклад.</a:t>
            </a:r>
          </a:p>
        </p:txBody>
      </p:sp>
    </p:spTree>
    <p:extLst>
      <p:ext uri="{BB962C8B-B14F-4D97-AF65-F5344CB8AC3E}">
        <p14:creationId xmlns:p14="http://schemas.microsoft.com/office/powerpoint/2010/main" val="912396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ED891985-AEA3-4505-AE91-B93BB800593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FAD774E1-05AF-439C-B3C6-CB817BA38A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17</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17A5C90D-B0D7-4AE0-AFF2-A360B61BEAC0}"/>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Сравнение после исключения части запросов</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Оценивание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Результат</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Ручная разметка</a:t>
                      </a:r>
                    </a:p>
                    <a:p>
                      <a:r>
                        <a:rPr sz="1875" b="0">
                          <a:solidFill>
                            <a:srgbClr val="182B30"/>
                          </a:solidFill>
                          <a:latin typeface="Arial"/>
                          <a:ea typeface="Arial"/>
                          <a:cs typeface="Arial"/>
                        </a:rPr>
                        <a:t>Исключены 23 запроса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1 156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Порядок систем сохранён</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Псевдометки</a:t>
                      </a:r>
                    </a:p>
                    <a:p>
                      <a:r>
                        <a:rPr sz="1875" b="0">
                          <a:solidFill>
                            <a:srgbClr val="182B30"/>
                          </a:solidFill>
                          <a:latin typeface="Arial"/>
                          <a:ea typeface="Arial"/>
                          <a:cs typeface="Arial"/>
                        </a:rPr>
                        <a:t>Без ручных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Знаки разностей</a:t>
                      </a:r>
                    </a:p>
                    <a:p>
                      <a:r>
                        <a:rPr sz="1875" b="0">
                          <a:solidFill>
                            <a:srgbClr val="182B30"/>
                          </a:solidFill>
                          <a:latin typeface="Arial"/>
                          <a:ea typeface="Arial"/>
                          <a:cs typeface="Arial"/>
                        </a:rPr>
                        <a:t>RRF–E5 сохранены</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88E524-F7E7-4ED6-9EDA-036F133EB5A0}"/>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855EF571-426E-4635-B0A8-1BF73A0F96FD}"/>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D23353FC-8C22-457C-A88D-23DDFD95D67E}"/>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1C7B951B-135F-4F65-9E3D-38B3C826B54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93510011"/>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5E6830FA-6B24-4FC5-B4B8-1E33AC381A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оценку поиска</a:t>
            </a:r>
          </a:p>
        </p:txBody>
      </p:sp>
      <p:sp>
        <p:nvSpPr>
          <p:cNvPr id="2" name="15">
            <a:extLst xmlns:a="http://schemas.openxmlformats.org/drawingml/2006/main">
              <a:ext uri="{FF2B5EF4-FFF2-40B4-BE49-F238E27FC236}">
                <a16:creationId xmlns:a16="http://schemas.microsoft.com/office/drawing/2014/main" id="{0EA51AD1-5EF4-4C59-8B10-AFC1683CD8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18</a:t>
            </a:r>
          </a:p>
        </p:txBody>
      </p:sp>
      <p:sp>
        <p:nvSpPr>
          <p:cNvPr id="3" name="Оценки человека">
            <a:extLst xmlns:a="http://schemas.openxmlformats.org/drawingml/2006/main">
              <a:ext uri="{FF2B5EF4-FFF2-40B4-BE49-F238E27FC236}">
                <a16:creationId xmlns:a16="http://schemas.microsoft.com/office/drawing/2014/main" id="{824567DE-3DC6-409F-91CE-43F54635805E}"/>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Оценки человека</a:t>
            </a:r>
          </a:p>
        </p:txBody>
      </p:sp>
      <p:sp>
        <p:nvSpPr>
          <p:cNvPr id="4" name="E5 NDCG@10: с 0,488 до 0,879">
            <a:extLst xmlns:a="http://schemas.openxmlformats.org/drawingml/2006/main">
              <a:ext uri="{FF2B5EF4-FFF2-40B4-BE49-F238E27FC236}">
                <a16:creationId xmlns:a16="http://schemas.microsoft.com/office/drawing/2014/main" id="{1318D601-01BA-4BC1-925B-84BB893A453B}"/>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F253C9CE-8A3A-4965-A712-FA468C91C31B}"/>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89E06602-392C-4B92-9D8A-29BBBEC2FC4A}"/>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3F7ABDF7-8C0D-47F5-B05A-ACE52D31CF60}"/>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Фиксированные выдачи, один судья</a:t>
            </a:r>
          </a: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CE0F19DB-D496-41FD-BDFF-9FE31E3C40D4}"/>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Расширение пула может изменить порядок RRF и E5</a:t>
            </a:r>
          </a:p>
        </p:txBody>
      </p:sp>
      <p:sp>
        <p:nvSpPr>
          <p:cNvPr id="9" name="">
            <a:extLst xmlns:a="http://schemas.openxmlformats.org/drawingml/2006/main">
              <a:ext uri="{FF2B5EF4-FFF2-40B4-BE49-F238E27FC236}">
                <a16:creationId xmlns:a16="http://schemas.microsoft.com/office/drawing/2014/main" id="{FFBB8109-9405-409B-B231-D129FD718FE5}"/>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35AA4F24-D638-4451-9E6A-83C26E37B82F}"/>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Далее: более сильные судьи с эталонным ответом и без него.</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Проверка по независимым человеческим оценкам.</a:t>
            </a:r>
          </a: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C2512A4B-93FA-4003-AF07-347F969F8FC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6223778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64FE41A2-C4AF-474F-9FCD-6E005D0E749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F2A4A689-EBF7-4448-B9DA-188EB09E15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NDCG@10 = DCG@10 / идеальный DCG@10">
            <a:extLst xmlns:a="http://schemas.openxmlformats.org/drawingml/2006/main">
              <a:ext uri="{FF2B5EF4-FFF2-40B4-BE49-F238E27FC236}">
                <a16:creationId xmlns:a16="http://schemas.microsoft.com/office/drawing/2014/main" id="{3BF60AEC-1E9C-4DBE-8080-352F9360DD8D}"/>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76F32C76-7D7A-4648-9125-EF0A8A2087D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934150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A3FB63F2-E26E-413E-8184-A81F9BEEC75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6B14EBB8-D421-4371-8104-CD6B661AA88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sp>
        <p:nvSpPr>
          <p:cNvPr id="3" name="Обучение">
            <a:extLst xmlns:a="http://schemas.openxmlformats.org/drawingml/2006/main">
              <a:ext uri="{FF2B5EF4-FFF2-40B4-BE49-F238E27FC236}">
                <a16:creationId xmlns:a16="http://schemas.microsoft.com/office/drawing/2014/main" id="{B0074F6B-BF66-498C-B1D7-2C91D75F8F28}"/>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E61C322-1DEF-41B8-9C56-18BB35F7EED8}"/>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ECB98A03-7A65-4522-BDE0-ED9F853CAA9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5356EB37-426F-4574-B034-2B55A21C3FBA}"/>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209C21D2-231E-447C-80B4-DFFC8C8951CB}"/>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930BE2EA-BC06-4989-8BAF-11F1871EDEE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51871FC4-4325-4F0A-BB63-2F4555F3CFE6}"/>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BCF0C21-0199-4E9E-9FD9-4ABD228C9B61}"/>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3EEF060C-A63C-407F-BEDE-CC7248B1450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D147A019-82BB-4C5C-AA20-6594216524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2826898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9878F464-4720-471F-A708-DF0DEB2B461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6922032D-AECA-4ADA-9F40-A46B079DE0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824170C2-6150-4E0A-BEA0-1D0CAFC232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621623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28FCC684-DC91-4AC3-9B9E-EE8BFD54C1F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40560BA3-F950-4501-86BB-6BBB20FBFC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NDCG@10 по ручным оценкам">
            <a:extLst xmlns:a="http://schemas.openxmlformats.org/drawingml/2006/main">
              <a:ext uri="{FF2B5EF4-FFF2-40B4-BE49-F238E27FC236}">
                <a16:creationId xmlns:a16="http://schemas.microsoft.com/office/drawing/2014/main" id="{5BC7CF8A-8A66-4D2B-BB84-31D65FD675C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58E8A587-3CA8-40FD-AF5E-3E8C552C0C1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9CF32D85-4613-482F-8B19-0DEEF1AB81F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CDBB4910-106E-4D8F-B12B-42CCE277D5C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6860370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8BB88DBE-1FA1-4812-A58B-00395E190D0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Следующий шаг: судья с эталонным ответом</a:t>
            </a:r>
          </a:p>
        </p:txBody>
      </p:sp>
      <p:sp>
        <p:nvSpPr>
          <p:cNvPr id="2" name="РЕЗЕРВ 5">
            <a:extLst xmlns:a="http://schemas.openxmlformats.org/drawingml/2006/main">
              <a:ext uri="{FF2B5EF4-FFF2-40B4-BE49-F238E27FC236}">
                <a16:creationId xmlns:a16="http://schemas.microsoft.com/office/drawing/2014/main" id="{1C286169-48C8-4BF7-B807-41C16EF962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6</a:t>
            </a:r>
          </a:p>
        </p:txBody>
      </p:sp>
      <p:sp>
        <p:nvSpPr>
          <p:cNvPr id="3" name="Предлагаемый вход">
            <a:extLst xmlns:a="http://schemas.openxmlformats.org/drawingml/2006/main">
              <a:ext uri="{FF2B5EF4-FFF2-40B4-BE49-F238E27FC236}">
                <a16:creationId xmlns:a16="http://schemas.microsoft.com/office/drawing/2014/main" id="{E3C7D543-2F1E-43A6-BC62-EBAB217B6D65}"/>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90118D05-C33A-416F-8B29-520EE248E66E}"/>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30F17433-3B9E-4FAE-A8FA-52B6AA615CC4}"/>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A105146A-D8EA-4210-99A3-4C12DEC0F712}"/>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E0AF8946-8C97-46ED-8055-EDF230D8EF7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15179722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Полная dev-часть для масштабной оценки">
            <a:extLst xmlns:a="http://schemas.openxmlformats.org/drawingml/2006/main">
              <a:ext uri="{FF2B5EF4-FFF2-40B4-BE49-F238E27FC236}">
                <a16:creationId xmlns:a16="http://schemas.microsoft.com/office/drawing/2014/main" id="{2B9A8261-9949-4488-9D48-53C08C66182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Полная dev-часть для масштабной оценки</a:t>
            </a:r>
          </a:p>
        </p:txBody>
      </p:sp>
      <p:sp>
        <p:nvSpPr>
          <p:cNvPr id="2" name="11">
            <a:extLst xmlns:a="http://schemas.openxmlformats.org/drawingml/2006/main">
              <a:ext uri="{FF2B5EF4-FFF2-40B4-BE49-F238E27FC236}">
                <a16:creationId xmlns:a16="http://schemas.microsoft.com/office/drawing/2014/main" id="{15478C3A-5184-42AE-8DFA-18DE758B612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101 093">
            <a:extLst xmlns:a="http://schemas.openxmlformats.org/drawingml/2006/main">
              <a:ext uri="{FF2B5EF4-FFF2-40B4-BE49-F238E27FC236}">
                <a16:creationId xmlns:a16="http://schemas.microsoft.com/office/drawing/2014/main" id="{2077CA7F-B524-4CC1-842C-6AF4B2D39327}"/>
              </a:ext>
            </a:extLst>
          </p:cNvPr>
          <p:cNvSpPr>
            <a:spLocks xmlns:a="http://schemas.openxmlformats.org/drawingml/2006/main" noGrp="1"/>
          </p:cNvSpPr>
          <p:nvPr/>
        </p:nvSpPr>
        <p:spPr>
          <a:xfrm xmlns:a="http://schemas.openxmlformats.org/drawingml/2006/main">
            <a:off x="609600" y="169545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007F78"/>
                </a:solidFill>
                <a:latin typeface="Arial"/>
                <a:ea typeface="Arial"/>
                <a:cs typeface="Arial"/>
              </a:defRPr>
            </a:defPPr>
          </a:lstStyle>
          <a:p xmlns:a="http://schemas.openxmlformats.org/drawingml/2006/main">
            <a:pPr algn="l">
              <a:defRPr sz="6600" b="1">
                <a:solidFill>
                  <a:srgbClr val="007F78"/>
                </a:solidFill>
                <a:latin typeface="Arial"/>
                <a:ea typeface="Arial"/>
                <a:cs typeface="Arial"/>
              </a:defRPr>
            </a:pPr>
            <a:r>
              <a:rPr sz="6600" b="1">
                <a:solidFill>
                  <a:srgbClr val="007F78"/>
                </a:solidFill>
                <a:latin typeface="Arial"/>
                <a:ea typeface="Arial"/>
                <a:cs typeface="Arial"/>
              </a:rPr>
              <a:t>101 093</a:t>
            </a:r>
          </a:p>
        </p:txBody>
      </p:sp>
      <p:sp>
        <p:nvSpPr>
          <p:cNvPr id="4" name="запроса в queries.dev.tsv">
            <a:extLst xmlns:a="http://schemas.openxmlformats.org/drawingml/2006/main">
              <a:ext uri="{FF2B5EF4-FFF2-40B4-BE49-F238E27FC236}">
                <a16:creationId xmlns:a16="http://schemas.microsoft.com/office/drawing/2014/main" id="{69389898-20D0-4BEF-9DC9-B302A76FDE4C}"/>
              </a:ext>
            </a:extLst>
          </p:cNvPr>
          <p:cNvSpPr>
            <a:spLocks xmlns:a="http://schemas.openxmlformats.org/drawingml/2006/main" noGrp="1"/>
          </p:cNvSpPr>
          <p:nvPr/>
        </p:nvSpPr>
        <p:spPr>
          <a:xfrm xmlns:a="http://schemas.openxmlformats.org/drawingml/2006/main">
            <a:off x="609600" y="285750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82B30"/>
                </a:solidFill>
                <a:latin typeface="Arial"/>
                <a:ea typeface="Arial"/>
                <a:cs typeface="Arial"/>
              </a:defRPr>
            </a:defPPr>
          </a:lstStyle>
          <a:p xmlns:a="http://schemas.openxmlformats.org/drawingml/2006/main">
            <a:pPr algn="l">
              <a:defRPr sz="2625" b="1">
                <a:solidFill>
                  <a:srgbClr val="182B30"/>
                </a:solidFill>
                <a:latin typeface="Arial"/>
                <a:ea typeface="Arial"/>
                <a:cs typeface="Arial"/>
              </a:defRPr>
            </a:pPr>
            <a:r>
              <a:rPr sz="2625" b="1">
                <a:solidFill>
                  <a:srgbClr val="182B30"/>
                </a:solidFill>
                <a:latin typeface="Arial"/>
                <a:ea typeface="Arial"/>
                <a:cs typeface="Arial"/>
              </a:rPr>
              <a:t>запроса в queries.dev.tsv</a:t>
            </a:r>
          </a:p>
        </p:txBody>
      </p:sp>
      <p:sp>
        <p:nvSpPr>
          <p:cNvPr id="5" name="MS MARCO Passage Ranking v1">
            <a:extLst xmlns:a="http://schemas.openxmlformats.org/drawingml/2006/main">
              <a:ext uri="{FF2B5EF4-FFF2-40B4-BE49-F238E27FC236}">
                <a16:creationId xmlns:a16="http://schemas.microsoft.com/office/drawing/2014/main" id="{51CC0684-1327-4BC3-A025-1397E4CE659B}"/>
              </a:ext>
            </a:extLst>
          </p:cNvPr>
          <p:cNvSpPr>
            <a:spLocks xmlns:a="http://schemas.openxmlformats.org/drawingml/2006/main" noGrp="1"/>
          </p:cNvSpPr>
          <p:nvPr/>
        </p:nvSpPr>
        <p:spPr>
          <a:xfrm xmlns:a="http://schemas.openxmlformats.org/drawingml/2006/main">
            <a:off x="609600" y="345757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v1</a:t>
            </a:r>
          </a:p>
        </p:txBody>
      </p:sp>
      <p:sp>
        <p:nvSpPr>
          <p:cNvPr id="6" name="">
            <a:extLst xmlns:a="http://schemas.openxmlformats.org/drawingml/2006/main">
              <a:ext uri="{FF2B5EF4-FFF2-40B4-BE49-F238E27FC236}">
                <a16:creationId xmlns:a16="http://schemas.microsoft.com/office/drawing/2014/main" id="{700D9565-FB0D-48DF-A6A6-5CB34B98F20D}"/>
              </a:ext>
            </a:extLst>
          </p:cNvPr>
          <p:cNvSpPr>
            <a:spLocks xmlns:a="http://schemas.openxmlformats.org/drawingml/2006/main" noGrp="1"/>
          </p:cNvSpPr>
          <p:nvPr/>
        </p:nvSpPr>
        <p:spPr>
          <a:xfrm xmlns:a="http://schemas.openxmlformats.org/drawingml/2006/main">
            <a:off x="609600" y="4114800"/>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7" name="Для этих запросов подготовили поисковые выдачи.&#10;После обучения судья о">
            <a:extLst xmlns:a="http://schemas.openxmlformats.org/drawingml/2006/main">
              <a:ext uri="{FF2B5EF4-FFF2-40B4-BE49-F238E27FC236}">
                <a16:creationId xmlns:a16="http://schemas.microsoft.com/office/drawing/2014/main" id="{6A8F38E8-5CB3-4209-9F32-3162AF293AF6}"/>
              </a:ext>
            </a:extLst>
          </p:cNvPr>
          <p:cNvSpPr>
            <a:spLocks xmlns:a="http://schemas.openxmlformats.org/drawingml/2006/main" noGrp="1"/>
          </p:cNvSpPr>
          <p:nvPr/>
        </p:nvSpPr>
        <p:spPr>
          <a:xfrm xmlns:a="http://schemas.openxmlformats.org/drawingml/2006/main">
            <a:off x="609600" y="44291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30"/>
                </a:solidFill>
                <a:latin typeface="Arial"/>
                <a:ea typeface="Arial"/>
                <a:cs typeface="Arial"/>
              </a:defRPr>
            </a:defPPr>
          </a:lstStyle>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Для этих запросов подготовили поисковые выдачи.</a:t>
            </a:r>
          </a:p>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После обучения судья оценивает найденные фрагменты.</a:t>
            </a:r>
          </a:p>
        </p:txBody>
      </p:sp>
      <p:sp>
        <p:nvSpPr>
          <p:cNvPr id="8" name="101 093 запроса в эксперименте совпадают с полной dev-частью по иденти">
            <a:extLst xmlns:a="http://schemas.openxmlformats.org/drawingml/2006/main">
              <a:ext uri="{FF2B5EF4-FFF2-40B4-BE49-F238E27FC236}">
                <a16:creationId xmlns:a16="http://schemas.microsoft.com/office/drawing/2014/main" id="{9F975805-5422-4909-8A78-974A095BC933}"/>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 эксперименте совпадают с полной dev-частью по идентификаторам.</a:t>
            </a:r>
          </a:p>
        </p:txBody>
      </p:sp>
    </p:spTree>
    <p:extLst>
      <p:ext uri="{BB962C8B-B14F-4D97-AF65-F5344CB8AC3E}">
        <p14:creationId xmlns:p14="http://schemas.microsoft.com/office/powerpoint/2010/main" val="178333556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DD5774A0-A021-4D39-82EC-B8310EB78AF8}"/>
              </a:ext>
            </a:extLst>
          </p:cNvPr>
          <p:cNvCxnSpPr>
            <a:stCxn xmlns:a="http://schemas.openxmlformats.org/drawingml/2006/main" id="8" idx="3"/>
            <a:endCxn xmlns:a="http://schemas.openxmlformats.org/drawingml/2006/main" id="9" idx="1"/>
          </p:cNvCxnSpPr>
          <p:nvPr/>
        </p:nvCxnSpPr>
        <p:spPr>
          <a:xfrm xmlns:a="http://schemas.openxmlformats.org/drawingml/2006/main">
            <a:off x="8810625"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3" name="">
            <a:extLst xmlns:a="http://schemas.openxmlformats.org/drawingml/2006/main">
              <a:ext uri="{FF2B5EF4-FFF2-40B4-BE49-F238E27FC236}">
                <a16:creationId xmlns:a16="http://schemas.microsoft.com/office/drawing/2014/main" id="{94519830-39EE-49CE-8B96-37BCA4255EF2}"/>
              </a:ext>
            </a:extLst>
          </p:cNvPr>
          <p:cNvCxnSpPr>
            <a:stCxn xmlns:a="http://schemas.openxmlformats.org/drawingml/2006/main" id="7" idx="3"/>
            <a:endCxn xmlns:a="http://schemas.openxmlformats.org/drawingml/2006/main" id="8" idx="1"/>
          </p:cNvCxnSpPr>
          <p:nvPr/>
        </p:nvCxnSpPr>
        <p:spPr>
          <a:xfrm xmlns:a="http://schemas.openxmlformats.org/drawingml/2006/main">
            <a:off x="6210300"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2" name="">
            <a:extLst xmlns:a="http://schemas.openxmlformats.org/drawingml/2006/main">
              <a:ext uri="{FF2B5EF4-FFF2-40B4-BE49-F238E27FC236}">
                <a16:creationId xmlns:a16="http://schemas.microsoft.com/office/drawing/2014/main" id="{97DB1A34-F3A2-4ADF-B8B5-118B3E58EE3E}"/>
              </a:ext>
            </a:extLst>
          </p:cNvPr>
          <p:cNvCxnSpPr>
            <a:stCxn xmlns:a="http://schemas.openxmlformats.org/drawingml/2006/main" id="6" idx="3"/>
            <a:endCxn xmlns:a="http://schemas.openxmlformats.org/drawingml/2006/main" id="7" idx="1"/>
          </p:cNvCxnSpPr>
          <p:nvPr/>
        </p:nvCxnSpPr>
        <p:spPr>
          <a:xfrm xmlns:a="http://schemas.openxmlformats.org/drawingml/2006/main" flipV="1">
            <a:off x="2800350" y="356235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C5A5CD1C-C7B9-4EF6-82BE-EC948942575C}"/>
              </a:ext>
            </a:extLst>
          </p:cNvPr>
          <p:cNvCxnSpPr>
            <a:stCxn xmlns:a="http://schemas.openxmlformats.org/drawingml/2006/main" id="5" idx="3"/>
            <a:endCxn xmlns:a="http://schemas.openxmlformats.org/drawingml/2006/main" id="7" idx="1"/>
          </p:cNvCxnSpPr>
          <p:nvPr/>
        </p:nvCxnSpPr>
        <p:spPr>
          <a:xfrm xmlns:a="http://schemas.openxmlformats.org/drawingml/2006/main">
            <a:off x="2800350" y="3562350"/>
            <a:ext cx="8382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D63E2B75-ED35-40FB-B910-C5AF73868780}"/>
              </a:ext>
            </a:extLst>
          </p:cNvPr>
          <p:cNvCxnSpPr>
            <a:stCxn xmlns:a="http://schemas.openxmlformats.org/drawingml/2006/main" id="4" idx="3"/>
            <a:endCxn xmlns:a="http://schemas.openxmlformats.org/drawingml/2006/main" id="7" idx="1"/>
          </p:cNvCxnSpPr>
          <p:nvPr/>
        </p:nvCxnSpPr>
        <p:spPr>
          <a:xfrm xmlns:a="http://schemas.openxmlformats.org/drawingml/2006/main">
            <a:off x="2800350" y="262890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7" name="Пулы кандидатов для модели-судьи">
            <a:extLst xmlns:a="http://schemas.openxmlformats.org/drawingml/2006/main">
              <a:ext uri="{FF2B5EF4-FFF2-40B4-BE49-F238E27FC236}">
                <a16:creationId xmlns:a16="http://schemas.microsoft.com/office/drawing/2014/main" id="{41E850F8-10CA-44D8-BE1F-EE579E3500DB}"/>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Пулы кандидатов для модели-судьи</a:t>
            </a:r>
          </a:p>
        </p:txBody>
      </p:sp>
      <p:sp>
        <p:nvSpPr>
          <p:cNvPr id="2" name="12">
            <a:extLst xmlns:a="http://schemas.openxmlformats.org/drawingml/2006/main">
              <a:ext uri="{FF2B5EF4-FFF2-40B4-BE49-F238E27FC236}">
                <a16:creationId xmlns:a16="http://schemas.microsoft.com/office/drawing/2014/main" id="{B8524155-95B6-4806-94B3-99C08507C3F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задаёт число результатов от каждого поискового метода">
            <a:extLst xmlns:a="http://schemas.openxmlformats.org/drawingml/2006/main">
              <a:ext uri="{FF2B5EF4-FFF2-40B4-BE49-F238E27FC236}">
                <a16:creationId xmlns:a16="http://schemas.microsoft.com/office/drawing/2014/main" id="{BA938D0F-D1C3-4577-BBA3-93D726C721B6}"/>
              </a:ext>
            </a:extLst>
          </p:cNvPr>
          <p:cNvSpPr>
            <a:spLocks xmlns:a="http://schemas.openxmlformats.org/drawingml/2006/main" noGrp="1"/>
          </p:cNvSpPr>
          <p:nvPr/>
        </p:nvSpPr>
        <p:spPr>
          <a:xfrm xmlns:a="http://schemas.openxmlformats.org/drawingml/2006/main">
            <a:off x="609600" y="1543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K задаёт число результатов от каждого поискового метода</a:t>
            </a:r>
          </a:p>
        </p:txBody>
      </p:sp>
      <p:sp>
        <p:nvSpPr>
          <p:cNvPr id="4" name="BM25&#10;первые K">
            <a:extLst xmlns:a="http://schemas.openxmlformats.org/drawingml/2006/main">
              <a:ext uri="{FF2B5EF4-FFF2-40B4-BE49-F238E27FC236}">
                <a16:creationId xmlns:a16="http://schemas.microsoft.com/office/drawing/2014/main" id="{D1493ED4-A8A6-456B-BE4A-A6C59408A12F}"/>
              </a:ext>
            </a:extLst>
          </p:cNvPr>
          <p:cNvSpPr>
            <a:spLocks xmlns:a="http://schemas.openxmlformats.org/drawingml/2006/main" noGrp="1"/>
          </p:cNvSpPr>
          <p:nvPr/>
        </p:nvSpPr>
        <p:spPr>
          <a:xfrm xmlns:a="http://schemas.openxmlformats.org/drawingml/2006/main">
            <a:off x="609600" y="22383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5" name="E5&#10;первые K">
            <a:extLst xmlns:a="http://schemas.openxmlformats.org/drawingml/2006/main">
              <a:ext uri="{FF2B5EF4-FFF2-40B4-BE49-F238E27FC236}">
                <a16:creationId xmlns:a16="http://schemas.microsoft.com/office/drawing/2014/main" id="{9B4EC669-F96C-4AF6-BCE6-FB69AF2E0436}"/>
              </a:ext>
            </a:extLst>
          </p:cNvPr>
          <p:cNvSpPr>
            <a:spLocks xmlns:a="http://schemas.openxmlformats.org/drawingml/2006/main" noGrp="1"/>
          </p:cNvSpPr>
          <p:nvPr/>
        </p:nvSpPr>
        <p:spPr>
          <a:xfrm xmlns:a="http://schemas.openxmlformats.org/drawingml/2006/main">
            <a:off x="609600" y="317182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6" name="BGE&#10;первые K">
            <a:extLst xmlns:a="http://schemas.openxmlformats.org/drawingml/2006/main">
              <a:ext uri="{FF2B5EF4-FFF2-40B4-BE49-F238E27FC236}">
                <a16:creationId xmlns:a16="http://schemas.microsoft.com/office/drawing/2014/main" id="{4C8AD222-7201-480C-8B29-CAE6DB242A58}"/>
              </a:ext>
            </a:extLst>
          </p:cNvPr>
          <p:cNvSpPr>
            <a:spLocks xmlns:a="http://schemas.openxmlformats.org/drawingml/2006/main" noGrp="1"/>
          </p:cNvSpPr>
          <p:nvPr/>
        </p:nvSpPr>
        <p:spPr>
          <a:xfrm xmlns:a="http://schemas.openxmlformats.org/drawingml/2006/main">
            <a:off x="609600" y="41052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7" name="Общий пул&#10;без дубликатов">
            <a:extLst xmlns:a="http://schemas.openxmlformats.org/drawingml/2006/main">
              <a:ext uri="{FF2B5EF4-FFF2-40B4-BE49-F238E27FC236}">
                <a16:creationId xmlns:a16="http://schemas.microsoft.com/office/drawing/2014/main" id="{F11F59E8-3113-4FE5-9058-E52D8596CCF5}"/>
              </a:ext>
            </a:extLst>
          </p:cNvPr>
          <p:cNvSpPr>
            <a:spLocks xmlns:a="http://schemas.openxmlformats.org/drawingml/2006/main" noGrp="1"/>
          </p:cNvSpPr>
          <p:nvPr/>
        </p:nvSpPr>
        <p:spPr>
          <a:xfrm xmlns:a="http://schemas.openxmlformats.org/drawingml/2006/main">
            <a:off x="3638550" y="2990850"/>
            <a:ext cx="2571750" cy="114300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Общий пул</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без дубликатов</a:t>
            </a:r>
          </a:p>
        </p:txBody>
      </p:sp>
      <p:sp>
        <p:nvSpPr>
          <p:cNvPr id="8" name="Судья&#10;MiniLM">
            <a:extLst xmlns:a="http://schemas.openxmlformats.org/drawingml/2006/main">
              <a:ext uri="{FF2B5EF4-FFF2-40B4-BE49-F238E27FC236}">
                <a16:creationId xmlns:a16="http://schemas.microsoft.com/office/drawing/2014/main" id="{CA3440FA-9196-4E18-9E03-FBF19BA14987}"/>
              </a:ext>
            </a:extLst>
          </p:cNvPr>
          <p:cNvSpPr>
            <a:spLocks xmlns:a="http://schemas.openxmlformats.org/drawingml/2006/main" noGrp="1"/>
          </p:cNvSpPr>
          <p:nvPr/>
        </p:nvSpPr>
        <p:spPr>
          <a:xfrm xmlns:a="http://schemas.openxmlformats.org/drawingml/2006/main">
            <a:off x="6905625" y="2990850"/>
            <a:ext cx="190500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Судья</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MiniLM</a:t>
            </a:r>
          </a:p>
        </p:txBody>
      </p:sp>
      <p:sp>
        <p:nvSpPr>
          <p:cNvPr id="9" name="Псевдометки&#10;0 или 1">
            <a:extLst xmlns:a="http://schemas.openxmlformats.org/drawingml/2006/main">
              <a:ext uri="{FF2B5EF4-FFF2-40B4-BE49-F238E27FC236}">
                <a16:creationId xmlns:a16="http://schemas.microsoft.com/office/drawing/2014/main" id="{8D3E6DBD-0EE9-466E-B812-C69FE0AD4199}"/>
              </a:ext>
            </a:extLst>
          </p:cNvPr>
          <p:cNvSpPr>
            <a:spLocks xmlns:a="http://schemas.openxmlformats.org/drawingml/2006/main" noGrp="1"/>
          </p:cNvSpPr>
          <p:nvPr/>
        </p:nvSpPr>
        <p:spPr>
          <a:xfrm xmlns:a="http://schemas.openxmlformats.org/drawingml/2006/main">
            <a:off x="9505950" y="2990850"/>
            <a:ext cx="207645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Псевдометки</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0 или 1</a:t>
            </a:r>
          </a:p>
        </p:txBody>
      </p:sp>
      <p:sp>
        <p:nvSpPr>
          <p:cNvPr id="15" name="K = 10, 30, 50, 100, 200">
            <a:extLst xmlns:a="http://schemas.openxmlformats.org/drawingml/2006/main">
              <a:ext uri="{FF2B5EF4-FFF2-40B4-BE49-F238E27FC236}">
                <a16:creationId xmlns:a16="http://schemas.microsoft.com/office/drawing/2014/main" id="{042F81F9-3D36-49A5-9BA1-6952EED02685}"/>
              </a:ext>
            </a:extLst>
          </p:cNvPr>
          <p:cNvSpPr>
            <a:spLocks xmlns:a="http://schemas.openxmlformats.org/drawingml/2006/main" noGrp="1"/>
          </p:cNvSpPr>
          <p:nvPr/>
        </p:nvSpPr>
        <p:spPr>
          <a:xfrm xmlns:a="http://schemas.openxmlformats.org/drawingml/2006/main">
            <a:off x="609600" y="5314950"/>
            <a:ext cx="647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7F78"/>
                </a:solidFill>
                <a:latin typeface="Arial"/>
                <a:ea typeface="Arial"/>
                <a:cs typeface="Arial"/>
              </a:defRPr>
            </a:defPPr>
          </a:lstStyle>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K = 10, 30, 50, 100, 200</a:t>
            </a:r>
          </a:p>
        </p:txBody>
      </p:sp>
      <p:sp>
        <p:nvSpPr>
          <p:cNvPr id="16" name="Судья и порог −0,2187 фиксированы. Размер пула может быть меньше 3K.">
            <a:extLst xmlns:a="http://schemas.openxmlformats.org/drawingml/2006/main">
              <a:ext uri="{FF2B5EF4-FFF2-40B4-BE49-F238E27FC236}">
                <a16:creationId xmlns:a16="http://schemas.microsoft.com/office/drawing/2014/main" id="{50259D60-B4FE-49AC-BF2A-02DE5163D21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Судья и порог −0,2187 фиксированы. Размер пула может быть меньше 3K.</a:t>
            </a:r>
          </a:p>
        </p:txBody>
      </p:sp>
    </p:spTree>
    <p:extLst>
      <p:ext uri="{BB962C8B-B14F-4D97-AF65-F5344CB8AC3E}">
        <p14:creationId xmlns:p14="http://schemas.microsoft.com/office/powerpoint/2010/main" val="3187768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23822FD-5B19-4010-A14D-25DCC8F9DF76}"/>
              </a:ext>
            </a:extLst>
          </p:cNvPr>
          <p:cNvCxnSpPr>
            <a:stCxn xmlns:a="http://schemas.openxmlformats.org/drawingml/2006/main" id="7" idx="3"/>
            <a:endCxn xmlns:a="http://schemas.openxmlformats.org/drawingml/2006/main" id="8" idx="1"/>
          </p:cNvCxnSpPr>
          <p:nvPr/>
        </p:nvCxnSpPr>
        <p:spPr>
          <a:xfrm xmlns:a="http://schemas.openxmlformats.org/drawingml/2006/main">
            <a:off x="7172325" y="3533775"/>
            <a:ext cx="10287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7D1FDB77-9180-48A9-923F-97DEB5891B4A}"/>
              </a:ext>
            </a:extLst>
          </p:cNvPr>
          <p:cNvCxnSpPr>
            <a:stCxn xmlns:a="http://schemas.openxmlformats.org/drawingml/2006/main" id="6" idx="3"/>
            <a:endCxn xmlns:a="http://schemas.openxmlformats.org/drawingml/2006/main" id="7" idx="1"/>
          </p:cNvCxnSpPr>
          <p:nvPr/>
        </p:nvCxnSpPr>
        <p:spPr>
          <a:xfrm xmlns:a="http://schemas.openxmlformats.org/drawingml/2006/main" flipV="1">
            <a:off x="2752725" y="3533775"/>
            <a:ext cx="971550" cy="72390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321996B1-57F6-4A8C-8368-A24CB67B9C1A}"/>
              </a:ext>
            </a:extLst>
          </p:cNvPr>
          <p:cNvCxnSpPr>
            <a:stCxn xmlns:a="http://schemas.openxmlformats.org/drawingml/2006/main" id="5" idx="3"/>
            <a:endCxn xmlns:a="http://schemas.openxmlformats.org/drawingml/2006/main" id="7" idx="1"/>
          </p:cNvCxnSpPr>
          <p:nvPr/>
        </p:nvCxnSpPr>
        <p:spPr>
          <a:xfrm xmlns:a="http://schemas.openxmlformats.org/drawingml/2006/main">
            <a:off x="2752725" y="3448050"/>
            <a:ext cx="971550" cy="85725"/>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9" name="">
            <a:extLst xmlns:a="http://schemas.openxmlformats.org/drawingml/2006/main">
              <a:ext uri="{FF2B5EF4-FFF2-40B4-BE49-F238E27FC236}">
                <a16:creationId xmlns:a16="http://schemas.microsoft.com/office/drawing/2014/main" id="{3884D392-3471-4718-B882-F023CD6D1926}"/>
              </a:ext>
            </a:extLst>
          </p:cNvPr>
          <p:cNvCxnSpPr>
            <a:stCxn xmlns:a="http://schemas.openxmlformats.org/drawingml/2006/main" id="4" idx="3"/>
            <a:endCxn xmlns:a="http://schemas.openxmlformats.org/drawingml/2006/main" id="7" idx="1"/>
          </p:cNvCxnSpPr>
          <p:nvPr/>
        </p:nvCxnSpPr>
        <p:spPr>
          <a:xfrm xmlns:a="http://schemas.openxmlformats.org/drawingml/2006/main">
            <a:off x="2752725" y="2638425"/>
            <a:ext cx="971550" cy="8953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6" name="Зачем объединять результаты с помощью RRF">
            <a:extLst xmlns:a="http://schemas.openxmlformats.org/drawingml/2006/main">
              <a:ext uri="{FF2B5EF4-FFF2-40B4-BE49-F238E27FC236}">
                <a16:creationId xmlns:a16="http://schemas.microsoft.com/office/drawing/2014/main" id="{6FAAFDDA-7410-4DB1-9544-F04C6185D44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Зачем объединять результаты с помощью RRF</a:t>
            </a:r>
          </a:p>
        </p:txBody>
      </p:sp>
      <p:sp>
        <p:nvSpPr>
          <p:cNvPr id="2" name="14">
            <a:extLst xmlns:a="http://schemas.openxmlformats.org/drawingml/2006/main">
              <a:ext uri="{FF2B5EF4-FFF2-40B4-BE49-F238E27FC236}">
                <a16:creationId xmlns:a16="http://schemas.microsoft.com/office/drawing/2014/main" id="{C3224F00-6630-4665-9B48-C8CE5059F94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Проверяем, дополняют ли друг друга разные способы поиска">
            <a:extLst xmlns:a="http://schemas.openxmlformats.org/drawingml/2006/main">
              <a:ext uri="{FF2B5EF4-FFF2-40B4-BE49-F238E27FC236}">
                <a16:creationId xmlns:a16="http://schemas.microsoft.com/office/drawing/2014/main" id="{EF2A1E1A-A731-4158-B6D4-9B9DACF921BE}"/>
              </a:ext>
            </a:extLst>
          </p:cNvPr>
          <p:cNvSpPr>
            <a:spLocks xmlns:a="http://schemas.openxmlformats.org/drawingml/2006/main" noGrp="1"/>
          </p:cNvSpPr>
          <p:nvPr/>
        </p:nvSpPr>
        <p:spPr>
          <a:xfrm xmlns:a="http://schemas.openxmlformats.org/drawingml/2006/main">
            <a:off x="609600" y="1533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Проверяем, дополняют ли друг друга разные способы поиска</a:t>
            </a:r>
          </a:p>
        </p:txBody>
      </p:sp>
      <p:sp>
        <p:nvSpPr>
          <p:cNvPr id="4" name="BM25">
            <a:extLst xmlns:a="http://schemas.openxmlformats.org/drawingml/2006/main">
              <a:ext uri="{FF2B5EF4-FFF2-40B4-BE49-F238E27FC236}">
                <a16:creationId xmlns:a16="http://schemas.microsoft.com/office/drawing/2014/main" id="{7EBB8D5F-B2FB-4CA8-B757-853CB185E97D}"/>
              </a:ext>
            </a:extLst>
          </p:cNvPr>
          <p:cNvSpPr>
            <a:spLocks xmlns:a="http://schemas.openxmlformats.org/drawingml/2006/main" noGrp="1"/>
          </p:cNvSpPr>
          <p:nvPr/>
        </p:nvSpPr>
        <p:spPr>
          <a:xfrm xmlns:a="http://schemas.openxmlformats.org/drawingml/2006/main">
            <a:off x="609600" y="230505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p:txBody>
      </p:sp>
      <p:sp>
        <p:nvSpPr>
          <p:cNvPr id="5" name="E5">
            <a:extLst xmlns:a="http://schemas.openxmlformats.org/drawingml/2006/main">
              <a:ext uri="{FF2B5EF4-FFF2-40B4-BE49-F238E27FC236}">
                <a16:creationId xmlns:a16="http://schemas.microsoft.com/office/drawing/2014/main" id="{370C3F5C-0D77-4F2B-A7A7-A53AD71433C8}"/>
              </a:ext>
            </a:extLst>
          </p:cNvPr>
          <p:cNvSpPr>
            <a:spLocks xmlns:a="http://schemas.openxmlformats.org/drawingml/2006/main" noGrp="1"/>
          </p:cNvSpPr>
          <p:nvPr/>
        </p:nvSpPr>
        <p:spPr>
          <a:xfrm xmlns:a="http://schemas.openxmlformats.org/drawingml/2006/main">
            <a:off x="609600" y="3114675"/>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p:txBody>
      </p:sp>
      <p:sp>
        <p:nvSpPr>
          <p:cNvPr id="6" name="BGE">
            <a:extLst xmlns:a="http://schemas.openxmlformats.org/drawingml/2006/main">
              <a:ext uri="{FF2B5EF4-FFF2-40B4-BE49-F238E27FC236}">
                <a16:creationId xmlns:a16="http://schemas.microsoft.com/office/drawing/2014/main" id="{B049F26B-A2DC-4F8A-9D83-80ABE0A0138B}"/>
              </a:ext>
            </a:extLst>
          </p:cNvPr>
          <p:cNvSpPr>
            <a:spLocks xmlns:a="http://schemas.openxmlformats.org/drawingml/2006/main" noGrp="1"/>
          </p:cNvSpPr>
          <p:nvPr/>
        </p:nvSpPr>
        <p:spPr>
          <a:xfrm xmlns:a="http://schemas.openxmlformats.org/drawingml/2006/main">
            <a:off x="609600" y="392430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p:txBody>
      </p:sp>
      <p:sp>
        <p:nvSpPr>
          <p:cNvPr id="7" name="RRF&#10;слияние по позициям">
            <a:extLst xmlns:a="http://schemas.openxmlformats.org/drawingml/2006/main">
              <a:ext uri="{FF2B5EF4-FFF2-40B4-BE49-F238E27FC236}">
                <a16:creationId xmlns:a16="http://schemas.microsoft.com/office/drawing/2014/main" id="{1EDE10D0-6BAA-4082-AE1B-FE8DD2717CCE}"/>
              </a:ext>
            </a:extLst>
          </p:cNvPr>
          <p:cNvSpPr>
            <a:spLocks xmlns:a="http://schemas.openxmlformats.org/drawingml/2006/main" noGrp="1"/>
          </p:cNvSpPr>
          <p:nvPr/>
        </p:nvSpPr>
        <p:spPr>
          <a:xfrm xmlns:a="http://schemas.openxmlformats.org/drawingml/2006/main">
            <a:off x="3724275" y="2914650"/>
            <a:ext cx="3448050" cy="123825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75">
                <a:solidFill>
                  <a:srgbClr val="182B30"/>
                </a:solidFill>
                <a:latin typeface="Arial"/>
                <a:ea typeface="Arial"/>
                <a:cs typeface="Arial"/>
              </a:defRPr>
            </a:defPPr>
          </a:lstStyle>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RRF</a:t>
            </a:r>
          </a:p>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слияние по позициям</a:t>
            </a:r>
          </a:p>
        </p:txBody>
      </p:sp>
      <p:sp>
        <p:nvSpPr>
          <p:cNvPr id="8" name="Один итоговый&#10;список фрагментов">
            <a:extLst xmlns:a="http://schemas.openxmlformats.org/drawingml/2006/main">
              <a:ext uri="{FF2B5EF4-FFF2-40B4-BE49-F238E27FC236}">
                <a16:creationId xmlns:a16="http://schemas.microsoft.com/office/drawing/2014/main" id="{7054BE41-EDF8-4B5C-8C4E-6B1BD86B2376}"/>
              </a:ext>
            </a:extLst>
          </p:cNvPr>
          <p:cNvSpPr>
            <a:spLocks xmlns:a="http://schemas.openxmlformats.org/drawingml/2006/main" noGrp="1"/>
          </p:cNvSpPr>
          <p:nvPr/>
        </p:nvSpPr>
        <p:spPr>
          <a:xfrm xmlns:a="http://schemas.openxmlformats.org/drawingml/2006/main">
            <a:off x="8201025" y="2914650"/>
            <a:ext cx="3381375" cy="12382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Один итоговый</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список фрагментов</a:t>
            </a:r>
          </a:p>
        </p:txBody>
      </p:sp>
      <p:sp>
        <p:nvSpPr>
          <p:cNvPr id="13" name="RRF(d) = Σ 1 / (60 + rankᵢ(d))">
            <a:extLst xmlns:a="http://schemas.openxmlformats.org/drawingml/2006/main">
              <a:ext uri="{FF2B5EF4-FFF2-40B4-BE49-F238E27FC236}">
                <a16:creationId xmlns:a16="http://schemas.microsoft.com/office/drawing/2014/main" id="{AA6B5DCC-14AF-49EE-82AD-6C3EF2007A01}"/>
              </a:ext>
            </a:extLst>
          </p:cNvPr>
          <p:cNvSpPr>
            <a:spLocks xmlns:a="http://schemas.openxmlformats.org/drawingml/2006/main" noGrp="1"/>
          </p:cNvSpPr>
          <p:nvPr/>
        </p:nvSpPr>
        <p:spPr>
          <a:xfrm xmlns:a="http://schemas.openxmlformats.org/drawingml/2006/main">
            <a:off x="609600" y="5010150"/>
            <a:ext cx="771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7F78"/>
                </a:solidFill>
                <a:latin typeface="Arial"/>
                <a:ea typeface="Arial"/>
                <a:cs typeface="Arial"/>
              </a:defRPr>
            </a:defPPr>
          </a:lstStyle>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RRF(d) = Σ 1 / (60 + rankᵢ(d))</a:t>
            </a:r>
          </a:p>
        </p:txBody>
      </p:sp>
      <p:sp>
        <p:nvSpPr>
          <p:cNvPr id="14" name="Равный вес трёх источников. Исходные баллы моделей не суммируются.">
            <a:extLst xmlns:a="http://schemas.openxmlformats.org/drawingml/2006/main">
              <a:ext uri="{FF2B5EF4-FFF2-40B4-BE49-F238E27FC236}">
                <a16:creationId xmlns:a16="http://schemas.microsoft.com/office/drawing/2014/main" id="{1BBC45CA-E952-41F3-A2D6-11B7FC246334}"/>
              </a:ext>
            </a:extLst>
          </p:cNvPr>
          <p:cNvSpPr>
            <a:spLocks xmlns:a="http://schemas.openxmlformats.org/drawingml/2006/main" noGrp="1"/>
          </p:cNvSpPr>
          <p:nvPr/>
        </p:nvSpPr>
        <p:spPr>
          <a:xfrm xmlns:a="http://schemas.openxmlformats.org/drawingml/2006/main">
            <a:off x="609600" y="55816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B30"/>
                </a:solidFill>
                <a:latin typeface="Arial"/>
                <a:ea typeface="Arial"/>
                <a:cs typeface="Arial"/>
              </a:defRPr>
            </a:defPPr>
          </a:lstStyle>
          <a:p xmlns:a="http://schemas.openxmlformats.org/drawingml/2006/main">
            <a:pPr algn="l">
              <a:defRPr sz="1950" b="0">
                <a:solidFill>
                  <a:srgbClr val="182B30"/>
                </a:solidFill>
                <a:latin typeface="Arial"/>
                <a:ea typeface="Arial"/>
                <a:cs typeface="Arial"/>
              </a:defRPr>
            </a:pPr>
            <a:r>
              <a:rPr sz="1950" b="0">
                <a:solidFill>
                  <a:srgbClr val="182B30"/>
                </a:solidFill>
                <a:latin typeface="Arial"/>
                <a:ea typeface="Arial"/>
                <a:cs typeface="Arial"/>
              </a:rPr>
              <a:t>Равный вес трёх источников. Исходные баллы моделей не суммируются.</a:t>
            </a:r>
          </a:p>
        </p:txBody>
      </p:sp>
      <p:sp>
        <p:nvSpPr>
          <p:cNvPr id="15" name="Cormack, Clarke, Büttcher, SIGIR 2009. Оценки судьи не входят в формул">
            <a:extLst xmlns:a="http://schemas.openxmlformats.org/drawingml/2006/main">
              <a:ext uri="{FF2B5EF4-FFF2-40B4-BE49-F238E27FC236}">
                <a16:creationId xmlns:a16="http://schemas.microsoft.com/office/drawing/2014/main" id="{636AD666-D12C-4C23-811C-64F8A3807468}"/>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Cormack, Clarke, Büttcher, SIGIR 2009. Оценки судьи не входят в формулу RRF.</a:t>
            </a:r>
          </a:p>
        </p:txBody>
      </p:sp>
    </p:spTree>
    <p:extLst>
      <p:ext uri="{BB962C8B-B14F-4D97-AF65-F5344CB8AC3E}">
        <p14:creationId xmlns:p14="http://schemas.microsoft.com/office/powerpoint/2010/main" val="81645074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Литература и ресурсы">
            <a:extLst xmlns:a="http://schemas.openxmlformats.org/drawingml/2006/main">
              <a:ext uri="{FF2B5EF4-FFF2-40B4-BE49-F238E27FC236}">
                <a16:creationId xmlns:a16="http://schemas.microsoft.com/office/drawing/2014/main" id="{A4A0C6BD-6351-4B31-8728-75022184EC6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Литература и ресурсы</a:t>
            </a:r>
          </a:p>
        </p:txBody>
      </p:sp>
      <p:sp>
        <p:nvSpPr>
          <p:cNvPr id="2" name="19">
            <a:extLst xmlns:a="http://schemas.openxmlformats.org/drawingml/2006/main">
              <a:ext uri="{FF2B5EF4-FFF2-40B4-BE49-F238E27FC236}">
                <a16:creationId xmlns:a16="http://schemas.microsoft.com/office/drawing/2014/main" id="{63609DAA-536A-428E-9283-7D7FB820E1A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19</a:t>
            </a:r>
          </a:p>
        </p:txBody>
      </p:sp>
      <p:sp>
        <p:nvSpPr>
          <p:cNvPr id="3" name="MS MARCO">
            <a:extLst xmlns:a="http://schemas.openxmlformats.org/drawingml/2006/main">
              <a:ext uri="{FF2B5EF4-FFF2-40B4-BE49-F238E27FC236}">
                <a16:creationId xmlns:a16="http://schemas.microsoft.com/office/drawing/2014/main" id="{2C9655CF-4325-444F-A190-BE05EC9AFC9B}"/>
              </a:ext>
            </a:extLst>
          </p:cNvPr>
          <p:cNvSpPr>
            <a:spLocks xmlns:a="http://schemas.openxmlformats.org/drawingml/2006/main" noGrp="1"/>
          </p:cNvSpPr>
          <p:nvPr/>
        </p:nvSpPr>
        <p:spPr>
          <a:xfrm xmlns:a="http://schemas.openxmlformats.org/drawingml/2006/main">
            <a:off x="60960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MS MARCO</a:t>
            </a:r>
          </a:p>
        </p:txBody>
      </p:sp>
      <p:sp>
        <p:nvSpPr>
          <p:cNvPr id="4" name="Bajaj et al., 2016">
            <a:extLst xmlns:a="http://schemas.openxmlformats.org/drawingml/2006/main">
              <a:ext uri="{FF2B5EF4-FFF2-40B4-BE49-F238E27FC236}">
                <a16:creationId xmlns:a16="http://schemas.microsoft.com/office/drawing/2014/main" id="{5E02D452-7B6E-497E-8A39-D1BCC94C4B66}"/>
              </a:ext>
            </a:extLst>
          </p:cNvPr>
          <p:cNvSpPr>
            <a:spLocks xmlns:a="http://schemas.openxmlformats.org/drawingml/2006/main" noGrp="1"/>
          </p:cNvSpPr>
          <p:nvPr/>
        </p:nvSpPr>
        <p:spPr>
          <a:xfrm xmlns:a="http://schemas.openxmlformats.org/drawingml/2006/main">
            <a:off x="60960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Bajaj et al., 2016</a:t>
            </a:r>
          </a:p>
        </p:txBody>
      </p:sp>
      <p:sp>
        <p:nvSpPr>
          <p:cNvPr id="5" name="arxiv.org/abs/1611.09268">
            <a:extLst xmlns:a="http://schemas.openxmlformats.org/drawingml/2006/main">
              <a:ext uri="{FF2B5EF4-FFF2-40B4-BE49-F238E27FC236}">
                <a16:creationId xmlns:a16="http://schemas.microsoft.com/office/drawing/2014/main" id="{1770FB05-F0FE-40A9-89B7-4C3A26F6F8B5}"/>
              </a:ext>
            </a:extLst>
          </p:cNvPr>
          <p:cNvSpPr>
            <a:spLocks xmlns:a="http://schemas.openxmlformats.org/drawingml/2006/main" noGrp="1"/>
          </p:cNvSpPr>
          <p:nvPr/>
        </p:nvSpPr>
        <p:spPr>
          <a:xfrm xmlns:a="http://schemas.openxmlformats.org/drawingml/2006/main">
            <a:off x="60960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0="http://schemas.openxmlformats.org/officeDocument/2006/relationships" ns0:id="rLink4"/>
              </a:rPr>
              <a:t>arxiv.org/abs/1611.09268</a:t>
            </a:r>
          </a:p>
        </p:txBody>
      </p:sp>
      <p:sp>
        <p:nvSpPr>
          <p:cNvPr id="6" name="Natural Questions">
            <a:extLst xmlns:a="http://schemas.openxmlformats.org/drawingml/2006/main">
              <a:ext uri="{FF2B5EF4-FFF2-40B4-BE49-F238E27FC236}">
                <a16:creationId xmlns:a16="http://schemas.microsoft.com/office/drawing/2014/main" id="{F97DE8AF-F43B-4795-AB1B-21C457CED273}"/>
              </a:ext>
            </a:extLst>
          </p:cNvPr>
          <p:cNvSpPr>
            <a:spLocks xmlns:a="http://schemas.openxmlformats.org/drawingml/2006/main" noGrp="1"/>
          </p:cNvSpPr>
          <p:nvPr/>
        </p:nvSpPr>
        <p:spPr>
          <a:xfrm xmlns:a="http://schemas.openxmlformats.org/drawingml/2006/main">
            <a:off x="60960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Natural Questions</a:t>
            </a:r>
          </a:p>
        </p:txBody>
      </p:sp>
      <p:sp>
        <p:nvSpPr>
          <p:cNvPr id="7" name="Kwiatkowski et al., 2019">
            <a:extLst xmlns:a="http://schemas.openxmlformats.org/drawingml/2006/main">
              <a:ext uri="{FF2B5EF4-FFF2-40B4-BE49-F238E27FC236}">
                <a16:creationId xmlns:a16="http://schemas.microsoft.com/office/drawing/2014/main" id="{14F5A30A-8EC3-4BB8-B2E0-703B758312E7}"/>
              </a:ext>
            </a:extLst>
          </p:cNvPr>
          <p:cNvSpPr>
            <a:spLocks xmlns:a="http://schemas.openxmlformats.org/drawingml/2006/main" noGrp="1"/>
          </p:cNvSpPr>
          <p:nvPr/>
        </p:nvSpPr>
        <p:spPr>
          <a:xfrm xmlns:a="http://schemas.openxmlformats.org/drawingml/2006/main">
            <a:off x="60960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Kwiatkowski et al., 2019</a:t>
            </a:r>
          </a:p>
        </p:txBody>
      </p:sp>
      <p:sp>
        <p:nvSpPr>
          <p:cNvPr id="8" name="aclanthology.org/Q19-1026">
            <a:extLst xmlns:a="http://schemas.openxmlformats.org/drawingml/2006/main">
              <a:ext uri="{FF2B5EF4-FFF2-40B4-BE49-F238E27FC236}">
                <a16:creationId xmlns:a16="http://schemas.microsoft.com/office/drawing/2014/main" id="{60F6F0E0-553C-42CD-8E3C-BBA7B11F21B8}"/>
              </a:ext>
            </a:extLst>
          </p:cNvPr>
          <p:cNvSpPr>
            <a:spLocks xmlns:a="http://schemas.openxmlformats.org/drawingml/2006/main" noGrp="1"/>
          </p:cNvSpPr>
          <p:nvPr/>
        </p:nvSpPr>
        <p:spPr>
          <a:xfrm xmlns:a="http://schemas.openxmlformats.org/drawingml/2006/main">
            <a:off x="60960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1="http://schemas.openxmlformats.org/officeDocument/2006/relationships" ns1:id="rLink7"/>
              </a:rPr>
              <a:t>aclanthology.org/Q19-1026</a:t>
            </a:r>
          </a:p>
        </p:txBody>
      </p:sp>
      <p:sp>
        <p:nvSpPr>
          <p:cNvPr id="9" name="BEIR">
            <a:extLst xmlns:a="http://schemas.openxmlformats.org/drawingml/2006/main">
              <a:ext uri="{FF2B5EF4-FFF2-40B4-BE49-F238E27FC236}">
                <a16:creationId xmlns:a16="http://schemas.microsoft.com/office/drawing/2014/main" id="{A59B7C08-F44F-420A-B890-509F2587EBF4}"/>
              </a:ext>
            </a:extLst>
          </p:cNvPr>
          <p:cNvSpPr>
            <a:spLocks xmlns:a="http://schemas.openxmlformats.org/drawingml/2006/main" noGrp="1"/>
          </p:cNvSpPr>
          <p:nvPr/>
        </p:nvSpPr>
        <p:spPr>
          <a:xfrm xmlns:a="http://schemas.openxmlformats.org/drawingml/2006/main">
            <a:off x="60960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BEIR</a:t>
            </a:r>
          </a:p>
        </p:txBody>
      </p:sp>
      <p:sp>
        <p:nvSpPr>
          <p:cNvPr id="10" name="Thakur et al., 2021">
            <a:extLst xmlns:a="http://schemas.openxmlformats.org/drawingml/2006/main">
              <a:ext uri="{FF2B5EF4-FFF2-40B4-BE49-F238E27FC236}">
                <a16:creationId xmlns:a16="http://schemas.microsoft.com/office/drawing/2014/main" id="{EEE046B8-919E-4D3A-BEA3-1491F9EBBDE4}"/>
              </a:ext>
            </a:extLst>
          </p:cNvPr>
          <p:cNvSpPr>
            <a:spLocks xmlns:a="http://schemas.openxmlformats.org/drawingml/2006/main" noGrp="1"/>
          </p:cNvSpPr>
          <p:nvPr/>
        </p:nvSpPr>
        <p:spPr>
          <a:xfrm xmlns:a="http://schemas.openxmlformats.org/drawingml/2006/main">
            <a:off x="60960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Thakur et al., 2021</a:t>
            </a:r>
          </a:p>
        </p:txBody>
      </p:sp>
      <p:sp>
        <p:nvSpPr>
          <p:cNvPr id="11" name="arxiv.org/abs/2104.08663">
            <a:extLst xmlns:a="http://schemas.openxmlformats.org/drawingml/2006/main">
              <a:ext uri="{FF2B5EF4-FFF2-40B4-BE49-F238E27FC236}">
                <a16:creationId xmlns:a16="http://schemas.microsoft.com/office/drawing/2014/main" id="{6ED52645-A687-4B8C-B757-A7B3B4C68145}"/>
              </a:ext>
            </a:extLst>
          </p:cNvPr>
          <p:cNvSpPr>
            <a:spLocks xmlns:a="http://schemas.openxmlformats.org/drawingml/2006/main" noGrp="1"/>
          </p:cNvSpPr>
          <p:nvPr/>
        </p:nvSpPr>
        <p:spPr>
          <a:xfrm xmlns:a="http://schemas.openxmlformats.org/drawingml/2006/main">
            <a:off x="60960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2="http://schemas.openxmlformats.org/officeDocument/2006/relationships" ns2:id="rLink10"/>
              </a:rPr>
              <a:t>arxiv.org/abs/2104.08663</a:t>
            </a:r>
          </a:p>
        </p:txBody>
      </p:sp>
      <p:sp>
        <p:nvSpPr>
          <p:cNvPr id="12" name="BM25">
            <a:extLst xmlns:a="http://schemas.openxmlformats.org/drawingml/2006/main">
              <a:ext uri="{FF2B5EF4-FFF2-40B4-BE49-F238E27FC236}">
                <a16:creationId xmlns:a16="http://schemas.microsoft.com/office/drawing/2014/main" id="{495A2F35-8ABE-47A5-A9EC-F4C677D71BFE}"/>
              </a:ext>
            </a:extLst>
          </p:cNvPr>
          <p:cNvSpPr>
            <a:spLocks xmlns:a="http://schemas.openxmlformats.org/drawingml/2006/main" noGrp="1"/>
          </p:cNvSpPr>
          <p:nvPr/>
        </p:nvSpPr>
        <p:spPr>
          <a:xfrm xmlns:a="http://schemas.openxmlformats.org/drawingml/2006/main">
            <a:off x="60960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BM25</a:t>
            </a:r>
          </a:p>
        </p:txBody>
      </p:sp>
      <p:sp>
        <p:nvSpPr>
          <p:cNvPr id="13" name="Robertson &amp; Zaragoza, 2009">
            <a:extLst xmlns:a="http://schemas.openxmlformats.org/drawingml/2006/main">
              <a:ext uri="{FF2B5EF4-FFF2-40B4-BE49-F238E27FC236}">
                <a16:creationId xmlns:a16="http://schemas.microsoft.com/office/drawing/2014/main" id="{FBE4DAC5-48FC-4CD0-BB1C-65DFDC9FD50B}"/>
              </a:ext>
            </a:extLst>
          </p:cNvPr>
          <p:cNvSpPr>
            <a:spLocks xmlns:a="http://schemas.openxmlformats.org/drawingml/2006/main" noGrp="1"/>
          </p:cNvSpPr>
          <p:nvPr/>
        </p:nvSpPr>
        <p:spPr>
          <a:xfrm xmlns:a="http://schemas.openxmlformats.org/drawingml/2006/main">
            <a:off x="60960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Robertson &amp; Zaragoza, 2009</a:t>
            </a:r>
          </a:p>
        </p:txBody>
      </p:sp>
      <p:sp>
        <p:nvSpPr>
          <p:cNvPr id="14" name="doi.org/10.1561/1500000019">
            <a:extLst xmlns:a="http://schemas.openxmlformats.org/drawingml/2006/main">
              <a:ext uri="{FF2B5EF4-FFF2-40B4-BE49-F238E27FC236}">
                <a16:creationId xmlns:a16="http://schemas.microsoft.com/office/drawing/2014/main" id="{1F79FCC9-A53A-41DD-B7BE-0A8DD9E757A7}"/>
              </a:ext>
            </a:extLst>
          </p:cNvPr>
          <p:cNvSpPr>
            <a:spLocks xmlns:a="http://schemas.openxmlformats.org/drawingml/2006/main" noGrp="1"/>
          </p:cNvSpPr>
          <p:nvPr/>
        </p:nvSpPr>
        <p:spPr>
          <a:xfrm xmlns:a="http://schemas.openxmlformats.org/drawingml/2006/main">
            <a:off x="60960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3="http://schemas.openxmlformats.org/officeDocument/2006/relationships" ns3:id="rLink13"/>
              </a:rPr>
              <a:t>doi.org/10.1561/1500000019</a:t>
            </a:r>
          </a:p>
        </p:txBody>
      </p:sp>
      <p:sp>
        <p:nvSpPr>
          <p:cNvPr id="15" name="E5">
            <a:extLst xmlns:a="http://schemas.openxmlformats.org/drawingml/2006/main">
              <a:ext uri="{FF2B5EF4-FFF2-40B4-BE49-F238E27FC236}">
                <a16:creationId xmlns:a16="http://schemas.microsoft.com/office/drawing/2014/main" id="{FF175FCC-EC7A-469E-836C-2D4F521A191A}"/>
              </a:ext>
            </a:extLst>
          </p:cNvPr>
          <p:cNvSpPr>
            <a:spLocks xmlns:a="http://schemas.openxmlformats.org/drawingml/2006/main" noGrp="1"/>
          </p:cNvSpPr>
          <p:nvPr/>
        </p:nvSpPr>
        <p:spPr>
          <a:xfrm xmlns:a="http://schemas.openxmlformats.org/drawingml/2006/main">
            <a:off x="641985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E5</a:t>
            </a:r>
          </a:p>
        </p:txBody>
      </p:sp>
      <p:sp>
        <p:nvSpPr>
          <p:cNvPr id="16" name="Wang et al., 2022">
            <a:extLst xmlns:a="http://schemas.openxmlformats.org/drawingml/2006/main">
              <a:ext uri="{FF2B5EF4-FFF2-40B4-BE49-F238E27FC236}">
                <a16:creationId xmlns:a16="http://schemas.microsoft.com/office/drawing/2014/main" id="{7F01C309-F4C0-42FA-A079-1886364956AA}"/>
              </a:ext>
            </a:extLst>
          </p:cNvPr>
          <p:cNvSpPr>
            <a:spLocks xmlns:a="http://schemas.openxmlformats.org/drawingml/2006/main" noGrp="1"/>
          </p:cNvSpPr>
          <p:nvPr/>
        </p:nvSpPr>
        <p:spPr>
          <a:xfrm xmlns:a="http://schemas.openxmlformats.org/drawingml/2006/main">
            <a:off x="641985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2022</a:t>
            </a:r>
          </a:p>
        </p:txBody>
      </p:sp>
      <p:sp>
        <p:nvSpPr>
          <p:cNvPr id="17" name="arxiv.org/abs/2212.03533">
            <a:extLst xmlns:a="http://schemas.openxmlformats.org/drawingml/2006/main">
              <a:ext uri="{FF2B5EF4-FFF2-40B4-BE49-F238E27FC236}">
                <a16:creationId xmlns:a16="http://schemas.microsoft.com/office/drawing/2014/main" id="{9926AAEA-3EAE-4442-8119-EB33DEF60548}"/>
              </a:ext>
            </a:extLst>
          </p:cNvPr>
          <p:cNvSpPr>
            <a:spLocks xmlns:a="http://schemas.openxmlformats.org/drawingml/2006/main" noGrp="1"/>
          </p:cNvSpPr>
          <p:nvPr/>
        </p:nvSpPr>
        <p:spPr>
          <a:xfrm xmlns:a="http://schemas.openxmlformats.org/drawingml/2006/main">
            <a:off x="641985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4="http://schemas.openxmlformats.org/officeDocument/2006/relationships" ns4:id="rLink16"/>
              </a:rPr>
              <a:t>arxiv.org/abs/2212.03533</a:t>
            </a:r>
          </a:p>
        </p:txBody>
      </p:sp>
      <p:sp>
        <p:nvSpPr>
          <p:cNvPr id="18" name="BGE / FlagEmbedding">
            <a:extLst xmlns:a="http://schemas.openxmlformats.org/drawingml/2006/main">
              <a:ext uri="{FF2B5EF4-FFF2-40B4-BE49-F238E27FC236}">
                <a16:creationId xmlns:a16="http://schemas.microsoft.com/office/drawing/2014/main" id="{27FCE838-924F-4181-9CAF-91650DCA4187}"/>
              </a:ext>
            </a:extLst>
          </p:cNvPr>
          <p:cNvSpPr>
            <a:spLocks xmlns:a="http://schemas.openxmlformats.org/drawingml/2006/main" noGrp="1"/>
          </p:cNvSpPr>
          <p:nvPr/>
        </p:nvSpPr>
        <p:spPr>
          <a:xfrm xmlns:a="http://schemas.openxmlformats.org/drawingml/2006/main">
            <a:off x="641985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BGE / FlagEmbedding</a:t>
            </a:r>
          </a:p>
        </p:txBody>
      </p:sp>
      <p:sp>
        <p:nvSpPr>
          <p:cNvPr id="19" name="Модель bge-small-en-v1.5">
            <a:extLst xmlns:a="http://schemas.openxmlformats.org/drawingml/2006/main">
              <a:ext uri="{FF2B5EF4-FFF2-40B4-BE49-F238E27FC236}">
                <a16:creationId xmlns:a16="http://schemas.microsoft.com/office/drawing/2014/main" id="{B4171707-7635-4B0F-B51A-EFE373C06882}"/>
              </a:ext>
            </a:extLst>
          </p:cNvPr>
          <p:cNvSpPr>
            <a:spLocks xmlns:a="http://schemas.openxmlformats.org/drawingml/2006/main" noGrp="1"/>
          </p:cNvSpPr>
          <p:nvPr/>
        </p:nvSpPr>
        <p:spPr>
          <a:xfrm xmlns:a="http://schemas.openxmlformats.org/drawingml/2006/main">
            <a:off x="641985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Модель bge-small-en-v1.5</a:t>
            </a:r>
          </a:p>
        </p:txBody>
      </p:sp>
      <p:sp>
        <p:nvSpPr>
          <p:cNvPr id="20" name="huggingface.co/BAAI/bge-small-en-v1.5">
            <a:extLst xmlns:a="http://schemas.openxmlformats.org/drawingml/2006/main">
              <a:ext uri="{FF2B5EF4-FFF2-40B4-BE49-F238E27FC236}">
                <a16:creationId xmlns:a16="http://schemas.microsoft.com/office/drawing/2014/main" id="{E088F081-695F-44E4-A1D8-559B26477996}"/>
              </a:ext>
            </a:extLst>
          </p:cNvPr>
          <p:cNvSpPr>
            <a:spLocks xmlns:a="http://schemas.openxmlformats.org/drawingml/2006/main" noGrp="1"/>
          </p:cNvSpPr>
          <p:nvPr/>
        </p:nvSpPr>
        <p:spPr>
          <a:xfrm xmlns:a="http://schemas.openxmlformats.org/drawingml/2006/main">
            <a:off x="641985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5="http://schemas.openxmlformats.org/officeDocument/2006/relationships" ns5:id="rLink19"/>
              </a:rPr>
              <a:t>huggingface.co/BAAI/bge-small-en-v1.5</a:t>
            </a:r>
          </a:p>
        </p:txBody>
      </p:sp>
      <p:sp>
        <p:nvSpPr>
          <p:cNvPr id="21" name="MiniLM">
            <a:extLst xmlns:a="http://schemas.openxmlformats.org/drawingml/2006/main">
              <a:ext uri="{FF2B5EF4-FFF2-40B4-BE49-F238E27FC236}">
                <a16:creationId xmlns:a16="http://schemas.microsoft.com/office/drawing/2014/main" id="{D993E484-9C7F-4234-8825-8160F9D1DF3A}"/>
              </a:ext>
            </a:extLst>
          </p:cNvPr>
          <p:cNvSpPr>
            <a:spLocks xmlns:a="http://schemas.openxmlformats.org/drawingml/2006/main" noGrp="1"/>
          </p:cNvSpPr>
          <p:nvPr/>
        </p:nvSpPr>
        <p:spPr>
          <a:xfrm xmlns:a="http://schemas.openxmlformats.org/drawingml/2006/main">
            <a:off x="641985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MiniLM</a:t>
            </a:r>
          </a:p>
        </p:txBody>
      </p:sp>
      <p:sp>
        <p:nvSpPr>
          <p:cNvPr id="22" name="Wang et al., 2020">
            <a:extLst xmlns:a="http://schemas.openxmlformats.org/drawingml/2006/main">
              <a:ext uri="{FF2B5EF4-FFF2-40B4-BE49-F238E27FC236}">
                <a16:creationId xmlns:a16="http://schemas.microsoft.com/office/drawing/2014/main" id="{BD6E0B2F-8AE6-4B08-BFBB-A539A08C24E4}"/>
              </a:ext>
            </a:extLst>
          </p:cNvPr>
          <p:cNvSpPr>
            <a:spLocks xmlns:a="http://schemas.openxmlformats.org/drawingml/2006/main" noGrp="1"/>
          </p:cNvSpPr>
          <p:nvPr/>
        </p:nvSpPr>
        <p:spPr>
          <a:xfrm xmlns:a="http://schemas.openxmlformats.org/drawingml/2006/main">
            <a:off x="641985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2020</a:t>
            </a:r>
          </a:p>
        </p:txBody>
      </p:sp>
      <p:sp>
        <p:nvSpPr>
          <p:cNvPr id="23" name="arxiv.org/abs/2002.10957">
            <a:extLst xmlns:a="http://schemas.openxmlformats.org/drawingml/2006/main">
              <a:ext uri="{FF2B5EF4-FFF2-40B4-BE49-F238E27FC236}">
                <a16:creationId xmlns:a16="http://schemas.microsoft.com/office/drawing/2014/main" id="{E553A558-A451-4FE1-827A-DDFB43FC90E0}"/>
              </a:ext>
            </a:extLst>
          </p:cNvPr>
          <p:cNvSpPr>
            <a:spLocks xmlns:a="http://schemas.openxmlformats.org/drawingml/2006/main" noGrp="1"/>
          </p:cNvSpPr>
          <p:nvPr/>
        </p:nvSpPr>
        <p:spPr>
          <a:xfrm xmlns:a="http://schemas.openxmlformats.org/drawingml/2006/main">
            <a:off x="641985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6="http://schemas.openxmlformats.org/officeDocument/2006/relationships" ns6:id="rLink22"/>
              </a:rPr>
              <a:t>arxiv.org/abs/2002.10957</a:t>
            </a:r>
          </a:p>
        </p:txBody>
      </p:sp>
      <p:sp>
        <p:nvSpPr>
          <p:cNvPr id="24" name="Reciprocal Rank Fusion">
            <a:extLst xmlns:a="http://schemas.openxmlformats.org/drawingml/2006/main">
              <a:ext uri="{FF2B5EF4-FFF2-40B4-BE49-F238E27FC236}">
                <a16:creationId xmlns:a16="http://schemas.microsoft.com/office/drawing/2014/main" id="{4F841DDF-A002-4DD4-9C35-3E5C31D38782}"/>
              </a:ext>
            </a:extLst>
          </p:cNvPr>
          <p:cNvSpPr>
            <a:spLocks xmlns:a="http://schemas.openxmlformats.org/drawingml/2006/main" noGrp="1"/>
          </p:cNvSpPr>
          <p:nvPr/>
        </p:nvSpPr>
        <p:spPr>
          <a:xfrm xmlns:a="http://schemas.openxmlformats.org/drawingml/2006/main">
            <a:off x="641985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Reciprocal Rank Fusion</a:t>
            </a:r>
          </a:p>
        </p:txBody>
      </p:sp>
      <p:sp>
        <p:nvSpPr>
          <p:cNvPr id="25" name="Cormack et al., 2009">
            <a:extLst xmlns:a="http://schemas.openxmlformats.org/drawingml/2006/main">
              <a:ext uri="{FF2B5EF4-FFF2-40B4-BE49-F238E27FC236}">
                <a16:creationId xmlns:a16="http://schemas.microsoft.com/office/drawing/2014/main" id="{4DFC7256-ABCB-42F0-8978-A9834133EE16}"/>
              </a:ext>
            </a:extLst>
          </p:cNvPr>
          <p:cNvSpPr>
            <a:spLocks xmlns:a="http://schemas.openxmlformats.org/drawingml/2006/main" noGrp="1"/>
          </p:cNvSpPr>
          <p:nvPr/>
        </p:nvSpPr>
        <p:spPr>
          <a:xfrm xmlns:a="http://schemas.openxmlformats.org/drawingml/2006/main">
            <a:off x="641985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Cormack et al., 2009</a:t>
            </a:r>
          </a:p>
        </p:txBody>
      </p:sp>
      <p:sp>
        <p:nvSpPr>
          <p:cNvPr id="26" name="doi.org/10.1145/1571941.1572114">
            <a:extLst xmlns:a="http://schemas.openxmlformats.org/drawingml/2006/main">
              <a:ext uri="{FF2B5EF4-FFF2-40B4-BE49-F238E27FC236}">
                <a16:creationId xmlns:a16="http://schemas.microsoft.com/office/drawing/2014/main" id="{27908AFA-1F0E-49CF-829C-9B6DB9B26163}"/>
              </a:ext>
            </a:extLst>
          </p:cNvPr>
          <p:cNvSpPr>
            <a:spLocks xmlns:a="http://schemas.openxmlformats.org/drawingml/2006/main" noGrp="1"/>
          </p:cNvSpPr>
          <p:nvPr/>
        </p:nvSpPr>
        <p:spPr>
          <a:xfrm xmlns:a="http://schemas.openxmlformats.org/drawingml/2006/main">
            <a:off x="641985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7="http://schemas.openxmlformats.org/officeDocument/2006/relationships" ns7:id="rLink25"/>
              </a:rPr>
              <a:t>doi.org/10.1145/1571941.1572114</a:t>
            </a:r>
          </a:p>
        </p:txBody>
      </p:sp>
      <p:sp>
        <p:nvSpPr>
          <p:cNvPr id="27" name="Спецификация dev и dev/small: ir-datasets.com/msmarco-passage.html">
            <a:extLst xmlns:a="http://schemas.openxmlformats.org/drawingml/2006/main">
              <a:ext uri="{FF2B5EF4-FFF2-40B4-BE49-F238E27FC236}">
                <a16:creationId xmlns:a16="http://schemas.microsoft.com/office/drawing/2014/main" id="{103B9138-7D3D-40AE-8875-641306956B76}"/>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Спецификация dev и dev/small: ir-datasets.com/msmarco-passage.html</a:t>
            </a:r>
          </a:p>
        </p:txBody>
      </p:sp>
    </p:spTree>
    <p:extLst>
      <p:ext uri="{BB962C8B-B14F-4D97-AF65-F5344CB8AC3E}">
        <p14:creationId xmlns:p14="http://schemas.microsoft.com/office/powerpoint/2010/main" val="13398574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707240-FA87-4C30-B4F7-BE3481571E2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r>
              <a:t/>
            </a:r>
          </a:p>
        </p:txBody>
      </p:sp>
      <p:sp>
        <p:nvSpPr>
          <p:cNvPr id="2" name="20">
            <a:extLst xmlns:a="http://schemas.openxmlformats.org/drawingml/2006/main">
              <a:ext uri="{FF2B5EF4-FFF2-40B4-BE49-F238E27FC236}">
                <a16:creationId xmlns:a16="http://schemas.microsoft.com/office/drawing/2014/main" id="{C5DC1C39-22EA-4EC5-AA48-52C01026FA6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20</a:t>
            </a:r>
          </a:p>
        </p:txBody>
      </p:sp>
      <p:sp>
        <p:nvSpPr>
          <p:cNvPr id="3" name="Спасибо за внимание">
            <a:extLst xmlns:a="http://schemas.openxmlformats.org/drawingml/2006/main">
              <a:ext uri="{FF2B5EF4-FFF2-40B4-BE49-F238E27FC236}">
                <a16:creationId xmlns:a16="http://schemas.microsoft.com/office/drawing/2014/main" id="{F8430587-5841-4911-9959-76BCCDF1356C}"/>
              </a:ext>
            </a:extLst>
          </p:cNvPr>
          <p:cNvSpPr>
            <a:spLocks xmlns:a="http://schemas.openxmlformats.org/drawingml/2006/main" noGrp="1"/>
          </p:cNvSpPr>
          <p:nvPr/>
        </p:nvSpPr>
        <p:spPr>
          <a:xfrm xmlns:a="http://schemas.openxmlformats.org/drawingml/2006/main">
            <a:off x="609600" y="21336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82B30"/>
                </a:solidFill>
                <a:latin typeface="Arial"/>
                <a:ea typeface="Arial"/>
                <a:cs typeface="Arial"/>
              </a:defRPr>
            </a:defPPr>
          </a:lstStyle>
          <a:p xmlns:a="http://schemas.openxmlformats.org/drawingml/2006/main">
            <a:pPr algn="l">
              <a:defRPr sz="4950" b="1">
                <a:solidFill>
                  <a:srgbClr val="182B30"/>
                </a:solidFill>
                <a:latin typeface="Arial"/>
                <a:ea typeface="Arial"/>
                <a:cs typeface="Arial"/>
              </a:defRPr>
            </a:pPr>
            <a:r>
              <a:rPr sz="4950" b="1">
                <a:solidFill>
                  <a:srgbClr val="182B30"/>
                </a:solidFill>
                <a:latin typeface="Arial"/>
                <a:ea typeface="Arial"/>
                <a:cs typeface="Arial"/>
              </a:rPr>
              <a:t>Спасибо за внимание</a:t>
            </a:r>
          </a:p>
        </p:txBody>
      </p:sp>
      <p:sp>
        <p:nvSpPr>
          <p:cNvPr id="4" name="Вопросы и обсуждение">
            <a:extLst xmlns:a="http://schemas.openxmlformats.org/drawingml/2006/main">
              <a:ext uri="{FF2B5EF4-FFF2-40B4-BE49-F238E27FC236}">
                <a16:creationId xmlns:a16="http://schemas.microsoft.com/office/drawing/2014/main" id="{A07AFDC1-BA08-4BE3-AC49-915F59A6D1B3}"/>
              </a:ext>
            </a:extLst>
          </p:cNvPr>
          <p:cNvSpPr>
            <a:spLocks xmlns:a="http://schemas.openxmlformats.org/drawingml/2006/main" noGrp="1"/>
          </p:cNvSpPr>
          <p:nvPr/>
        </p:nvSpPr>
        <p:spPr>
          <a:xfrm xmlns:a="http://schemas.openxmlformats.org/drawingml/2006/main">
            <a:off x="609600" y="32956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7F78"/>
                </a:solidFill>
                <a:latin typeface="Arial"/>
                <a:ea typeface="Arial"/>
                <a:cs typeface="Arial"/>
              </a:defRPr>
            </a:defPPr>
          </a:lstStyle>
          <a:p xmlns:a="http://schemas.openxmlformats.org/drawingml/2006/main">
            <a:pPr algn="l">
              <a:defRPr sz="2550" b="0">
                <a:solidFill>
                  <a:srgbClr val="007F78"/>
                </a:solidFill>
                <a:latin typeface="Arial"/>
                <a:ea typeface="Arial"/>
                <a:cs typeface="Arial"/>
              </a:defRPr>
            </a:pPr>
            <a:r>
              <a:rPr sz="2550" b="0">
                <a:solidFill>
                  <a:srgbClr val="007F78"/>
                </a:solidFill>
                <a:latin typeface="Arial"/>
                <a:ea typeface="Arial"/>
                <a:cs typeface="Arial"/>
              </a:rPr>
              <a:t>Вопросы и обсуждение</a:t>
            </a:r>
          </a:p>
        </p:txBody>
      </p:sp>
      <p:sp>
        <p:nvSpPr>
          <p:cNvPr id="5" name="">
            <a:extLst xmlns:a="http://schemas.openxmlformats.org/drawingml/2006/main">
              <a:ext uri="{FF2B5EF4-FFF2-40B4-BE49-F238E27FC236}">
                <a16:creationId xmlns:a16="http://schemas.microsoft.com/office/drawing/2014/main" id="{81A72BAF-F3E9-45C7-B352-61F535B1E1BE}"/>
              </a:ext>
            </a:extLst>
          </p:cNvPr>
          <p:cNvSpPr>
            <a:spLocks xmlns:a="http://schemas.openxmlformats.org/drawingml/2006/main" noGrp="1"/>
          </p:cNvSpPr>
          <p:nvPr/>
        </p:nvSpPr>
        <p:spPr>
          <a:xfrm xmlns:a="http://schemas.openxmlformats.org/drawingml/2006/main">
            <a:off x="609600" y="441007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6" name=", , ">
            <a:extLst xmlns:a="http://schemas.openxmlformats.org/drawingml/2006/main">
              <a:ext uri="{FF2B5EF4-FFF2-40B4-BE49-F238E27FC236}">
                <a16:creationId xmlns:a16="http://schemas.microsoft.com/office/drawing/2014/main" id="{5668CE3A-6A6F-4131-8944-CB3DA37B4E57}"/>
              </a:ext>
            </a:extLst>
          </p:cNvPr>
          <p:cNvSpPr>
            <a:spLocks xmlns:a="http://schemas.openxmlformats.org/drawingml/2006/main" noGrp="1"/>
          </p:cNvSpPr>
          <p:nvPr/>
        </p:nvSpPr>
        <p:spPr>
          <a:xfrm xmlns:a="http://schemas.openxmlformats.org/drawingml/2006/main">
            <a:off x="609600" y="47529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D9AE579D-4DAE-4505-BA45-380F0DA81AE5}"/>
              </a:ext>
            </a:extLst>
          </p:cNvPr>
          <p:cNvSpPr>
            <a:spLocks xmlns:a="http://schemas.openxmlformats.org/drawingml/2006/main" noGrp="1"/>
          </p:cNvSpPr>
          <p:nvPr/>
        </p:nvSpPr>
        <p:spPr>
          <a:xfrm xmlns:a="http://schemas.openxmlformats.org/drawingml/2006/main">
            <a:off x="609600" y="52101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
            </a:r>
          </a:p>
        </p:txBody>
      </p:sp>
      <p:sp>
        <p:nvSpPr>
          <p:cNvPr id="8" name="Работа поддержана Российским научным фондом, соглашение № .">
            <a:extLst xmlns:a="http://schemas.openxmlformats.org/drawingml/2006/main">
              <a:ext uri="{FF2B5EF4-FFF2-40B4-BE49-F238E27FC236}">
                <a16:creationId xmlns:a16="http://schemas.microsoft.com/office/drawing/2014/main" id="{8F854F36-DC6C-4EFC-B609-BC1285F1ECF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
            </a:r>
          </a:p>
        </p:txBody>
      </p:sp>
    </p:spTree>
    <p:extLst>
      <p:ext uri="{BB962C8B-B14F-4D97-AF65-F5344CB8AC3E}">
        <p14:creationId xmlns:p14="http://schemas.microsoft.com/office/powerpoint/2010/main" val="171121848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Какие части данных мы использовали">
            <a:extLst xmlns:a="http://schemas.openxmlformats.org/drawingml/2006/main">
              <a:ext uri="{FF2B5EF4-FFF2-40B4-BE49-F238E27FC236}">
                <a16:creationId xmlns:a16="http://schemas.microsoft.com/office/drawing/2014/main" id="{C9192BF0-02DB-4776-8EED-9940866E3A6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Какие части данных мы использовали</a:t>
            </a:r>
          </a:p>
        </p:txBody>
      </p:sp>
      <p:sp>
        <p:nvSpPr>
          <p:cNvPr id="2" name="РЕЗЕРВ 1">
            <a:extLst xmlns:a="http://schemas.openxmlformats.org/drawingml/2006/main">
              <a:ext uri="{FF2B5EF4-FFF2-40B4-BE49-F238E27FC236}">
                <a16:creationId xmlns:a16="http://schemas.microsoft.com/office/drawing/2014/main" id="{6FB64FA0-FE5C-4760-8AD6-5AAB9A5377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graphicFrame>
        <p:nvGraphicFramePr>
          <p:cNvPr id="3" name="">
            <a:extLst xmlns:a="http://schemas.openxmlformats.org/drawingml/2006/main">
              <a:ext uri="{FF2B5EF4-FFF2-40B4-BE49-F238E27FC236}">
                <a16:creationId xmlns:a16="http://schemas.microsoft.com/office/drawing/2014/main" id="{472684F5-DDA2-4257-8EB6-3AA86FC08731}"/>
              </a:ext>
            </a:extLst>
          </p:cNvPr>
          <p:cNvGraphicFramePr/>
          <p:nvPr/>
        </p:nvGraphicFramePr>
        <p:xfrm>
          <a:off xmlns:a="http://schemas.openxmlformats.org/drawingml/2006/main" x="609600" y="1638300"/>
          <a:ext xmlns:a="http://schemas.openxmlformats.org/drawingml/2006/main" cx="10972800" cy="3867150"/>
        </p:xfrm>
        <a:graphic xmlns:a="http://schemas.openxmlformats.org/drawingml/2006/main">
          <a:graphicData uri="http://schemas.openxmlformats.org/drawingml/2006/table">
            <a:tbl>
              <a:tblPr firstRow="0" bandRow="0"/>
              <a:tblGrid>
                <a:gridCol w="3333750"/>
                <a:gridCol w="1905000"/>
                <a:gridCol w="5734050"/>
              </a:tblGrid>
              <a:tr h="552450">
                <a:tc>
                  <a:txBody>
                    <a:bodyPr lIns="114300" tIns="76200" rIns="114300" bIns="76200">
                      <a:noAutofit/>
                    </a:bodyPr>
                    <a:lstStyle/>
                    <a:p>
                      <a:r>
                        <a:rPr sz="1800" b="1">
                          <a:solidFill>
                            <a:srgbClr val="526970"/>
                          </a:solidFill>
                          <a:latin typeface="Arial"/>
                          <a:ea typeface="Arial"/>
                          <a:cs typeface="Arial"/>
                        </a:rPr>
                        <a:t>Набор</a:t>
                      </a:r>
                    </a:p>
                  </a:txBody>
                  <a:tcPr marL="91440" marR="91440" marT="45720" marB="45720" anchor="ctr">
                    <a:lnL w="0">
                      <a:solidFill>
                        <a:srgbClr val="FFFFFF"/>
                      </a:solidFill>
                    </a:lnL>
                    <a:lnT w="0">
                      <a:solidFill>
                        <a:srgbClr val="FFFFFF"/>
                      </a:solidFill>
                    </a:lnT>
                    <a:solidFill>
                      <a:srgbClr val="EFF5F5"/>
                    </a:solidFill>
                  </a:tcPr>
                </a:tc>
                <a:tc>
                  <a:txBody>
                    <a:bodyPr lIns="114300" tIns="76200" rIns="114300" bIns="76200">
                      <a:noAutofit/>
                    </a:bodyPr>
                    <a:lstStyle/>
                    <a:p>
                      <a:r>
                        <a:rPr sz="1800" b="1">
                          <a:solidFill>
                            <a:srgbClr val="526970"/>
                          </a:solidFill>
                          <a:latin typeface="Arial"/>
                          <a:ea typeface="Arial"/>
                          <a:cs typeface="Arial"/>
                        </a:rPr>
                        <a:t>Запросы</a:t>
                      </a:r>
                    </a:p>
                  </a:txBody>
                  <a:tcPr marL="91440" marR="91440" marT="45720" marB="45720" anchor="ctr">
                    <a:lnT w="0">
                      <a:solidFill>
                        <a:srgbClr val="FFFFFF"/>
                      </a:solidFill>
                    </a:lnT>
                    <a:solidFill>
                      <a:srgbClr val="EFF5F5"/>
                    </a:solidFill>
                  </a:tcPr>
                </a:tc>
                <a:tc>
                  <a:txBody>
                    <a:bodyPr lIns="114300" tIns="76200" rIns="114300" bIns="76200">
                      <a:noAutofit/>
                    </a:bodyPr>
                    <a:lstStyle/>
                    <a:p>
                      <a:r>
                        <a:rPr sz="1800" b="1">
                          <a:solidFill>
                            <a:srgbClr val="526970"/>
                          </a:solidFill>
                          <a:latin typeface="Arial"/>
                          <a:ea typeface="Arial"/>
                          <a:cs typeface="Arial"/>
                        </a:rPr>
                        <a:t>Роль в исследовании</a:t>
                      </a:r>
                    </a:p>
                  </a:txBody>
                  <a:tcPr marL="91440" marR="91440" marT="45720" marB="45720" anchor="ctr">
                    <a:lnR w="0">
                      <a:solidFill>
                        <a:srgbClr val="FFFFFF"/>
                      </a:solidFill>
                    </a:lnR>
                    <a:lnT w="0">
                      <a:solidFill>
                        <a:srgbClr val="FFFFFF"/>
                      </a:solidFill>
                    </a:lnT>
                    <a:solidFill>
                      <a:srgbClr val="EFF5F5"/>
                    </a:solidFill>
                  </a:tcPr>
                </a:tc>
              </a:tr>
              <a:tr h="552450">
                <a:tc>
                  <a:txBody>
                    <a:bodyPr lIns="114300" tIns="76200" rIns="114300" bIns="76200">
                      <a:noAutofit/>
                    </a:bodyPr>
                    <a:lstStyle/>
                    <a:p>
                      <a:r>
                        <a:rPr sz="1875" b="0">
                          <a:solidFill>
                            <a:srgbClr val="182B30"/>
                          </a:solidFill>
                          <a:latin typeface="Arial"/>
                          <a:ea typeface="Arial"/>
                          <a:cs typeface="Arial"/>
                        </a:rPr>
                        <a:t>Полная dev-часть</a:t>
                      </a:r>
                    </a:p>
                  </a:txBody>
                  <a:tcPr marL="91440" marR="91440" marT="45720" marB="45720" anchor="ctr">
                    <a:lnL w="0">
                      <a:solidFill>
                        <a:srgbClr val="FFFFFF"/>
                      </a:solidFill>
                    </a:lnL>
                    <a:solidFill>
                      <a:srgbClr val="FFFFFF"/>
                    </a:solidFill>
                  </a:tcPr>
                </a:tc>
                <a:tc>
                  <a:txBody>
                    <a:bodyPr lIns="114300" tIns="76200" rIns="114300" bIns="76200">
                      <a:noAutofit/>
                    </a:bodyPr>
                    <a:lstStyle/>
                    <a:p>
                      <a:r>
                        <a:rPr sz="1875" b="0">
                          <a:solidFill>
                            <a:srgbClr val="182B30"/>
                          </a:solidFill>
                          <a:latin typeface="Arial"/>
                          <a:ea typeface="Arial"/>
                          <a:cs typeface="Arial"/>
                        </a:rPr>
                        <a:t>101 093</a:t>
                      </a:r>
                    </a:p>
                  </a:txBody>
                  <a:tcPr marL="91440" marR="91440" marT="45720" marB="45720" anchor="ctr">
                    <a:solidFill>
                      <a:srgbClr val="FFFFFF"/>
                    </a:solidFill>
                  </a:tcPr>
                </a:tc>
                <a:tc>
                  <a:txBody>
                    <a:bodyPr lIns="114300" tIns="76200" rIns="114300" bIns="76200">
                      <a:noAutofit/>
                    </a:bodyPr>
                    <a:lstStyle/>
                    <a:p>
                      <a:r>
                        <a:rPr sz="1875" b="0">
                          <a:solidFill>
                            <a:srgbClr val="182B30"/>
                          </a:solidFill>
                          <a:latin typeface="Arial"/>
                          <a:ea typeface="Arial"/>
                          <a:cs typeface="Arial"/>
                        </a:rPr>
                        <a:t>Масштабная оценка судьёй</a:t>
                      </a:r>
                    </a:p>
                  </a:txBody>
                  <a:tcPr marL="91440" marR="91440" marT="45720" marB="45720" anchor="ctr">
                    <a:lnR w="0">
                      <a:solidFill>
                        <a:srgbClr val="FFFFFF"/>
                      </a:solidFill>
                    </a:lnR>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dev/small</a:t>
                      </a:r>
                    </a:p>
                  </a:txBody>
                  <a:tcPr marL="91440" marR="91440" marT="45720" marB="45720" anchor="ctr">
                    <a:lnL w="0">
                      <a:solidFill>
                        <a:srgbClr val="FFFFFF"/>
                      </a:solidFill>
                    </a:lnL>
                    <a:solidFill>
                      <a:srgbClr val="FFFFFF"/>
                    </a:solidFill>
                  </a:tcPr>
                </a:tc>
                <a:tc>
                  <a:txBody>
                    <a:bodyPr lIns="114300" tIns="76200" rIns="114300" bIns="76200">
                      <a:noAutofit/>
                    </a:bodyPr>
                    <a:lstStyle/>
                    <a:p>
                      <a:r>
                        <a:rPr sz="1875" b="0">
                          <a:solidFill>
                            <a:srgbClr val="182B30"/>
                          </a:solidFill>
                          <a:latin typeface="Arial"/>
                          <a:ea typeface="Arial"/>
                          <a:cs typeface="Arial"/>
                        </a:rPr>
                        <a:t>6 980</a:t>
                      </a:r>
                    </a:p>
                  </a:txBody>
                  <a:tcPr marL="91440" marR="91440" marT="45720" marB="45720" anchor="ctr">
                    <a:solidFill>
                      <a:srgbClr val="FFFFFF"/>
                    </a:solidFill>
                  </a:tcPr>
                </a:tc>
                <a:tc>
                  <a:txBody>
                    <a:bodyPr lIns="114300" tIns="76200" rIns="114300" bIns="76200">
                      <a:noAutofit/>
                    </a:bodyPr>
                    <a:lstStyle/>
                    <a:p>
                      <a:r>
                        <a:rPr sz="1875" b="0">
                          <a:solidFill>
                            <a:srgbClr val="182B30"/>
                          </a:solidFill>
                          <a:latin typeface="Arial"/>
                          <a:ea typeface="Arial"/>
                          <a:cs typeface="Arial"/>
                        </a:rPr>
                        <a:t>Исходная оценочная подвыборка</a:t>
                      </a:r>
                    </a:p>
                  </a:txBody>
                  <a:tcPr marL="91440" marR="91440" marT="45720" marB="45720" anchor="ctr">
                    <a:lnR w="0">
                      <a:solidFill>
                        <a:srgbClr val="FFFFFF"/>
                      </a:solidFill>
                    </a:lnR>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Ручная подвыборка</a:t>
                      </a:r>
                    </a:p>
                  </a:txBody>
                  <a:tcPr marL="91440" marR="91440" marT="45720" marB="45720" anchor="ctr">
                    <a:lnL w="0">
                      <a:solidFill>
                        <a:srgbClr val="FFFFFF"/>
                      </a:solidFill>
                    </a:lnL>
                    <a:solidFill>
                      <a:srgbClr val="FFFFFF"/>
                    </a:solidFill>
                  </a:tcPr>
                </a:tc>
                <a:tc>
                  <a:txBody>
                    <a:bodyPr lIns="114300" tIns="76200" rIns="114300" bIns="76200">
                      <a:noAutofit/>
                    </a:bodyPr>
                    <a:lstStyle/>
                    <a:p>
                      <a:r>
                        <a:rPr sz="1875" b="0">
                          <a:solidFill>
                            <a:srgbClr val="182B30"/>
                          </a:solidFill>
                          <a:latin typeface="Arial"/>
                          <a:ea typeface="Arial"/>
                          <a:cs typeface="Arial"/>
                        </a:rPr>
                        <a:t>1 179</a:t>
                      </a:r>
                    </a:p>
                  </a:txBody>
                  <a:tcPr marL="91440" marR="91440" marT="45720" marB="45720" anchor="ctr">
                    <a:solidFill>
                      <a:srgbClr val="FFFFFF"/>
                    </a:solidFill>
                  </a:tcPr>
                </a:tc>
                <a:tc>
                  <a:txBody>
                    <a:bodyPr lIns="114300" tIns="76200" rIns="114300" bIns="76200">
                      <a:noAutofit/>
                    </a:bodyPr>
                    <a:lstStyle/>
                    <a:p>
                      <a:r>
                        <a:rPr sz="1875" b="0">
                          <a:solidFill>
                            <a:srgbClr val="182B30"/>
                          </a:solidFill>
                          <a:latin typeface="Arial"/>
                          <a:ea typeface="Arial"/>
                          <a:cs typeface="Arial"/>
                        </a:rPr>
                        <a:t>Доразметка 33 667 пар</a:t>
                      </a:r>
                    </a:p>
                  </a:txBody>
                  <a:tcPr marL="91440" marR="91440" marT="45720" marB="45720" anchor="ctr">
                    <a:lnR w="0">
                      <a:solidFill>
                        <a:srgbClr val="FFFFFF"/>
                      </a:solidFill>
                    </a:lnR>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Обучение судьи</a:t>
                      </a:r>
                    </a:p>
                  </a:txBody>
                  <a:tcPr marL="91440" marR="91440" marT="45720" marB="45720" anchor="ctr">
                    <a:lnL w="0">
                      <a:solidFill>
                        <a:srgbClr val="FFFFFF"/>
                      </a:solidFill>
                    </a:lnL>
                    <a:solidFill>
                      <a:srgbClr val="FFFFFF"/>
                    </a:solidFill>
                  </a:tcPr>
                </a:tc>
                <a:tc>
                  <a:txBody>
                    <a:bodyPr lIns="114300" tIns="76200" rIns="114300" bIns="76200">
                      <a:noAutofit/>
                    </a:bodyPr>
                    <a:lstStyle/>
                    <a:p>
                      <a:r>
                        <a:rPr sz="1875" b="0">
                          <a:solidFill>
                            <a:srgbClr val="182B30"/>
                          </a:solidFill>
                          <a:latin typeface="Arial"/>
                          <a:ea typeface="Arial"/>
                          <a:cs typeface="Arial"/>
                        </a:rPr>
                        <a:t>825</a:t>
                      </a:r>
                    </a:p>
                  </a:txBody>
                  <a:tcPr marL="91440" marR="91440" marT="45720" marB="45720" anchor="ctr">
                    <a:solidFill>
                      <a:srgbClr val="FFFFFF"/>
                    </a:solidFill>
                  </a:tcPr>
                </a:tc>
                <a:tc>
                  <a:txBody>
                    <a:bodyPr lIns="114300" tIns="76200" rIns="114300" bIns="76200">
                      <a:noAutofit/>
                    </a:bodyPr>
                    <a:lstStyle/>
                    <a:p>
                      <a:r>
                        <a:rPr sz="1875" b="0">
                          <a:solidFill>
                            <a:srgbClr val="182B30"/>
                          </a:solidFill>
                          <a:latin typeface="Arial"/>
                          <a:ea typeface="Arial"/>
                          <a:cs typeface="Arial"/>
                        </a:rPr>
                        <a:t>Дообучение на ручных метках</a:t>
                      </a:r>
                    </a:p>
                  </a:txBody>
                  <a:tcPr marL="91440" marR="91440" marT="45720" marB="45720" anchor="ctr">
                    <a:lnR w="0">
                      <a:solidFill>
                        <a:srgbClr val="FFFFFF"/>
                      </a:solidFill>
                    </a:lnR>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Валидация судьи</a:t>
                      </a:r>
                    </a:p>
                  </a:txBody>
                  <a:tcPr marL="91440" marR="91440" marT="45720" marB="45720" anchor="ctr">
                    <a:lnL w="0">
                      <a:solidFill>
                        <a:srgbClr val="FFFFFF"/>
                      </a:solidFill>
                    </a:lnL>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solidFill>
                      <a:srgbClr val="FFFFFF"/>
                    </a:solidFill>
                  </a:tcPr>
                </a:tc>
                <a:tc>
                  <a:txBody>
                    <a:bodyPr lIns="114300" tIns="76200" rIns="114300" bIns="76200">
                      <a:noAutofit/>
                    </a:bodyPr>
                    <a:lstStyle/>
                    <a:p>
                      <a:r>
                        <a:rPr sz="1875" b="0">
                          <a:solidFill>
                            <a:srgbClr val="182B30"/>
                          </a:solidFill>
                          <a:latin typeface="Arial"/>
                          <a:ea typeface="Arial"/>
                          <a:cs typeface="Arial"/>
                        </a:rPr>
                        <a:t>Выбор порога</a:t>
                      </a:r>
                    </a:p>
                  </a:txBody>
                  <a:tcPr marL="91440" marR="91440" marT="45720" marB="45720" anchor="ctr">
                    <a:lnR w="0">
                      <a:solidFill>
                        <a:srgbClr val="FFFFFF"/>
                      </a:solidFill>
                    </a:lnR>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Тест судьи</a:t>
                      </a:r>
                    </a:p>
                  </a:txBody>
                  <a:tcPr marL="91440" marR="91440" marT="45720" marB="45720" anchor="ctr">
                    <a:lnL w="0">
                      <a:solidFill>
                        <a:srgbClr val="FFFFFF"/>
                      </a:solidFill>
                    </a:lnL>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Проверка на отложенных запросах</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Ручная подвыборка входит в dev/small, а dev/small входит в полную dev-">
            <a:extLst xmlns:a="http://schemas.openxmlformats.org/drawingml/2006/main">
              <a:ext uri="{FF2B5EF4-FFF2-40B4-BE49-F238E27FC236}">
                <a16:creationId xmlns:a16="http://schemas.microsoft.com/office/drawing/2014/main" id="{C3F9466B-844F-4F05-ACF8-877FF5493F9F}"/>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Ручная подвыборка входит в dev/small, а dev/small входит в полную dev-часть.</a:t>
            </a:r>
          </a:p>
        </p:txBody>
      </p:sp>
    </p:spTree>
    <p:extLst>
      <p:ext uri="{BB962C8B-B14F-4D97-AF65-F5344CB8AC3E}">
        <p14:creationId xmlns:p14="http://schemas.microsoft.com/office/powerpoint/2010/main" val="713388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26</ap:Slides>
  <ap:Notes>26</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