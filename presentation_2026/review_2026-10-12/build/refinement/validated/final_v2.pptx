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углубленной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Историческая таблица MS MARCO Passage Ranking, срез 30 ноября 2022 года. https://github.com/microsoft/MSMARCO-Passage-Ranking-Submissions/blob/abb44144f563e7972d5131f5d6acc2092877964c/leaderboard/leaderboard.csv</ns4:t>
            </ns4:r>
          </ns4:p>
          <ns5:p xmlns:ns5="http://schemas.openxmlformats.org/drawingml/2006/main">
            <ns5:r>
              <ns5: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Серые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доверительный интервал показан под графиком.</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ns1:t>
            </ns1:r>
          </ns1:p>
          <ns2:p xmlns:ns2="http://schemas.openxmlformats.org/drawingml/2006/main">
            <ns2:r>
              <ns2: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ns2:t>
            </ns2:r>
          </ns2:p>
          <ns3:p xmlns:ns3="http://schemas.openxmlformats.org/drawingml/2006/main">
            <ns3:r>
              <ns3:t>Интервалы получены парным бутстрэпом по запросам. Они рассчитаны для фиксированной модели-судьи и не учитывают неопределенность ее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ns1:t>
            </ns1:r>
          </ns1:p>
          <ns2:p xmlns:ns2="http://schemas.openxmlformats.org/drawingml/2006/main">
            <ns2:r>
              <ns2: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ns2:t>
            </ns2:r>
          </ns2:p>
          <ns3:p xmlns:ns3="http://schemas.openxmlformats.org/drawingml/2006/main">
            <ns3:r>
              <ns3: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ns0:t>
            </ns0:r>
          </ns0:p>
          <ns1:p xmlns:ns1="http://schemas.openxmlformats.org/drawingml/2006/main">
            <ns1:r>
              <ns1: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ns1:t>
            </ns1:r>
          </ns1:p>
          <ns2:p xmlns:ns2="http://schemas.openxmlformats.org/drawingml/2006/main">
            <ns2:r>
              <ns2: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 Проверку качества записей в ручной разметке я вынес в резервный слайд.</ns2:t>
            </ns2:r>
          </ns2:p>
          <ns3:p xmlns:ns3="http://schemas.openxmlformats.org/drawingml/2006/main">
            <ns3:r>
              <ns3: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ns0:t>
            </ns0:r>
          </ns0:p>
          <ns1:p xmlns:ns1="http://schemas.openxmlformats.org/drawingml/2006/main">
            <ns1:r>
              <ns1: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моделью-судьей и зависит от ее оценок.</ns1:t>
            </ns1:r>
          </ns1:p>
          <ns2:p xmlns:ns2="http://schemas.openxmlformats.org/drawingml/2006/main">
            <ns2:r>
              <ns2:t>Поэтому вместе с метрикой качества поиска нужно указывать пул разметки, источник меток и настройки слияния. Направления дальнейшего исследования: сравнить более сильных судей, проверить пользу известного релевантного ответа на входе и оценить результаты по независимой человеческой разметке. Результатов этих новых экспериментов пока нет.</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Wang et al. MiniLM. 2020. https://arxiv.org/abs/2002.10957</ns4:t>
            </ns4:r>
          </ns4:p>
          <ns5:p xmlns:ns5="http://schemas.openxmlformats.org/drawingml/2006/main">
            <ns5:r>
              <ns5:t>Исходная модель: https://huggingface.co/cross-encoder/ms-marco-MiniLM-L6-v2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ns2:t>
            </ns2:r>
          </ns2:p>
          <ns3:p xmlns:ns3="http://schemas.openxmlformats.org/drawingml/2006/main">
            <ns3:r>
              <ns3:t>L ограничивает входные списки BM25, E5 и BGE до слияния. NDCG@10 оценивает первые десять позиций уже получившегося списка RRF. Это разные этапы.</ns3:t>
            </ns3:r>
          </ns3:p>
          <ns4:p xmlns:ns4="http://schemas.openxmlformats.org/drawingml/2006/main">
            <ns4:r>
              <ns4: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ns0:t>
            </ns0:r>
          </ns0:p>
          <ns1:p xmlns:ns1="http://schemas.openxmlformats.org/drawingml/2006/main">
            <ns1:r>
              <ns1: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ее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ns0:t>
            </ns0:r>
          </ns0:p>
          <ns1:p xmlns:ns1="http://schemas.openxmlformats.org/drawingml/2006/main">
            <ns1:r>
              <ns1: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BM25: https://doi.org/10.1561/1500000019</ns4:t>
            </ns4:r>
          </ns4:p>
          <ns5:p xmlns:ns5="http://schemas.openxmlformats.org/drawingml/2006/main">
            <ns5:r>
              <ns5:t>E5: https://arxiv.org/abs/2212.03533</ns5:t>
            </ns5:r>
          </ns5:p>
          <ns6:p xmlns:ns6="http://schemas.openxmlformats.org/drawingml/2006/main">
            <ns6:r>
              <ns6:t>Модель E5: https://huggingface.co/intfloat/e5-small-v2</ns6:t>
            </ns6:r>
          </ns6:p>
          <ns7:p xmlns:ns7="http://schemas.openxmlformats.org/drawingml/2006/main">
            <ns7:r>
              <ns7:t>Модель BGE: https://huggingface.co/BAAI/bge-small-en-v1.5</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ns1:t>
            </ns1:r>
          </ns1:p>
          <ns2:p xmlns:ns2="http://schemas.openxmlformats.org/drawingml/2006/main">
            <ns2:r>
              <ns2: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ns2:t>
            </ns2:r>
          </ns2:p>
          <ns3:p xmlns:ns3="http://schemas.openxmlformats.org/drawingml/2006/main">
            <ns3:r>
              <ns3: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ns3:p xmlns:ns3="http://schemas.openxmlformats.org/drawingml/2006/main">
            <ns3:r>
              <ns3:t>MS MARCO: https://arxiv.org/abs/1611.09268</ns3:t>
            </ns3:r>
          </ns3:p>
          <ns4:p xmlns:ns4="http://schemas.openxmlformats.org/drawingml/2006/main">
            <ns4:r>
              <ns4:t>Natural Questions: https://aclanthology.org/Q19-1026/</ns4:t>
            </ns4:r>
          </ns4:p>
          <ns5:p xmlns:ns5="http://schemas.openxmlformats.org/drawingml/2006/main">
            <ns5:r>
              <ns5:t>BEIR: https://arxiv.org/abs/2104.08663</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Wang et al. MiniLM. 2020. https://arxiv.org/abs/2002.10957</ns10:t>
            </ns10:r>
          </ns10:p>
          <ns11:p xmlns:ns11="http://schemas.openxmlformats.org/drawingml/2006/main">
            <ns11:r>
              <ns11:t>Исходная модель: https://huggingface.co/cross-encoder/ms-marco-MiniLM-L6-v2</ns11:t>
            </ns11:r>
          </ns11:p>
          <ns12:p xmlns:ns12="http://schemas.openxmlformats.org/drawingml/2006/main">
            <ns12:r>
              <ns12:t>Cormack, Clarke, Büttcher. Reciprocal Rank Fusion outperforms Condorcet and individual Rank Learning Methods. SIGIR 2009. https://doi.org/10.1145/1571941.1572114</ns12:t>
            </ns12:r>
          </ns12:p>
          <ns13:p xmlns:ns13="http://schemas.openxmlformats.org/drawingml/2006/main">
            <ns13:r>
              <ns13:t>MS MARCO Passage Ranking v1. https://ir-datasets.com/msmarco-passage.html#msmarco-passage/dev</ns13:t>
            </ns13:r>
          </ns13:p>
          <ns14:p xmlns:ns14="http://schemas.openxmlformats.org/drawingml/2006/main">
            <ns14:r>
              <ns14:t>Архив запросов: https://msmarco.z22.web.core.windows.net/msmarcoranking/queries.tar.gz</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ns3:t>
            </ns3:r>
          </ns3:p>
          <ns4:p xmlns:ns4="http://schemas.openxmlformats.org/drawingml/2006/main">
            <ns4:r>
              <ns4: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MS MARCO Passage Ranking v1. https://ir-datasets.com/msmarco-passage.html#msmarco-passage/dev</ns7:t>
            </ns7:r>
          </ns7:p>
          <ns8:p xmlns:ns8="http://schemas.openxmlformats.org/drawingml/2006/main">
            <ns8:r>
              <ns8:t>Архив запросов: https://msmarco.z22.web.core.windows.net/msmarcoranking/queries.tar.gz</ns8:t>
            </ns8:r>
          </ns8:p>
          <ns9:p xmlns:ns9="http://schemas.openxmlformats.org/drawingml/2006/main">
            <ns9:r>
              <ns9:t>MS MARCO Passage Ranking dev/small. https://ir-datasets.com/msmarco-passage.html#msmarco-passage/dev/small</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C95236"/>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75" b="1">
                <ns0:solidFill>
                  <ns0:srgbClr val="C95236"/>
                </ns0:solidFill>
                <ns0:latin typeface="Arial"/>
                <ns0:ea typeface="Arial"/>
                <ns0:cs typeface="Arial"/>
              </ns0:defRPr>
            </ns0:pPr>
            <ns0:r>
              <ns0:rPr sz="2175" b="1">
                <ns0:solidFill>
                  <ns0:srgbClr val="C95236"/>
                </ns0:solidFill>
                <ns0:latin typeface="Arial"/>
                <ns0:ea typeface="Arial"/>
                <ns0:cs typeface="Arial"/>
              </ns0:rPr>
              <ns0:t>L = K. Более глубокие списки могут менять итоговый топ-10.</ns0:t>
            </ns0:r>
          </ns0: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Отсутствие оценки дает нулевой вклад в метрику, но не означает нерелевантность.</ns0:t>
            </ns0:r>
          </ns0: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325" b="1">
                <ns0:solidFill>
                  <ns0:srgbClr val="007F78"/>
                </ns0:solidFill>
                <ns0:latin typeface="Arial"/>
                <ns0:ea typeface="Arial"/>
                <ns0:cs typeface="Arial"/>
              </ns0:defRPr>
            </ns0:pPr>
            <ns0:r>
              <ns0:rPr sz="2325" b="1">
                <ns0:solidFill>
                  <ns0:srgbClr val="007F78"/>
                </ns0:solidFill>
                <ns0:latin typeface="Arial"/>
                <ns0:ea typeface="Arial"/>
                <ns0:cs typeface="Arial"/>
              </ns0:rPr>
              <ns0:t>В обоих расчетах используются только псевдометки судьи</ns0:t>
            </ns0:r>
          </ns0: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Число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Сравнение RRF и E5</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Базовое сравнение</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950" b="0">
                <ns0:solidFill>
                  <ns0:srgbClr val="C9DDDA"/>
                </ns0:solidFill>
                <ns0:latin typeface="Arial"/>
                <ns0:ea typeface="Arial"/>
                <ns0:cs typeface="Arial"/>
              </ns0:defRPr>
            </ns0:pPr>
            <ns0:r>
              <ns0:rPr sz="1950" b="0">
                <ns0:solidFill>
                  <ns0:srgbClr val="C9DDDA"/>
                </ns0:solidFill>
                <ns0:latin typeface="Arial"/>
                <ns0:ea typeface="Arial"/>
                <ns0:cs typeface="Arial"/>
              </ns0:rPr>
              <ns0:t>Направления дальнейшего исследования</ns0:t>
            </ns0:r>
          </ns0:p>
          <ns1:p xmlns:ns1="http://schemas.openxmlformats.org/drawingml/2006/main">
            <ns1:pPr algn="l">
              <ns1:defRPr sz="1950" b="0">
                <ns1:solidFill>
                  <ns1:srgbClr val="C9DDDA"/>
                </ns1:solidFill>
                <ns1:latin typeface="Arial"/>
                <ns1:ea typeface="Arial"/>
                <ns1:cs typeface="Arial"/>
              </ns1:defRPr>
            </ns1:pPr>
            <ns1:r>
              <ns1:rPr sz="1950" b="0">
                <ns1:solidFill>
                  <ns1:srgbClr val="C9DDDA"/>
                </ns1:solidFill>
                <ns1:latin typeface="Arial"/>
                <ns1:ea typeface="Arial"/>
                <ns1:cs typeface="Arial"/>
              </ns1:rPr>
              <ns1:t>Более сильные судьи, эталонный ответ, независимая ручная проверка.</ns1:t>
            </ns1:r>
          </ns1: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Проверка качества ручных данных</ns0:t>
            </ns0:r>
          </ns0: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025" b="0">
                <ns1:solidFill>
                  <ns1:srgbClr val="526970"/>
                </ns1:solidFill>
                <ns1:latin typeface="Arial"/>
                <ns1:ea typeface="Arial"/>
                <ns1:cs typeface="Arial"/>
              </ns1:defRPr>
            </ns1:pPr>
            <ns1:r>
              <ns1:rPr sz="2025" b="0">
                <ns1:solidFill>
                  <ns1:srgbClr val="526970"/>
                </ns1:solidFill>
                <ns1:latin typeface="Arial"/>
                <ns1:ea typeface="Arial"/>
                <ns1:cs typeface="Arial"/>
              </ns1:rPr>
              <ns1:t>Ручная разметка: проверка без 23 запросов</ns1:t>
            </ns1:r>
          </ns1: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007F78"/>
                </ns2:solidFill>
                <ns2:latin typeface="Arial"/>
                <ns2:ea typeface="Arial"/>
                <ns2:cs typeface="Arial"/>
              </ns2:defRPr>
            </ns2:pPr>
            <ns2:r>
              <ns2:rPr sz="2250" b="1">
                <ns2:solidFill>
                  <ns2:srgbClr val="007F78"/>
                </ns2:solidFill>
                <ns2:latin typeface="Arial"/>
                <ns2:ea typeface="Arial"/>
                <ns2:cs typeface="Arial"/>
              </ns2:rPr>
              <ns2:t>29 пар с метками 3, 20 или 22; 5 пар без текста</ns2:t>
            </ns2:r>
          </ns2: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100" b="0">
                <ns3:solidFill>
                  <ns3:srgbClr val="182B30"/>
                </ns3:solidFill>
                <ns3:latin typeface="Arial"/>
                <ns3:ea typeface="Arial"/>
                <ns3:cs typeface="Arial"/>
              </ns3:defRPr>
            </ns3:pPr>
            <ns3:r>
              <ns3:rPr sz="2100" b="0">
                <ns3:solidFill>
                  <ns3:srgbClr val="182B30"/>
                </ns3:solidFill>
                <ns3:latin typeface="Arial"/>
                <ns3:ea typeface="Arial"/>
                <ns3:cs typeface="Arial"/>
              </ns3:rPr>
              <ns3:t>Затронуты 23 запроса. После исключения осталось 1 156.</ns3:t>
            </ns3:r>
          </ns3: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575" b="0">
                <ns4:solidFill>
                  <ns4:srgbClr val="526970"/>
                </ns4:solidFill>
                <ns4:latin typeface="Arial"/>
                <ns4:ea typeface="Arial"/>
                <ns4:cs typeface="Arial"/>
              </ns4:defRPr>
            </ns4:pPr>
            <ns4:r>
              <ns4:rPr sz="1575" b="0">
                <ns4:solidFill>
                  <ns4:srgbClr val="526970"/>
                </ns4:solidFill>
                <ns4:latin typeface="Arial"/>
                <ns4:ea typeface="Arial"/>
                <ns4:cs typeface="Arial"/>
              </ns4:rPr>
              <ns4:t>Коды вне шкалы 0/1/2 не считали подтвержденными оценками.</ns4:t>
            </ns4:r>
          </ns4: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Судья с эталонным ответом</ns0:t>
            </ns0:r>
          </ns0: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ns0:p xmlns:ns0="http://schemas.openxmlformats.org/drawingml/2006/main">
            <ns0:pPr algn="l">
              <ns0:defRPr sz="2625" b="1">
                <ns0:solidFill>
                  <ns0:srgbClr val="182B30"/>
                </ns0:solidFill>
                <ns0:latin typeface="Arial"/>
                <ns0:ea typeface="Arial"/>
                <ns0:cs typeface="Arial"/>
              </ns0:defRPr>
            </ns0:pPr>
            <ns0:r>
              <ns0:rPr sz="2625" b="1">
                <ns0:solidFill>
                  <ns0:srgbClr val="182B30"/>
                </ns0:solidFill>
                <ns0:latin typeface="Arial"/>
                <ns0:ea typeface="Arial"/>
                <ns0:cs typeface="Arial"/>
              </ns0:rPr>
              <ns0:t>запроса в полной dev-части</ns0:t>
            </ns0:r>
          </ns0: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
        <p:nvSpPr>
          <p:cNvPr id="8" name="101 093 запроса в эксперименте совпадают с полной dev-частью по иденти">
            <a:extLst xmlns:a="http://schemas.openxmlformats.org/drawingml/2006/main">
              <a:ext uri="{FF2B5EF4-FFF2-40B4-BE49-F238E27FC236}">
                <a16:creationId xmlns:a16="http://schemas.microsoft.com/office/drawing/2014/main" id="{9F975805-5422-4909-8A78-974A095BC933}"/>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ns1:p xmlns:ns1="http://schemas.openxmlformats.org/drawingml/2006/main">
            <ns1:pPr algn="l">
              <ns1:defRPr sz="1575" b="0">
                <ns1:solidFill>
                  <ns1:srgbClr val="526970"/>
                </ns1:solidFill>
                <ns1:latin typeface="Arial"/>
                <ns1:ea typeface="Arial"/>
                <ns1:cs typeface="Arial"/>
              </ns1:defRPr>
            </ns1:pPr>
            <ns1:r>
              <ns1:rPr sz="1575" b="0">
                <ns1:solidFill>
                  <ns1:srgbClr val="526970"/>
                </ns1:solidFill>
                <ns1:latin typeface="Arial"/>
                <ns1:ea typeface="Arial"/>
                <ns1:cs typeface="Arial"/>
              </ns1:rPr>
              <ns1:t>Судья оценивает всю dev-часть; дообучение проходило на ручной подвыборке.</ns1:t>
            </ns1:r>
          </ns1: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ns0:p xmlns:ns0="http://schemas.openxmlformats.org/drawingml/2006/main">
            <ns0:pPr algn="l">
              <ns0:defRPr sz="1950" b="0">
                <ns0:solidFill>
                  <ns0:srgbClr val="182B30"/>
                </ns0:solidFill>
                <ns0:latin typeface="Arial"/>
                <ns0:ea typeface="Arial"/>
                <ns0:cs typeface="Arial"/>
              </ns0:defRPr>
            </ns0:pPr>
            <ns0:r>
              <ns0:rPr sz="1950" b="0">
                <ns0:solidFill>
                  <ns0:srgbClr val="182B30"/>
                </ns0:solidFill>
                <ns0:latin typeface="Arial"/>
                <ns0:ea typeface="Arial"/>
                <ns0:cs typeface="Arial"/>
              </ns0:rPr>
              <ns0:t>Равный вес источников. Учитываем списки, в которых найден фрагмент.</ns0:t>
            </ns0:r>
          </ns0: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