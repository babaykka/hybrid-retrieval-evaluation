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7fb4a3ecc47149b1"/><Relationship Type="http://schemas.openxmlformats.org/officeDocument/2006/relationships/extended-properties" Target="/docProps/app.xml" Id="R32f23a33e5534aaf"/><Relationship Type="http://schemas.openxmlformats.org/officeDocument/2006/relationships/officeDocument" Target="/ppt/presentation.xml" Id="R20e01e1bd5414541"/></Relationships>
</file>

<file path=ppt/presentation.xml><?xml version="1.0" encoding="utf-8"?>
<p:presentation xmlns:p="http://schemas.openxmlformats.org/presentationml/2006/main">
  <p:sldMasterIdLst>
    <p:sldMasterId xmlns:r="http://schemas.openxmlformats.org/officeDocument/2006/relationships" id="2147483648" r:id="R59517b2bffc047a2"/>
  </p:sldMasterIdLst>
  <p:notesMasterIdLst>
    <p:notesMasterId xmlns:r="http://schemas.openxmlformats.org/officeDocument/2006/relationships" r:id="R96d77d4526884098"/>
  </p:notesMasterIdLst>
  <p:sldIdLst>
    <p:sldId xmlns:ns0="http://schemas.openxmlformats.org/officeDocument/2006/relationships" id="276" ns0:id="R1b78786234bc4c34"/>
    <p:sldId xmlns:ns1="http://schemas.openxmlformats.org/officeDocument/2006/relationships" id="277" ns1:id="R308caa75f4974794"/>
    <p:sldId xmlns:ns2="http://schemas.openxmlformats.org/officeDocument/2006/relationships" id="278" ns2:id="Rc2e16312072346fc"/>
    <p:sldId xmlns:ns3="http://schemas.openxmlformats.org/officeDocument/2006/relationships" id="279" ns3:id="Rbc07fb6187dc441f"/>
    <p:sldId xmlns:ns4="http://schemas.openxmlformats.org/officeDocument/2006/relationships" id="280" ns4:id="R49d790a9626c4166"/>
    <p:sldId xmlns:ns5="http://schemas.openxmlformats.org/officeDocument/2006/relationships" id="281" ns5:id="R9bebf51513b54225"/>
    <p:sldId xmlns:ns6="http://schemas.openxmlformats.org/officeDocument/2006/relationships" id="282" ns6:id="Reade4cf27cdf471e"/>
    <p:sldId xmlns:ns7="http://schemas.openxmlformats.org/officeDocument/2006/relationships" id="283" ns7:id="Ra91d658d1c494a24"/>
    <p:sldId xmlns:ns8="http://schemas.openxmlformats.org/officeDocument/2006/relationships" id="284" ns8:id="Rae29bbe8b5c74d30"/>
    <p:sldId xmlns:ns9="http://schemas.openxmlformats.org/officeDocument/2006/relationships" id="285" ns9:id="Rc945c2d106ca4687"/>
    <p:sldId xmlns:ns10="http://schemas.openxmlformats.org/officeDocument/2006/relationships" id="286" ns10:id="rAddedSlide21"/>
    <p:sldId xmlns:ns11="http://schemas.openxmlformats.org/officeDocument/2006/relationships" id="287" ns11:id="rAddedSlide22"/>
    <p:sldId xmlns:ns12="http://schemas.openxmlformats.org/officeDocument/2006/relationships" id="288" ns12:id="R1a7923ae1afc4511"/>
    <p:sldId xmlns:ns13="http://schemas.openxmlformats.org/officeDocument/2006/relationships" id="289" ns13:id="rAddedSlide23"/>
    <p:sldId xmlns:ns14="http://schemas.openxmlformats.org/officeDocument/2006/relationships" id="290" ns14:id="Re57df592b105476d"/>
    <p:sldId xmlns:ns15="http://schemas.openxmlformats.org/officeDocument/2006/relationships" id="291" ns15:id="R1fa05d50cb0c43a1"/>
    <p:sldId xmlns:ns16="http://schemas.openxmlformats.org/officeDocument/2006/relationships" id="292" ns16:id="R08ec46a784e14088"/>
    <p:sldId xmlns:ns17="http://schemas.openxmlformats.org/officeDocument/2006/relationships" id="293" ns17:id="R687a3932498c4456"/>
    <p:sldId xmlns:ns18="http://schemas.openxmlformats.org/officeDocument/2006/relationships" id="294" ns18:id="rAddedSlide24"/>
    <p:sldId xmlns:ns19="http://schemas.openxmlformats.org/officeDocument/2006/relationships" id="295" ns19:id="rAddedSlide25"/>
    <p:sldId xmlns:ns20="http://schemas.openxmlformats.org/officeDocument/2006/relationships" id="296" ns20:id="rAddedSlide26"/>
    <p:sldId xmlns:ns21="http://schemas.openxmlformats.org/officeDocument/2006/relationships" id="297" ns21:id="R76b154ba5e7e4d24"/>
    <p:sldId xmlns:ns22="http://schemas.openxmlformats.org/officeDocument/2006/relationships" id="298" ns22:id="Rccd64b9c89fa4245"/>
    <p:sldId xmlns:ns23="http://schemas.openxmlformats.org/officeDocument/2006/relationships" id="299" ns23:id="R4d2c3a6ab9ed4645"/>
    <p:sldId xmlns:ns24="http://schemas.openxmlformats.org/officeDocument/2006/relationships" id="300" ns24:id="R47fdfe65a7c74b49"/>
    <p:sldId xmlns:ns25="http://schemas.openxmlformats.org/officeDocument/2006/relationships" id="301" ns25:id="R9953b0c292f2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ab0eba8d397a424e"/><Relationship Type="http://schemas.openxmlformats.org/officeDocument/2006/relationships/slideMaster" Target="/ppt/slideMasters/slideMaster1.xml" Id="R59517b2bffc047a2"/><Relationship Type="http://schemas.openxmlformats.org/officeDocument/2006/relationships/notesMaster" Target="/ppt/notesMasters/notesMaster1.xml" Id="R96d77d4526884098"/><Relationship Type="http://schemas.openxmlformats.org/officeDocument/2006/relationships/presProps" Target="/ppt/presProps.xml" Id="Rc25933a6aa6b4975"/><Relationship Type="http://schemas.openxmlformats.org/officeDocument/2006/relationships/tableStyles" Target="/ppt/tableStyles.xml" Id="Ra77222ad7d614f9f"/><Relationship Type="http://schemas.openxmlformats.org/officeDocument/2006/relationships/slide" Target="/ppt/slides/slide1.xml" Id="R1b78786234bc4c34"/><Relationship Type="http://schemas.openxmlformats.org/officeDocument/2006/relationships/slide" Target="/ppt/slides/slide2.xml" Id="R308caa75f4974794"/><Relationship Type="http://schemas.openxmlformats.org/officeDocument/2006/relationships/slide" Target="/ppt/slides/slide3.xml" Id="Rc2e16312072346fc"/><Relationship Type="http://schemas.openxmlformats.org/officeDocument/2006/relationships/slide" Target="/ppt/slides/slide4.xml" Id="Rbc07fb6187dc441f"/><Relationship Type="http://schemas.openxmlformats.org/officeDocument/2006/relationships/slide" Target="/ppt/slides/slide5.xml" Id="R49d790a9626c4166"/><Relationship Type="http://schemas.openxmlformats.org/officeDocument/2006/relationships/slide" Target="/ppt/slides/slide6.xml" Id="R9bebf51513b54225"/><Relationship Type="http://schemas.openxmlformats.org/officeDocument/2006/relationships/slide" Target="/ppt/slides/slide7.xml" Id="Reade4cf27cdf471e"/><Relationship Type="http://schemas.openxmlformats.org/officeDocument/2006/relationships/slide" Target="/ppt/slides/slide8.xml" Id="Ra91d658d1c494a24"/><Relationship Type="http://schemas.openxmlformats.org/officeDocument/2006/relationships/slide" Target="/ppt/slides/slide9.xml" Id="Rae29bbe8b5c74d30"/><Relationship Type="http://schemas.openxmlformats.org/officeDocument/2006/relationships/slide" Target="/ppt/slides/slide10.xml" Id="Rc945c2d106ca4687"/><Relationship Type="http://schemas.openxmlformats.org/officeDocument/2006/relationships/slide" Target="/ppt/slides/slide11.xml" Id="R1a7923ae1afc4511"/><Relationship Type="http://schemas.openxmlformats.org/officeDocument/2006/relationships/slide" Target="/ppt/slides/slide12.xml" Id="Re57df592b105476d"/><Relationship Type="http://schemas.openxmlformats.org/officeDocument/2006/relationships/slide" Target="/ppt/slides/slide13.xml" Id="R1fa05d50cb0c43a1"/><Relationship Type="http://schemas.openxmlformats.org/officeDocument/2006/relationships/slide" Target="/ppt/slides/slide14.xml" Id="R08ec46a784e14088"/><Relationship Type="http://schemas.openxmlformats.org/officeDocument/2006/relationships/slide" Target="/ppt/slides/slide15.xml" Id="R687a3932498c4456"/><Relationship Type="http://schemas.openxmlformats.org/officeDocument/2006/relationships/slide" Target="/ppt/slides/slide16.xml" Id="R76b154ba5e7e4d24"/><Relationship Type="http://schemas.openxmlformats.org/officeDocument/2006/relationships/slide" Target="/ppt/slides/slide17.xml" Id="Rccd64b9c89fa4245"/><Relationship Type="http://schemas.openxmlformats.org/officeDocument/2006/relationships/slide" Target="/ppt/slides/slide18.xml" Id="R4d2c3a6ab9ed4645"/><Relationship Type="http://schemas.openxmlformats.org/officeDocument/2006/relationships/slide" Target="/ppt/slides/slide19.xml" Id="R47fdfe65a7c74b49"/><Relationship Type="http://schemas.openxmlformats.org/officeDocument/2006/relationships/slide" Target="/ppt/slides/slide20.xml" Id="R9953b0c292f247df"/><Relationship Id="rAddedSlide21" Type="http://schemas.openxmlformats.org/officeDocument/2006/relationships/slide" Target="/ppt/slides/slide21.xml"/><Relationship Id="rAddedSlide22" Type="http://schemas.openxmlformats.org/officeDocument/2006/relationships/slide" Target="/ppt/slides/slide22.xml"/><Relationship Id="rAddedSlide23" Type="http://schemas.openxmlformats.org/officeDocument/2006/relationships/slide" Target="/ppt/slides/slide23.xml"/><Relationship Id="rAddedSlide24" Type="http://schemas.openxmlformats.org/officeDocument/2006/relationships/slide" Target="/ppt/slides/slide24.xml"/><Relationship Id="rAddedSlide25" Type="http://schemas.openxmlformats.org/officeDocument/2006/relationships/slide" Target="/ppt/slides/slide25.xml"/><Relationship Id="rAddedSlide26" Type="http://schemas.openxmlformats.org/officeDocument/2006/relationships/slide" Target="/ppt/slides/slide26.xml"/></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df3bc83623e54fa4"/></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819a0d5dee94248"/><Relationship Type="http://schemas.openxmlformats.org/officeDocument/2006/relationships/notesMaster" Target="/ppt/notesMasters/notesMaster1.xml" Id="R78dbfa4c83974c73"/></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f0872be84bd74c90"/><Relationship Type="http://schemas.openxmlformats.org/officeDocument/2006/relationships/notesMaster" Target="/ppt/notesMasters/notesMaster1.xml" Id="R0a7755347a234632"/></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1f84b4ecbb6e4f18"/><Relationship Type="http://schemas.openxmlformats.org/officeDocument/2006/relationships/notesMaster" Target="/ppt/notesMasters/notesMaster1.xml" Id="R12268708981845f3"/></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87a8831cc964700"/><Relationship Type="http://schemas.openxmlformats.org/officeDocument/2006/relationships/notesMaster" Target="/ppt/notesMasters/notesMaster1.xml" Id="Rac72e978765e4f30"/></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798dafedf4834424"/><Relationship Type="http://schemas.openxmlformats.org/officeDocument/2006/relationships/notesMaster" Target="/ppt/notesMasters/notesMaster1.xml" Id="R2bf373a1fc5248a3"/></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959334d7f074c9b"/><Relationship Type="http://schemas.openxmlformats.org/officeDocument/2006/relationships/notesMaster" Target="/ppt/notesMasters/notesMaster1.xml" Id="R782cc6168c42404b"/></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ee97f805d1b14d4a"/><Relationship Type="http://schemas.openxmlformats.org/officeDocument/2006/relationships/notesMaster" Target="/ppt/notesMasters/notesMaster1.xml" Id="R1f4f6d6b608940a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d9536fb6e95240d4"/><Relationship Type="http://schemas.openxmlformats.org/officeDocument/2006/relationships/notesMaster" Target="/ppt/notesMasters/notesMaster1.xml" Id="R96ca1fd56a524b2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7ce650ea03c46e3"/><Relationship Type="http://schemas.openxmlformats.org/officeDocument/2006/relationships/notesMaster" Target="/ppt/notesMasters/notesMaster1.xml" Id="Ra99d10b0bf0a4ed2"/></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d0f458622284362"/><Relationship Type="http://schemas.openxmlformats.org/officeDocument/2006/relationships/notesMaster" Target="/ppt/notesMasters/notesMaster1.xml" Id="R4fa9ce9b0ae44265"/></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0fcbb8bc0b444c63"/><Relationship Type="http://schemas.openxmlformats.org/officeDocument/2006/relationships/notesMaster" Target="/ppt/notesMasters/notesMaster1.xml" Id="R9bc05418d64d4e09"/></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4daacc99cfba421c"/><Relationship Type="http://schemas.openxmlformats.org/officeDocument/2006/relationships/notesMaster" Target="/ppt/notesMasters/notesMaster1.xml" Id="Rd5dd82eba2b44c7f"/></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f87b6ef3585f4933"/><Relationship Type="http://schemas.openxmlformats.org/officeDocument/2006/relationships/notesMaster" Target="/ppt/notesMasters/notesMaster1.xml" Id="R549f2062f23e4c6b"/></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ea18d135cd9e43b1"/><Relationship Type="http://schemas.openxmlformats.org/officeDocument/2006/relationships/notesMaster" Target="/ppt/notesMasters/notesMaster1.xml" Id="R545fc6b50a27458c"/></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0ddc8fa565a1400c"/><Relationship Type="http://schemas.openxmlformats.org/officeDocument/2006/relationships/notesMaster" Target="/ppt/notesMasters/notesMaster1.xml" Id="R95fadb2f21db415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73c27a0ca4174d2a"/><Relationship Type="http://schemas.openxmlformats.org/officeDocument/2006/relationships/notesMaster" Target="/ppt/notesMasters/notesMaster1.xml" Id="R97691a278cf24d65"/></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7a7d3a35b34c4a0b"/><Relationship Type="http://schemas.openxmlformats.org/officeDocument/2006/relationships/notesMaster" Target="/ppt/notesMasters/notesMaster1.xml" Id="R83ee8e6f9b224bc9"/></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4991df8a0db4707"/><Relationship Type="http://schemas.openxmlformats.org/officeDocument/2006/relationships/notesMaster" Target="/ppt/notesMasters/notesMaster1.xml" Id="Rc26d97ace02a41cd"/></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0247b1f2cd7848e5"/><Relationship Type="http://schemas.openxmlformats.org/officeDocument/2006/relationships/notesMaster" Target="/ppt/notesMasters/notesMaster1.xml" Id="R4a9ed6f673b84c42"/></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d6681c2c5a984720"/><Relationship Type="http://schemas.openxmlformats.org/officeDocument/2006/relationships/notesMaster" Target="/ppt/notesMasters/notesMaster1.xml" Id="Rfde93e5a727b41c1"/></Relationships>
</file>

<file path=ppt/notesSlides/_rels/notesSlide21.xml.rels><?xml version='1.0' encoding='UTF-8' standalone='yes'?>
<Relationships xmlns="http://schemas.openxmlformats.org/package/2006/relationships"><Relationship Id="rSlide" Type="http://schemas.openxmlformats.org/officeDocument/2006/relationships/slide" Target="/ppt/slides/slide21.xml"/><Relationship Id="rMaster" Type="http://schemas.openxmlformats.org/officeDocument/2006/relationships/notesMaster" Target="/ppt/notesMasters/notesMaster1.xml"/></Relationships>
</file>

<file path=ppt/notesSlides/_rels/notesSlide22.xml.rels><?xml version='1.0' encoding='UTF-8' standalone='yes'?>
<Relationships xmlns="http://schemas.openxmlformats.org/package/2006/relationships"><Relationship Id="rSlide" Type="http://schemas.openxmlformats.org/officeDocument/2006/relationships/slide" Target="/ppt/slides/slide22.xml"/><Relationship Id="rMaster" Type="http://schemas.openxmlformats.org/officeDocument/2006/relationships/notesMaster" Target="/ppt/notesMasters/notesMaster1.xml"/></Relationships>
</file>

<file path=ppt/notesSlides/_rels/notesSlide23.xml.rels><?xml version='1.0' encoding='UTF-8' standalone='yes'?>
<Relationships xmlns="http://schemas.openxmlformats.org/package/2006/relationships"><Relationship Id="rSlide" Type="http://schemas.openxmlformats.org/officeDocument/2006/relationships/slide" Target="/ppt/slides/slide23.xml"/><Relationship Id="rMaster" Type="http://schemas.openxmlformats.org/officeDocument/2006/relationships/notesMaster" Target="/ppt/notesMasters/notesMaster1.xml"/></Relationships>
</file>

<file path=ppt/notesSlides/_rels/notesSlide24.xml.rels><?xml version='1.0' encoding='UTF-8' standalone='yes'?>
<Relationships xmlns="http://schemas.openxmlformats.org/package/2006/relationships"><Relationship Id="rSlide" Type="http://schemas.openxmlformats.org/officeDocument/2006/relationships/slide" Target="/ppt/slides/slide24.xml"/><Relationship Id="rMaster" Type="http://schemas.openxmlformats.org/officeDocument/2006/relationships/notesMaster" Target="/ppt/notesMasters/notesMaster1.xml"/></Relationships>
</file>

<file path=ppt/notesSlides/_rels/notesSlide25.xml.rels><?xml version='1.0' encoding='UTF-8' standalone='yes'?>
<Relationships xmlns="http://schemas.openxmlformats.org/package/2006/relationships"><Relationship Id="rSlide" Type="http://schemas.openxmlformats.org/officeDocument/2006/relationships/slide" Target="/ppt/slides/slide25.xml"/><Relationship Id="rMaster" Type="http://schemas.openxmlformats.org/officeDocument/2006/relationships/notesMaster" Target="/ppt/notesMasters/notesMaster1.xml"/></Relationships>
</file>

<file path=ppt/notesSlides/_rels/notesSlide26.xml.rels><?xml version='1.0' encoding='UTF-8' standalone='yes'?>
<Relationships xmlns="http://schemas.openxmlformats.org/package/2006/relationships"><Relationship Id="rSlide" Type="http://schemas.openxmlformats.org/officeDocument/2006/relationships/slide" Target="/ppt/slides/slide26.xml"/><Relationship Id="rMaster" Type="http://schemas.openxmlformats.org/officeDocument/2006/relationships/notesMaster" Target="/pp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Здравствуйте!  Я представлю нашу работу по углубленной доразметке MS MARCO и оценке поиска на контролируемых пулах кандидатов, .</ns0:t>
            </ns0:r>
          </ns0:p>
          <ns1:p xmlns:ns1="http://schemas.openxmlformats.org/drawingml/2006/main">
            <ns1:r>
              <ns1: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ns0:t>
            </ns0:r>
          </ns0:p>
          <ns1:p xmlns:ns1="http://schemas.openxmlformats.org/drawingml/2006/main">
            <ns1:r>
              <ns1: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https://arxiv.org/abs/1611.09268</ns4:t>
            </ns4:r>
          </ns4:p>
          <ns5:p xmlns:ns5="http://schemas.openxmlformats.org/drawingml/2006/main">
            <ns5:r>
              <ns5:t>Natural Questions: https://aclanthology.org/Q19-1026/</ns5:t>
            </ns5:r>
          </ns5:p>
          <ns6:p xmlns:ns6="http://schemas.openxmlformats.org/drawingml/2006/main">
            <ns6:r>
              <ns6:t>BEIR: https://arxiv.org/abs/2104.08663</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ns0:t>
            </ns0:r>
          </ns0:p>
          <ns1:p xmlns:ns1="http://schemas.openxmlformats.org/drawingml/2006/main">
            <ns1:r>
              <ns1: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Историческая таблица MS MARCO Passage Ranking, срез 30 ноября 2022 года. https://github.com/microsoft/MSMARCO-Passage-Ranking-Submissions/blob/abb44144f563e7972d5131f5d6acc2092877964c/leaderboard/leaderboard.csv</ns4:t>
            </ns4:r>
          </ns4:p>
          <ns5:p xmlns:ns5="http://schemas.openxmlformats.org/drawingml/2006/main">
            <ns5:r>
              <ns5: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ns0:t>
            </ns0:r>
          </ns0:p>
          <ns1:p xmlns:ns1="http://schemas.openxmlformats.org/drawingml/2006/main">
            <ns1:r>
              <ns1: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ns0:t>
            </ns0:r>
          </ns0:p>
          <ns1:p xmlns:ns1="http://schemas.openxmlformats.org/drawingml/2006/main">
            <ns1:r>
              <ns1: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ns0:t>
            </ns0:r>
          </ns0:p>
          <ns1:p xmlns:ns1="http://schemas.openxmlformats.org/drawingml/2006/main">
            <ns1:r>
              <ns1: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ns1:t>
            </ns1:r>
          </ns1:p>
          <ns2:p xmlns:ns2="http://schemas.openxmlformats.org/drawingml/2006/main">
            <ns2:r>
              <ns2: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BM25: https://doi.org/10.1561/1500000019</ns5:t>
            </ns5:r>
          </ns5:p>
          <ns6:p xmlns:ns6="http://schemas.openxmlformats.org/drawingml/2006/main">
            <ns6:r>
              <ns6:t>E5: https://arxiv.org/abs/2212.03533</ns6:t>
            </ns6:r>
          </ns6:p>
          <ns7:p xmlns:ns7="http://schemas.openxmlformats.org/drawingml/2006/main">
            <ns7:r>
              <ns7:t>Модель E5: https://huggingface.co/intfloat/e5-small-v2</ns7:t>
            </ns7:r>
          </ns7:p>
          <ns8:p xmlns:ns8="http://schemas.openxmlformats.org/drawingml/2006/main">
            <ns8:r>
              <ns8:t>Модель BGE: https://huggingface.co/BAAI/bge-small-en-v1.5</ns8:t>
            </ns8:r>
          </ns8: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ns0:t>
            </ns0:r>
          </ns0:p>
          <ns1:p xmlns:ns1="http://schemas.openxmlformats.org/drawingml/2006/main">
            <ns1:r>
              <ns1: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ns1:t>
            </ns1:r>
          </ns1:p>
          <ns2:p xmlns:ns2="http://schemas.openxmlformats.org/drawingml/2006/main">
            <ns2:r>
              <ns2: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ns0:t>
            </ns0:r>
          </ns0:p>
          <ns1:p xmlns:ns1="http://schemas.openxmlformats.org/drawingml/2006/main">
            <ns1:r>
              <ns1: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ns1:t>
            </ns1:r>
          </ns1:p>
          <ns2:p xmlns:ns2="http://schemas.openxmlformats.org/drawingml/2006/main">
            <ns2:r>
              <ns2:t>Оранжевые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под графиком приведен 95-процентный доверительный интервал этого прироста.</ns2:t>
            </ns2:r>
          </ns2:p>
          <ns3:p xmlns:ns3="http://schemas.openxmlformats.org/drawingml/2006/main">
            <ns3:r>
              <ns3: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ns0:t>
            </ns0:r>
          </ns0:p>
          <ns1:p xmlns:ns1="http://schemas.openxmlformats.org/drawingml/2006/main">
            <ns1:r>
              <ns1: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ns1:t>
            </ns1:r>
          </ns1:p>
          <ns2:p xmlns:ns2="http://schemas.openxmlformats.org/drawingml/2006/main">
            <ns2:r>
              <ns2: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ns0:t>
            </ns0:r>
          </ns0:p>
          <ns1:p xmlns:ns1="http://schemas.openxmlformats.org/drawingml/2006/main">
            <ns1:r>
              <ns1: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ns1:t>
            </ns1:r>
          </ns1:p>
          <ns2:p xmlns:ns2="http://schemas.openxmlformats.org/drawingml/2006/main">
            <ns2:r>
              <ns2: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ns0:t>
            </ns0:r>
          </ns0:p>
          <ns1:p xmlns:ns1="http://schemas.openxmlformats.org/drawingml/2006/main">
            <ns1:r>
              <ns1: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ns0:t>
            </ns0:r>
          </ns0:p>
          <ns1:p xmlns:ns1="http://schemas.openxmlformats.org/drawingml/2006/main">
            <ns1:r>
              <ns1: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ns1:t>
            </ns1:r>
          </ns1:p>
          <ns2:p xmlns:ns2="http://schemas.openxmlformats.org/drawingml/2006/main">
            <ns2:r>
              <ns2:t>По горизонтальной оси отложена разность двух значений NDCG@10: значение для RRF минус значение для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ns2:t>
            </ns2:r>
          </ns2:p>
          <ns3:p xmlns:ns3="http://schemas.openxmlformats.org/drawingml/2006/main">
            <ns3:r>
              <ns3:t>Горизонтальные отрезки показывают 95-процентные доверительные интервалы разности. Здесь одновременно меняются и охват разметки, и входные списки для слияния. Чтобы выделить влияние охвата, дальше зафиксируем ранжирование.</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ns0:t>
            </ns0:r>
          </ns0:p>
          <ns1:p xmlns:ns1="http://schemas.openxmlformats.org/drawingml/2006/main">
            <ns1:r>
              <ns1:t>Даже при такой неизменной выдаче преимущество переходит от одной системы к другой. Из NDCG@10 для RRF вычитаем NDCG@10 для E5. Получаем примерно минус 0,066 при K, равном десяти, и плюс 0,008 при K, равном тридцати. Отрицательная разность означает преимущество E5, положительная преимущество RRF.</ns1:t>
            </ns1:r>
          </ns1:p>
          <ns2:p xmlns:ns2="http://schemas.openxmlformats.org/drawingml/2006/main">
            <ns2:r>
              <ns2: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ns2:t>
            </ns2:r>
          </ns2:p>
          <ns3:p xmlns:ns3="http://schemas.openxmlformats.org/drawingml/2006/main">
            <ns3:r>
              <ns3: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Cormack, Clarke, Büttcher. Reciprocal Rank Fusion outperforms Condorcet and individual Rank Learning Methods. SIGIR 2009. https://doi.org/10.1145/1571941.1572114</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ns0:t>
            </ns0:r>
          </ns0:p>
          <ns1:p xmlns:ns1="http://schemas.openxmlformats.org/drawingml/2006/main">
            <ns1:r>
              <ns1: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ns1:t>
            </ns1:r>
          </ns1:p>
          <ns2:p xmlns:ns2="http://schemas.openxmlformats.org/drawingml/2006/main">
            <ns2:r>
              <ns2: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ns2:t>
            </ns2:r>
          </ns2:p>
          <ns3:p xmlns:ns3="http://schemas.openxmlformats.org/drawingml/2006/main">
            <ns3:r>
              <ns3: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Ручная доразметка существенно меняет оценку качества поиска. В наших ручных пулах NDCG@10 системы E5 увеличивается с 0,488 до 0,879 при неизменной выдаче. Система уже находила полезные фрагменты, но неполная исходная разметка не давала ей за них баллы.</ns0:t>
            </ns0:r>
          </ns0:p>
          <ns1:p xmlns:ns1="http://schemas.openxmlformats.org/drawingml/2006/main">
            <ns1:r>
              <ns1:t>В масштабном эксперименте при той же выдаче меняется даже победитель сравнения: на малом пуле E5 опережает RRF, а при расширении пула вперед выходит RRF. Практический смысл в том, что выбор лучшей системы зависит от того, какие найденные фрагменты получили оценки. Различие возникает без переобучения поисковых моделей.</ns1:t>
            </ns1:r>
          </ns1:p>
          <ns2:p xmlns:ns2="http://schemas.openxmlformats.org/drawingml/2006/main">
            <ns2:r>
              <ns2:t>Близкие метрики при неполной разметке сами по себе не доказывают одинаковое качество систем. Но и утверждать, что мы установили истинного лидера, пока нельзя: масштабное сравнение опирается на оценки одного судьи. Поэтому при сравнении систем нужно проверять, как вывод зависит от охвата разметки и источника оценок.</ns2:t>
            </ns2:r>
          </ns2:p>
          <ns3:p xmlns:ns3="http://schemas.openxmlformats.org/drawingml/2006/main">
            <ns3:r>
              <ns3:t>Следующий шаг состоит в улучшении автоматической доразметки. Планируем сравнить более сильные модели-судьи и проверить вариант, который получает запрос, известный релевантный ответ и фрагмент-кандидат. Качество такой доразметки нужно подтвердить независимыми человеческими оценками, в том числе на глубоких пулах.</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измеренная оценка качества, а не возможности самой поисковой модели. NDCG@10 учитывает релевантность в первой десятке с большим весом верхних позиций и нормирует ее относительно идеальной выдачи.</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ns0:t>
            </ns0:r>
          </ns0:p>
          <ns1:p xmlns:ns1="http://schemas.openxmlformats.org/drawingml/2006/main">
            <ns1:r>
              <ns1:t>На 5 002 тестовых парах получены 2 882 верных положительных и 1 300 верных отрицательных решения, 506 ложноположительных и 314 ложноотрицательных.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Wang et al. MiniLM. 2020. https://arxiv.org/abs/2002.10957</ns4:t>
            </ns4:r>
          </ns4:p>
          <ns5:p xmlns:ns5="http://schemas.openxmlformats.org/drawingml/2006/main">
            <ns5:r>
              <ns5:t>Исходная модель: https://huggingface.co/cross-encoder/ms-marco-MiniLM-L6-v2</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ns0:t>
            </ns0:r>
          </ns0:p>
          <ns1:p xmlns:ns1="http://schemas.openxmlformats.org/drawingml/2006/main">
            <ns1:r>
              <ns1: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ns1:t>
            </ns1:r>
          </ns1:p>
          <ns2:p xmlns:ns2="http://schemas.openxmlformats.org/drawingml/2006/main">
            <ns2:r>
              <ns2: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ns2:t>
            </ns2:r>
          </ns2:p>
          <ns3:p xmlns:ns3="http://schemas.openxmlformats.org/drawingml/2006/main">
            <ns3:r>
              <ns3:t>L ограничивает входные списки BM25, E5 и BGE до слияния. NDCG@10 оценивает первые десять позиций уже получившегося списка RRF. Это разные этапы.</ns3:t>
            </ns3:r>
          </ns3:p>
          <ns4:p xmlns:ns4="http://schemas.openxmlformats.org/drawingml/2006/main">
            <ns4:r>
              <ns4: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Cormack, Clarke, Büttcher. Reciprocal Rank Fusion outperforms Condorcet and individual Rank Learning Methods. SIGIR 2009. https://doi.org/10.1145/1571941.1572114</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ns0:t>
            </ns0:r>
          </ns0:p>
          <ns1:p xmlns:ns1="http://schemas.openxmlformats.org/drawingml/2006/main">
            <ns1:r>
              <ns1: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Человек видел запрос, оцениваемый фрагмент и известный релевантный ответ. Подготовка ручных кандидатов также использовала сходство E5 с этим ответом. Судья получает только тексты запроса и кандидата. Он не получает известного ответа, позиций, баллов BM25, E5 или BGE и заранее рассчитанных эмбеддингов. Добавление эталонного ответа ко входу судьи предложено как следующий эксперимент.</ns0:t>
            </ns0:r>
          </ns0:p>
          <ns1:p xmlns:ns1="http://schemas.openxmlformats.org/drawingml/2006/main">
            <ns1:r>
              <ns1:t>Судья нужен как доступный способ получить много дополнительных оценок и исследовать зависимость метрик от охвата. Он не заменяет поисковые системы и не считается безошибочным эталоном. BM25, E5 и BGE по-прежнему находят и ранжируют кандидатов. На ручных данных их сравнение опирается на человеческие оценки. Масштабные выводы с MiniLM условны и требуют проверки более сильными судьями и независимой ручной разметкой.</ns1:t>
            </ns1:r>
          </ns1:p>
          <ns2:p xmlns:ns2="http://schemas.openxmlformats.org/drawingml/2006/main">
            <ns2:r>
              <ns2:t>Это компактная исходная модель cross-encoder/ms-marco-MiniLM-L6-v2, пригодная для оценки большого числа пар. В представленном эксперименте ее дообучили на ручных оценках. Сравнения нескольких судей и модели со входом «запрос, эталонный ответ, кандидат» пока не выполнены. Результаты таких сравнений не заявляются.</ns2:t>
            </ns2:r>
          </ns2:p>
          <ns3:p xmlns:ns3="http://schemas.openxmlformats.org/drawingml/2006/main">
            <ns3:r>
              <ns3:t>Источники</ns3:t>
            </ns3:r>
          </ns3:p>
          <ns4:p xmlns:ns4="http://schemas.openxmlformats.org/drawingml/2006/main">
            <ns4:r>
              <ns4:t>, G. , N. . Deep Re-annotation and Controlled Candidate Pools for Re-evaluating Ranking Models on MS MARCO. DAMDID 2026. Результаты экспериментов в контролируемых пулах.</ns4:t>
            </ns4:r>
          </ns4:p>
          <ns5:p xmlns:ns5="http://schemas.openxmlformats.org/drawingml/2006/main">
            <ns5:r>
              <ns5:t>Wang et al. MiniLM. 2020. https://arxiv.org/abs/2002.10957</ns5:t>
            </ns5:r>
          </ns5:p>
          <ns6:p xmlns:ns6="http://schemas.openxmlformats.org/drawingml/2006/main">
            <ns6:r>
              <ns6:t>Исходная модель: https://huggingface.co/cross-encoder/ms-marco-MiniLM-L6-v2</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ns0:t>
            </ns0:r>
          </ns0:p>
          <ns1:p xmlns:ns1="http://schemas.openxmlformats.org/drawingml/2006/main">
            <ns1:r>
              <ns1: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MS MARCO Passage Ranking v1. https://ir-datasets.com/msmarco-passage.html#msmarco-passage/dev</ns4:t>
            </ns4:r>
          </ns4:p>
          <ns5:p xmlns:ns5="http://schemas.openxmlformats.org/drawingml/2006/main">
            <ns5:r>
              <ns5:t>Архив запросов: https://msmarco.z22.web.core.windows.net/msmarcoranking/queries.tar.gz</ns5:t>
            </ns5:r>
          </ns5:p>
          <ns6:p xmlns:ns6="http://schemas.openxmlformats.org/drawingml/2006/main">
            <ns6:r>
              <ns6:t>MS MARCO Passage Ranking dev/small. https://ir-datasets.com/msmarco-passage.html#msmarco-passage/dev/small</ns6:t>
            </ns6:r>
          </ns6: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ns0:t>
            </ns0:r>
          </ns0:p>
          <ns1:p xmlns:ns1="http://schemas.openxmlformats.org/drawingml/2006/main">
            <ns1:r>
              <ns1: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ns1:t>
            </ns1:r>
          </ns1:p>
          <ns2:p xmlns:ns2="http://schemas.openxmlformats.org/drawingml/2006/main">
            <ns2:r>
              <ns2:t>Источники</ns2:t>
            </ns2:r>
          </ns2:p>
          <ns3:p xmlns:ns3="http://schemas.openxmlformats.org/drawingml/2006/main">
            <ns3:r>
              <ns3:t>, G. , N. . Deep Re-annotation and Controlled Candidate Pools for Re-evaluating Ranking Models on MS MARCO. DAMDID 2026. Результаты экспериментов в контролируемых пулах.</ns3:t>
            </ns3:r>
          </ns3:p>
          <ns4:p xmlns:ns4="http://schemas.openxmlformats.org/drawingml/2006/main">
            <ns4:r>
              <ns4:t>BM25: https://doi.org/10.1561/1500000019</ns4:t>
            </ns4:r>
          </ns4:p>
          <ns5:p xmlns:ns5="http://schemas.openxmlformats.org/drawingml/2006/main">
            <ns5:r>
              <ns5:t>E5: https://arxiv.org/abs/2212.03533</ns5:t>
            </ns5:r>
          </ns5:p>
          <ns6:p xmlns:ns6="http://schemas.openxmlformats.org/drawingml/2006/main">
            <ns6:r>
              <ns6:t>Модель E5: https://huggingface.co/intfloat/e5-small-v2</ns6:t>
            </ns6:r>
          </ns6:p>
          <ns7:p xmlns:ns7="http://schemas.openxmlformats.org/drawingml/2006/main">
            <ns7:r>
              <ns7:t>Модель BGE: https://huggingface.co/BAAI/bge-small-en-v1.5</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ns0:t>
            </ns0:r>
          </ns0:p>
          <ns1:p xmlns:ns1="http://schemas.openxmlformats.org/drawingml/2006/main">
            <ns1:r>
              <ns1: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ns1:t>
            </ns1:r>
          </ns1:p>
          <ns2:p xmlns:ns2="http://schemas.openxmlformats.org/drawingml/2006/main">
            <ns2:r>
              <ns2: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ns2:t>
            </ns2:r>
          </ns2:p>
          <ns3:p xmlns:ns3="http://schemas.openxmlformats.org/drawingml/2006/main">
            <ns3:r>
              <ns3: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ns3:t>
            </ns3:r>
          </ns3:p>
          <ns4:p xmlns:ns4="http://schemas.openxmlformats.org/drawingml/2006/main">
            <ns4:r>
              <ns4:t>Источники</ns4:t>
            </ns4:r>
          </ns4:p>
          <ns5:p xmlns:ns5="http://schemas.openxmlformats.org/drawingml/2006/main">
            <ns5:r>
              <ns5:t>, G. , N. . Deep Re-annotation and Controlled Candidate Pools for Re-evaluating Ranking Models on MS MARCO. DAMDID 2026. Результаты экспериментов в контролируемых пулах.</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Cormack, Clarke, Büttcher. Reciprocal Rank Fusion outperforms Condorcet and individual Rank Learning Methods. SIGIR 2009. https://doi.org/10.1145/1571941.1572114</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На слайде приведены основные работы и ссылки на использованные методы и наборы данных.</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ns3:p xmlns:ns3="http://schemas.openxmlformats.org/drawingml/2006/main">
            <ns3:r>
              <ns3:t>MS MARCO: https://arxiv.org/abs/1611.09268</ns3:t>
            </ns3:r>
          </ns3:p>
          <ns4:p xmlns:ns4="http://schemas.openxmlformats.org/drawingml/2006/main">
            <ns4:r>
              <ns4:t>Natural Questions: https://aclanthology.org/Q19-1026/</ns4:t>
            </ns4:r>
          </ns4:p>
          <ns5:p xmlns:ns5="http://schemas.openxmlformats.org/drawingml/2006/main">
            <ns5:r>
              <ns5:t>BEIR: https://arxiv.org/abs/2104.08663</ns5:t>
            </ns5:r>
          </ns5:p>
          <ns6:p xmlns:ns6="http://schemas.openxmlformats.org/drawingml/2006/main">
            <ns6:r>
              <ns6:t>BM25: https://doi.org/10.1561/1500000019</ns6:t>
            </ns6:r>
          </ns6:p>
          <ns7:p xmlns:ns7="http://schemas.openxmlformats.org/drawingml/2006/main">
            <ns7:r>
              <ns7:t>E5: https://arxiv.org/abs/2212.03533</ns7:t>
            </ns7:r>
          </ns7:p>
          <ns8:p xmlns:ns8="http://schemas.openxmlformats.org/drawingml/2006/main">
            <ns8:r>
              <ns8:t>Модель E5: https://huggingface.co/intfloat/e5-small-v2</ns8:t>
            </ns8:r>
          </ns8:p>
          <ns9:p xmlns:ns9="http://schemas.openxmlformats.org/drawingml/2006/main">
            <ns9:r>
              <ns9:t>Модель BGE: https://huggingface.co/BAAI/bge-small-en-v1.5</ns9:t>
            </ns9:r>
          </ns9:p>
          <ns10:p xmlns:ns10="http://schemas.openxmlformats.org/drawingml/2006/main">
            <ns10:r>
              <ns10:t>Wang et al. MiniLM. 2020. https://arxiv.org/abs/2002.10957</ns10:t>
            </ns10:r>
          </ns10:p>
          <ns11:p xmlns:ns11="http://schemas.openxmlformats.org/drawingml/2006/main">
            <ns11:r>
              <ns11:t>Исходная модель: https://huggingface.co/cross-encoder/ms-marco-MiniLM-L6-v2</ns11:t>
            </ns11:r>
          </ns11:p>
          <ns12:p xmlns:ns12="http://schemas.openxmlformats.org/drawingml/2006/main">
            <ns12:r>
              <ns12:t>Cormack, Clarke, Büttcher. Reciprocal Rank Fusion outperforms Condorcet and individual Rank Learning Methods. SIGIR 2009. https://doi.org/10.1145/1571941.1572114</ns12:t>
            </ns12:r>
          </ns12:p>
          <ns13:p xmlns:ns13="http://schemas.openxmlformats.org/drawingml/2006/main">
            <ns13:r>
              <ns13:t>MS MARCO Passage Ranking v1. https://ir-datasets.com/msmarco-passage.html#msmarco-passage/dev</ns13:t>
            </ns13:r>
          </ns13:p>
          <ns14:p xmlns:ns14="http://schemas.openxmlformats.org/drawingml/2006/main">
            <ns14:r>
              <ns14:t>Архив запросов: https://msmarco.z22.web.core.windows.net/msmarcoranking/queries.tar.gz</ns14:t>
            </ns14:r>
          </ns1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
            </ns0:r>
          </ns0:p>
          <ns1:p xmlns:ns1="http://schemas.openxmlformats.org/drawingml/2006/main">
            <ns1:r>
              <ns1:t>Источники</ns1:t>
            </ns1:r>
          </ns1:p>
          <ns2:p xmlns:ns2="http://schemas.openxmlformats.org/drawingml/2006/main">
            <ns2:r>
              <ns2:t>, G. , N. . Deep Re-annotation and Controlled Candidate Pools for Re-evaluating Ranking Models on MS MARCO. DAMDID 2026. Результаты экспериментов в контролируемых пулах.</ns2:t>
            </ns2:r>
          </ns2: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ns0:t>
            </ns0:r>
          </ns0:p>
          <ns1:p xmlns:ns1="http://schemas.openxmlformats.org/drawingml/2006/main">
            <ns1:r>
              <ns1: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ns1:t>
            </ns1:r>
          </ns1:p>
          <ns2:p xmlns:ns2="http://schemas.openxmlformats.org/drawingml/2006/main">
            <ns2:r>
              <ns2: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ns2:t>
            </ns2:r>
          </ns2:p>
          <ns3:p xmlns:ns3="http://schemas.openxmlformats.org/drawingml/2006/main">
            <ns3:r>
              <ns3: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ns3:t>
            </ns3:r>
          </ns3:p>
          <ns4:p xmlns:ns4="http://schemas.openxmlformats.org/drawingml/2006/main">
            <ns4:r>
              <ns4: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ns4:t>
            </ns4:r>
          </ns4:p>
          <ns5:p xmlns:ns5="http://schemas.openxmlformats.org/drawingml/2006/main">
            <ns5:r>
              <ns5:t>Источники</ns5:t>
            </ns5:r>
          </ns5:p>
          <ns6:p xmlns:ns6="http://schemas.openxmlformats.org/drawingml/2006/main">
            <ns6:r>
              <ns6:t>, G. , N. . Deep Re-annotation and Controlled Candidate Pools for Re-evaluating Ranking Models on MS MARCO. DAMDID 2026. Результаты экспериментов в контролируемых пулах.</ns6:t>
            </ns6:r>
          </ns6:p>
          <ns7:p xmlns:ns7="http://schemas.openxmlformats.org/drawingml/2006/main">
            <ns7:r>
              <ns7:t>MS MARCO Passage Ranking v1. https://ir-datasets.com/msmarco-passage.html#msmarco-passage/dev</ns7:t>
            </ns7:r>
          </ns7:p>
          <ns8:p xmlns:ns8="http://schemas.openxmlformats.org/drawingml/2006/main">
            <ns8:r>
              <ns8:t>Архив запросов: https://msmarco.z22.web.core.windows.net/msmarcoranking/queries.tar.gz</ns8:t>
            </ns8:r>
          </ns8:p>
          <ns9:p xmlns:ns9="http://schemas.openxmlformats.org/drawingml/2006/main">
            <ns9:r>
              <ns9:t>MS MARCO Passage Ranking dev/small. https://ir-datasets.com/msmarco-passage.html#msmarco-passage/dev/small</ns9:t>
            </ns9:r>
          </ns9: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463e2930fc5f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d4ad75555dc485f"/><Relationship Type="http://schemas.openxmlformats.org/officeDocument/2006/relationships/slideLayout" Target="/ppt/slideLayouts/slideLayout1.xml" Id="R41f7dd0fdee0486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1f7dd0fdee0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b548e157f662428a"/><Relationship Type="http://schemas.openxmlformats.org/officeDocument/2006/relationships/image" Target="/ppt/media/image.png" Id="Ra852c025e70249f2"/><Relationship Type="http://schemas.openxmlformats.org/officeDocument/2006/relationships/notesSlide" Target="/ppt/notesSlides/notesSlide1.xml" Id="Red0ae3427c50426b"/></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3f769b28e5a4bd9"/><Relationship Type="http://schemas.openxmlformats.org/officeDocument/2006/relationships/notesSlide" Target="/ppt/notesSlides/notesSlide2.xml" Id="Ra832184fd26040f0"/></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f505a19461de44d2"/><Relationship Type="http://schemas.openxmlformats.org/officeDocument/2006/relationships/notesSlide" Target="/ppt/notesSlides/notesSlide3.xml" Id="R00dfdd5f49c242e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c6d588fde0245f3"/><Relationship Type="http://schemas.openxmlformats.org/officeDocument/2006/relationships/notesSlide" Target="/ppt/notesSlides/notesSlide4.xml" Id="Rd2cbfb2f1fcf4434"/></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b6750007ad445d4"/><Relationship Type="http://schemas.openxmlformats.org/officeDocument/2006/relationships/notesSlide" Target="/ppt/notesSlides/notesSlide5.xml" Id="Rbc507630edaa480b"/></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16213cbf28104090"/><Relationship Type="http://schemas.openxmlformats.org/officeDocument/2006/relationships/notesSlide" Target="/ppt/notesSlides/notesSlide6.xml" Id="R4af18cabceb746a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f8f63cd15ea4a22"/><Relationship Type="http://schemas.openxmlformats.org/officeDocument/2006/relationships/notesSlide" Target="/ppt/notesSlides/notesSlide7.xml" Id="R2ef5dfc6b5384ce2"/></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44846080617f43ea"/><Relationship Type="http://schemas.openxmlformats.org/officeDocument/2006/relationships/chart" Target="/ppt/slides/charts/chart1.xml" Id="Re4ce4ac20cf84723"/><Relationship Type="http://schemas.openxmlformats.org/officeDocument/2006/relationships/notesSlide" Target="/ppt/notesSlides/notesSlide8.xml" Id="Rb70a6f8144194d9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14b973c171684a26"/><Relationship Type="http://schemas.openxmlformats.org/officeDocument/2006/relationships/notesSlide" Target="/ppt/notesSlides/notesSlide9.xml" Id="R3f4a2fade3f54d3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e674efa043ae4164"/><Relationship Type="http://schemas.openxmlformats.org/officeDocument/2006/relationships/chart" Target="/ppt/slides/charts/chart2.xml" Id="R844053ccd91f412b"/><Relationship Type="http://schemas.openxmlformats.org/officeDocument/2006/relationships/notesSlide" Target="/ppt/notesSlides/notesSlide10.xml" Id="R0b3fc6edc3c74e0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367bb4e5d0cb4cfc"/><Relationship Type="http://schemas.openxmlformats.org/officeDocument/2006/relationships/chart" Target="/ppt/slides/charts/chart3.xml" Id="Rebd804f6f84f40aa"/><Relationship Type="http://schemas.openxmlformats.org/officeDocument/2006/relationships/notesSlide" Target="/ppt/notesSlides/notesSlide11.xml" Id="Re62babd54316425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9ccf9fab8b384d6f"/><Relationship Type="http://schemas.openxmlformats.org/officeDocument/2006/relationships/chart" Target="/ppt/slides/charts/chart4.xml" Id="Rfdf911735eaa494b"/><Relationship Type="http://schemas.openxmlformats.org/officeDocument/2006/relationships/notesSlide" Target="/ppt/notesSlides/notesSlide12.xml" Id="R57ca027101d9469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1376f16a04934593"/><Relationship Type="http://schemas.openxmlformats.org/officeDocument/2006/relationships/chart" Target="/ppt/slides/charts/chart5.xml" Id="R3400bf8777044912"/><Relationship Type="http://schemas.openxmlformats.org/officeDocument/2006/relationships/notesSlide" Target="/ppt/notesSlides/notesSlide13.xml" Id="Raca6ed0377fb4ac2"/></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1eb85499884ed1"/><Relationship Type="http://schemas.openxmlformats.org/officeDocument/2006/relationships/notesSlide" Target="/ppt/notesSlides/notesSlide14.xml" Id="R3ed2cc7631b9446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2e06103532fa42cb"/><Relationship Type="http://schemas.openxmlformats.org/officeDocument/2006/relationships/notesSlide" Target="/ppt/notesSlides/notesSlide15.xml" Id="Rcd84cd3388564cce"/></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85ea1467191e4951"/><Relationship Type="http://schemas.openxmlformats.org/officeDocument/2006/relationships/notesSlide" Target="/ppt/notesSlides/notesSlide16.xml" Id="R94b35b408add4271"/></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a855f0ecb5a4a78"/><Relationship Type="http://schemas.openxmlformats.org/officeDocument/2006/relationships/notesSlide" Target="/ppt/notesSlides/notesSlide17.xml" Id="R4167904842d94ad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bc02ce268df44ee9"/><Relationship Type="http://schemas.openxmlformats.org/officeDocument/2006/relationships/notesSlide" Target="/ppt/notesSlides/notesSlide18.xml" Id="R7f54f7dba40d432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ad34b33f8777430e"/><Relationship Type="http://schemas.openxmlformats.org/officeDocument/2006/relationships/notesSlide" Target="/ppt/notesSlides/notesSlide19.xml" Id="Rcc603e9bbeae4126"/></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624cdc1c6fda4f61"/><Relationship Type="http://schemas.openxmlformats.org/officeDocument/2006/relationships/notesSlide" Target="/ppt/notesSlides/notesSlide20.xml" Id="Red8f7c4a599f446d"/></Relationships>
</file>

<file path=ppt/slides/_rels/slide21.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1.xml"/></Relationships>
</file>

<file path=ppt/slides/_rels/slide22.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2.xml"/></Relationships>
</file>

<file path=ppt/slides/_rels/slide23.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3.xml"/></Relationships>
</file>

<file path=ppt/slides/_rels/slide24.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4.xml"/><Relationship Id="rLink4" Type="http://schemas.openxmlformats.org/officeDocument/2006/relationships/hyperlink" Target="https://arxiv.org/abs/1611.09268" TargetMode="External"/><Relationship Id="rLink7" Type="http://schemas.openxmlformats.org/officeDocument/2006/relationships/hyperlink" Target="https://aclanthology.org/Q19-1026" TargetMode="External"/><Relationship Id="rLink10" Type="http://schemas.openxmlformats.org/officeDocument/2006/relationships/hyperlink" Target="https://arxiv.org/abs/2104.08663" TargetMode="External"/><Relationship Id="rLink13" Type="http://schemas.openxmlformats.org/officeDocument/2006/relationships/hyperlink" Target="https://doi.org/10.1561/1500000019" TargetMode="External"/><Relationship Id="rLink16" Type="http://schemas.openxmlformats.org/officeDocument/2006/relationships/hyperlink" Target="https://arxiv.org/abs/2212.03533" TargetMode="External"/><Relationship Id="rLink19" Type="http://schemas.openxmlformats.org/officeDocument/2006/relationships/hyperlink" Target="https://huggingface.co/BAAI/bge-small-en-v1.5" TargetMode="External"/><Relationship Id="rLink22" Type="http://schemas.openxmlformats.org/officeDocument/2006/relationships/hyperlink" Target="https://arxiv.org/abs/2002.10957" TargetMode="External"/><Relationship Id="rLink25" Type="http://schemas.openxmlformats.org/officeDocument/2006/relationships/hyperlink" Target="https://doi.org/10.1145/1571941.1572114" TargetMode="External"/></Relationships>
</file>

<file path=ppt/slides/_rels/slide25.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5.xml"/></Relationships>
</file>

<file path=ppt/slides/_rels/slide26.xml.rels><?xml version='1.0' encoding='UTF-8' standalone='yes'?>
<Relationships xmlns="http://schemas.openxmlformats.org/package/2006/relationships"><Relationship Id="rLayout" Type="http://schemas.openxmlformats.org/officeDocument/2006/relationships/slideLayout" Target="/ppt/slideLayouts/slideLayout1.xml"/><Relationship Id="rNotes" Type="http://schemas.openxmlformats.org/officeDocument/2006/relationships/notesSlide" Target="/ppt/notesSlides/notesSlide2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C95236"/>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F78"/>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4E1E0"/>
            </a:solidFill>
            <a:ln xmlns:a="http://schemas.openxmlformats.org/drawingml/2006/mai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F78"/>
            </a:solidFill>
            <a:ln xmlns:a="http://schemas.openxmlformats.org/drawingml/2006/main" w="33338">
              <a:solidFill>
                <a:srgbClr val="007F78"/>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95236"/>
            </a:solidFill>
            <a:ln xmlns:a="http://schemas.openxmlformats.org/drawingml/2006/main" w="0">
              <a:noFill/>
            </a:ln>
          </c:spPr>
          <c:marker>
            <c:symbol val="circle"/>
            <c:size val="11"/>
            <c:spPr>
              <a:solidFill xmlns:a="http://schemas.openxmlformats.org/drawingml/2006/main">
                <a:srgbClr val="C95236"/>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0858A"/>
            </a:solidFill>
            <a:ln xmlns:a="http://schemas.openxmlformats.org/drawingml/2006/main" w="28575">
              <a:solidFill>
                <a:srgbClr val="70858A"/>
              </a:solidFill>
            </a:ln>
          </c:spPr>
          <c:marker>
            <c:symbol val="circle"/>
            <c:size val="8"/>
            <c:spPr>
              <a:solidFill xmlns:a="http://schemas.openxmlformats.org/drawingml/2006/main">
                <a:srgbClr val="70858A"/>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95236"/>
            </a:solidFill>
            <a:ln xmlns:a="http://schemas.openxmlformats.org/drawingml/2006/main" w="24765">
              <a:solidFill>
                <a:srgbClr val="C95236"/>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95236"/>
            </a:solidFill>
            <a:ln xmlns:a="http://schemas.openxmlformats.org/drawingml/2006/main" w="24765">
              <a:solidFill>
                <a:srgbClr val="C95236"/>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95236"/>
            </a:solidFill>
            <a:ln xmlns:a="http://schemas.openxmlformats.org/drawingml/2006/main" w="24765">
              <a:solidFill>
                <a:srgbClr val="C95236"/>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95236"/>
            </a:solidFill>
            <a:ln xmlns:a="http://schemas.openxmlformats.org/drawingml/2006/main" w="24765">
              <a:solidFill>
                <a:srgbClr val="C95236"/>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95236"/>
            </a:solidFill>
            <a:ln xmlns:a="http://schemas.openxmlformats.org/drawingml/2006/main" w="17145">
              <a:solidFill>
                <a:srgbClr val="C95236"/>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95236"/>
            </a:solidFill>
            <a:ln xmlns:a="http://schemas.openxmlformats.org/drawingml/2006/main" w="17145">
              <a:solidFill>
                <a:srgbClr val="C95236"/>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95236"/>
            </a:solidFill>
            <a:ln xmlns:a="http://schemas.openxmlformats.org/drawingml/2006/main" w="17145">
              <a:solidFill>
                <a:srgbClr val="C95236"/>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95236"/>
            </a:solidFill>
            <a:ln xmlns:a="http://schemas.openxmlformats.org/drawingml/2006/main" w="17145">
              <a:solidFill>
                <a:srgbClr val="C95236"/>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26970"/>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26970"/>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26970"/>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95236"/>
            </a:solidFill>
            <a:ln xmlns:a="http://schemas.openxmlformats.org/drawingml/2006/main" w="0">
              <a:noFill/>
            </a:ln>
          </c:spPr>
          <c:marker>
            <c:symbol val="circle"/>
            <c:size val="4"/>
            <c:spPr>
              <a:solidFill xmlns:a="http://schemas.openxmlformats.org/drawingml/2006/main">
                <a:srgbClr val="C95236"/>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95236"/>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NDCG@10</a:t>
                </a:r>
                <a:r>
                  <a:rPr sz="1260" b="0" baseline="-25000">
                    <a:solidFill>
                      <a:srgbClr val="526970"/>
                    </a:solidFill>
                    <a:latin typeface="Arial"/>
                    <a:ea typeface="Arial"/>
                    <a:cs typeface="Arial"/>
                  </a:rPr>
                  <a:t>RRF</a:t>
                </a:r>
                <a:r>
                  <a:rPr sz="1800" b="0">
                    <a:solidFill>
                      <a:srgbClr val="526970"/>
                    </a:solidFill>
                    <a:latin typeface="Arial"/>
                    <a:ea typeface="Arial"/>
                    <a:cs typeface="Arial"/>
                  </a:rPr>
                  <a:t> − NDCG@10</a:t>
                </a:r>
                <a:r>
                  <a:rPr sz="1260" b="0" baseline="-25000">
                    <a:solidFill>
                      <a:srgbClr val="526970"/>
                    </a:solidFill>
                    <a:latin typeface="Arial"/>
                    <a:ea typeface="Arial"/>
                    <a:cs typeface="Arial"/>
                  </a:rPr>
                  <a:t>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0858A"/>
            </a:solidFill>
            <a:ln xmlns:a="http://schemas.openxmlformats.org/drawingml/2006/mai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F78"/>
            </a:solidFill>
            <a:ln xmlns:a="http://schemas.openxmlformats.org/drawingml/2006/main" w="28575">
              <a:solidFill>
                <a:srgbClr val="007F78"/>
              </a:solidFill>
            </a:ln>
          </c:spPr>
          <c:marker>
            <c:symbol val="circle"/>
            <c:size val="3"/>
            <c:spPr>
              <a:solidFill xmlns:a="http://schemas.openxmlformats.org/drawingml/2006/main">
                <a:srgbClr val="007F78"/>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F78"/>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C7C3492E-22AD-4920-9426-661B04211C7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852c025e70249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662EF985-391F-4637-9390-D87891E31A43}"/>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xmlns:a="http://schemas.openxmlformats.org/drawingml/2006/main">
              <a:ext uri="{FF2B5EF4-FFF2-40B4-BE49-F238E27FC236}">
                <a16:creationId xmlns:a16="http://schemas.microsoft.com/office/drawing/2014/main" id="{3D019271-32C9-4AF9-8EF4-51B4064403FA}"/>
              </a:ext>
            </a:extLst>
          </p:cNvPr>
          <p:cNvSpPr>
            <a:spLocks xmlns:a="http://schemas.openxmlformats.org/drawingml/2006/main" noGrp="1"/>
          </p:cNvSpPr>
          <p:nvPr/>
        </p:nvSpPr>
        <p:spPr>
          <a:xfrm xmlns:a="http://schemas.openxmlformats.org/drawingml/2006/main">
            <a:off x="609600" y="1247775"/>
            <a:ext cx="8096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xmlns:a="http://schemas.openxmlformats.org/drawingml/2006/main">
              <a:ext uri="{FF2B5EF4-FFF2-40B4-BE49-F238E27FC236}">
                <a16:creationId xmlns:a16="http://schemas.microsoft.com/office/drawing/2014/main" id="{675C4EB1-99BD-4526-A2E3-B972B3697B9A}"/>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xmlns:a="http://schemas.openxmlformats.org/drawingml/2006/main">
              <a:ext uri="{FF2B5EF4-FFF2-40B4-BE49-F238E27FC236}">
                <a16:creationId xmlns:a16="http://schemas.microsoft.com/office/drawing/2014/main" id="{7575EC79-5D15-4F4D-9594-619B04EC5CEE}"/>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B723C650-29AC-460C-924A-EEFBBDA61F9D}"/>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Наборы данных для оценки поиска">
            <a:extLst xmlns:a="http://schemas.openxmlformats.org/drawingml/2006/main">
              <a:ext uri="{FF2B5EF4-FFF2-40B4-BE49-F238E27FC236}">
                <a16:creationId xmlns:a16="http://schemas.microsoft.com/office/drawing/2014/main" id="{2F891781-5CE2-402D-B581-022173137B10}"/>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xmlns:a="http://schemas.openxmlformats.org/drawingml/2006/main">
              <a:ext uri="{FF2B5EF4-FFF2-40B4-BE49-F238E27FC236}">
                <a16:creationId xmlns:a16="http://schemas.microsoft.com/office/drawing/2014/main" id="{F71D1E0E-97BF-4C4F-9DE0-2D5D488903B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
          <p:cNvGraphicFramePr/>
          <p:nvPr/>
        </p:nvGraphicFramePr>
        <p:xfrm>
          <a:off xmlns:a="http://schemas.openxmlformats.org/drawingml/2006/main" x="609600" y="1790700"/>
          <a:ext xmlns:a="http://schemas.openxmlformats.org/drawingml/2006/main" cx="10972800" cy="2657475"/>
        </p:xfrm>
        <a:graphic xmlns:a="http://schemas.openxmlformats.org/drawingml/2006/main">
          <a:graphicData uri="http://schemas.openxmlformats.org/drawingml/2006/table">
            <a:tbl>
              <a:tblPr firstRow="0" bandRow="0" bandCol="0"/>
              <a:tblGrid>
                <a:gridCol w="3476625"/>
                <a:gridCol w="7496175"/>
              </a:tblGrid>
              <a:tr h="523875">
                <a:tc>
                  <a:txBody>
                    <a:bodyPr lIns="171450" tIns="95250" rIns="171450" bIns="95250">
                      <a:noAutofit/>
                    </a:bodyPr>
                    <a:lstStyle/>
                    <a:p>
                      <a:r>
                        <a:rPr sz="1950" b="1">
                          <a:solidFill>
                            <a:srgbClr val="526970"/>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Источник и задача</a:t>
                      </a:r>
                    </a:p>
                  </a:txBody>
                  <a:tcPr marL="91440" marR="91440" marT="45720" marB="45720" anchor="ctr">
                    <a:lnL w="0">
                      <a:noFill/>
                    </a:lnL>
                    <a:lnR w="0">
                      <a:noFill/>
                    </a:lnR>
                    <a:lnT w="0">
                      <a:noFill/>
                    </a:lnT>
                    <a:lnB w="7620">
                      <a:solidFill>
                        <a:srgbClr val="D4E1E0"/>
                      </a:solidFill>
                    </a:lnB>
                    <a:solidFill>
                      <a:srgbClr val="EFF5F4"/>
                    </a:solidFill>
                  </a:tcPr>
                </a:tc>
              </a:tr>
              <a:tr h="685800">
                <a:tc>
                  <a:txBody>
                    <a:bodyPr lIns="171450" tIns="95250" rIns="171450" bIns="95250">
                      <a:noAutofit/>
                    </a:bodyPr>
                    <a:lstStyle/>
                    <a:p>
                      <a:r>
                        <a:rPr sz="2100" b="0">
                          <a:solidFill>
                            <a:srgbClr val="182B30"/>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Запросы Google, ответы в Wikipedia</a:t>
                      </a:r>
                    </a:p>
                  </a:txBody>
                  <a:tcPr marL="91440" marR="91440" marT="45720" marB="45720" anchor="ctr">
                    <a:lnL w="0">
                      <a:noFill/>
                    </a:lnL>
                    <a:lnR w="0">
                      <a:noFill/>
                    </a:lnR>
                    <a:lnT w="0">
                      <a:noFill/>
                    </a:lnT>
                    <a:lnB w="7620">
                      <a:solidFill>
                        <a:srgbClr val="D4E1E0"/>
                      </a:solidFill>
                    </a:lnB>
                    <a:solidFill>
                      <a:srgbClr val="FFFFFF"/>
                    </a:solidFill>
                  </a:tcPr>
                </a:tc>
              </a:tr>
              <a:tr h="685800">
                <a:tc>
                  <a:txBody>
                    <a:bodyPr lIns="171450" tIns="95250" rIns="171450" bIns="95250">
                      <a:noAutofit/>
                    </a:bodyPr>
                    <a:lstStyle/>
                    <a:p>
                      <a:r>
                        <a:rPr sz="2100" b="0">
                          <a:solidFill>
                            <a:srgbClr val="182B30"/>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00" b="0">
                          <a:solidFill>
                            <a:srgbClr val="182B30"/>
                          </a:solidFill>
                          <a:latin typeface="Arial"/>
                          <a:ea typeface="Arial"/>
                          <a:cs typeface="Arial"/>
                        </a:rPr>
                        <a:t>Разные задачи и домены поиска</a:t>
                      </a:r>
                    </a:p>
                  </a:txBody>
                  <a:tcPr marL="91440" marR="91440" marT="45720" marB="45720" anchor="ctr">
                    <a:lnL w="0">
                      <a:noFill/>
                    </a:lnL>
                    <a:lnR w="0">
                      <a:noFill/>
                    </a:lnR>
                    <a:lnT w="0">
                      <a:noFill/>
                    </a:lnT>
                    <a:lnB w="7620">
                      <a:solidFill>
                        <a:srgbClr val="D4E1E0"/>
                      </a:solidFill>
                    </a:lnB>
                    <a:solidFill>
                      <a:srgbClr val="FFFFFF"/>
                    </a:solidFill>
                  </a:tcPr>
                </a:tc>
              </a:tr>
              <a:tr h="762000">
                <a:tc>
                  <a:txBody>
                    <a:bodyPr lIns="171450" tIns="95250" rIns="171450" bIns="95250">
                      <a:noAutofit/>
                    </a:bodyPr>
                    <a:lstStyle/>
                    <a:p>
                      <a:r>
                        <a:rPr sz="2100" b="1">
                          <a:solidFill>
                            <a:srgbClr val="007F78"/>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100" b="1">
                          <a:solidFill>
                            <a:srgbClr val="007F78"/>
                          </a:solidFill>
                          <a:latin typeface="Arial"/>
                          <a:ea typeface="Arial"/>
                          <a:cs typeface="Arial"/>
                        </a:rPr>
                        <a:t>Запросы Bing, поиск по веб-фрагментам</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4" name="Почему MS MARCO">
            <a:extLst xmlns:a="http://schemas.openxmlformats.org/drawingml/2006/main">
              <a:ext uri="{FF2B5EF4-FFF2-40B4-BE49-F238E27FC236}">
                <a16:creationId xmlns:a16="http://schemas.microsoft.com/office/drawing/2014/main" id="{11577D97-8375-4866-8E73-2C5B2185B64D}"/>
              </a:ext>
            </a:extLst>
          </p:cNvPr>
          <p:cNvSpPr>
            <a:spLocks xmlns:a="http://schemas.openxmlformats.org/drawingml/2006/main" noGrp="1"/>
          </p:cNvSpPr>
          <p:nvPr/>
        </p:nvSpPr>
        <p:spPr>
          <a:xfrm xmlns:a="http://schemas.openxmlformats.org/drawingml/2006/main">
            <a:off x="609600" y="48672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xmlns:a="http://schemas.openxmlformats.org/drawingml/2006/main">
              <a:ext uri="{FF2B5EF4-FFF2-40B4-BE49-F238E27FC236}">
                <a16:creationId xmlns:a16="http://schemas.microsoft.com/office/drawing/2014/main" id="{0C879FB9-9E24-461A-B2A7-2CF3B2C2FAAA}"/>
              </a:ext>
            </a:extLst>
          </p:cNvPr>
          <p:cNvSpPr>
            <a:spLocks xmlns:a="http://schemas.openxmlformats.org/drawingml/2006/main" noGrp="1"/>
          </p:cNvSpPr>
          <p:nvPr/>
        </p:nvSpPr>
        <p:spPr>
          <a:xfrm xmlns:a="http://schemas.openxmlformats.org/drawingml/2006/main">
            <a:off x="609600" y="54197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xmlns:a="http://schemas.openxmlformats.org/drawingml/2006/main">
              <a:ext uri="{FF2B5EF4-FFF2-40B4-BE49-F238E27FC236}">
                <a16:creationId xmlns:a16="http://schemas.microsoft.com/office/drawing/2014/main" id="{D5E59AFC-D6DF-4887-8DEB-CA19C471F9A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результаты ведущих систем">
            <a:extLst xmlns:a="http://schemas.openxmlformats.org/drawingml/2006/main">
              <a:ext uri="{FF2B5EF4-FFF2-40B4-BE49-F238E27FC236}">
                <a16:creationId xmlns:a16="http://schemas.microsoft.com/office/drawing/2014/main" id="{3E439587-929A-43B0-A800-C37A233BB77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xmlns:a="http://schemas.openxmlformats.org/drawingml/2006/main">
              <a:ext uri="{FF2B5EF4-FFF2-40B4-BE49-F238E27FC236}">
                <a16:creationId xmlns:a16="http://schemas.microsoft.com/office/drawing/2014/main" id="{2D522899-17C5-4EDB-8AF6-8CC754F73FB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xmlns:a="http://schemas.openxmlformats.org/drawingml/2006/main">
              <a:ext uri="{FF2B5EF4-FFF2-40B4-BE49-F238E27FC236}">
                <a16:creationId xmlns:a16="http://schemas.microsoft.com/office/drawing/2014/main" id="{5E183FEF-C4D0-4B49-9D47-7E2B26800B2C}"/>
              </a:ext>
            </a:extLst>
          </p:cNvPr>
          <p:cNvSpPr>
            <a:spLocks xmlns:a="http://schemas.openxmlformats.org/drawingml/2006/main" noGrp="1"/>
          </p:cNvSpPr>
          <p:nvPr/>
        </p:nvSpPr>
        <p:spPr>
          <a:xfrm xmlns:a="http://schemas.openxmlformats.org/drawingml/2006/main">
            <a:off x="609600" y="16002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
          <p:cNvGraphicFramePr/>
          <p:nvPr/>
        </p:nvGraphicFramePr>
        <p:xfrm>
          <a:off xmlns:a="http://schemas.openxmlformats.org/drawingml/2006/main" x="609600" y="2219325"/>
          <a:ext xmlns:a="http://schemas.openxmlformats.org/drawingml/2006/main" cx="7762875" cy="2800350"/>
        </p:xfrm>
        <a:graphic xmlns:a="http://schemas.openxmlformats.org/drawingml/2006/main">
          <a:graphicData uri="http://schemas.openxmlformats.org/drawingml/2006/table">
            <a:tbl>
              <a:tblPr firstRow="0" bandRow="0" bandCol="0"/>
              <a:tblGrid>
                <a:gridCol w="5810250"/>
                <a:gridCol w="1952625"/>
              </a:tblGrid>
              <a:tr h="514350">
                <a:tc>
                  <a:txBody>
                    <a:bodyPr lIns="171450" tIns="95250" rIns="171450" bIns="95250">
                      <a:noAutofit/>
                    </a:bodyPr>
                    <a:lstStyle/>
                    <a:p>
                      <a:r>
                        <a:rPr sz="1950"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950" b="1">
                          <a:solidFill>
                            <a:srgbClr val="526970"/>
                          </a:solidFill>
                          <a:latin typeface="Arial"/>
                          <a:ea typeface="Arial"/>
                          <a:cs typeface="Arial"/>
                        </a:rPr>
                        <a:t>MRR@10</a:t>
                      </a:r>
                    </a:p>
                  </a:txBody>
                  <a:tcPr marL="91440" marR="91440" marT="45720" marB="45720" anchor="ctr">
                    <a:lnL w="0">
                      <a:noFill/>
                    </a:lnL>
                    <a:lnR w="0">
                      <a:noFill/>
                    </a:lnR>
                    <a:lnT w="0">
                      <a:noFill/>
                    </a:lnT>
                    <a:lnB w="7620">
                      <a:solidFill>
                        <a:srgbClr val="D4E1E0"/>
                      </a:solidFill>
                    </a:lnB>
                    <a:solidFill>
                      <a:srgbClr val="EFF5F4"/>
                    </a:solidFill>
                  </a:tcPr>
                </a:tc>
              </a:tr>
              <a:tr h="571500">
                <a:tc>
                  <a:txBody>
                    <a:bodyPr lIns="171450" tIns="95250" rIns="171450" bIns="95250">
                      <a:noAutofit/>
                    </a:bodyPr>
                    <a:lstStyle/>
                    <a:p>
                      <a:r>
                        <a:rPr sz="2100" b="0">
                          <a:solidFill>
                            <a:srgbClr val="182B30"/>
                          </a:solidFill>
                          <a:latin typeface="Arial"/>
                          <a:ea typeface="Arial"/>
                          <a:cs typeface="Arial"/>
                        </a:rPr>
                        <a:t>AliceMind SLM + HLAR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0,450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Listwise + Fusion</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0,440</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CoT-MAE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0,438</a:t>
                      </a:r>
                    </a:p>
                  </a:txBody>
                  <a:tcPr marL="91440" marR="91440" marT="45720" marB="45720" anchor="ctr">
                    <a:lnL w="0">
                      <a:noFill/>
                    </a:lnL>
                    <a:lnR w="0">
                      <a:noFill/>
                    </a:lnR>
                    <a:lnT w="0">
                      <a:noFill/>
                    </a:lnT>
                    <a:lnB w="7620">
                      <a:solidFill>
                        <a:srgbClr val="D4E1E0"/>
                      </a:solidFill>
                    </a:lnB>
                    <a:solidFill>
                      <a:srgbClr val="FFFFFF"/>
                    </a:solidFill>
                  </a:tcPr>
                </a:tc>
              </a:tr>
              <a:tr h="571500">
                <a:tc>
                  <a:txBody>
                    <a:bodyPr lIns="171450" tIns="95250" rIns="171450" bIns="95250">
                      <a:noAutofit/>
                    </a:bodyPr>
                    <a:lstStyle/>
                    <a:p>
                      <a:r>
                        <a:rPr sz="2100" b="0">
                          <a:solidFill>
                            <a:srgbClr val="182B30"/>
                          </a:solidFill>
                          <a:latin typeface="Arial"/>
                          <a:ea typeface="Arial"/>
                          <a:cs typeface="Arial"/>
                        </a:rPr>
                        <a:t>Lichee + DeBERTa + reranking</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2100" b="0">
                          <a:solidFill>
                            <a:srgbClr val="182B30"/>
                          </a:solidFill>
                          <a:latin typeface="Arial"/>
                          <a:ea typeface="Arial"/>
                          <a:cs typeface="Arial"/>
                        </a:rPr>
                        <a:t>0,436</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0,014">
            <a:extLst xmlns:a="http://schemas.openxmlformats.org/drawingml/2006/main">
              <a:ext uri="{FF2B5EF4-FFF2-40B4-BE49-F238E27FC236}">
                <a16:creationId xmlns:a16="http://schemas.microsoft.com/office/drawing/2014/main" id="{16BBCA8E-49CC-4B48-9AC3-22D2A94136BF}"/>
              </a:ext>
            </a:extLst>
          </p:cNvPr>
          <p:cNvSpPr>
            <a:spLocks xmlns:a="http://schemas.openxmlformats.org/drawingml/2006/main" noGrp="1"/>
          </p:cNvSpPr>
          <p:nvPr/>
        </p:nvSpPr>
        <p:spPr>
          <a:xfrm xmlns:a="http://schemas.openxmlformats.org/drawingml/2006/main">
            <a:off x="8858250" y="2476500"/>
            <a:ext cx="2714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xmlns:a="http://schemas.openxmlformats.org/drawingml/2006/main">
              <a:ext uri="{FF2B5EF4-FFF2-40B4-BE49-F238E27FC236}">
                <a16:creationId xmlns:a16="http://schemas.microsoft.com/office/drawing/2014/main" id="{81A875BD-9CD0-4DD7-B28C-5BA27F5D0ACC}"/>
              </a:ext>
            </a:extLst>
          </p:cNvPr>
          <p:cNvSpPr>
            <a:spLocks xmlns:a="http://schemas.openxmlformats.org/drawingml/2006/main" noGrp="1"/>
          </p:cNvSpPr>
          <p:nvPr/>
        </p:nvSpPr>
        <p:spPr>
          <a:xfrm xmlns:a="http://schemas.openxmlformats.org/drawingml/2006/main">
            <a:off x="8858250" y="3390900"/>
            <a:ext cx="2714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xmlns:a="http://schemas.openxmlformats.org/drawingml/2006/main">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xmlns:a="http://schemas.openxmlformats.org/drawingml/2006/main">
              <a:ext uri="{FF2B5EF4-FFF2-40B4-BE49-F238E27FC236}">
                <a16:creationId xmlns:a16="http://schemas.microsoft.com/office/drawing/2014/main" id="{60D1B159-625C-4AD4-86D0-3B3E3554BF40}"/>
              </a:ext>
            </a:extLst>
          </p:cNvPr>
          <p:cNvSpPr>
            <a:spLocks xmlns:a="http://schemas.openxmlformats.org/drawingml/2006/main" noGrp="1"/>
          </p:cNvSpPr>
          <p:nvPr/>
        </p:nvSpPr>
        <p:spPr>
          <a:xfrm xmlns:a="http://schemas.openxmlformats.org/drawingml/2006/main">
            <a:off x="609600" y="528637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xmlns:a="http://schemas.openxmlformats.org/drawingml/2006/main">
              <a:ext uri="{FF2B5EF4-FFF2-40B4-BE49-F238E27FC236}">
                <a16:creationId xmlns:a16="http://schemas.microsoft.com/office/drawing/2014/main" id="{03E99439-7468-4708-941D-E7EBD0800A2F}"/>
              </a:ext>
            </a:extLst>
          </p:cNvPr>
          <p:cNvSpPr>
            <a:spLocks xmlns:a="http://schemas.openxmlformats.org/drawingml/2006/main" noGrp="1"/>
          </p:cNvSpPr>
          <p:nvPr/>
        </p:nvSpPr>
        <p:spPr>
          <a:xfrm xmlns:a="http://schemas.openxmlformats.org/drawingml/2006/main">
            <a:off x="609600" y="5800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xmlns:a="http://schemas.openxmlformats.org/drawingml/2006/main">
              <a:ext uri="{FF2B5EF4-FFF2-40B4-BE49-F238E27FC236}">
                <a16:creationId xmlns:a16="http://schemas.microsoft.com/office/drawing/2014/main" id="{C56C3BAF-1E96-4ED7-9B13-1B805B164267}"/>
              </a:ext>
            </a:extLst>
          </p:cNvPr>
          <p:cNvSpPr>
            <a:spLocks xmlns:a="http://schemas.openxmlformats.org/drawingml/2006/main" noGrp="1"/>
          </p:cNvSpPr>
          <p:nvPr/>
        </p:nvSpPr>
        <p:spPr>
          <a:xfrm xmlns:a="http://schemas.openxmlformats.org/drawingml/2006/main">
            <a:off x="609600" y="6267450"/>
            <a:ext cx="10001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Релевантный ответ без оценки">
            <a:extLst xmlns:a="http://schemas.openxmlformats.org/drawingml/2006/main">
              <a:ext uri="{FF2B5EF4-FFF2-40B4-BE49-F238E27FC236}">
                <a16:creationId xmlns:a16="http://schemas.microsoft.com/office/drawing/2014/main" id="{334DD0EA-0A05-4641-AA05-35F3A325D91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xmlns:a="http://schemas.openxmlformats.org/drawingml/2006/main">
              <a:ext uri="{FF2B5EF4-FFF2-40B4-BE49-F238E27FC236}">
                <a16:creationId xmlns:a16="http://schemas.microsoft.com/office/drawing/2014/main" id="{88277A78-B55B-40D3-BB92-46D7F0436CF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94134873-7E97-45CA-BA35-450C12C190E2}"/>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26970"/>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F78"/>
                          </a:solidFill>
                          <a:latin typeface="Arial"/>
                          <a:ea typeface="Arial"/>
                          <a:cs typeface="Arial"/>
                        </a:rPr>
                        <a:t>7399382   Нелетучее растворённое вещество</a:t>
                      </a:r>
                    </a:p>
                    <a:p>
                      <a:r>
                        <a:rPr sz="1800" b="1">
                          <a:solidFill>
                            <a:srgbClr val="007F78"/>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F78"/>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82B30"/>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qrels: оценки релевантности. Нет оценки: нулевой">
            <a:extLst xmlns:a="http://schemas.openxmlformats.org/drawingml/2006/main">
              <a:ext uri="{FF2B5EF4-FFF2-40B4-BE49-F238E27FC236}">
                <a16:creationId xmlns:a16="http://schemas.microsoft.com/office/drawing/2014/main" id="{1D3E2C44-7336-4B9D-BD9F-DCB71CA25FA6}"/>
              </a:ext>
            </a:extLst>
          </p:cNvPr>
          <p:cNvSpPr>
            <a:spLocks xmlns:a="http://schemas.openxmlformats.org/drawingml/2006/main" noGrp="1"/>
          </p:cNvSpPr>
          <p:nvPr/>
        </p:nvSpPr>
        <p:spPr>
          <a:xfrm xmlns:a="http://schemas.openxmlformats.org/drawingml/2006/main">
            <a:off x="609600" y="60198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анные для ручной доразметки">
            <a:extLst xmlns:a="http://schemas.openxmlformats.org/drawingml/2006/main">
              <a:ext uri="{FF2B5EF4-FFF2-40B4-BE49-F238E27FC236}">
                <a16:creationId xmlns:a16="http://schemas.microsoft.com/office/drawing/2014/main" id="{A34BA3CC-C0E2-4636-87E7-42AF23E254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xmlns:a="http://schemas.openxmlformats.org/drawingml/2006/main">
              <a:ext uri="{FF2B5EF4-FFF2-40B4-BE49-F238E27FC236}">
                <a16:creationId xmlns:a16="http://schemas.microsoft.com/office/drawing/2014/main" id="{2353822A-C676-4110-936E-E30726F7D8D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xmlns:a="http://schemas.openxmlformats.org/drawingml/2006/main">
              <a:ext uri="{FF2B5EF4-FFF2-40B4-BE49-F238E27FC236}">
                <a16:creationId xmlns:a16="http://schemas.microsoft.com/office/drawing/2014/main" id="{C4E448FC-7633-44A8-ACC7-B8922870AD71}"/>
              </a:ext>
            </a:extLst>
          </p:cNvPr>
          <p:cNvSpPr>
            <a:spLocks xmlns:a="http://schemas.openxmlformats.org/drawingml/2006/main" noGrp="1"/>
          </p:cNvSpPr>
          <p:nvPr/>
        </p:nvSpPr>
        <p:spPr>
          <a:xfrm xmlns:a="http://schemas.openxmlformats.org/drawingml/2006/main">
            <a:off x="609600" y="16097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xmlns:a="http://schemas.openxmlformats.org/drawingml/2006/main">
              <a:ext uri="{FF2B5EF4-FFF2-40B4-BE49-F238E27FC236}">
                <a16:creationId xmlns:a16="http://schemas.microsoft.com/office/drawing/2014/main" id="{2ED41703-E32F-4B8B-8DCC-4A841119316C}"/>
              </a:ext>
            </a:extLst>
          </p:cNvPr>
          <p:cNvSpPr>
            <a:spLocks xmlns:a="http://schemas.openxmlformats.org/drawingml/2006/main" noGrp="1"/>
          </p:cNvSpPr>
          <p:nvPr/>
        </p:nvSpPr>
        <p:spPr>
          <a:xfrm xmlns:a="http://schemas.openxmlformats.org/drawingml/2006/main">
            <a:off x="609600" y="2476500"/>
            <a:ext cx="457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xmlns:a="http://schemas.openxmlformats.org/drawingml/2006/main">
              <a:ext uri="{FF2B5EF4-FFF2-40B4-BE49-F238E27FC236}">
                <a16:creationId xmlns:a16="http://schemas.microsoft.com/office/drawing/2014/main" id="{2DB9E5FA-2063-4D9D-8B35-5CB16277C07E}"/>
              </a:ext>
            </a:extLst>
          </p:cNvPr>
          <p:cNvSpPr>
            <a:spLocks xmlns:a="http://schemas.openxmlformats.org/drawingml/2006/main" noGrp="1"/>
          </p:cNvSpPr>
          <p:nvPr/>
        </p:nvSpPr>
        <p:spPr>
          <a:xfrm xmlns:a="http://schemas.openxmlformats.org/drawingml/2006/main">
            <a:off x="60960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xmlns:a="http://schemas.openxmlformats.org/drawingml/2006/main">
              <a:ext uri="{FF2B5EF4-FFF2-40B4-BE49-F238E27FC236}">
                <a16:creationId xmlns:a16="http://schemas.microsoft.com/office/drawing/2014/main" id="{0C2A625A-9F0D-46DA-B13E-5D29811BAA5B}"/>
              </a:ext>
            </a:extLst>
          </p:cNvPr>
          <p:cNvSpPr>
            <a:spLocks xmlns:a="http://schemas.openxmlformats.org/drawingml/2006/main" noGrp="1"/>
          </p:cNvSpPr>
          <p:nvPr/>
        </p:nvSpPr>
        <p:spPr>
          <a:xfrm xmlns:a="http://schemas.openxmlformats.org/drawingml/2006/main">
            <a:off x="609600" y="3848100"/>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xmlns:a="http://schemas.openxmlformats.org/drawingml/2006/main">
              <a:ext uri="{FF2B5EF4-FFF2-40B4-BE49-F238E27FC236}">
                <a16:creationId xmlns:a16="http://schemas.microsoft.com/office/drawing/2014/main" id="{334388CF-080F-4290-9A46-4B6903A25C6E}"/>
              </a:ext>
            </a:extLst>
          </p:cNvPr>
          <p:cNvSpPr>
            <a:spLocks xmlns:a="http://schemas.openxmlformats.org/drawingml/2006/main" noGrp="1"/>
          </p:cNvSpPr>
          <p:nvPr/>
        </p:nvSpPr>
        <p:spPr>
          <a:xfrm xmlns:a="http://schemas.openxmlformats.org/drawingml/2006/main">
            <a:off x="609600" y="5000625"/>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xmlns:a="http://schemas.openxmlformats.org/drawingml/2006/main">
              <a:ext uri="{FF2B5EF4-FFF2-40B4-BE49-F238E27FC236}">
                <a16:creationId xmlns:a16="http://schemas.microsoft.com/office/drawing/2014/main" id="{22B42E78-BD55-4445-A8FE-4309BC4BC35B}"/>
              </a:ext>
            </a:extLst>
          </p:cNvPr>
          <p:cNvSpPr>
            <a:spLocks xmlns:a="http://schemas.openxmlformats.org/drawingml/2006/main" noGrp="1"/>
          </p:cNvSpPr>
          <p:nvPr/>
        </p:nvSpPr>
        <p:spPr>
          <a:xfrm xmlns:a="http://schemas.openxmlformats.org/drawingml/2006/main">
            <a:off x="6229350" y="2476500"/>
            <a:ext cx="5353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82B30"/>
                </a:solidFill>
                <a:latin typeface="Arial"/>
                <a:ea typeface="Arial"/>
                <a:cs typeface="Arial"/>
              </a:defRPr>
            </a:defPPr>
          </a:lstStyle>
          <a:p xmlns:a="http://schemas.openxmlformats.org/drawingml/2006/main">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xmlns:a="http://schemas.openxmlformats.org/drawingml/2006/main">
              <a:ext uri="{FF2B5EF4-FFF2-40B4-BE49-F238E27FC236}">
                <a16:creationId xmlns:a16="http://schemas.microsoft.com/office/drawing/2014/main" id="{59C256A8-9894-4A34-8A0F-574E12AFEF55}"/>
              </a:ext>
            </a:extLst>
          </p:cNvPr>
          <p:cNvSpPr>
            <a:spLocks xmlns:a="http://schemas.openxmlformats.org/drawingml/2006/main" noGrp="1"/>
          </p:cNvSpPr>
          <p:nvPr/>
        </p:nvSpPr>
        <p:spPr>
          <a:xfrm xmlns:a="http://schemas.openxmlformats.org/drawingml/2006/main">
            <a:off x="6229350" y="2962275"/>
            <a:ext cx="4381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007F78"/>
                </a:solidFill>
                <a:latin typeface="Arial"/>
                <a:ea typeface="Arial"/>
                <a:cs typeface="Arial"/>
              </a:defRPr>
            </a:defPPr>
          </a:lstStyle>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xmlns:a="http://schemas.openxmlformats.org/drawingml/2006/main">
              <a:ext uri="{FF2B5EF4-FFF2-40B4-BE49-F238E27FC236}">
                <a16:creationId xmlns:a16="http://schemas.microsoft.com/office/drawing/2014/main" id="{CBA07B85-828A-40A0-83EE-7F24D9A0ADCF}"/>
              </a:ext>
            </a:extLst>
          </p:cNvPr>
          <p:cNvSpPr>
            <a:spLocks xmlns:a="http://schemas.openxmlformats.org/drawingml/2006/main" noGrp="1"/>
          </p:cNvSpPr>
          <p:nvPr/>
        </p:nvSpPr>
        <p:spPr>
          <a:xfrm xmlns:a="http://schemas.openxmlformats.org/drawingml/2006/main">
            <a:off x="6229350" y="38481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xmlns:a="http://schemas.openxmlformats.org/drawingml/2006/main">
              <a:ext uri="{FF2B5EF4-FFF2-40B4-BE49-F238E27FC236}">
                <a16:creationId xmlns:a16="http://schemas.microsoft.com/office/drawing/2014/main" id="{0CA45C8D-9073-4691-848F-B62AC53E5DFD}"/>
              </a:ext>
            </a:extLst>
          </p:cNvPr>
          <p:cNvSpPr>
            <a:spLocks xmlns:a="http://schemas.openxmlformats.org/drawingml/2006/main" noGrp="1"/>
          </p:cNvSpPr>
          <p:nvPr/>
        </p:nvSpPr>
        <p:spPr>
          <a:xfrm xmlns:a="http://schemas.openxmlformats.org/drawingml/2006/main">
            <a:off x="6229350" y="5000625"/>
            <a:ext cx="53530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
            <a:extLst xmlns:a="http://schemas.openxmlformats.org/drawingml/2006/main">
              <a:ext uri="{FF2B5EF4-FFF2-40B4-BE49-F238E27FC236}">
                <a16:creationId xmlns:a16="http://schemas.microsoft.com/office/drawing/2014/main" id="{5F53ADBC-1693-4423-8E87-5C9EA3A3EE22}"/>
              </a:ext>
            </a:extLst>
          </p:cNvPr>
          <p:cNvSpPr>
            <a:spLocks xmlns:a="http://schemas.openxmlformats.org/drawingml/2006/main" noGrp="1"/>
          </p:cNvSpPr>
          <p:nvPr/>
        </p:nvSpPr>
        <p:spPr>
          <a:xfrm xmlns:a="http://schemas.openxmlformats.org/drawingml/2006/main">
            <a:off x="609600" y="221932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13" name="Доразметка охватывает отобранных кандидатов для каждого запроса.">
            <a:extLst xmlns:a="http://schemas.openxmlformats.org/drawingml/2006/main">
              <a:ext uri="{FF2B5EF4-FFF2-40B4-BE49-F238E27FC236}">
                <a16:creationId xmlns:a16="http://schemas.microsoft.com/office/drawing/2014/main" id="{1E9E408D-C93E-45C3-95F9-3F5EC4587A20}"/>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Разметка с известным релевантным ответом">
            <a:extLst xmlns:a="http://schemas.openxmlformats.org/drawingml/2006/main">
              <a:ext uri="{FF2B5EF4-FFF2-40B4-BE49-F238E27FC236}">
                <a16:creationId xmlns:a16="http://schemas.microsoft.com/office/drawing/2014/main" id="{4F08E455-965E-4FD3-8FB7-D561BA763F75}"/>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xmlns:a="http://schemas.openxmlformats.org/drawingml/2006/main">
              <a:ext uri="{FF2B5EF4-FFF2-40B4-BE49-F238E27FC236}">
                <a16:creationId xmlns:a16="http://schemas.microsoft.com/office/drawing/2014/main" id="{9F6A7005-F48E-49E7-A616-E8BA12856E9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xmlns:a="http://schemas.openxmlformats.org/drawingml/2006/main">
              <a:ext uri="{FF2B5EF4-FFF2-40B4-BE49-F238E27FC236}">
                <a16:creationId xmlns:a16="http://schemas.microsoft.com/office/drawing/2014/main" id="{E06B08BB-DEBF-4476-A79E-EC33232EEF82}"/>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xmlns:a="http://schemas.openxmlformats.org/drawingml/2006/main">
              <a:ext uri="{FF2B5EF4-FFF2-40B4-BE49-F238E27FC236}">
                <a16:creationId xmlns:a16="http://schemas.microsoft.com/office/drawing/2014/main" id="{B5224D1A-E575-427A-AC94-52A3C3695468}"/>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xmlns:a="http://schemas.openxmlformats.org/drawingml/2006/main">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xmlns:a="http://schemas.openxmlformats.org/drawingml/2006/main">
              <a:ext uri="{FF2B5EF4-FFF2-40B4-BE49-F238E27FC236}">
                <a16:creationId xmlns:a16="http://schemas.microsoft.com/office/drawing/2014/main" id="{5118D0C7-C21D-4D05-8EE0-3051D5EB73E6}"/>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xmlns:a="http://schemas.openxmlformats.org/drawingml/2006/main">
              <a:ext uri="{FF2B5EF4-FFF2-40B4-BE49-F238E27FC236}">
                <a16:creationId xmlns:a16="http://schemas.microsoft.com/office/drawing/2014/main" id="{2CBD2ADC-55FF-4AB8-A47A-DE8B60C304FD}"/>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
          <p:cNvCxnSpPr>
            <a:stCxn xmlns:a="http://schemas.openxmlformats.org/drawingml/2006/main" id="3" idx="3"/>
            <a:endCxn xmlns:a="http://schemas.openxmlformats.org/drawingml/2006/main" id="5" idx="0"/>
          </p:cNvCxnSpPr>
          <p:nvPr/>
        </p:nvCxnSpPr>
        <p:spPr>
          <a:xfrm xmlns:a="http://schemas.openxmlformats.org/drawingml/2006/main">
            <a:off x="3705225" y="2457450"/>
            <a:ext cx="2238375" cy="276225"/>
          </a:xfrm>
          <a:prstGeom xmlns:a="http://schemas.openxmlformats.org/drawingml/2006/main" prst="bentConnector2">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8575">
            <a:solidFill>
              <a:srgbClr val="C95236"/>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10" name="Запрос + кандидат +&#10;релевантный ответ">
            <a:extLst xmlns:a="http://schemas.openxmlformats.org/drawingml/2006/main">
              <a:ext uri="{FF2B5EF4-FFF2-40B4-BE49-F238E27FC236}">
                <a16:creationId xmlns:a16="http://schemas.microsoft.com/office/drawing/2014/main" id="{03F078DF-D752-4928-AC8C-02CEC1C0B7A2}"/>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xmlns:a="http://schemas.openxmlformats.org/drawingml/2006/main">
              <a:ext uri="{FF2B5EF4-FFF2-40B4-BE49-F238E27FC236}">
                <a16:creationId xmlns:a16="http://schemas.microsoft.com/office/drawing/2014/main" id="{A96799E4-5CA0-4D48-9EF5-BD74CD3F2D58}"/>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xmlns:a="http://schemas.openxmlformats.org/drawingml/2006/main">
              <a:ext uri="{FF2B5EF4-FFF2-40B4-BE49-F238E27FC236}">
                <a16:creationId xmlns:a16="http://schemas.microsoft.com/office/drawing/2014/main" id="{2149C239-EB6B-47AB-BCF5-DD07EC739EE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Больше оценок в тех же пулах">
            <a:extLst xmlns:a="http://schemas.openxmlformats.org/drawingml/2006/main">
              <a:ext uri="{FF2B5EF4-FFF2-40B4-BE49-F238E27FC236}">
                <a16:creationId xmlns:a16="http://schemas.microsoft.com/office/drawing/2014/main" id="{1CF79C95-B654-4F76-82D3-8E5010CEDC5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xmlns:a="http://schemas.openxmlformats.org/drawingml/2006/main">
              <a:ext uri="{FF2B5EF4-FFF2-40B4-BE49-F238E27FC236}">
                <a16:creationId xmlns:a16="http://schemas.microsoft.com/office/drawing/2014/main" id="{D6E70AE6-5793-4E2A-AA54-5849FD26316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xmlns:a="http://schemas.openxmlformats.org/drawingml/2006/main">
              <a:ext uri="{FF2B5EF4-FFF2-40B4-BE49-F238E27FC236}">
                <a16:creationId xmlns:a16="http://schemas.microsoft.com/office/drawing/2014/main" id="{692B7626-67E4-4142-B831-A1FCB9F7BC73}"/>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xmlns:a="http://schemas.openxmlformats.org/drawingml/2006/main">
              <a:ext uri="{FF2B5EF4-FFF2-40B4-BE49-F238E27FC236}">
                <a16:creationId xmlns:a16="http://schemas.microsoft.com/office/drawing/2014/main" id="{0A936E03-03E7-4610-925F-691691EB830C}"/>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86802D41-005F-4A54-BC81-35AC162315B9}"/>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875058B1-BFE6-4833-AF53-6EE18183FFF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Исходные оценки">
            <a:extLst xmlns:a="http://schemas.openxmlformats.org/drawingml/2006/main">
              <a:ext uri="{FF2B5EF4-FFF2-40B4-BE49-F238E27FC236}">
                <a16:creationId xmlns:a16="http://schemas.microsoft.com/office/drawing/2014/main" id="{C5FC8E12-57E2-4AA9-88DF-91540478064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xmlns:a="http://schemas.openxmlformats.org/drawingml/2006/main">
              <a:ext uri="{FF2B5EF4-FFF2-40B4-BE49-F238E27FC236}">
                <a16:creationId xmlns:a16="http://schemas.microsoft.com/office/drawing/2014/main" id="{0098175C-E3E2-42CF-8B6F-AC0938AC4158}"/>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xmlns:a="http://schemas.openxmlformats.org/drawingml/2006/main">
              <a:ext uri="{FF2B5EF4-FFF2-40B4-BE49-F238E27FC236}">
                <a16:creationId xmlns:a16="http://schemas.microsoft.com/office/drawing/2014/main" id="{B9260C2C-7876-4DC8-A068-81AA1DBFCCDC}"/>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xmlns:a="http://schemas.openxmlformats.org/drawingml/2006/main">
              <a:ext uri="{FF2B5EF4-FFF2-40B4-BE49-F238E27FC236}">
                <a16:creationId xmlns:a16="http://schemas.microsoft.com/office/drawing/2014/main" id="{F2D0DE64-5F0F-4C0D-B7E2-4EDA124CD26E}"/>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xmlns:a="http://schemas.openxmlformats.org/drawingml/2006/main">
              <a:ext uri="{FF2B5EF4-FFF2-40B4-BE49-F238E27FC236}">
                <a16:creationId xmlns:a16="http://schemas.microsoft.com/office/drawing/2014/main" id="{FE3F3B17-B292-4BF7-9744-1EBFB2D6019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Доразметка меняет оценку NDCG@10">
            <a:extLst xmlns:a="http://schemas.openxmlformats.org/drawingml/2006/main">
              <a:ext uri="{FF2B5EF4-FFF2-40B4-BE49-F238E27FC236}">
                <a16:creationId xmlns:a16="http://schemas.microsoft.com/office/drawing/2014/main" id="{C57A67B4-84D5-4B46-A2C5-3620CDE8A41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xmlns:a="http://schemas.openxmlformats.org/drawingml/2006/main">
              <a:ext uri="{FF2B5EF4-FFF2-40B4-BE49-F238E27FC236}">
                <a16:creationId xmlns:a16="http://schemas.microsoft.com/office/drawing/2014/main" id="{92AF1EEE-C890-41AD-A2FE-87D635EAB21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xmlns:a="http://schemas.openxmlformats.org/drawingml/2006/main">
              <a:ext uri="{FF2B5EF4-FFF2-40B4-BE49-F238E27FC236}">
                <a16:creationId xmlns:a16="http://schemas.microsoft.com/office/drawing/2014/main" id="{83F10504-FD85-4B19-94F7-D2971BBEB240}"/>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e4ce4ac20cf84723"/>
          </a:graphicData>
        </a:graphic>
      </p:graphicFrame>
      <p:sp>
        <p:nvSpPr>
          <p:cNvPr id="5" name="Изменение E5: +0,391   95%-ный ДИ [0,365; 0,417]">
            <a:extLst xmlns:a="http://schemas.openxmlformats.org/drawingml/2006/main">
              <a:ext uri="{FF2B5EF4-FFF2-40B4-BE49-F238E27FC236}">
                <a16:creationId xmlns:a16="http://schemas.microsoft.com/office/drawing/2014/main" id="{2F8596F9-2EF5-4D66-B616-218A321BDDE7}"/>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00" b="1">
                <ns0:solidFill>
                  <ns0:srgbClr val="007F78"/>
                </ns0:solidFill>
                <ns0:latin typeface="Arial"/>
                <ns0:ea typeface="Arial"/>
                <ns0:cs typeface="Arial"/>
              </ns0:defRPr>
            </ns0:pPr>
            <ns0:r>
              <ns0:rPr sz="2100" b="1">
                <ns0:solidFill>
                  <ns0:srgbClr val="007F78"/>
                </ns0:solidFill>
                <ns0:latin typeface="Arial"/>
                <ns0:ea typeface="Arial"/>
                <ns0:cs typeface="Arial"/>
              </ns0:rPr>
              <ns0:t>Изменение E5: +0,391   ДИ 95% [0,365; 0,417]</ns0:t>
            </ns0:r>
          </ns0:p>
        </p:txBody>
      </p:sp>
      <p:sp>
        <p:nvSpPr>
          <p:cNvPr id="6" name="NDCG@10 внутри пулов. Общий идеальный знаменател">
            <a:extLst xmlns:a="http://schemas.openxmlformats.org/drawingml/2006/main">
              <a:ext uri="{FF2B5EF4-FFF2-40B4-BE49-F238E27FC236}">
                <a16:creationId xmlns:a16="http://schemas.microsoft.com/office/drawing/2014/main" id="{C8EFE03B-381A-44C7-A6A9-4459052826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Модель-судья для больших пулов">
            <a:extLst xmlns:a="http://schemas.openxmlformats.org/drawingml/2006/main">
              <a:ext uri="{FF2B5EF4-FFF2-40B4-BE49-F238E27FC236}">
                <a16:creationId xmlns:a16="http://schemas.microsoft.com/office/drawing/2014/main" id="{1C317943-E193-4781-8893-B0FAB927128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xmlns:a="http://schemas.openxmlformats.org/drawingml/2006/main">
              <a:ext uri="{FF2B5EF4-FFF2-40B4-BE49-F238E27FC236}">
                <a16:creationId xmlns:a16="http://schemas.microsoft.com/office/drawing/2014/main" id="{4272979E-E477-4A23-AD5D-D41B7931E92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xmlns:a="http://schemas.openxmlformats.org/drawingml/2006/main">
              <a:ext uri="{FF2B5EF4-FFF2-40B4-BE49-F238E27FC236}">
                <a16:creationId xmlns:a16="http://schemas.microsoft.com/office/drawing/2014/main" id="{26D13347-3281-4F06-BDAF-8D5A0F7294AB}"/>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xmlns:a="http://schemas.openxmlformats.org/drawingml/2006/main">
              <a:ext uri="{FF2B5EF4-FFF2-40B4-BE49-F238E27FC236}">
                <a16:creationId xmlns:a16="http://schemas.microsoft.com/office/drawing/2014/main" id="{242EFFE6-5830-4D14-A815-9CCC678FCCF5}"/>
              </a:ext>
            </a:extLst>
          </p:cNvPr>
          <p:cNvSpPr>
            <a:spLocks xmlns:a="http://schemas.openxmlformats.org/drawingml/2006/main" noGrp="1"/>
          </p:cNvSpPr>
          <p:nvPr/>
        </p:nvSpPr>
        <p:spPr>
          <a:xfrm xmlns:a="http://schemas.openxmlformats.org/drawingml/2006/main">
            <a:off x="609600" y="16097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xmlns:a="http://schemas.openxmlformats.org/drawingml/2006/main">
              <a:ext uri="{FF2B5EF4-FFF2-40B4-BE49-F238E27FC236}">
                <a16:creationId xmlns:a16="http://schemas.microsoft.com/office/drawing/2014/main" id="{39881BD3-3F33-4537-A1CD-D7255EA0F3E2}"/>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8253BA28-6F62-41FF-8CB6-14C83D0EBC2C}"/>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26970"/>
            </a:solidFill>
            <a:tailEnd type="triangle" w="med" len="med"/>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95236"/>
            </a:solidFill>
            <a:tailEnd type="triangle" w="med" len="med"/>
          </a:ln>
        </p:spPr>
      </p:cxnSp>
      <p:sp>
        <p:nvSpPr>
          <p:cNvPr id="9" name="Совместно оценивает два текста">
            <a:extLst xmlns:a="http://schemas.openxmlformats.org/drawingml/2006/main">
              <a:ext uri="{FF2B5EF4-FFF2-40B4-BE49-F238E27FC236}">
                <a16:creationId xmlns:a16="http://schemas.microsoft.com/office/drawing/2014/main" id="{A625AD98-7162-453C-9409-BAFAE9A765FA}"/>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
            <a:extLst xmlns:a="http://schemas.openxmlformats.org/drawingml/2006/main">
              <a:ext uri="{FF2B5EF4-FFF2-40B4-BE49-F238E27FC236}">
                <a16:creationId xmlns:a16="http://schemas.microsoft.com/office/drawing/2014/main" id="{DDA8774B-F006-4CA7-8007-2BB4FEE1EF0D}"/>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1" name="На входе нет эталонного ответа, рангов и баллов ">
            <a:extLst xmlns:a="http://schemas.openxmlformats.org/drawingml/2006/main">
              <a:ext uri="{FF2B5EF4-FFF2-40B4-BE49-F238E27FC236}">
                <a16:creationId xmlns:a16="http://schemas.microsoft.com/office/drawing/2014/main" id="{29D5D23C-9396-4EFC-AE80-F4BC37555AE5}"/>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Tree>
    <p:extLst>
      <p:ext uri="{BB962C8B-B14F-4D97-AF65-F5344CB8AC3E}">
        <p14:creationId xmlns:p14="http://schemas.microsoft.com/office/powerpoint/2010/main" val="36080628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Согласие судьи с ручной разметкой">
            <a:extLst xmlns:a="http://schemas.openxmlformats.org/drawingml/2006/main">
              <a:ext uri="{FF2B5EF4-FFF2-40B4-BE49-F238E27FC236}">
                <a16:creationId xmlns:a16="http://schemas.microsoft.com/office/drawing/2014/main" id="{91AE5F0E-201B-432D-9D85-E8354F5F328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xmlns:a="http://schemas.openxmlformats.org/drawingml/2006/main">
              <a:ext uri="{FF2B5EF4-FFF2-40B4-BE49-F238E27FC236}">
                <a16:creationId xmlns:a16="http://schemas.microsoft.com/office/drawing/2014/main" id="{B0AD9B9A-DFEE-4C8F-B7F9-0CFA820FE76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xmlns:a="http://schemas.openxmlformats.org/drawingml/2006/main">
              <a:ext uri="{FF2B5EF4-FFF2-40B4-BE49-F238E27FC236}">
                <a16:creationId xmlns:a16="http://schemas.microsoft.com/office/drawing/2014/main" id="{9042F927-B8D5-4B44-B3A6-50ED190B368F}"/>
              </a:ext>
            </a:extLst>
          </p:cNvPr>
          <p:cNvSpPr>
            <a:spLocks xmlns:a="http://schemas.openxmlformats.org/drawingml/2006/main" noGrp="1"/>
          </p:cNvSpPr>
          <p:nvPr/>
        </p:nvSpPr>
        <p:spPr>
          <a:xfrm xmlns:a="http://schemas.openxmlformats.org/drawingml/2006/main">
            <a:off x="609600" y="15621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44053ccd91f412b"/>
          </a:graphicData>
        </a:graphic>
      </p:graphicFrame>
      <p:sp>
        <p:nvSpPr>
          <p:cNvPr id="5" name="0,907">
            <a:extLst xmlns:a="http://schemas.openxmlformats.org/drawingml/2006/main">
              <a:ext uri="{FF2B5EF4-FFF2-40B4-BE49-F238E27FC236}">
                <a16:creationId xmlns:a16="http://schemas.microsoft.com/office/drawing/2014/main" id="{D609A069-22B6-45C0-9AC3-4FF25D06A9E2}"/>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CB736417-86A8-4067-B9D2-41DE95789CF6}"/>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FD18F278-C87E-4D99-BB55-FF9A4E0700C5}"/>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1DFC7CC4-AFEE-491F-B1BB-531DBBFA3A07}"/>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xmlns:a="http://schemas.openxmlformats.org/drawingml/2006/main">
              <a:ext uri="{FF2B5EF4-FFF2-40B4-BE49-F238E27FC236}">
                <a16:creationId xmlns:a16="http://schemas.microsoft.com/office/drawing/2014/main" id="{C2A3BF9E-2D7E-4DCA-B4D5-AF30022F1DBA}"/>
              </a:ext>
            </a:extLst>
          </p:cNvPr>
          <p:cNvSpPr>
            <a:spLocks xmlns:a="http://schemas.openxmlformats.org/drawingml/2006/main" noGrp="1"/>
          </p:cNvSpPr>
          <p:nvPr/>
        </p:nvSpPr>
        <p:spPr>
          <a:xfrm xmlns:a="http://schemas.openxmlformats.org/drawingml/2006/main">
            <a:off x="609600" y="568642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C95236"/>
                </a:solidFill>
                <a:latin typeface="Arial"/>
                <a:ea typeface="Arial"/>
                <a:cs typeface="Arial"/>
              </a:defRPr>
            </a:pPr>
            <a:r>
              <a:rPr sz="1800" b="0">
                <a:solidFill>
                  <a:srgbClr val="007F78"/>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xmlns:a="http://schemas.openxmlformats.org/drawingml/2006/main">
              <a:ext uri="{FF2B5EF4-FFF2-40B4-BE49-F238E27FC236}">
                <a16:creationId xmlns:a16="http://schemas.microsoft.com/office/drawing/2014/main" id="{CF57EB44-E413-4E54-8664-3AB5C45CF7C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82B30"/>
                </a:solidFill>
                <a:latin typeface="Arial"/>
                <a:ea typeface="Arial"/>
                <a:cs typeface="Arial"/>
              </a:defRPr>
            </a:pPr>
            <a:r>
              <a:rPr sz="1575" b="0">
                <a:solidFill>
                  <a:srgbClr val="52697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Размер пула и предсказанная релевантность">
            <a:extLst xmlns:a="http://schemas.openxmlformats.org/drawingml/2006/main">
              <a:ext uri="{FF2B5EF4-FFF2-40B4-BE49-F238E27FC236}">
                <a16:creationId xmlns:a16="http://schemas.microsoft.com/office/drawing/2014/main" id="{C455C868-F2F3-4957-A6F4-0C5264002E18}"/>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xmlns:a="http://schemas.openxmlformats.org/drawingml/2006/main">
              <a:ext uri="{FF2B5EF4-FFF2-40B4-BE49-F238E27FC236}">
                <a16:creationId xmlns:a16="http://schemas.microsoft.com/office/drawing/2014/main" id="{78598B3E-D80F-499A-B0C4-6E304FFF437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xmlns:a="http://schemas.openxmlformats.org/drawingml/2006/main">
              <a:ext uri="{FF2B5EF4-FFF2-40B4-BE49-F238E27FC236}">
                <a16:creationId xmlns:a16="http://schemas.microsoft.com/office/drawing/2014/main" id="{E0E9E0F1-9EE7-413A-A5B5-031516151B0B}"/>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51415D26-0F44-457D-8163-AEEA791D86DF}"/>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ebd804f6f84f40aa"/>
          </a:graphicData>
        </a:graphic>
      </p:graphicFrame>
      <p:sp>
        <p:nvSpPr>
          <p:cNvPr id="6" name="451,5">
            <a:extLst xmlns:a="http://schemas.openxmlformats.org/drawingml/2006/main">
              <a:ext uri="{FF2B5EF4-FFF2-40B4-BE49-F238E27FC236}">
                <a16:creationId xmlns:a16="http://schemas.microsoft.com/office/drawing/2014/main" id="{96D6F927-3939-4335-991E-B65CAC387627}"/>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8C9050D0-5434-40B3-8DBB-D8ED964C368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A09CABC-B85B-4D1B-92FD-F63F6AA3E62C}"/>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4718A07C-8E0D-4B57-94E0-0C883610EC22}"/>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F4AF13C-4075-4A33-AB6F-7CDE0F2A94B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Меняются пул и входные списки RRF">
            <a:extLst xmlns:a="http://schemas.openxmlformats.org/drawingml/2006/main">
              <a:ext uri="{FF2B5EF4-FFF2-40B4-BE49-F238E27FC236}">
                <a16:creationId xmlns:a16="http://schemas.microsoft.com/office/drawing/2014/main" id="{A649FAD2-0A4D-43D3-9E07-083A9E66B95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xmlns:a="http://schemas.openxmlformats.org/drawingml/2006/main">
              <a:ext uri="{FF2B5EF4-FFF2-40B4-BE49-F238E27FC236}">
                <a16:creationId xmlns:a16="http://schemas.microsoft.com/office/drawing/2014/main" id="{75292B7D-DD7F-4711-8811-95C01F7F692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1575DE7C-E89A-4CD2-9645-7FC1AF9FA2A8}"/>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xmlns:a="http://schemas.openxmlformats.org/drawingml/2006/main">
              <a:ext uri="{FF2B5EF4-FFF2-40B4-BE49-F238E27FC236}">
                <a16:creationId xmlns:a16="http://schemas.microsoft.com/office/drawing/2014/main" id="{78742252-A3B0-49E0-A036-61D3688E36C7}"/>
              </a:ext>
            </a:extLst>
          </p:cNvPr>
          <p:cNvSpPr>
            <a:spLocks xmlns:a="http://schemas.openxmlformats.org/drawingml/2006/main" noGrp="1"/>
          </p:cNvSpPr>
          <p:nvPr/>
        </p:nvSpPr>
        <p:spPr>
          <a:xfrm xmlns:a="http://schemas.openxmlformats.org/drawingml/2006/main">
            <a:off x="609600" y="1943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175" b="1">
                <ns0:solidFill>
                  <ns0:srgbClr val="C95236"/>
                </ns0:solidFill>
                <ns0:latin typeface="Arial"/>
                <ns0:ea typeface="Arial"/>
                <ns0:cs typeface="Arial"/>
              </ns0:defRPr>
            </ns0:pPr>
            <ns0:r>
              <ns0:rPr sz="2175" b="1">
                <ns0:solidFill>
                  <ns0:srgbClr val="C95236"/>
                </ns0:solidFill>
                <ns0:latin typeface="Arial"/>
                <ns0:ea typeface="Arial"/>
                <ns0:cs typeface="Arial"/>
              </ns0:rPr>
              <ns0:t>L = K. Более глубокие списки могут менять итоговый топ-10.</ns0:t>
            </ns0:r>
          </ns0: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fdf911735eaa494b"/>
          </a:graphicData>
        </a:graphic>
      </p:graphicFrame>
      <p:sp>
        <p:nvSpPr>
          <p:cNvPr id="6" name="При K = 200 разность NDCG@10 составляет +0,0088">
            <a:extLst xmlns:a="http://schemas.openxmlformats.org/drawingml/2006/main">
              <a:ext uri="{FF2B5EF4-FFF2-40B4-BE49-F238E27FC236}">
                <a16:creationId xmlns:a16="http://schemas.microsoft.com/office/drawing/2014/main" id="{17A6A8B7-B3CF-42A7-B59B-E38F298709FA}"/>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xmlns:a="http://schemas.openxmlformats.org/drawingml/2006/main">
              <a:ext uri="{FF2B5EF4-FFF2-40B4-BE49-F238E27FC236}">
                <a16:creationId xmlns:a16="http://schemas.microsoft.com/office/drawing/2014/main" id="{1B66ED6F-573C-49DA-8081-829286359296}"/>
              </a:ext>
            </a:extLst>
          </p:cNvPr>
          <p:cNvSpPr>
            <a:spLocks xmlns:a="http://schemas.openxmlformats.org/drawingml/2006/main" noGrp="1"/>
          </p:cNvSpPr>
          <p:nvPr/>
        </p:nvSpPr>
        <p:spPr>
          <a:xfrm xmlns:a="http://schemas.openxmlformats.org/drawingml/2006/main">
            <a:off x="609600" y="60198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Один судья. Парный ДИ 95% [0,0082; 0,0095].</ns0:t>
            </ns0:r>
          </ns0:p>
        </p:txBody>
      </p:sp>
    </p:spTree>
    <p:extLst>
      <p:ext uri="{BB962C8B-B14F-4D97-AF65-F5344CB8AC3E}">
        <p14:creationId xmlns:p14="http://schemas.microsoft.com/office/powerpoint/2010/main" val="153183097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Покрытие разметкой меняет сравнение">
            <a:extLst xmlns:a="http://schemas.openxmlformats.org/drawingml/2006/main">
              <a:ext uri="{FF2B5EF4-FFF2-40B4-BE49-F238E27FC236}">
                <a16:creationId xmlns:a16="http://schemas.microsoft.com/office/drawing/2014/main" id="{893DC6B4-8608-4DD7-B6E8-3D10ACC2E6D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xmlns:a="http://schemas.openxmlformats.org/drawingml/2006/main">
              <a:ext uri="{FF2B5EF4-FFF2-40B4-BE49-F238E27FC236}">
                <a16:creationId xmlns:a16="http://schemas.microsoft.com/office/drawing/2014/main" id="{25ED950A-71A0-49BD-9DD9-CDAA7E5E23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xmlns:a="http://schemas.openxmlformats.org/drawingml/2006/main">
              <a:ext uri="{FF2B5EF4-FFF2-40B4-BE49-F238E27FC236}">
                <a16:creationId xmlns:a16="http://schemas.microsoft.com/office/drawing/2014/main" id="{8D233C68-BA22-4150-B1DD-4948CD9BF1DC}"/>
              </a:ext>
            </a:extLst>
          </p:cNvPr>
          <p:cNvSpPr>
            <a:spLocks xmlns:a="http://schemas.openxmlformats.org/drawingml/2006/main" noGrp="1"/>
          </p:cNvSpPr>
          <p:nvPr/>
        </p:nvSpPr>
        <p:spPr>
          <a:xfrm xmlns:a="http://schemas.openxmlformats.org/drawingml/2006/main">
            <a:off x="609600" y="1524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NDCG@10</a:t>
            </a:r>
            <a:r>
              <a:rPr sz="1365" b="0" baseline="-25000">
                <a:solidFill>
                  <a:srgbClr val="526970"/>
                </a:solidFill>
                <a:latin typeface="Arial"/>
                <a:ea typeface="Arial"/>
                <a:cs typeface="Arial"/>
              </a:rPr>
              <a:t>RRF</a:t>
            </a:r>
            <a:r>
              <a:rPr sz="1950" b="0">
                <a:solidFill>
                  <a:srgbClr val="526970"/>
                </a:solidFill>
                <a:latin typeface="Arial"/>
                <a:ea typeface="Arial"/>
                <a:cs typeface="Arial"/>
              </a:rPr>
              <a:t> − NDCG@10</a:t>
            </a:r>
            <a:r>
              <a:rPr sz="1365" b="0" baseline="-25000">
                <a:solidFill>
                  <a:srgbClr val="526970"/>
                </a:solidFill>
                <a:latin typeface="Arial"/>
                <a:ea typeface="Arial"/>
                <a:cs typeface="Arial"/>
              </a:rPr>
              <a:t>E5</a:t>
            </a:r>
          </a:p>
        </p:txBody>
      </p:sp>
      <p:sp>
        <p:nvSpPr>
          <p:cNvPr id="4" name="Меняется только K. L = 200, обе выдачи зафиксиро">
            <a:extLst xmlns:a="http://schemas.openxmlformats.org/drawingml/2006/main">
              <a:ext uri="{FF2B5EF4-FFF2-40B4-BE49-F238E27FC236}">
                <a16:creationId xmlns:a16="http://schemas.microsoft.com/office/drawing/2014/main" id="{A803AB49-181C-45E5-B2EB-A609645252FC}"/>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3400bf8777044912"/>
          </a:graphicData>
        </a:graphic>
      </p:graphicFrame>
      <p:sp>
        <p:nvSpPr>
          <p:cNvPr id="6" name="14,4%">
            <a:extLst xmlns:a="http://schemas.openxmlformats.org/drawingml/2006/main">
              <a:ext uri="{FF2B5EF4-FFF2-40B4-BE49-F238E27FC236}">
                <a16:creationId xmlns:a16="http://schemas.microsoft.com/office/drawing/2014/main" id="{A9582D6B-B9D1-4F70-A5A4-302326BDB6F7}"/>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BE80F4F9-C505-4D8C-94A5-43C1C7E4EF6F}"/>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xmlns:a="http://schemas.openxmlformats.org/drawingml/2006/main">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xmlns:a="http://schemas.openxmlformats.org/drawingml/2006/main">
              <a:ext uri="{FF2B5EF4-FFF2-40B4-BE49-F238E27FC236}">
                <a16:creationId xmlns:a16="http://schemas.microsoft.com/office/drawing/2014/main" id="{83A123AE-1E5D-46B6-9406-C806F0168066}"/>
              </a:ext>
            </a:extLst>
          </p:cNvPr>
          <p:cNvSpPr>
            <a:spLocks xmlns:a="http://schemas.openxmlformats.org/drawingml/2006/main" noGrp="1"/>
          </p:cNvSpPr>
          <p:nvPr/>
        </p:nvSpPr>
        <p:spPr>
          <a:xfrm xmlns:a="http://schemas.openxmlformats.org/drawingml/2006/main">
            <a:off x="8963025" y="49053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xmlns:a="http://schemas.openxmlformats.org/drawingml/2006/main">
              <a:ext uri="{FF2B5EF4-FFF2-40B4-BE49-F238E27FC236}">
                <a16:creationId xmlns:a16="http://schemas.microsoft.com/office/drawing/2014/main" id="{17FCF1BB-7E14-4A43-949A-1FA1EE242DD2}"/>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3B777154-EAE9-42A6-BE19-1EB05E4811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xmlns:a="http://schemas.openxmlformats.org/drawingml/2006/main">
              <a:ext uri="{FF2B5EF4-FFF2-40B4-BE49-F238E27FC236}">
                <a16:creationId xmlns:a16="http://schemas.microsoft.com/office/drawing/2014/main" id="{B3A6ED8C-8FF2-4B68-85FD-C3F9AF55778A}"/>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1725" b="0">
                <ns0:solidFill>
                  <ns0:srgbClr val="526970"/>
                </ns0:solidFill>
                <ns0:latin typeface="Arial"/>
                <ns0:ea typeface="Arial"/>
                <ns0:cs typeface="Arial"/>
              </ns0:defRPr>
            </ns0:pPr>
            <ns0:r>
              <ns0:rPr sz="1725" b="0">
                <ns0:solidFill>
                  <ns0:srgbClr val="526970"/>
                </ns0:solidFill>
                <ns0:latin typeface="Arial"/>
                <ns0:ea typeface="Arial"/>
                <ns0:cs typeface="Arial"/>
              </ns0:rPr>
              <ns0:t>Отсутствие оценки дает нулевой вклад в метрику, но не означает нерелевантность.</ns0:t>
            </ns0:r>
          </ns0:p>
        </p:txBody>
      </p:sp>
    </p:spTree>
    <p:extLst>
      <p:ext uri="{BB962C8B-B14F-4D97-AF65-F5344CB8AC3E}">
        <p14:creationId xmlns:p14="http://schemas.microsoft.com/office/powerpoint/2010/main" val="9123962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Устойчивость и ограничения">
            <a:extLst xmlns:a="http://schemas.openxmlformats.org/drawingml/2006/main">
              <a:ext uri="{FF2B5EF4-FFF2-40B4-BE49-F238E27FC236}">
                <a16:creationId xmlns:a16="http://schemas.microsoft.com/office/drawing/2014/main" id="{ED891985-AEA3-4505-AE91-B93BB800593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xmlns:a="http://schemas.openxmlformats.org/drawingml/2006/main">
              <a:ext uri="{FF2B5EF4-FFF2-40B4-BE49-F238E27FC236}">
                <a16:creationId xmlns:a16="http://schemas.microsoft.com/office/drawing/2014/main" id="{FAD774E1-05AF-439C-B3C6-CB817BA38A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xmlns:a="http://schemas.openxmlformats.org/drawingml/2006/main">
              <a:ext uri="{FF2B5EF4-FFF2-40B4-BE49-F238E27FC236}">
                <a16:creationId xmlns:a16="http://schemas.microsoft.com/office/drawing/2014/main" id="{17A5C90D-B0D7-4AE0-AFF2-A360B61BEAC0}"/>
              </a:ext>
            </a:extLst>
          </p:cNvPr>
          <p:cNvSpPr>
            <a:spLocks xmlns:a="http://schemas.openxmlformats.org/drawingml/2006/main" noGrp="1"/>
          </p:cNvSpPr>
          <p:nvPr/>
        </p:nvSpPr>
        <p:spPr>
          <a:xfrm xmlns:a="http://schemas.openxmlformats.org/drawingml/2006/main">
            <a:off x="609600" y="169545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2325" b="1">
                <ns0:solidFill>
                  <ns0:srgbClr val="007F78"/>
                </ns0:solidFill>
                <ns0:latin typeface="Arial"/>
                <ns0:ea typeface="Arial"/>
                <ns0:cs typeface="Arial"/>
              </ns0:defRPr>
            </ns0:pPr>
            <ns0:r>
              <ns0:rPr sz="2325" b="1">
                <ns0:solidFill>
                  <ns0:srgbClr val="007F78"/>
                </ns0:solidFill>
                <ns0:latin typeface="Arial"/>
                <ns0:ea typeface="Arial"/>
                <ns0:cs typeface="Arial"/>
              </ns0:rPr>
              <ns0:t>В обоих расчетах используются только псевдометки судьи</ns0:t>
            </ns0:r>
          </ns0:p>
        </p:txBody>
      </p:sp>
      <p:graphicFrame>
        <p:nvGraphicFramePr>
          <p:cNvPr id="12" name=""/>
          <p:cNvGraphicFramePr/>
          <p:nvPr/>
        </p:nvGraphicFramePr>
        <p:xfrm>
          <a:off xmlns:a="http://schemas.openxmlformats.org/drawingml/2006/main" x="609600" y="22669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Число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725" b="1">
                          <a:solidFill>
                            <a:srgbClr val="526970"/>
                          </a:solidFill>
                          <a:latin typeface="Arial"/>
                          <a:ea typeface="Arial"/>
                          <a:cs typeface="Arial"/>
                        </a:rPr>
                        <a:t>Сравнение RRF и E5</a:t>
                      </a:r>
                    </a:p>
                  </a:txBody>
                  <a:tcPr marL="91440" marR="91440" marT="45720" marB="45720" anchor="ctr">
                    <a:lnL w="0">
                      <a:noFill/>
                    </a:lnL>
                    <a:lnR w="0">
                      <a:noFill/>
                    </a:lnR>
                    <a:lnT w="0">
                      <a:noFill/>
                    </a:lnT>
                    <a:lnB w="7620">
                      <a:solidFill>
                        <a:srgbClr val="D4E1E0"/>
                      </a:solidFill>
                    </a:lnB>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Базовое сравнение</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99 914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788E524-F7E7-4ED6-9EDA-036F133EB5A0}"/>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Ручные пулы: известный ответ, согласие экспертов">
            <a:extLst xmlns:a="http://schemas.openxmlformats.org/drawingml/2006/main">
              <a:ext uri="{FF2B5EF4-FFF2-40B4-BE49-F238E27FC236}">
                <a16:creationId xmlns:a16="http://schemas.microsoft.com/office/drawing/2014/main" id="{855EF571-426E-4635-B0A8-1BF73A0F96FD}"/>
              </a:ext>
            </a:extLst>
          </p:cNvPr>
          <p:cNvSpPr>
            <a:spLocks xmlns:a="http://schemas.openxmlformats.org/drawingml/2006/main" noGrp="1"/>
          </p:cNvSpPr>
          <p:nvPr/>
        </p:nvSpPr>
        <p:spPr>
          <a:xfrm xmlns:a="http://schemas.openxmlformats.org/drawingml/2006/main">
            <a:off x="609600" y="49625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xmlns:a="http://schemas.openxmlformats.org/drawingml/2006/main">
              <a:ext uri="{FF2B5EF4-FFF2-40B4-BE49-F238E27FC236}">
                <a16:creationId xmlns:a16="http://schemas.microsoft.com/office/drawing/2014/main" id="{D23353FC-8C22-457C-A88D-23DDFD95D67E}"/>
              </a:ext>
            </a:extLst>
          </p:cNvPr>
          <p:cNvSpPr>
            <a:spLocks xmlns:a="http://schemas.openxmlformats.org/drawingml/2006/main" noGrp="1"/>
          </p:cNvSpPr>
          <p:nvPr/>
        </p:nvSpPr>
        <p:spPr>
          <a:xfrm xmlns:a="http://schemas.openxmlformats.org/drawingml/2006/main">
            <a:off x="609600" y="546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xmlns:a="http://schemas.openxmlformats.org/drawingml/2006/main">
              <a:ext uri="{FF2B5EF4-FFF2-40B4-BE49-F238E27FC236}">
                <a16:creationId xmlns:a16="http://schemas.microsoft.com/office/drawing/2014/main" id="{1C7B951B-135F-4F65-9E3D-38B3C826B54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sld>
</file>

<file path=ppt/slides/slide15.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Полнота разметки влияет на оценку поиска">
            <a:extLst xmlns:a="http://schemas.openxmlformats.org/drawingml/2006/main">
              <a:ext uri="{FF2B5EF4-FFF2-40B4-BE49-F238E27FC236}">
                <a16:creationId xmlns:a16="http://schemas.microsoft.com/office/drawing/2014/main" id="{5E6830FA-6B24-4FC5-B4B8-1E33AC381AA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FFFFFF"/>
                </ns0:solidFill>
                <ns0:latin typeface="Arial"/>
                <ns0:ea typeface="Arial"/>
                <ns0:cs typeface="Arial"/>
              </ns0:defRPr>
            </ns0:pPr>
            <ns0:r>
              <ns0:rPr sz="3225" b="1">
                <ns0:solidFill>
                  <ns0:srgbClr val="FFFFFF"/>
                </ns0:solidFill>
                <ns0:latin typeface="Arial"/>
                <ns0:ea typeface="Arial"/>
                <ns0:cs typeface="Arial"/>
              </ns0:rPr>
              <ns0:t>Полнота разметки влияет на сравнение систем</ns0:t>
            </ns0:r>
          </ns0:p>
        </p:txBody>
      </p:sp>
      <p:sp>
        <p:nvSpPr>
          <p:cNvPr id="2" name="15">
            <a:extLst xmlns:a="http://schemas.openxmlformats.org/drawingml/2006/main">
              <a:ext uri="{FF2B5EF4-FFF2-40B4-BE49-F238E27FC236}">
                <a16:creationId xmlns:a16="http://schemas.microsoft.com/office/drawing/2014/main" id="{0EA51AD1-5EF4-4C59-8B10-AFC1683CD8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xmlns:a="http://schemas.openxmlformats.org/drawingml/2006/main">
              <a:ext uri="{FF2B5EF4-FFF2-40B4-BE49-F238E27FC236}">
                <a16:creationId xmlns:a16="http://schemas.microsoft.com/office/drawing/2014/main" id="{824567DE-3DC6-409F-91CE-43F54635805E}"/>
              </a:ext>
            </a:extLst>
          </p:cNvPr>
          <p:cNvSpPr>
            <a:spLocks xmlns:a="http://schemas.openxmlformats.org/drawingml/2006/main" noGrp="1"/>
          </p:cNvSpPr>
          <p:nvPr/>
        </p:nvSpPr>
        <p:spPr>
          <a:xfrm xmlns:a="http://schemas.openxmlformats.org/drawingml/2006/main">
            <a:off x="609600" y="169545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250" b="1">
                <ns1:solidFill>
                  <ns1:srgbClr val="8ACEC4"/>
                </ns1:solidFill>
                <ns1:latin typeface="Arial"/>
                <ns1:ea typeface="Arial"/>
                <ns1:cs typeface="Arial"/>
              </ns1:defRPr>
            </ns1:pPr>
            <ns1:r>
              <ns1:rPr sz="2250" b="1">
                <ns1:solidFill>
                  <ns1:srgbClr val="8ACEC4"/>
                </ns1:solidFill>
                <ns1:latin typeface="Arial"/>
                <ns1:ea typeface="Arial"/>
                <ns1:cs typeface="Arial"/>
              </ns1:rPr>
              <ns1:t>Ручная доразметка меняет оценку качества</ns1:t>
            </ns1:r>
          </ns1:p>
        </p:txBody>
      </p:sp>
      <p:sp>
        <p:nvSpPr>
          <p:cNvPr id="4" name="E5 NDCG@10: с 0,488 до 0,879">
            <a:extLst xmlns:a="http://schemas.openxmlformats.org/drawingml/2006/main">
              <a:ext uri="{FF2B5EF4-FFF2-40B4-BE49-F238E27FC236}">
                <a16:creationId xmlns:a16="http://schemas.microsoft.com/office/drawing/2014/main" id="{1318D601-01BA-4BC1-925B-84BB893A453B}"/>
              </a:ext>
            </a:extLst>
          </p:cNvPr>
          <p:cNvSpPr>
            <a:spLocks xmlns:a="http://schemas.openxmlformats.org/drawingml/2006/main" noGrp="1"/>
          </p:cNvSpPr>
          <p:nvPr/>
        </p:nvSpPr>
        <p:spPr>
          <a:xfrm xmlns:a="http://schemas.openxmlformats.org/drawingml/2006/main">
            <a:off x="609600" y="22383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xmlns:a="http://schemas.openxmlformats.org/drawingml/2006/main">
              <a:ext uri="{FF2B5EF4-FFF2-40B4-BE49-F238E27FC236}">
                <a16:creationId xmlns:a16="http://schemas.microsoft.com/office/drawing/2014/main" id="{F253C9CE-8A3A-4965-A712-FA468C91C31B}"/>
              </a:ext>
            </a:extLst>
          </p:cNvPr>
          <p:cNvSpPr>
            <a:spLocks xmlns:a="http://schemas.openxmlformats.org/drawingml/2006/main" noGrp="1"/>
          </p:cNvSpPr>
          <p:nvPr/>
        </p:nvSpPr>
        <p:spPr>
          <a:xfrm xmlns:a="http://schemas.openxmlformats.org/drawingml/2006/main">
            <a:off x="609600" y="30480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
            <a:extLst xmlns:a="http://schemas.openxmlformats.org/drawingml/2006/main">
              <a:ext uri="{FF2B5EF4-FFF2-40B4-BE49-F238E27FC236}">
                <a16:creationId xmlns:a16="http://schemas.microsoft.com/office/drawing/2014/main" id="{89E06602-392C-4B92-9D8A-29BBBEC2FC4A}"/>
              </a:ext>
            </a:extLst>
          </p:cNvPr>
          <p:cNvSpPr>
            <a:spLocks xmlns:a="http://schemas.openxmlformats.org/drawingml/2006/main" noGrp="1"/>
          </p:cNvSpPr>
          <p:nvPr/>
        </p:nvSpPr>
        <p:spPr>
          <a:xfrm xmlns:a="http://schemas.openxmlformats.org/drawingml/2006/main">
            <a:off x="609600" y="371475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Фиксированные выдачи, один судья">
            <a:extLst xmlns:a="http://schemas.openxmlformats.org/drawingml/2006/main">
              <a:ext uri="{FF2B5EF4-FFF2-40B4-BE49-F238E27FC236}">
                <a16:creationId xmlns:a16="http://schemas.microsoft.com/office/drawing/2014/main" id="{3F7ABDF7-8C0D-47F5-B05A-ACE52D31CF60}"/>
              </a:ext>
            </a:extLst>
          </p:cNvPr>
          <p:cNvSpPr>
            <a:spLocks xmlns:a="http://schemas.openxmlformats.org/drawingml/2006/main" noGrp="1"/>
          </p:cNvSpPr>
          <p:nvPr/>
        </p:nvSpPr>
        <p:spPr>
          <a:xfrm xmlns:a="http://schemas.openxmlformats.org/drawingml/2006/main">
            <a:off x="609600" y="3962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8ACEC4"/>
                </ns2:solidFill>
                <ns2:latin typeface="Arial"/>
                <ns2:ea typeface="Arial"/>
                <ns2:cs typeface="Arial"/>
              </ns2:defRPr>
            </ns2:pPr>
            <ns2:r>
              <ns2:rPr sz="2250" b="1">
                <ns2:solidFill>
                  <ns2:srgbClr val="8ACEC4"/>
                </ns2:solidFill>
                <ns2:latin typeface="Arial"/>
                <ns2:ea typeface="Arial"/>
                <ns2:cs typeface="Arial"/>
              </ns2:rPr>
              <ns2:t>При фиксированной выдаче и одном судье</ns2:t>
            </ns2:r>
          </ns2:p>
        </p:txBody>
      </p:sp>
      <p:sp>
        <p:nvSpPr>
          <p:cNvPr id="8" name="Расширение пула может изменить порядок RRF и E5">
            <a:extLst xmlns:a="http://schemas.openxmlformats.org/drawingml/2006/main">
              <a:ext uri="{FF2B5EF4-FFF2-40B4-BE49-F238E27FC236}">
                <a16:creationId xmlns:a16="http://schemas.microsoft.com/office/drawing/2014/main" id="{CE0F19DB-D496-41FD-BDFF-9FE31E3C40D4}"/>
              </a:ext>
            </a:extLst>
          </p:cNvPr>
          <p:cNvSpPr>
            <a:spLocks xmlns:a="http://schemas.openxmlformats.org/drawingml/2006/main" noGrp="1"/>
          </p:cNvSpPr>
          <p:nvPr/>
        </p:nvSpPr>
        <p:spPr>
          <a:xfrm xmlns:a="http://schemas.openxmlformats.org/drawingml/2006/main">
            <a:off x="609600" y="44958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400" b="0">
                <ns3:solidFill>
                  <ns3:srgbClr val="FFFFFF"/>
                </ns3:solidFill>
                <ns3:latin typeface="Arial"/>
                <ns3:ea typeface="Arial"/>
                <ns3:cs typeface="Arial"/>
              </ns3:defRPr>
            </ns3:pPr>
            <ns3:r>
              <ns3:rPr sz="2400" b="0">
                <ns3:solidFill>
                  <ns3:srgbClr val="FFFFFF"/>
                </ns3:solidFill>
                <ns3:latin typeface="Arial"/>
                <ns3:ea typeface="Arial"/>
                <ns3:cs typeface="Arial"/>
              </ns3:rPr>
              <ns3:t>Вывод о лучшей системе зависит от охвата разметки</ns3:t>
            </ns3:r>
          </ns3:p>
        </p:txBody>
      </p:sp>
      <p:sp>
        <p:nvSpPr>
          <p:cNvPr id="9" name="">
            <a:extLst xmlns:a="http://schemas.openxmlformats.org/drawingml/2006/main">
              <a:ext uri="{FF2B5EF4-FFF2-40B4-BE49-F238E27FC236}">
                <a16:creationId xmlns:a16="http://schemas.microsoft.com/office/drawing/2014/main" id="{FFBB8109-9405-409B-B231-D129FD718FE5}"/>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10" name="Далее: более сильные судьи с эталонным ответом и">
            <a:extLst xmlns:a="http://schemas.openxmlformats.org/drawingml/2006/main">
              <a:ext uri="{FF2B5EF4-FFF2-40B4-BE49-F238E27FC236}">
                <a16:creationId xmlns:a16="http://schemas.microsoft.com/office/drawing/2014/main" id="{35AA4F24-D638-4451-9E6A-83C26E37B82F}"/>
              </a:ext>
            </a:extLst>
          </p:cNvPr>
          <p:cNvSpPr>
            <a:spLocks xmlns:a="http://schemas.openxmlformats.org/drawingml/2006/main" noGrp="1"/>
          </p:cNvSpPr>
          <p:nvPr/>
        </p:nvSpPr>
        <p:spPr>
          <a:xfrm xmlns:a="http://schemas.openxmlformats.org/drawingml/2006/main">
            <a:off x="609600" y="5457825"/>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950" b="0">
                <ns4:solidFill>
                  <ns4:srgbClr val="C9DDDA"/>
                </ns4:solidFill>
                <ns4:latin typeface="Arial"/>
                <ns4:ea typeface="Arial"/>
                <ns4:cs typeface="Arial"/>
              </ns4:defRPr>
            </ns4:pPr>
            <ns4:r>
              <ns4:rPr sz="1950" b="0">
                <ns4:solidFill>
                  <ns4:srgbClr val="C9DDDA"/>
                </ns4:solidFill>
                <ns4:latin typeface="Arial"/>
                <ns4:ea typeface="Arial"/>
                <ns4:cs typeface="Arial"/>
              </ns4:rPr>
              <ns4:t>Направления дальнейшего исследования</ns4:t>
            </ns4:r>
          </ns4:p>
          <ns5:p xmlns:ns5="http://schemas.openxmlformats.org/drawingml/2006/main">
            <ns5:pPr algn="l">
              <ns5:defRPr sz="1950" b="0">
                <ns5:solidFill>
                  <ns5:srgbClr val="C9DDDA"/>
                </ns5:solidFill>
                <ns5:latin typeface="Arial"/>
                <ns5:ea typeface="Arial"/>
                <ns5:cs typeface="Arial"/>
              </ns5:defRPr>
            </ns5:pPr>
            <ns5:r>
              <ns5:rPr sz="1950" b="0">
                <ns5:solidFill>
                  <ns5:srgbClr val="C9DDDA"/>
                </ns5:solidFill>
                <ns5:latin typeface="Arial"/>
                <ns5:ea typeface="Arial"/>
                <ns5:cs typeface="Arial"/>
              </ns5:rPr>
              <ns5:t>Улучшить судью и проверить доразметку по оценкам человека</ns5:t>
            </ns5:r>
          </ns5:p>
        </p:txBody>
      </p:sp>
      <p:sp>
        <p:nvSpPr>
          <p:cNvPr id="11" name="Результаты для выбранных пулов английского MS MA">
            <a:extLst xmlns:a="http://schemas.openxmlformats.org/drawingml/2006/main">
              <a:ext uri="{FF2B5EF4-FFF2-40B4-BE49-F238E27FC236}">
                <a16:creationId xmlns:a16="http://schemas.microsoft.com/office/drawing/2014/main" id="{C2512A4B-93FA-4003-AF07-347F969F8FC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64FE41A2-C4AF-474F-9FCD-6E005D0E7492}"/>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F2A4A689-EBF7-4448-B9DA-188EB09E151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xmlns:a="http://schemas.openxmlformats.org/drawingml/2006/main">
              <a:ext uri="{FF2B5EF4-FFF2-40B4-BE49-F238E27FC236}">
                <a16:creationId xmlns:a16="http://schemas.microsoft.com/office/drawing/2014/main" id="{3BF60AEC-1E9C-4DBE-8080-352F9360DD8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5 000 парных бутстрэп-выборок по запросам. Для в">
            <a:extLst xmlns:a="http://schemas.openxmlformats.org/drawingml/2006/main">
              <a:ext uri="{FF2B5EF4-FFF2-40B4-BE49-F238E27FC236}">
                <a16:creationId xmlns:a16="http://schemas.microsoft.com/office/drawing/2014/main" id="{76F32C76-7D7A-4648-9125-EF0A8A2087D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четырёх эффектов p &lt; 0,001.</a:t>
            </a:r>
          </a:p>
        </p:txBody>
      </p:sp>
    </p:spTree>
    <p:extLst>
      <p:ext uri="{BB962C8B-B14F-4D97-AF65-F5344CB8AC3E}">
        <p14:creationId xmlns:p14="http://schemas.microsoft.com/office/powerpoint/2010/main" val="1934150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A3FB63F2-E26E-413E-8184-A81F9BEEC75C}"/>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6B14EBB8-D421-4371-8104-CD6B661AA88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xmlns:a="http://schemas.openxmlformats.org/drawingml/2006/main">
              <a:ext uri="{FF2B5EF4-FFF2-40B4-BE49-F238E27FC236}">
                <a16:creationId xmlns:a16="http://schemas.microsoft.com/office/drawing/2014/main" id="{B0074F6B-BF66-498C-B1D7-2C91D75F8F28}"/>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E61C322-1DEF-41B8-9C56-18BB35F7EED8}"/>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ECB98A03-7A65-4522-BDE0-ED9F853CAA94}"/>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5356EB37-426F-4574-B034-2B55A21C3FBA}"/>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209C21D2-231E-447C-80B4-DFFC8C8951CB}"/>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930BE2EA-BC06-4989-8BAF-11F1871EDEE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95236"/>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82B30"/>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95236"/>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F78"/>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51871FC4-4325-4F0A-BB63-2F4555F3CFE6}"/>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BCF0C21-0199-4E9E-9FD9-4ABD228C9B61}"/>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3EEF060C-A63C-407F-BEDE-CC7248B1450A}"/>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147A019-82BB-4C5C-AA20-6594216524C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2826898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9878F464-4720-471F-A708-DF0DEB2B4613}"/>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6922032D-AECA-4ADA-9F40-A46B079DE0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82B30"/>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севдометки одного судьи. В каждом среднем учтен">
            <a:extLst xmlns:a="http://schemas.openxmlformats.org/drawingml/2006/main">
              <a:ext uri="{FF2B5EF4-FFF2-40B4-BE49-F238E27FC236}">
                <a16:creationId xmlns:a16="http://schemas.microsoft.com/office/drawing/2014/main" id="{824170C2-6150-4E0A-BEA0-1D0CAFC232C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28FCC684-DC91-4AC3-9B9E-EE8BFD54C1FD}"/>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Проверка качества ручных данных</ns0:t>
            </ns0:r>
          </ns0:p>
        </p:txBody>
      </p:sp>
      <p:sp>
        <p:nvSpPr>
          <p:cNvPr id="2" name="РЕЗЕРВ 4">
            <a:extLst xmlns:a="http://schemas.openxmlformats.org/drawingml/2006/main">
              <a:ext uri="{FF2B5EF4-FFF2-40B4-BE49-F238E27FC236}">
                <a16:creationId xmlns:a16="http://schemas.microsoft.com/office/drawing/2014/main" id="{40560BA3-F950-4501-86BB-6BBB20FBFC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xmlns:a="http://schemas.openxmlformats.org/drawingml/2006/main">
              <a:ext uri="{FF2B5EF4-FFF2-40B4-BE49-F238E27FC236}">
                <a16:creationId xmlns:a16="http://schemas.microsoft.com/office/drawing/2014/main" id="{5BC7CF8A-8A66-4D2B-BB84-31D65FD675C8}"/>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1:p xmlns:ns1="http://schemas.openxmlformats.org/drawingml/2006/main">
            <ns1:pPr algn="l">
              <ns1:defRPr sz="2025" b="0">
                <ns1:solidFill>
                  <ns1:srgbClr val="526970"/>
                </ns1:solidFill>
                <ns1:latin typeface="Arial"/>
                <ns1:ea typeface="Arial"/>
                <ns1:cs typeface="Arial"/>
              </ns1:defRPr>
            </ns1:pPr>
            <ns1:r>
              <ns1:rPr sz="2025" b="0">
                <ns1:solidFill>
                  <ns1:srgbClr val="526970"/>
                </ns1:solidFill>
                <ns1:latin typeface="Arial"/>
                <ns1:ea typeface="Arial"/>
                <ns1:cs typeface="Arial"/>
              </ns1:rPr>
              <ns1:t>Ручная разметка: проверка без 23 запросов</ns1:t>
            </ns1:r>
          </ns1: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EFF5F4"/>
                    </a:solidFill>
                  </a:tcPr>
                </a:tc>
                <a:tc>
                  <a:txBody>
                    <a:bodyPr lIns="171450" tIns="95250" rIns="171450" bIns="95250">
                      <a:noAutofit/>
                    </a:bodyPr>
                    <a:lstStyle/>
                    <a:p>
                      <a:r>
                        <a:rPr sz="1875" b="1">
                          <a:solidFill>
                            <a:srgbClr val="526970"/>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58E8A587-3CA8-40FD-AF5E-3E8C552C0C17}"/>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2:p xmlns:ns2="http://schemas.openxmlformats.org/drawingml/2006/main">
            <ns2:pPr algn="l">
              <ns2:defRPr sz="2250" b="1">
                <ns2:solidFill>
                  <ns2:srgbClr val="007F78"/>
                </ns2:solidFill>
                <ns2:latin typeface="Arial"/>
                <ns2:ea typeface="Arial"/>
                <ns2:cs typeface="Arial"/>
              </ns2:defRPr>
            </ns2:pPr>
            <ns2:r>
              <ns2:rPr sz="2250" b="1">
                <ns2:solidFill>
                  <ns2:srgbClr val="007F78"/>
                </ns2:solidFill>
                <ns2:latin typeface="Arial"/>
                <ns2:ea typeface="Arial"/>
                <ns2:cs typeface="Arial"/>
              </ns2:rPr>
              <ns2:t>29 пар с метками 3, 20 или 22; 5 пар без текста</ns2:t>
            </ns2:r>
          </ns2:p>
        </p:txBody>
      </p:sp>
      <p:sp>
        <p:nvSpPr>
          <p:cNvPr id="6" name="При K = 200: RRF − E5 = +0,00877">
            <a:extLst xmlns:a="http://schemas.openxmlformats.org/drawingml/2006/main">
              <a:ext uri="{FF2B5EF4-FFF2-40B4-BE49-F238E27FC236}">
                <a16:creationId xmlns:a16="http://schemas.microsoft.com/office/drawing/2014/main" id="{9CF32D85-4613-482F-8B19-0DEEF1AB81FA}"/>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3:p xmlns:ns3="http://schemas.openxmlformats.org/drawingml/2006/main">
            <ns3:pPr algn="l">
              <ns3:defRPr sz="2100" b="0">
                <ns3:solidFill>
                  <ns3:srgbClr val="182B30"/>
                </ns3:solidFill>
                <ns3:latin typeface="Arial"/>
                <ns3:ea typeface="Arial"/>
                <ns3:cs typeface="Arial"/>
              </ns3:defRPr>
            </ns3:pPr>
            <ns3:r>
              <ns3:rPr sz="2100" b="0">
                <ns3:solidFill>
                  <ns3:srgbClr val="182B30"/>
                </ns3:solidFill>
                <ns3:latin typeface="Arial"/>
                <ns3:ea typeface="Arial"/>
                <ns3:cs typeface="Arial"/>
              </ns3:rPr>
              <ns3:t>Затронуты 23 запроса. После исключения осталось 1 156.</ns3:t>
            </ns3:r>
          </ns3: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CDBB4910-106E-4D8F-B12B-42CCE277D5C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4:p xmlns:ns4="http://schemas.openxmlformats.org/drawingml/2006/main">
            <ns4:pPr algn="l">
              <ns4:defRPr sz="1575" b="0">
                <ns4:solidFill>
                  <ns4:srgbClr val="526970"/>
                </ns4:solidFill>
                <ns4:latin typeface="Arial"/>
                <ns4:ea typeface="Arial"/>
                <ns4:cs typeface="Arial"/>
              </ns4:defRPr>
            </ns4:pPr>
            <ns4:r>
              <ns4:rPr sz="1575" b="0">
                <ns4:solidFill>
                  <ns4:srgbClr val="526970"/>
                </ns4:solidFill>
                <ns4:latin typeface="Arial"/>
                <ns4:ea typeface="Arial"/>
                <ns4:cs typeface="Arial"/>
              </ns4:rPr>
              <ns4:t>Коды вне шкалы 0/1/2 не считали подтвержденными оценками.</ns4:t>
            </ns4:r>
          </ns4:p>
        </p:txBody>
      </p:sp>
    </p:spTree>
    <p:extLst>
      <p:ext uri="{BB962C8B-B14F-4D97-AF65-F5344CB8AC3E}">
        <p14:creationId xmlns:p14="http://schemas.microsoft.com/office/powerpoint/2010/main" val="68603700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Следующий шаг: судья с эталонным ответом">
            <a:extLst xmlns:a="http://schemas.openxmlformats.org/drawingml/2006/main">
              <a:ext uri="{FF2B5EF4-FFF2-40B4-BE49-F238E27FC236}">
                <a16:creationId xmlns:a16="http://schemas.microsoft.com/office/drawing/2014/main" id="{8BB88DBE-1FA1-4812-A58B-00395E190D0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ns0:p xmlns:ns0="http://schemas.openxmlformats.org/drawingml/2006/main">
            <ns0:pPr algn="l">
              <ns0:defRPr sz="3225" b="1">
                <ns0:solidFill>
                  <ns0:srgbClr val="182B30"/>
                </ns0:solidFill>
                <ns0:latin typeface="Arial"/>
                <ns0:ea typeface="Arial"/>
                <ns0:cs typeface="Arial"/>
              </ns0:defRPr>
            </ns0:pPr>
            <ns0:r>
              <ns0:rPr sz="3225" b="1">
                <ns0:solidFill>
                  <ns0:srgbClr val="182B30"/>
                </ns0:solidFill>
                <ns0:latin typeface="Arial"/>
                <ns0:ea typeface="Arial"/>
                <ns0:cs typeface="Arial"/>
              </ns0:rPr>
              <ns0:t>Судья с эталонным ответом</ns0:t>
            </ns0:r>
          </ns0:p>
        </p:txBody>
      </p:sp>
      <p:sp>
        <p:nvSpPr>
          <p:cNvPr id="2" name="РЕЗЕРВ 5">
            <a:extLst xmlns:a="http://schemas.openxmlformats.org/drawingml/2006/main">
              <a:ext uri="{FF2B5EF4-FFF2-40B4-BE49-F238E27FC236}">
                <a16:creationId xmlns:a16="http://schemas.microsoft.com/office/drawing/2014/main" id="{1C286169-48C8-4BF7-B807-41C16EF962B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xmlns:a="http://schemas.openxmlformats.org/drawingml/2006/main">
              <a:ext uri="{FF2B5EF4-FFF2-40B4-BE49-F238E27FC236}">
                <a16:creationId xmlns:a16="http://schemas.microsoft.com/office/drawing/2014/main" id="{E3C7D543-2F1E-43A6-BC62-EBAB217B6D65}"/>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xmlns:a="http://schemas.openxmlformats.org/drawingml/2006/main">
              <a:ext uri="{FF2B5EF4-FFF2-40B4-BE49-F238E27FC236}">
                <a16:creationId xmlns:a16="http://schemas.microsoft.com/office/drawing/2014/main" id="{90118D05-C33A-416F-8B29-520EE248E66E}"/>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xmlns:a="http://schemas.openxmlformats.org/drawingml/2006/main">
              <a:ext uri="{FF2B5EF4-FFF2-40B4-BE49-F238E27FC236}">
                <a16:creationId xmlns:a16="http://schemas.microsoft.com/office/drawing/2014/main" id="{30F17433-3B9E-4FAE-A8FA-52B6AA615CC4}"/>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8575">
            <a:solidFill>
              <a:srgbClr val="526970"/>
            </a:solidFill>
            <a:tailEnd type="triangle" w="med" len="med"/>
          </a:ln>
        </p:spPr>
      </p:cxnSp>
      <p:sp>
        <p:nvSpPr>
          <p:cNvPr id="7" name="Сравнение более сильных судей&#10;по независимым чел">
            <a:extLst xmlns:a="http://schemas.openxmlformats.org/drawingml/2006/main">
              <a:ext uri="{FF2B5EF4-FFF2-40B4-BE49-F238E27FC236}">
                <a16:creationId xmlns:a16="http://schemas.microsoft.com/office/drawing/2014/main" id="{A105146A-D8EA-4210-99A3-4C12DEC0F712}"/>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Сравнение более сильных судей</a:t>
            </a:r>
          </a:p>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по независимым человеческим оценкам</a:t>
            </a:r>
          </a:p>
        </p:txBody>
      </p:sp>
      <p:sp>
        <p:nvSpPr>
          <p:cNvPr id="8" name="Запланированный эксперимент. Результаты для тако">
            <a:extLst xmlns:a="http://schemas.openxmlformats.org/drawingml/2006/main">
              <a:ext uri="{FF2B5EF4-FFF2-40B4-BE49-F238E27FC236}">
                <a16:creationId xmlns:a16="http://schemas.microsoft.com/office/drawing/2014/main" id="{E0AF8946-8C97-46ED-8055-EDF230D8EF7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Запланированный эксперимент. Результаты для такого судьи пока не получены.</a:t>
            </a:r>
          </a:p>
        </p:txBody>
      </p:sp>
    </p:spTree>
    <p:extLst>
      <p:ext uri="{BB962C8B-B14F-4D97-AF65-F5344CB8AC3E}">
        <p14:creationId xmlns:p14="http://schemas.microsoft.com/office/powerpoint/2010/main" val="151797225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Полная dev-часть для масштабной оценки">
            <a:extLst xmlns:a="http://schemas.openxmlformats.org/drawingml/2006/main">
              <a:ext uri="{FF2B5EF4-FFF2-40B4-BE49-F238E27FC236}">
                <a16:creationId xmlns:a16="http://schemas.microsoft.com/office/drawing/2014/main" id="{2B9A8261-9949-4488-9D48-53C08C661826}"/>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xmlns:a="http://schemas.openxmlformats.org/drawingml/2006/main">
              <a:ext uri="{FF2B5EF4-FFF2-40B4-BE49-F238E27FC236}">
                <a16:creationId xmlns:a16="http://schemas.microsoft.com/office/drawing/2014/main" id="{15478C3A-5184-42AE-8DFA-18DE758B612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xmlns:a="http://schemas.openxmlformats.org/drawingml/2006/main">
              <a:ext uri="{FF2B5EF4-FFF2-40B4-BE49-F238E27FC236}">
                <a16:creationId xmlns:a16="http://schemas.microsoft.com/office/drawing/2014/main" id="{2077CA7F-B524-4CC1-842C-6AF4B2D39327}"/>
              </a:ext>
            </a:extLst>
          </p:cNvPr>
          <p:cNvSpPr>
            <a:spLocks xmlns:a="http://schemas.openxmlformats.org/drawingml/2006/main" noGrp="1"/>
          </p:cNvSpPr>
          <p:nvPr/>
        </p:nvSpPr>
        <p:spPr>
          <a:xfrm xmlns:a="http://schemas.openxmlformats.org/drawingml/2006/main">
            <a:off x="609600" y="169545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007F78"/>
                </a:solidFill>
                <a:latin typeface="Arial"/>
                <a:ea typeface="Arial"/>
                <a:cs typeface="Arial"/>
              </a:defRPr>
            </a:defPPr>
          </a:lstStyle>
          <a:p xmlns:a="http://schemas.openxmlformats.org/drawingml/2006/main">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xmlns:a="http://schemas.openxmlformats.org/drawingml/2006/main">
              <a:ext uri="{FF2B5EF4-FFF2-40B4-BE49-F238E27FC236}">
                <a16:creationId xmlns:a16="http://schemas.microsoft.com/office/drawing/2014/main" id="{69389898-20D0-4BEF-9DC9-B302A76FDE4C}"/>
              </a:ext>
            </a:extLst>
          </p:cNvPr>
          <p:cNvSpPr>
            <a:spLocks xmlns:a="http://schemas.openxmlformats.org/drawingml/2006/main" noGrp="1"/>
          </p:cNvSpPr>
          <p:nvPr/>
        </p:nvSpPr>
        <p:spPr>
          <a:xfrm xmlns:a="http://schemas.openxmlformats.org/drawingml/2006/main">
            <a:off x="609600" y="28575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82B30"/>
                </a:solidFill>
                <a:latin typeface="Arial"/>
                <a:ea typeface="Arial"/>
                <a:cs typeface="Arial"/>
              </a:defRPr>
            </a:defPPr>
          </a:lstStyle>
          <ns0:p xmlns:ns0="http://schemas.openxmlformats.org/drawingml/2006/main">
            <ns0:pPr algn="l">
              <ns0:defRPr sz="2625" b="1">
                <ns0:solidFill>
                  <ns0:srgbClr val="182B30"/>
                </ns0:solidFill>
                <ns0:latin typeface="Arial"/>
                <ns0:ea typeface="Arial"/>
                <ns0:cs typeface="Arial"/>
              </ns0:defRPr>
            </ns0:pPr>
            <ns0:r>
              <ns0:rPr sz="2625" b="1">
                <ns0:solidFill>
                  <ns0:srgbClr val="182B30"/>
                </ns0:solidFill>
                <ns0:latin typeface="Arial"/>
                <ns0:ea typeface="Arial"/>
                <ns0:cs typeface="Arial"/>
              </ns0:rPr>
              <ns0:t>запроса в полной dev-части</ns0:t>
            </ns0:r>
          </ns0:p>
        </p:txBody>
      </p:sp>
      <p:sp>
        <p:nvSpPr>
          <p:cNvPr id="5" name="MS MARCO Passage Ranking v1">
            <a:extLst xmlns:a="http://schemas.openxmlformats.org/drawingml/2006/main">
              <a:ext uri="{FF2B5EF4-FFF2-40B4-BE49-F238E27FC236}">
                <a16:creationId xmlns:a16="http://schemas.microsoft.com/office/drawing/2014/main" id="{51CC0684-1327-4BC3-A025-1397E4CE659B}"/>
              </a:ext>
            </a:extLst>
          </p:cNvPr>
          <p:cNvSpPr>
            <a:spLocks xmlns:a="http://schemas.openxmlformats.org/drawingml/2006/main" noGrp="1"/>
          </p:cNvSpPr>
          <p:nvPr/>
        </p:nvSpPr>
        <p:spPr>
          <a:xfrm xmlns:a="http://schemas.openxmlformats.org/drawingml/2006/main">
            <a:off x="609600" y="34575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970"/>
                </a:solidFill>
                <a:latin typeface="Arial"/>
                <a:ea typeface="Arial"/>
                <a:cs typeface="Arial"/>
              </a:defRPr>
            </a:defPPr>
          </a:lstStyle>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
            <a:extLst xmlns:a="http://schemas.openxmlformats.org/drawingml/2006/main">
              <a:ext uri="{FF2B5EF4-FFF2-40B4-BE49-F238E27FC236}">
                <a16:creationId xmlns:a16="http://schemas.microsoft.com/office/drawing/2014/main" id="{700D9565-FB0D-48DF-A6A6-5CB34B98F20D}"/>
              </a:ext>
            </a:extLst>
          </p:cNvPr>
          <p:cNvSpPr>
            <a:spLocks xmlns:a="http://schemas.openxmlformats.org/drawingml/2006/main" noGrp="1"/>
          </p:cNvSpPr>
          <p:nvPr/>
        </p:nvSpPr>
        <p:spPr>
          <a:xfrm xmlns:a="http://schemas.openxmlformats.org/drawingml/2006/main">
            <a:off x="609600" y="4114800"/>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7" name="Для этих запросов подготовили поисковые выдачи.&#10;После обучения судья о">
            <a:extLst xmlns:a="http://schemas.openxmlformats.org/drawingml/2006/main">
              <a:ext uri="{FF2B5EF4-FFF2-40B4-BE49-F238E27FC236}">
                <a16:creationId xmlns:a16="http://schemas.microsoft.com/office/drawing/2014/main" id="{6A8F38E8-5CB3-4209-9F32-3162AF293AF6}"/>
              </a:ext>
            </a:extLst>
          </p:cNvPr>
          <p:cNvSpPr>
            <a:spLocks xmlns:a="http://schemas.openxmlformats.org/drawingml/2006/main" noGrp="1"/>
          </p:cNvSpPr>
          <p:nvPr/>
        </p:nvSpPr>
        <p:spPr>
          <a:xfrm xmlns:a="http://schemas.openxmlformats.org/drawingml/2006/main">
            <a:off x="609600" y="442912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30"/>
                </a:solidFill>
                <a:latin typeface="Arial"/>
                <a:ea typeface="Arial"/>
                <a:cs typeface="Arial"/>
              </a:defRPr>
            </a:defPPr>
          </a:lstStyle>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Tree>
    <p:extLst>
      <p:ext uri="{BB962C8B-B14F-4D97-AF65-F5344CB8AC3E}">
        <p14:creationId xmlns:p14="http://schemas.microsoft.com/office/powerpoint/2010/main" val="178333556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DD5774A0-A021-4D39-82EC-B8310EB78AF8}"/>
              </a:ext>
            </a:extLst>
          </p:cNvPr>
          <p:cNvCxnSpPr>
            <a:stCxn xmlns:a="http://schemas.openxmlformats.org/drawingml/2006/main" id="8" idx="3"/>
            <a:endCxn xmlns:a="http://schemas.openxmlformats.org/drawingml/2006/main" id="9" idx="1"/>
          </p:cNvCxnSpPr>
          <p:nvPr/>
        </p:nvCxnSpPr>
        <p:spPr>
          <a:xfrm xmlns:a="http://schemas.openxmlformats.org/drawingml/2006/main">
            <a:off x="8810625"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3" name="">
            <a:extLst xmlns:a="http://schemas.openxmlformats.org/drawingml/2006/main">
              <a:ext uri="{FF2B5EF4-FFF2-40B4-BE49-F238E27FC236}">
                <a16:creationId xmlns:a16="http://schemas.microsoft.com/office/drawing/2014/main" id="{94519830-39EE-49CE-8B96-37BCA4255EF2}"/>
              </a:ext>
            </a:extLst>
          </p:cNvPr>
          <p:cNvCxnSpPr>
            <a:stCxn xmlns:a="http://schemas.openxmlformats.org/drawingml/2006/main" id="7" idx="3"/>
            <a:endCxn xmlns:a="http://schemas.openxmlformats.org/drawingml/2006/main" id="8" idx="1"/>
          </p:cNvCxnSpPr>
          <p:nvPr/>
        </p:nvCxnSpPr>
        <p:spPr>
          <a:xfrm xmlns:a="http://schemas.openxmlformats.org/drawingml/2006/main">
            <a:off x="6210300" y="3562350"/>
            <a:ext cx="695325"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2" name="">
            <a:extLst xmlns:a="http://schemas.openxmlformats.org/drawingml/2006/main">
              <a:ext uri="{FF2B5EF4-FFF2-40B4-BE49-F238E27FC236}">
                <a16:creationId xmlns:a16="http://schemas.microsoft.com/office/drawing/2014/main" id="{97DB1A34-F3A2-4ADF-B8B5-118B3E58EE3E}"/>
              </a:ext>
            </a:extLst>
          </p:cNvPr>
          <p:cNvCxnSpPr>
            <a:stCxn xmlns:a="http://schemas.openxmlformats.org/drawingml/2006/main" id="6" idx="3"/>
            <a:endCxn xmlns:a="http://schemas.openxmlformats.org/drawingml/2006/main" id="7" idx="1"/>
          </p:cNvCxnSpPr>
          <p:nvPr/>
        </p:nvCxnSpPr>
        <p:spPr>
          <a:xfrm xmlns:a="http://schemas.openxmlformats.org/drawingml/2006/main" flipV="1">
            <a:off x="2800350" y="356235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C5A5CD1C-C7B9-4EF6-82BE-EC948942575C}"/>
              </a:ext>
            </a:extLst>
          </p:cNvPr>
          <p:cNvCxnSpPr>
            <a:stCxn xmlns:a="http://schemas.openxmlformats.org/drawingml/2006/main" id="5" idx="3"/>
            <a:endCxn xmlns:a="http://schemas.openxmlformats.org/drawingml/2006/main" id="7" idx="1"/>
          </p:cNvCxnSpPr>
          <p:nvPr/>
        </p:nvCxnSpPr>
        <p:spPr>
          <a:xfrm xmlns:a="http://schemas.openxmlformats.org/drawingml/2006/main">
            <a:off x="2800350" y="3562350"/>
            <a:ext cx="8382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D63E2B75-ED35-40FB-B910-C5AF73868780}"/>
              </a:ext>
            </a:extLst>
          </p:cNvPr>
          <p:cNvCxnSpPr>
            <a:stCxn xmlns:a="http://schemas.openxmlformats.org/drawingml/2006/main" id="4" idx="3"/>
            <a:endCxn xmlns:a="http://schemas.openxmlformats.org/drawingml/2006/main" id="7" idx="1"/>
          </p:cNvCxnSpPr>
          <p:nvPr/>
        </p:nvCxnSpPr>
        <p:spPr>
          <a:xfrm xmlns:a="http://schemas.openxmlformats.org/drawingml/2006/main">
            <a:off x="2800350" y="2628900"/>
            <a:ext cx="838200" cy="9334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7" name="Пулы кандидатов для модели-судьи">
            <a:extLst xmlns:a="http://schemas.openxmlformats.org/drawingml/2006/main">
              <a:ext uri="{FF2B5EF4-FFF2-40B4-BE49-F238E27FC236}">
                <a16:creationId xmlns:a16="http://schemas.microsoft.com/office/drawing/2014/main" id="{41E850F8-10CA-44D8-BE1F-EE579E3500DB}"/>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xmlns:a="http://schemas.openxmlformats.org/drawingml/2006/main">
              <a:ext uri="{FF2B5EF4-FFF2-40B4-BE49-F238E27FC236}">
                <a16:creationId xmlns:a16="http://schemas.microsoft.com/office/drawing/2014/main" id="{B8524155-95B6-4806-94B3-99C08507C3F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xmlns:a="http://schemas.openxmlformats.org/drawingml/2006/main">
              <a:ext uri="{FF2B5EF4-FFF2-40B4-BE49-F238E27FC236}">
                <a16:creationId xmlns:a16="http://schemas.microsoft.com/office/drawing/2014/main" id="{BA938D0F-D1C3-4577-BBA3-93D726C721B6}"/>
              </a:ext>
            </a:extLst>
          </p:cNvPr>
          <p:cNvSpPr>
            <a:spLocks xmlns:a="http://schemas.openxmlformats.org/drawingml/2006/main" noGrp="1"/>
          </p:cNvSpPr>
          <p:nvPr/>
        </p:nvSpPr>
        <p:spPr>
          <a:xfrm xmlns:a="http://schemas.openxmlformats.org/drawingml/2006/main">
            <a:off x="609600" y="154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K задаёт число результатов от каждого поискового метода</a:t>
            </a:r>
          </a:p>
        </p:txBody>
      </p:sp>
      <p:sp>
        <p:nvSpPr>
          <p:cNvPr id="4" name="BM25&#10;первые K">
            <a:extLst xmlns:a="http://schemas.openxmlformats.org/drawingml/2006/main">
              <a:ext uri="{FF2B5EF4-FFF2-40B4-BE49-F238E27FC236}">
                <a16:creationId xmlns:a16="http://schemas.microsoft.com/office/drawing/2014/main" id="{D1493ED4-A8A6-456B-BE4A-A6C59408A12F}"/>
              </a:ext>
            </a:extLst>
          </p:cNvPr>
          <p:cNvSpPr>
            <a:spLocks xmlns:a="http://schemas.openxmlformats.org/drawingml/2006/main" noGrp="1"/>
          </p:cNvSpPr>
          <p:nvPr/>
        </p:nvSpPr>
        <p:spPr>
          <a:xfrm xmlns:a="http://schemas.openxmlformats.org/drawingml/2006/main">
            <a:off x="609600" y="22383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xmlns:a="http://schemas.openxmlformats.org/drawingml/2006/main">
              <a:ext uri="{FF2B5EF4-FFF2-40B4-BE49-F238E27FC236}">
                <a16:creationId xmlns:a16="http://schemas.microsoft.com/office/drawing/2014/main" id="{9B4EC669-F96C-4AF6-BCE6-FB69AF2E0436}"/>
              </a:ext>
            </a:extLst>
          </p:cNvPr>
          <p:cNvSpPr>
            <a:spLocks xmlns:a="http://schemas.openxmlformats.org/drawingml/2006/main" noGrp="1"/>
          </p:cNvSpPr>
          <p:nvPr/>
        </p:nvSpPr>
        <p:spPr>
          <a:xfrm xmlns:a="http://schemas.openxmlformats.org/drawingml/2006/main">
            <a:off x="609600" y="317182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xmlns:a="http://schemas.openxmlformats.org/drawingml/2006/main">
              <a:ext uri="{FF2B5EF4-FFF2-40B4-BE49-F238E27FC236}">
                <a16:creationId xmlns:a16="http://schemas.microsoft.com/office/drawing/2014/main" id="{4C8AD222-7201-480C-8B29-CAE6DB242A58}"/>
              </a:ext>
            </a:extLst>
          </p:cNvPr>
          <p:cNvSpPr>
            <a:spLocks xmlns:a="http://schemas.openxmlformats.org/drawingml/2006/main" noGrp="1"/>
          </p:cNvSpPr>
          <p:nvPr/>
        </p:nvSpPr>
        <p:spPr>
          <a:xfrm xmlns:a="http://schemas.openxmlformats.org/drawingml/2006/main">
            <a:off x="609600" y="4105275"/>
            <a:ext cx="2190750" cy="7810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xmlns:a="http://schemas.openxmlformats.org/drawingml/2006/main">
              <a:ext uri="{FF2B5EF4-FFF2-40B4-BE49-F238E27FC236}">
                <a16:creationId xmlns:a16="http://schemas.microsoft.com/office/drawing/2014/main" id="{F11F59E8-3113-4FE5-9058-E52D8596CCF5}"/>
              </a:ext>
            </a:extLst>
          </p:cNvPr>
          <p:cNvSpPr>
            <a:spLocks xmlns:a="http://schemas.openxmlformats.org/drawingml/2006/main" noGrp="1"/>
          </p:cNvSpPr>
          <p:nvPr/>
        </p:nvSpPr>
        <p:spPr>
          <a:xfrm xmlns:a="http://schemas.openxmlformats.org/drawingml/2006/main">
            <a:off x="3638550" y="2990850"/>
            <a:ext cx="2571750" cy="114300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xmlns:a="http://schemas.openxmlformats.org/drawingml/2006/main">
              <a:ext uri="{FF2B5EF4-FFF2-40B4-BE49-F238E27FC236}">
                <a16:creationId xmlns:a16="http://schemas.microsoft.com/office/drawing/2014/main" id="{CA3440FA-9196-4E18-9E03-FBF19BA14987}"/>
              </a:ext>
            </a:extLst>
          </p:cNvPr>
          <p:cNvSpPr>
            <a:spLocks xmlns:a="http://schemas.openxmlformats.org/drawingml/2006/main" noGrp="1"/>
          </p:cNvSpPr>
          <p:nvPr/>
        </p:nvSpPr>
        <p:spPr>
          <a:xfrm xmlns:a="http://schemas.openxmlformats.org/drawingml/2006/main">
            <a:off x="6905625" y="2990850"/>
            <a:ext cx="190500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xmlns:a="http://schemas.openxmlformats.org/drawingml/2006/main">
              <a:ext uri="{FF2B5EF4-FFF2-40B4-BE49-F238E27FC236}">
                <a16:creationId xmlns:a16="http://schemas.microsoft.com/office/drawing/2014/main" id="{8D3E6DBD-0EE9-466E-B812-C69FE0AD4199}"/>
              </a:ext>
            </a:extLst>
          </p:cNvPr>
          <p:cNvSpPr>
            <a:spLocks xmlns:a="http://schemas.openxmlformats.org/drawingml/2006/main" noGrp="1"/>
          </p:cNvSpPr>
          <p:nvPr/>
        </p:nvSpPr>
        <p:spPr>
          <a:xfrm xmlns:a="http://schemas.openxmlformats.org/drawingml/2006/main">
            <a:off x="9505950" y="2990850"/>
            <a:ext cx="2076450" cy="114300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xmlns:a="http://schemas.openxmlformats.org/drawingml/2006/main">
              <a:ext uri="{FF2B5EF4-FFF2-40B4-BE49-F238E27FC236}">
                <a16:creationId xmlns:a16="http://schemas.microsoft.com/office/drawing/2014/main" id="{042F81F9-3D36-49A5-9BA1-6952EED02685}"/>
              </a:ext>
            </a:extLst>
          </p:cNvPr>
          <p:cNvSpPr>
            <a:spLocks xmlns:a="http://schemas.openxmlformats.org/drawingml/2006/main" noGrp="1"/>
          </p:cNvSpPr>
          <p:nvPr/>
        </p:nvSpPr>
        <p:spPr>
          <a:xfrm xmlns:a="http://schemas.openxmlformats.org/drawingml/2006/main">
            <a:off x="609600" y="5314950"/>
            <a:ext cx="647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07F78"/>
                </a:solidFill>
                <a:latin typeface="Arial"/>
                <a:ea typeface="Arial"/>
                <a:cs typeface="Arial"/>
              </a:defRPr>
            </a:defPPr>
          </a:lstStyle>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xmlns:a="http://schemas.openxmlformats.org/drawingml/2006/main">
              <a:ext uri="{FF2B5EF4-FFF2-40B4-BE49-F238E27FC236}">
                <a16:creationId xmlns:a16="http://schemas.microsoft.com/office/drawing/2014/main" id="{50259D60-B4FE-49AC-BF2A-02DE5163D21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323822FD-5B19-4010-A14D-25DCC8F9DF76}"/>
              </a:ext>
            </a:extLst>
          </p:cNvPr>
          <p:cNvCxnSpPr>
            <a:stCxn xmlns:a="http://schemas.openxmlformats.org/drawingml/2006/main" id="7" idx="3"/>
            <a:endCxn xmlns:a="http://schemas.openxmlformats.org/drawingml/2006/main" id="8" idx="1"/>
          </p:cNvCxnSpPr>
          <p:nvPr/>
        </p:nvCxnSpPr>
        <p:spPr>
          <a:xfrm xmlns:a="http://schemas.openxmlformats.org/drawingml/2006/main">
            <a:off x="7172325" y="3533775"/>
            <a:ext cx="1028700" cy="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1" name="">
            <a:extLst xmlns:a="http://schemas.openxmlformats.org/drawingml/2006/main">
              <a:ext uri="{FF2B5EF4-FFF2-40B4-BE49-F238E27FC236}">
                <a16:creationId xmlns:a16="http://schemas.microsoft.com/office/drawing/2014/main" id="{7D1FDB77-9180-48A9-923F-97DEB5891B4A}"/>
              </a:ext>
            </a:extLst>
          </p:cNvPr>
          <p:cNvCxnSpPr>
            <a:stCxn xmlns:a="http://schemas.openxmlformats.org/drawingml/2006/main" id="6" idx="3"/>
            <a:endCxn xmlns:a="http://schemas.openxmlformats.org/drawingml/2006/main" id="7" idx="1"/>
          </p:cNvCxnSpPr>
          <p:nvPr/>
        </p:nvCxnSpPr>
        <p:spPr>
          <a:xfrm xmlns:a="http://schemas.openxmlformats.org/drawingml/2006/main" flipV="1">
            <a:off x="2752725" y="3533775"/>
            <a:ext cx="971550" cy="723900"/>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10" name="">
            <a:extLst xmlns:a="http://schemas.openxmlformats.org/drawingml/2006/main">
              <a:ext uri="{FF2B5EF4-FFF2-40B4-BE49-F238E27FC236}">
                <a16:creationId xmlns:a16="http://schemas.microsoft.com/office/drawing/2014/main" id="{321996B1-57F6-4A8C-8368-A24CB67B9C1A}"/>
              </a:ext>
            </a:extLst>
          </p:cNvPr>
          <p:cNvCxnSpPr>
            <a:stCxn xmlns:a="http://schemas.openxmlformats.org/drawingml/2006/main" id="5" idx="3"/>
            <a:endCxn xmlns:a="http://schemas.openxmlformats.org/drawingml/2006/main" id="7" idx="1"/>
          </p:cNvCxnSpPr>
          <p:nvPr/>
        </p:nvCxnSpPr>
        <p:spPr>
          <a:xfrm xmlns:a="http://schemas.openxmlformats.org/drawingml/2006/main">
            <a:off x="2752725" y="3448050"/>
            <a:ext cx="971550" cy="85725"/>
          </a:xfrm>
          <a:prstGeom xmlns:a="http://schemas.openxmlformats.org/drawingml/2006/main" prst="straightConnector1">
            <a:avLst/>
          </a:prstGeom>
          <a:ln xmlns:a="http://schemas.openxmlformats.org/drawingml/2006/main" w="23813">
            <a:solidFill>
              <a:srgbClr val="526970"/>
            </a:solidFill>
            <a:tailEnd type="triangle" w="med" len="med"/>
          </a:ln>
        </p:spPr>
      </p:cxnSp>
      <p:cxnSp>
        <p:nvCxnSpPr>
          <p:cNvPr id="9" name="">
            <a:extLst xmlns:a="http://schemas.openxmlformats.org/drawingml/2006/main">
              <a:ext uri="{FF2B5EF4-FFF2-40B4-BE49-F238E27FC236}">
                <a16:creationId xmlns:a16="http://schemas.microsoft.com/office/drawing/2014/main" id="{3884D392-3471-4718-B882-F023CD6D1926}"/>
              </a:ext>
            </a:extLst>
          </p:cNvPr>
          <p:cNvCxnSpPr>
            <a:stCxn xmlns:a="http://schemas.openxmlformats.org/drawingml/2006/main" id="4" idx="3"/>
            <a:endCxn xmlns:a="http://schemas.openxmlformats.org/drawingml/2006/main" id="7" idx="1"/>
          </p:cNvCxnSpPr>
          <p:nvPr/>
        </p:nvCxnSpPr>
        <p:spPr>
          <a:xfrm xmlns:a="http://schemas.openxmlformats.org/drawingml/2006/main">
            <a:off x="2752725" y="2638425"/>
            <a:ext cx="971550" cy="895350"/>
          </a:xfrm>
          <a:prstGeom xmlns:a="http://schemas.openxmlformats.org/drawingml/2006/main" prst="straightConnector1">
            <a:avLst/>
          </a:prstGeom>
          <a:ln xmlns:a="http://schemas.openxmlformats.org/drawingml/2006/main" w="23813">
            <a:solidFill>
              <a:srgbClr val="526970"/>
            </a:solidFill>
            <a:tailEnd type="triangle" w="med" len="med"/>
          </a:ln>
        </p:spPr>
      </p:cxnSp>
      <p:sp>
        <p:nvSpPr>
          <p:cNvPr id="16" name="Зачем объединять результаты с помощью RRF">
            <a:extLst xmlns:a="http://schemas.openxmlformats.org/drawingml/2006/main">
              <a:ext uri="{FF2B5EF4-FFF2-40B4-BE49-F238E27FC236}">
                <a16:creationId xmlns:a16="http://schemas.microsoft.com/office/drawing/2014/main" id="{6FAAFDDA-7410-4DB1-9544-F04C6185D449}"/>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xmlns:a="http://schemas.openxmlformats.org/drawingml/2006/main">
              <a:ext uri="{FF2B5EF4-FFF2-40B4-BE49-F238E27FC236}">
                <a16:creationId xmlns:a16="http://schemas.microsoft.com/office/drawing/2014/main" id="{C3224F00-6630-4665-9B48-C8CE5059F94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xmlns:a="http://schemas.openxmlformats.org/drawingml/2006/main">
              <a:ext uri="{FF2B5EF4-FFF2-40B4-BE49-F238E27FC236}">
                <a16:creationId xmlns:a16="http://schemas.microsoft.com/office/drawing/2014/main" id="{EF2A1E1A-A731-4158-B6D4-9B9DACF921BE}"/>
              </a:ext>
            </a:extLst>
          </p:cNvPr>
          <p:cNvSpPr>
            <a:spLocks xmlns:a="http://schemas.openxmlformats.org/drawingml/2006/main" noGrp="1"/>
          </p:cNvSpPr>
          <p:nvPr/>
        </p:nvSpPr>
        <p:spPr>
          <a:xfrm xmlns:a="http://schemas.openxmlformats.org/drawingml/2006/main">
            <a:off x="609600" y="15335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26970"/>
                </a:solidFill>
                <a:latin typeface="Arial"/>
                <a:ea typeface="Arial"/>
                <a:cs typeface="Arial"/>
              </a:defRPr>
            </a:defPPr>
          </a:lstStyle>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xmlns:a="http://schemas.openxmlformats.org/drawingml/2006/main">
              <a:ext uri="{FF2B5EF4-FFF2-40B4-BE49-F238E27FC236}">
                <a16:creationId xmlns:a16="http://schemas.microsoft.com/office/drawing/2014/main" id="{7EBB8D5F-B2FB-4CA8-B757-853CB185E97D}"/>
              </a:ext>
            </a:extLst>
          </p:cNvPr>
          <p:cNvSpPr>
            <a:spLocks xmlns:a="http://schemas.openxmlformats.org/drawingml/2006/main" noGrp="1"/>
          </p:cNvSpPr>
          <p:nvPr/>
        </p:nvSpPr>
        <p:spPr>
          <a:xfrm xmlns:a="http://schemas.openxmlformats.org/drawingml/2006/main">
            <a:off x="609600" y="230505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xmlns:a="http://schemas.openxmlformats.org/drawingml/2006/main">
              <a:ext uri="{FF2B5EF4-FFF2-40B4-BE49-F238E27FC236}">
                <a16:creationId xmlns:a16="http://schemas.microsoft.com/office/drawing/2014/main" id="{370C3F5C-0D77-4F2B-A7A7-A53AD71433C8}"/>
              </a:ext>
            </a:extLst>
          </p:cNvPr>
          <p:cNvSpPr>
            <a:spLocks xmlns:a="http://schemas.openxmlformats.org/drawingml/2006/main" noGrp="1"/>
          </p:cNvSpPr>
          <p:nvPr/>
        </p:nvSpPr>
        <p:spPr>
          <a:xfrm xmlns:a="http://schemas.openxmlformats.org/drawingml/2006/main">
            <a:off x="609600" y="3114675"/>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xmlns:a="http://schemas.openxmlformats.org/drawingml/2006/main">
              <a:ext uri="{FF2B5EF4-FFF2-40B4-BE49-F238E27FC236}">
                <a16:creationId xmlns:a16="http://schemas.microsoft.com/office/drawing/2014/main" id="{B049F26B-A2DC-4F8A-9D83-80ABE0A0138B}"/>
              </a:ext>
            </a:extLst>
          </p:cNvPr>
          <p:cNvSpPr>
            <a:spLocks xmlns:a="http://schemas.openxmlformats.org/drawingml/2006/main" noGrp="1"/>
          </p:cNvSpPr>
          <p:nvPr/>
        </p:nvSpPr>
        <p:spPr>
          <a:xfrm xmlns:a="http://schemas.openxmlformats.org/drawingml/2006/main">
            <a:off x="609600" y="3924300"/>
            <a:ext cx="2143125" cy="6667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xmlns:a="http://schemas.openxmlformats.org/drawingml/2006/main">
              <a:ext uri="{FF2B5EF4-FFF2-40B4-BE49-F238E27FC236}">
                <a16:creationId xmlns:a16="http://schemas.microsoft.com/office/drawing/2014/main" id="{1EDE10D0-6BAA-4082-AE1B-FE8DD2717CCE}"/>
              </a:ext>
            </a:extLst>
          </p:cNvPr>
          <p:cNvSpPr>
            <a:spLocks xmlns:a="http://schemas.openxmlformats.org/drawingml/2006/main" noGrp="1"/>
          </p:cNvSpPr>
          <p:nvPr/>
        </p:nvSpPr>
        <p:spPr>
          <a:xfrm xmlns:a="http://schemas.openxmlformats.org/drawingml/2006/main">
            <a:off x="3724275" y="2914650"/>
            <a:ext cx="3448050" cy="1238250"/>
          </a:xfrm>
          <a:prstGeom xmlns:a="http://schemas.openxmlformats.org/drawingml/2006/main" prst="rect">
            <a:avLst/>
          </a:prstGeom>
          <a:solidFill xmlns:a="http://schemas.openxmlformats.org/drawingml/2006/main">
            <a:srgbClr val="E3F1EF"/>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75">
                <a:solidFill>
                  <a:srgbClr val="182B30"/>
                </a:solidFill>
                <a:latin typeface="Arial"/>
                <a:ea typeface="Arial"/>
                <a:cs typeface="Arial"/>
              </a:defRPr>
            </a:defPPr>
          </a:lstStyle>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RRF</a:t>
            </a:r>
          </a:p>
          <a:p xmlns:a="http://schemas.openxmlformats.org/drawingml/2006/main">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xmlns:a="http://schemas.openxmlformats.org/drawingml/2006/main">
              <a:ext uri="{FF2B5EF4-FFF2-40B4-BE49-F238E27FC236}">
                <a16:creationId xmlns:a16="http://schemas.microsoft.com/office/drawing/2014/main" id="{7054BE41-EDF8-4B5C-8C4E-6B1BD86B2376}"/>
              </a:ext>
            </a:extLst>
          </p:cNvPr>
          <p:cNvSpPr>
            <a:spLocks xmlns:a="http://schemas.openxmlformats.org/drawingml/2006/main" noGrp="1"/>
          </p:cNvSpPr>
          <p:nvPr/>
        </p:nvSpPr>
        <p:spPr>
          <a:xfrm xmlns:a="http://schemas.openxmlformats.org/drawingml/2006/main">
            <a:off x="8201025" y="2914650"/>
            <a:ext cx="3381375" cy="1238250"/>
          </a:xfrm>
          <a:prstGeom xmlns:a="http://schemas.openxmlformats.org/drawingml/2006/main" prst="rect">
            <a:avLst/>
          </a:prstGeom>
          <a:solidFill xmlns:a="http://schemas.openxmlformats.org/drawingml/2006/main">
            <a:srgbClr val="EFF5F5"/>
          </a:solidFill>
          <a:ln xmlns:a="http://schemas.openxmlformats.org/drawingml/2006/main" w="11430">
            <a:solidFill>
              <a:srgbClr val="D4E1E0"/>
            </a:solidFill>
          </a:ln>
        </p:spPr>
        <p:txBody>
          <a:bodyPr xmlns:a="http://schemas.openxmlformats.org/drawingml/2006/main" lIns="152400" tIns="114300" rIns="152400" bIns="114300" anchor="ctr">
            <a:noAutofit/>
          </a:bodyPr>
          <a:lstStyle xmlns:a="http://schemas.openxmlformats.org/drawingml/2006/main">
            <a:defPPr algn="ctr">
              <a:defRPr sz="2100">
                <a:solidFill>
                  <a:srgbClr val="182B30"/>
                </a:solidFill>
                <a:latin typeface="Arial"/>
                <a:ea typeface="Arial"/>
                <a:cs typeface="Arial"/>
              </a:defRPr>
            </a:defPPr>
          </a:lstStyle>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xmlns:a="http://schemas.openxmlformats.org/drawingml/2006/main">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xmlns:a="http://schemas.openxmlformats.org/drawingml/2006/main">
              <a:ext uri="{FF2B5EF4-FFF2-40B4-BE49-F238E27FC236}">
                <a16:creationId xmlns:a16="http://schemas.microsoft.com/office/drawing/2014/main" id="{AA6B5DCC-14AF-49EE-82AD-6C3EF2007A01}"/>
              </a:ext>
            </a:extLst>
          </p:cNvPr>
          <p:cNvSpPr>
            <a:spLocks xmlns:a="http://schemas.openxmlformats.org/drawingml/2006/main" noGrp="1"/>
          </p:cNvSpPr>
          <p:nvPr/>
        </p:nvSpPr>
        <p:spPr>
          <a:xfrm xmlns:a="http://schemas.openxmlformats.org/drawingml/2006/main">
            <a:off x="609600" y="5010150"/>
            <a:ext cx="771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07F78"/>
                </a:solidFill>
                <a:latin typeface="Arial"/>
                <a:ea typeface="Arial"/>
                <a:cs typeface="Arial"/>
              </a:defRPr>
            </a:defPPr>
          </a:lstStyle>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xmlns:a="http://schemas.openxmlformats.org/drawingml/2006/main">
              <a:ext uri="{FF2B5EF4-FFF2-40B4-BE49-F238E27FC236}">
                <a16:creationId xmlns:a16="http://schemas.microsoft.com/office/drawing/2014/main" id="{1BBC45CA-E952-41F3-A2D6-11B7FC246334}"/>
              </a:ext>
            </a:extLst>
          </p:cNvPr>
          <p:cNvSpPr>
            <a:spLocks xmlns:a="http://schemas.openxmlformats.org/drawingml/2006/main" noGrp="1"/>
          </p:cNvSpPr>
          <p:nvPr/>
        </p:nvSpPr>
        <p:spPr>
          <a:xfrm xmlns:a="http://schemas.openxmlformats.org/drawingml/2006/main">
            <a:off x="609600" y="55816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2B30"/>
                </a:solidFill>
                <a:latin typeface="Arial"/>
                <a:ea typeface="Arial"/>
                <a:cs typeface="Arial"/>
              </a:defRPr>
            </a:defPPr>
          </a:lstStyle>
          <ns0:p xmlns:ns0="http://schemas.openxmlformats.org/drawingml/2006/main">
            <ns0:pPr algn="l">
              <ns0:defRPr sz="1950" b="0">
                <ns0:solidFill>
                  <ns0:srgbClr val="182B30"/>
                </ns0:solidFill>
                <ns0:latin typeface="Arial"/>
                <ns0:ea typeface="Arial"/>
                <ns0:cs typeface="Arial"/>
              </ns0:defRPr>
            </ns0:pPr>
            <ns0:r>
              <ns0:rPr sz="1950" b="0">
                <ns0:solidFill>
                  <ns0:srgbClr val="182B30"/>
                </ns0:solidFill>
                <ns0:latin typeface="Arial"/>
                <ns0:ea typeface="Arial"/>
                <ns0:cs typeface="Arial"/>
              </ns0:rPr>
              <ns0:t>Равный вес источников. Учитываем списки, в которых найден фрагмент.</ns0:t>
            </ns0:r>
          </ns0:p>
        </p:txBody>
      </p:sp>
      <p:sp>
        <p:nvSpPr>
          <p:cNvPr id="15" name="Cormack, Clarke, Büttcher, SIGIR 2009. Оценки судьи не входят в формул">
            <a:extLst xmlns:a="http://schemas.openxmlformats.org/drawingml/2006/main">
              <a:ext uri="{FF2B5EF4-FFF2-40B4-BE49-F238E27FC236}">
                <a16:creationId xmlns:a16="http://schemas.microsoft.com/office/drawing/2014/main" id="{636AD666-D12C-4C23-811C-64F8A3807468}"/>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Литература и ресурсы">
            <a:extLst xmlns:a="http://schemas.openxmlformats.org/drawingml/2006/main">
              <a:ext uri="{FF2B5EF4-FFF2-40B4-BE49-F238E27FC236}">
                <a16:creationId xmlns:a16="http://schemas.microsoft.com/office/drawing/2014/main" id="{A4A0C6BD-6351-4B31-8728-75022184EC6F}"/>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xmlns:a="http://schemas.openxmlformats.org/drawingml/2006/main">
              <a:ext uri="{FF2B5EF4-FFF2-40B4-BE49-F238E27FC236}">
                <a16:creationId xmlns:a16="http://schemas.microsoft.com/office/drawing/2014/main" id="{63609DAA-536A-428E-9283-7D7FB820E1A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xmlns:a="http://schemas.openxmlformats.org/drawingml/2006/main">
              <a:ext uri="{FF2B5EF4-FFF2-40B4-BE49-F238E27FC236}">
                <a16:creationId xmlns:a16="http://schemas.microsoft.com/office/drawing/2014/main" id="{2C9655CF-4325-444F-A190-BE05EC9AFC9B}"/>
              </a:ext>
            </a:extLst>
          </p:cNvPr>
          <p:cNvSpPr>
            <a:spLocks xmlns:a="http://schemas.openxmlformats.org/drawingml/2006/main" noGrp="1"/>
          </p:cNvSpPr>
          <p:nvPr/>
        </p:nvSpPr>
        <p:spPr>
          <a:xfrm xmlns:a="http://schemas.openxmlformats.org/drawingml/2006/main">
            <a:off x="60960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xmlns:a="http://schemas.openxmlformats.org/drawingml/2006/main">
              <a:ext uri="{FF2B5EF4-FFF2-40B4-BE49-F238E27FC236}">
                <a16:creationId xmlns:a16="http://schemas.microsoft.com/office/drawing/2014/main" id="{5E02D452-7B6E-497E-8A39-D1BCC94C4B66}"/>
              </a:ext>
            </a:extLst>
          </p:cNvPr>
          <p:cNvSpPr>
            <a:spLocks xmlns:a="http://schemas.openxmlformats.org/drawingml/2006/main" noGrp="1"/>
          </p:cNvSpPr>
          <p:nvPr/>
        </p:nvSpPr>
        <p:spPr>
          <a:xfrm xmlns:a="http://schemas.openxmlformats.org/drawingml/2006/main">
            <a:off x="60960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xmlns:a="http://schemas.openxmlformats.org/drawingml/2006/main">
              <a:ext uri="{FF2B5EF4-FFF2-40B4-BE49-F238E27FC236}">
                <a16:creationId xmlns:a16="http://schemas.microsoft.com/office/drawing/2014/main" id="{1770FB05-F0FE-40A9-89B7-4C3A26F6F8B5}"/>
              </a:ext>
            </a:extLst>
          </p:cNvPr>
          <p:cNvSpPr>
            <a:spLocks xmlns:a="http://schemas.openxmlformats.org/drawingml/2006/main" noGrp="1"/>
          </p:cNvSpPr>
          <p:nvPr/>
        </p:nvSpPr>
        <p:spPr>
          <a:xfrm xmlns:a="http://schemas.openxmlformats.org/drawingml/2006/main">
            <a:off x="60960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0="http://schemas.openxmlformats.org/officeDocument/2006/relationships" ns0:id="rLink4"/>
              </a:rPr>
              <a:t>arxiv.org/abs/1611.09268</a:t>
            </a:r>
          </a:p>
        </p:txBody>
      </p:sp>
      <p:sp>
        <p:nvSpPr>
          <p:cNvPr id="6" name="Natural Questions">
            <a:extLst xmlns:a="http://schemas.openxmlformats.org/drawingml/2006/main">
              <a:ext uri="{FF2B5EF4-FFF2-40B4-BE49-F238E27FC236}">
                <a16:creationId xmlns:a16="http://schemas.microsoft.com/office/drawing/2014/main" id="{F97DE8AF-F43B-4795-AB1B-21C457CED273}"/>
              </a:ext>
            </a:extLst>
          </p:cNvPr>
          <p:cNvSpPr>
            <a:spLocks xmlns:a="http://schemas.openxmlformats.org/drawingml/2006/main" noGrp="1"/>
          </p:cNvSpPr>
          <p:nvPr/>
        </p:nvSpPr>
        <p:spPr>
          <a:xfrm xmlns:a="http://schemas.openxmlformats.org/drawingml/2006/main">
            <a:off x="60960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xmlns:a="http://schemas.openxmlformats.org/drawingml/2006/main">
              <a:ext uri="{FF2B5EF4-FFF2-40B4-BE49-F238E27FC236}">
                <a16:creationId xmlns:a16="http://schemas.microsoft.com/office/drawing/2014/main" id="{14F5A30A-8EC3-4BB8-B2E0-703B758312E7}"/>
              </a:ext>
            </a:extLst>
          </p:cNvPr>
          <p:cNvSpPr>
            <a:spLocks xmlns:a="http://schemas.openxmlformats.org/drawingml/2006/main" noGrp="1"/>
          </p:cNvSpPr>
          <p:nvPr/>
        </p:nvSpPr>
        <p:spPr>
          <a:xfrm xmlns:a="http://schemas.openxmlformats.org/drawingml/2006/main">
            <a:off x="60960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xmlns:a="http://schemas.openxmlformats.org/drawingml/2006/main">
              <a:ext uri="{FF2B5EF4-FFF2-40B4-BE49-F238E27FC236}">
                <a16:creationId xmlns:a16="http://schemas.microsoft.com/office/drawing/2014/main" id="{60F6F0E0-553C-42CD-8E3C-BBA7B11F21B8}"/>
              </a:ext>
            </a:extLst>
          </p:cNvPr>
          <p:cNvSpPr>
            <a:spLocks xmlns:a="http://schemas.openxmlformats.org/drawingml/2006/main" noGrp="1"/>
          </p:cNvSpPr>
          <p:nvPr/>
        </p:nvSpPr>
        <p:spPr>
          <a:xfrm xmlns:a="http://schemas.openxmlformats.org/drawingml/2006/main">
            <a:off x="60960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1="http://schemas.openxmlformats.org/officeDocument/2006/relationships" ns1:id="rLink7"/>
              </a:rPr>
              <a:t>aclanthology.org/Q19-1026</a:t>
            </a:r>
          </a:p>
        </p:txBody>
      </p:sp>
      <p:sp>
        <p:nvSpPr>
          <p:cNvPr id="9" name="BEIR">
            <a:extLst xmlns:a="http://schemas.openxmlformats.org/drawingml/2006/main">
              <a:ext uri="{FF2B5EF4-FFF2-40B4-BE49-F238E27FC236}">
                <a16:creationId xmlns:a16="http://schemas.microsoft.com/office/drawing/2014/main" id="{A59B7C08-F44F-420A-B890-509F2587EBF4}"/>
              </a:ext>
            </a:extLst>
          </p:cNvPr>
          <p:cNvSpPr>
            <a:spLocks xmlns:a="http://schemas.openxmlformats.org/drawingml/2006/main" noGrp="1"/>
          </p:cNvSpPr>
          <p:nvPr/>
        </p:nvSpPr>
        <p:spPr>
          <a:xfrm xmlns:a="http://schemas.openxmlformats.org/drawingml/2006/main">
            <a:off x="60960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xmlns:a="http://schemas.openxmlformats.org/drawingml/2006/main">
              <a:ext uri="{FF2B5EF4-FFF2-40B4-BE49-F238E27FC236}">
                <a16:creationId xmlns:a16="http://schemas.microsoft.com/office/drawing/2014/main" id="{EEE046B8-919E-4D3A-BEA3-1491F9EBBDE4}"/>
              </a:ext>
            </a:extLst>
          </p:cNvPr>
          <p:cNvSpPr>
            <a:spLocks xmlns:a="http://schemas.openxmlformats.org/drawingml/2006/main" noGrp="1"/>
          </p:cNvSpPr>
          <p:nvPr/>
        </p:nvSpPr>
        <p:spPr>
          <a:xfrm xmlns:a="http://schemas.openxmlformats.org/drawingml/2006/main">
            <a:off x="60960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xmlns:a="http://schemas.openxmlformats.org/drawingml/2006/main">
              <a:ext uri="{FF2B5EF4-FFF2-40B4-BE49-F238E27FC236}">
                <a16:creationId xmlns:a16="http://schemas.microsoft.com/office/drawing/2014/main" id="{6ED52645-A687-4B8C-B757-A7B3B4C68145}"/>
              </a:ext>
            </a:extLst>
          </p:cNvPr>
          <p:cNvSpPr>
            <a:spLocks xmlns:a="http://schemas.openxmlformats.org/drawingml/2006/main" noGrp="1"/>
          </p:cNvSpPr>
          <p:nvPr/>
        </p:nvSpPr>
        <p:spPr>
          <a:xfrm xmlns:a="http://schemas.openxmlformats.org/drawingml/2006/main">
            <a:off x="60960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2="http://schemas.openxmlformats.org/officeDocument/2006/relationships" ns2:id="rLink10"/>
              </a:rPr>
              <a:t>arxiv.org/abs/2104.08663</a:t>
            </a:r>
          </a:p>
        </p:txBody>
      </p:sp>
      <p:sp>
        <p:nvSpPr>
          <p:cNvPr id="12" name="BM25">
            <a:extLst xmlns:a="http://schemas.openxmlformats.org/drawingml/2006/main">
              <a:ext uri="{FF2B5EF4-FFF2-40B4-BE49-F238E27FC236}">
                <a16:creationId xmlns:a16="http://schemas.microsoft.com/office/drawing/2014/main" id="{495A2F35-8ABE-47A5-A9EC-F4C677D71BFE}"/>
              </a:ext>
            </a:extLst>
          </p:cNvPr>
          <p:cNvSpPr>
            <a:spLocks xmlns:a="http://schemas.openxmlformats.org/drawingml/2006/main" noGrp="1"/>
          </p:cNvSpPr>
          <p:nvPr/>
        </p:nvSpPr>
        <p:spPr>
          <a:xfrm xmlns:a="http://schemas.openxmlformats.org/drawingml/2006/main">
            <a:off x="60960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xmlns:a="http://schemas.openxmlformats.org/drawingml/2006/main">
              <a:ext uri="{FF2B5EF4-FFF2-40B4-BE49-F238E27FC236}">
                <a16:creationId xmlns:a16="http://schemas.microsoft.com/office/drawing/2014/main" id="{FBE4DAC5-48FC-4CD0-BB1C-65DFDC9FD50B}"/>
              </a:ext>
            </a:extLst>
          </p:cNvPr>
          <p:cNvSpPr>
            <a:spLocks xmlns:a="http://schemas.openxmlformats.org/drawingml/2006/main" noGrp="1"/>
          </p:cNvSpPr>
          <p:nvPr/>
        </p:nvSpPr>
        <p:spPr>
          <a:xfrm xmlns:a="http://schemas.openxmlformats.org/drawingml/2006/main">
            <a:off x="60960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xmlns:a="http://schemas.openxmlformats.org/drawingml/2006/main">
              <a:ext uri="{FF2B5EF4-FFF2-40B4-BE49-F238E27FC236}">
                <a16:creationId xmlns:a16="http://schemas.microsoft.com/office/drawing/2014/main" id="{1F79FCC9-A53A-41DD-B7BE-0A8DD9E757A7}"/>
              </a:ext>
            </a:extLst>
          </p:cNvPr>
          <p:cNvSpPr>
            <a:spLocks xmlns:a="http://schemas.openxmlformats.org/drawingml/2006/main" noGrp="1"/>
          </p:cNvSpPr>
          <p:nvPr/>
        </p:nvSpPr>
        <p:spPr>
          <a:xfrm xmlns:a="http://schemas.openxmlformats.org/drawingml/2006/main">
            <a:off x="60960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3="http://schemas.openxmlformats.org/officeDocument/2006/relationships" ns3:id="rLink13"/>
              </a:rPr>
              <a:t>doi.org/10.1561/1500000019</a:t>
            </a:r>
          </a:p>
        </p:txBody>
      </p:sp>
      <p:sp>
        <p:nvSpPr>
          <p:cNvPr id="15" name="E5">
            <a:extLst xmlns:a="http://schemas.openxmlformats.org/drawingml/2006/main">
              <a:ext uri="{FF2B5EF4-FFF2-40B4-BE49-F238E27FC236}">
                <a16:creationId xmlns:a16="http://schemas.microsoft.com/office/drawing/2014/main" id="{FF175FCC-EC7A-469E-836C-2D4F521A191A}"/>
              </a:ext>
            </a:extLst>
          </p:cNvPr>
          <p:cNvSpPr>
            <a:spLocks xmlns:a="http://schemas.openxmlformats.org/drawingml/2006/main" noGrp="1"/>
          </p:cNvSpPr>
          <p:nvPr/>
        </p:nvSpPr>
        <p:spPr>
          <a:xfrm xmlns:a="http://schemas.openxmlformats.org/drawingml/2006/main">
            <a:off x="6419850" y="15716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xmlns:a="http://schemas.openxmlformats.org/drawingml/2006/main">
              <a:ext uri="{FF2B5EF4-FFF2-40B4-BE49-F238E27FC236}">
                <a16:creationId xmlns:a16="http://schemas.microsoft.com/office/drawing/2014/main" id="{7F01C309-F4C0-42FA-A079-1886364956AA}"/>
              </a:ext>
            </a:extLst>
          </p:cNvPr>
          <p:cNvSpPr>
            <a:spLocks xmlns:a="http://schemas.openxmlformats.org/drawingml/2006/main" noGrp="1"/>
          </p:cNvSpPr>
          <p:nvPr/>
        </p:nvSpPr>
        <p:spPr>
          <a:xfrm xmlns:a="http://schemas.openxmlformats.org/drawingml/2006/main">
            <a:off x="6419850" y="19050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xmlns:a="http://schemas.openxmlformats.org/drawingml/2006/main">
              <a:ext uri="{FF2B5EF4-FFF2-40B4-BE49-F238E27FC236}">
                <a16:creationId xmlns:a16="http://schemas.microsoft.com/office/drawing/2014/main" id="{9926AAEA-3EAE-4442-8119-EB33DEF60548}"/>
              </a:ext>
            </a:extLst>
          </p:cNvPr>
          <p:cNvSpPr>
            <a:spLocks xmlns:a="http://schemas.openxmlformats.org/drawingml/2006/main" noGrp="1"/>
          </p:cNvSpPr>
          <p:nvPr/>
        </p:nvSpPr>
        <p:spPr>
          <a:xfrm xmlns:a="http://schemas.openxmlformats.org/drawingml/2006/main">
            <a:off x="6419850" y="22098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4="http://schemas.openxmlformats.org/officeDocument/2006/relationships" ns4:id="rLink16"/>
              </a:rPr>
              <a:t>arxiv.org/abs/2212.03533</a:t>
            </a:r>
          </a:p>
        </p:txBody>
      </p:sp>
      <p:sp>
        <p:nvSpPr>
          <p:cNvPr id="18" name="BGE / FlagEmbedding">
            <a:extLst xmlns:a="http://schemas.openxmlformats.org/drawingml/2006/main">
              <a:ext uri="{FF2B5EF4-FFF2-40B4-BE49-F238E27FC236}">
                <a16:creationId xmlns:a16="http://schemas.microsoft.com/office/drawing/2014/main" id="{27FCE838-924F-4181-9CAF-91650DCA4187}"/>
              </a:ext>
            </a:extLst>
          </p:cNvPr>
          <p:cNvSpPr>
            <a:spLocks xmlns:a="http://schemas.openxmlformats.org/drawingml/2006/main" noGrp="1"/>
          </p:cNvSpPr>
          <p:nvPr/>
        </p:nvSpPr>
        <p:spPr>
          <a:xfrm xmlns:a="http://schemas.openxmlformats.org/drawingml/2006/main">
            <a:off x="6419850" y="26384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xmlns:a="http://schemas.openxmlformats.org/drawingml/2006/main">
              <a:ext uri="{FF2B5EF4-FFF2-40B4-BE49-F238E27FC236}">
                <a16:creationId xmlns:a16="http://schemas.microsoft.com/office/drawing/2014/main" id="{B4171707-7635-4B0F-B51A-EFE373C06882}"/>
              </a:ext>
            </a:extLst>
          </p:cNvPr>
          <p:cNvSpPr>
            <a:spLocks xmlns:a="http://schemas.openxmlformats.org/drawingml/2006/main" noGrp="1"/>
          </p:cNvSpPr>
          <p:nvPr/>
        </p:nvSpPr>
        <p:spPr>
          <a:xfrm xmlns:a="http://schemas.openxmlformats.org/drawingml/2006/main">
            <a:off x="6419850" y="29718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xmlns:a="http://schemas.openxmlformats.org/drawingml/2006/main">
              <a:ext uri="{FF2B5EF4-FFF2-40B4-BE49-F238E27FC236}">
                <a16:creationId xmlns:a16="http://schemas.microsoft.com/office/drawing/2014/main" id="{E088F081-695F-44E4-A1D8-559B26477996}"/>
              </a:ext>
            </a:extLst>
          </p:cNvPr>
          <p:cNvSpPr>
            <a:spLocks xmlns:a="http://schemas.openxmlformats.org/drawingml/2006/main" noGrp="1"/>
          </p:cNvSpPr>
          <p:nvPr/>
        </p:nvSpPr>
        <p:spPr>
          <a:xfrm xmlns:a="http://schemas.openxmlformats.org/drawingml/2006/main">
            <a:off x="6419850" y="32766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5="http://schemas.openxmlformats.org/officeDocument/2006/relationships" ns5:id="rLink19"/>
              </a:rPr>
              <a:t>huggingface.co/BAAI/bge-small-en-v1.5</a:t>
            </a:r>
          </a:p>
        </p:txBody>
      </p:sp>
      <p:sp>
        <p:nvSpPr>
          <p:cNvPr id="21" name="MiniLM">
            <a:extLst xmlns:a="http://schemas.openxmlformats.org/drawingml/2006/main">
              <a:ext uri="{FF2B5EF4-FFF2-40B4-BE49-F238E27FC236}">
                <a16:creationId xmlns:a16="http://schemas.microsoft.com/office/drawing/2014/main" id="{D993E484-9C7F-4234-8825-8160F9D1DF3A}"/>
              </a:ext>
            </a:extLst>
          </p:cNvPr>
          <p:cNvSpPr>
            <a:spLocks xmlns:a="http://schemas.openxmlformats.org/drawingml/2006/main" noGrp="1"/>
          </p:cNvSpPr>
          <p:nvPr/>
        </p:nvSpPr>
        <p:spPr>
          <a:xfrm xmlns:a="http://schemas.openxmlformats.org/drawingml/2006/main">
            <a:off x="6419850" y="37052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xmlns:a="http://schemas.openxmlformats.org/drawingml/2006/main">
              <a:ext uri="{FF2B5EF4-FFF2-40B4-BE49-F238E27FC236}">
                <a16:creationId xmlns:a16="http://schemas.microsoft.com/office/drawing/2014/main" id="{BD6E0B2F-8AE6-4B08-BFBB-A539A08C24E4}"/>
              </a:ext>
            </a:extLst>
          </p:cNvPr>
          <p:cNvSpPr>
            <a:spLocks xmlns:a="http://schemas.openxmlformats.org/drawingml/2006/main" noGrp="1"/>
          </p:cNvSpPr>
          <p:nvPr/>
        </p:nvSpPr>
        <p:spPr>
          <a:xfrm xmlns:a="http://schemas.openxmlformats.org/drawingml/2006/main">
            <a:off x="6419850" y="40386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xmlns:a="http://schemas.openxmlformats.org/drawingml/2006/main">
              <a:ext uri="{FF2B5EF4-FFF2-40B4-BE49-F238E27FC236}">
                <a16:creationId xmlns:a16="http://schemas.microsoft.com/office/drawing/2014/main" id="{E553A558-A451-4FE1-827A-DDFB43FC90E0}"/>
              </a:ext>
            </a:extLst>
          </p:cNvPr>
          <p:cNvSpPr>
            <a:spLocks xmlns:a="http://schemas.openxmlformats.org/drawingml/2006/main" noGrp="1"/>
          </p:cNvSpPr>
          <p:nvPr/>
        </p:nvSpPr>
        <p:spPr>
          <a:xfrm xmlns:a="http://schemas.openxmlformats.org/drawingml/2006/main">
            <a:off x="6419850" y="43434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6="http://schemas.openxmlformats.org/officeDocument/2006/relationships" ns6:id="rLink22"/>
              </a:rPr>
              <a:t>arxiv.org/abs/2002.10957</a:t>
            </a:r>
          </a:p>
        </p:txBody>
      </p:sp>
      <p:sp>
        <p:nvSpPr>
          <p:cNvPr id="24" name="Reciprocal Rank Fusion">
            <a:extLst xmlns:a="http://schemas.openxmlformats.org/drawingml/2006/main">
              <a:ext uri="{FF2B5EF4-FFF2-40B4-BE49-F238E27FC236}">
                <a16:creationId xmlns:a16="http://schemas.microsoft.com/office/drawing/2014/main" id="{4F841DDF-A002-4DD4-9C35-3E5C31D38782}"/>
              </a:ext>
            </a:extLst>
          </p:cNvPr>
          <p:cNvSpPr>
            <a:spLocks xmlns:a="http://schemas.openxmlformats.org/drawingml/2006/main" noGrp="1"/>
          </p:cNvSpPr>
          <p:nvPr/>
        </p:nvSpPr>
        <p:spPr>
          <a:xfrm xmlns:a="http://schemas.openxmlformats.org/drawingml/2006/main">
            <a:off x="6419850" y="4772025"/>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82B30"/>
                </a:solidFill>
                <a:latin typeface="Arial"/>
                <a:ea typeface="Arial"/>
                <a:cs typeface="Arial"/>
              </a:defRPr>
            </a:defPPr>
          </a:lstStyle>
          <a:p xmlns:a="http://schemas.openxmlformats.org/drawingml/2006/main">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xmlns:a="http://schemas.openxmlformats.org/drawingml/2006/main">
              <a:ext uri="{FF2B5EF4-FFF2-40B4-BE49-F238E27FC236}">
                <a16:creationId xmlns:a16="http://schemas.microsoft.com/office/drawing/2014/main" id="{4DFC7256-ABCB-42F0-8978-A9834133EE16}"/>
              </a:ext>
            </a:extLst>
          </p:cNvPr>
          <p:cNvSpPr>
            <a:spLocks xmlns:a="http://schemas.openxmlformats.org/drawingml/2006/main" noGrp="1"/>
          </p:cNvSpPr>
          <p:nvPr/>
        </p:nvSpPr>
        <p:spPr>
          <a:xfrm xmlns:a="http://schemas.openxmlformats.org/drawingml/2006/main">
            <a:off x="6419850" y="5105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970"/>
                </a:solidFill>
                <a:latin typeface="Arial"/>
                <a:ea typeface="Arial"/>
                <a:cs typeface="Arial"/>
              </a:defRPr>
            </a:defPPr>
          </a:lstStyle>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xmlns:a="http://schemas.openxmlformats.org/drawingml/2006/main">
              <a:ext uri="{FF2B5EF4-FFF2-40B4-BE49-F238E27FC236}">
                <a16:creationId xmlns:a16="http://schemas.microsoft.com/office/drawing/2014/main" id="{27908AFA-1F0E-49CF-829C-9B6DB9B26163}"/>
              </a:ext>
            </a:extLst>
          </p:cNvPr>
          <p:cNvSpPr>
            <a:spLocks xmlns:a="http://schemas.openxmlformats.org/drawingml/2006/main" noGrp="1"/>
          </p:cNvSpPr>
          <p:nvPr/>
        </p:nvSpPr>
        <p:spPr>
          <a:xfrm xmlns:a="http://schemas.openxmlformats.org/drawingml/2006/main">
            <a:off x="6419850" y="5410200"/>
            <a:ext cx="5162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07F78"/>
                </a:solidFill>
                <a:latin typeface="Arial"/>
                <a:ea typeface="Arial"/>
                <a:cs typeface="Arial"/>
              </a:defRPr>
            </a:defPPr>
          </a:lstStyle>
          <a:p xmlns:a="http://schemas.openxmlformats.org/drawingml/2006/main">
            <a:pPr algn="l">
              <a:defRPr sz="1575" b="0">
                <a:solidFill>
                  <a:srgbClr val="007F78"/>
                </a:solidFill>
                <a:latin typeface="Arial"/>
                <a:ea typeface="Arial"/>
                <a:cs typeface="Arial"/>
              </a:defRPr>
            </a:pPr>
            <a:r>
              <a:rPr sz="1575" b="0">
                <a:solidFill>
                  <a:srgbClr val="007F78"/>
                </a:solidFill>
                <a:latin typeface="Arial"/>
                <a:ea typeface="Arial"/>
                <a:cs typeface="Arial"/>
                <a:hlinkClick xmlns:ns7="http://schemas.openxmlformats.org/officeDocument/2006/relationships" ns7:id="rLink25"/>
              </a:rPr>
              <a:t>doi.org/10.1145/1571941.1572114</a:t>
            </a:r>
          </a:p>
        </p:txBody>
      </p:sp>
      <p:sp>
        <p:nvSpPr>
          <p:cNvPr id="27" name="Спецификация dev и dev/small: ir-datasets.com/msmarco-passage.html">
            <a:extLst xmlns:a="http://schemas.openxmlformats.org/drawingml/2006/main">
              <a:ext uri="{FF2B5EF4-FFF2-40B4-BE49-F238E27FC236}">
                <a16:creationId xmlns:a16="http://schemas.microsoft.com/office/drawing/2014/main" id="{103B9138-7D3D-40AE-8875-641306956B76}"/>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707240-FA87-4C30-B4F7-BE3481571E21}"/>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r>
              <a:t/>
            </a:r>
          </a:p>
        </p:txBody>
      </p:sp>
      <p:sp>
        <p:nvSpPr>
          <p:cNvPr id="2" name="20">
            <a:extLst xmlns:a="http://schemas.openxmlformats.org/drawingml/2006/main">
              <a:ext uri="{FF2B5EF4-FFF2-40B4-BE49-F238E27FC236}">
                <a16:creationId xmlns:a16="http://schemas.microsoft.com/office/drawing/2014/main" id="{C5DC1C39-22EA-4EC5-AA48-52C01026FA6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xmlns:a="http://schemas.openxmlformats.org/drawingml/2006/main">
              <a:ext uri="{FF2B5EF4-FFF2-40B4-BE49-F238E27FC236}">
                <a16:creationId xmlns:a16="http://schemas.microsoft.com/office/drawing/2014/main" id="{F8430587-5841-4911-9959-76BCCDF1356C}"/>
              </a:ext>
            </a:extLst>
          </p:cNvPr>
          <p:cNvSpPr>
            <a:spLocks xmlns:a="http://schemas.openxmlformats.org/drawingml/2006/main" noGrp="1"/>
          </p:cNvSpPr>
          <p:nvPr/>
        </p:nvSpPr>
        <p:spPr>
          <a:xfrm xmlns:a="http://schemas.openxmlformats.org/drawingml/2006/main">
            <a:off x="609600" y="21336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82B30"/>
                </a:solidFill>
                <a:latin typeface="Arial"/>
                <a:ea typeface="Arial"/>
                <a:cs typeface="Arial"/>
              </a:defRPr>
            </a:defPPr>
          </a:lstStyle>
          <a:p xmlns:a="http://schemas.openxmlformats.org/drawingml/2006/main">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xmlns:a="http://schemas.openxmlformats.org/drawingml/2006/main">
              <a:ext uri="{FF2B5EF4-FFF2-40B4-BE49-F238E27FC236}">
                <a16:creationId xmlns:a16="http://schemas.microsoft.com/office/drawing/2014/main" id="{A07AFDC1-BA08-4BE3-AC49-915F59A6D1B3}"/>
              </a:ext>
            </a:extLst>
          </p:cNvPr>
          <p:cNvSpPr>
            <a:spLocks xmlns:a="http://schemas.openxmlformats.org/drawingml/2006/main" noGrp="1"/>
          </p:cNvSpPr>
          <p:nvPr/>
        </p:nvSpPr>
        <p:spPr>
          <a:xfrm xmlns:a="http://schemas.openxmlformats.org/drawingml/2006/main">
            <a:off x="609600" y="32956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007F78"/>
                </a:solidFill>
                <a:latin typeface="Arial"/>
                <a:ea typeface="Arial"/>
                <a:cs typeface="Arial"/>
              </a:defRPr>
            </a:defPPr>
          </a:lstStyle>
          <a:p xmlns:a="http://schemas.openxmlformats.org/drawingml/2006/main">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
            <a:extLst xmlns:a="http://schemas.openxmlformats.org/drawingml/2006/main">
              <a:ext uri="{FF2B5EF4-FFF2-40B4-BE49-F238E27FC236}">
                <a16:creationId xmlns:a16="http://schemas.microsoft.com/office/drawing/2014/main" id="{81A72BAF-F3E9-45C7-B352-61F535B1E1BE}"/>
              </a:ext>
            </a:extLst>
          </p:cNvPr>
          <p:cNvSpPr>
            <a:spLocks xmlns:a="http://schemas.openxmlformats.org/drawingml/2006/main" noGrp="1"/>
          </p:cNvSpPr>
          <p:nvPr/>
        </p:nvSpPr>
        <p:spPr>
          <a:xfrm xmlns:a="http://schemas.openxmlformats.org/drawingml/2006/main">
            <a:off x="609600" y="4410075"/>
            <a:ext cx="10972800" cy="0"/>
          </a:xfrm>
          <a:prstGeom xmlns:a="http://schemas.openxmlformats.org/drawingml/2006/main" prst="line">
            <a:avLst/>
          </a:prstGeom>
          <a:noFill xmlns:a="http://schemas.openxmlformats.org/drawingml/2006/main"/>
          <a:ln xmlns:a="http://schemas.openxmlformats.org/drawingml/2006/main" w="12383">
            <a:solidFill>
              <a:srgbClr val="D4E1E0"/>
            </a:solidFill>
          </a:ln>
        </p:spPr>
      </p:sp>
      <p:sp>
        <p:nvSpPr>
          <p:cNvPr id="6" name=", , ">
            <a:extLst xmlns:a="http://schemas.openxmlformats.org/drawingml/2006/main">
              <a:ext uri="{FF2B5EF4-FFF2-40B4-BE49-F238E27FC236}">
                <a16:creationId xmlns:a16="http://schemas.microsoft.com/office/drawing/2014/main" id="{5668CE3A-6A6F-4131-8944-CB3DA37B4E57}"/>
              </a:ext>
            </a:extLst>
          </p:cNvPr>
          <p:cNvSpPr>
            <a:spLocks xmlns:a="http://schemas.openxmlformats.org/drawingml/2006/main" noGrp="1"/>
          </p:cNvSpPr>
          <p:nvPr/>
        </p:nvSpPr>
        <p:spPr>
          <a:xfrm xmlns:a="http://schemas.openxmlformats.org/drawingml/2006/main">
            <a:off x="609600" y="47529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2B30"/>
                </a:solidFill>
                <a:latin typeface="Arial"/>
                <a:ea typeface="Arial"/>
                <a:cs typeface="Arial"/>
              </a:defRPr>
            </a:defPPr>
          </a:lstStyle>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D9AE579D-4DAE-4505-BA45-380F0DA81AE5}"/>
              </a:ext>
            </a:extLst>
          </p:cNvPr>
          <p:cNvSpPr>
            <a:spLocks xmlns:a="http://schemas.openxmlformats.org/drawingml/2006/main" noGrp="1"/>
          </p:cNvSpPr>
          <p:nvPr/>
        </p:nvSpPr>
        <p:spPr>
          <a:xfrm xmlns:a="http://schemas.openxmlformats.org/drawingml/2006/main">
            <a:off x="609600" y="52101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26970"/>
                </a:solidFill>
                <a:latin typeface="Arial"/>
                <a:ea typeface="Arial"/>
                <a:cs typeface="Arial"/>
              </a:defRPr>
            </a:defPPr>
          </a:lstStyle>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xmlns:a="http://schemas.openxmlformats.org/drawingml/2006/main">
              <a:ext uri="{FF2B5EF4-FFF2-40B4-BE49-F238E27FC236}">
                <a16:creationId xmlns:a16="http://schemas.microsoft.com/office/drawing/2014/main" id="{8F854F36-DC6C-4EFC-B609-BC1285F1ECFA}"/>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Какие части данных мы использовали">
            <a:extLst xmlns:a="http://schemas.openxmlformats.org/drawingml/2006/main">
              <a:ext uri="{FF2B5EF4-FFF2-40B4-BE49-F238E27FC236}">
                <a16:creationId xmlns:a16="http://schemas.microsoft.com/office/drawing/2014/main" id="{C9192BF0-02DB-4776-8EED-9940866E3A6E}"/>
              </a:ext>
            </a:extLst>
          </p:cNvPr>
          <p:cNvSpPr>
            <a:spLocks xmlns:a="http://schemas.openxmlformats.org/drawingml/2006/main" noGrp="1"/>
          </p:cNvSpPr>
          <p:nvPr/>
        </p:nvSpPr>
        <p:spPr>
          <a:xfrm xmlns:a="http://schemas.openxmlformats.org/drawingml/2006/main">
            <a:off x="609600" y="4572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2B30"/>
                </a:solidFill>
                <a:latin typeface="Arial"/>
                <a:ea typeface="Arial"/>
                <a:cs typeface="Arial"/>
              </a:defRPr>
            </a:defPPr>
          </a:lstStyle>
          <a:p xmlns:a="http://schemas.openxmlformats.org/drawingml/2006/main">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xmlns:a="http://schemas.openxmlformats.org/drawingml/2006/main">
              <a:ext uri="{FF2B5EF4-FFF2-40B4-BE49-F238E27FC236}">
                <a16:creationId xmlns:a16="http://schemas.microsoft.com/office/drawing/2014/main" id="{6FB64FA0-FE5C-4760-8AD6-5AAB9A5377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970"/>
                </a:solidFill>
                <a:latin typeface="Arial"/>
                <a:ea typeface="Arial"/>
                <a:cs typeface="Arial"/>
              </a:defRPr>
            </a:defPPr>
          </a:lstStyle>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
            <a:extLst xmlns:a="http://schemas.openxmlformats.org/drawingml/2006/main">
              <a:ext uri="{FF2B5EF4-FFF2-40B4-BE49-F238E27FC236}">
                <a16:creationId xmlns:a16="http://schemas.microsoft.com/office/drawing/2014/main" id="{472684F5-DDA2-4257-8EB6-3AA86FC08731}"/>
              </a:ext>
            </a:extLst>
          </p:cNvPr>
          <p:cNvGraphicFramePr/>
          <p:nvPr/>
        </p:nvGraphicFramePr>
        <p:xfrm>
          <a:off xmlns:a="http://schemas.openxmlformats.org/drawingml/2006/main" x="609600" y="1638300"/>
          <a:ext xmlns:a="http://schemas.openxmlformats.org/drawingml/2006/main" cx="10972800" cy="3867150"/>
        </p:xfrm>
        <a:graphic xmlns:a="http://schemas.openxmlformats.org/drawingml/2006/main">
          <a:graphicData uri="http://schemas.openxmlformats.org/drawingml/2006/table">
            <a:tbl>
              <a:tblPr firstRow="0" bandRow="0"/>
              <a:tblGrid>
                <a:gridCol w="3333750"/>
                <a:gridCol w="1905000"/>
                <a:gridCol w="5734050"/>
              </a:tblGrid>
              <a:tr h="552450">
                <a:tc>
                  <a:txBody>
                    <a:bodyPr lIns="114300" tIns="76200" rIns="114300" bIns="76200">
                      <a:noAutofit/>
                    </a:bodyPr>
                    <a:lstStyle/>
                    <a:p>
                      <a:r>
                        <a:rPr sz="1800" b="1">
                          <a:solidFill>
                            <a:srgbClr val="526970"/>
                          </a:solidFill>
                          <a:latin typeface="Arial"/>
                          <a:ea typeface="Arial"/>
                          <a:cs typeface="Arial"/>
                        </a:rPr>
                        <a:t>Набор</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Запросы</a:t>
                      </a:r>
                    </a:p>
                  </a:txBody>
                  <a:tcPr marL="91440" marR="91440" marT="45720" marB="45720" anchor="ctr">
                    <a:lnL w="0">
                      <a:noFill/>
                    </a:lnL>
                    <a:lnR w="0">
                      <a:noFill/>
                    </a:lnR>
                    <a:lnT w="0">
                      <a:noFill/>
                    </a:lnT>
                    <a:lnB w="7620">
                      <a:solidFill>
                        <a:srgbClr val="D4E1E0"/>
                      </a:solidFill>
                    </a:lnB>
                    <a:solidFill>
                      <a:srgbClr val="EFF5F5"/>
                    </a:solidFill>
                  </a:tcPr>
                </a:tc>
                <a:tc>
                  <a:txBody>
                    <a:bodyPr lIns="114300" tIns="76200" rIns="114300" bIns="76200">
                      <a:noAutofit/>
                    </a:bodyPr>
                    <a:lstStyle/>
                    <a:p>
                      <a:r>
                        <a:rPr sz="1800" b="1">
                          <a:solidFill>
                            <a:srgbClr val="526970"/>
                          </a:solidFill>
                          <a:latin typeface="Arial"/>
                          <a:ea typeface="Arial"/>
                          <a:cs typeface="Arial"/>
                        </a:rPr>
                        <a:t>Роль в исследовании</a:t>
                      </a:r>
                    </a:p>
                  </a:txBody>
                  <a:tcPr marL="91440" marR="91440" marT="45720" marB="45720" anchor="ctr">
                    <a:lnL w="0">
                      <a:noFill/>
                    </a:lnL>
                    <a:lnR w="0">
                      <a:noFill/>
                    </a:lnR>
                    <a:lnT w="0">
                      <a:noFill/>
                    </a:lnT>
                    <a:lnB w="7620">
                      <a:solidFill>
                        <a:srgbClr val="D4E1E0"/>
                      </a:solidFill>
                    </a:lnB>
                    <a:solidFill>
                      <a:srgbClr val="EFF5F5"/>
                    </a:solidFill>
                  </a:tcPr>
                </a:tc>
              </a:tr>
              <a:tr h="552450">
                <a:tc>
                  <a:txBody>
                    <a:bodyPr lIns="114300" tIns="76200" rIns="114300" bIns="76200">
                      <a:noAutofit/>
                    </a:bodyPr>
                    <a:lstStyle/>
                    <a:p>
                      <a:r>
                        <a:rPr sz="1875" b="0">
                          <a:solidFill>
                            <a:srgbClr val="182B30"/>
                          </a:solidFill>
                          <a:latin typeface="Arial"/>
                          <a:ea typeface="Arial"/>
                          <a:cs typeface="Arial"/>
                        </a:rPr>
                        <a:t>Полная dev-часть</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101 093</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Масштабная оценка судьёй</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dev/small</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6 980</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Исходная оценочная подвыборка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Ручная подвыборка</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1 179</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Доразметка 33 667 пар</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Обучение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825</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Дообучение на ручных метках</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Валидация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Выбор порога</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14300" tIns="76200" rIns="114300" bIns="76200">
                      <a:noAutofit/>
                    </a:bodyPr>
                    <a:lstStyle/>
                    <a:p>
                      <a:r>
                        <a:rPr sz="1875" b="0">
                          <a:solidFill>
                            <a:srgbClr val="182B30"/>
                          </a:solidFill>
                          <a:latin typeface="Arial"/>
                          <a:ea typeface="Arial"/>
                          <a:cs typeface="Arial"/>
                        </a:rPr>
                        <a:t>Тест судьи</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177</a:t>
                      </a:r>
                    </a:p>
                  </a:txBody>
                  <a:tcPr marL="91440" marR="91440" marT="45720" marB="45720" anchor="ctr">
                    <a:lnL w="0">
                      <a:noFill/>
                    </a:lnL>
                    <a:lnR w="0">
                      <a:noFill/>
                    </a:lnR>
                    <a:lnT w="0">
                      <a:noFill/>
                    </a:lnT>
                    <a:lnB w="7620">
                      <a:solidFill>
                        <a:srgbClr val="D4E1E0"/>
                      </a:solidFill>
                    </a:lnB>
                    <a:solidFill>
                      <a:srgbClr val="FFFFFF"/>
                    </a:solidFill>
                  </a:tcPr>
                </a:tc>
                <a:tc>
                  <a:txBody>
                    <a:bodyPr lIns="114300" tIns="76200" rIns="114300" bIns="76200">
                      <a:noAutofit/>
                    </a:bodyPr>
                    <a:lstStyle/>
                    <a:p>
                      <a:r>
                        <a:rPr sz="1875" b="0">
                          <a:solidFill>
                            <a:srgbClr val="182B30"/>
                          </a:solidFill>
                          <a:latin typeface="Arial"/>
                          <a:ea typeface="Arial"/>
                          <a:cs typeface="Arial"/>
                        </a:rPr>
                        <a:t>Проверка на отложенных запросах</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Ручная подвыборка входит в dev/small, а dev/small входит в полную dev-">
            <a:extLst xmlns:a="http://schemas.openxmlformats.org/drawingml/2006/main">
              <a:ext uri="{FF2B5EF4-FFF2-40B4-BE49-F238E27FC236}">
                <a16:creationId xmlns:a16="http://schemas.microsoft.com/office/drawing/2014/main" id="{C3F9466B-844F-4F05-ACF8-877FF5493F9F}"/>
              </a:ext>
            </a:extLst>
          </p:cNvPr>
          <p:cNvSpPr>
            <a:spLocks xmlns:a="http://schemas.openxmlformats.org/drawingml/2006/main" noGrp="1"/>
          </p:cNvSpPr>
          <p:nvPr/>
        </p:nvSpPr>
        <p:spPr>
          <a:xfrm xmlns:a="http://schemas.openxmlformats.org/drawingml/2006/main">
            <a:off x="609600" y="6115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970"/>
                </a:solidFill>
                <a:latin typeface="Arial"/>
                <a:ea typeface="Arial"/>
                <a:cs typeface="Arial"/>
              </a:defRPr>
            </a:defPPr>
          </a:lstStyle>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26</ap:Slides>
  <ap:Notes>26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