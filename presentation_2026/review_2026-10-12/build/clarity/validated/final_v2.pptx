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7fb4a3ecc47149b1"/><Relationship Type="http://schemas.openxmlformats.org/officeDocument/2006/relationships/extended-properties" Target="/docProps/app.xml" Id="R32f23a33e5534aaf"/><Relationship Type="http://schemas.openxmlformats.org/officeDocument/2006/relationships/officeDocument" Target="/ppt/presentation.xml" Id="R20e01e1bd5414541"/></Relationships>
</file>

<file path=ppt/presentation.xml><?xml version="1.0" encoding="utf-8"?>
<p:presentation xmlns:p="http://schemas.openxmlformats.org/presentationml/2006/main">
  <p:sldMasterIdLst>
    <p:sldMasterId xmlns:r="http://schemas.openxmlformats.org/officeDocument/2006/relationships" id="2147483648" r:id="R59517b2bffc047a2"/>
  </p:sldMasterIdLst>
  <p:notesMasterIdLst>
    <p:notesMasterId xmlns:r="http://schemas.openxmlformats.org/officeDocument/2006/relationships" r:id="R96d77d4526884098"/>
  </p:notesMasterIdLst>
  <p:sldIdLst>
    <p:sldId xmlns:ns0="http://schemas.openxmlformats.org/officeDocument/2006/relationships" id="276" ns0:id="R1b78786234bc4c34"/>
    <p:sldId xmlns:ns1="http://schemas.openxmlformats.org/officeDocument/2006/relationships" id="277" ns1:id="R308caa75f4974794"/>
    <p:sldId xmlns:ns2="http://schemas.openxmlformats.org/officeDocument/2006/relationships" id="278" ns2:id="Rc2e16312072346fc"/>
    <p:sldId xmlns:ns3="http://schemas.openxmlformats.org/officeDocument/2006/relationships" id="279" ns3:id="Rbc07fb6187dc441f"/>
    <p:sldId xmlns:ns4="http://schemas.openxmlformats.org/officeDocument/2006/relationships" id="280" ns4:id="R49d790a9626c4166"/>
    <p:sldId xmlns:ns5="http://schemas.openxmlformats.org/officeDocument/2006/relationships" id="281" ns5:id="R9bebf51513b54225"/>
    <p:sldId xmlns:ns6="http://schemas.openxmlformats.org/officeDocument/2006/relationships" id="282" ns6:id="Reade4cf27cdf471e"/>
    <p:sldId xmlns:ns7="http://schemas.openxmlformats.org/officeDocument/2006/relationships" id="283" ns7:id="Ra91d658d1c494a24"/>
    <p:sldId xmlns:ns8="http://schemas.openxmlformats.org/officeDocument/2006/relationships" id="284" ns8:id="Rae29bbe8b5c74d30"/>
    <p:sldId xmlns:ns9="http://schemas.openxmlformats.org/officeDocument/2006/relationships" id="285" ns9:id="Rc945c2d106ca4687"/>
    <p:sldId xmlns:ns10="http://schemas.openxmlformats.org/officeDocument/2006/relationships" id="286" ns10:id="rAddedSlide21"/>
    <p:sldId xmlns:ns11="http://schemas.openxmlformats.org/officeDocument/2006/relationships" id="287" ns11:id="rAddedSlide22"/>
    <p:sldId xmlns:ns12="http://schemas.openxmlformats.org/officeDocument/2006/relationships" id="288" ns12:id="R1a7923ae1afc4511"/>
    <p:sldId xmlns:ns13="http://schemas.openxmlformats.org/officeDocument/2006/relationships" id="289" ns13:id="rAddedSlide23"/>
    <p:sldId xmlns:ns14="http://schemas.openxmlformats.org/officeDocument/2006/relationships" id="290" ns14:id="Re57df592b105476d"/>
    <p:sldId xmlns:ns15="http://schemas.openxmlformats.org/officeDocument/2006/relationships" id="291" ns15:id="R1fa05d50cb0c43a1"/>
    <p:sldId xmlns:ns16="http://schemas.openxmlformats.org/officeDocument/2006/relationships" id="292" ns16:id="R08ec46a784e14088"/>
    <p:sldId xmlns:ns17="http://schemas.openxmlformats.org/officeDocument/2006/relationships" id="293" ns17:id="R687a3932498c4456"/>
    <p:sldId xmlns:ns18="http://schemas.openxmlformats.org/officeDocument/2006/relationships" id="294" ns18:id="rAddedSlide24"/>
    <p:sldId xmlns:ns19="http://schemas.openxmlformats.org/officeDocument/2006/relationships" id="295" ns19:id="rAddedSlide25"/>
    <p:sldId xmlns:ns20="http://schemas.openxmlformats.org/officeDocument/2006/relationships" id="296" ns20:id="rAddedSlide26"/>
    <p:sldId xmlns:ns21="http://schemas.openxmlformats.org/officeDocument/2006/relationships" id="297" ns21:id="R76b154ba5e7e4d24"/>
    <p:sldId xmlns:ns22="http://schemas.openxmlformats.org/officeDocument/2006/relationships" id="298" ns22:id="Rccd64b9c89fa4245"/>
    <p:sldId xmlns:ns23="http://schemas.openxmlformats.org/officeDocument/2006/relationships" id="299" ns23:id="R4d2c3a6ab9ed4645"/>
    <p:sldId xmlns:ns24="http://schemas.openxmlformats.org/officeDocument/2006/relationships" id="300" ns24:id="R47fdfe65a7c74b49"/>
    <p:sldId xmlns:ns25="http://schemas.openxmlformats.org/officeDocument/2006/relationships" id="301" ns25:id="R9953b0c292f247d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ab0eba8d397a424e"/><Relationship Type="http://schemas.openxmlformats.org/officeDocument/2006/relationships/slideMaster" Target="/ppt/slideMasters/slideMaster1.xml" Id="R59517b2bffc047a2"/><Relationship Type="http://schemas.openxmlformats.org/officeDocument/2006/relationships/notesMaster" Target="/ppt/notesMasters/notesMaster1.xml" Id="R96d77d4526884098"/><Relationship Type="http://schemas.openxmlformats.org/officeDocument/2006/relationships/presProps" Target="/ppt/presProps.xml" Id="Rc25933a6aa6b4975"/><Relationship Type="http://schemas.openxmlformats.org/officeDocument/2006/relationships/tableStyles" Target="/ppt/tableStyles.xml" Id="Ra77222ad7d614f9f"/><Relationship Type="http://schemas.openxmlformats.org/officeDocument/2006/relationships/slide" Target="/ppt/slides/slide1.xml" Id="R1b78786234bc4c34"/><Relationship Type="http://schemas.openxmlformats.org/officeDocument/2006/relationships/slide" Target="/ppt/slides/slide2.xml" Id="R308caa75f4974794"/><Relationship Type="http://schemas.openxmlformats.org/officeDocument/2006/relationships/slide" Target="/ppt/slides/slide3.xml" Id="Rc2e16312072346fc"/><Relationship Type="http://schemas.openxmlformats.org/officeDocument/2006/relationships/slide" Target="/ppt/slides/slide4.xml" Id="Rbc07fb6187dc441f"/><Relationship Type="http://schemas.openxmlformats.org/officeDocument/2006/relationships/slide" Target="/ppt/slides/slide5.xml" Id="R49d790a9626c4166"/><Relationship Type="http://schemas.openxmlformats.org/officeDocument/2006/relationships/slide" Target="/ppt/slides/slide6.xml" Id="R9bebf51513b54225"/><Relationship Type="http://schemas.openxmlformats.org/officeDocument/2006/relationships/slide" Target="/ppt/slides/slide7.xml" Id="Reade4cf27cdf471e"/><Relationship Type="http://schemas.openxmlformats.org/officeDocument/2006/relationships/slide" Target="/ppt/slides/slide8.xml" Id="Ra91d658d1c494a24"/><Relationship Type="http://schemas.openxmlformats.org/officeDocument/2006/relationships/slide" Target="/ppt/slides/slide9.xml" Id="Rae29bbe8b5c74d30"/><Relationship Type="http://schemas.openxmlformats.org/officeDocument/2006/relationships/slide" Target="/ppt/slides/slide10.xml" Id="Rc945c2d106ca4687"/><Relationship Type="http://schemas.openxmlformats.org/officeDocument/2006/relationships/slide" Target="/ppt/slides/slide11.xml" Id="R1a7923ae1afc4511"/><Relationship Type="http://schemas.openxmlformats.org/officeDocument/2006/relationships/slide" Target="/ppt/slides/slide12.xml" Id="Re57df592b105476d"/><Relationship Type="http://schemas.openxmlformats.org/officeDocument/2006/relationships/slide" Target="/ppt/slides/slide13.xml" Id="R1fa05d50cb0c43a1"/><Relationship Type="http://schemas.openxmlformats.org/officeDocument/2006/relationships/slide" Target="/ppt/slides/slide14.xml" Id="R08ec46a784e14088"/><Relationship Type="http://schemas.openxmlformats.org/officeDocument/2006/relationships/slide" Target="/ppt/slides/slide15.xml" Id="R687a3932498c4456"/><Relationship Type="http://schemas.openxmlformats.org/officeDocument/2006/relationships/slide" Target="/ppt/slides/slide16.xml" Id="R76b154ba5e7e4d24"/><Relationship Type="http://schemas.openxmlformats.org/officeDocument/2006/relationships/slide" Target="/ppt/slides/slide17.xml" Id="Rccd64b9c89fa4245"/><Relationship Type="http://schemas.openxmlformats.org/officeDocument/2006/relationships/slide" Target="/ppt/slides/slide18.xml" Id="R4d2c3a6ab9ed4645"/><Relationship Type="http://schemas.openxmlformats.org/officeDocument/2006/relationships/slide" Target="/ppt/slides/slide19.xml" Id="R47fdfe65a7c74b49"/><Relationship Type="http://schemas.openxmlformats.org/officeDocument/2006/relationships/slide" Target="/ppt/slides/slide20.xml" Id="R9953b0c292f247df"/><Relationship Id="rAddedSlide21" Type="http://schemas.openxmlformats.org/officeDocument/2006/relationships/slide" Target="/ppt/slides/slide21.xml"/><Relationship Id="rAddedSlide22" Type="http://schemas.openxmlformats.org/officeDocument/2006/relationships/slide" Target="/ppt/slides/slide22.xml"/><Relationship Id="rAddedSlide23" Type="http://schemas.openxmlformats.org/officeDocument/2006/relationships/slide" Target="/ppt/slides/slide23.xml"/><Relationship Id="rAddedSlide24" Type="http://schemas.openxmlformats.org/officeDocument/2006/relationships/slide" Target="/ppt/slides/slide24.xml"/><Relationship Id="rAddedSlide25" Type="http://schemas.openxmlformats.org/officeDocument/2006/relationships/slide" Target="/ppt/slides/slide25.xml"/><Relationship Id="rAddedSlide26" Type="http://schemas.openxmlformats.org/officeDocument/2006/relationships/slide" Target="/ppt/slides/slide26.xml"/></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df3bc83623e54fa4"/></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d819a0d5dee94248"/><Relationship Type="http://schemas.openxmlformats.org/officeDocument/2006/relationships/notesMaster" Target="/ppt/notesMasters/notesMaster1.xml" Id="R78dbfa4c83974c73"/></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f0872be84bd74c90"/><Relationship Type="http://schemas.openxmlformats.org/officeDocument/2006/relationships/notesMaster" Target="/ppt/notesMasters/notesMaster1.xml" Id="R0a7755347a234632"/></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1f84b4ecbb6e4f18"/><Relationship Type="http://schemas.openxmlformats.org/officeDocument/2006/relationships/notesMaster" Target="/ppt/notesMasters/notesMaster1.xml" Id="R12268708981845f3"/></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b87a8831cc964700"/><Relationship Type="http://schemas.openxmlformats.org/officeDocument/2006/relationships/notesMaster" Target="/ppt/notesMasters/notesMaster1.xml" Id="Rac72e978765e4f30"/></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798dafedf4834424"/><Relationship Type="http://schemas.openxmlformats.org/officeDocument/2006/relationships/notesMaster" Target="/ppt/notesMasters/notesMaster1.xml" Id="R2bf373a1fc5248a3"/></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2959334d7f074c9b"/><Relationship Type="http://schemas.openxmlformats.org/officeDocument/2006/relationships/notesMaster" Target="/ppt/notesMasters/notesMaster1.xml" Id="R782cc6168c42404b"/></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ee97f805d1b14d4a"/><Relationship Type="http://schemas.openxmlformats.org/officeDocument/2006/relationships/notesMaster" Target="/ppt/notesMasters/notesMaster1.xml" Id="R1f4f6d6b608940ac"/></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d9536fb6e95240d4"/><Relationship Type="http://schemas.openxmlformats.org/officeDocument/2006/relationships/notesMaster" Target="/ppt/notesMasters/notesMaster1.xml" Id="R96ca1fd56a524b2b"/></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e7ce650ea03c46e3"/><Relationship Type="http://schemas.openxmlformats.org/officeDocument/2006/relationships/notesMaster" Target="/ppt/notesMasters/notesMaster1.xml" Id="Ra99d10b0bf0a4ed2"/></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4d0f458622284362"/><Relationship Type="http://schemas.openxmlformats.org/officeDocument/2006/relationships/notesMaster" Target="/ppt/notesMasters/notesMaster1.xml" Id="R4fa9ce9b0ae44265"/></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0fcbb8bc0b444c63"/><Relationship Type="http://schemas.openxmlformats.org/officeDocument/2006/relationships/notesMaster" Target="/ppt/notesMasters/notesMaster1.xml" Id="R9bc05418d64d4e09"/></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4daacc99cfba421c"/><Relationship Type="http://schemas.openxmlformats.org/officeDocument/2006/relationships/notesMaster" Target="/ppt/notesMasters/notesMaster1.xml" Id="Rd5dd82eba2b44c7f"/></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f87b6ef3585f4933"/><Relationship Type="http://schemas.openxmlformats.org/officeDocument/2006/relationships/notesMaster" Target="/ppt/notesMasters/notesMaster1.xml" Id="R549f2062f23e4c6b"/></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ea18d135cd9e43b1"/><Relationship Type="http://schemas.openxmlformats.org/officeDocument/2006/relationships/notesMaster" Target="/ppt/notesMasters/notesMaster1.xml" Id="R545fc6b50a27458c"/></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0ddc8fa565a1400c"/><Relationship Type="http://schemas.openxmlformats.org/officeDocument/2006/relationships/notesMaster" Target="/ppt/notesMasters/notesMaster1.xml" Id="R95fadb2f21db415b"/></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73c27a0ca4174d2a"/><Relationship Type="http://schemas.openxmlformats.org/officeDocument/2006/relationships/notesMaster" Target="/ppt/notesMasters/notesMaster1.xml" Id="R97691a278cf24d65"/></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7a7d3a35b34c4a0b"/><Relationship Type="http://schemas.openxmlformats.org/officeDocument/2006/relationships/notesMaster" Target="/ppt/notesMasters/notesMaster1.xml" Id="R83ee8e6f9b224bc9"/></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44991df8a0db4707"/><Relationship Type="http://schemas.openxmlformats.org/officeDocument/2006/relationships/notesMaster" Target="/ppt/notesMasters/notesMaster1.xml" Id="Rc26d97ace02a41cd"/></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0247b1f2cd7848e5"/><Relationship Type="http://schemas.openxmlformats.org/officeDocument/2006/relationships/notesMaster" Target="/ppt/notesMasters/notesMaster1.xml" Id="R4a9ed6f673b84c42"/></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d6681c2c5a984720"/><Relationship Type="http://schemas.openxmlformats.org/officeDocument/2006/relationships/notesMaster" Target="/ppt/notesMasters/notesMaster1.xml" Id="Rfde93e5a727b41c1"/></Relationships>
</file>

<file path=ppt/notesSlides/_rels/notesSlide21.xml.rels><?xml version='1.0' encoding='UTF-8' standalone='yes'?>
<Relationships xmlns="http://schemas.openxmlformats.org/package/2006/relationships"><Relationship Id="rSlide" Type="http://schemas.openxmlformats.org/officeDocument/2006/relationships/slide" Target="/ppt/slides/slide21.xml"/><Relationship Id="rMaster" Type="http://schemas.openxmlformats.org/officeDocument/2006/relationships/notesMaster" Target="/ppt/notesMasters/notesMaster1.xml"/></Relationships>
</file>

<file path=ppt/notesSlides/_rels/notesSlide22.xml.rels><?xml version='1.0' encoding='UTF-8' standalone='yes'?>
<Relationships xmlns="http://schemas.openxmlformats.org/package/2006/relationships"><Relationship Id="rSlide" Type="http://schemas.openxmlformats.org/officeDocument/2006/relationships/slide" Target="/ppt/slides/slide22.xml"/><Relationship Id="rMaster" Type="http://schemas.openxmlformats.org/officeDocument/2006/relationships/notesMaster" Target="/ppt/notesMasters/notesMaster1.xml"/></Relationships>
</file>

<file path=ppt/notesSlides/_rels/notesSlide23.xml.rels><?xml version='1.0' encoding='UTF-8' standalone='yes'?>
<Relationships xmlns="http://schemas.openxmlformats.org/package/2006/relationships"><Relationship Id="rSlide" Type="http://schemas.openxmlformats.org/officeDocument/2006/relationships/slide" Target="/ppt/slides/slide23.xml"/><Relationship Id="rMaster" Type="http://schemas.openxmlformats.org/officeDocument/2006/relationships/notesMaster" Target="/ppt/notesMasters/notesMaster1.xml"/></Relationships>
</file>

<file path=ppt/notesSlides/_rels/notesSlide24.xml.rels><?xml version='1.0' encoding='UTF-8' standalone='yes'?>
<Relationships xmlns="http://schemas.openxmlformats.org/package/2006/relationships"><Relationship Id="rSlide" Type="http://schemas.openxmlformats.org/officeDocument/2006/relationships/slide" Target="/ppt/slides/slide24.xml"/><Relationship Id="rMaster" Type="http://schemas.openxmlformats.org/officeDocument/2006/relationships/notesMaster" Target="/ppt/notesMasters/notesMaster1.xml"/></Relationships>
</file>

<file path=ppt/notesSlides/_rels/notesSlide25.xml.rels><?xml version='1.0' encoding='UTF-8' standalone='yes'?>
<Relationships xmlns="http://schemas.openxmlformats.org/package/2006/relationships"><Relationship Id="rSlide" Type="http://schemas.openxmlformats.org/officeDocument/2006/relationships/slide" Target="/ppt/slides/slide25.xml"/><Relationship Id="rMaster" Type="http://schemas.openxmlformats.org/officeDocument/2006/relationships/notesMaster" Target="/ppt/notesMasters/notesMaster1.xml"/></Relationships>
</file>

<file path=ppt/notesSlides/_rels/notesSlide26.xml.rels><?xml version='1.0' encoding='UTF-8' standalone='yes'?>
<Relationships xmlns="http://schemas.openxmlformats.org/package/2006/relationships"><Relationship Id="rSlide" Type="http://schemas.openxmlformats.org/officeDocument/2006/relationships/slide" Target="/ppt/slides/slide26.xml"/><Relationship Id="rMaster" Type="http://schemas.openxmlformats.org/officeDocument/2006/relationships/notesMaster" Target="/pp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Здравствуйте!  Я представлю нашу работу по углубленной доразметке MS MARCO и оценке поиска на контролируемых пулах кандидатов, .</ns0:t>
            </ns0:r>
          </ns0:p>
          <ns1:p xmlns:ns1="http://schemas.openxmlformats.org/drawingml/2006/main">
            <ns1:r>
              <ns1:t>Главный вопрос работы: насколько оценка поисковой системы зависит от того, какие фрагменты текста получили оценку релевантности? Чтобы разобраться в этом, сначала поясню, почему для исследования мы выбрали именно MS MARCO.</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Для оценки поиска существуют разные наборы данных. В Natural Questions используются реальные запросы Google и ответы в статьях Википедии. BEIR объединяет разные задачи и предметные области, чтобы проверять переносимость поисковых методов.</ns0:t>
            </ns0:r>
          </ns0:p>
          <ns1:p xmlns:ns1="http://schemas.openxmlformats.org/drawingml/2006/main">
            <ns1:r>
              <ns1:t>Мы выбрали MS MARCO. Он основан на реальных запросах Bing и содержит открытые тексты веб-фрагментов. Для нашей задачи особенно важна разреженность оценок релевантности: исходная разметка может не охватывать все подходящие ответы. Это позволяет исследовать, как дополнительная разметка меняет оценку поиска. При этом MS MARCO не представляет все поисковые сценарии, поэтому перенос наших выводов на другие коллекции требует отдельной проверки.</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MS MARCO: https://arxiv.org/abs/1611.09268</ns4:t>
            </ns4:r>
          </ns4:p>
          <ns5:p xmlns:ns5="http://schemas.openxmlformats.org/drawingml/2006/main">
            <ns5:r>
              <ns5:t>Natural Questions: https://aclanthology.org/Q19-1026/</ns5:t>
            </ns5:r>
          </ns5:p>
          <ns6:p xmlns:ns6="http://schemas.openxmlformats.org/drawingml/2006/main">
            <ns6:r>
              <ns6:t>BEIR: https://arxiv.org/abs/2104.08663</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Посмотрим на внешний ориентир: исторический срез официальной таблицы MS MARCO на ноябрь 2022 года. Здесь четыре ведущие системы с опубликованными названиями, все в одной постановке полного поиска и на одном закрытом тестовом наборе. Их MRR на первых десяти позициях лежит в диапазоне от 0,436 до 0,450. Эта метрика усредняет обратную позицию первого найденного релевантного ответа в первой десятке.</ns0:t>
            </ns0:r>
          </ns0:p>
          <ns1:p xmlns:ns1="http://schemas.openxmlformats.org/drawingml/2006/main">
            <ns1:r>
              <ns1:t>Размах опубликованных оценок составляет 0,014. Значения близки, но это еще не доказывает ни равенство систем, ни неполноту разметки. Мы задаем отдельный вопрос: насколько сравнение зависит от того, какие ответы вообще оценены? Следующий пример показывает проблему, которую мы исследуем. А в собственных экспериментах далее используем другую метрику, NDCG, рассчитанную внутри размеченных пулов. Напрямую сравнивать ее с этой таблицей нельзя.</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Историческая таблица MS MARCO Passage Ranking, срез 30 ноября 2022 года. https://github.com/microsoft/MSMARCO-Passage-Ranking-Submissions/blob/abb44144f563e7972d5131f5d6acc2092877964c/leaderboard/leaderboard.csv</ns4:t>
            </ns4:r>
          </ns4:p>
          <ns5:p xmlns:ns5="http://schemas.openxmlformats.org/drawingml/2006/main">
            <ns5:r>
              <ns5:t>Показаны четыре лучшие именованные заявки по eval среди full ranking. Анонимные заявки не включены. Значения округлены как в официальном CSV. https://microsoft.github.io/msmarco/Submission.html</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этом примере запрос звучит так: что вызывает повышение температуры кипения? Первый фрагмент говорит о добавлении соли и отмечен как релевантный в исходной разметке. Второй объясняет роль нелетучего растворенного вещества. Человек тоже считает его релевантным, однако в исходной разметке оценки для него нет. Третий фрагмент сообщает температуру кипения ацетона, но не отвечает на вопрос о причине ее повышения.</ns0:t>
            </ns0:r>
          </ns0:p>
          <ns1:p xmlns:ns1="http://schemas.openxmlformats.org/drawingml/2006/main">
            <ns1:r>
              <ns1:t>Оценки релевантности обычно называют qrels, от английского query relevance judgments. Это оценки того, насколько текст соответствует запросу. В нашем расчете метрики неразмеченный фрагмент дает нулевой вклад. Получается, система может найти полезный ответ, но не получить за него баллов. Отсутствие оценки не означает нерелевантность. Именно эту проблему мы исследуем.</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Сначала рассмотрим человеческие оценки. В англоязычном корпусе MS MARCO около 8,84 миллиона фрагментов. Стандартная оценочная подвыборка dev/small содержит 6 980 запросов и 7 437 исходных положительных пар. Пара здесь означает один запрос и один фрагмент, связанный с ним оценкой релевантности.</ns0:t>
            </ns0:r>
          </ns0:p>
          <ns1:p xmlns:ns1="http://schemas.openxmlformats.org/drawingml/2006/main">
            <ns1:r>
              <ns1:t>Из dev/small взяты 1 179 запросов для расширенной ручной разметки. Для них оценены 33 667 различных пар. Под углубленной доразметкой мы понимаем оценку нескольких кандидатов для каждого запроса внутри заданного пула. Речь идет об охвате разметки, а не о глубине нейросети или полной разметке всего корпуса.</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MS MARCO Passage Ranking v1. https://ir-datasets.com/msmarco-passage.html#msmarco-passage/dev</ns4:t>
            </ns4:r>
          </ns4:p>
          <ns5:p xmlns:ns5="http://schemas.openxmlformats.org/drawingml/2006/main">
            <ns5:r>
              <ns5:t>Архив запросов: https://msmarco.z22.web.core.windows.net/msmarcoranking/queries.tar.gz</ns5:t>
            </ns5:r>
          </ns5:p>
          <ns6:p xmlns:ns6="http://schemas.openxmlformats.org/drawingml/2006/main">
            <ns6:r>
              <ns6:t>MS MARCO Passage Ranking dev/small. https://ir-datasets.com/msmarco-passage.html#msmarco-passage/dev/small</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Для подготовки ручной выборки мы применили пулинг: объединили списки кандидатов и удалили дубликаты. BM25 ищет по лексическим совпадениям. E5 и BGE используют плотные векторные представления: запрос и фрагмент кодируются отдельно. Каждый сохраненный список, полученный поиском по запросу, добавляет в пул десять результатов.</ns0:t>
            </ns0:r>
          </ns0:p>
          <ns1:p xmlns:ns1="http://schemas.openxmlformats.org/drawingml/2006/main">
            <ns1:r>
              <ns1:t>Пул расширяют дополнительные способы отбора, в том числе поиск похожих фрагментов по E5 относительно заранее известного релевантного ответа. Разметчик также видит запрос, проверяемый фрагмент и этот ответ. Это разметка с опорой на эталон: она использует сведения, которых нет у обычной поисковой системы, получающей только запрос.</ns1:t>
            </ns1:r>
          </ns1:p>
          <ns2:p xmlns:ns2="http://schemas.openxmlformats.org/drawingml/2006/main">
            <ns2:r>
              <ns2:t>В среднем в пуле около 28,6 кандидата на запрос. Они отобраны целенаправленно и не являются случайной выборкой из корпуса. Это важно помнить, когда мы говорим о большом числе найденных релевантных фрагментов.</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BM25: https://doi.org/10.1561/1500000019</ns5:t>
            </ns5:r>
          </ns5:p>
          <ns6:p xmlns:ns6="http://schemas.openxmlformats.org/drawingml/2006/main">
            <ns6:r>
              <ns6:t>E5: https://arxiv.org/abs/2212.03533</ns6:t>
            </ns6:r>
          </ns6:p>
          <ns7:p xmlns:ns7="http://schemas.openxmlformats.org/drawingml/2006/main">
            <ns7:r>
              <ns7:t>Модель E5: https://huggingface.co/intfloat/e5-small-v2</ns7:t>
            </ns7:r>
          </ns7:p>
          <ns8:p xmlns:ns8="http://schemas.openxmlformats.org/drawingml/2006/main">
            <ns8:r>
              <ns8:t>Модель BGE: https://huggingface.co/BAAI/bge-small-en-v1.5</ns8:t>
            </ns8:r>
          </ns8: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этих же пулах исходные qrels содержат 1243 пары с положительной оценкой. После расширенной ручной разметки таких пар становится 20 597. Среднее число фрагментов, признанных релевантными одному запросу, увеличивается с 1,05 до 17,47.</ns0:t>
            </ns0:r>
          </ns0:p>
          <ns1:p xmlns:ns1="http://schemas.openxmlformats.org/drawingml/2006/main">
            <ns1:r>
              <ns1:t>Это не значит, что исходные положительные оценки ошибочны. Просто многие другие подходящие ответы оставались без оценки. Вместе с тем наблюдаемый рост относится именно к отобранным пулам. По нему нельзя судить о количестве всех релевантных фрагментов в коллекции.</ns1:t>
            </ns1:r>
          </ns1:p>
          <ns2:p xmlns:ns2="http://schemas.openxmlformats.org/drawingml/2006/main">
            <ns2:r>
              <ns2:t>Теперь сравним оценки поисковых систем по двум вариантам разметки. Запросы, пулы кандидатов и порядок результатов поиска остаются прежними. Меняется только разметка релевантности. Так мы можем увидеть ее влияние на измеряемое качество при неизменной выдаче.</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Качество ранжирования мы измеряем с помощью NDCG на первых десяти позициях. Метрика дает больший вес релевантным фрагментам ближе к началу выдачи и нормирует результат относительно идеального порядка. Для одного запроса и одного набора меток знаменатель, соответствующий идеальной выдаче, одинаков у всех систем.</ns0:t>
            </ns0:r>
          </ns0:p>
          <ns1:p xmlns:ns1="http://schemas.openxmlformats.org/drawingml/2006/main">
            <ns1:r>
              <ns1:t>В сравнение включен и RRF, метод слияния по обратным рангам. Он объединяет списки BM25, E5 и BGE, используя позиции результатов, а не исходные численные оценки этих моделей.</ns1:t>
            </ns1:r>
          </ns1:p>
          <ns2:p xmlns:ns2="http://schemas.openxmlformats.org/drawingml/2006/main">
            <ns2:r>
              <ns2:t>Оранжевые столбцы соответствуют исходным qrels, а зеленые показывают результаты по ручной разметке. Среднее качество растет у всех четырех систем. У E5 значение NDCG увеличивается с 0,488 до 0,879. Средний прирост в парном сравнении составляет около 0,391; под графиком приведен 95-процентный доверительный интервал этого прироста.</ns2:t>
            </ns2:r>
          </ns2:p>
          <ns3:p xmlns:ns3="http://schemas.openxmlformats.org/drawingml/2006/main">
            <ns3:r>
              <ns3:t>Здесь изменилась оценка качества благодаря более полной разметке. Сами поисковые системы мы не улучшали и не переобучали. Их порядок остается прежним: E5, RRF, BGE и BM25. Это результаты внутри размеченных пулов, а не показатели поиска по всему корпусу для общей таблицы лидеров.</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BM25: https://doi.org/10.1561/1500000019</ns6:t>
            </ns6:r>
          </ns6:p>
          <ns7:p xmlns:ns7="http://schemas.openxmlformats.org/drawingml/2006/main">
            <ns7:r>
              <ns7:t>E5: https://arxiv.org/abs/2212.03533</ns7:t>
            </ns7:r>
          </ns7:p>
          <ns8:p xmlns:ns8="http://schemas.openxmlformats.org/drawingml/2006/main">
            <ns8:r>
              <ns8:t>Модель E5: https://huggingface.co/intfloat/e5-small-v2</ns8:t>
            </ns8:r>
          </ns8:p>
          <ns9:p xmlns:ns9="http://schemas.openxmlformats.org/drawingml/2006/main">
            <ns9:r>
              <ns9:t>Модель BGE: https://huggingface.co/BAAI/bge-small-en-v1.5</ns9:t>
            </ns9:r>
          </ns9:p>
          <ns10:p xmlns:ns10="http://schemas.openxmlformats.org/drawingml/2006/main">
            <ns10:r>
              <ns10:t>Cormack, Clarke, Büttcher. Reciprocal Rank Fusion outperforms Condorcet and individual Rank Learning Methods. SIGIR 2009. https://doi.org/10.1145/1571941.1572114</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Человеческие оценки позволили измерить эффект доразметки. Но проверять вручную гораздо более крупные пулы дорого. Поэтому мы дообучили компактный кросс-энкодер MiniLM на этих оценках и используем его как модель-судью. Он предсказывает релевантность пары из запроса и фрагмента. Такие предсказания называем псевдометками, чтобы отличать их от человеческих оценок.</ns0:t>
            </ns0:r>
          </ns0:p>
          <ns1:p xmlns:ns1="http://schemas.openxmlformats.org/drawingml/2006/main">
            <ns1:r>
              <ns1:t>Кросс-энкодер обрабатывает запрос и проверяемый фрагмент совместно. Этим он отличается от E5 и BGE, которые строят отдельные представления запроса и текста. На вход нашей модели-судьи поступают только эти два текста. Ни известного релевантного ответа, ни позиций в выдаче, ни оценок других моделей она не получает.</ns1:t>
            </ns1:r>
          </ns1:p>
          <ns2:p xmlns:ns2="http://schemas.openxmlformats.org/drawingml/2006/main">
            <ns2:r>
              <ns2:t>Ручная разметка нужна и для дообучения судьи, и для проверки его ошибок на отложенных запросах. Поисковые модели при этом сохраняют свою роль: они находят кандидатов, которых затем оценивает судья. Сначала покажу, насколько его предсказания согласуются с человеческими оценками.</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Wang et al. MiniLM. 2020. https://arxiv.org/abs/2002.10957</ns5:t>
            </ns5:r>
          </ns5:p>
          <ns6:p xmlns:ns6="http://schemas.openxmlformats.org/drawingml/2006/main">
            <ns6:r>
              <ns6:t>Исходная модель: https://huggingface.co/cross-encoder/ms-marco-MiniLM-L6-v2</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Всю ручную подвыборку разделили по запросам: 825 для дообучения, 177 для валидации и 177 для теста. Все пары одного запроса остаются в одной части. Это наше внутреннее разбиение для судьи внутри dev/small, а не исходные train и test всего MS MARCO.</ns0:t>
            </ns0:r>
          </ns0:p>
          <ns1:p xmlns:ns1="http://schemas.openxmlformats.org/drawingml/2006/main">
            <ns1:r>
              <ns1:t>На валидационной части выбрали порог минус 0,2187. Если выходной балл судьи не ниже этого порога, присваиваем положительную псевдометку. Отрицательный порог допустим: модель выдает балл, а не вероятность. После выбора порога его фиксируем.</ns1:t>
            </ns1:r>
          </ns1:p>
          <ns2:p xmlns:ns2="http://schemas.openxmlformats.org/drawingml/2006/main">
            <ns2:r>
              <ns2:t>На тестовых 177 запросах и 5 002 парах площадь под ROC-кривой составляет 0,907, а F1 при выбранном пороге равна 0,875. Точность составляет 0,851, полнота 0,902. Это согласие с человеческими оценками в ручных пулах. Проверка не гарантирует такого же качества на более глубоких пулах.</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Wang et al. MiniLM. 2020. https://arxiv.org/abs/2002.10957</ns5:t>
            </ns5:r>
          </ns5:p>
          <ns6:p xmlns:ns6="http://schemas.openxmlformats.org/drawingml/2006/main">
            <ns6:r>
              <ns6:t>Исходная модель: https://huggingface.co/cross-encoder/ms-marco-MiniLM-L6-v2</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При увеличении K с десяти до двухсот средний размер пула растет примерно с 22 до 452 кандидатов. Число фрагментов, которые модель считает релевантными, в среднем увеличивается примерно с 14 до 129. Эти средние рассчитаны по всем запросам, включая запросы без единого положительного предсказания.</ns0:t>
            </ns0:r>
          </ns0:p>
          <ns1:p xmlns:ns1="http://schemas.openxmlformats.org/drawingml/2006/main">
            <ns1:r>
              <ns1:t>Рост зависит от того, какой пул мы выбрали для оценки. Эти числа нельзя трактовать как количество всех подходящих ответов в корпусе. Далее посмотрим, как изменение охвата разметки влияет на сравнение поисковых систем.</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Здесь мы сравниваем RRF с E5 и различаем две глубины. K задает число результатов от каждой системы в пуле для разметки. L задает число результатов, поступающих на слияние рангов. В этой конфигурации обе величины растут вместе: L равно K.</ns0:t>
            </ns0:r>
          </ns0:p>
          <ns1:p xmlns:ns1="http://schemas.openxmlformats.org/drawingml/2006/main">
            <ns1:r>
              <ns1:t>Почему берем больше десяти результатов, хотя считаем NDCG по первой десятке? Потому что десять в NDCG относится к итоговому списку после слияния. Фрагмент, стоящий одиннадцатым у всех трех систем, при L, равном десяти, вообще не попадет в RRF. При L не меньше одиннадцати он получит сразу три вклада и может войти в итоговый топ-10. Поэтому более глубокие входные списки способны изменить и состав первой десятки, и порядок внутри нее.</ns1:t>
            </ns1:r>
          </ns1:p>
          <ns2:p xmlns:ns2="http://schemas.openxmlformats.org/drawingml/2006/main">
            <ns2:r>
              <ns2:t>По горизонтальной оси отложена разность двух значений NDCG@10: значение для RRF минус значение для E5. Значения слева от нуля означают преимущество E5, справа от нуля преимущество RRF. При K, равном десяти, RRF уступает. На четырех больших глубинах разность небольшая, но положительная. При глубине двести она составляет около 0,0088.</ns2:t>
            </ns2:r>
          </ns2:p>
          <ns3:p xmlns:ns3="http://schemas.openxmlformats.org/drawingml/2006/main">
            <ns3:r>
              <ns3:t>Горизонтальные отрезки показывают 95-процентные доверительные интервалы разности. Здесь одновременно меняются и охват разметки, и входные списки для слияния. Чтобы выделить влияние охвата, дальше зафиксируем ранжирование.</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Cormack, Clarke, Büttcher. Reciprocal Rank Fusion outperforms Condorcet and individual Rank Learning Methods. SIGIR 2009. https://doi.org/10.1145/1571941.1572114</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Теперь RRF всегда использует первые двести результатов каждого источника. Глубина L фиксирована, а первые десять результатов RRF и E5 не меняются. Варьируется только K, то есть глубина пула, для которого получаем оценки релевантности.</ns0:t>
            </ns0:r>
          </ns0:p>
          <ns1:p xmlns:ns1="http://schemas.openxmlformats.org/drawingml/2006/main">
            <ns1:r>
              <ns1:t>Даже при такой неизменной выдаче преимущество переходит от одной системы к другой. Из NDCG@10 для RRF вычитаем NDCG@10 для E5. Получаем примерно минус 0,066 при K, равном десяти, и плюс 0,008 при K, равном тридцати. Отрицательная разность означает преимущество E5, положительная преимущество RRF.</ns1:t>
            </ns1:r>
          </ns1:p>
          <ns2:p xmlns:ns2="http://schemas.openxmlformats.org/drawingml/2006/main">
            <ns2:r>
              <ns2:t>При K, равном десяти, 14,4 процента пар из итогового топ-10 RRF лежат за пределами пула с оценками. При расчете метрики они дают нулевой вклад. Но отсутствие оценки не означает, что фрагмент нерелевантен: в этом пуле мы его просто не оценивали. Разметка более глубокого пула позволяет проверить и такие фрагменты.</ns2:t>
            </ns2:r>
          </ns2:p>
          <ns3:p xmlns:ns3="http://schemas.openxmlformats.org/drawingml/2006/main">
            <ns3:r>
              <ns3:t>Более широкий пул дает оценки для большего числа найденных фрагментов и может изменить знаменатель, соответствующий идеальному ранжированию. Основной результат: измеряемый порядок систем способен измениться без изменения их выдачи. При этом вывод по-прежнему зависит от псевдометок одной модели-судьи.</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Cormack, Clarke, Büttcher. Reciprocal Rank Fusion outperforms Condorcet and individual Rank Learning Methods. SIGIR 2009. https://doi.org/10.1145/1571941.1572114</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масштабном эксперименте все метки получены одним судьей. Это относится и к тем запросам, которые раньше размечал человек. Ручные ответы здесь не заменяют предсказания судьи и не дополняют их.</ns0:t>
            </ns0:r>
          </ns0:p>
          <ns1:p xmlns:ns1="http://schemas.openxmlformats.org/drawingml/2006/main">
            <ns1:r>
              <ns1:t>Однако часть этих запросов использовалась при дообучении судьи. Поэтому мы дополнительно пересчитали сравнение, исключив все 1 179 запросов ручной подвыборки. Из 101 093 осталось 99 914. На каждой проверенной глубине преимущество осталось у той же системы, что и до исключения. Это говорит об устойчивости сравнения к такому пересечению, но не заменяет независимый тест судьи.</ns1:t>
            </ns1:r>
          </ns1:p>
          <ns2:p xmlns:ns2="http://schemas.openxmlformats.org/drawingml/2006/main">
            <ns2:r>
              <ns2:t>Ограничения сохраняются. Человек видел известный релевантный ответ, а судья получает только запрос и кандидата. Согласие между разметчиками не измерялось. Более глубокие пулы не проходили независимую ручную проверку.</ns2:t>
            </ns2:r>
          </ns2:p>
          <ns3:p xmlns:ns3="http://schemas.openxmlformats.org/drawingml/2006/main">
            <ns3:r>
              <ns3:t>Наши численные выводы относятся к выбранным англоязычным пулам MS MARCO. Их перенос на другие языки, предметные области и поисковые сервисы еще предстоит проверить.</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Ручная доразметка существенно меняет оценку качества поиска. В наших ручных пулах NDCG@10 системы E5 увеличивается с 0,488 до 0,879 при неизменной выдаче. Система уже находила полезные фрагменты, но неполная исходная разметка не давала ей за них баллы.</ns0:t>
            </ns0:r>
          </ns0:p>
          <ns1:p xmlns:ns1="http://schemas.openxmlformats.org/drawingml/2006/main">
            <ns1:r>
              <ns1:t>В масштабном эксперименте при той же выдаче меняется даже победитель сравнения: на малом пуле E5 опережает RRF, а при расширении пула вперед выходит RRF. Практический смысл в том, что выбор лучшей системы зависит от того, какие найденные фрагменты получили оценки. Различие возникает без переобучения поисковых моделей.</ns1:t>
            </ns1:r>
          </ns1:p>
          <ns2:p xmlns:ns2="http://schemas.openxmlformats.org/drawingml/2006/main">
            <ns2:r>
              <ns2:t>Близкие метрики при неполной разметке сами по себе не доказывают одинаковое качество систем. Но и утверждать, что мы установили истинного лидера, пока нельзя: масштабное сравнение опирается на оценки одного судьи. Поэтому при сравнении систем нужно проверять, как вывод зависит от охвата разметки и источника оценок.</ns2:t>
            </ns2:r>
          </ns2:p>
          <ns3:p xmlns:ns3="http://schemas.openxmlformats.org/drawingml/2006/main">
            <ns3:r>
              <ns3:t>Следующий шаг состоит в улучшении автоматической доразметки. Планируем сравнить более сильные модели-судьи и проверить вариант, который получает запрос, известный релевантный ответ и фрагмент-кандидат. Качество такой доразметки нужно подтвердить независимыми человеческими оценками, в том числе на глубоких пулах.</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ручном сравнении поисковая выдача не менялась. Изменились метки, по которым мы ее оцениваем: ранее неоцененные полезные ответы стали давать вклад в метрику. Поэтому выросла измеренная оценка качества, а не возможности самой поисковой модели. NDCG@10 учитывает релевантность в первой десятке с большим весом верхних позиций и нормирует ее относительно идеальной выдачи.</ns0:t>
            </ns0:r>
          </ns0:p>
          <ns1:p xmlns:ns1="http://schemas.openxmlformats.org/drawingml/2006/main">
            <ns1:r>
              <ns1:t>Источники</ns1:t>
            </ns1:r>
          </ns1:p>
          <ns2:p xmlns:ns2="http://schemas.openxmlformats.org/drawingml/2006/main">
            <ns2:r>
              <ns2:t>, G. , N. . Deep Re-annotation and Controlled Candidate Pools for Re-evaluating Ranking Models on MS MARCO. DAMDID 2026. Результаты экспериментов в контролируемых пулах.</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Используется ненормированный выходной балл модели. Его шкала допускает отрицательные числа и не совпадает со шкалой вероятностей от нуля до единицы. Порог −0,2187178284 выбрали на 177 валидационных запросах и затем не меняли ни для теста, ни для разных K. На слайдах значение округлено до −0,2187. Тестовая F1 при этом пороге равна 0,875.</ns0:t>
            </ns0:r>
          </ns0:p>
          <ns1:p xmlns:ns1="http://schemas.openxmlformats.org/drawingml/2006/main">
            <ns1:r>
              <ns1:t>На 5 002 тестовых парах получены 2 882 верных положительных и 1 300 верных отрицательных решения, 506 ложноположительных и 314 ложноотрицательных. Точность 0,851 означает, что около 85% положительных предсказаний совпали с целевыми ручными метками на этом тесте. Эти доли нельзя автоматически переносить на все более глубокие пулы.</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Wang et al. MiniLM. 2020. https://arxiv.org/abs/2002.10957</ns4:t>
            </ns4:r>
          </ns4:p>
          <ns5:p xmlns:ns5="http://schemas.openxmlformats.org/drawingml/2006/main">
            <ns5:r>
              <ns5:t>Исходная модель: https://huggingface.co/cross-encoder/ms-marco-MiniLM-L6-v2</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 определяет, сколько результатов от каждой системы попадает в пул разметки. L определяет, сколько результатов от каждой системы поступает на слияние RRF. В первом сравнении L равно K, поэтому меняются и пул, и итоговое ранжирование. В контрольном сравнении L всегда равно 200: выдача фиксирована, меняется только пул с оценками. Повторяющиеся кандидаты учитываются один раз.</ns0:t>
            </ns0:r>
          </ns0:p>
          <ns1:p xmlns:ns1="http://schemas.openxmlformats.org/drawingml/2006/main">
            <ns1:r>
              <ns1:t>Нет. RRF суммирует величины, зависящие от места документа в списках BM25, E5 и BGE: 1/(60 + место). Веса источников одинаковы. Сырые поисковые баллы и оценки судьи в формулу не входят. Например, первое место у любого источника дает вклад 1/61. Судья используется отдельно для оценки полученного списка.</ns1:t>
            </ns1:r>
          </ns1:p>
          <ns2:p xmlns:ns2="http://schemas.openxmlformats.org/drawingml/2006/main">
            <ns2:r>
              <ns2:t>17,47 относится к среднему числу положительных человеческих оценок внутри ручных пулов. 128,6 относится к положительным предсказаниям одного судьи при K = 200 на полной dev-части. Пулы целенаправленно отобраны поисковыми методами. Ни одно число не оценивает полное количество релевантных ответов во всем корпусе.</ns2:t>
            </ns2:r>
          </ns2:p>
          <ns3:p xmlns:ns3="http://schemas.openxmlformats.org/drawingml/2006/main">
            <ns3:r>
              <ns3:t>L ограничивает входные списки BM25, E5 и BGE до слияния. NDCG@10 оценивает первые десять позиций уже получившегося списка RRF. Это разные этапы.</ns3:t>
            </ns3:r>
          </ns3:p>
          <ns4:p xmlns:ns4="http://schemas.openxmlformats.org/drawingml/2006/main">
            <ns4:r>
              <ns4:t>Условный пример: в первых десяти результатах трех систем нет общих фрагментов, но один и тот же фрагмент стоит одиннадцатым у всех трех. При L = 10 его нет среди кандидатов RRF. При L = 11 его сумма равна 3/(60 + 11), примерно 0,0423. У фрагмента, который стоит первым только в одном списке, сумма 1/(60 + 1), примерно 0,0164. Общий фрагмент становится первым в RRF. Поэтому L &gt; 10 может менять итоговый топ-10. При этом дальнейшее увеличение L не обязано менять выдачу на каждом запросе.</ns4:t>
            </ns4:r>
          </ns4:p>
          <ns5:p xmlns:ns5="http://schemas.openxmlformats.org/drawingml/2006/main">
            <ns5:r>
              <ns5:t>Источники</ns5:t>
            </ns5:r>
          </ns5:p>
          <ns6:p xmlns:ns6="http://schemas.openxmlformats.org/drawingml/2006/main">
            <ns6:r>
              <ns6:t>, G. , N. . Deep Re-annotation and Controlled Candidate Pools for Re-evaluating Ranking Models on MS MARCO. DAMDID 2026. Результаты экспериментов в контролируемых пулах.</ns6:t>
            </ns6:r>
          </ns6:p>
          <ns7:p xmlns:ns7="http://schemas.openxmlformats.org/drawingml/2006/main">
            <ns7:r>
              <ns7:t>Cormack, Clarke, Büttcher. Reciprocal Rank Fusion outperforms Condorcet and individual Rank Learning Methods. SIGIR 2009. https://doi.org/10.1145/1571941.1572114</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исходных записях нашли 29 пар с кодами меток вне принятой шкалы 0/1/2: 26 меток со значением 3, две со значением 20 и одну со значением 22. Эти записи относятся к 18 запросам. Значение таких кодов не установлено, поэтому их нельзя произвольно считать подтвержденными положительными или отрицательными оценками.</ns0:t>
            </ns0:r>
          </ns0:p>
          <ns1:p xmlns:ns1="http://schemas.openxmlformats.org/drawingml/2006/main">
            <ns1:r>
              <ns1:t>Еще у пяти других запросов обнаружили по одному кандидату с пустым текстом. Всего затронуты 23 запроса. В дополнительном расчете исключили эти запросы целиком, осталось 1 156. Порядок поисковых систем по человеческим оценкам не изменился. В основном расчете нестандартные метки не считались подтвержденными положительными оценками и давали нулевой вклад. Исключение служит проверкой чувствительности результата, а не новой разметкой.</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Человек видел запрос, оцениваемый фрагмент и известный релевантный ответ. Подготовка ручных кандидатов также использовала сходство E5 с этим ответом. Судья получает только тексты запроса и кандидата. Он не получает известного ответа, позиций, баллов BM25, E5 или BGE и заранее рассчитанных эмбеддингов. Добавление эталонного ответа ко входу судьи предложено как следующий эксперимент.</ns0:t>
            </ns0:r>
          </ns0:p>
          <ns1:p xmlns:ns1="http://schemas.openxmlformats.org/drawingml/2006/main">
            <ns1:r>
              <ns1:t>Судья нужен как доступный способ получить много дополнительных оценок и исследовать зависимость метрик от охвата. Он не заменяет поисковые системы и не считается безошибочным эталоном. BM25, E5 и BGE по-прежнему находят и ранжируют кандидатов. На ручных данных их сравнение опирается на человеческие оценки. Масштабные выводы с MiniLM условны и требуют проверки более сильными судьями и независимой ручной разметкой.</ns1:t>
            </ns1:r>
          </ns1:p>
          <ns2:p xmlns:ns2="http://schemas.openxmlformats.org/drawingml/2006/main">
            <ns2:r>
              <ns2:t>Это компактная исходная модель cross-encoder/ms-marco-MiniLM-L6-v2, пригодная для оценки большого числа пар. В представленном эксперименте ее дообучили на ручных оценках. Сравнения нескольких судей и модели со входом «запрос, эталонный ответ, кандидат» пока не выполнены. Результаты таких сравнений не заявляются.</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Wang et al. MiniLM. 2020. https://arxiv.org/abs/2002.10957</ns5:t>
            </ns5:r>
          </ns5:p>
          <ns6:p xmlns:ns6="http://schemas.openxmlformats.org/drawingml/2006/main">
            <ns6:r>
              <ns6:t>Исходная модель: https://huggingface.co/cross-encoder/ms-marco-MiniLM-L6-v2</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Теперь переходим от ручной подвыборки к полной dev-части MS MARCO Passage Ranking. Она содержит 101 093 запроса. Для каждого запроса поисковые модели заранее нашли фрагменты-кандидаты, а обученный судья оценивает их релевантность. Это число запросов; фрагментов и пар «запрос-фрагмент» намного больше.</ns0:t>
            </ns0:r>
          </ns0:p>
          <ns1:p xmlns:ns1="http://schemas.openxmlformats.org/drawingml/2006/main">
            <ns1:r>
              <ns1:t>Внутри полной dev-части есть стандартная оценочная подвыборка dev/small из 6 980 запросов. Из нее взяты наши 1 179 запросов с расширенной ручной разметкой. Судью дообучали только на обучающей части этой ручной подвыборки. Теперь используем его предсказания для кандидатов по всем 101 093 запросам. Человеческими метками эти предсказания не подменяем. Отдельно проверим, сохраняются ли результаты без запросов из ручной подвыборки.</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MS MARCO Passage Ranking v1. https://ir-datasets.com/msmarco-passage.html#msmarco-passage/dev</ns4:t>
            </ns4:r>
          </ns4:p>
          <ns5:p xmlns:ns5="http://schemas.openxmlformats.org/drawingml/2006/main">
            <ns5:r>
              <ns5:t>Архив запросов: https://msmarco.z22.web.core.windows.net/msmarcoranking/queries.tar.gz</ns5:t>
            </ns5:r>
          </ns5:p>
          <ns6:p xmlns:ns6="http://schemas.openxmlformats.org/drawingml/2006/main">
            <ns6:r>
              <ns6:t>MS MARCO Passage Ranking dev/small. https://ir-datasets.com/msmarco-passage.html#msmarco-passage/dev/small</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Пул для судьи строится так. Для каждого запроса берем первые K результатов BM25, E5 и BGE, объединяем их и удаляем повторяющиеся фрагменты. Затем судья получает каждую пару из запроса и кандидата и присваивает ей псевдометку.</ns0:t>
            </ns0:r>
          </ns0:p>
          <ns1:p xmlns:ns1="http://schemas.openxmlformats.org/drawingml/2006/main">
            <ns1:r>
              <ns1:t>K называют глубиной пула: это число результатов от одного метода до объединения. Например, при K, равном десяти, три списка дают не более тридцати уникальных кандидатов. После удаления повторов их обычно меньше. Мы проверяем K от десяти до двухсот. Модель и порог минус 0,2187 остаются прежними, меняется только набор оцениваемых кандидатов.</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BM25: https://doi.org/10.1561/1500000019</ns4:t>
            </ns4:r>
          </ns4:p>
          <ns5:p xmlns:ns5="http://schemas.openxmlformats.org/drawingml/2006/main">
            <ns5:r>
              <ns5:t>E5: https://arxiv.org/abs/2212.03533</ns5:t>
            </ns5:r>
          </ns5:p>
          <ns6:p xmlns:ns6="http://schemas.openxmlformats.org/drawingml/2006/main">
            <ns6:r>
              <ns6:t>Модель E5: https://huggingface.co/intfloat/e5-small-v2</ns6:t>
            </ns6:r>
          </ns6:p>
          <ns7:p xmlns:ns7="http://schemas.openxmlformats.org/drawingml/2006/main">
            <ns7:r>
              <ns7:t>Модель BGE: https://huggingface.co/BAAI/bge-small-en-v1.5</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Зачем здесь RRF? Лексический поиск BM25 и векторные модели E5 и BGE могут находить разные полезные фрагменты. Мы хотим проверить, помогает ли простое объединение их выдач, и насколько ответ зависит от полноты разметки.</ns0:t>
            </ns0:r>
          </ns0:p>
          <ns1:p xmlns:ns1="http://schemas.openxmlformats.org/drawingml/2006/main">
            <ns1:r>
              <ns1:t>RRF означает слияние по обратным рангам. Для каждого фрагмента смотрим его место в выдаче BM25, E5 и BGE. Каждый список, в котором он найден, добавляет один, деленный на шестьдесят плюс место. Эти вклады складываем и сортируем фрагменты по сумме. У трех систем одинаковый вес.</ns1:t>
            </ns1:r>
          </ns1:p>
          <ns2:p xmlns:ns2="http://schemas.openxmlformats.org/drawingml/2006/main">
            <ns2:r>
              <ns2:t>Например, фрагмент попал в первые L результатов E5 и BGE, но не попал в первые L результатов BM25. Тогда складываются только два вклада: от E5 и BGE. BM25 этому фрагменту ничего не добавляет. Фрагмент при этом остается кандидатом для итоговой выдачи RRF.</ns2:t>
            </ns2:r>
          </ns2:p>
          <ns3:p xmlns:ns3="http://schemas.openxmlformats.org/drawingml/2006/main">
            <ns3:r>
              <ns3:t>Поэтому RRF объединяет позиции, а не усредняет исходные баллы трех моделей. Это удобно, потому что их баллы имеют разные шкалы. На выходе получаем один итоговый ранжированный список. Оценки судьи не участвуют в его построении: они нужны для последующего сравнения качества.</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BM25: https://doi.org/10.1561/1500000019</ns6:t>
            </ns6:r>
          </ns6:p>
          <ns7:p xmlns:ns7="http://schemas.openxmlformats.org/drawingml/2006/main">
            <ns7:r>
              <ns7:t>E5: https://arxiv.org/abs/2212.03533</ns7:t>
            </ns7:r>
          </ns7:p>
          <ns8:p xmlns:ns8="http://schemas.openxmlformats.org/drawingml/2006/main">
            <ns8:r>
              <ns8:t>Модель E5: https://huggingface.co/intfloat/e5-small-v2</ns8:t>
            </ns8:r>
          </ns8:p>
          <ns9:p xmlns:ns9="http://schemas.openxmlformats.org/drawingml/2006/main">
            <ns9:r>
              <ns9:t>Модель BGE: https://huggingface.co/BAAI/bge-small-en-v1.5</ns9:t>
            </ns9:r>
          </ns9:p>
          <ns10:p xmlns:ns10="http://schemas.openxmlformats.org/drawingml/2006/main">
            <ns10:r>
              <ns10:t>Cormack, Clarke, Büttcher. Reciprocal Rank Fusion outperforms Condorcet and individual Rank Learning Methods. SIGIR 2009. https://doi.org/10.1145/1571941.1572114</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На слайде приведены основные работы и ссылки на использованные методы и наборы данных.</ns0:t>
            </ns0:r>
          </ns0:p>
          <ns1:p xmlns:ns1="http://schemas.openxmlformats.org/drawingml/2006/main">
            <ns1:r>
              <ns1:t>Источники</ns1:t>
            </ns1:r>
          </ns1:p>
          <ns2:p xmlns:ns2="http://schemas.openxmlformats.org/drawingml/2006/main">
            <ns2:r>
              <ns2:t>, G. , N. . Deep Re-annotation and Controlled Candidate Pools for Re-evaluating Ranking Models on MS MARCO. DAMDID 2026. Результаты экспериментов в контролируемых пулах.</ns2:t>
            </ns2:r>
          </ns2:p>
          <ns3:p xmlns:ns3="http://schemas.openxmlformats.org/drawingml/2006/main">
            <ns3:r>
              <ns3:t>MS MARCO: https://arxiv.org/abs/1611.09268</ns3:t>
            </ns3:r>
          </ns3:p>
          <ns4:p xmlns:ns4="http://schemas.openxmlformats.org/drawingml/2006/main">
            <ns4:r>
              <ns4:t>Natural Questions: https://aclanthology.org/Q19-1026/</ns4:t>
            </ns4:r>
          </ns4:p>
          <ns5:p xmlns:ns5="http://schemas.openxmlformats.org/drawingml/2006/main">
            <ns5:r>
              <ns5:t>BEIR: https://arxiv.org/abs/2104.08663</ns5:t>
            </ns5:r>
          </ns5:p>
          <ns6:p xmlns:ns6="http://schemas.openxmlformats.org/drawingml/2006/main">
            <ns6:r>
              <ns6:t>BM25: https://doi.org/10.1561/1500000019</ns6:t>
            </ns6:r>
          </ns6:p>
          <ns7:p xmlns:ns7="http://schemas.openxmlformats.org/drawingml/2006/main">
            <ns7:r>
              <ns7:t>E5: https://arxiv.org/abs/2212.03533</ns7:t>
            </ns7:r>
          </ns7:p>
          <ns8:p xmlns:ns8="http://schemas.openxmlformats.org/drawingml/2006/main">
            <ns8:r>
              <ns8:t>Модель E5: https://huggingface.co/intfloat/e5-small-v2</ns8:t>
            </ns8:r>
          </ns8:p>
          <ns9:p xmlns:ns9="http://schemas.openxmlformats.org/drawingml/2006/main">
            <ns9:r>
              <ns9:t>Модель BGE: https://huggingface.co/BAAI/bge-small-en-v1.5</ns9:t>
            </ns9:r>
          </ns9:p>
          <ns10:p xmlns:ns10="http://schemas.openxmlformats.org/drawingml/2006/main">
            <ns10:r>
              <ns10:t>Wang et al. MiniLM. 2020. https://arxiv.org/abs/2002.10957</ns10:t>
            </ns10:r>
          </ns10:p>
          <ns11:p xmlns:ns11="http://schemas.openxmlformats.org/drawingml/2006/main">
            <ns11:r>
              <ns11:t>Исходная модель: https://huggingface.co/cross-encoder/ms-marco-MiniLM-L6-v2</ns11:t>
            </ns11:r>
          </ns11:p>
          <ns12:p xmlns:ns12="http://schemas.openxmlformats.org/drawingml/2006/main">
            <ns12:r>
              <ns12:t>Cormack, Clarke, Büttcher. Reciprocal Rank Fusion outperforms Condorcet and individual Rank Learning Methods. SIGIR 2009. https://doi.org/10.1145/1571941.1572114</ns12:t>
            </ns12:r>
          </ns12:p>
          <ns13:p xmlns:ns13="http://schemas.openxmlformats.org/drawingml/2006/main">
            <ns13:r>
              <ns13:t>MS MARCO Passage Ranking v1. https://ir-datasets.com/msmarco-passage.html#msmarco-passage/dev</ns13:t>
            </ns13:r>
          </ns13:p>
          <ns14:p xmlns:ns14="http://schemas.openxmlformats.org/drawingml/2006/main">
            <ns14:r>
              <ns14:t>Архив запросов: https://msmarco.z22.web.core.windows.net/msmarcoranking/queries.tar.gz</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
            </ns0:r>
          </ns0:p>
          <ns1:p xmlns:ns1="http://schemas.openxmlformats.org/drawingml/2006/main">
            <ns1:r>
              <ns1:t>Источники</ns1:t>
            </ns1:r>
          </ns1:p>
          <ns2:p xmlns:ns2="http://schemas.openxmlformats.org/drawingml/2006/main">
            <ns2:r>
              <ns2:t>, G. , N. . Deep Re-annotation and Controlled Candidate Pools for Re-evaluating Ranking Models on MS MARCO. DAMDID 2026. Результаты экспериментов в контролируемых пулах.</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101 093 запроса содержит полная dev-часть MS MARCO Passage Ranking v1. Мы использовали именно этот набор, без отбора до 101 тысячи из более крупной выборки. Его стандартная оценочная подвыборка dev/small содержит 6 980 запросов. Число около 140 тысяч к этому набору не относится.</ns0:t>
            </ns0:r>
          </ns0:p>
          <ns1:p xmlns:ns1="http://schemas.openxmlformats.org/drawingml/2006/main">
            <ns1:r>
              <ns1:t>101 093 запроса входят в полную dev-часть. dev/small содержит 6 980 из них и исходные оценки релевантности для стандартного оценивания. Ручная подвыборка содержит 1 179 запросов из dev/small. Один запрос может иметь много кандидатов, поэтому в ручной части 33 667 пар. Размер корпуса другой: 8 841 823 фрагмента.</ns1:t>
            </ns1:r>
          </ns1:p>
          <ns2:p xmlns:ns2="http://schemas.openxmlformats.org/drawingml/2006/main">
            <ns2:r>
              <ns2:t>Дообучение нашего судьи и его локальная проверка выполнялись на ручной подвыборке из dev/small. Мы отдельно разделили ее на 825 обучающих, 177 валидационных и 177 тестовых запросов. Это внутренние части эксперимента, а не официальный закрытый test MS MARCO. Исходный MiniLM уже был предварительно обучен; проверка исключает пересечение запросов в нашем дообучении, но сама по себе не доказывает отсутствие пересечений с его предобучением.</ns2:t>
            </ns2:r>
          </ns2:p>
          <ns3:p xmlns:ns3="http://schemas.openxmlformats.org/drawingml/2006/main">
            <ns3:r>
              <ns3:t>Это объем подготовленной ручной подвыборки, на которой выполнен эксперимент. Ее принадлежность dev/small проверена по идентификаторам. Мы не рассматриваем ее как случайную или репрезентативную выборку из всего MS MARCO. Выводы ручного эксперимента относятся к этой подвыборке и ее кандидатным пулам.</ns3:t>
            </ns3:r>
          </ns3:p>
          <ns4:p xmlns:ns4="http://schemas.openxmlformats.org/drawingml/2006/main">
            <ns4:r>
              <ns4:t>Для E5 и BGE сохранены выдачи для всех 101 093 запросов. У BM25 нет выдач для трех запросов, а некоторые списки короче заданной глубины. Используем доступные результаты. Если фрагмент не попал в первые L результатов одной системы, она не добавляет ему балл RRF, но другие системы могут его добавить.</ns4:t>
            </ns4:r>
          </ns4:p>
          <ns5:p xmlns:ns5="http://schemas.openxmlformats.org/drawingml/2006/main">
            <ns5:r>
              <ns5:t>Источники</ns5:t>
            </ns5:r>
          </ns5:p>
          <ns6:p xmlns:ns6="http://schemas.openxmlformats.org/drawingml/2006/main">
            <ns6:r>
              <ns6:t>, G. , N. . Deep Re-annotation and Controlled Candidate Pools for Re-evaluating Ranking Models on MS MARCO. DAMDID 2026. Результаты экспериментов в контролируемых пулах.</ns6:t>
            </ns6:r>
          </ns6:p>
          <ns7:p xmlns:ns7="http://schemas.openxmlformats.org/drawingml/2006/main">
            <ns7:r>
              <ns7:t>MS MARCO Passage Ranking v1. https://ir-datasets.com/msmarco-passage.html#msmarco-passage/dev</ns7:t>
            </ns7:r>
          </ns7:p>
          <ns8:p xmlns:ns8="http://schemas.openxmlformats.org/drawingml/2006/main">
            <ns8:r>
              <ns8:t>Архив запросов: https://msmarco.z22.web.core.windows.net/msmarcoranking/queries.tar.gz</ns8:t>
            </ns8:r>
          </ns8:p>
          <ns9:p xmlns:ns9="http://schemas.openxmlformats.org/drawingml/2006/main">
            <ns9:r>
              <ns9:t>MS MARCO Passage Ranking dev/small. https://ir-datasets.com/msmarco-passage.html#msmarco-passage/dev/small</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463e2930fc5f4835"/></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fd4ad75555dc485f"/><Relationship Type="http://schemas.openxmlformats.org/officeDocument/2006/relationships/slideLayout" Target="/ppt/slideLayouts/slideLayout1.xml" Id="R41f7dd0fdee04860"/></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f7dd0fdee048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b548e157f662428a"/><Relationship Type="http://schemas.openxmlformats.org/officeDocument/2006/relationships/image" Target="/ppt/media/image.png" Id="Ra852c025e70249f2"/><Relationship Type="http://schemas.openxmlformats.org/officeDocument/2006/relationships/notesSlide" Target="/ppt/notesSlides/notesSlide1.xml" Id="Red0ae3427c50426b"/></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83f769b28e5a4bd9"/><Relationship Type="http://schemas.openxmlformats.org/officeDocument/2006/relationships/notesSlide" Target="/ppt/notesSlides/notesSlide2.xml" Id="Ra832184fd26040f0"/></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f505a19461de44d2"/><Relationship Type="http://schemas.openxmlformats.org/officeDocument/2006/relationships/notesSlide" Target="/ppt/notesSlides/notesSlide3.xml" Id="R00dfdd5f49c242e1"/></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0c6d588fde0245f3"/><Relationship Type="http://schemas.openxmlformats.org/officeDocument/2006/relationships/notesSlide" Target="/ppt/notesSlides/notesSlide4.xml" Id="Rd2cbfb2f1fcf4434"/></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3b6750007ad445d4"/><Relationship Type="http://schemas.openxmlformats.org/officeDocument/2006/relationships/notesSlide" Target="/ppt/notesSlides/notesSlide5.xml" Id="Rbc507630edaa480b"/></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16213cbf28104090"/><Relationship Type="http://schemas.openxmlformats.org/officeDocument/2006/relationships/notesSlide" Target="/ppt/notesSlides/notesSlide6.xml" Id="R4af18cabceb746a3"/></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3f8f63cd15ea4a22"/><Relationship Type="http://schemas.openxmlformats.org/officeDocument/2006/relationships/notesSlide" Target="/ppt/notesSlides/notesSlide7.xml" Id="R2ef5dfc6b5384ce2"/></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44846080617f43ea"/><Relationship Type="http://schemas.openxmlformats.org/officeDocument/2006/relationships/chart" Target="/ppt/slides/charts/chart1.xml" Id="Re4ce4ac20cf84723"/><Relationship Type="http://schemas.openxmlformats.org/officeDocument/2006/relationships/notesSlide" Target="/ppt/notesSlides/notesSlide8.xml" Id="Rb70a6f8144194d93"/></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14b973c171684a26"/><Relationship Type="http://schemas.openxmlformats.org/officeDocument/2006/relationships/notesSlide" Target="/ppt/notesSlides/notesSlide9.xml" Id="R3f4a2fade3f54d3f"/></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e674efa043ae4164"/><Relationship Type="http://schemas.openxmlformats.org/officeDocument/2006/relationships/chart" Target="/ppt/slides/charts/chart2.xml" Id="R844053ccd91f412b"/><Relationship Type="http://schemas.openxmlformats.org/officeDocument/2006/relationships/notesSlide" Target="/ppt/notesSlides/notesSlide10.xml" Id="R0b3fc6edc3c74e06"/></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367bb4e5d0cb4cfc"/><Relationship Type="http://schemas.openxmlformats.org/officeDocument/2006/relationships/chart" Target="/ppt/slides/charts/chart3.xml" Id="Rebd804f6f84f40aa"/><Relationship Type="http://schemas.openxmlformats.org/officeDocument/2006/relationships/notesSlide" Target="/ppt/notesSlides/notesSlide11.xml" Id="Re62babd54316425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9ccf9fab8b384d6f"/><Relationship Type="http://schemas.openxmlformats.org/officeDocument/2006/relationships/chart" Target="/ppt/slides/charts/chart4.xml" Id="Rfdf911735eaa494b"/><Relationship Type="http://schemas.openxmlformats.org/officeDocument/2006/relationships/notesSlide" Target="/ppt/notesSlides/notesSlide12.xml" Id="R57ca027101d94695"/></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1376f16a04934593"/><Relationship Type="http://schemas.openxmlformats.org/officeDocument/2006/relationships/chart" Target="/ppt/slides/charts/chart5.xml" Id="R3400bf8777044912"/><Relationship Type="http://schemas.openxmlformats.org/officeDocument/2006/relationships/notesSlide" Target="/ppt/notesSlides/notesSlide13.xml" Id="Raca6ed0377fb4ac2"/></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281eb85499884ed1"/><Relationship Type="http://schemas.openxmlformats.org/officeDocument/2006/relationships/notesSlide" Target="/ppt/notesSlides/notesSlide14.xml" Id="R3ed2cc7631b94464"/></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2e06103532fa42cb"/><Relationship Type="http://schemas.openxmlformats.org/officeDocument/2006/relationships/notesSlide" Target="/ppt/notesSlides/notesSlide15.xml" Id="Rcd84cd3388564cce"/></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85ea1467191e4951"/><Relationship Type="http://schemas.openxmlformats.org/officeDocument/2006/relationships/notesSlide" Target="/ppt/notesSlides/notesSlide16.xml" Id="R94b35b408add4271"/></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9a855f0ecb5a4a78"/><Relationship Type="http://schemas.openxmlformats.org/officeDocument/2006/relationships/notesSlide" Target="/ppt/notesSlides/notesSlide17.xml" Id="R4167904842d94ad2"/></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bc02ce268df44ee9"/><Relationship Type="http://schemas.openxmlformats.org/officeDocument/2006/relationships/notesSlide" Target="/ppt/notesSlides/notesSlide18.xml" Id="R7f54f7dba40d4328"/></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ad34b33f8777430e"/><Relationship Type="http://schemas.openxmlformats.org/officeDocument/2006/relationships/notesSlide" Target="/ppt/notesSlides/notesSlide19.xml" Id="Rcc603e9bbeae4126"/></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624cdc1c6fda4f61"/><Relationship Type="http://schemas.openxmlformats.org/officeDocument/2006/relationships/notesSlide" Target="/ppt/notesSlides/notesSlide20.xml" Id="Red8f7c4a599f446d"/></Relationships>
</file>

<file path=ppt/slides/_rels/slide21.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1.xml"/></Relationships>
</file>

<file path=ppt/slides/_rels/slide22.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2.xml"/></Relationships>
</file>

<file path=ppt/slides/_rels/slide23.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3.xml"/></Relationships>
</file>

<file path=ppt/slides/_rels/slide24.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4.xml"/><Relationship Id="rLink4" Type="http://schemas.openxmlformats.org/officeDocument/2006/relationships/hyperlink" Target="https://arxiv.org/abs/1611.09268" TargetMode="External"/><Relationship Id="rLink7" Type="http://schemas.openxmlformats.org/officeDocument/2006/relationships/hyperlink" Target="https://aclanthology.org/Q19-1026" TargetMode="External"/><Relationship Id="rLink10" Type="http://schemas.openxmlformats.org/officeDocument/2006/relationships/hyperlink" Target="https://arxiv.org/abs/2104.08663" TargetMode="External"/><Relationship Id="rLink13" Type="http://schemas.openxmlformats.org/officeDocument/2006/relationships/hyperlink" Target="https://doi.org/10.1561/1500000019" TargetMode="External"/><Relationship Id="rLink16" Type="http://schemas.openxmlformats.org/officeDocument/2006/relationships/hyperlink" Target="https://arxiv.org/abs/2212.03533" TargetMode="External"/><Relationship Id="rLink19" Type="http://schemas.openxmlformats.org/officeDocument/2006/relationships/hyperlink" Target="https://huggingface.co/BAAI/bge-small-en-v1.5" TargetMode="External"/><Relationship Id="rLink22" Type="http://schemas.openxmlformats.org/officeDocument/2006/relationships/hyperlink" Target="https://arxiv.org/abs/2002.10957" TargetMode="External"/><Relationship Id="rLink25" Type="http://schemas.openxmlformats.org/officeDocument/2006/relationships/hyperlink" Target="https://doi.org/10.1145/1571941.1572114" TargetMode="External"/></Relationships>
</file>

<file path=ppt/slides/_rels/slide25.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5.xml"/></Relationships>
</file>

<file path=ppt/slides/_rels/slide26.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6.xml"/></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Исходные оценки</c:v>
          </c:tx>
          <c:spPr>
            <a:solidFill xmlns:a="http://schemas.openxmlformats.org/drawingml/2006/main">
              <a:srgbClr val="C95236"/>
            </a:solidFill>
            <a:ln xmlns:a="http://schemas.openxmlformats.org/drawingml/2006/main" w="0">
              <a:noFill/>
            </a:ln>
          </c:spPr>
          <c:cat>
            <c:strRef>
              <c:f>'Chart Data'!$A$2:$A$5</c:f>
              <c:strCache>
                <c:ptCount val="4"/>
                <c:pt idx="0">
                  <c:v>RRF (3)</c:v>
                </c:pt>
                <c:pt idx="1">
                  <c:v>BGE</c:v>
                </c:pt>
                <c:pt idx="2">
                  <c:v>E5</c:v>
                </c:pt>
                <c:pt idx="3">
                  <c:v>BM25</c:v>
                </c:pt>
              </c:strCache>
            </c:strRef>
          </c:cat>
          <c:val>
            <c:numRef>
              <c:f>'Chart Data'!$B$2:$B$5</c:f>
              <c:numCache>
                <c:formatCode>0.000</c:formatCode>
                <c:ptCount val="4"/>
                <c:pt idx="0">
                  <c:v>0.4586425</c:v>
                </c:pt>
                <c:pt idx="1">
                  <c:v>0.43322774</c:v>
                </c:pt>
                <c:pt idx="2">
                  <c:v>0.48799936</c:v>
                </c:pt>
                <c:pt idx="3">
                  <c:v>0.24818879</c:v>
                </c:pt>
              </c:numCache>
            </c:numRef>
          </c:val>
        </c:ser>
        <c:ser>
          <c:idx val="1"/>
          <c:order val="1"/>
          <c:tx>
            <c:v>Оценки человека</c:v>
          </c:tx>
          <c:spPr>
            <a:solidFill xmlns:a="http://schemas.openxmlformats.org/drawingml/2006/main">
              <a:srgbClr val="007F78"/>
            </a:solidFill>
            <a:ln xmlns:a="http://schemas.openxmlformats.org/drawingml/2006/main" w="0">
              <a:noFill/>
            </a:ln>
          </c:spPr>
          <c:cat>
            <c:strRef>
              <c:f>'Chart Data'!$C$2:$C$5</c:f>
              <c:strCache>
                <c:ptCount val="4"/>
                <c:pt idx="0">
                  <c:v>RRF (3)</c:v>
                </c:pt>
                <c:pt idx="1">
                  <c:v>BGE</c:v>
                </c:pt>
                <c:pt idx="2">
                  <c:v>E5</c:v>
                </c:pt>
                <c:pt idx="3">
                  <c:v>BM25</c:v>
                </c:pt>
              </c:strCache>
            </c:strRef>
          </c:cat>
          <c:val>
            <c:numRef>
              <c:f>'Chart Data'!$D$2:$D$5</c:f>
              <c:numCache>
                <c:formatCode>0.000</c:formatCode>
                <c:ptCount val="4"/>
                <c:pt idx="0">
                  <c:v>0.85384164</c:v>
                </c:pt>
                <c:pt idx="1">
                  <c:v>0.82795094</c:v>
                </c:pt>
                <c:pt idx="2">
                  <c:v>0.87934606</c:v>
                </c:pt>
                <c:pt idx="3">
                  <c:v>0.64389299</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Случайный классификатор</c:v>
          </c:tx>
          <c:spPr>
            <a:solidFill xmlns:a="http://schemas.openxmlformats.org/drawingml/2006/main">
              <a:srgbClr val="D4E1E0"/>
            </a:solidFill>
            <a:ln xmlns:a="http://schemas.openxmlformats.org/drawingml/2006/main" w="12383">
              <a:solidFill>
                <a:srgbClr val="70858A"/>
              </a:solidFill>
            </a:ln>
          </c:spPr>
          <c:marker>
            <c:symbol val="none"/>
          </c:marker>
          <c:xVal>
            <c:numRef>
              <c:f>'Chart Data'!$A$2:$A$81</c:f>
              <c:numCache>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xVal>
          <c:yVal>
            <c:numRef>
              <c:f>'Chart Data'!$B$2:$B$81</c:f>
              <c:numCache>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yVal>
          <c:smooth val="0"/>
        </c:ser>
        <c:ser>
          <c:idx val="1"/>
          <c:order val="1"/>
          <c:tx>
            <c:v>ROC-кривая MiniLM</c:v>
          </c:tx>
          <c:spPr>
            <a:solidFill xmlns:a="http://schemas.openxmlformats.org/drawingml/2006/main">
              <a:srgbClr val="007F78"/>
            </a:solidFill>
            <a:ln xmlns:a="http://schemas.openxmlformats.org/drawingml/2006/main" w="33338">
              <a:solidFill>
                <a:srgbClr val="007F78"/>
              </a:solidFill>
            </a:ln>
          </c:spPr>
          <c:marker>
            <c:symbol val="none"/>
          </c:marker>
          <c:xVal>
            <c:numRef>
              <c:f>'Chart Data'!$C$2:$C$81</c:f>
              <c:numCache>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Cache>
            </c:numRef>
          </c:xVal>
          <c:yVal>
            <c:numRef>
              <c:f>'Chart Data'!$D$2:$D$81</c:f>
              <c:numCache>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Cache>
            </c:numRef>
          </c:yVal>
          <c:smooth val="0"/>
        </c:ser>
        <c:ser>
          <c:idx val="2"/>
          <c:order val="2"/>
          <c:tx>
            <c:v>Порог по валидации</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Ref>
              <c:f>'Chart Data'!$E$2:$E$81</c:f>
              <c:numCache>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Cache>
            </c:numRef>
          </c:xVal>
          <c:yVal>
            <c:numRef>
              <c:f>'Chart Data'!$F$2:$F$81</c:f>
              <c:numCache>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истинноположительных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ложноположительных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Все кандидаты</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ns0:ln xmlns:ns0="http://schemas.openxmlformats.org/drawingml/2006/main" w="0">
                <ns0:noFill/>
              </ns0:ln>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0.000</c:formatCode>
                <c:ptCount val="5"/>
                <c:pt idx="0">
                  <c:v>21.88063466</c:v>
                </c:pt>
                <c:pt idx="1">
                  <c:v>65.84688356</c:v>
                </c:pt>
                <c:pt idx="2">
                  <c:v>110.35612753</c:v>
                </c:pt>
                <c:pt idx="3">
                  <c:v>222.9122689</c:v>
                </c:pt>
                <c:pt idx="4">
                  <c:v>451.54053199</c:v>
                </c:pt>
              </c:numCache>
            </c:numRef>
          </c:yVal>
          <c:smooth val="0"/>
        </c:ser>
        <c:ser>
          <c:idx val="1"/>
          <c:order val="1"/>
          <c:tx>
            <c:v>Предсказаны релевантными</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14.19208056</c:v>
                </c:pt>
                <c:pt idx="1">
                  <c:v>33.7073289</c:v>
                </c:pt>
                <c:pt idx="2">
                  <c:v>49.41692303</c:v>
                </c:pt>
                <c:pt idx="3">
                  <c:v>81.01592593</c:v>
                </c:pt>
                <c:pt idx="4">
                  <c:v>128.63735372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выдачи каждой модели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Нулевая разность</c:v>
          </c:tx>
          <c:spPr>
            <a:solidFill xmlns:a="http://schemas.openxmlformats.org/drawingml/2006/main">
              <a:srgbClr val="70858A"/>
            </a:solidFill>
            <a:ln xmlns:a="http://schemas.openxmlformats.org/drawingml/2006/main" w="15240">
              <a:solidFill>
                <a:srgbClr val="70858A"/>
              </a:solidFill>
            </a:ln>
          </c:spPr>
          <c:marker>
            <c:symbol val="none"/>
          </c:marker>
          <c:xVal>
            <c:numRef>
              <c:f>'Chart Data'!$A$2:$A$6</c:f>
              <c:numCache>
                <c:formatCode>General</c:formatCode>
                <c:ptCount val="5"/>
                <c:pt idx="0">
                  <c:v>0</c:v>
                </c:pt>
                <c:pt idx="1">
                  <c:v>0</c:v>
                </c:pt>
                <c:pt idx="2">
                  <c:v>0</c:v>
                </c:pt>
                <c:pt idx="3">
                  <c:v>0</c:v>
                </c:pt>
                <c:pt idx="4">
                  <c:v>0</c:v>
                </c:pt>
              </c:numCache>
            </c:numRef>
          </c:xVal>
          <c:yVal>
            <c:numRef>
              <c:f>'Chart Data'!$B$2:$B$6</c:f>
              <c:numCache>
                <c:formatCode>0.000</c:formatCode>
                <c:ptCount val="5"/>
                <c:pt idx="0">
                  <c:v>0.5</c:v>
                </c:pt>
                <c:pt idx="1">
                  <c:v>5.5</c:v>
                </c:pt>
                <c:pt idx="2">
                  <c:v>5.5</c:v>
                </c:pt>
                <c:pt idx="3">
                  <c:v>5.5</c:v>
                </c:pt>
                <c:pt idx="4">
                  <c:v>5.5</c:v>
                </c:pt>
              </c:numCache>
            </c:numRef>
          </c:yVal>
          <c:smooth val="0"/>
        </c:ser>
        <c:ser>
          <c:idx val="1"/>
          <c:order val="1"/>
          <c:tx>
            <c:v>95%-ный парный ДИ при K=10</c:v>
          </c:tx>
          <c:spPr>
            <a:solidFill xmlns:a="http://schemas.openxmlformats.org/drawingml/2006/main">
              <a:srgbClr val="C95236"/>
            </a:solidFill>
            <a:ln xmlns:a="http://schemas.openxmlformats.org/drawingml/2006/main" w="24765">
              <a:solidFill>
                <a:srgbClr val="C95236"/>
              </a:solidFill>
            </a:ln>
          </c:spPr>
          <c:marker>
            <c:symbol val="none"/>
          </c:marker>
          <c:xVal>
            <c:numRef>
              <c:f>'Chart Data'!$C$2:$C$6</c:f>
              <c:numCache>
                <c:formatCode>General</c:formatCode>
                <c:ptCount val="5"/>
                <c:pt idx="0">
                  <c:v>-0.02023617</c:v>
                </c:pt>
                <c:pt idx="1">
                  <c:v>-0.01882729</c:v>
                </c:pt>
                <c:pt idx="2">
                  <c:v>-0.01882729</c:v>
                </c:pt>
                <c:pt idx="3">
                  <c:v>-0.01882729</c:v>
                </c:pt>
                <c:pt idx="4">
                  <c:v>-0.01882729</c:v>
                </c:pt>
              </c:numCache>
            </c:numRef>
          </c:xVal>
          <c:yVal>
            <c:numRef>
              <c:f>'Chart Data'!$D$2:$D$6</c:f>
              <c:numCache>
                <c:formatCode>0.000</c:formatCode>
                <c:ptCount val="5"/>
                <c:pt idx="0">
                  <c:v>5</c:v>
                </c:pt>
                <c:pt idx="1">
                  <c:v>5</c:v>
                </c:pt>
                <c:pt idx="2">
                  <c:v>5</c:v>
                </c:pt>
                <c:pt idx="3">
                  <c:v>5</c:v>
                </c:pt>
                <c:pt idx="4">
                  <c:v>5</c:v>
                </c:pt>
              </c:numCache>
            </c:numRef>
          </c:yVal>
          <c:smooth val="0"/>
        </c:ser>
        <c:ser>
          <c:idx val="2"/>
          <c:order val="2"/>
          <c:tx>
            <c:v>95%-ный парный ДИ при K=30</c:v>
          </c:tx>
          <c:spPr>
            <a:solidFill xmlns:a="http://schemas.openxmlformats.org/drawingml/2006/main">
              <a:srgbClr val="C95236"/>
            </a:solidFill>
            <a:ln xmlns:a="http://schemas.openxmlformats.org/drawingml/2006/main" w="24765">
              <a:solidFill>
                <a:srgbClr val="C95236"/>
              </a:solidFill>
            </a:ln>
          </c:spPr>
          <c:marker>
            <c:symbol val="none"/>
          </c:marker>
          <c:xVal>
            <c:numRef>
              <c:f>'Chart Data'!$E$2:$E$6</c:f>
              <c:numCache>
                <c:formatCode>General</c:formatCode>
                <c:ptCount val="5"/>
                <c:pt idx="0">
                  <c:v>0.01021579</c:v>
                </c:pt>
                <c:pt idx="1">
                  <c:v>0.01150741</c:v>
                </c:pt>
                <c:pt idx="2">
                  <c:v>0.01150741</c:v>
                </c:pt>
                <c:pt idx="3">
                  <c:v>0.01150741</c:v>
                </c:pt>
                <c:pt idx="4">
                  <c:v>0.01150741</c:v>
                </c:pt>
              </c:numCache>
            </c:numRef>
          </c:xVal>
          <c:yVal>
            <c:numRef>
              <c:f>'Chart Data'!$F$2:$F$6</c:f>
              <c:numCache>
                <c:formatCode>0.000</c:formatCode>
                <c:ptCount val="5"/>
                <c:pt idx="0">
                  <c:v>4</c:v>
                </c:pt>
                <c:pt idx="1">
                  <c:v>4</c:v>
                </c:pt>
                <c:pt idx="2">
                  <c:v>4</c:v>
                </c:pt>
                <c:pt idx="3">
                  <c:v>4</c:v>
                </c:pt>
                <c:pt idx="4">
                  <c:v>4</c:v>
                </c:pt>
              </c:numCache>
            </c:numRef>
          </c:yVal>
          <c:smooth val="0"/>
        </c:ser>
        <c:ser>
          <c:idx val="3"/>
          <c:order val="3"/>
          <c:tx>
            <c:v>95%-ный парный ДИ при K=50</c:v>
          </c:tx>
          <c:spPr>
            <a:solidFill xmlns:a="http://schemas.openxmlformats.org/drawingml/2006/main">
              <a:srgbClr val="C95236"/>
            </a:solidFill>
            <a:ln xmlns:a="http://schemas.openxmlformats.org/drawingml/2006/main" w="24765">
              <a:solidFill>
                <a:srgbClr val="C95236"/>
              </a:solidFill>
            </a:ln>
          </c:spPr>
          <c:marker>
            <c:symbol val="none"/>
          </c:marker>
          <c:xVal>
            <c:numRef>
              <c:f>'Chart Data'!$G$2:$G$6</c:f>
              <c:numCache>
                <c:formatCode>General</c:formatCode>
                <c:ptCount val="5"/>
                <c:pt idx="0">
                  <c:v>0.00784398</c:v>
                </c:pt>
                <c:pt idx="1">
                  <c:v>0.00925389</c:v>
                </c:pt>
                <c:pt idx="2">
                  <c:v>0.00925389</c:v>
                </c:pt>
                <c:pt idx="3">
                  <c:v>0.00925389</c:v>
                </c:pt>
                <c:pt idx="4">
                  <c:v>0.00925389</c:v>
                </c:pt>
              </c:numCache>
            </c:numRef>
          </c:xVal>
          <c:yVal>
            <c:numRef>
              <c:f>'Chart Data'!$H$2:$H$6</c:f>
              <c:numCache>
                <c:formatCode>0.000</c:formatCode>
                <c:ptCount val="5"/>
                <c:pt idx="0">
                  <c:v>3</c:v>
                </c:pt>
                <c:pt idx="1">
                  <c:v>3</c:v>
                </c:pt>
                <c:pt idx="2">
                  <c:v>3</c:v>
                </c:pt>
                <c:pt idx="3">
                  <c:v>3</c:v>
                </c:pt>
                <c:pt idx="4">
                  <c:v>3</c:v>
                </c:pt>
              </c:numCache>
            </c:numRef>
          </c:yVal>
          <c:smooth val="0"/>
        </c:ser>
        <c:ser>
          <c:idx val="4"/>
          <c:order val="4"/>
          <c:tx>
            <c:v>95%-ный парный ДИ при K=100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Data'!$I$2:$I$6</c:f>
              <c:numCache>
                <c:formatCode>General</c:formatCode>
                <c:ptCount val="5"/>
                <c:pt idx="0">
                  <c:v>0.00701006</c:v>
                </c:pt>
                <c:pt idx="1">
                  <c:v>0.00843288</c:v>
                </c:pt>
                <c:pt idx="2">
                  <c:v>0.00843288</c:v>
                </c:pt>
                <c:pt idx="3">
                  <c:v>0.00843288</c:v>
                </c:pt>
                <c:pt idx="4">
                  <c:v>0.00843288</c:v>
                </c:pt>
              </c:numCache>
            </c:numRef>
          </c:xVal>
          <c:yVal>
            <c:numRef>
              <c:f>'Chart Data'!$J$2:$J$6</c:f>
              <c:numCache>
                <c:formatCode>0.000</c:formatCode>
                <c:ptCount val="5"/>
                <c:pt idx="0">
                  <c:v>2</c:v>
                </c:pt>
                <c:pt idx="1">
                  <c:v>2</c:v>
                </c:pt>
                <c:pt idx="2">
                  <c:v>2</c:v>
                </c:pt>
                <c:pt idx="3">
                  <c:v>2</c:v>
                </c:pt>
                <c:pt idx="4">
                  <c:v>2</c:v>
                </c:pt>
              </c:numCache>
            </c:numRef>
          </c:yVal>
          <c:smooth val="0"/>
        </c:ser>
        <c:ser>
          <c:idx val="5"/>
          <c:order val="5"/>
          <c:tx>
            <c:v>95%-ный парный ДИ при K=200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Data'!$K$2:$K$6</c:f>
              <c:numCache>
                <c:formatCode>General</c:formatCode>
                <c:ptCount val="5"/>
                <c:pt idx="0">
                  <c:v>0.0081588</c:v>
                </c:pt>
                <c:pt idx="1">
                  <c:v>0.00953703</c:v>
                </c:pt>
                <c:pt idx="2">
                  <c:v>0.00953703</c:v>
                </c:pt>
                <c:pt idx="3">
                  <c:v>0.00953703</c:v>
                </c:pt>
                <c:pt idx="4">
                  <c:v>0.00953703</c:v>
                </c:pt>
              </c:numCache>
            </c:numRef>
          </c:xVal>
          <c:yVal>
            <c:numRef>
              <c:f>'Chart Data'!$L$2:$L$6</c:f>
              <c:numCache>
                <c:formatCode>0.000</c:formatCode>
                <c:ptCount val="5"/>
                <c:pt idx="0">
                  <c:v>1</c:v>
                </c:pt>
                <c:pt idx="1">
                  <c:v>1</c:v>
                </c:pt>
                <c:pt idx="2">
                  <c:v>1</c:v>
                </c:pt>
                <c:pt idx="3">
                  <c:v>1</c:v>
                </c:pt>
                <c:pt idx="4">
                  <c:v>1</c:v>
                </c:pt>
              </c:numCache>
            </c:numRef>
          </c:yVal>
          <c:smooth val="0"/>
        </c:ser>
        <c:ser>
          <c:idx val="6"/>
          <c:order val="6"/>
          <c:tx>
            <c:v>Нижняя граница ДИ при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Data'!$M$2:$M$6</c:f>
              <c:numCache>
                <c:formatCode>General</c:formatCode>
                <c:ptCount val="5"/>
                <c:pt idx="0">
                  <c:v>-0.02023617</c:v>
                </c:pt>
                <c:pt idx="1">
                  <c:v>-0.02023617</c:v>
                </c:pt>
                <c:pt idx="2">
                  <c:v>-0.02023617</c:v>
                </c:pt>
                <c:pt idx="3">
                  <c:v>-0.02023617</c:v>
                </c:pt>
                <c:pt idx="4">
                  <c:v>-0.02023617</c:v>
                </c:pt>
              </c:numCache>
            </c:numRef>
          </c:xVal>
          <c:yVal>
            <c:numRef>
              <c:f>'Chart Data'!$N$2:$N$6</c:f>
              <c:numCache>
                <c:formatCode>0.000</c:formatCode>
                <c:ptCount val="5"/>
                <c:pt idx="0">
                  <c:v>4.935</c:v>
                </c:pt>
                <c:pt idx="1">
                  <c:v>5.065</c:v>
                </c:pt>
                <c:pt idx="2">
                  <c:v>5.065</c:v>
                </c:pt>
                <c:pt idx="3">
                  <c:v>5.065</c:v>
                </c:pt>
                <c:pt idx="4">
                  <c:v>5.065</c:v>
                </c:pt>
              </c:numCache>
            </c:numRef>
          </c:yVal>
          <c:smooth val="0"/>
        </c:ser>
        <c:ser>
          <c:idx val="7"/>
          <c:order val="7"/>
          <c:tx>
            <c:v>Верхняя граница ДИ при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Data'!$O$2:$O$6</c:f>
              <c:numCache>
                <c:formatCode>General</c:formatCode>
                <c:ptCount val="5"/>
                <c:pt idx="0">
                  <c:v>-0.01882729</c:v>
                </c:pt>
                <c:pt idx="1">
                  <c:v>-0.01882729</c:v>
                </c:pt>
                <c:pt idx="2">
                  <c:v>-0.01882729</c:v>
                </c:pt>
                <c:pt idx="3">
                  <c:v>-0.01882729</c:v>
                </c:pt>
                <c:pt idx="4">
                  <c:v>-0.01882729</c:v>
                </c:pt>
              </c:numCache>
            </c:numRef>
          </c:xVal>
          <c:yVal>
            <c:numRef>
              <c:f>'Chart Data'!$P$2:$P$6</c:f>
              <c:numCache>
                <c:formatCode>0.000</c:formatCode>
                <c:ptCount val="5"/>
                <c:pt idx="0">
                  <c:v>4.935</c:v>
                </c:pt>
                <c:pt idx="1">
                  <c:v>5.065</c:v>
                </c:pt>
                <c:pt idx="2">
                  <c:v>5.065</c:v>
                </c:pt>
                <c:pt idx="3">
                  <c:v>5.065</c:v>
                </c:pt>
                <c:pt idx="4">
                  <c:v>5.065</c:v>
                </c:pt>
              </c:numCache>
            </c:numRef>
          </c:yVal>
          <c:smooth val="0"/>
        </c:ser>
        <c:ser>
          <c:idx val="8"/>
          <c:order val="8"/>
          <c:tx>
            <c:v>Нижняя граница ДИ при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Data'!$Q$2:$Q$6</c:f>
              <c:numCache>
                <c:formatCode>General</c:formatCode>
                <c:ptCount val="5"/>
                <c:pt idx="0">
                  <c:v>0.01021579</c:v>
                </c:pt>
                <c:pt idx="1">
                  <c:v>0.01021579</c:v>
                </c:pt>
                <c:pt idx="2">
                  <c:v>0.01021579</c:v>
                </c:pt>
                <c:pt idx="3">
                  <c:v>0.01021579</c:v>
                </c:pt>
                <c:pt idx="4">
                  <c:v>0.01021579</c:v>
                </c:pt>
              </c:numCache>
            </c:numRef>
          </c:xVal>
          <c:yVal>
            <c:numRef>
              <c:f>'Chart Data'!$R$2:$R$6</c:f>
              <c:numCache>
                <c:formatCode>0.000</c:formatCode>
                <c:ptCount val="5"/>
                <c:pt idx="0">
                  <c:v>3.935</c:v>
                </c:pt>
                <c:pt idx="1">
                  <c:v>4.065</c:v>
                </c:pt>
                <c:pt idx="2">
                  <c:v>4.065</c:v>
                </c:pt>
                <c:pt idx="3">
                  <c:v>4.065</c:v>
                </c:pt>
                <c:pt idx="4">
                  <c:v>4.065</c:v>
                </c:pt>
              </c:numCache>
            </c:numRef>
          </c:yVal>
          <c:smooth val="0"/>
        </c:ser>
        <c:ser>
          <c:idx val="9"/>
          <c:order val="9"/>
          <c:tx>
            <c:v>Верхняя граница ДИ при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Data'!$S$2:$S$6</c:f>
              <c:numCache>
                <c:formatCode>General</c:formatCode>
                <c:ptCount val="5"/>
                <c:pt idx="0">
                  <c:v>0.01150741</c:v>
                </c:pt>
                <c:pt idx="1">
                  <c:v>0.01150741</c:v>
                </c:pt>
                <c:pt idx="2">
                  <c:v>0.01150741</c:v>
                </c:pt>
                <c:pt idx="3">
                  <c:v>0.01150741</c:v>
                </c:pt>
                <c:pt idx="4">
                  <c:v>0.01150741</c:v>
                </c:pt>
              </c:numCache>
            </c:numRef>
          </c:xVal>
          <c:yVal>
            <c:numRef>
              <c:f>'Chart Data'!$T$2:$T$6</c:f>
              <c:numCache>
                <c:formatCode>0.000</c:formatCode>
                <c:ptCount val="5"/>
                <c:pt idx="0">
                  <c:v>3.935</c:v>
                </c:pt>
                <c:pt idx="1">
                  <c:v>4.065</c:v>
                </c:pt>
                <c:pt idx="2">
                  <c:v>4.065</c:v>
                </c:pt>
                <c:pt idx="3">
                  <c:v>4.065</c:v>
                </c:pt>
                <c:pt idx="4">
                  <c:v>4.065</c:v>
                </c:pt>
              </c:numCache>
            </c:numRef>
          </c:yVal>
          <c:smooth val="0"/>
        </c:ser>
        <c:ser>
          <c:idx val="10"/>
          <c:order val="10"/>
          <c:tx>
            <c:v>Нижняя граница ДИ при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Data'!$U$2:$U$6</c:f>
              <c:numCache>
                <c:formatCode>General</c:formatCode>
                <c:ptCount val="5"/>
                <c:pt idx="0">
                  <c:v>0.00784398</c:v>
                </c:pt>
                <c:pt idx="1">
                  <c:v>0.00784398</c:v>
                </c:pt>
                <c:pt idx="2">
                  <c:v>0.00784398</c:v>
                </c:pt>
                <c:pt idx="3">
                  <c:v>0.00784398</c:v>
                </c:pt>
                <c:pt idx="4">
                  <c:v>0.00784398</c:v>
                </c:pt>
              </c:numCache>
            </c:numRef>
          </c:xVal>
          <c:yVal>
            <c:numRef>
              <c:f>'Chart Data'!$V$2:$V$6</c:f>
              <c:numCache>
                <c:formatCode>0.000</c:formatCode>
                <c:ptCount val="5"/>
                <c:pt idx="0">
                  <c:v>2.935</c:v>
                </c:pt>
                <c:pt idx="1">
                  <c:v>3.065</c:v>
                </c:pt>
                <c:pt idx="2">
                  <c:v>3.065</c:v>
                </c:pt>
                <c:pt idx="3">
                  <c:v>3.065</c:v>
                </c:pt>
                <c:pt idx="4">
                  <c:v>3.065</c:v>
                </c:pt>
              </c:numCache>
            </c:numRef>
          </c:yVal>
          <c:smooth val="0"/>
        </c:ser>
        <c:ser>
          <c:idx val="11"/>
          <c:order val="11"/>
          <c:tx>
            <c:v>Верхняя граница ДИ при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Data'!$W$2:$W$6</c:f>
              <c:numCache>
                <c:formatCode>General</c:formatCode>
                <c:ptCount val="5"/>
                <c:pt idx="0">
                  <c:v>0.00925389</c:v>
                </c:pt>
                <c:pt idx="1">
                  <c:v>0.00925389</c:v>
                </c:pt>
                <c:pt idx="2">
                  <c:v>0.00925389</c:v>
                </c:pt>
                <c:pt idx="3">
                  <c:v>0.00925389</c:v>
                </c:pt>
                <c:pt idx="4">
                  <c:v>0.00925389</c:v>
                </c:pt>
              </c:numCache>
            </c:numRef>
          </c:xVal>
          <c:yVal>
            <c:numRef>
              <c:f>'Chart Data'!$X$2:$X$6</c:f>
              <c:numCache>
                <c:formatCode>0.000</c:formatCode>
                <c:ptCount val="5"/>
                <c:pt idx="0">
                  <c:v>2.935</c:v>
                </c:pt>
                <c:pt idx="1">
                  <c:v>3.065</c:v>
                </c:pt>
                <c:pt idx="2">
                  <c:v>3.065</c:v>
                </c:pt>
                <c:pt idx="3">
                  <c:v>3.065</c:v>
                </c:pt>
                <c:pt idx="4">
                  <c:v>3.065</c:v>
                </c:pt>
              </c:numCache>
            </c:numRef>
          </c:yVal>
          <c:smooth val="0"/>
        </c:ser>
        <c:ser>
          <c:idx val="12"/>
          <c:order val="12"/>
          <c:tx>
            <c:v>Нижняя граница ДИ при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Data'!$Y$2:$Y$6</c:f>
              <c:numCache>
                <c:formatCode>General</c:formatCode>
                <c:ptCount val="5"/>
                <c:pt idx="0">
                  <c:v>0.00701006</c:v>
                </c:pt>
                <c:pt idx="1">
                  <c:v>0.00701006</c:v>
                </c:pt>
                <c:pt idx="2">
                  <c:v>0.00701006</c:v>
                </c:pt>
                <c:pt idx="3">
                  <c:v>0.00701006</c:v>
                </c:pt>
                <c:pt idx="4">
                  <c:v>0.00701006</c:v>
                </c:pt>
              </c:numCache>
            </c:numRef>
          </c:xVal>
          <c:yVal>
            <c:numRef>
              <c:f>'Chart Data'!$Z$2:$Z$6</c:f>
              <c:numCache>
                <c:formatCode>0.000</c:formatCode>
                <c:ptCount val="5"/>
                <c:pt idx="0">
                  <c:v>1.935</c:v>
                </c:pt>
                <c:pt idx="1">
                  <c:v>2.065</c:v>
                </c:pt>
                <c:pt idx="2">
                  <c:v>2.065</c:v>
                </c:pt>
                <c:pt idx="3">
                  <c:v>2.065</c:v>
                </c:pt>
                <c:pt idx="4">
                  <c:v>2.065</c:v>
                </c:pt>
              </c:numCache>
            </c:numRef>
          </c:yVal>
          <c:smooth val="0"/>
        </c:ser>
        <c:ser>
          <c:idx val="13"/>
          <c:order val="13"/>
          <c:tx>
            <c:v>Верхняя граница ДИ при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Data'!$AA$2:$AA$6</c:f>
              <c:numCache>
                <c:formatCode>General</c:formatCode>
                <c:ptCount val="5"/>
                <c:pt idx="0">
                  <c:v>0.00843288</c:v>
                </c:pt>
                <c:pt idx="1">
                  <c:v>0.00843288</c:v>
                </c:pt>
                <c:pt idx="2">
                  <c:v>0.00843288</c:v>
                </c:pt>
                <c:pt idx="3">
                  <c:v>0.00843288</c:v>
                </c:pt>
                <c:pt idx="4">
                  <c:v>0.00843288</c:v>
                </c:pt>
              </c:numCache>
            </c:numRef>
          </c:xVal>
          <c:yVal>
            <c:numRef>
              <c:f>'Chart Data'!$AB$2:$AB$6</c:f>
              <c:numCache>
                <c:formatCode>0.000</c:formatCode>
                <c:ptCount val="5"/>
                <c:pt idx="0">
                  <c:v>1.935</c:v>
                </c:pt>
                <c:pt idx="1">
                  <c:v>2.065</c:v>
                </c:pt>
                <c:pt idx="2">
                  <c:v>2.065</c:v>
                </c:pt>
                <c:pt idx="3">
                  <c:v>2.065</c:v>
                </c:pt>
                <c:pt idx="4">
                  <c:v>2.065</c:v>
                </c:pt>
              </c:numCache>
            </c:numRef>
          </c:yVal>
          <c:smooth val="0"/>
        </c:ser>
        <c:ser>
          <c:idx val="14"/>
          <c:order val="14"/>
          <c:tx>
            <c:v>Нижняя граница ДИ при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Data'!$AC$2:$AC$6</c:f>
              <c:numCache>
                <c:formatCode>General</c:formatCode>
                <c:ptCount val="5"/>
                <c:pt idx="0">
                  <c:v>0.0081588</c:v>
                </c:pt>
                <c:pt idx="1">
                  <c:v>0.0081588</c:v>
                </c:pt>
                <c:pt idx="2">
                  <c:v>0.0081588</c:v>
                </c:pt>
                <c:pt idx="3">
                  <c:v>0.0081588</c:v>
                </c:pt>
                <c:pt idx="4">
                  <c:v>0.0081588</c:v>
                </c:pt>
              </c:numCache>
            </c:numRef>
          </c:xVal>
          <c:yVal>
            <c:numRef>
              <c:f>'Chart Data'!$AD$2:$AD$6</c:f>
              <c:numCache>
                <c:formatCode>0.000</c:formatCode>
                <c:ptCount val="5"/>
                <c:pt idx="0">
                  <c:v>0.935</c:v>
                </c:pt>
                <c:pt idx="1">
                  <c:v>1.065</c:v>
                </c:pt>
                <c:pt idx="2">
                  <c:v>1.065</c:v>
                </c:pt>
                <c:pt idx="3">
                  <c:v>1.065</c:v>
                </c:pt>
                <c:pt idx="4">
                  <c:v>1.065</c:v>
                </c:pt>
              </c:numCache>
            </c:numRef>
          </c:yVal>
          <c:smooth val="0"/>
        </c:ser>
        <c:ser>
          <c:idx val="15"/>
          <c:order val="15"/>
          <c:tx>
            <c:v>Верхняя граница ДИ при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Data'!$AE$2:$AE$6</c:f>
              <c:numCache>
                <c:formatCode>General</c:formatCode>
                <c:ptCount val="5"/>
                <c:pt idx="0">
                  <c:v>0.00953703</c:v>
                </c:pt>
                <c:pt idx="1">
                  <c:v>0.00953703</c:v>
                </c:pt>
                <c:pt idx="2">
                  <c:v>0.00953703</c:v>
                </c:pt>
                <c:pt idx="3">
                  <c:v>0.00953703</c:v>
                </c:pt>
                <c:pt idx="4">
                  <c:v>0.00953703</c:v>
                </c:pt>
              </c:numCache>
            </c:numRef>
          </c:xVal>
          <c:yVal>
            <c:numRef>
              <c:f>'Chart Data'!$AF$2:$AF$6</c:f>
              <c:numCache>
                <c:formatCode>0.000</c:formatCode>
                <c:ptCount val="5"/>
                <c:pt idx="0">
                  <c:v>0.935</c:v>
                </c:pt>
                <c:pt idx="1">
                  <c:v>1.065</c:v>
                </c:pt>
                <c:pt idx="2">
                  <c:v>1.065</c:v>
                </c:pt>
                <c:pt idx="3">
                  <c:v>1.065</c:v>
                </c:pt>
                <c:pt idx="4">
                  <c:v>1.065</c:v>
                </c:pt>
              </c:numCache>
            </c:numRef>
          </c:yVal>
          <c:smooth val="0"/>
        </c:ser>
        <c:ser>
          <c:idx val="16"/>
          <c:order val="16"/>
          <c:tx>
            <c:v>Глубина пула</c:v>
          </c:tx>
          <c:spPr>
            <a:solidFill xmlns:a="http://schemas.openxmlformats.org/drawingml/2006/main">
              <a:srgbClr val="526970"/>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s>
          <c:xVal>
            <c:numRef>
              <c:f>'Chart Data'!$AG$2:$AG$6</c:f>
              <c:numCache>
                <c:formatCode>General</c:formatCode>
                <c:ptCount val="5"/>
                <c:pt idx="0">
                  <c:v>-0.03</c:v>
                </c:pt>
                <c:pt idx="1">
                  <c:v>-0.03</c:v>
                </c:pt>
                <c:pt idx="2">
                  <c:v>-0.03</c:v>
                </c:pt>
                <c:pt idx="3">
                  <c:v>-0.03</c:v>
                </c:pt>
                <c:pt idx="4">
                  <c:v>-0.03</c:v>
                </c:pt>
              </c:numCache>
            </c:numRef>
          </c:xVal>
          <c:yVal>
            <c:numRef>
              <c:f>'Chart Data'!$AH$2:$AH$6</c:f>
              <c:numCache>
                <c:formatCode>0.000</c:formatCode>
                <c:ptCount val="5"/>
                <c:pt idx="0">
                  <c:v>5</c:v>
                </c:pt>
                <c:pt idx="1">
                  <c:v>4</c:v>
                </c:pt>
                <c:pt idx="2">
                  <c:v>3</c:v>
                </c:pt>
                <c:pt idx="3">
                  <c:v>2</c:v>
                </c:pt>
                <c:pt idx="4">
                  <c:v>1</c:v>
                </c:pt>
              </c:numCache>
            </c:numRef>
          </c:yVal>
          <c:smooth val="0"/>
        </c:ser>
        <c:ser>
          <c:idx val="17"/>
          <c:order val="17"/>
          <c:tx>
            <c:v>RRF минус E5 по горизонтали</c:v>
          </c:tx>
          <c:spPr>
            <a:solidFill xmlns:a="http://schemas.openxmlformats.org/drawingml/2006/main">
              <a:srgbClr val="C95236"/>
            </a:solidFill>
            <a:ln xmlns:a="http://schemas.openxmlformats.org/drawingml/2006/main" w="0">
              <a:noFill/>
            </a:ln>
          </c:spPr>
          <c:marker>
            <c:symbol val="circle"/>
            <c:size val="4"/>
            <c:spPr>
              <a:solidFill xmlns:a="http://schemas.openxmlformats.org/drawingml/2006/main">
                <a:srgbClr val="C95236"/>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95236"/>
                </ns0:solidFill>
              </ns0:ln>
            </c:spPr>
          </c:errBars>
          <c:xVal>
            <c:numRef>
              <c:f>'Chart Data'!$AI$2:$AI$6</c:f>
              <c:numCache>
                <c:formatCode>General</c:formatCode>
                <c:ptCount val="5"/>
                <c:pt idx="0">
                  <c:v>-0.01952103</c:v>
                </c:pt>
                <c:pt idx="1">
                  <c:v>0.01085768</c:v>
                </c:pt>
                <c:pt idx="2">
                  <c:v>0.00854269</c:v>
                </c:pt>
                <c:pt idx="3">
                  <c:v>0.00771191</c:v>
                </c:pt>
                <c:pt idx="4">
                  <c:v>0.00883193</c:v>
                </c:pt>
              </c:numCache>
            </c:numRef>
          </c:xVal>
          <c:yVal>
            <c:numRef>
              <c:f>'Chart Data'!$AJ$2:$AJ$6</c:f>
              <c:numCache>
                <c:formatCode>0.000</c:formatCode>
                <c:ptCount val="5"/>
                <c:pt idx="0">
                  <c:v>5</c:v>
                </c:pt>
                <c:pt idx="1">
                  <c:v>4</c:v>
                </c:pt>
                <c:pt idx="2">
                  <c:v>3</c:v>
                </c:pt>
                <c:pt idx="3">
                  <c:v>2</c:v>
                </c:pt>
                <c:pt idx="4">
                  <c:v>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a:t>
                </a:r>
                <a:r>
                  <a:rPr sz="1800" b="0" baseline="-25000">
                    <a:solidFill>
                      <a:srgbClr val="526970"/>
                    </a:solidFill>
                    <a:latin typeface="Arial"/>
                    <a:ea typeface="Arial"/>
                    <a:cs typeface="Arial"/>
                  </a:rPr>
                  <a:t>RRF</a:t>
                </a:r>
                <a:r>
                  <a:rPr sz="1800" b="0">
                    <a:solidFill>
                      <a:srgbClr val="526970"/>
                    </a:solidFill>
                    <a:latin typeface="Arial"/>
                    <a:ea typeface="Arial"/>
                    <a:cs typeface="Arial"/>
                  </a:rPr>
                  <a:t> − NDCG@10</a:t>
                </a:r>
                <a:r>
                  <a:rPr sz="1800" b="0" baseline="-25000">
                    <a:solidFill>
                      <a:srgbClr val="526970"/>
                    </a:solidFill>
                    <a:latin typeface="Arial"/>
                    <a:ea typeface="Arial"/>
                    <a:cs typeface="Arial"/>
                  </a:rPr>
                  <a:t>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Нулевая разность</c:v>
          </c:tx>
          <c:spPr>
            <a:solidFill xmlns:a="http://schemas.openxmlformats.org/drawingml/2006/main">
              <a:srgbClr val="70858A"/>
            </a:solidFill>
            <a:ln xmlns:a="http://schemas.openxmlformats.org/drawingml/2006/main" w="13335">
              <a:solidFill>
                <a:srgbClr val="70858A"/>
              </a:solidFill>
            </a:ln>
          </c:spPr>
          <c:marker>
            <c:symbol val="none"/>
          </c:marker>
          <c:xVal>
            <c:numRef>
              <c:f>'Chart Data'!$A$2:$A$6</c:f>
              <c:numCache>
                <c:formatCode>General</c:formatCode>
                <c:ptCount val="5"/>
                <c:pt idx="0">
                  <c:v>0</c:v>
                </c:pt>
                <c:pt idx="1">
                  <c:v>210</c:v>
                </c:pt>
                <c:pt idx="2">
                  <c:v>210</c:v>
                </c:pt>
                <c:pt idx="3">
                  <c:v>210</c:v>
                </c:pt>
                <c:pt idx="4">
                  <c:v>210</c:v>
                </c:pt>
              </c:numCache>
            </c:numRef>
          </c:xVal>
          <c:yVal>
            <c:numRef>
              <c:f>'Chart Data'!$B$2:$B$6</c:f>
              <c:numCache>
                <c:formatCode>0.000</c:formatCode>
                <c:ptCount val="5"/>
                <c:pt idx="0">
                  <c:v>0</c:v>
                </c:pt>
                <c:pt idx="1">
                  <c:v>0</c:v>
                </c:pt>
                <c:pt idx="2">
                  <c:v>0</c:v>
                </c:pt>
                <c:pt idx="3">
                  <c:v>0</c:v>
                </c:pt>
                <c:pt idx="4">
                  <c:v>0</c:v>
                </c:pt>
              </c:numCache>
            </c:numRef>
          </c:yVal>
          <c:smooth val="0"/>
        </c:ser>
        <c:ser>
          <c:idx val="1"/>
          <c:order val="1"/>
          <c:tx>
            <c:v>RRF минус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F78"/>
                </ns0:solidFill>
              </ns0:ln>
            </c:spPr>
          </c:errBars>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-0.06611695</c:v>
                </c:pt>
                <c:pt idx="1">
                  <c:v>0.00801274</c:v>
                </c:pt>
                <c:pt idx="2">
                  <c:v>0.00898873</c:v>
                </c:pt>
                <c:pt idx="3">
                  <c:v>0.00890891</c:v>
                </c:pt>
                <c:pt idx="4">
                  <c:v>0.00883193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оценочного пула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C7C3492E-22AD-4920-9426-661B04211C7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852c025e70249f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662EF985-391F-4637-9390-D87891E31A43}"/>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Доразметка&#10;и контролируемые&#10;пулы кандидатов">
            <a:extLst xmlns:a="http://schemas.openxmlformats.org/drawingml/2006/main">
              <a:ext uri="{FF2B5EF4-FFF2-40B4-BE49-F238E27FC236}">
                <a16:creationId xmlns:a16="http://schemas.microsoft.com/office/drawing/2014/main" id="{3D019271-32C9-4AF9-8EF4-51B4064403FA}"/>
              </a:ext>
            </a:extLst>
          </p:cNvPr>
          <p:cNvSpPr>
            <a:spLocks xmlns:a="http://schemas.openxmlformats.org/drawingml/2006/main" noGrp="1"/>
          </p:cNvSpPr>
          <p:nvPr/>
        </p:nvSpPr>
        <p:spPr>
          <a:xfrm xmlns:a="http://schemas.openxmlformats.org/drawingml/2006/main">
            <a:off x="609600" y="1247775"/>
            <a:ext cx="8096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Доразметка</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и контролируемые</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пулы кандидатов</a:t>
            </a:r>
          </a:p>
        </p:txBody>
      </p:sp>
      <p:sp>
        <p:nvSpPr>
          <p:cNvPr id="5" name="Переоценка поисковых моделей&#10;на MS MARCO">
            <a:extLst xmlns:a="http://schemas.openxmlformats.org/drawingml/2006/main">
              <a:ext uri="{FF2B5EF4-FFF2-40B4-BE49-F238E27FC236}">
                <a16:creationId xmlns:a16="http://schemas.microsoft.com/office/drawing/2014/main" id="{675C4EB1-99BD-4526-A2E3-B972B3697B9A}"/>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Переоценка поисковых моделей</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на MS MARCO</a:t>
            </a:r>
          </a:p>
        </p:txBody>
      </p:sp>
      <p:sp>
        <p:nvSpPr>
          <p:cNvPr id="6" name=", ,&#10; Лукашеви">
            <a:extLst xmlns:a="http://schemas.openxmlformats.org/drawingml/2006/main">
              <a:ext uri="{FF2B5EF4-FFF2-40B4-BE49-F238E27FC236}">
                <a16:creationId xmlns:a16="http://schemas.microsoft.com/office/drawing/2014/main" id="{7575EC79-5D15-4F4D-9594-619B04EC5CEE}"/>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a:extLst xmlns:a="http://schemas.openxmlformats.org/drawingml/2006/main">
              <a:ext uri="{FF2B5EF4-FFF2-40B4-BE49-F238E27FC236}">
                <a16:creationId xmlns:a16="http://schemas.microsoft.com/office/drawing/2014/main" id="{B723C650-29AC-460C-924A-EEFBBDA61F9D}"/>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9604782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Наборы данных для оценки поиска">
            <a:extLst xmlns:a="http://schemas.openxmlformats.org/drawingml/2006/main">
              <a:ext uri="{FF2B5EF4-FFF2-40B4-BE49-F238E27FC236}">
                <a16:creationId xmlns:a16="http://schemas.microsoft.com/office/drawing/2014/main" id="{2F891781-5CE2-402D-B581-022173137B10}"/>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Наборы данных для оценки поиска</a:t>
            </a:r>
          </a:p>
        </p:txBody>
      </p:sp>
      <p:sp>
        <p:nvSpPr>
          <p:cNvPr id="2" name="02">
            <a:extLst xmlns:a="http://schemas.openxmlformats.org/drawingml/2006/main">
              <a:ext uri="{FF2B5EF4-FFF2-40B4-BE49-F238E27FC236}">
                <a16:creationId xmlns:a16="http://schemas.microsoft.com/office/drawing/2014/main" id="{F71D1E0E-97BF-4C4F-9DE0-2D5D488903B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graphicFrame>
        <p:nvGraphicFramePr>
          <p:cNvPr id="9" name=""/>
          <p:cNvGraphicFramePr/>
          <p:nvPr/>
        </p:nvGraphicFramePr>
        <p:xfrm>
          <a:off xmlns:a="http://schemas.openxmlformats.org/drawingml/2006/main" x="609600" y="1790700"/>
          <a:ext xmlns:a="http://schemas.openxmlformats.org/drawingml/2006/main" cx="10972800" cy="2657475"/>
        </p:xfrm>
        <a:graphic xmlns:a="http://schemas.openxmlformats.org/drawingml/2006/main">
          <a:graphicData uri="http://schemas.openxmlformats.org/drawingml/2006/table">
            <a:tbl>
              <a:tblPr firstRow="0" bandRow="0" bandCol="0"/>
              <a:tblGrid>
                <a:gridCol w="3476625"/>
                <a:gridCol w="7496175"/>
              </a:tblGrid>
              <a:tr h="523875">
                <a:tc>
                  <a:txBody>
                    <a:bodyPr lIns="171450" tIns="95250" rIns="171450" bIns="95250">
                      <a:noAutofit/>
                    </a:bodyPr>
                    <a:lstStyle/>
                    <a:p>
                      <a:r>
                        <a:rPr sz="1950" b="1">
                          <a:solidFill>
                            <a:srgbClr val="526970"/>
                          </a:solidFill>
                          <a:latin typeface="Arial"/>
                          <a:ea typeface="Arial"/>
                          <a:cs typeface="Arial"/>
                        </a:rPr>
                        <a:t>Набор / бенчмарк</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950" b="1">
                          <a:solidFill>
                            <a:srgbClr val="526970"/>
                          </a:solidFill>
                          <a:latin typeface="Arial"/>
                          <a:ea typeface="Arial"/>
                          <a:cs typeface="Arial"/>
                        </a:rPr>
                        <a:t>Источник и задача</a:t>
                      </a:r>
                    </a:p>
                  </a:txBody>
                  <a:tcPr marL="91440" marR="91440" marT="45720" marB="45720" anchor="ctr">
                    <a:lnL w="0">
                      <a:noFill/>
                    </a:lnL>
                    <a:lnR w="0">
                      <a:noFill/>
                    </a:lnR>
                    <a:lnT w="0">
                      <a:noFill/>
                    </a:lnT>
                    <a:lnB w="7620">
                      <a:solidFill>
                        <a:srgbClr val="D4E1E0"/>
                      </a:solidFill>
                    </a:lnB>
                    <a:solidFill>
                      <a:srgbClr val="EFF5F4"/>
                    </a:solidFill>
                  </a:tcPr>
                </a:tc>
              </a:tr>
              <a:tr h="685800">
                <a:tc>
                  <a:txBody>
                    <a:bodyPr lIns="171450" tIns="95250" rIns="171450" bIns="95250">
                      <a:noAutofit/>
                    </a:bodyPr>
                    <a:lstStyle/>
                    <a:p>
                      <a:r>
                        <a:rPr sz="2100" b="0">
                          <a:solidFill>
                            <a:srgbClr val="182B30"/>
                          </a:solidFill>
                          <a:latin typeface="Arial"/>
                          <a:ea typeface="Arial"/>
                          <a:cs typeface="Arial"/>
                        </a:rPr>
                        <a:t>Natural Questions</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00" b="0">
                          <a:solidFill>
                            <a:srgbClr val="182B30"/>
                          </a:solidFill>
                          <a:latin typeface="Arial"/>
                          <a:ea typeface="Arial"/>
                          <a:cs typeface="Arial"/>
                        </a:rPr>
                        <a:t>Запросы Google, ответы в Wikipedia</a:t>
                      </a:r>
                    </a:p>
                  </a:txBody>
                  <a:tcPr marL="91440" marR="91440" marT="45720" marB="45720" anchor="ctr">
                    <a:lnL w="0">
                      <a:noFill/>
                    </a:lnL>
                    <a:lnR w="0">
                      <a:noFill/>
                    </a:lnR>
                    <a:lnT w="0">
                      <a:noFill/>
                    </a:lnT>
                    <a:lnB w="7620">
                      <a:solidFill>
                        <a:srgbClr val="D4E1E0"/>
                      </a:solidFill>
                    </a:lnB>
                    <a:solidFill>
                      <a:srgbClr val="FFFFFF"/>
                    </a:solidFill>
                  </a:tcPr>
                </a:tc>
              </a:tr>
              <a:tr h="685800">
                <a:tc>
                  <a:txBody>
                    <a:bodyPr lIns="171450" tIns="95250" rIns="171450" bIns="95250">
                      <a:noAutofit/>
                    </a:bodyPr>
                    <a:lstStyle/>
                    <a:p>
                      <a:r>
                        <a:rPr sz="2100" b="0">
                          <a:solidFill>
                            <a:srgbClr val="182B30"/>
                          </a:solidFill>
                          <a:latin typeface="Arial"/>
                          <a:ea typeface="Arial"/>
                          <a:cs typeface="Arial"/>
                        </a:rPr>
                        <a:t>BEIR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00" b="0">
                          <a:solidFill>
                            <a:srgbClr val="182B30"/>
                          </a:solidFill>
                          <a:latin typeface="Arial"/>
                          <a:ea typeface="Arial"/>
                          <a:cs typeface="Arial"/>
                        </a:rPr>
                        <a:t>Разные задачи и домены поиска</a:t>
                      </a:r>
                    </a:p>
                  </a:txBody>
                  <a:tcPr marL="91440" marR="91440" marT="45720" marB="45720" anchor="ctr">
                    <a:lnL w="0">
                      <a:noFill/>
                    </a:lnL>
                    <a:lnR w="0">
                      <a:noFill/>
                    </a:lnR>
                    <a:lnT w="0">
                      <a:noFill/>
                    </a:lnT>
                    <a:lnB w="7620">
                      <a:solidFill>
                        <a:srgbClr val="D4E1E0"/>
                      </a:solidFill>
                    </a:lnB>
                    <a:solidFill>
                      <a:srgbClr val="FFFFFF"/>
                    </a:solidFill>
                  </a:tcPr>
                </a:tc>
              </a:tr>
              <a:tr h="762000">
                <a:tc>
                  <a:txBody>
                    <a:bodyPr lIns="171450" tIns="95250" rIns="171450" bIns="95250">
                      <a:noAutofit/>
                    </a:bodyPr>
                    <a:lstStyle/>
                    <a:p>
                      <a:r>
                        <a:rPr sz="2100" b="1">
                          <a:solidFill>
                            <a:srgbClr val="007F78"/>
                          </a:solidFill>
                          <a:latin typeface="Arial"/>
                          <a:ea typeface="Arial"/>
                          <a:cs typeface="Arial"/>
                        </a:rPr>
                        <a:t>MS MARCO</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100" b="1">
                          <a:solidFill>
                            <a:srgbClr val="007F78"/>
                          </a:solidFill>
                          <a:latin typeface="Arial"/>
                          <a:ea typeface="Arial"/>
                          <a:cs typeface="Arial"/>
                        </a:rPr>
                        <a:t>Запросы Bing, поиск по веб-фрагментам</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4" name="Почему MS MARCO">
            <a:extLst xmlns:a="http://schemas.openxmlformats.org/drawingml/2006/main">
              <a:ext uri="{FF2B5EF4-FFF2-40B4-BE49-F238E27FC236}">
                <a16:creationId xmlns:a16="http://schemas.microsoft.com/office/drawing/2014/main" id="{11577D97-8375-4866-8E73-2C5B2185B64D}"/>
              </a:ext>
            </a:extLst>
          </p:cNvPr>
          <p:cNvSpPr>
            <a:spLocks xmlns:a="http://schemas.openxmlformats.org/drawingml/2006/main" noGrp="1"/>
          </p:cNvSpPr>
          <p:nvPr/>
        </p:nvSpPr>
        <p:spPr>
          <a:xfrm xmlns:a="http://schemas.openxmlformats.org/drawingml/2006/main">
            <a:off x="609600" y="48672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F78"/>
                </a:solidFill>
                <a:latin typeface="Arial"/>
                <a:ea typeface="Arial"/>
                <a:cs typeface="Arial"/>
              </a:defRPr>
            </a:pPr>
            <a:r>
              <a:rPr sz="2400" b="1">
                <a:solidFill>
                  <a:srgbClr val="007F78"/>
                </a:solidFill>
                <a:latin typeface="Arial"/>
                <a:ea typeface="Arial"/>
                <a:cs typeface="Arial"/>
              </a:rPr>
              <a:t>Почему MS MARCO</a:t>
            </a:r>
          </a:p>
        </p:txBody>
      </p:sp>
      <p:sp>
        <p:nvSpPr>
          <p:cNvPr id="5" name="Открытые тексты и разреженные оценки релевантнос">
            <a:extLst xmlns:a="http://schemas.openxmlformats.org/drawingml/2006/main">
              <a:ext uri="{FF2B5EF4-FFF2-40B4-BE49-F238E27FC236}">
                <a16:creationId xmlns:a16="http://schemas.microsoft.com/office/drawing/2014/main" id="{0C879FB9-9E24-461A-B2A7-2CF3B2C2FAAA}"/>
              </a:ext>
            </a:extLst>
          </p:cNvPr>
          <p:cNvSpPr>
            <a:spLocks xmlns:a="http://schemas.openxmlformats.org/drawingml/2006/main" noGrp="1"/>
          </p:cNvSpPr>
          <p:nvPr/>
        </p:nvSpPr>
        <p:spPr>
          <a:xfrm xmlns:a="http://schemas.openxmlformats.org/drawingml/2006/main">
            <a:off x="609600" y="54197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82B30"/>
                </a:solidFill>
                <a:latin typeface="Arial"/>
                <a:ea typeface="Arial"/>
                <a:cs typeface="Arial"/>
              </a:defRPr>
            </a:pPr>
            <a:r>
              <a:rPr sz="2175" b="0">
                <a:solidFill>
                  <a:srgbClr val="182B30"/>
                </a:solidFill>
                <a:latin typeface="Arial"/>
                <a:ea typeface="Arial"/>
                <a:cs typeface="Arial"/>
              </a:rPr>
              <a:t>Открытые тексты и разреженные оценки релевантности</a:t>
            </a:r>
          </a:p>
        </p:txBody>
      </p:sp>
      <p:sp>
        <p:nvSpPr>
          <p:cNvPr id="6" name="Источники: Bajaj и др., 2016/2018; Kwiatkowski и">
            <a:extLst xmlns:a="http://schemas.openxmlformats.org/drawingml/2006/main">
              <a:ext uri="{FF2B5EF4-FFF2-40B4-BE49-F238E27FC236}">
                <a16:creationId xmlns:a16="http://schemas.microsoft.com/office/drawing/2014/main" id="{D5E59AFC-D6DF-4887-8DEB-CA19C471F9A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Источники: Bajaj и др., 2016/2018; Kwiatkowski и др., 2019; Thakur и др., 2021.</a:t>
            </a:r>
          </a:p>
        </p:txBody>
      </p:sp>
    </p:spTree>
    <p:extLst>
      <p:ext uri="{BB962C8B-B14F-4D97-AF65-F5344CB8AC3E}">
        <p14:creationId xmlns:p14="http://schemas.microsoft.com/office/powerpoint/2010/main" val="14734252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Близкие результаты ведущих систем">
            <a:extLst xmlns:a="http://schemas.openxmlformats.org/drawingml/2006/main">
              <a:ext uri="{FF2B5EF4-FFF2-40B4-BE49-F238E27FC236}">
                <a16:creationId xmlns:a16="http://schemas.microsoft.com/office/drawing/2014/main" id="{3E439587-929A-43B0-A800-C37A233BB77F}"/>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Близкие результаты ведущих систем</a:t>
            </a:r>
          </a:p>
        </p:txBody>
      </p:sp>
      <p:sp>
        <p:nvSpPr>
          <p:cNvPr id="2" name="03">
            <a:extLst xmlns:a="http://schemas.openxmlformats.org/drawingml/2006/main">
              <a:ext uri="{FF2B5EF4-FFF2-40B4-BE49-F238E27FC236}">
                <a16:creationId xmlns:a16="http://schemas.microsoft.com/office/drawing/2014/main" id="{2D522899-17C5-4EDB-8AF6-8CC754F73FB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MS MARCO Passage Ranking, тест eval, исторически">
            <a:extLst xmlns:a="http://schemas.openxmlformats.org/drawingml/2006/main">
              <a:ext uri="{FF2B5EF4-FFF2-40B4-BE49-F238E27FC236}">
                <a16:creationId xmlns:a16="http://schemas.microsoft.com/office/drawing/2014/main" id="{5E183FEF-C4D0-4B49-9D47-7E2B26800B2C}"/>
              </a:ext>
            </a:extLst>
          </p:cNvPr>
          <p:cNvSpPr>
            <a:spLocks xmlns:a="http://schemas.openxmlformats.org/drawingml/2006/main" noGrp="1"/>
          </p:cNvSpPr>
          <p:nvPr/>
        </p:nvSpPr>
        <p:spPr>
          <a:xfrm xmlns:a="http://schemas.openxmlformats.org/drawingml/2006/main">
            <a:off x="609600" y="16002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MS MARCO Passage Ranking, тест eval, исторический срез 30.11.2022</a:t>
            </a:r>
          </a:p>
        </p:txBody>
      </p:sp>
      <p:graphicFrame>
        <p:nvGraphicFramePr>
          <p:cNvPr id="13" name=""/>
          <p:cNvGraphicFramePr/>
          <p:nvPr/>
        </p:nvGraphicFramePr>
        <p:xfrm>
          <a:off xmlns:a="http://schemas.openxmlformats.org/drawingml/2006/main" x="609600" y="2219325"/>
          <a:ext xmlns:a="http://schemas.openxmlformats.org/drawingml/2006/main" cx="7762875" cy="2800350"/>
        </p:xfrm>
        <a:graphic xmlns:a="http://schemas.openxmlformats.org/drawingml/2006/main">
          <a:graphicData uri="http://schemas.openxmlformats.org/drawingml/2006/table">
            <a:tbl>
              <a:tblPr firstRow="0" bandRow="0" bandCol="0"/>
              <a:tblGrid>
                <a:gridCol w="5810250"/>
                <a:gridCol w="1952625"/>
              </a:tblGrid>
              <a:tr h="514350">
                <a:tc>
                  <a:txBody>
                    <a:bodyPr lIns="171450" tIns="95250" rIns="171450" bIns="95250">
                      <a:noAutofit/>
                    </a:bodyPr>
                    <a:lstStyle/>
                    <a:p>
                      <a:r>
                        <a:rPr sz="1950"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950" b="1">
                          <a:solidFill>
                            <a:srgbClr val="526970"/>
                          </a:solidFill>
                          <a:latin typeface="Arial"/>
                          <a:ea typeface="Arial"/>
                          <a:cs typeface="Arial"/>
                        </a:rPr>
                        <a:t>MRR@10</a:t>
                      </a:r>
                    </a:p>
                  </a:txBody>
                  <a:tcPr marL="91440" marR="91440" marT="45720" marB="45720" anchor="ctr">
                    <a:lnL w="0">
                      <a:noFill/>
                    </a:lnL>
                    <a:lnR w="0">
                      <a:noFill/>
                    </a:lnR>
                    <a:lnT w="0">
                      <a:noFill/>
                    </a:lnT>
                    <a:lnB w="7620">
                      <a:solidFill>
                        <a:srgbClr val="D4E1E0"/>
                      </a:solidFill>
                    </a:lnB>
                    <a:solidFill>
                      <a:srgbClr val="EFF5F4"/>
                    </a:solidFill>
                  </a:tcPr>
                </a:tc>
              </a:tr>
              <a:tr h="571500">
                <a:tc>
                  <a:txBody>
                    <a:bodyPr lIns="171450" tIns="95250" rIns="171450" bIns="95250">
                      <a:noAutofit/>
                    </a:bodyPr>
                    <a:lstStyle/>
                    <a:p>
                      <a:r>
                        <a:rPr sz="2100" b="0">
                          <a:solidFill>
                            <a:srgbClr val="182B30"/>
                          </a:solidFill>
                          <a:latin typeface="Arial"/>
                          <a:ea typeface="Arial"/>
                          <a:cs typeface="Arial"/>
                        </a:rPr>
                        <a:t>AliceMind SLM + HLAR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0,450</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Listwise + Fusion</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0,440</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CoT-MAE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0,438</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Lichee + DeBERTa + reranking</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0,436</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0,014">
            <a:extLst xmlns:a="http://schemas.openxmlformats.org/drawingml/2006/main">
              <a:ext uri="{FF2B5EF4-FFF2-40B4-BE49-F238E27FC236}">
                <a16:creationId xmlns:a16="http://schemas.microsoft.com/office/drawing/2014/main" id="{16BBCA8E-49CC-4B48-9AC3-22D2A94136BF}"/>
              </a:ext>
            </a:extLst>
          </p:cNvPr>
          <p:cNvSpPr>
            <a:spLocks xmlns:a="http://schemas.openxmlformats.org/drawingml/2006/main" noGrp="1"/>
          </p:cNvSpPr>
          <p:nvPr/>
        </p:nvSpPr>
        <p:spPr>
          <a:xfrm xmlns:a="http://schemas.openxmlformats.org/drawingml/2006/main">
            <a:off x="8858250" y="2476500"/>
            <a:ext cx="2714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007F78"/>
                </a:solidFill>
                <a:latin typeface="Arial"/>
                <a:ea typeface="Arial"/>
                <a:cs typeface="Arial"/>
              </a:defRPr>
            </a:pPr>
            <a:r>
              <a:rPr sz="5400" b="1">
                <a:solidFill>
                  <a:srgbClr val="007F78"/>
                </a:solidFill>
                <a:latin typeface="Arial"/>
                <a:ea typeface="Arial"/>
                <a:cs typeface="Arial"/>
              </a:rPr>
              <a:t>0,014</a:t>
            </a:r>
          </a:p>
        </p:txBody>
      </p:sp>
      <p:sp>
        <p:nvSpPr>
          <p:cNvPr id="6" name="размах&#10;значений">
            <a:extLst xmlns:a="http://schemas.openxmlformats.org/drawingml/2006/main">
              <a:ext uri="{FF2B5EF4-FFF2-40B4-BE49-F238E27FC236}">
                <a16:creationId xmlns:a16="http://schemas.microsoft.com/office/drawing/2014/main" id="{81A875BD-9CD0-4DD7-B28C-5BA27F5D0ACC}"/>
              </a:ext>
            </a:extLst>
          </p:cNvPr>
          <p:cNvSpPr>
            <a:spLocks xmlns:a="http://schemas.openxmlformats.org/drawingml/2006/main" noGrp="1"/>
          </p:cNvSpPr>
          <p:nvPr/>
        </p:nvSpPr>
        <p:spPr>
          <a:xfrm xmlns:a="http://schemas.openxmlformats.org/drawingml/2006/main">
            <a:off x="8858250" y="3390900"/>
            <a:ext cx="2714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размах</a:t>
            </a:r>
          </a:p>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значений</a:t>
            </a:r>
          </a:p>
        </p:txBody>
      </p:sp>
      <p:sp>
        <p:nvSpPr>
          <p:cNvPr id="7" name="MRR@10: обратная позиция первого релевантного от">
            <a:extLst xmlns:a="http://schemas.openxmlformats.org/drawingml/2006/main">
              <a:ext uri="{FF2B5EF4-FFF2-40B4-BE49-F238E27FC236}">
                <a16:creationId xmlns:a16="http://schemas.microsoft.com/office/drawing/2014/main" id="{60D1B159-625C-4AD4-86D0-3B3E3554BF40}"/>
              </a:ext>
            </a:extLst>
          </p:cNvPr>
          <p:cNvSpPr>
            <a:spLocks xmlns:a="http://schemas.openxmlformats.org/drawingml/2006/main" noGrp="1"/>
          </p:cNvSpPr>
          <p:nvPr/>
        </p:nvSpPr>
        <p:spPr>
          <a:xfrm xmlns:a="http://schemas.openxmlformats.org/drawingml/2006/main">
            <a:off x="609600" y="528637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MRR@10: обратная позиция первого релевантного ответа в топ-10, в среднем.</a:t>
            </a:r>
          </a:p>
        </p:txBody>
      </p:sp>
      <p:sp>
        <p:nvSpPr>
          <p:cNvPr id="8" name="Близкие метрики не доказывают равенство качества">
            <a:extLst xmlns:a="http://schemas.openxmlformats.org/drawingml/2006/main">
              <a:ext uri="{FF2B5EF4-FFF2-40B4-BE49-F238E27FC236}">
                <a16:creationId xmlns:a16="http://schemas.microsoft.com/office/drawing/2014/main" id="{03E99439-7468-4708-941D-E7EBD0800A2F}"/>
              </a:ext>
            </a:extLst>
          </p:cNvPr>
          <p:cNvSpPr>
            <a:spLocks xmlns:a="http://schemas.openxmlformats.org/drawingml/2006/main" noGrp="1"/>
          </p:cNvSpPr>
          <p:nvPr/>
        </p:nvSpPr>
        <p:spPr>
          <a:xfrm xmlns:a="http://schemas.openxmlformats.org/drawingml/2006/main">
            <a:off x="609600" y="58007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Близкие метрики не доказывают равенство качества.</a:t>
            </a:r>
          </a:p>
        </p:txBody>
      </p:sp>
      <p:sp>
        <p:nvSpPr>
          <p:cNvPr id="9" name="Microsoft, четыре ведущие именованные системы в ">
            <a:extLst xmlns:a="http://schemas.openxmlformats.org/drawingml/2006/main">
              <a:ext uri="{FF2B5EF4-FFF2-40B4-BE49-F238E27FC236}">
                <a16:creationId xmlns:a16="http://schemas.microsoft.com/office/drawing/2014/main" id="{C56C3BAF-1E96-4ED7-9B13-1B805B164267}"/>
              </a:ext>
            </a:extLst>
          </p:cNvPr>
          <p:cNvSpPr>
            <a:spLocks xmlns:a="http://schemas.openxmlformats.org/drawingml/2006/main" noGrp="1"/>
          </p:cNvSpPr>
          <p:nvPr/>
        </p:nvSpPr>
        <p:spPr>
          <a:xfrm xmlns:a="http://schemas.openxmlformats.org/drawingml/2006/main">
            <a:off x="609600" y="6267450"/>
            <a:ext cx="1000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970"/>
                </a:solidFill>
                <a:latin typeface="Arial"/>
                <a:ea typeface="Arial"/>
                <a:cs typeface="Arial"/>
              </a:defRPr>
            </a:pPr>
            <a:r>
              <a:rPr sz="1500" b="0">
                <a:solidFill>
                  <a:srgbClr val="526970"/>
                </a:solidFill>
                <a:latin typeface="Arial"/>
                <a:ea typeface="Arial"/>
                <a:cs typeface="Arial"/>
              </a:rPr>
              <a:t>Microsoft, четыре ведущие именованные системы в режиме полного поиска.</a:t>
            </a:r>
          </a:p>
        </p:txBody>
      </p:sp>
    </p:spTree>
    <p:extLst>
      <p:ext uri="{BB962C8B-B14F-4D97-AF65-F5344CB8AC3E}">
        <p14:creationId xmlns:p14="http://schemas.microsoft.com/office/powerpoint/2010/main" val="8812198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Релевантный ответ без оценки">
            <a:extLst xmlns:a="http://schemas.openxmlformats.org/drawingml/2006/main">
              <a:ext uri="{FF2B5EF4-FFF2-40B4-BE49-F238E27FC236}">
                <a16:creationId xmlns:a16="http://schemas.microsoft.com/office/drawing/2014/main" id="{334DD0EA-0A05-4641-AA05-35F3A325D91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Релевантный ответ без оценки</a:t>
            </a:r>
          </a:p>
        </p:txBody>
      </p:sp>
      <p:sp>
        <p:nvSpPr>
          <p:cNvPr id="2" name="04">
            <a:extLst xmlns:a="http://schemas.openxmlformats.org/drawingml/2006/main">
              <a:ext uri="{FF2B5EF4-FFF2-40B4-BE49-F238E27FC236}">
                <a16:creationId xmlns:a16="http://schemas.microsoft.com/office/drawing/2014/main" id="{88277A78-B55B-40D3-BB92-46D7F0436CF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Что вызывает повышение температуры кипения?»">
            <a:extLst xmlns:a="http://schemas.openxmlformats.org/drawingml/2006/main">
              <a:ext uri="{FF2B5EF4-FFF2-40B4-BE49-F238E27FC236}">
                <a16:creationId xmlns:a16="http://schemas.microsoft.com/office/drawing/2014/main" id="{94134873-7E97-45CA-BA35-450C12C190E2}"/>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«Что вызывает повышение температуры кипения?»</a:t>
            </a:r>
          </a:p>
        </p:txBody>
      </p:sp>
      <p:graphicFrame>
        <p:nvGraphicFramePr>
          <p:cNvPr id="9" name=""/>
          <p:cNvGraphicFramePr/>
          <p:nvPr/>
        </p:nvGraphicFramePr>
        <p:xfrm>
          <a:off xmlns:a="http://schemas.openxmlformats.org/drawingml/2006/main" x="609600" y="2533650"/>
          <a:ext xmlns:a="http://schemas.openxmlformats.org/drawingml/2006/main" cx="10972800" cy="308610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650" b="1">
                          <a:solidFill>
                            <a:srgbClr val="526970"/>
                          </a:solidFill>
                          <a:latin typeface="Arial"/>
                          <a:ea typeface="Arial"/>
                          <a:cs typeface="Arial"/>
                        </a:rPr>
                        <a:t>Сокращённый пересказ фрагмента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Исходные оценки</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Оценка человека</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00" b="0">
                          <a:solidFill>
                            <a:srgbClr val="182B30"/>
                          </a:solidFill>
                          <a:latin typeface="Arial"/>
                          <a:ea typeface="Arial"/>
                          <a:cs typeface="Arial"/>
                        </a:rPr>
                        <a:t>7112148   Добавление соли повышает</a:t>
                      </a:r>
                    </a:p>
                    <a:p>
                      <a:r>
                        <a:rPr sz="1800" b="0">
                          <a:solidFill>
                            <a:srgbClr val="182B30"/>
                          </a:solidFill>
                          <a:latin typeface="Arial"/>
                          <a:ea typeface="Arial"/>
                          <a:cs typeface="Arial"/>
                        </a:rPr>
                        <a:t>температуру кипения.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00" b="1">
                          <a:solidFill>
                            <a:srgbClr val="007F78"/>
                          </a:solidFill>
                          <a:latin typeface="Arial"/>
                          <a:ea typeface="Arial"/>
                          <a:cs typeface="Arial"/>
                        </a:rPr>
                        <a:t>7399382   Нелетучее растворённое вещество</a:t>
                      </a:r>
                    </a:p>
                    <a:p>
                      <a:r>
                        <a:rPr sz="1800" b="1">
                          <a:solidFill>
                            <a:srgbClr val="007F78"/>
                          </a:solidFill>
                          <a:latin typeface="Arial"/>
                          <a:ea typeface="Arial"/>
                          <a:cs typeface="Arial"/>
                        </a:rPr>
                        <a:t>повышает температуру кипения.</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1">
                          <a:solidFill>
                            <a:srgbClr val="007F78"/>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00" b="0">
                          <a:solidFill>
                            <a:srgbClr val="182B30"/>
                          </a:solidFill>
                          <a:latin typeface="Arial"/>
                          <a:ea typeface="Arial"/>
                          <a:cs typeface="Arial"/>
                        </a:rPr>
                        <a:t>987600   Температура кипения ацетона.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Нерелевантен</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оценки релевантности. Нет оценки: нулевой">
            <a:extLst xmlns:a="http://schemas.openxmlformats.org/drawingml/2006/main">
              <a:ext uri="{FF2B5EF4-FFF2-40B4-BE49-F238E27FC236}">
                <a16:creationId xmlns:a16="http://schemas.microsoft.com/office/drawing/2014/main" id="{1D3E2C44-7336-4B9D-BD9F-DCB71CA25FA6}"/>
              </a:ext>
            </a:extLst>
          </p:cNvPr>
          <p:cNvSpPr>
            <a:spLocks xmlns:a="http://schemas.openxmlformats.org/drawingml/2006/main" noGrp="1"/>
          </p:cNvSpPr>
          <p:nvPr/>
        </p:nvSpPr>
        <p:spPr>
          <a:xfrm xmlns:a="http://schemas.openxmlformats.org/drawingml/2006/main">
            <a:off x="609600" y="6019800"/>
            <a:ext cx="1081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оценки релевантности. Нет оценки: нулевой вклад.</a:t>
            </a:r>
          </a:p>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Русский пересказ исходных фрагментов. Метки относятся к оригиналам.</a:t>
            </a:r>
          </a:p>
        </p:txBody>
      </p:sp>
    </p:spTree>
    <p:extLst>
      <p:ext uri="{BB962C8B-B14F-4D97-AF65-F5344CB8AC3E}">
        <p14:creationId xmlns:p14="http://schemas.microsoft.com/office/powerpoint/2010/main" val="10946752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Данные для ручной доразметки">
            <a:extLst xmlns:a="http://schemas.openxmlformats.org/drawingml/2006/main">
              <a:ext uri="{FF2B5EF4-FFF2-40B4-BE49-F238E27FC236}">
                <a16:creationId xmlns:a16="http://schemas.microsoft.com/office/drawing/2014/main" id="{A34BA3CC-C0E2-4636-87E7-42AF23E254A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Данные для ручной доразметки</a:t>
            </a:r>
          </a:p>
        </p:txBody>
      </p:sp>
      <p:sp>
        <p:nvSpPr>
          <p:cNvPr id="2" name="05">
            <a:extLst xmlns:a="http://schemas.openxmlformats.org/drawingml/2006/main">
              <a:ext uri="{FF2B5EF4-FFF2-40B4-BE49-F238E27FC236}">
                <a16:creationId xmlns:a16="http://schemas.microsoft.com/office/drawing/2014/main" id="{2353822A-C676-4110-936E-E30726F7D8D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S MARCO Passage Ranking: 8 841 823 англоязычных фрагмента">
            <a:extLst xmlns:a="http://schemas.openxmlformats.org/drawingml/2006/main">
              <a:ext uri="{FF2B5EF4-FFF2-40B4-BE49-F238E27FC236}">
                <a16:creationId xmlns:a16="http://schemas.microsoft.com/office/drawing/2014/main" id="{C4E448FC-7633-44A8-ACC7-B8922870AD71}"/>
              </a:ext>
            </a:extLst>
          </p:cNvPr>
          <p:cNvSpPr>
            <a:spLocks xmlns:a="http://schemas.openxmlformats.org/drawingml/2006/main" noGrp="1"/>
          </p:cNvSpPr>
          <p:nvPr/>
        </p:nvSpPr>
        <p:spPr>
          <a:xfrm xmlns:a="http://schemas.openxmlformats.org/drawingml/2006/main">
            <a:off x="609600" y="16097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970"/>
                </a:solidFill>
                <a:latin typeface="Arial"/>
                <a:ea typeface="Arial"/>
                <a:cs typeface="Arial"/>
              </a:defRPr>
            </a:defPPr>
          </a:lstStyle>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MS MARCO Passage Ranking: 8 841 823 англоязычных фрагмента</a:t>
            </a:r>
          </a:p>
        </p:txBody>
      </p:sp>
      <p:sp>
        <p:nvSpPr>
          <p:cNvPr id="4" name="dev/small">
            <a:extLst xmlns:a="http://schemas.openxmlformats.org/drawingml/2006/main">
              <a:ext uri="{FF2B5EF4-FFF2-40B4-BE49-F238E27FC236}">
                <a16:creationId xmlns:a16="http://schemas.microsoft.com/office/drawing/2014/main" id="{2ED41703-E32F-4B8B-8DCC-4A841119316C}"/>
              </a:ext>
            </a:extLst>
          </p:cNvPr>
          <p:cNvSpPr>
            <a:spLocks xmlns:a="http://schemas.openxmlformats.org/drawingml/2006/main" noGrp="1"/>
          </p:cNvSpPr>
          <p:nvPr/>
        </p:nvSpPr>
        <p:spPr>
          <a:xfrm xmlns:a="http://schemas.openxmlformats.org/drawingml/2006/main">
            <a:off x="609600" y="247650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82B30"/>
                </a:solidFill>
                <a:latin typeface="Arial"/>
                <a:ea typeface="Arial"/>
                <a:cs typeface="Arial"/>
              </a:defRPr>
            </a:defPPr>
          </a:lstStyle>
          <a:p xmlns:a="http://schemas.openxmlformats.org/drawingml/2006/main">
            <a:pPr algn="l">
              <a:defRPr sz="2250" b="1">
                <a:solidFill>
                  <a:srgbClr val="182B30"/>
                </a:solidFill>
                <a:latin typeface="Arial"/>
                <a:ea typeface="Arial"/>
                <a:cs typeface="Arial"/>
              </a:defRPr>
            </a:pPr>
            <a:r>
              <a:rPr sz="2250" b="1">
                <a:solidFill>
                  <a:srgbClr val="182B30"/>
                </a:solidFill>
                <a:latin typeface="Arial"/>
                <a:ea typeface="Arial"/>
                <a:cs typeface="Arial"/>
              </a:rPr>
              <a:t>dev/small</a:t>
            </a:r>
          </a:p>
        </p:txBody>
      </p:sp>
      <p:sp>
        <p:nvSpPr>
          <p:cNvPr id="5" name="6 980">
            <a:extLst xmlns:a="http://schemas.openxmlformats.org/drawingml/2006/main">
              <a:ext uri="{FF2B5EF4-FFF2-40B4-BE49-F238E27FC236}">
                <a16:creationId xmlns:a16="http://schemas.microsoft.com/office/drawing/2014/main" id="{2DB9E5FA-2063-4D9D-8B35-5CB16277C07E}"/>
              </a:ext>
            </a:extLst>
          </p:cNvPr>
          <p:cNvSpPr>
            <a:spLocks xmlns:a="http://schemas.openxmlformats.org/drawingml/2006/main" noGrp="1"/>
          </p:cNvSpPr>
          <p:nvPr/>
        </p:nvSpPr>
        <p:spPr>
          <a:xfrm xmlns:a="http://schemas.openxmlformats.org/drawingml/2006/main">
            <a:off x="609600" y="2962275"/>
            <a:ext cx="4381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007F78"/>
                </a:solidFill>
                <a:latin typeface="Arial"/>
                <a:ea typeface="Arial"/>
                <a:cs typeface="Arial"/>
              </a:defRPr>
            </a:defPPr>
          </a:lstStyle>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6 980</a:t>
            </a:r>
          </a:p>
        </p:txBody>
      </p:sp>
      <p:sp>
        <p:nvSpPr>
          <p:cNvPr id="6" name="запросов в стандартной&#10;оценочной подвыборке">
            <a:extLst xmlns:a="http://schemas.openxmlformats.org/drawingml/2006/main">
              <a:ext uri="{FF2B5EF4-FFF2-40B4-BE49-F238E27FC236}">
                <a16:creationId xmlns:a16="http://schemas.microsoft.com/office/drawing/2014/main" id="{0C2A625A-9F0D-46DA-B13E-5D29811BAA5B}"/>
              </a:ext>
            </a:extLst>
          </p:cNvPr>
          <p:cNvSpPr>
            <a:spLocks xmlns:a="http://schemas.openxmlformats.org/drawingml/2006/main" noGrp="1"/>
          </p:cNvSpPr>
          <p:nvPr/>
        </p:nvSpPr>
        <p:spPr>
          <a:xfrm xmlns:a="http://schemas.openxmlformats.org/drawingml/2006/main">
            <a:off x="609600" y="3848100"/>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B30"/>
                </a:solidFill>
                <a:latin typeface="Arial"/>
                <a:ea typeface="Arial"/>
                <a:cs typeface="Arial"/>
              </a:defRPr>
            </a:defPPr>
          </a:lstStyle>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запросов в стандартной</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оценочной подвыборке</a:t>
            </a:r>
          </a:p>
        </p:txBody>
      </p:sp>
      <p:sp>
        <p:nvSpPr>
          <p:cNvPr id="7" name="7 437 исходных положительных пар">
            <a:extLst xmlns:a="http://schemas.openxmlformats.org/drawingml/2006/main">
              <a:ext uri="{FF2B5EF4-FFF2-40B4-BE49-F238E27FC236}">
                <a16:creationId xmlns:a16="http://schemas.microsoft.com/office/drawing/2014/main" id="{334388CF-080F-4290-9A46-4B6903A25C6E}"/>
              </a:ext>
            </a:extLst>
          </p:cNvPr>
          <p:cNvSpPr>
            <a:spLocks xmlns:a="http://schemas.openxmlformats.org/drawingml/2006/main" noGrp="1"/>
          </p:cNvSpPr>
          <p:nvPr/>
        </p:nvSpPr>
        <p:spPr>
          <a:xfrm xmlns:a="http://schemas.openxmlformats.org/drawingml/2006/main">
            <a:off x="609600" y="500062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970"/>
                </a:solidFill>
                <a:latin typeface="Arial"/>
                <a:ea typeface="Arial"/>
                <a:cs typeface="Arial"/>
              </a:defRPr>
            </a:defPPr>
          </a:lstStyle>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7 437 исходных положительных пар</a:t>
            </a:r>
          </a:p>
        </p:txBody>
      </p:sp>
      <p:sp>
        <p:nvSpPr>
          <p:cNvPr id="8" name="Ручная подвыборка из dev/small">
            <a:extLst xmlns:a="http://schemas.openxmlformats.org/drawingml/2006/main">
              <a:ext uri="{FF2B5EF4-FFF2-40B4-BE49-F238E27FC236}">
                <a16:creationId xmlns:a16="http://schemas.microsoft.com/office/drawing/2014/main" id="{22B42E78-BD55-4445-A8FE-4309BC4BC35B}"/>
              </a:ext>
            </a:extLst>
          </p:cNvPr>
          <p:cNvSpPr>
            <a:spLocks xmlns:a="http://schemas.openxmlformats.org/drawingml/2006/main" noGrp="1"/>
          </p:cNvSpPr>
          <p:nvPr/>
        </p:nvSpPr>
        <p:spPr>
          <a:xfrm xmlns:a="http://schemas.openxmlformats.org/drawingml/2006/main">
            <a:off x="6229350" y="2476500"/>
            <a:ext cx="5353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82B30"/>
                </a:solidFill>
                <a:latin typeface="Arial"/>
                <a:ea typeface="Arial"/>
                <a:cs typeface="Arial"/>
              </a:defRPr>
            </a:defPPr>
          </a:lstStyle>
          <a:p xmlns:a="http://schemas.openxmlformats.org/drawingml/2006/main">
            <a:pPr algn="l">
              <a:defRPr sz="2250" b="1">
                <a:solidFill>
                  <a:srgbClr val="182B30"/>
                </a:solidFill>
                <a:latin typeface="Arial"/>
                <a:ea typeface="Arial"/>
                <a:cs typeface="Arial"/>
              </a:defRPr>
            </a:pPr>
            <a:r>
              <a:rPr sz="2250" b="1">
                <a:solidFill>
                  <a:srgbClr val="182B30"/>
                </a:solidFill>
                <a:latin typeface="Arial"/>
                <a:ea typeface="Arial"/>
                <a:cs typeface="Arial"/>
              </a:rPr>
              <a:t>Ручная подвыборка из dev/small</a:t>
            </a:r>
          </a:p>
        </p:txBody>
      </p:sp>
      <p:sp>
        <p:nvSpPr>
          <p:cNvPr id="9" name="1 179">
            <a:extLst xmlns:a="http://schemas.openxmlformats.org/drawingml/2006/main">
              <a:ext uri="{FF2B5EF4-FFF2-40B4-BE49-F238E27FC236}">
                <a16:creationId xmlns:a16="http://schemas.microsoft.com/office/drawing/2014/main" id="{59C256A8-9894-4A34-8A0F-574E12AFEF55}"/>
              </a:ext>
            </a:extLst>
          </p:cNvPr>
          <p:cNvSpPr>
            <a:spLocks xmlns:a="http://schemas.openxmlformats.org/drawingml/2006/main" noGrp="1"/>
          </p:cNvSpPr>
          <p:nvPr/>
        </p:nvSpPr>
        <p:spPr>
          <a:xfrm xmlns:a="http://schemas.openxmlformats.org/drawingml/2006/main">
            <a:off x="6229350" y="2962275"/>
            <a:ext cx="4381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007F78"/>
                </a:solidFill>
                <a:latin typeface="Arial"/>
                <a:ea typeface="Arial"/>
                <a:cs typeface="Arial"/>
              </a:defRPr>
            </a:defPPr>
          </a:lstStyle>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1 179</a:t>
            </a:r>
          </a:p>
        </p:txBody>
      </p:sp>
      <p:sp>
        <p:nvSpPr>
          <p:cNvPr id="10" name="запросов с дополнительными&#10;человеческими оценками">
            <a:extLst xmlns:a="http://schemas.openxmlformats.org/drawingml/2006/main">
              <a:ext uri="{FF2B5EF4-FFF2-40B4-BE49-F238E27FC236}">
                <a16:creationId xmlns:a16="http://schemas.microsoft.com/office/drawing/2014/main" id="{CBA07B85-828A-40A0-83EE-7F24D9A0ADCF}"/>
              </a:ext>
            </a:extLst>
          </p:cNvPr>
          <p:cNvSpPr>
            <a:spLocks xmlns:a="http://schemas.openxmlformats.org/drawingml/2006/main" noGrp="1"/>
          </p:cNvSpPr>
          <p:nvPr/>
        </p:nvSpPr>
        <p:spPr>
          <a:xfrm xmlns:a="http://schemas.openxmlformats.org/drawingml/2006/main">
            <a:off x="6229350" y="38481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B30"/>
                </a:solidFill>
                <a:latin typeface="Arial"/>
                <a:ea typeface="Arial"/>
                <a:cs typeface="Arial"/>
              </a:defRPr>
            </a:defPPr>
          </a:lstStyle>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запросов с дополнительными</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человеческими оценками</a:t>
            </a:r>
          </a:p>
        </p:txBody>
      </p:sp>
      <p:sp>
        <p:nvSpPr>
          <p:cNvPr id="11" name="33 667 пар «запрос – фрагмент»">
            <a:extLst xmlns:a="http://schemas.openxmlformats.org/drawingml/2006/main">
              <a:ext uri="{FF2B5EF4-FFF2-40B4-BE49-F238E27FC236}">
                <a16:creationId xmlns:a16="http://schemas.microsoft.com/office/drawing/2014/main" id="{0CA45C8D-9073-4691-848F-B62AC53E5DFD}"/>
              </a:ext>
            </a:extLst>
          </p:cNvPr>
          <p:cNvSpPr>
            <a:spLocks xmlns:a="http://schemas.openxmlformats.org/drawingml/2006/main" noGrp="1"/>
          </p:cNvSpPr>
          <p:nvPr/>
        </p:nvSpPr>
        <p:spPr>
          <a:xfrm xmlns:a="http://schemas.openxmlformats.org/drawingml/2006/main">
            <a:off x="6229350" y="5000625"/>
            <a:ext cx="53530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970"/>
                </a:solidFill>
                <a:latin typeface="Arial"/>
                <a:ea typeface="Arial"/>
                <a:cs typeface="Arial"/>
              </a:defRPr>
            </a:defPPr>
          </a:lstStyle>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33 667 пар «запрос – фрагмент»</a:t>
            </a:r>
          </a:p>
        </p:txBody>
      </p:sp>
      <p:sp>
        <p:nvSpPr>
          <p:cNvPr id="12" name="">
            <a:extLst xmlns:a="http://schemas.openxmlformats.org/drawingml/2006/main">
              <a:ext uri="{FF2B5EF4-FFF2-40B4-BE49-F238E27FC236}">
                <a16:creationId xmlns:a16="http://schemas.microsoft.com/office/drawing/2014/main" id="{5F53ADBC-1693-4423-8E87-5C9EA3A3EE22}"/>
              </a:ext>
            </a:extLst>
          </p:cNvPr>
          <p:cNvSpPr>
            <a:spLocks xmlns:a="http://schemas.openxmlformats.org/drawingml/2006/main" noGrp="1"/>
          </p:cNvSpPr>
          <p:nvPr/>
        </p:nvSpPr>
        <p:spPr>
          <a:xfrm xmlns:a="http://schemas.openxmlformats.org/drawingml/2006/main">
            <a:off x="609600" y="2219325"/>
            <a:ext cx="10972800" cy="0"/>
          </a:xfrm>
          <a:prstGeom xmlns:a="http://schemas.openxmlformats.org/drawingml/2006/main" prst="line">
            <a:avLst/>
          </a:prstGeom>
          <a:noFill xmlns:a="http://schemas.openxmlformats.org/drawingml/2006/main"/>
          <a:ln xmlns:a="http://schemas.openxmlformats.org/drawingml/2006/main" w="12383">
            <a:solidFill>
              <a:srgbClr val="D4E1E0"/>
            </a:solidFill>
          </a:ln>
        </p:spPr>
      </p:sp>
      <p:sp>
        <p:nvSpPr>
          <p:cNvPr id="13" name="Доразметка охватывает отобранных кандидатов для каждого запроса.">
            <a:extLst xmlns:a="http://schemas.openxmlformats.org/drawingml/2006/main">
              <a:ext uri="{FF2B5EF4-FFF2-40B4-BE49-F238E27FC236}">
                <a16:creationId xmlns:a16="http://schemas.microsoft.com/office/drawing/2014/main" id="{1E9E408D-C93E-45C3-95F9-3F5EC4587A20}"/>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Доразметка охватывает отобранных кандидатов для каждого запроса.</a:t>
            </a:r>
          </a:p>
        </p:txBody>
      </p:sp>
    </p:spTree>
    <p:extLst>
      <p:ext uri="{BB962C8B-B14F-4D97-AF65-F5344CB8AC3E}">
        <p14:creationId xmlns:p14="http://schemas.microsoft.com/office/powerpoint/2010/main" val="19353008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Разметка с известным релевантным ответом">
            <a:extLst xmlns:a="http://schemas.openxmlformats.org/drawingml/2006/main">
              <a:ext uri="{FF2B5EF4-FFF2-40B4-BE49-F238E27FC236}">
                <a16:creationId xmlns:a16="http://schemas.microsoft.com/office/drawing/2014/main" id="{4F08E455-965E-4FD3-8FB7-D561BA763F75}"/>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Разметка с известным релевантным ответом</a:t>
            </a:r>
          </a:p>
        </p:txBody>
      </p:sp>
      <p:sp>
        <p:nvSpPr>
          <p:cNvPr id="2" name="06">
            <a:extLst xmlns:a="http://schemas.openxmlformats.org/drawingml/2006/main">
              <a:ext uri="{FF2B5EF4-FFF2-40B4-BE49-F238E27FC236}">
                <a16:creationId xmlns:a16="http://schemas.microsoft.com/office/drawing/2014/main" id="{9F6A7005-F48E-49E7-A616-E8BA12856E9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sp>
        <p:nvSpPr>
          <p:cNvPr id="3" name="BM25   E5   BGE&#10;По 10 результатов">
            <a:extLst xmlns:a="http://schemas.openxmlformats.org/drawingml/2006/main">
              <a:ext uri="{FF2B5EF4-FFF2-40B4-BE49-F238E27FC236}">
                <a16:creationId xmlns:a16="http://schemas.microsoft.com/office/drawing/2014/main" id="{E06B08BB-DEBF-4476-A79E-EC33232EEF82}"/>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По 10 результатов</a:t>
            </a:r>
          </a:p>
        </p:txBody>
      </p:sp>
      <p:sp>
        <p:nvSpPr>
          <p:cNvPr id="4" name="Дополнительный отбор&#10;Сходство с ответом по E5">
            <a:extLst xmlns:a="http://schemas.openxmlformats.org/drawingml/2006/main">
              <a:ext uri="{FF2B5EF4-FFF2-40B4-BE49-F238E27FC236}">
                <a16:creationId xmlns:a16="http://schemas.microsoft.com/office/drawing/2014/main" id="{B5224D1A-E575-427A-AC94-52A3C3695468}"/>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Дополнительный отбор</a:t>
            </a:r>
          </a:p>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Сходство с ответом по E5</a:t>
            </a:r>
          </a:p>
        </p:txBody>
      </p:sp>
      <p:sp>
        <p:nvSpPr>
          <p:cNvPr id="5" name="Пул кандидатов&#10;без дубликатов">
            <a:extLst xmlns:a="http://schemas.openxmlformats.org/drawingml/2006/main">
              <a:ext uri="{FF2B5EF4-FFF2-40B4-BE49-F238E27FC236}">
                <a16:creationId xmlns:a16="http://schemas.microsoft.com/office/drawing/2014/main" id="{5118D0C7-C21D-4D05-8EE0-3051D5EB73E6}"/>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Пул кандидатов</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без дубликатов</a:t>
            </a:r>
          </a:p>
        </p:txBody>
      </p:sp>
      <p:sp>
        <p:nvSpPr>
          <p:cNvPr id="6" name="Ручная&#10;оценка">
            <a:extLst xmlns:a="http://schemas.openxmlformats.org/drawingml/2006/main">
              <a:ext uri="{FF2B5EF4-FFF2-40B4-BE49-F238E27FC236}">
                <a16:creationId xmlns:a16="http://schemas.microsoft.com/office/drawing/2014/main" id="{2CBD2ADC-55FF-4AB8-A47A-DE8B60C304FD}"/>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Ручная</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оценка</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Запрос + кандидат +&#10;релевантный ответ">
            <a:extLst xmlns:a="http://schemas.openxmlformats.org/drawingml/2006/main">
              <a:ext uri="{FF2B5EF4-FFF2-40B4-BE49-F238E27FC236}">
                <a16:creationId xmlns:a16="http://schemas.microsoft.com/office/drawing/2014/main" id="{03F078DF-D752-4928-AC8C-02CEC1C0B7A2}"/>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Запрос + кандидат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релевантный ответ</a:t>
            </a:r>
          </a:p>
        </p:txBody>
      </p:sp>
      <p:sp>
        <p:nvSpPr>
          <p:cNvPr id="11" name="В среднем 28,56&#10;кандидата на запрос">
            <a:extLst xmlns:a="http://schemas.openxmlformats.org/drawingml/2006/main">
              <a:ext uri="{FF2B5EF4-FFF2-40B4-BE49-F238E27FC236}">
                <a16:creationId xmlns:a16="http://schemas.microsoft.com/office/drawing/2014/main" id="{A96799E4-5CA0-4D48-9EF5-BD74CD3F2D58}"/>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В среднем 28,56</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кандидата на запрос</a:t>
            </a:r>
          </a:p>
        </p:txBody>
      </p:sp>
      <p:sp>
        <p:nvSpPr>
          <p:cNvPr id="12" name="Известный ответ используется при отборе кандидат">
            <a:extLst xmlns:a="http://schemas.openxmlformats.org/drawingml/2006/main">
              <a:ext uri="{FF2B5EF4-FFF2-40B4-BE49-F238E27FC236}">
                <a16:creationId xmlns:a16="http://schemas.microsoft.com/office/drawing/2014/main" id="{2149C239-EB6B-47AB-BCF5-DD07EC739EE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Известный ответ используется при отборе кандидатов и ручной разметке.</a:t>
            </a:r>
          </a:p>
        </p:txBody>
      </p:sp>
    </p:spTree>
    <p:extLst>
      <p:ext uri="{BB962C8B-B14F-4D97-AF65-F5344CB8AC3E}">
        <p14:creationId xmlns:p14="http://schemas.microsoft.com/office/powerpoint/2010/main" val="19735779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Больше оценок в тех же пулах">
            <a:extLst xmlns:a="http://schemas.openxmlformats.org/drawingml/2006/main">
              <a:ext uri="{FF2B5EF4-FFF2-40B4-BE49-F238E27FC236}">
                <a16:creationId xmlns:a16="http://schemas.microsoft.com/office/drawing/2014/main" id="{1CF79C95-B654-4F76-82D3-8E5010CEDC5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Больше оценок в тех же пулах</a:t>
            </a:r>
          </a:p>
        </p:txBody>
      </p:sp>
      <p:sp>
        <p:nvSpPr>
          <p:cNvPr id="2" name="07">
            <a:extLst xmlns:a="http://schemas.openxmlformats.org/drawingml/2006/main">
              <a:ext uri="{FF2B5EF4-FFF2-40B4-BE49-F238E27FC236}">
                <a16:creationId xmlns:a16="http://schemas.microsoft.com/office/drawing/2014/main" id="{D6E70AE6-5793-4E2A-AA54-5849FD26316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Среднее число релевантных фрагментов на запрос">
            <a:extLst xmlns:a="http://schemas.openxmlformats.org/drawingml/2006/main">
              <a:ext uri="{FF2B5EF4-FFF2-40B4-BE49-F238E27FC236}">
                <a16:creationId xmlns:a16="http://schemas.microsoft.com/office/drawing/2014/main" id="{692B7626-67E4-4142-B831-A1FCB9F7BC73}"/>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Среднее число релевантных фрагментов на запрос</a:t>
            </a:r>
          </a:p>
        </p:txBody>
      </p:sp>
      <p:sp>
        <p:nvSpPr>
          <p:cNvPr id="4" name="1,05">
            <a:extLst xmlns:a="http://schemas.openxmlformats.org/drawingml/2006/main">
              <a:ext uri="{FF2B5EF4-FFF2-40B4-BE49-F238E27FC236}">
                <a16:creationId xmlns:a16="http://schemas.microsoft.com/office/drawing/2014/main" id="{0A936E03-03E7-4610-925F-691691EB830C}"/>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86802D41-005F-4A54-BC81-35AC162315B9}"/>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875058B1-BFE6-4833-AF53-6EE18183FFF3}"/>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Исходные оценки">
            <a:extLst xmlns:a="http://schemas.openxmlformats.org/drawingml/2006/main">
              <a:ext uri="{FF2B5EF4-FFF2-40B4-BE49-F238E27FC236}">
                <a16:creationId xmlns:a16="http://schemas.microsoft.com/office/drawing/2014/main" id="{C5FC8E12-57E2-4AA9-88DF-91540478064A}"/>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Исходные оценки</a:t>
            </a:r>
          </a:p>
        </p:txBody>
      </p:sp>
      <p:sp>
        <p:nvSpPr>
          <p:cNvPr id="8" name="1 243 релевантные пары">
            <a:extLst xmlns:a="http://schemas.openxmlformats.org/drawingml/2006/main">
              <a:ext uri="{FF2B5EF4-FFF2-40B4-BE49-F238E27FC236}">
                <a16:creationId xmlns:a16="http://schemas.microsoft.com/office/drawing/2014/main" id="{0098175C-E3E2-42CF-8B6F-AC0938AC4158}"/>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1 243 релевантные пары</a:t>
            </a:r>
          </a:p>
        </p:txBody>
      </p:sp>
      <p:sp>
        <p:nvSpPr>
          <p:cNvPr id="9" name="После доразметки">
            <a:extLst xmlns:a="http://schemas.openxmlformats.org/drawingml/2006/main">
              <a:ext uri="{FF2B5EF4-FFF2-40B4-BE49-F238E27FC236}">
                <a16:creationId xmlns:a16="http://schemas.microsoft.com/office/drawing/2014/main" id="{B9260C2C-7876-4DC8-A068-81AA1DBFCCDC}"/>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После доразметки</a:t>
            </a:r>
          </a:p>
        </p:txBody>
      </p:sp>
      <p:sp>
        <p:nvSpPr>
          <p:cNvPr id="10" name="20 597 релевантных пар">
            <a:extLst xmlns:a="http://schemas.openxmlformats.org/drawingml/2006/main">
              <a:ext uri="{FF2B5EF4-FFF2-40B4-BE49-F238E27FC236}">
                <a16:creationId xmlns:a16="http://schemas.microsoft.com/office/drawing/2014/main" id="{F2D0DE64-5F0F-4C0D-B7E2-4EDA124CD26E}"/>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20 597 релевантных пар</a:t>
            </a:r>
          </a:p>
        </p:txBody>
      </p:sp>
      <p:sp>
        <p:nvSpPr>
          <p:cNvPr id="11" name="1 179 запросов. Пулы кандидатов и порядок поиско">
            <a:extLst xmlns:a="http://schemas.openxmlformats.org/drawingml/2006/main">
              <a:ext uri="{FF2B5EF4-FFF2-40B4-BE49-F238E27FC236}">
                <a16:creationId xmlns:a16="http://schemas.microsoft.com/office/drawing/2014/main" id="{FE3F3B17-B292-4BF7-9744-1EBFB2D6019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1 179 запросов. Пулы кандидатов и порядок поисковой выдачи неизменны.</a:t>
            </a:r>
          </a:p>
        </p:txBody>
      </p:sp>
    </p:spTree>
    <p:extLst>
      <p:ext uri="{BB962C8B-B14F-4D97-AF65-F5344CB8AC3E}">
        <p14:creationId xmlns:p14="http://schemas.microsoft.com/office/powerpoint/2010/main" val="2663007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Доразметка меняет оценку NDCG@10">
            <a:extLst xmlns:a="http://schemas.openxmlformats.org/drawingml/2006/main">
              <a:ext uri="{FF2B5EF4-FFF2-40B4-BE49-F238E27FC236}">
                <a16:creationId xmlns:a16="http://schemas.microsoft.com/office/drawing/2014/main" id="{C57A67B4-84D5-4B46-A2C5-3620CDE8A41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Доразметка меняет оценку NDCG@10</a:t>
            </a:r>
          </a:p>
        </p:txBody>
      </p:sp>
      <p:sp>
        <p:nvSpPr>
          <p:cNvPr id="2" name="08">
            <a:extLst xmlns:a="http://schemas.openxmlformats.org/drawingml/2006/main">
              <a:ext uri="{FF2B5EF4-FFF2-40B4-BE49-F238E27FC236}">
                <a16:creationId xmlns:a16="http://schemas.microsoft.com/office/drawing/2014/main" id="{92AF1EEE-C890-41AD-A2FE-87D635EAB21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sp>
        <p:nvSpPr>
          <p:cNvPr id="3" name="RRF: объединение выдач BM25, E5 и BGE по обратны">
            <a:extLst xmlns:a="http://schemas.openxmlformats.org/drawingml/2006/main">
              <a:ext uri="{FF2B5EF4-FFF2-40B4-BE49-F238E27FC236}">
                <a16:creationId xmlns:a16="http://schemas.microsoft.com/office/drawing/2014/main" id="{83F10504-FD85-4B19-94F7-D2971BBEB240}"/>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RRF: объединение выдач BM25, E5 и BGE по обратным рангам</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e4ce4ac20cf84723"/>
          </a:graphicData>
        </a:graphic>
      </p:graphicFrame>
      <p:sp>
        <p:nvSpPr>
          <p:cNvPr id="5" name="Изменение E5: +0,391   95%-ный ДИ [0,365; 0,417]">
            <a:extLst xmlns:a="http://schemas.openxmlformats.org/drawingml/2006/main">
              <a:ext uri="{FF2B5EF4-FFF2-40B4-BE49-F238E27FC236}">
                <a16:creationId xmlns:a16="http://schemas.microsoft.com/office/drawing/2014/main" id="{2F8596F9-2EF5-4D66-B616-218A321BDDE7}"/>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2100" b="1">
                <ns0:solidFill>
                  <ns0:srgbClr val="007F78"/>
                </ns0:solidFill>
                <ns0:latin typeface="Arial"/>
                <ns0:ea typeface="Arial"/>
                <ns0:cs typeface="Arial"/>
              </ns0:defRPr>
            </ns0:pPr>
            <ns0:r>
              <ns0:rPr sz="2100" b="1">
                <ns0:solidFill>
                  <ns0:srgbClr val="007F78"/>
                </ns0:solidFill>
                <ns0:latin typeface="Arial"/>
                <ns0:ea typeface="Arial"/>
                <ns0:cs typeface="Arial"/>
              </ns0:rPr>
              <ns0:t>Изменение E5: +0,391   ДИ 95% [0,365; 0,417]</ns0:t>
            </ns0:r>
          </ns0:p>
        </p:txBody>
      </p:sp>
      <p:sp>
        <p:nvSpPr>
          <p:cNvPr id="6" name="NDCG@10 внутри пулов. Общий идеальный знаменател">
            <a:extLst xmlns:a="http://schemas.openxmlformats.org/drawingml/2006/main">
              <a:ext uri="{FF2B5EF4-FFF2-40B4-BE49-F238E27FC236}">
                <a16:creationId xmlns:a16="http://schemas.microsoft.com/office/drawing/2014/main" id="{C8EFE03B-381A-44C7-A6A9-44590528263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NDCG@10 внутри пулов. Общий идеальный знаменатель для запроса и набора меток.</a:t>
            </a:r>
          </a:p>
        </p:txBody>
      </p:sp>
    </p:spTree>
    <p:extLst>
      <p:ext uri="{BB962C8B-B14F-4D97-AF65-F5344CB8AC3E}">
        <p14:creationId xmlns:p14="http://schemas.microsoft.com/office/powerpoint/2010/main" val="155480916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Модель-судья для больших пулов">
            <a:extLst xmlns:a="http://schemas.openxmlformats.org/drawingml/2006/main">
              <a:ext uri="{FF2B5EF4-FFF2-40B4-BE49-F238E27FC236}">
                <a16:creationId xmlns:a16="http://schemas.microsoft.com/office/drawing/2014/main" id="{1C317943-E193-4781-8893-B0FAB927128E}"/>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Модель-судья для больших пулов</a:t>
            </a:r>
          </a:p>
        </p:txBody>
      </p:sp>
      <p:sp>
        <p:nvSpPr>
          <p:cNvPr id="2" name="09">
            <a:extLst xmlns:a="http://schemas.openxmlformats.org/drawingml/2006/main">
              <a:ext uri="{FF2B5EF4-FFF2-40B4-BE49-F238E27FC236}">
                <a16:creationId xmlns:a16="http://schemas.microsoft.com/office/drawing/2014/main" id="{4272979E-E477-4A23-AD5D-D41B7931E92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Текст запроса&#10;Текст кандидата">
            <a:extLst xmlns:a="http://schemas.openxmlformats.org/drawingml/2006/main">
              <a:ext uri="{FF2B5EF4-FFF2-40B4-BE49-F238E27FC236}">
                <a16:creationId xmlns:a16="http://schemas.microsoft.com/office/drawing/2014/main" id="{26D13347-3281-4F06-BDAF-8D5A0F7294AB}"/>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запроса</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кандидата</a:t>
            </a:r>
          </a:p>
        </p:txBody>
      </p:sp>
      <p:sp>
        <p:nvSpPr>
          <p:cNvPr id="4" name="Ручные оценки обучают судью для автоматической р">
            <a:extLst xmlns:a="http://schemas.openxmlformats.org/drawingml/2006/main">
              <a:ext uri="{FF2B5EF4-FFF2-40B4-BE49-F238E27FC236}">
                <a16:creationId xmlns:a16="http://schemas.microsoft.com/office/drawing/2014/main" id="{242EFFE6-5830-4D14-A815-9CCC678FCCF5}"/>
              </a:ext>
            </a:extLst>
          </p:cNvPr>
          <p:cNvSpPr>
            <a:spLocks xmlns:a="http://schemas.openxmlformats.org/drawingml/2006/main" noGrp="1"/>
          </p:cNvSpPr>
          <p:nvPr/>
        </p:nvSpPr>
        <p:spPr>
          <a:xfrm xmlns:a="http://schemas.openxmlformats.org/drawingml/2006/main">
            <a:off x="609600" y="16097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Ручные оценки обучают судью для автоматической разметки.</a:t>
            </a:r>
          </a:p>
        </p:txBody>
      </p:sp>
      <p:sp>
        <p:nvSpPr>
          <p:cNvPr id="5" name="MiniLM&#10;кросс-энкодер">
            <a:extLst xmlns:a="http://schemas.openxmlformats.org/drawingml/2006/main">
              <a:ext uri="{FF2B5EF4-FFF2-40B4-BE49-F238E27FC236}">
                <a16:creationId xmlns:a16="http://schemas.microsoft.com/office/drawing/2014/main" id="{39881BD3-3F33-4537-A1CD-D7255EA0F3E2}"/>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кросс-энкодер</a:t>
            </a:r>
          </a:p>
        </p:txBody>
      </p:sp>
      <p:sp>
        <p:nvSpPr>
          <p:cNvPr id="6" name="Балл модели&#10;Псевдометка">
            <a:extLst xmlns:a="http://schemas.openxmlformats.org/drawingml/2006/main">
              <a:ext uri="{FF2B5EF4-FFF2-40B4-BE49-F238E27FC236}">
                <a16:creationId xmlns:a16="http://schemas.microsoft.com/office/drawing/2014/main" id="{8253BA28-6F62-41FF-8CB6-14C83D0EBC2C}"/>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Балл модели</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Псевдометка</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9" name="Совместно оценивает два текста">
            <a:extLst xmlns:a="http://schemas.openxmlformats.org/drawingml/2006/main">
              <a:ext uri="{FF2B5EF4-FFF2-40B4-BE49-F238E27FC236}">
                <a16:creationId xmlns:a16="http://schemas.microsoft.com/office/drawing/2014/main" id="{A625AD98-7162-453C-9409-BAFAE9A765FA}"/>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Совместно оценивает два текста</a:t>
            </a:r>
          </a:p>
        </p:txBody>
      </p:sp>
      <p:sp>
        <p:nvSpPr>
          <p:cNvPr id="10" name="">
            <a:extLst xmlns:a="http://schemas.openxmlformats.org/drawingml/2006/main">
              <a:ext uri="{FF2B5EF4-FFF2-40B4-BE49-F238E27FC236}">
                <a16:creationId xmlns:a16="http://schemas.microsoft.com/office/drawing/2014/main" id="{DDA8774B-F006-4CA7-8007-2BB4FEE1EF0D}"/>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1" name="На входе нет эталонного ответа, рангов и баллов ">
            <a:extLst xmlns:a="http://schemas.openxmlformats.org/drawingml/2006/main">
              <a:ext uri="{FF2B5EF4-FFF2-40B4-BE49-F238E27FC236}">
                <a16:creationId xmlns:a16="http://schemas.microsoft.com/office/drawing/2014/main" id="{29D5D23C-9396-4EFC-AE80-F4BC37555AE5}"/>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На входе нет эталонного ответа, рангов и баллов поисковых моделей.</a:t>
            </a:r>
          </a:p>
        </p:txBody>
      </p:sp>
    </p:spTree>
    <p:extLst>
      <p:ext uri="{BB962C8B-B14F-4D97-AF65-F5344CB8AC3E}">
        <p14:creationId xmlns:p14="http://schemas.microsoft.com/office/powerpoint/2010/main" val="36080628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Согласие судьи с ручной разметкой">
            <a:extLst xmlns:a="http://schemas.openxmlformats.org/drawingml/2006/main">
              <a:ext uri="{FF2B5EF4-FFF2-40B4-BE49-F238E27FC236}">
                <a16:creationId xmlns:a16="http://schemas.microsoft.com/office/drawing/2014/main" id="{91AE5F0E-201B-432D-9D85-E8354F5F328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Согласие судьи с ручной разметкой</a:t>
            </a:r>
          </a:p>
        </p:txBody>
      </p:sp>
      <p:sp>
        <p:nvSpPr>
          <p:cNvPr id="2" name="10">
            <a:extLst xmlns:a="http://schemas.openxmlformats.org/drawingml/2006/main">
              <a:ext uri="{FF2B5EF4-FFF2-40B4-BE49-F238E27FC236}">
                <a16:creationId xmlns:a16="http://schemas.microsoft.com/office/drawing/2014/main" id="{B0AD9B9A-DFEE-4C8F-B7F9-0CFA820FE76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Тест: 177 отложенных запросов, 5 002 пары из руч">
            <a:extLst xmlns:a="http://schemas.openxmlformats.org/drawingml/2006/main">
              <a:ext uri="{FF2B5EF4-FFF2-40B4-BE49-F238E27FC236}">
                <a16:creationId xmlns:a16="http://schemas.microsoft.com/office/drawing/2014/main" id="{9042F927-B8D5-4B44-B3A6-50ED190B368F}"/>
              </a:ext>
            </a:extLst>
          </p:cNvPr>
          <p:cNvSpPr>
            <a:spLocks xmlns:a="http://schemas.openxmlformats.org/drawingml/2006/main" noGrp="1"/>
          </p:cNvSpPr>
          <p:nvPr/>
        </p:nvSpPr>
        <p:spPr>
          <a:xfrm xmlns:a="http://schemas.openxmlformats.org/drawingml/2006/main">
            <a:off x="609600" y="15621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 177 отложенных запросов, 5 002 пары из ручных пулов</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844053ccd91f412b"/>
          </a:graphicData>
        </a:graphic>
      </p:graphicFrame>
      <p:sp>
        <p:nvSpPr>
          <p:cNvPr id="5" name="0,907">
            <a:extLst xmlns:a="http://schemas.openxmlformats.org/drawingml/2006/main">
              <a:ext uri="{FF2B5EF4-FFF2-40B4-BE49-F238E27FC236}">
                <a16:creationId xmlns:a16="http://schemas.microsoft.com/office/drawing/2014/main" id="{D609A069-22B6-45C0-9AC3-4FF25D06A9E2}"/>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CB736417-86A8-4067-B9D2-41DE95789CF6}"/>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FD18F278-C87E-4D99-BB55-FF9A4E0700C5}"/>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8" name="F1 при выбранном&#10;пороге">
            <a:extLst xmlns:a="http://schemas.openxmlformats.org/drawingml/2006/main">
              <a:ext uri="{FF2B5EF4-FFF2-40B4-BE49-F238E27FC236}">
                <a16:creationId xmlns:a16="http://schemas.microsoft.com/office/drawing/2014/main" id="{1DFC7CC4-AFEE-491F-B1BB-531DBBFA3A07}"/>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при выбранном</a:t>
            </a:r>
          </a:p>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пороге</a:t>
            </a:r>
          </a:p>
        </p:txBody>
      </p:sp>
      <p:sp>
        <p:nvSpPr>
          <p:cNvPr id="9" name="Точка: порог, выбранный на валидационных запроса">
            <a:extLst xmlns:a="http://schemas.openxmlformats.org/drawingml/2006/main">
              <a:ext uri="{FF2B5EF4-FFF2-40B4-BE49-F238E27FC236}">
                <a16:creationId xmlns:a16="http://schemas.microsoft.com/office/drawing/2014/main" id="{C2A3BF9E-2D7E-4DCA-B4D5-AF30022F1DBA}"/>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007F78"/>
                </a:solidFill>
                <a:latin typeface="Arial"/>
                <a:ea typeface="Arial"/>
                <a:cs typeface="Arial"/>
              </a:rPr>
              <a:t>Порог −0,2187 выбран на валидационных запросах</a:t>
            </a:r>
          </a:p>
        </p:txBody>
      </p:sp>
      <p:sp>
        <p:nvSpPr>
          <p:cNvPr id="10" name="Для глубоких пулов нет независимой ручной провер">
            <a:extLst xmlns:a="http://schemas.openxmlformats.org/drawingml/2006/main">
              <a:ext uri="{FF2B5EF4-FFF2-40B4-BE49-F238E27FC236}">
                <a16:creationId xmlns:a16="http://schemas.microsoft.com/office/drawing/2014/main" id="{CF57EB44-E413-4E54-8664-3AB5C45CF7C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2B30"/>
                </a:solidFill>
                <a:latin typeface="Arial"/>
                <a:ea typeface="Arial"/>
                <a:cs typeface="Arial"/>
              </a:defRPr>
            </a:pPr>
            <a:r>
              <a:rPr sz="1575" b="0">
                <a:solidFill>
                  <a:srgbClr val="526970"/>
                </a:solidFill>
                <a:latin typeface="Arial"/>
                <a:ea typeface="Arial"/>
                <a:cs typeface="Arial"/>
              </a:rPr>
              <a:t>Для глубоких пулов нет независимой ручной проверки.</a:t>
            </a:r>
          </a:p>
        </p:txBody>
      </p:sp>
    </p:spTree>
    <p:extLst>
      <p:ext uri="{BB962C8B-B14F-4D97-AF65-F5344CB8AC3E}">
        <p14:creationId xmlns:p14="http://schemas.microsoft.com/office/powerpoint/2010/main" val="38796588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Размер пула и предсказанная релевантность">
            <a:extLst xmlns:a="http://schemas.openxmlformats.org/drawingml/2006/main">
              <a:ext uri="{FF2B5EF4-FFF2-40B4-BE49-F238E27FC236}">
                <a16:creationId xmlns:a16="http://schemas.microsoft.com/office/drawing/2014/main" id="{C455C868-F2F3-4957-A6F4-0C5264002E18}"/>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Размер пула и предсказанная релевантность</a:t>
            </a:r>
          </a:p>
        </p:txBody>
      </p:sp>
      <p:sp>
        <p:nvSpPr>
          <p:cNvPr id="2" name="11">
            <a:extLst xmlns:a="http://schemas.openxmlformats.org/drawingml/2006/main">
              <a:ext uri="{FF2B5EF4-FFF2-40B4-BE49-F238E27FC236}">
                <a16:creationId xmlns:a16="http://schemas.microsoft.com/office/drawing/2014/main" id="{78598B3E-D80F-499A-B0C4-6E304FFF437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13</a:t>
            </a:r>
          </a:p>
        </p:txBody>
      </p:sp>
      <p:sp>
        <p:nvSpPr>
          <p:cNvPr id="3" name="K: число результатов каждой модели для оценочног">
            <a:extLst xmlns:a="http://schemas.openxmlformats.org/drawingml/2006/main">
              <a:ext uri="{FF2B5EF4-FFF2-40B4-BE49-F238E27FC236}">
                <a16:creationId xmlns:a16="http://schemas.microsoft.com/office/drawing/2014/main" id="{E0E9E0F1-9EE7-413A-A5B5-031516151B0B}"/>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K: число результатов каждой модели для оценочного пула</a:t>
            </a:r>
          </a:p>
        </p:txBody>
      </p:sp>
      <p:sp>
        <p:nvSpPr>
          <p:cNvPr id="4" name="Среднее число фрагментов на запрос">
            <a:extLst xmlns:a="http://schemas.openxmlformats.org/drawingml/2006/main">
              <a:ext uri="{FF2B5EF4-FFF2-40B4-BE49-F238E27FC236}">
                <a16:creationId xmlns:a16="http://schemas.microsoft.com/office/drawing/2014/main" id="{51415D26-0F44-457D-8163-AEEA791D86DF}"/>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Среднее число фрагментов на запрос</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ebd804f6f84f40aa"/>
          </a:graphicData>
        </a:graphic>
      </p:graphicFrame>
      <p:sp>
        <p:nvSpPr>
          <p:cNvPr id="6" name="451,5">
            <a:extLst xmlns:a="http://schemas.openxmlformats.org/drawingml/2006/main">
              <a:ext uri="{FF2B5EF4-FFF2-40B4-BE49-F238E27FC236}">
                <a16:creationId xmlns:a16="http://schemas.microsoft.com/office/drawing/2014/main" id="{96D6F927-3939-4335-991E-B65CAC387627}"/>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7" name="кандидата">
            <a:extLst xmlns:a="http://schemas.openxmlformats.org/drawingml/2006/main">
              <a:ext uri="{FF2B5EF4-FFF2-40B4-BE49-F238E27FC236}">
                <a16:creationId xmlns:a16="http://schemas.microsoft.com/office/drawing/2014/main" id="{8C9050D0-5434-40B3-8DBB-D8ED964C3687}"/>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кандидата</a:t>
            </a:r>
          </a:p>
        </p:txBody>
      </p:sp>
      <p:sp>
        <p:nvSpPr>
          <p:cNvPr id="8" name="128,6">
            <a:extLst xmlns:a="http://schemas.openxmlformats.org/drawingml/2006/main">
              <a:ext uri="{FF2B5EF4-FFF2-40B4-BE49-F238E27FC236}">
                <a16:creationId xmlns:a16="http://schemas.microsoft.com/office/drawing/2014/main" id="{8A09CABC-B85B-4D1B-92FD-F63F6AA3E62C}"/>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9" name="по судье&#10;при K = 200">
            <a:extLst xmlns:a="http://schemas.openxmlformats.org/drawingml/2006/main">
              <a:ext uri="{FF2B5EF4-FFF2-40B4-BE49-F238E27FC236}">
                <a16:creationId xmlns:a16="http://schemas.microsoft.com/office/drawing/2014/main" id="{4718A07C-8E0D-4B57-94E0-0C883610EC22}"/>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по судье</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при K = 200</a:t>
            </a:r>
          </a:p>
        </p:txBody>
      </p:sp>
      <p:sp>
        <p:nvSpPr>
          <p:cNvPr id="10" name="101 093 запроса, включая пулы без положительных ">
            <a:extLst xmlns:a="http://schemas.openxmlformats.org/drawingml/2006/main">
              <a:ext uri="{FF2B5EF4-FFF2-40B4-BE49-F238E27FC236}">
                <a16:creationId xmlns:a16="http://schemas.microsoft.com/office/drawing/2014/main" id="{EF4AF13C-4075-4A33-AB6F-7CDE0F2A94B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101 093 запроса, включая пулы без положительных меток. Судья и порог неизменны.</a:t>
            </a:r>
          </a:p>
        </p:txBody>
      </p:sp>
    </p:spTree>
    <p:extLst>
      <p:ext uri="{BB962C8B-B14F-4D97-AF65-F5344CB8AC3E}">
        <p14:creationId xmlns:p14="http://schemas.microsoft.com/office/powerpoint/2010/main" val="31673244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Меняются пул и входные списки RRF">
            <a:extLst xmlns:a="http://schemas.openxmlformats.org/drawingml/2006/main">
              <a:ext uri="{FF2B5EF4-FFF2-40B4-BE49-F238E27FC236}">
                <a16:creationId xmlns:a16="http://schemas.microsoft.com/office/drawing/2014/main" id="{A649FAD2-0A4D-43D3-9E07-083A9E66B95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Меняются пул и входные списки RRF</a:t>
            </a:r>
          </a:p>
        </p:txBody>
      </p:sp>
      <p:sp>
        <p:nvSpPr>
          <p:cNvPr id="2" name="12">
            <a:extLst xmlns:a="http://schemas.openxmlformats.org/drawingml/2006/main">
              <a:ext uri="{FF2B5EF4-FFF2-40B4-BE49-F238E27FC236}">
                <a16:creationId xmlns:a16="http://schemas.microsoft.com/office/drawing/2014/main" id="{75292B7D-DD7F-4711-8811-95C01F7F692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15</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1575DE7C-E89A-4CD2-9645-7FC1AF9FA2A8}"/>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Обе глубины меняются одновременно: L = K">
            <a:extLst xmlns:a="http://schemas.openxmlformats.org/drawingml/2006/main">
              <a:ext uri="{FF2B5EF4-FFF2-40B4-BE49-F238E27FC236}">
                <a16:creationId xmlns:a16="http://schemas.microsoft.com/office/drawing/2014/main" id="{78742252-A3B0-49E0-A036-61D3688E36C7}"/>
              </a:ext>
            </a:extLst>
          </p:cNvPr>
          <p:cNvSpPr>
            <a:spLocks xmlns:a="http://schemas.openxmlformats.org/drawingml/2006/main" noGrp="1"/>
          </p:cNvSpPr>
          <p:nvPr/>
        </p:nvSpPr>
        <p:spPr>
          <a:xfrm xmlns:a="http://schemas.openxmlformats.org/drawingml/2006/main">
            <a:off x="609600" y="194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2175" b="1">
                <ns0:solidFill>
                  <ns0:srgbClr val="C95236"/>
                </ns0:solidFill>
                <ns0:latin typeface="Arial"/>
                <ns0:ea typeface="Arial"/>
                <ns0:cs typeface="Arial"/>
              </ns0:defRPr>
            </ns0:pPr>
            <ns0:r>
              <ns0:rPr sz="2175" b="1">
                <ns0:solidFill>
                  <ns0:srgbClr val="C95236"/>
                </ns0:solidFill>
                <ns0:latin typeface="Arial"/>
                <ns0:ea typeface="Arial"/>
                <ns0:cs typeface="Arial"/>
              </ns0:rPr>
              <ns0:t>L = K. Более глубокие списки могут менять итоговый топ-10.</ns0:t>
            </ns0:r>
          </ns0: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fdf911735eaa494b"/>
          </a:graphicData>
        </a:graphic>
      </p:graphicFrame>
      <p:sp>
        <p:nvSpPr>
          <p:cNvPr id="6" name="При K = 200 разность NDCG@10 составляет +0,0088">
            <a:extLst xmlns:a="http://schemas.openxmlformats.org/drawingml/2006/main">
              <a:ext uri="{FF2B5EF4-FFF2-40B4-BE49-F238E27FC236}">
                <a16:creationId xmlns:a16="http://schemas.microsoft.com/office/drawing/2014/main" id="{17A6A8B7-B3CF-42A7-B59B-E38F298709FA}"/>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C95236"/>
                </a:solidFill>
                <a:latin typeface="Arial"/>
                <a:ea typeface="Arial"/>
                <a:cs typeface="Arial"/>
              </a:defRPr>
            </a:pPr>
            <a:r>
              <a:rPr sz="2025" b="1">
                <a:solidFill>
                  <a:srgbClr val="C95236"/>
                </a:solidFill>
                <a:latin typeface="Arial"/>
                <a:ea typeface="Arial"/>
                <a:cs typeface="Arial"/>
              </a:rPr>
              <a:t>При K = 200 разность NDCG@10 составляет +0,0088</a:t>
            </a:r>
          </a:p>
        </p:txBody>
      </p:sp>
      <p:sp>
        <p:nvSpPr>
          <p:cNvPr id="7" name="Один судья. 95%-ный парный ДИ [0,0082; 0,0095].&#10;">
            <a:extLst xmlns:a="http://schemas.openxmlformats.org/drawingml/2006/main">
              <a:ext uri="{FF2B5EF4-FFF2-40B4-BE49-F238E27FC236}">
                <a16:creationId xmlns:a16="http://schemas.microsoft.com/office/drawing/2014/main" id="{1B66ED6F-573C-49DA-8081-829286359296}"/>
              </a:ext>
            </a:extLst>
          </p:cNvPr>
          <p:cNvSpPr>
            <a:spLocks xmlns:a="http://schemas.openxmlformats.org/drawingml/2006/main" noGrp="1"/>
          </p:cNvSpPr>
          <p:nvPr/>
        </p:nvSpPr>
        <p:spPr>
          <a:xfrm xmlns:a="http://schemas.openxmlformats.org/drawingml/2006/main">
            <a:off x="609600" y="60198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1725" b="0">
                <ns0:solidFill>
                  <ns0:srgbClr val="526970"/>
                </ns0:solidFill>
                <ns0:latin typeface="Arial"/>
                <ns0:ea typeface="Arial"/>
                <ns0:cs typeface="Arial"/>
              </ns0:defRPr>
            </ns0:pPr>
            <ns0:r>
              <ns0:rPr sz="1725" b="0">
                <ns0:solidFill>
                  <ns0:srgbClr val="526970"/>
                </ns0:solidFill>
                <ns0:latin typeface="Arial"/>
                <ns0:ea typeface="Arial"/>
                <ns0:cs typeface="Arial"/>
              </ns0:rPr>
              <ns0:t>Один судья. Парный ДИ 95% [0,0082; 0,0095].</ns0:t>
            </ns0:r>
          </ns0:p>
        </p:txBody>
      </p:sp>
    </p:spTree>
    <p:extLst>
      <p:ext uri="{BB962C8B-B14F-4D97-AF65-F5344CB8AC3E}">
        <p14:creationId xmlns:p14="http://schemas.microsoft.com/office/powerpoint/2010/main" val="153183097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Покрытие разметкой меняет сравнение">
            <a:extLst xmlns:a="http://schemas.openxmlformats.org/drawingml/2006/main">
              <a:ext uri="{FF2B5EF4-FFF2-40B4-BE49-F238E27FC236}">
                <a16:creationId xmlns:a16="http://schemas.microsoft.com/office/drawing/2014/main" id="{893DC6B4-8608-4DD7-B6E8-3D10ACC2E6D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Покрытие разметкой меняет сравнение</a:t>
            </a:r>
          </a:p>
        </p:txBody>
      </p:sp>
      <p:sp>
        <p:nvSpPr>
          <p:cNvPr id="2" name="13">
            <a:extLst xmlns:a="http://schemas.openxmlformats.org/drawingml/2006/main">
              <a:ext uri="{FF2B5EF4-FFF2-40B4-BE49-F238E27FC236}">
                <a16:creationId xmlns:a16="http://schemas.microsoft.com/office/drawing/2014/main" id="{25ED950A-71A0-49BD-9DD9-CDAA7E5E23D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16</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8D233C68-BA22-4150-B1DD-4948CD9BF1DC}"/>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NDCG@10</a:t>
            </a:r>
            <a:r>
              <a:rPr sz="1950" b="0" baseline="-25000">
                <a:solidFill>
                  <a:srgbClr val="526970"/>
                </a:solidFill>
                <a:latin typeface="Arial"/>
                <a:ea typeface="Arial"/>
                <a:cs typeface="Arial"/>
              </a:rPr>
              <a:t>RRF</a:t>
            </a:r>
            <a:r>
              <a:rPr sz="1950" b="0">
                <a:solidFill>
                  <a:srgbClr val="526970"/>
                </a:solidFill>
                <a:latin typeface="Arial"/>
                <a:ea typeface="Arial"/>
                <a:cs typeface="Arial"/>
              </a:rPr>
              <a:t> − NDCG@10</a:t>
            </a:r>
            <a:r>
              <a:rPr sz="1950" b="0" baseline="-25000">
                <a:solidFill>
                  <a:srgbClr val="526970"/>
                </a:solidFill>
                <a:latin typeface="Arial"/>
                <a:ea typeface="Arial"/>
                <a:cs typeface="Arial"/>
              </a:rPr>
              <a:t>E5</a:t>
            </a:r>
          </a:p>
        </p:txBody>
      </p:sp>
      <p:sp>
        <p:nvSpPr>
          <p:cNvPr id="4" name="Меняется только K. L = 200, обе выдачи зафиксиро">
            <a:extLst xmlns:a="http://schemas.openxmlformats.org/drawingml/2006/main">
              <a:ext uri="{FF2B5EF4-FFF2-40B4-BE49-F238E27FC236}">
                <a16:creationId xmlns:a16="http://schemas.microsoft.com/office/drawing/2014/main" id="{A803AB49-181C-45E5-B2EB-A609645252FC}"/>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Меняется только K. L = 200, обе выдачи зафиксированы.</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3400bf8777044912"/>
          </a:graphicData>
        </a:graphic>
      </p:graphicFrame>
      <p:sp>
        <p:nvSpPr>
          <p:cNvPr id="6" name="14,4%">
            <a:extLst xmlns:a="http://schemas.openxmlformats.org/drawingml/2006/main">
              <a:ext uri="{FF2B5EF4-FFF2-40B4-BE49-F238E27FC236}">
                <a16:creationId xmlns:a16="http://schemas.microsoft.com/office/drawing/2014/main" id="{A9582D6B-B9D1-4F70-A5A4-302326BDB6F7}"/>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7" name="пар из топ-10 RRF&#10;вне оценочного пула&#10;при K = 10">
            <a:extLst xmlns:a="http://schemas.openxmlformats.org/drawingml/2006/main">
              <a:ext uri="{FF2B5EF4-FFF2-40B4-BE49-F238E27FC236}">
                <a16:creationId xmlns:a16="http://schemas.microsoft.com/office/drawing/2014/main" id="{BE80F4F9-C505-4D8C-94A5-43C1C7E4EF6F}"/>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пар из топ-10 RRF</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вне оценочного пула</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при K = 10</a:t>
            </a:r>
          </a:p>
        </p:txBody>
      </p:sp>
      <p:sp>
        <p:nvSpPr>
          <p:cNvPr id="8" name="145 643 пары&#10;«запрос–фрагмент»">
            <a:extLst xmlns:a="http://schemas.openxmlformats.org/drawingml/2006/main">
              <a:ext uri="{FF2B5EF4-FFF2-40B4-BE49-F238E27FC236}">
                <a16:creationId xmlns:a16="http://schemas.microsoft.com/office/drawing/2014/main" id="{83A123AE-1E5D-46B6-9406-C806F0168066}"/>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145 643 пары</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«запрос–фрагмент»</a:t>
            </a:r>
          </a:p>
        </p:txBody>
      </p:sp>
      <p:sp>
        <p:nvSpPr>
          <p:cNvPr id="9" name="K = 10: −0,0661">
            <a:extLst xmlns:a="http://schemas.openxmlformats.org/drawingml/2006/main">
              <a:ext uri="{FF2B5EF4-FFF2-40B4-BE49-F238E27FC236}">
                <a16:creationId xmlns:a16="http://schemas.microsoft.com/office/drawing/2014/main" id="{17FCF1BB-7E14-4A43-949A-1FA1EE242DD2}"/>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3B777154-EAE9-42A6-BE19-1EB05E481127}"/>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1" name="RRF минус E5 по псевдометкам. Фрагменты без оцен">
            <a:extLst xmlns:a="http://schemas.openxmlformats.org/drawingml/2006/main">
              <a:ext uri="{FF2B5EF4-FFF2-40B4-BE49-F238E27FC236}">
                <a16:creationId xmlns:a16="http://schemas.microsoft.com/office/drawing/2014/main" id="{B3A6ED8C-8FF2-4B68-85FD-C3F9AF55778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1725" b="0">
                <ns0:solidFill>
                  <ns0:srgbClr val="526970"/>
                </ns0:solidFill>
                <ns0:latin typeface="Arial"/>
                <ns0:ea typeface="Arial"/>
                <ns0:cs typeface="Arial"/>
              </ns0:defRPr>
            </ns0:pPr>
            <ns0:r>
              <ns0:rPr sz="1725" b="0">
                <ns0:solidFill>
                  <ns0:srgbClr val="526970"/>
                </ns0:solidFill>
                <ns0:latin typeface="Arial"/>
                <ns0:ea typeface="Arial"/>
                <ns0:cs typeface="Arial"/>
              </ns0:rPr>
              <ns0:t>Отсутствие оценки дает нулевой вклад в метрику, но не означает нерелевантность.</ns0:t>
            </ns0:r>
          </ns0:p>
        </p:txBody>
      </p:sp>
    </p:spTree>
    <p:extLst>
      <p:ext uri="{BB962C8B-B14F-4D97-AF65-F5344CB8AC3E}">
        <p14:creationId xmlns:p14="http://schemas.microsoft.com/office/powerpoint/2010/main" val="91239628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Устойчивость и ограничения">
            <a:extLst xmlns:a="http://schemas.openxmlformats.org/drawingml/2006/main">
              <a:ext uri="{FF2B5EF4-FFF2-40B4-BE49-F238E27FC236}">
                <a16:creationId xmlns:a16="http://schemas.microsoft.com/office/drawing/2014/main" id="{ED891985-AEA3-4505-AE91-B93BB800593D}"/>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Устойчивость и ограничения</a:t>
            </a:r>
          </a:p>
        </p:txBody>
      </p:sp>
      <p:sp>
        <p:nvSpPr>
          <p:cNvPr id="2" name="14">
            <a:extLst xmlns:a="http://schemas.openxmlformats.org/drawingml/2006/main">
              <a:ext uri="{FF2B5EF4-FFF2-40B4-BE49-F238E27FC236}">
                <a16:creationId xmlns:a16="http://schemas.microsoft.com/office/drawing/2014/main" id="{FAD774E1-05AF-439C-B3C6-CB817BA38AB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17</a:t>
            </a:r>
          </a:p>
        </p:txBody>
      </p:sp>
      <p:sp>
        <p:nvSpPr>
          <p:cNvPr id="3" name="Сравнение после исключения части запросов">
            <a:extLst xmlns:a="http://schemas.openxmlformats.org/drawingml/2006/main">
              <a:ext uri="{FF2B5EF4-FFF2-40B4-BE49-F238E27FC236}">
                <a16:creationId xmlns:a16="http://schemas.microsoft.com/office/drawing/2014/main" id="{17A5C90D-B0D7-4AE0-AFF2-A360B61BEAC0}"/>
              </a:ext>
            </a:extLst>
          </p:cNvPr>
          <p:cNvSpPr>
            <a:spLocks xmlns:a="http://schemas.openxmlformats.org/drawingml/2006/main" noGrp="1"/>
          </p:cNvSpPr>
          <p:nvPr/>
        </p:nvSpPr>
        <p:spPr>
          <a:xfrm xmlns:a="http://schemas.openxmlformats.org/drawingml/2006/main">
            <a:off x="609600" y="16954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2325" b="1">
                <ns0:solidFill>
                  <ns0:srgbClr val="007F78"/>
                </ns0:solidFill>
                <ns0:latin typeface="Arial"/>
                <ns0:ea typeface="Arial"/>
                <ns0:cs typeface="Arial"/>
              </ns0:defRPr>
            </ns0:pPr>
            <ns0:r>
              <ns0:rPr sz="2325" b="1">
                <ns0:solidFill>
                  <ns0:srgbClr val="007F78"/>
                </ns0:solidFill>
                <ns0:latin typeface="Arial"/>
                <ns0:ea typeface="Arial"/>
                <ns0:cs typeface="Arial"/>
              </ns0:rPr>
              <ns0:t>В обоих расчетах используются только псевдометки судьи</ns0:t>
            </ns0:r>
          </ns0:p>
        </p:txBody>
      </p:sp>
      <p:graphicFrame>
        <p:nvGraphicFramePr>
          <p:cNvPr id="12" name=""/>
          <p:cNvGraphicFramePr/>
          <p:nvPr/>
        </p:nvGraphicFramePr>
        <p:xfrm>
          <a:off xmlns:a="http://schemas.openxmlformats.org/drawingml/2006/main" x="609600" y="22669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Запросы</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Число</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Сравнение RRF и E5</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Полная dev-часть</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101 093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Базовое сравнение</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Без 1 179 запросов</a:t>
                      </a:r>
                    </a:p>
                    <a:p>
                      <a:r>
                        <a:rPr sz="1875" b="0">
                          <a:solidFill>
                            <a:srgbClr val="182B30"/>
                          </a:solidFill>
                          <a:latin typeface="Arial"/>
                          <a:ea typeface="Arial"/>
                          <a:cs typeface="Arial"/>
                        </a:rPr>
                        <a:t>ручной подвыборки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99 914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На тех же K лидирует</a:t>
                      </a:r>
                    </a:p>
                    <a:p>
                      <a:r>
                        <a:rPr sz="1875" b="0">
                          <a:solidFill>
                            <a:srgbClr val="182B30"/>
                          </a:solidFill>
                          <a:latin typeface="Arial"/>
                          <a:ea typeface="Arial"/>
                          <a:cs typeface="Arial"/>
                        </a:rPr>
                        <a:t>та же система</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788E524-F7E7-4ED6-9EDA-036F133EB5A0}"/>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Ручные пулы: известный ответ, согласие экспертов">
            <a:extLst xmlns:a="http://schemas.openxmlformats.org/drawingml/2006/main">
              <a:ext uri="{FF2B5EF4-FFF2-40B4-BE49-F238E27FC236}">
                <a16:creationId xmlns:a16="http://schemas.microsoft.com/office/drawing/2014/main" id="{855EF571-426E-4635-B0A8-1BF73A0F96FD}"/>
              </a:ext>
            </a:extLst>
          </p:cNvPr>
          <p:cNvSpPr>
            <a:spLocks xmlns:a="http://schemas.openxmlformats.org/drawingml/2006/main" noGrp="1"/>
          </p:cNvSpPr>
          <p:nvPr/>
        </p:nvSpPr>
        <p:spPr>
          <a:xfrm xmlns:a="http://schemas.openxmlformats.org/drawingml/2006/main">
            <a:off x="609600" y="49625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Ручные пулы: известный ответ, согласие экспертов не измерено.</a:t>
            </a:r>
          </a:p>
        </p:txBody>
      </p:sp>
      <p:sp>
        <p:nvSpPr>
          <p:cNvPr id="7" name="Большие пулы: один судья, без независимой ручной">
            <a:extLst xmlns:a="http://schemas.openxmlformats.org/drawingml/2006/main">
              <a:ext uri="{FF2B5EF4-FFF2-40B4-BE49-F238E27FC236}">
                <a16:creationId xmlns:a16="http://schemas.microsoft.com/office/drawing/2014/main" id="{D23353FC-8C22-457C-A88D-23DDFD95D67E}"/>
              </a:ext>
            </a:extLst>
          </p:cNvPr>
          <p:cNvSpPr>
            <a:spLocks xmlns:a="http://schemas.openxmlformats.org/drawingml/2006/main" noGrp="1"/>
          </p:cNvSpPr>
          <p:nvPr/>
        </p:nvSpPr>
        <p:spPr>
          <a:xfrm xmlns:a="http://schemas.openxmlformats.org/drawingml/2006/main">
            <a:off x="609600" y="5467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Большие пулы: один судья, без независимой ручной проверки.</a:t>
            </a:r>
          </a:p>
        </p:txBody>
      </p:sp>
      <p:sp>
        <p:nvSpPr>
          <p:cNvPr id="8" name="Перенос за пределы выбранных пулов английского M">
            <a:extLst xmlns:a="http://schemas.openxmlformats.org/drawingml/2006/main">
              <a:ext uri="{FF2B5EF4-FFF2-40B4-BE49-F238E27FC236}">
                <a16:creationId xmlns:a16="http://schemas.microsoft.com/office/drawing/2014/main" id="{1C7B951B-135F-4F65-9E3D-38B3C826B54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Перенос за пределы выбранных пулов английского MS MARCO не проверен.</a:t>
            </a:r>
          </a:p>
        </p:txBody>
      </p:sp>
    </p:spTree>
    <p:extLst>
      <p:ext uri="{BB962C8B-B14F-4D97-AF65-F5344CB8AC3E}">
        <p14:creationId xmlns:p14="http://schemas.microsoft.com/office/powerpoint/2010/main" val="1393510011"/>
      </p:ext>
    </p:extLst>
  </p:cSld>
</p:sld>
</file>

<file path=ppt/slides/slide15.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Полнота разметки влияет на оценку поиска">
            <a:extLst xmlns:a="http://schemas.openxmlformats.org/drawingml/2006/main">
              <a:ext uri="{FF2B5EF4-FFF2-40B4-BE49-F238E27FC236}">
                <a16:creationId xmlns:a16="http://schemas.microsoft.com/office/drawing/2014/main" id="{5E6830FA-6B24-4FC5-B4B8-1E33AC381AA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3225" b="1">
                <ns0:solidFill>
                  <ns0:srgbClr val="FFFFFF"/>
                </ns0:solidFill>
                <ns0:latin typeface="Arial"/>
                <ns0:ea typeface="Arial"/>
                <ns0:cs typeface="Arial"/>
              </ns0:defRPr>
            </ns0:pPr>
            <ns0:r>
              <ns0:rPr sz="3225" b="1">
                <ns0:solidFill>
                  <ns0:srgbClr val="FFFFFF"/>
                </ns0:solidFill>
                <ns0:latin typeface="Arial"/>
                <ns0:ea typeface="Arial"/>
                <ns0:cs typeface="Arial"/>
              </ns0:rPr>
              <ns0:t>Полнота разметки влияет на сравнение систем</ns0:t>
            </ns0:r>
          </ns0:p>
        </p:txBody>
      </p:sp>
      <p:sp>
        <p:nvSpPr>
          <p:cNvPr id="2" name="15">
            <a:extLst xmlns:a="http://schemas.openxmlformats.org/drawingml/2006/main">
              <a:ext uri="{FF2B5EF4-FFF2-40B4-BE49-F238E27FC236}">
                <a16:creationId xmlns:a16="http://schemas.microsoft.com/office/drawing/2014/main" id="{0EA51AD1-5EF4-4C59-8B10-AFC1683CD85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18</a:t>
            </a:r>
          </a:p>
        </p:txBody>
      </p:sp>
      <p:sp>
        <p:nvSpPr>
          <p:cNvPr id="3" name="Оценки человека">
            <a:extLst xmlns:a="http://schemas.openxmlformats.org/drawingml/2006/main">
              <a:ext uri="{FF2B5EF4-FFF2-40B4-BE49-F238E27FC236}">
                <a16:creationId xmlns:a16="http://schemas.microsoft.com/office/drawing/2014/main" id="{824567DE-3DC6-409F-91CE-43F54635805E}"/>
              </a:ext>
            </a:extLst>
          </p:cNvPr>
          <p:cNvSpPr>
            <a:spLocks xmlns:a="http://schemas.openxmlformats.org/drawingml/2006/main" noGrp="1"/>
          </p:cNvSpPr>
          <p:nvPr/>
        </p:nvSpPr>
        <p:spPr>
          <a:xfrm xmlns:a="http://schemas.openxmlformats.org/drawingml/2006/main">
            <a:off x="609600" y="16954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1:p xmlns:ns1="http://schemas.openxmlformats.org/drawingml/2006/main">
            <ns1:pPr algn="l">
              <ns1:defRPr sz="2250" b="1">
                <ns1:solidFill>
                  <ns1:srgbClr val="8ACEC4"/>
                </ns1:solidFill>
                <ns1:latin typeface="Arial"/>
                <ns1:ea typeface="Arial"/>
                <ns1:cs typeface="Arial"/>
              </ns1:defRPr>
            </ns1:pPr>
            <ns1:r>
              <ns1:rPr sz="2250" b="1">
                <ns1:solidFill>
                  <ns1:srgbClr val="8ACEC4"/>
                </ns1:solidFill>
                <ns1:latin typeface="Arial"/>
                <ns1:ea typeface="Arial"/>
                <ns1:cs typeface="Arial"/>
              </ns1:rPr>
              <ns1:t>Ручная доразметка меняет оценку качества</ns1:t>
            </ns1:r>
          </ns1:p>
        </p:txBody>
      </p:sp>
      <p:sp>
        <p:nvSpPr>
          <p:cNvPr id="4" name="E5 NDCG@10: с 0,488 до 0,879">
            <a:extLst xmlns:a="http://schemas.openxmlformats.org/drawingml/2006/main">
              <a:ext uri="{FF2B5EF4-FFF2-40B4-BE49-F238E27FC236}">
                <a16:creationId xmlns:a16="http://schemas.microsoft.com/office/drawing/2014/main" id="{1318D601-01BA-4BC1-925B-84BB893A453B}"/>
              </a:ext>
            </a:extLst>
          </p:cNvPr>
          <p:cNvSpPr>
            <a:spLocks xmlns:a="http://schemas.openxmlformats.org/drawingml/2006/main" noGrp="1"/>
          </p:cNvSpPr>
          <p:nvPr/>
        </p:nvSpPr>
        <p:spPr>
          <a:xfrm xmlns:a="http://schemas.openxmlformats.org/drawingml/2006/main">
            <a:off x="609600" y="2238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с 0,488 до 0,879</a:t>
            </a:r>
          </a:p>
        </p:txBody>
      </p:sp>
      <p:sp>
        <p:nvSpPr>
          <p:cNvPr id="5" name="Та же выдача, более полная разметка">
            <a:extLst xmlns:a="http://schemas.openxmlformats.org/drawingml/2006/main">
              <a:ext uri="{FF2B5EF4-FFF2-40B4-BE49-F238E27FC236}">
                <a16:creationId xmlns:a16="http://schemas.microsoft.com/office/drawing/2014/main" id="{F253C9CE-8A3A-4965-A712-FA468C91C31B}"/>
              </a:ext>
            </a:extLst>
          </p:cNvPr>
          <p:cNvSpPr>
            <a:spLocks xmlns:a="http://schemas.openxmlformats.org/drawingml/2006/main" noGrp="1"/>
          </p:cNvSpPr>
          <p:nvPr/>
        </p:nvSpPr>
        <p:spPr>
          <a:xfrm xmlns:a="http://schemas.openxmlformats.org/drawingml/2006/main">
            <a:off x="609600" y="304800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Та же выдача, более полная разметка</a:t>
            </a:r>
          </a:p>
        </p:txBody>
      </p:sp>
      <p:sp>
        <p:nvSpPr>
          <p:cNvPr id="6" name="">
            <a:extLst xmlns:a="http://schemas.openxmlformats.org/drawingml/2006/main">
              <a:ext uri="{FF2B5EF4-FFF2-40B4-BE49-F238E27FC236}">
                <a16:creationId xmlns:a16="http://schemas.microsoft.com/office/drawing/2014/main" id="{89E06602-392C-4B92-9D8A-29BBBEC2FC4A}"/>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Фиксированные выдачи, один судья">
            <a:extLst xmlns:a="http://schemas.openxmlformats.org/drawingml/2006/main">
              <a:ext uri="{FF2B5EF4-FFF2-40B4-BE49-F238E27FC236}">
                <a16:creationId xmlns:a16="http://schemas.microsoft.com/office/drawing/2014/main" id="{3F7ABDF7-8C0D-47F5-B05A-ACE52D31CF60}"/>
              </a:ext>
            </a:extLst>
          </p:cNvPr>
          <p:cNvSpPr>
            <a:spLocks xmlns:a="http://schemas.openxmlformats.org/drawingml/2006/main" noGrp="1"/>
          </p:cNvSpPr>
          <p:nvPr/>
        </p:nvSpPr>
        <p:spPr>
          <a:xfrm xmlns:a="http://schemas.openxmlformats.org/drawingml/2006/main">
            <a:off x="609600" y="3962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algn="l">
              <ns2:defRPr sz="2250" b="1">
                <ns2:solidFill>
                  <ns2:srgbClr val="8ACEC4"/>
                </ns2:solidFill>
                <ns2:latin typeface="Arial"/>
                <ns2:ea typeface="Arial"/>
                <ns2:cs typeface="Arial"/>
              </ns2:defRPr>
            </ns2:pPr>
            <ns2:r>
              <ns2:rPr sz="2250" b="1">
                <ns2:solidFill>
                  <ns2:srgbClr val="8ACEC4"/>
                </ns2:solidFill>
                <ns2:latin typeface="Arial"/>
                <ns2:ea typeface="Arial"/>
                <ns2:cs typeface="Arial"/>
              </ns2:rPr>
              <ns2:t>При фиксированной выдаче и одном судье</ns2:t>
            </ns2:r>
          </ns2:p>
        </p:txBody>
      </p:sp>
      <p:sp>
        <p:nvSpPr>
          <p:cNvPr id="8" name="Расширение пула может изменить порядок RRF и E5">
            <a:extLst xmlns:a="http://schemas.openxmlformats.org/drawingml/2006/main">
              <a:ext uri="{FF2B5EF4-FFF2-40B4-BE49-F238E27FC236}">
                <a16:creationId xmlns:a16="http://schemas.microsoft.com/office/drawing/2014/main" id="{CE0F19DB-D496-41FD-BDFF-9FE31E3C40D4}"/>
              </a:ext>
            </a:extLst>
          </p:cNvPr>
          <p:cNvSpPr>
            <a:spLocks xmlns:a="http://schemas.openxmlformats.org/drawingml/2006/main" noGrp="1"/>
          </p:cNvSpPr>
          <p:nvPr/>
        </p:nvSpPr>
        <p:spPr>
          <a:xfrm xmlns:a="http://schemas.openxmlformats.org/drawingml/2006/main">
            <a:off x="609600" y="44958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3:p xmlns:ns3="http://schemas.openxmlformats.org/drawingml/2006/main">
            <ns3:pPr algn="l">
              <ns3:defRPr sz="2400" b="0">
                <ns3:solidFill>
                  <ns3:srgbClr val="FFFFFF"/>
                </ns3:solidFill>
                <ns3:latin typeface="Arial"/>
                <ns3:ea typeface="Arial"/>
                <ns3:cs typeface="Arial"/>
              </ns3:defRPr>
            </ns3:pPr>
            <ns3:r>
              <ns3:rPr sz="2400" b="0">
                <ns3:solidFill>
                  <ns3:srgbClr val="FFFFFF"/>
                </ns3:solidFill>
                <ns3:latin typeface="Arial"/>
                <ns3:ea typeface="Arial"/>
                <ns3:cs typeface="Arial"/>
              </ns3:rPr>
              <ns3:t>Вывод о лучшей системе зависит от охвата разметки</ns3:t>
            </ns3:r>
          </ns3:p>
        </p:txBody>
      </p:sp>
      <p:sp>
        <p:nvSpPr>
          <p:cNvPr id="9" name="">
            <a:extLst xmlns:a="http://schemas.openxmlformats.org/drawingml/2006/main">
              <a:ext uri="{FF2B5EF4-FFF2-40B4-BE49-F238E27FC236}">
                <a16:creationId xmlns:a16="http://schemas.microsoft.com/office/drawing/2014/main" id="{FFBB8109-9405-409B-B231-D129FD718FE5}"/>
              </a:ext>
            </a:extLst>
          </p:cNvPr>
          <p:cNvSpPr>
            <a:spLocks xmlns:a="http://schemas.openxmlformats.org/drawingml/2006/main" noGrp="1"/>
          </p:cNvSpPr>
          <p:nvPr/>
        </p:nvSpPr>
        <p:spPr>
          <a:xfrm xmlns:a="http://schemas.openxmlformats.org/drawingml/2006/main">
            <a:off x="609600" y="525780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10" name="Далее: более сильные судьи с эталонным ответом и">
            <a:extLst xmlns:a="http://schemas.openxmlformats.org/drawingml/2006/main">
              <a:ext uri="{FF2B5EF4-FFF2-40B4-BE49-F238E27FC236}">
                <a16:creationId xmlns:a16="http://schemas.microsoft.com/office/drawing/2014/main" id="{35AA4F24-D638-4451-9E6A-83C26E37B82F}"/>
              </a:ext>
            </a:extLst>
          </p:cNvPr>
          <p:cNvSpPr>
            <a:spLocks xmlns:a="http://schemas.openxmlformats.org/drawingml/2006/main" noGrp="1"/>
          </p:cNvSpPr>
          <p:nvPr/>
        </p:nvSpPr>
        <p:spPr>
          <a:xfrm xmlns:a="http://schemas.openxmlformats.org/drawingml/2006/main">
            <a:off x="609600" y="545782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4:p xmlns:ns4="http://schemas.openxmlformats.org/drawingml/2006/main">
            <ns4:pPr algn="l">
              <ns4:defRPr sz="1950" b="0">
                <ns4:solidFill>
                  <ns4:srgbClr val="C9DDDA"/>
                </ns4:solidFill>
                <ns4:latin typeface="Arial"/>
                <ns4:ea typeface="Arial"/>
                <ns4:cs typeface="Arial"/>
              </ns4:defRPr>
            </ns4:pPr>
            <ns4:r>
              <ns4:rPr sz="1950" b="0">
                <ns4:solidFill>
                  <ns4:srgbClr val="C9DDDA"/>
                </ns4:solidFill>
                <ns4:latin typeface="Arial"/>
                <ns4:ea typeface="Arial"/>
                <ns4:cs typeface="Arial"/>
              </ns4:rPr>
              <ns4:t>Направления дальнейшего исследования</ns4:t>
            </ns4:r>
          </ns4:p>
          <ns5:p xmlns:ns5="http://schemas.openxmlformats.org/drawingml/2006/main">
            <ns5:pPr algn="l">
              <ns5:defRPr sz="1950" b="0">
                <ns5:solidFill>
                  <ns5:srgbClr val="C9DDDA"/>
                </ns5:solidFill>
                <ns5:latin typeface="Arial"/>
                <ns5:ea typeface="Arial"/>
                <ns5:cs typeface="Arial"/>
              </ns5:defRPr>
            </ns5:pPr>
            <ns5:r>
              <ns5:rPr sz="1950" b="0">
                <ns5:solidFill>
                  <ns5:srgbClr val="C9DDDA"/>
                </ns5:solidFill>
                <ns5:latin typeface="Arial"/>
                <ns5:ea typeface="Arial"/>
                <ns5:cs typeface="Arial"/>
              </ns5:rPr>
              <ns5:t>Улучшить судью и проверить доразметку по оценкам человека</ns5:t>
            </ns5:r>
          </ns5:p>
        </p:txBody>
      </p:sp>
      <p:sp>
        <p:nvSpPr>
          <p:cNvPr id="11" name="Результаты для выбранных пулов английского MS MA">
            <a:extLst xmlns:a="http://schemas.openxmlformats.org/drawingml/2006/main">
              <a:ext uri="{FF2B5EF4-FFF2-40B4-BE49-F238E27FC236}">
                <a16:creationId xmlns:a16="http://schemas.microsoft.com/office/drawing/2014/main" id="{C2512A4B-93FA-4003-AF07-347F969F8FC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Результаты для выбранных пулов английского MS MARCO.</a:t>
            </a:r>
          </a:p>
        </p:txBody>
      </p:sp>
    </p:spTree>
    <p:extLst>
      <p:ext uri="{BB962C8B-B14F-4D97-AF65-F5344CB8AC3E}">
        <p14:creationId xmlns:p14="http://schemas.microsoft.com/office/powerpoint/2010/main" val="62237785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и эффект доразметки">
            <a:extLst xmlns:a="http://schemas.openxmlformats.org/drawingml/2006/main">
              <a:ext uri="{FF2B5EF4-FFF2-40B4-BE49-F238E27FC236}">
                <a16:creationId xmlns:a16="http://schemas.microsoft.com/office/drawing/2014/main" id="{64FE41A2-C4AF-474F-9FCD-6E005D0E7492}"/>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NDCG@10 и эффект доразметки</a:t>
            </a:r>
          </a:p>
        </p:txBody>
      </p:sp>
      <p:sp>
        <p:nvSpPr>
          <p:cNvPr id="2" name="РЕЗЕРВ 1">
            <a:extLst xmlns:a="http://schemas.openxmlformats.org/drawingml/2006/main">
              <a:ext uri="{FF2B5EF4-FFF2-40B4-BE49-F238E27FC236}">
                <a16:creationId xmlns:a16="http://schemas.microsoft.com/office/drawing/2014/main" id="{F2A4A689-EBF7-4448-B9DA-188EB09E151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2</a:t>
            </a:r>
          </a:p>
        </p:txBody>
      </p:sp>
      <p:sp>
        <p:nvSpPr>
          <p:cNvPr id="3" name="NDCG@10 = DCG@10 / идеальный DCG@10">
            <a:extLst xmlns:a="http://schemas.openxmlformats.org/drawingml/2006/main">
              <a:ext uri="{FF2B5EF4-FFF2-40B4-BE49-F238E27FC236}">
                <a16:creationId xmlns:a16="http://schemas.microsoft.com/office/drawing/2014/main" id="{3BF60AEC-1E9C-4DBE-8080-352F9360DD8D}"/>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идеальный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После − до</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95%-ный парный ДИ</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 000 парных бутстрэп-выборок по запросам. Для в">
            <a:extLst xmlns:a="http://schemas.openxmlformats.org/drawingml/2006/main">
              <a:ext uri="{FF2B5EF4-FFF2-40B4-BE49-F238E27FC236}">
                <a16:creationId xmlns:a16="http://schemas.microsoft.com/office/drawing/2014/main" id="{76F32C76-7D7A-4648-9125-EF0A8A2087D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5 000 парных бутстрэп-выборок по запросам. Для всех четырёх эффектов p &lt; 0,001.</a:t>
            </a:r>
          </a:p>
        </p:txBody>
      </p:sp>
    </p:spTree>
    <p:extLst>
      <p:ext uri="{BB962C8B-B14F-4D97-AF65-F5344CB8AC3E}">
        <p14:creationId xmlns:p14="http://schemas.microsoft.com/office/powerpoint/2010/main" val="19341501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Проверка судьи и ошибки">
            <a:extLst xmlns:a="http://schemas.openxmlformats.org/drawingml/2006/main">
              <a:ext uri="{FF2B5EF4-FFF2-40B4-BE49-F238E27FC236}">
                <a16:creationId xmlns:a16="http://schemas.microsoft.com/office/drawing/2014/main" id="{A3FB63F2-E26E-413E-8184-A81F9BEEC75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Проверка судьи и ошибки</a:t>
            </a:r>
          </a:p>
        </p:txBody>
      </p:sp>
      <p:sp>
        <p:nvSpPr>
          <p:cNvPr id="2" name="РЕЗЕРВ 2">
            <a:extLst xmlns:a="http://schemas.openxmlformats.org/drawingml/2006/main">
              <a:ext uri="{FF2B5EF4-FFF2-40B4-BE49-F238E27FC236}">
                <a16:creationId xmlns:a16="http://schemas.microsoft.com/office/drawing/2014/main" id="{6B14EBB8-D421-4371-8104-CD6B661AA88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3</a:t>
            </a:r>
          </a:p>
        </p:txBody>
      </p:sp>
      <p:sp>
        <p:nvSpPr>
          <p:cNvPr id="3" name="Обучение">
            <a:extLst xmlns:a="http://schemas.openxmlformats.org/drawingml/2006/main">
              <a:ext uri="{FF2B5EF4-FFF2-40B4-BE49-F238E27FC236}">
                <a16:creationId xmlns:a16="http://schemas.microsoft.com/office/drawing/2014/main" id="{B0074F6B-BF66-498C-B1D7-2C91D75F8F28}"/>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Обучение</a:t>
            </a:r>
          </a:p>
        </p:txBody>
      </p:sp>
      <p:sp>
        <p:nvSpPr>
          <p:cNvPr id="4" name="825">
            <a:extLst xmlns:a="http://schemas.openxmlformats.org/drawingml/2006/main">
              <a:ext uri="{FF2B5EF4-FFF2-40B4-BE49-F238E27FC236}">
                <a16:creationId xmlns:a16="http://schemas.microsoft.com/office/drawing/2014/main" id="{8E61C322-1DEF-41B8-9C56-18BB35F7EED8}"/>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Валидация">
            <a:extLst xmlns:a="http://schemas.openxmlformats.org/drawingml/2006/main">
              <a:ext uri="{FF2B5EF4-FFF2-40B4-BE49-F238E27FC236}">
                <a16:creationId xmlns:a16="http://schemas.microsoft.com/office/drawing/2014/main" id="{ECB98A03-7A65-4522-BDE0-ED9F853CAA94}"/>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Валидация</a:t>
            </a:r>
          </a:p>
        </p:txBody>
      </p:sp>
      <p:sp>
        <p:nvSpPr>
          <p:cNvPr id="6" name="177">
            <a:extLst xmlns:a="http://schemas.openxmlformats.org/drawingml/2006/main">
              <a:ext uri="{FF2B5EF4-FFF2-40B4-BE49-F238E27FC236}">
                <a16:creationId xmlns:a16="http://schemas.microsoft.com/office/drawing/2014/main" id="{5356EB37-426F-4574-B034-2B55A21C3FBA}"/>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Тест">
            <a:extLst xmlns:a="http://schemas.openxmlformats.org/drawingml/2006/main">
              <a:ext uri="{FF2B5EF4-FFF2-40B4-BE49-F238E27FC236}">
                <a16:creationId xmlns:a16="http://schemas.microsoft.com/office/drawing/2014/main" id="{209C21D2-231E-447C-80B4-DFFC8C8951CB}"/>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a:t>
            </a:r>
          </a:p>
        </p:txBody>
      </p:sp>
      <p:sp>
        <p:nvSpPr>
          <p:cNvPr id="8" name="177">
            <a:extLst xmlns:a="http://schemas.openxmlformats.org/drawingml/2006/main">
              <a:ext uri="{FF2B5EF4-FFF2-40B4-BE49-F238E27FC236}">
                <a16:creationId xmlns:a16="http://schemas.microsoft.com/office/drawing/2014/main" id="{930BE2EA-BC06-4989-8BAF-11F1871EDEE4}"/>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Метка в тесте</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нет</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да</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Отрицательная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1 300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Положительная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2 882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Точность 0,851">
            <a:extLst xmlns:a="http://schemas.openxmlformats.org/drawingml/2006/main">
              <a:ext uri="{FF2B5EF4-FFF2-40B4-BE49-F238E27FC236}">
                <a16:creationId xmlns:a16="http://schemas.microsoft.com/office/drawing/2014/main" id="{51871FC4-4325-4F0A-BB63-2F4555F3CFE6}"/>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Точность 0,851</a:t>
            </a:r>
          </a:p>
        </p:txBody>
      </p:sp>
      <p:sp>
        <p:nvSpPr>
          <p:cNvPr id="11" name="Полнота 0,902">
            <a:extLst xmlns:a="http://schemas.openxmlformats.org/drawingml/2006/main">
              <a:ext uri="{FF2B5EF4-FFF2-40B4-BE49-F238E27FC236}">
                <a16:creationId xmlns:a16="http://schemas.microsoft.com/office/drawing/2014/main" id="{CBCF0C21-0199-4E9E-9FD9-4ABD228C9B61}"/>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Полнота 0,902</a:t>
            </a:r>
          </a:p>
        </p:txBody>
      </p:sp>
      <p:sp>
        <p:nvSpPr>
          <p:cNvPr id="12" name="F1 0,875">
            <a:extLst xmlns:a="http://schemas.openxmlformats.org/drawingml/2006/main">
              <a:ext uri="{FF2B5EF4-FFF2-40B4-BE49-F238E27FC236}">
                <a16:creationId xmlns:a16="http://schemas.microsoft.com/office/drawing/2014/main" id="{3EEF060C-A63C-407F-BEDE-CC7248B1450A}"/>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 002 пары: 6 неясных меток кодируются нулём, у ">
            <a:extLst xmlns:a="http://schemas.openxmlformats.org/drawingml/2006/main">
              <a:ext uri="{FF2B5EF4-FFF2-40B4-BE49-F238E27FC236}">
                <a16:creationId xmlns:a16="http://schemas.microsoft.com/office/drawing/2014/main" id="{D147A019-82BB-4C5C-AA20-6594216524C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5 002 пары: 6 неясных меток кодируются нулём, у 1 записи пустой текст.</a:t>
            </a:r>
          </a:p>
        </p:txBody>
      </p:sp>
    </p:spTree>
    <p:extLst>
      <p:ext uri="{BB962C8B-B14F-4D97-AF65-F5344CB8AC3E}">
        <p14:creationId xmlns:p14="http://schemas.microsoft.com/office/powerpoint/2010/main" val="128268983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Результаты при разной глубине пула">
            <a:extLst xmlns:a="http://schemas.openxmlformats.org/drawingml/2006/main">
              <a:ext uri="{FF2B5EF4-FFF2-40B4-BE49-F238E27FC236}">
                <a16:creationId xmlns:a16="http://schemas.microsoft.com/office/drawing/2014/main" id="{9878F464-4720-471F-A708-DF0DEB2B4613}"/>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Результаты при разной глубине пула</a:t>
            </a:r>
          </a:p>
        </p:txBody>
      </p:sp>
      <p:sp>
        <p:nvSpPr>
          <p:cNvPr id="2" name="РЕЗЕРВ 3">
            <a:extLst xmlns:a="http://schemas.openxmlformats.org/drawingml/2006/main">
              <a:ext uri="{FF2B5EF4-FFF2-40B4-BE49-F238E27FC236}">
                <a16:creationId xmlns:a16="http://schemas.microsoft.com/office/drawing/2014/main" id="{6922032D-AECA-4ADA-9F40-A46B079DE07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4</a:t>
            </a:r>
          </a:p>
        </p:txBody>
      </p:sp>
      <p:graphicFrame>
        <p:nvGraphicFramePr>
          <p:cNvPr id="7" name=""/>
          <p:cNvGraphicFramePr/>
          <p:nvPr/>
        </p:nvGraphicFramePr>
        <p:xfrm>
          <a:off xmlns:a="http://schemas.openxmlformats.org/drawingml/2006/main" x="609600" y="1857375"/>
          <a:ext xmlns:a="http://schemas.openxmlformats.org/drawingml/2006/main" cx="10972800" cy="38576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9525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Кандидатов</a:t>
                      </a:r>
                    </a:p>
                    <a:p>
                      <a:r>
                        <a:rPr sz="1650" b="1">
                          <a:solidFill>
                            <a:srgbClr val="526970"/>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Релевантных</a:t>
                      </a:r>
                    </a:p>
                    <a:p>
                      <a:r>
                        <a:rPr sz="1650" b="1">
                          <a:solidFill>
                            <a:srgbClr val="526970"/>
                          </a:solidFill>
                          <a:latin typeface="Arial"/>
                          <a:ea typeface="Arial"/>
                          <a:cs typeface="Arial"/>
                        </a:rPr>
                        <a:t>по судье</a:t>
                      </a:r>
                    </a:p>
                    <a:p>
                      <a:r>
                        <a:rPr sz="1650" b="1">
                          <a:solidFill>
                            <a:srgbClr val="526970"/>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Псевдометки одного судьи. В каждом среднем учтен">
            <a:extLst xmlns:a="http://schemas.openxmlformats.org/drawingml/2006/main">
              <a:ext uri="{FF2B5EF4-FFF2-40B4-BE49-F238E27FC236}">
                <a16:creationId xmlns:a16="http://schemas.microsoft.com/office/drawing/2014/main" id="{824170C2-6150-4E0A-BEA0-1D0CAFC232C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одного судьи. В каждом среднем учтены все 101 093 запроса.</a:t>
            </a:r>
          </a:p>
        </p:txBody>
      </p:sp>
    </p:spTree>
    <p:extLst>
      <p:ext uri="{BB962C8B-B14F-4D97-AF65-F5344CB8AC3E}">
        <p14:creationId xmlns:p14="http://schemas.microsoft.com/office/powerpoint/2010/main" val="162162388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Чувствительность к исключению запросов">
            <a:extLst xmlns:a="http://schemas.openxmlformats.org/drawingml/2006/main">
              <a:ext uri="{FF2B5EF4-FFF2-40B4-BE49-F238E27FC236}">
                <a16:creationId xmlns:a16="http://schemas.microsoft.com/office/drawing/2014/main" id="{28FCC684-DC91-4AC3-9B9E-EE8BFD54C1FD}"/>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3225" b="1">
                <ns0:solidFill>
                  <ns0:srgbClr val="182B30"/>
                </ns0:solidFill>
                <ns0:latin typeface="Arial"/>
                <ns0:ea typeface="Arial"/>
                <ns0:cs typeface="Arial"/>
              </ns0:defRPr>
            </ns0:pPr>
            <ns0:r>
              <ns0:rPr sz="3225" b="1">
                <ns0:solidFill>
                  <ns0:srgbClr val="182B30"/>
                </ns0:solidFill>
                <ns0:latin typeface="Arial"/>
                <ns0:ea typeface="Arial"/>
                <ns0:cs typeface="Arial"/>
              </ns0:rPr>
              <ns0:t>Проверка качества ручных данных</ns0:t>
            </ns0:r>
          </ns0:p>
        </p:txBody>
      </p:sp>
      <p:sp>
        <p:nvSpPr>
          <p:cNvPr id="2" name="РЕЗЕРВ 4">
            <a:extLst xmlns:a="http://schemas.openxmlformats.org/drawingml/2006/main">
              <a:ext uri="{FF2B5EF4-FFF2-40B4-BE49-F238E27FC236}">
                <a16:creationId xmlns:a16="http://schemas.microsoft.com/office/drawing/2014/main" id="{40560BA3-F950-4501-86BB-6BBB20FBFCD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5</a:t>
            </a:r>
          </a:p>
        </p:txBody>
      </p:sp>
      <p:sp>
        <p:nvSpPr>
          <p:cNvPr id="3" name="NDCG@10 по ручным оценкам">
            <a:extLst xmlns:a="http://schemas.openxmlformats.org/drawingml/2006/main">
              <a:ext uri="{FF2B5EF4-FFF2-40B4-BE49-F238E27FC236}">
                <a16:creationId xmlns:a16="http://schemas.microsoft.com/office/drawing/2014/main" id="{5BC7CF8A-8A66-4D2B-BB84-31D65FD675C8}"/>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1:p xmlns:ns1="http://schemas.openxmlformats.org/drawingml/2006/main">
            <ns1:pPr algn="l">
              <ns1:defRPr sz="2025" b="0">
                <ns1:solidFill>
                  <ns1:srgbClr val="526970"/>
                </ns1:solidFill>
                <ns1:latin typeface="Arial"/>
                <ns1:ea typeface="Arial"/>
                <ns1:cs typeface="Arial"/>
              </ns1:defRPr>
            </ns1:pPr>
            <ns1:r>
              <ns1:rPr sz="2025" b="0">
                <ns1:solidFill>
                  <ns1:srgbClr val="526970"/>
                </ns1:solidFill>
                <ns1:latin typeface="Arial"/>
                <ns1:ea typeface="Arial"/>
                <ns1:cs typeface="Arial"/>
              </ns1:rPr>
              <ns1:t>Ручная разметка: проверка без 23 запросов</ns1:t>
            </ns1:r>
          </ns1: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Все 1 179 запросов</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1 156 после исключения</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Большой набор без ручных запросов: N = 99 914">
            <a:extLst xmlns:a="http://schemas.openxmlformats.org/drawingml/2006/main">
              <a:ext uri="{FF2B5EF4-FFF2-40B4-BE49-F238E27FC236}">
                <a16:creationId xmlns:a16="http://schemas.microsoft.com/office/drawing/2014/main" id="{58E8A587-3CA8-40FD-AF5E-3E8C552C0C17}"/>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algn="l">
              <ns2:defRPr sz="2250" b="1">
                <ns2:solidFill>
                  <ns2:srgbClr val="007F78"/>
                </ns2:solidFill>
                <ns2:latin typeface="Arial"/>
                <ns2:ea typeface="Arial"/>
                <ns2:cs typeface="Arial"/>
              </ns2:defRPr>
            </ns2:pPr>
            <ns2:r>
              <ns2:rPr sz="2250" b="1">
                <ns2:solidFill>
                  <ns2:srgbClr val="007F78"/>
                </ns2:solidFill>
                <ns2:latin typeface="Arial"/>
                <ns2:ea typeface="Arial"/>
                <ns2:cs typeface="Arial"/>
              </ns2:rPr>
              <ns2:t>29 пар с метками 3, 20 или 22; 5 пар без текста</ns2:t>
            </ns2:r>
          </ns2:p>
        </p:txBody>
      </p:sp>
      <p:sp>
        <p:nvSpPr>
          <p:cNvPr id="6" name="При K = 200: RRF − E5 = +0,00877">
            <a:extLst xmlns:a="http://schemas.openxmlformats.org/drawingml/2006/main">
              <a:ext uri="{FF2B5EF4-FFF2-40B4-BE49-F238E27FC236}">
                <a16:creationId xmlns:a16="http://schemas.microsoft.com/office/drawing/2014/main" id="{9CF32D85-4613-482F-8B19-0DEEF1AB81FA}"/>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3:p xmlns:ns3="http://schemas.openxmlformats.org/drawingml/2006/main">
            <ns3:pPr algn="l">
              <ns3:defRPr sz="2100" b="0">
                <ns3:solidFill>
                  <ns3:srgbClr val="182B30"/>
                </ns3:solidFill>
                <ns3:latin typeface="Arial"/>
                <ns3:ea typeface="Arial"/>
                <ns3:cs typeface="Arial"/>
              </ns3:defRPr>
            </ns3:pPr>
            <ns3:r>
              <ns3:rPr sz="2100" b="0">
                <ns3:solidFill>
                  <ns3:srgbClr val="182B30"/>
                </ns3:solidFill>
                <ns3:latin typeface="Arial"/>
                <ns3:ea typeface="Arial"/>
                <ns3:cs typeface="Arial"/>
              </ns3:rPr>
              <ns3:t>Затронуты 23 запроса. После исключения осталось 1 156.</ns3:t>
            </ns3:r>
          </ns3:p>
        </p:txBody>
      </p:sp>
      <p:sp>
        <p:nvSpPr>
          <p:cNvPr id="7" name="Проверки исключением не заменяют независимую руч">
            <a:extLst xmlns:a="http://schemas.openxmlformats.org/drawingml/2006/main">
              <a:ext uri="{FF2B5EF4-FFF2-40B4-BE49-F238E27FC236}">
                <a16:creationId xmlns:a16="http://schemas.microsoft.com/office/drawing/2014/main" id="{CDBB4910-106E-4D8F-B12B-42CCE277D5C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4:p xmlns:ns4="http://schemas.openxmlformats.org/drawingml/2006/main">
            <ns4:pPr algn="l">
              <ns4:defRPr sz="1575" b="0">
                <ns4:solidFill>
                  <ns4:srgbClr val="526970"/>
                </ns4:solidFill>
                <ns4:latin typeface="Arial"/>
                <ns4:ea typeface="Arial"/>
                <ns4:cs typeface="Arial"/>
              </ns4:defRPr>
            </ns4:pPr>
            <ns4:r>
              <ns4:rPr sz="1575" b="0">
                <ns4:solidFill>
                  <ns4:srgbClr val="526970"/>
                </ns4:solidFill>
                <ns4:latin typeface="Arial"/>
                <ns4:ea typeface="Arial"/>
                <ns4:cs typeface="Arial"/>
              </ns4:rPr>
              <ns4:t>Коды вне шкалы 0/1/2 не считали подтвержденными оценками.</ns4:t>
            </ns4:r>
          </ns4:p>
        </p:txBody>
      </p:sp>
    </p:spTree>
    <p:extLst>
      <p:ext uri="{BB962C8B-B14F-4D97-AF65-F5344CB8AC3E}">
        <p14:creationId xmlns:p14="http://schemas.microsoft.com/office/powerpoint/2010/main" val="68603700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Следующий шаг: судья с эталонным ответом">
            <a:extLst xmlns:a="http://schemas.openxmlformats.org/drawingml/2006/main">
              <a:ext uri="{FF2B5EF4-FFF2-40B4-BE49-F238E27FC236}">
                <a16:creationId xmlns:a16="http://schemas.microsoft.com/office/drawing/2014/main" id="{8BB88DBE-1FA1-4812-A58B-00395E190D0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3225" b="1">
                <ns0:solidFill>
                  <ns0:srgbClr val="182B30"/>
                </ns0:solidFill>
                <ns0:latin typeface="Arial"/>
                <ns0:ea typeface="Arial"/>
                <ns0:cs typeface="Arial"/>
              </ns0:defRPr>
            </ns0:pPr>
            <ns0:r>
              <ns0:rPr sz="3225" b="1">
                <ns0:solidFill>
                  <ns0:srgbClr val="182B30"/>
                </ns0:solidFill>
                <ns0:latin typeface="Arial"/>
                <ns0:ea typeface="Arial"/>
                <ns0:cs typeface="Arial"/>
              </ns0:rPr>
              <ns0:t>Судья с эталонным ответом</ns0:t>
            </ns0:r>
          </ns0:p>
        </p:txBody>
      </p:sp>
      <p:sp>
        <p:nvSpPr>
          <p:cNvPr id="2" name="РЕЗЕРВ 5">
            <a:extLst xmlns:a="http://schemas.openxmlformats.org/drawingml/2006/main">
              <a:ext uri="{FF2B5EF4-FFF2-40B4-BE49-F238E27FC236}">
                <a16:creationId xmlns:a16="http://schemas.microsoft.com/office/drawing/2014/main" id="{1C286169-48C8-4BF7-B807-41C16EF962B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6</a:t>
            </a:r>
          </a:p>
        </p:txBody>
      </p:sp>
      <p:sp>
        <p:nvSpPr>
          <p:cNvPr id="3" name="Предлагаемый вход">
            <a:extLst xmlns:a="http://schemas.openxmlformats.org/drawingml/2006/main">
              <a:ext uri="{FF2B5EF4-FFF2-40B4-BE49-F238E27FC236}">
                <a16:creationId xmlns:a16="http://schemas.microsoft.com/office/drawing/2014/main" id="{E3C7D543-2F1E-43A6-BC62-EBAB217B6D65}"/>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Предлагаемый вход</a:t>
            </a:r>
          </a:p>
        </p:txBody>
      </p:sp>
      <p:sp>
        <p:nvSpPr>
          <p:cNvPr id="4" name="Запрос&#10;Известный релевантный ответ&#10;Фрагмент-кандидат">
            <a:extLst xmlns:a="http://schemas.openxmlformats.org/drawingml/2006/main">
              <a:ext uri="{FF2B5EF4-FFF2-40B4-BE49-F238E27FC236}">
                <a16:creationId xmlns:a16="http://schemas.microsoft.com/office/drawing/2014/main" id="{90118D05-C33A-416F-8B29-520EE248E66E}"/>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Запрос</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Известный релевантный ответ</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Фрагмент-кандидат</a:t>
            </a:r>
          </a:p>
        </p:txBody>
      </p:sp>
      <p:sp>
        <p:nvSpPr>
          <p:cNvPr id="5" name="Кросс-энкодер&#10;с эталонным ответом">
            <a:extLst xmlns:a="http://schemas.openxmlformats.org/drawingml/2006/main">
              <a:ext uri="{FF2B5EF4-FFF2-40B4-BE49-F238E27FC236}">
                <a16:creationId xmlns:a16="http://schemas.microsoft.com/office/drawing/2014/main" id="{30F17433-3B9E-4FAE-A8FA-52B6AA615CC4}"/>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Кросс-энкодер</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с эталонным ответом</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Сравнение более сильных судей&#10;по независимым чел">
            <a:extLst xmlns:a="http://schemas.openxmlformats.org/drawingml/2006/main">
              <a:ext uri="{FF2B5EF4-FFF2-40B4-BE49-F238E27FC236}">
                <a16:creationId xmlns:a16="http://schemas.microsoft.com/office/drawing/2014/main" id="{A105146A-D8EA-4210-99A3-4C12DEC0F712}"/>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Сравнение более сильных судей</a:t>
            </a:r>
          </a:p>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по независимым человеческим оценкам</a:t>
            </a:r>
          </a:p>
        </p:txBody>
      </p:sp>
      <p:sp>
        <p:nvSpPr>
          <p:cNvPr id="8" name="Запланированный эксперимент. Результаты для тако">
            <a:extLst xmlns:a="http://schemas.openxmlformats.org/drawingml/2006/main">
              <a:ext uri="{FF2B5EF4-FFF2-40B4-BE49-F238E27FC236}">
                <a16:creationId xmlns:a16="http://schemas.microsoft.com/office/drawing/2014/main" id="{E0AF8946-8C97-46ED-8055-EDF230D8EF7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Запланированный эксперимент. Результаты для такого судьи пока не получены.</a:t>
            </a:r>
          </a:p>
        </p:txBody>
      </p:sp>
    </p:spTree>
    <p:extLst>
      <p:ext uri="{BB962C8B-B14F-4D97-AF65-F5344CB8AC3E}">
        <p14:creationId xmlns:p14="http://schemas.microsoft.com/office/powerpoint/2010/main" val="151797225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Полная dev-часть для масштабной оценки">
            <a:extLst xmlns:a="http://schemas.openxmlformats.org/drawingml/2006/main">
              <a:ext uri="{FF2B5EF4-FFF2-40B4-BE49-F238E27FC236}">
                <a16:creationId xmlns:a16="http://schemas.microsoft.com/office/drawing/2014/main" id="{2B9A8261-9949-4488-9D48-53C08C66182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Полная dev-часть для масштабной оценки</a:t>
            </a:r>
          </a:p>
        </p:txBody>
      </p:sp>
      <p:sp>
        <p:nvSpPr>
          <p:cNvPr id="2" name="11">
            <a:extLst xmlns:a="http://schemas.openxmlformats.org/drawingml/2006/main">
              <a:ext uri="{FF2B5EF4-FFF2-40B4-BE49-F238E27FC236}">
                <a16:creationId xmlns:a16="http://schemas.microsoft.com/office/drawing/2014/main" id="{15478C3A-5184-42AE-8DFA-18DE758B612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101 093">
            <a:extLst xmlns:a="http://schemas.openxmlformats.org/drawingml/2006/main">
              <a:ext uri="{FF2B5EF4-FFF2-40B4-BE49-F238E27FC236}">
                <a16:creationId xmlns:a16="http://schemas.microsoft.com/office/drawing/2014/main" id="{2077CA7F-B524-4CC1-842C-6AF4B2D39327}"/>
              </a:ext>
            </a:extLst>
          </p:cNvPr>
          <p:cNvSpPr>
            <a:spLocks xmlns:a="http://schemas.openxmlformats.org/drawingml/2006/main" noGrp="1"/>
          </p:cNvSpPr>
          <p:nvPr/>
        </p:nvSpPr>
        <p:spPr>
          <a:xfrm xmlns:a="http://schemas.openxmlformats.org/drawingml/2006/main">
            <a:off x="609600" y="1695450"/>
            <a:ext cx="590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600" b="1">
                <a:solidFill>
                  <a:srgbClr val="007F78"/>
                </a:solidFill>
                <a:latin typeface="Arial"/>
                <a:ea typeface="Arial"/>
                <a:cs typeface="Arial"/>
              </a:defRPr>
            </a:defPPr>
          </a:lstStyle>
          <a:p xmlns:a="http://schemas.openxmlformats.org/drawingml/2006/main">
            <a:pPr algn="l">
              <a:defRPr sz="6600" b="1">
                <a:solidFill>
                  <a:srgbClr val="007F78"/>
                </a:solidFill>
                <a:latin typeface="Arial"/>
                <a:ea typeface="Arial"/>
                <a:cs typeface="Arial"/>
              </a:defRPr>
            </a:pPr>
            <a:r>
              <a:rPr sz="6600" b="1">
                <a:solidFill>
                  <a:srgbClr val="007F78"/>
                </a:solidFill>
                <a:latin typeface="Arial"/>
                <a:ea typeface="Arial"/>
                <a:cs typeface="Arial"/>
              </a:rPr>
              <a:t>101 093</a:t>
            </a:r>
          </a:p>
        </p:txBody>
      </p:sp>
      <p:sp>
        <p:nvSpPr>
          <p:cNvPr id="4" name="запроса в queries.dev.tsv">
            <a:extLst xmlns:a="http://schemas.openxmlformats.org/drawingml/2006/main">
              <a:ext uri="{FF2B5EF4-FFF2-40B4-BE49-F238E27FC236}">
                <a16:creationId xmlns:a16="http://schemas.microsoft.com/office/drawing/2014/main" id="{69389898-20D0-4BEF-9DC9-B302A76FDE4C}"/>
              </a:ext>
            </a:extLst>
          </p:cNvPr>
          <p:cNvSpPr>
            <a:spLocks xmlns:a="http://schemas.openxmlformats.org/drawingml/2006/main" noGrp="1"/>
          </p:cNvSpPr>
          <p:nvPr/>
        </p:nvSpPr>
        <p:spPr>
          <a:xfrm xmlns:a="http://schemas.openxmlformats.org/drawingml/2006/main">
            <a:off x="609600" y="2857500"/>
            <a:ext cx="723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82B30"/>
                </a:solidFill>
                <a:latin typeface="Arial"/>
                <a:ea typeface="Arial"/>
                <a:cs typeface="Arial"/>
              </a:defRPr>
            </a:defPPr>
          </a:lstStyle>
          <ns0:p xmlns:ns0="http://schemas.openxmlformats.org/drawingml/2006/main">
            <ns0:pPr algn="l">
              <ns0:defRPr sz="2625" b="1">
                <ns0:solidFill>
                  <ns0:srgbClr val="182B30"/>
                </ns0:solidFill>
                <ns0:latin typeface="Arial"/>
                <ns0:ea typeface="Arial"/>
                <ns0:cs typeface="Arial"/>
              </ns0:defRPr>
            </ns0:pPr>
            <ns0:r>
              <ns0:rPr sz="2625" b="1">
                <ns0:solidFill>
                  <ns0:srgbClr val="182B30"/>
                </ns0:solidFill>
                <ns0:latin typeface="Arial"/>
                <ns0:ea typeface="Arial"/>
                <ns0:cs typeface="Arial"/>
              </ns0:rPr>
              <ns0:t>запроса в полной dev-части</ns0:t>
            </ns0:r>
          </ns0:p>
        </p:txBody>
      </p:sp>
      <p:sp>
        <p:nvSpPr>
          <p:cNvPr id="5" name="MS MARCO Passage Ranking v1">
            <a:extLst xmlns:a="http://schemas.openxmlformats.org/drawingml/2006/main">
              <a:ext uri="{FF2B5EF4-FFF2-40B4-BE49-F238E27FC236}">
                <a16:creationId xmlns:a16="http://schemas.microsoft.com/office/drawing/2014/main" id="{51CC0684-1327-4BC3-A025-1397E4CE659B}"/>
              </a:ext>
            </a:extLst>
          </p:cNvPr>
          <p:cNvSpPr>
            <a:spLocks xmlns:a="http://schemas.openxmlformats.org/drawingml/2006/main" noGrp="1"/>
          </p:cNvSpPr>
          <p:nvPr/>
        </p:nvSpPr>
        <p:spPr>
          <a:xfrm xmlns:a="http://schemas.openxmlformats.org/drawingml/2006/main">
            <a:off x="609600" y="345757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970"/>
                </a:solidFill>
                <a:latin typeface="Arial"/>
                <a:ea typeface="Arial"/>
                <a:cs typeface="Arial"/>
              </a:defRPr>
            </a:defPPr>
          </a:lstStyle>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MS MARCO Passage Ranking v1</a:t>
            </a:r>
          </a:p>
        </p:txBody>
      </p:sp>
      <p:sp>
        <p:nvSpPr>
          <p:cNvPr id="6" name="">
            <a:extLst xmlns:a="http://schemas.openxmlformats.org/drawingml/2006/main">
              <a:ext uri="{FF2B5EF4-FFF2-40B4-BE49-F238E27FC236}">
                <a16:creationId xmlns:a16="http://schemas.microsoft.com/office/drawing/2014/main" id="{700D9565-FB0D-48DF-A6A6-5CB34B98F20D}"/>
              </a:ext>
            </a:extLst>
          </p:cNvPr>
          <p:cNvSpPr>
            <a:spLocks xmlns:a="http://schemas.openxmlformats.org/drawingml/2006/main" noGrp="1"/>
          </p:cNvSpPr>
          <p:nvPr/>
        </p:nvSpPr>
        <p:spPr>
          <a:xfrm xmlns:a="http://schemas.openxmlformats.org/drawingml/2006/main">
            <a:off x="609600" y="4114800"/>
            <a:ext cx="10972800" cy="0"/>
          </a:xfrm>
          <a:prstGeom xmlns:a="http://schemas.openxmlformats.org/drawingml/2006/main" prst="line">
            <a:avLst/>
          </a:prstGeom>
          <a:noFill xmlns:a="http://schemas.openxmlformats.org/drawingml/2006/main"/>
          <a:ln xmlns:a="http://schemas.openxmlformats.org/drawingml/2006/main" w="12383">
            <a:solidFill>
              <a:srgbClr val="D4E1E0"/>
            </a:solidFill>
          </a:ln>
        </p:spPr>
      </p:sp>
      <p:sp>
        <p:nvSpPr>
          <p:cNvPr id="7" name="Для этих запросов подготовили поисковые выдачи.&#10;После обучения судья о">
            <a:extLst xmlns:a="http://schemas.openxmlformats.org/drawingml/2006/main">
              <a:ext uri="{FF2B5EF4-FFF2-40B4-BE49-F238E27FC236}">
                <a16:creationId xmlns:a16="http://schemas.microsoft.com/office/drawing/2014/main" id="{6A8F38E8-5CB3-4209-9F32-3162AF293AF6}"/>
              </a:ext>
            </a:extLst>
          </p:cNvPr>
          <p:cNvSpPr>
            <a:spLocks xmlns:a="http://schemas.openxmlformats.org/drawingml/2006/main" noGrp="1"/>
          </p:cNvSpPr>
          <p:nvPr/>
        </p:nvSpPr>
        <p:spPr>
          <a:xfrm xmlns:a="http://schemas.openxmlformats.org/drawingml/2006/main">
            <a:off x="609600" y="442912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82B30"/>
                </a:solidFill>
                <a:latin typeface="Arial"/>
                <a:ea typeface="Arial"/>
                <a:cs typeface="Arial"/>
              </a:defRPr>
            </a:defPPr>
          </a:lstStyle>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Для этих запросов подготовили поисковые выдачи.</a:t>
            </a:r>
          </a:p>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После обучения судья оценивает найденные фрагменты.</a:t>
            </a:r>
          </a:p>
        </p:txBody>
      </p:sp>
    </p:spTree>
    <p:extLst>
      <p:ext uri="{BB962C8B-B14F-4D97-AF65-F5344CB8AC3E}">
        <p14:creationId xmlns:p14="http://schemas.microsoft.com/office/powerpoint/2010/main" val="178333556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DD5774A0-A021-4D39-82EC-B8310EB78AF8}"/>
              </a:ext>
            </a:extLst>
          </p:cNvPr>
          <p:cNvCxnSpPr>
            <a:stCxn xmlns:a="http://schemas.openxmlformats.org/drawingml/2006/main" id="8" idx="3"/>
            <a:endCxn xmlns:a="http://schemas.openxmlformats.org/drawingml/2006/main" id="9" idx="1"/>
          </p:cNvCxnSpPr>
          <p:nvPr/>
        </p:nvCxnSpPr>
        <p:spPr>
          <a:xfrm xmlns:a="http://schemas.openxmlformats.org/drawingml/2006/main">
            <a:off x="8810625" y="3562350"/>
            <a:ext cx="695325" cy="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3" name="">
            <a:extLst xmlns:a="http://schemas.openxmlformats.org/drawingml/2006/main">
              <a:ext uri="{FF2B5EF4-FFF2-40B4-BE49-F238E27FC236}">
                <a16:creationId xmlns:a16="http://schemas.microsoft.com/office/drawing/2014/main" id="{94519830-39EE-49CE-8B96-37BCA4255EF2}"/>
              </a:ext>
            </a:extLst>
          </p:cNvPr>
          <p:cNvCxnSpPr>
            <a:stCxn xmlns:a="http://schemas.openxmlformats.org/drawingml/2006/main" id="7" idx="3"/>
            <a:endCxn xmlns:a="http://schemas.openxmlformats.org/drawingml/2006/main" id="8" idx="1"/>
          </p:cNvCxnSpPr>
          <p:nvPr/>
        </p:nvCxnSpPr>
        <p:spPr>
          <a:xfrm xmlns:a="http://schemas.openxmlformats.org/drawingml/2006/main">
            <a:off x="6210300" y="3562350"/>
            <a:ext cx="695325" cy="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2" name="">
            <a:extLst xmlns:a="http://schemas.openxmlformats.org/drawingml/2006/main">
              <a:ext uri="{FF2B5EF4-FFF2-40B4-BE49-F238E27FC236}">
                <a16:creationId xmlns:a16="http://schemas.microsoft.com/office/drawing/2014/main" id="{97DB1A34-F3A2-4ADF-B8B5-118B3E58EE3E}"/>
              </a:ext>
            </a:extLst>
          </p:cNvPr>
          <p:cNvCxnSpPr>
            <a:stCxn xmlns:a="http://schemas.openxmlformats.org/drawingml/2006/main" id="6" idx="3"/>
            <a:endCxn xmlns:a="http://schemas.openxmlformats.org/drawingml/2006/main" id="7" idx="1"/>
          </p:cNvCxnSpPr>
          <p:nvPr/>
        </p:nvCxnSpPr>
        <p:spPr>
          <a:xfrm xmlns:a="http://schemas.openxmlformats.org/drawingml/2006/main" flipV="1">
            <a:off x="2800350" y="3562350"/>
            <a:ext cx="838200" cy="93345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1" name="">
            <a:extLst xmlns:a="http://schemas.openxmlformats.org/drawingml/2006/main">
              <a:ext uri="{FF2B5EF4-FFF2-40B4-BE49-F238E27FC236}">
                <a16:creationId xmlns:a16="http://schemas.microsoft.com/office/drawing/2014/main" id="{C5A5CD1C-C7B9-4EF6-82BE-EC948942575C}"/>
              </a:ext>
            </a:extLst>
          </p:cNvPr>
          <p:cNvCxnSpPr>
            <a:stCxn xmlns:a="http://schemas.openxmlformats.org/drawingml/2006/main" id="5" idx="3"/>
            <a:endCxn xmlns:a="http://schemas.openxmlformats.org/drawingml/2006/main" id="7" idx="1"/>
          </p:cNvCxnSpPr>
          <p:nvPr/>
        </p:nvCxnSpPr>
        <p:spPr>
          <a:xfrm xmlns:a="http://schemas.openxmlformats.org/drawingml/2006/main">
            <a:off x="2800350" y="3562350"/>
            <a:ext cx="838200" cy="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0" name="">
            <a:extLst xmlns:a="http://schemas.openxmlformats.org/drawingml/2006/main">
              <a:ext uri="{FF2B5EF4-FFF2-40B4-BE49-F238E27FC236}">
                <a16:creationId xmlns:a16="http://schemas.microsoft.com/office/drawing/2014/main" id="{D63E2B75-ED35-40FB-B910-C5AF73868780}"/>
              </a:ext>
            </a:extLst>
          </p:cNvPr>
          <p:cNvCxnSpPr>
            <a:stCxn xmlns:a="http://schemas.openxmlformats.org/drawingml/2006/main" id="4" idx="3"/>
            <a:endCxn xmlns:a="http://schemas.openxmlformats.org/drawingml/2006/main" id="7" idx="1"/>
          </p:cNvCxnSpPr>
          <p:nvPr/>
        </p:nvCxnSpPr>
        <p:spPr>
          <a:xfrm xmlns:a="http://schemas.openxmlformats.org/drawingml/2006/main">
            <a:off x="2800350" y="2628900"/>
            <a:ext cx="838200" cy="933450"/>
          </a:xfrm>
          <a:prstGeom xmlns:a="http://schemas.openxmlformats.org/drawingml/2006/main" prst="straightConnector1">
            <a:avLst/>
          </a:prstGeom>
          <a:ln xmlns:a="http://schemas.openxmlformats.org/drawingml/2006/main" w="23813">
            <a:solidFill>
              <a:srgbClr val="526970"/>
            </a:solidFill>
            <a:tailEnd type="triangle" w="med" len="med"/>
          </a:ln>
        </p:spPr>
      </p:cxnSp>
      <p:sp>
        <p:nvSpPr>
          <p:cNvPr id="17" name="Пулы кандидатов для модели-судьи">
            <a:extLst xmlns:a="http://schemas.openxmlformats.org/drawingml/2006/main">
              <a:ext uri="{FF2B5EF4-FFF2-40B4-BE49-F238E27FC236}">
                <a16:creationId xmlns:a16="http://schemas.microsoft.com/office/drawing/2014/main" id="{41E850F8-10CA-44D8-BE1F-EE579E3500DB}"/>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Пулы кандидатов для модели-судьи</a:t>
            </a:r>
          </a:p>
        </p:txBody>
      </p:sp>
      <p:sp>
        <p:nvSpPr>
          <p:cNvPr id="2" name="12">
            <a:extLst xmlns:a="http://schemas.openxmlformats.org/drawingml/2006/main">
              <a:ext uri="{FF2B5EF4-FFF2-40B4-BE49-F238E27FC236}">
                <a16:creationId xmlns:a16="http://schemas.microsoft.com/office/drawing/2014/main" id="{B8524155-95B6-4806-94B3-99C08507C3F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K задаёт число результатов от каждого поискового метода">
            <a:extLst xmlns:a="http://schemas.openxmlformats.org/drawingml/2006/main">
              <a:ext uri="{FF2B5EF4-FFF2-40B4-BE49-F238E27FC236}">
                <a16:creationId xmlns:a16="http://schemas.microsoft.com/office/drawing/2014/main" id="{BA938D0F-D1C3-4577-BBA3-93D726C721B6}"/>
              </a:ext>
            </a:extLst>
          </p:cNvPr>
          <p:cNvSpPr>
            <a:spLocks xmlns:a="http://schemas.openxmlformats.org/drawingml/2006/main" noGrp="1"/>
          </p:cNvSpPr>
          <p:nvPr/>
        </p:nvSpPr>
        <p:spPr>
          <a:xfrm xmlns:a="http://schemas.openxmlformats.org/drawingml/2006/main">
            <a:off x="609600" y="15430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26970"/>
                </a:solidFill>
                <a:latin typeface="Arial"/>
                <a:ea typeface="Arial"/>
                <a:cs typeface="Arial"/>
              </a:defRPr>
            </a:defPPr>
          </a:lstStyle>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K задаёт число результатов от каждого поискового метода</a:t>
            </a:r>
          </a:p>
        </p:txBody>
      </p:sp>
      <p:sp>
        <p:nvSpPr>
          <p:cNvPr id="4" name="BM25&#10;первые K">
            <a:extLst xmlns:a="http://schemas.openxmlformats.org/drawingml/2006/main">
              <a:ext uri="{FF2B5EF4-FFF2-40B4-BE49-F238E27FC236}">
                <a16:creationId xmlns:a16="http://schemas.microsoft.com/office/drawing/2014/main" id="{D1493ED4-A8A6-456B-BE4A-A6C59408A12F}"/>
              </a:ext>
            </a:extLst>
          </p:cNvPr>
          <p:cNvSpPr>
            <a:spLocks xmlns:a="http://schemas.openxmlformats.org/drawingml/2006/main" noGrp="1"/>
          </p:cNvSpPr>
          <p:nvPr/>
        </p:nvSpPr>
        <p:spPr>
          <a:xfrm xmlns:a="http://schemas.openxmlformats.org/drawingml/2006/main">
            <a:off x="609600" y="2238375"/>
            <a:ext cx="2190750" cy="7810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BM25</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5" name="E5&#10;первые K">
            <a:extLst xmlns:a="http://schemas.openxmlformats.org/drawingml/2006/main">
              <a:ext uri="{FF2B5EF4-FFF2-40B4-BE49-F238E27FC236}">
                <a16:creationId xmlns:a16="http://schemas.microsoft.com/office/drawing/2014/main" id="{9B4EC669-F96C-4AF6-BCE6-FB69AF2E0436}"/>
              </a:ext>
            </a:extLst>
          </p:cNvPr>
          <p:cNvSpPr>
            <a:spLocks xmlns:a="http://schemas.openxmlformats.org/drawingml/2006/main" noGrp="1"/>
          </p:cNvSpPr>
          <p:nvPr/>
        </p:nvSpPr>
        <p:spPr>
          <a:xfrm xmlns:a="http://schemas.openxmlformats.org/drawingml/2006/main">
            <a:off x="609600" y="3171825"/>
            <a:ext cx="2190750" cy="7810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E5</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6" name="BGE&#10;первые K">
            <a:extLst xmlns:a="http://schemas.openxmlformats.org/drawingml/2006/main">
              <a:ext uri="{FF2B5EF4-FFF2-40B4-BE49-F238E27FC236}">
                <a16:creationId xmlns:a16="http://schemas.microsoft.com/office/drawing/2014/main" id="{4C8AD222-7201-480C-8B29-CAE6DB242A58}"/>
              </a:ext>
            </a:extLst>
          </p:cNvPr>
          <p:cNvSpPr>
            <a:spLocks xmlns:a="http://schemas.openxmlformats.org/drawingml/2006/main" noGrp="1"/>
          </p:cNvSpPr>
          <p:nvPr/>
        </p:nvSpPr>
        <p:spPr>
          <a:xfrm xmlns:a="http://schemas.openxmlformats.org/drawingml/2006/main">
            <a:off x="609600" y="4105275"/>
            <a:ext cx="2190750" cy="7810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BGE</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7" name="Общий пул&#10;без дубликатов">
            <a:extLst xmlns:a="http://schemas.openxmlformats.org/drawingml/2006/main">
              <a:ext uri="{FF2B5EF4-FFF2-40B4-BE49-F238E27FC236}">
                <a16:creationId xmlns:a16="http://schemas.microsoft.com/office/drawing/2014/main" id="{F11F59E8-3113-4FE5-9058-E52D8596CCF5}"/>
              </a:ext>
            </a:extLst>
          </p:cNvPr>
          <p:cNvSpPr>
            <a:spLocks xmlns:a="http://schemas.openxmlformats.org/drawingml/2006/main" noGrp="1"/>
          </p:cNvSpPr>
          <p:nvPr/>
        </p:nvSpPr>
        <p:spPr>
          <a:xfrm xmlns:a="http://schemas.openxmlformats.org/drawingml/2006/main">
            <a:off x="3638550" y="2990850"/>
            <a:ext cx="2571750" cy="114300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Общий пул</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без дубликатов</a:t>
            </a:r>
          </a:p>
        </p:txBody>
      </p:sp>
      <p:sp>
        <p:nvSpPr>
          <p:cNvPr id="8" name="Судья&#10;MiniLM">
            <a:extLst xmlns:a="http://schemas.openxmlformats.org/drawingml/2006/main">
              <a:ext uri="{FF2B5EF4-FFF2-40B4-BE49-F238E27FC236}">
                <a16:creationId xmlns:a16="http://schemas.microsoft.com/office/drawing/2014/main" id="{CA3440FA-9196-4E18-9E03-FBF19BA14987}"/>
              </a:ext>
            </a:extLst>
          </p:cNvPr>
          <p:cNvSpPr>
            <a:spLocks xmlns:a="http://schemas.openxmlformats.org/drawingml/2006/main" noGrp="1"/>
          </p:cNvSpPr>
          <p:nvPr/>
        </p:nvSpPr>
        <p:spPr>
          <a:xfrm xmlns:a="http://schemas.openxmlformats.org/drawingml/2006/main">
            <a:off x="6905625" y="2990850"/>
            <a:ext cx="1905000" cy="1143000"/>
          </a:xfrm>
          <a:prstGeom xmlns:a="http://schemas.openxmlformats.org/drawingml/2006/main" prst="rect">
            <a:avLst/>
          </a:prstGeom>
          <a:solidFill xmlns:a="http://schemas.openxmlformats.org/drawingml/2006/main">
            <a:srgbClr val="E3F1EF"/>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Судья</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MiniLM</a:t>
            </a:r>
          </a:p>
        </p:txBody>
      </p:sp>
      <p:sp>
        <p:nvSpPr>
          <p:cNvPr id="9" name="Псевдометки&#10;0 или 1">
            <a:extLst xmlns:a="http://schemas.openxmlformats.org/drawingml/2006/main">
              <a:ext uri="{FF2B5EF4-FFF2-40B4-BE49-F238E27FC236}">
                <a16:creationId xmlns:a16="http://schemas.microsoft.com/office/drawing/2014/main" id="{8D3E6DBD-0EE9-466E-B812-C69FE0AD4199}"/>
              </a:ext>
            </a:extLst>
          </p:cNvPr>
          <p:cNvSpPr>
            <a:spLocks xmlns:a="http://schemas.openxmlformats.org/drawingml/2006/main" noGrp="1"/>
          </p:cNvSpPr>
          <p:nvPr/>
        </p:nvSpPr>
        <p:spPr>
          <a:xfrm xmlns:a="http://schemas.openxmlformats.org/drawingml/2006/main">
            <a:off x="9505950" y="2990850"/>
            <a:ext cx="2076450" cy="1143000"/>
          </a:xfrm>
          <a:prstGeom xmlns:a="http://schemas.openxmlformats.org/drawingml/2006/main" prst="rect">
            <a:avLst/>
          </a:prstGeom>
          <a:solidFill xmlns:a="http://schemas.openxmlformats.org/drawingml/2006/main">
            <a:srgbClr val="E3F1EF"/>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Псевдометки</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0 или 1</a:t>
            </a:r>
          </a:p>
        </p:txBody>
      </p:sp>
      <p:sp>
        <p:nvSpPr>
          <p:cNvPr id="15" name="K = 10, 30, 50, 100, 200">
            <a:extLst xmlns:a="http://schemas.openxmlformats.org/drawingml/2006/main">
              <a:ext uri="{FF2B5EF4-FFF2-40B4-BE49-F238E27FC236}">
                <a16:creationId xmlns:a16="http://schemas.microsoft.com/office/drawing/2014/main" id="{042F81F9-3D36-49A5-9BA1-6952EED02685}"/>
              </a:ext>
            </a:extLst>
          </p:cNvPr>
          <p:cNvSpPr>
            <a:spLocks xmlns:a="http://schemas.openxmlformats.org/drawingml/2006/main" noGrp="1"/>
          </p:cNvSpPr>
          <p:nvPr/>
        </p:nvSpPr>
        <p:spPr>
          <a:xfrm xmlns:a="http://schemas.openxmlformats.org/drawingml/2006/main">
            <a:off x="609600" y="5314950"/>
            <a:ext cx="647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07F78"/>
                </a:solidFill>
                <a:latin typeface="Arial"/>
                <a:ea typeface="Arial"/>
                <a:cs typeface="Arial"/>
              </a:defRPr>
            </a:defPPr>
          </a:lstStyle>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K = 10, 30, 50, 100, 200</a:t>
            </a:r>
          </a:p>
        </p:txBody>
      </p:sp>
      <p:sp>
        <p:nvSpPr>
          <p:cNvPr id="16" name="Судья и порог −0,2187 фиксированы. Размер пула может быть меньше 3K.">
            <a:extLst xmlns:a="http://schemas.openxmlformats.org/drawingml/2006/main">
              <a:ext uri="{FF2B5EF4-FFF2-40B4-BE49-F238E27FC236}">
                <a16:creationId xmlns:a16="http://schemas.microsoft.com/office/drawing/2014/main" id="{50259D60-B4FE-49AC-BF2A-02DE5163D21A}"/>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Судья и порог −0,2187 фиксированы. Размер пула может быть меньше 3K.</a:t>
            </a:r>
          </a:p>
        </p:txBody>
      </p:sp>
    </p:spTree>
    <p:extLst>
      <p:ext uri="{BB962C8B-B14F-4D97-AF65-F5344CB8AC3E}">
        <p14:creationId xmlns:p14="http://schemas.microsoft.com/office/powerpoint/2010/main" val="3187768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323822FD-5B19-4010-A14D-25DCC8F9DF76}"/>
              </a:ext>
            </a:extLst>
          </p:cNvPr>
          <p:cNvCxnSpPr>
            <a:stCxn xmlns:a="http://schemas.openxmlformats.org/drawingml/2006/main" id="7" idx="3"/>
            <a:endCxn xmlns:a="http://schemas.openxmlformats.org/drawingml/2006/main" id="8" idx="1"/>
          </p:cNvCxnSpPr>
          <p:nvPr/>
        </p:nvCxnSpPr>
        <p:spPr>
          <a:xfrm xmlns:a="http://schemas.openxmlformats.org/drawingml/2006/main">
            <a:off x="7172325" y="3533775"/>
            <a:ext cx="1028700" cy="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1" name="">
            <a:extLst xmlns:a="http://schemas.openxmlformats.org/drawingml/2006/main">
              <a:ext uri="{FF2B5EF4-FFF2-40B4-BE49-F238E27FC236}">
                <a16:creationId xmlns:a16="http://schemas.microsoft.com/office/drawing/2014/main" id="{7D1FDB77-9180-48A9-923F-97DEB5891B4A}"/>
              </a:ext>
            </a:extLst>
          </p:cNvPr>
          <p:cNvCxnSpPr>
            <a:stCxn xmlns:a="http://schemas.openxmlformats.org/drawingml/2006/main" id="6" idx="3"/>
            <a:endCxn xmlns:a="http://schemas.openxmlformats.org/drawingml/2006/main" id="7" idx="1"/>
          </p:cNvCxnSpPr>
          <p:nvPr/>
        </p:nvCxnSpPr>
        <p:spPr>
          <a:xfrm xmlns:a="http://schemas.openxmlformats.org/drawingml/2006/main" flipV="1">
            <a:off x="2752725" y="3533775"/>
            <a:ext cx="971550" cy="72390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0" name="">
            <a:extLst xmlns:a="http://schemas.openxmlformats.org/drawingml/2006/main">
              <a:ext uri="{FF2B5EF4-FFF2-40B4-BE49-F238E27FC236}">
                <a16:creationId xmlns:a16="http://schemas.microsoft.com/office/drawing/2014/main" id="{321996B1-57F6-4A8C-8368-A24CB67B9C1A}"/>
              </a:ext>
            </a:extLst>
          </p:cNvPr>
          <p:cNvCxnSpPr>
            <a:stCxn xmlns:a="http://schemas.openxmlformats.org/drawingml/2006/main" id="5" idx="3"/>
            <a:endCxn xmlns:a="http://schemas.openxmlformats.org/drawingml/2006/main" id="7" idx="1"/>
          </p:cNvCxnSpPr>
          <p:nvPr/>
        </p:nvCxnSpPr>
        <p:spPr>
          <a:xfrm xmlns:a="http://schemas.openxmlformats.org/drawingml/2006/main">
            <a:off x="2752725" y="3448050"/>
            <a:ext cx="971550" cy="85725"/>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9" name="">
            <a:extLst xmlns:a="http://schemas.openxmlformats.org/drawingml/2006/main">
              <a:ext uri="{FF2B5EF4-FFF2-40B4-BE49-F238E27FC236}">
                <a16:creationId xmlns:a16="http://schemas.microsoft.com/office/drawing/2014/main" id="{3884D392-3471-4718-B882-F023CD6D1926}"/>
              </a:ext>
            </a:extLst>
          </p:cNvPr>
          <p:cNvCxnSpPr>
            <a:stCxn xmlns:a="http://schemas.openxmlformats.org/drawingml/2006/main" id="4" idx="3"/>
            <a:endCxn xmlns:a="http://schemas.openxmlformats.org/drawingml/2006/main" id="7" idx="1"/>
          </p:cNvCxnSpPr>
          <p:nvPr/>
        </p:nvCxnSpPr>
        <p:spPr>
          <a:xfrm xmlns:a="http://schemas.openxmlformats.org/drawingml/2006/main">
            <a:off x="2752725" y="2638425"/>
            <a:ext cx="971550" cy="895350"/>
          </a:xfrm>
          <a:prstGeom xmlns:a="http://schemas.openxmlformats.org/drawingml/2006/main" prst="straightConnector1">
            <a:avLst/>
          </a:prstGeom>
          <a:ln xmlns:a="http://schemas.openxmlformats.org/drawingml/2006/main" w="23813">
            <a:solidFill>
              <a:srgbClr val="526970"/>
            </a:solidFill>
            <a:tailEnd type="triangle" w="med" len="med"/>
          </a:ln>
        </p:spPr>
      </p:cxnSp>
      <p:sp>
        <p:nvSpPr>
          <p:cNvPr id="16" name="Зачем объединять результаты с помощью RRF">
            <a:extLst xmlns:a="http://schemas.openxmlformats.org/drawingml/2006/main">
              <a:ext uri="{FF2B5EF4-FFF2-40B4-BE49-F238E27FC236}">
                <a16:creationId xmlns:a16="http://schemas.microsoft.com/office/drawing/2014/main" id="{6FAAFDDA-7410-4DB1-9544-F04C6185D44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Зачем объединять результаты с помощью RRF</a:t>
            </a:r>
          </a:p>
        </p:txBody>
      </p:sp>
      <p:sp>
        <p:nvSpPr>
          <p:cNvPr id="2" name="14">
            <a:extLst xmlns:a="http://schemas.openxmlformats.org/drawingml/2006/main">
              <a:ext uri="{FF2B5EF4-FFF2-40B4-BE49-F238E27FC236}">
                <a16:creationId xmlns:a16="http://schemas.microsoft.com/office/drawing/2014/main" id="{C3224F00-6630-4665-9B48-C8CE5059F94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14</a:t>
            </a:r>
          </a:p>
        </p:txBody>
      </p:sp>
      <p:sp>
        <p:nvSpPr>
          <p:cNvPr id="3" name="Проверяем, дополняют ли друг друга разные способы поиска">
            <a:extLst xmlns:a="http://schemas.openxmlformats.org/drawingml/2006/main">
              <a:ext uri="{FF2B5EF4-FFF2-40B4-BE49-F238E27FC236}">
                <a16:creationId xmlns:a16="http://schemas.microsoft.com/office/drawing/2014/main" id="{EF2A1E1A-A731-4158-B6D4-9B9DACF921BE}"/>
              </a:ext>
            </a:extLst>
          </p:cNvPr>
          <p:cNvSpPr>
            <a:spLocks xmlns:a="http://schemas.openxmlformats.org/drawingml/2006/main" noGrp="1"/>
          </p:cNvSpPr>
          <p:nvPr/>
        </p:nvSpPr>
        <p:spPr>
          <a:xfrm xmlns:a="http://schemas.openxmlformats.org/drawingml/2006/main">
            <a:off x="609600" y="15335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26970"/>
                </a:solidFill>
                <a:latin typeface="Arial"/>
                <a:ea typeface="Arial"/>
                <a:cs typeface="Arial"/>
              </a:defRPr>
            </a:defPPr>
          </a:lstStyle>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Проверяем, дополняют ли друг друга разные способы поиска</a:t>
            </a:r>
          </a:p>
        </p:txBody>
      </p:sp>
      <p:sp>
        <p:nvSpPr>
          <p:cNvPr id="4" name="BM25">
            <a:extLst xmlns:a="http://schemas.openxmlformats.org/drawingml/2006/main">
              <a:ext uri="{FF2B5EF4-FFF2-40B4-BE49-F238E27FC236}">
                <a16:creationId xmlns:a16="http://schemas.microsoft.com/office/drawing/2014/main" id="{7EBB8D5F-B2FB-4CA8-B757-853CB185E97D}"/>
              </a:ext>
            </a:extLst>
          </p:cNvPr>
          <p:cNvSpPr>
            <a:spLocks xmlns:a="http://schemas.openxmlformats.org/drawingml/2006/main" noGrp="1"/>
          </p:cNvSpPr>
          <p:nvPr/>
        </p:nvSpPr>
        <p:spPr>
          <a:xfrm xmlns:a="http://schemas.openxmlformats.org/drawingml/2006/main">
            <a:off x="609600" y="2305050"/>
            <a:ext cx="2143125" cy="6667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BM25</a:t>
            </a:r>
          </a:p>
        </p:txBody>
      </p:sp>
      <p:sp>
        <p:nvSpPr>
          <p:cNvPr id="5" name="E5">
            <a:extLst xmlns:a="http://schemas.openxmlformats.org/drawingml/2006/main">
              <a:ext uri="{FF2B5EF4-FFF2-40B4-BE49-F238E27FC236}">
                <a16:creationId xmlns:a16="http://schemas.microsoft.com/office/drawing/2014/main" id="{370C3F5C-0D77-4F2B-A7A7-A53AD71433C8}"/>
              </a:ext>
            </a:extLst>
          </p:cNvPr>
          <p:cNvSpPr>
            <a:spLocks xmlns:a="http://schemas.openxmlformats.org/drawingml/2006/main" noGrp="1"/>
          </p:cNvSpPr>
          <p:nvPr/>
        </p:nvSpPr>
        <p:spPr>
          <a:xfrm xmlns:a="http://schemas.openxmlformats.org/drawingml/2006/main">
            <a:off x="609600" y="3114675"/>
            <a:ext cx="2143125" cy="6667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E5</a:t>
            </a:r>
          </a:p>
        </p:txBody>
      </p:sp>
      <p:sp>
        <p:nvSpPr>
          <p:cNvPr id="6" name="BGE">
            <a:extLst xmlns:a="http://schemas.openxmlformats.org/drawingml/2006/main">
              <a:ext uri="{FF2B5EF4-FFF2-40B4-BE49-F238E27FC236}">
                <a16:creationId xmlns:a16="http://schemas.microsoft.com/office/drawing/2014/main" id="{B049F26B-A2DC-4F8A-9D83-80ABE0A0138B}"/>
              </a:ext>
            </a:extLst>
          </p:cNvPr>
          <p:cNvSpPr>
            <a:spLocks xmlns:a="http://schemas.openxmlformats.org/drawingml/2006/main" noGrp="1"/>
          </p:cNvSpPr>
          <p:nvPr/>
        </p:nvSpPr>
        <p:spPr>
          <a:xfrm xmlns:a="http://schemas.openxmlformats.org/drawingml/2006/main">
            <a:off x="609600" y="3924300"/>
            <a:ext cx="2143125" cy="6667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BGE</a:t>
            </a:r>
          </a:p>
        </p:txBody>
      </p:sp>
      <p:sp>
        <p:nvSpPr>
          <p:cNvPr id="7" name="RRF&#10;слияние по позициям">
            <a:extLst xmlns:a="http://schemas.openxmlformats.org/drawingml/2006/main">
              <a:ext uri="{FF2B5EF4-FFF2-40B4-BE49-F238E27FC236}">
                <a16:creationId xmlns:a16="http://schemas.microsoft.com/office/drawing/2014/main" id="{1EDE10D0-6BAA-4082-AE1B-FE8DD2717CCE}"/>
              </a:ext>
            </a:extLst>
          </p:cNvPr>
          <p:cNvSpPr>
            <a:spLocks xmlns:a="http://schemas.openxmlformats.org/drawingml/2006/main" noGrp="1"/>
          </p:cNvSpPr>
          <p:nvPr/>
        </p:nvSpPr>
        <p:spPr>
          <a:xfrm xmlns:a="http://schemas.openxmlformats.org/drawingml/2006/main">
            <a:off x="3724275" y="2914650"/>
            <a:ext cx="3448050" cy="1238250"/>
          </a:xfrm>
          <a:prstGeom xmlns:a="http://schemas.openxmlformats.org/drawingml/2006/main" prst="rect">
            <a:avLst/>
          </a:prstGeom>
          <a:solidFill xmlns:a="http://schemas.openxmlformats.org/drawingml/2006/main">
            <a:srgbClr val="E3F1EF"/>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75">
                <a:solidFill>
                  <a:srgbClr val="182B30"/>
                </a:solidFill>
                <a:latin typeface="Arial"/>
                <a:ea typeface="Arial"/>
                <a:cs typeface="Arial"/>
              </a:defRPr>
            </a:defPPr>
          </a:lstStyle>
          <a:p xmlns:a="http://schemas.openxmlformats.org/drawingml/2006/main">
            <a:pPr algn="ctr">
              <a:defRPr sz="2175">
                <a:solidFill>
                  <a:srgbClr val="182B30"/>
                </a:solidFill>
                <a:latin typeface="Arial"/>
                <a:ea typeface="Arial"/>
                <a:cs typeface="Arial"/>
              </a:defRPr>
            </a:pPr>
            <a:r>
              <a:rPr sz="2175">
                <a:solidFill>
                  <a:srgbClr val="182B30"/>
                </a:solidFill>
                <a:latin typeface="Arial"/>
                <a:ea typeface="Arial"/>
                <a:cs typeface="Arial"/>
              </a:rPr>
              <a:t>RRF</a:t>
            </a:r>
          </a:p>
          <a:p xmlns:a="http://schemas.openxmlformats.org/drawingml/2006/main">
            <a:pPr algn="ctr">
              <a:defRPr sz="2175">
                <a:solidFill>
                  <a:srgbClr val="182B30"/>
                </a:solidFill>
                <a:latin typeface="Arial"/>
                <a:ea typeface="Arial"/>
                <a:cs typeface="Arial"/>
              </a:defRPr>
            </a:pPr>
            <a:r>
              <a:rPr sz="2175">
                <a:solidFill>
                  <a:srgbClr val="182B30"/>
                </a:solidFill>
                <a:latin typeface="Arial"/>
                <a:ea typeface="Arial"/>
                <a:cs typeface="Arial"/>
              </a:rPr>
              <a:t>слияние по позициям</a:t>
            </a:r>
          </a:p>
        </p:txBody>
      </p:sp>
      <p:sp>
        <p:nvSpPr>
          <p:cNvPr id="8" name="Один итоговый&#10;список фрагментов">
            <a:extLst xmlns:a="http://schemas.openxmlformats.org/drawingml/2006/main">
              <a:ext uri="{FF2B5EF4-FFF2-40B4-BE49-F238E27FC236}">
                <a16:creationId xmlns:a16="http://schemas.microsoft.com/office/drawing/2014/main" id="{7054BE41-EDF8-4B5C-8C4E-6B1BD86B2376}"/>
              </a:ext>
            </a:extLst>
          </p:cNvPr>
          <p:cNvSpPr>
            <a:spLocks xmlns:a="http://schemas.openxmlformats.org/drawingml/2006/main" noGrp="1"/>
          </p:cNvSpPr>
          <p:nvPr/>
        </p:nvSpPr>
        <p:spPr>
          <a:xfrm xmlns:a="http://schemas.openxmlformats.org/drawingml/2006/main">
            <a:off x="8201025" y="2914650"/>
            <a:ext cx="3381375" cy="12382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Один итоговый</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список фрагментов</a:t>
            </a:r>
          </a:p>
        </p:txBody>
      </p:sp>
      <p:sp>
        <p:nvSpPr>
          <p:cNvPr id="13" name="RRF(d) = Σ 1 / (60 + rankᵢ(d))">
            <a:extLst xmlns:a="http://schemas.openxmlformats.org/drawingml/2006/main">
              <a:ext uri="{FF2B5EF4-FFF2-40B4-BE49-F238E27FC236}">
                <a16:creationId xmlns:a16="http://schemas.microsoft.com/office/drawing/2014/main" id="{AA6B5DCC-14AF-49EE-82AD-6C3EF2007A01}"/>
              </a:ext>
            </a:extLst>
          </p:cNvPr>
          <p:cNvSpPr>
            <a:spLocks xmlns:a="http://schemas.openxmlformats.org/drawingml/2006/main" noGrp="1"/>
          </p:cNvSpPr>
          <p:nvPr/>
        </p:nvSpPr>
        <p:spPr>
          <a:xfrm xmlns:a="http://schemas.openxmlformats.org/drawingml/2006/main">
            <a:off x="609600" y="5010150"/>
            <a:ext cx="7715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07F78"/>
                </a:solidFill>
                <a:latin typeface="Arial"/>
                <a:ea typeface="Arial"/>
                <a:cs typeface="Arial"/>
              </a:defRPr>
            </a:defPPr>
          </a:lstStyle>
          <a:p xmlns:a="http://schemas.openxmlformats.org/drawingml/2006/main">
            <a:pPr algn="l">
              <a:defRPr sz="2625" b="1">
                <a:solidFill>
                  <a:srgbClr val="007F78"/>
                </a:solidFill>
                <a:latin typeface="Arial"/>
                <a:ea typeface="Arial"/>
                <a:cs typeface="Arial"/>
              </a:defRPr>
            </a:pPr>
            <a:r>
              <a:rPr sz="2625" b="1">
                <a:solidFill>
                  <a:srgbClr val="007F78"/>
                </a:solidFill>
                <a:latin typeface="Arial"/>
                <a:ea typeface="Arial"/>
                <a:cs typeface="Arial"/>
              </a:rPr>
              <a:t>RRF(d) = Σ 1 / (60 + rankᵢ(d))</a:t>
            </a:r>
          </a:p>
        </p:txBody>
      </p:sp>
      <p:sp>
        <p:nvSpPr>
          <p:cNvPr id="14" name="Равный вес трёх источников. Исходные баллы моделей не суммируются.">
            <a:extLst xmlns:a="http://schemas.openxmlformats.org/drawingml/2006/main">
              <a:ext uri="{FF2B5EF4-FFF2-40B4-BE49-F238E27FC236}">
                <a16:creationId xmlns:a16="http://schemas.microsoft.com/office/drawing/2014/main" id="{1BBC45CA-E952-41F3-A2D6-11B7FC246334}"/>
              </a:ext>
            </a:extLst>
          </p:cNvPr>
          <p:cNvSpPr>
            <a:spLocks xmlns:a="http://schemas.openxmlformats.org/drawingml/2006/main" noGrp="1"/>
          </p:cNvSpPr>
          <p:nvPr/>
        </p:nvSpPr>
        <p:spPr>
          <a:xfrm xmlns:a="http://schemas.openxmlformats.org/drawingml/2006/main">
            <a:off x="609600" y="55816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2B30"/>
                </a:solidFill>
                <a:latin typeface="Arial"/>
                <a:ea typeface="Arial"/>
                <a:cs typeface="Arial"/>
              </a:defRPr>
            </a:defPPr>
          </a:lstStyle>
          <ns0:p xmlns:ns0="http://schemas.openxmlformats.org/drawingml/2006/main">
            <ns0:pPr algn="l">
              <ns0:defRPr sz="1950" b="0">
                <ns0:solidFill>
                  <ns0:srgbClr val="182B30"/>
                </ns0:solidFill>
                <ns0:latin typeface="Arial"/>
                <ns0:ea typeface="Arial"/>
                <ns0:cs typeface="Arial"/>
              </ns0:defRPr>
            </ns0:pPr>
            <ns0:r>
              <ns0:rPr sz="1950" b="0">
                <ns0:solidFill>
                  <ns0:srgbClr val="182B30"/>
                </ns0:solidFill>
                <ns0:latin typeface="Arial"/>
                <ns0:ea typeface="Arial"/>
                <ns0:cs typeface="Arial"/>
              </ns0:rPr>
              <ns0:t>Равный вес источников. Учитываем списки, в которых найден фрагмент.</ns0:t>
            </ns0:r>
          </ns0:p>
        </p:txBody>
      </p:sp>
      <p:sp>
        <p:nvSpPr>
          <p:cNvPr id="15" name="Cormack, Clarke, Büttcher, SIGIR 2009. Оценки судьи не входят в формул">
            <a:extLst xmlns:a="http://schemas.openxmlformats.org/drawingml/2006/main">
              <a:ext uri="{FF2B5EF4-FFF2-40B4-BE49-F238E27FC236}">
                <a16:creationId xmlns:a16="http://schemas.microsoft.com/office/drawing/2014/main" id="{636AD666-D12C-4C23-811C-64F8A3807468}"/>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Cormack, Clarke, Büttcher, SIGIR 2009. Оценки судьи не входят в формулу RRF.</a:t>
            </a:r>
          </a:p>
        </p:txBody>
      </p:sp>
    </p:spTree>
    <p:extLst>
      <p:ext uri="{BB962C8B-B14F-4D97-AF65-F5344CB8AC3E}">
        <p14:creationId xmlns:p14="http://schemas.microsoft.com/office/powerpoint/2010/main" val="81645074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Литература и ресурсы">
            <a:extLst xmlns:a="http://schemas.openxmlformats.org/drawingml/2006/main">
              <a:ext uri="{FF2B5EF4-FFF2-40B4-BE49-F238E27FC236}">
                <a16:creationId xmlns:a16="http://schemas.microsoft.com/office/drawing/2014/main" id="{A4A0C6BD-6351-4B31-8728-75022184EC6F}"/>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Литература и ресурсы</a:t>
            </a:r>
          </a:p>
        </p:txBody>
      </p:sp>
      <p:sp>
        <p:nvSpPr>
          <p:cNvPr id="2" name="19">
            <a:extLst xmlns:a="http://schemas.openxmlformats.org/drawingml/2006/main">
              <a:ext uri="{FF2B5EF4-FFF2-40B4-BE49-F238E27FC236}">
                <a16:creationId xmlns:a16="http://schemas.microsoft.com/office/drawing/2014/main" id="{63609DAA-536A-428E-9283-7D7FB820E1A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19</a:t>
            </a:r>
          </a:p>
        </p:txBody>
      </p:sp>
      <p:sp>
        <p:nvSpPr>
          <p:cNvPr id="3" name="MS MARCO">
            <a:extLst xmlns:a="http://schemas.openxmlformats.org/drawingml/2006/main">
              <a:ext uri="{FF2B5EF4-FFF2-40B4-BE49-F238E27FC236}">
                <a16:creationId xmlns:a16="http://schemas.microsoft.com/office/drawing/2014/main" id="{2C9655CF-4325-444F-A190-BE05EC9AFC9B}"/>
              </a:ext>
            </a:extLst>
          </p:cNvPr>
          <p:cNvSpPr>
            <a:spLocks xmlns:a="http://schemas.openxmlformats.org/drawingml/2006/main" noGrp="1"/>
          </p:cNvSpPr>
          <p:nvPr/>
        </p:nvSpPr>
        <p:spPr>
          <a:xfrm xmlns:a="http://schemas.openxmlformats.org/drawingml/2006/main">
            <a:off x="609600" y="15716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MS MARCO</a:t>
            </a:r>
          </a:p>
        </p:txBody>
      </p:sp>
      <p:sp>
        <p:nvSpPr>
          <p:cNvPr id="4" name="Bajaj et al., 2016">
            <a:extLst xmlns:a="http://schemas.openxmlformats.org/drawingml/2006/main">
              <a:ext uri="{FF2B5EF4-FFF2-40B4-BE49-F238E27FC236}">
                <a16:creationId xmlns:a16="http://schemas.microsoft.com/office/drawing/2014/main" id="{5E02D452-7B6E-497E-8A39-D1BCC94C4B66}"/>
              </a:ext>
            </a:extLst>
          </p:cNvPr>
          <p:cNvSpPr>
            <a:spLocks xmlns:a="http://schemas.openxmlformats.org/drawingml/2006/main" noGrp="1"/>
          </p:cNvSpPr>
          <p:nvPr/>
        </p:nvSpPr>
        <p:spPr>
          <a:xfrm xmlns:a="http://schemas.openxmlformats.org/drawingml/2006/main">
            <a:off x="609600" y="19050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Bajaj et al., 2016</a:t>
            </a:r>
          </a:p>
        </p:txBody>
      </p:sp>
      <p:sp>
        <p:nvSpPr>
          <p:cNvPr id="5" name="arxiv.org/abs/1611.09268">
            <a:extLst xmlns:a="http://schemas.openxmlformats.org/drawingml/2006/main">
              <a:ext uri="{FF2B5EF4-FFF2-40B4-BE49-F238E27FC236}">
                <a16:creationId xmlns:a16="http://schemas.microsoft.com/office/drawing/2014/main" id="{1770FB05-F0FE-40A9-89B7-4C3A26F6F8B5}"/>
              </a:ext>
            </a:extLst>
          </p:cNvPr>
          <p:cNvSpPr>
            <a:spLocks xmlns:a="http://schemas.openxmlformats.org/drawingml/2006/main" noGrp="1"/>
          </p:cNvSpPr>
          <p:nvPr/>
        </p:nvSpPr>
        <p:spPr>
          <a:xfrm xmlns:a="http://schemas.openxmlformats.org/drawingml/2006/main">
            <a:off x="609600" y="22098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0="http://schemas.openxmlformats.org/officeDocument/2006/relationships" ns0:id="rLink4"/>
              </a:rPr>
              <a:t>arxiv.org/abs/1611.09268</a:t>
            </a:r>
          </a:p>
        </p:txBody>
      </p:sp>
      <p:sp>
        <p:nvSpPr>
          <p:cNvPr id="6" name="Natural Questions">
            <a:extLst xmlns:a="http://schemas.openxmlformats.org/drawingml/2006/main">
              <a:ext uri="{FF2B5EF4-FFF2-40B4-BE49-F238E27FC236}">
                <a16:creationId xmlns:a16="http://schemas.microsoft.com/office/drawing/2014/main" id="{F97DE8AF-F43B-4795-AB1B-21C457CED273}"/>
              </a:ext>
            </a:extLst>
          </p:cNvPr>
          <p:cNvSpPr>
            <a:spLocks xmlns:a="http://schemas.openxmlformats.org/drawingml/2006/main" noGrp="1"/>
          </p:cNvSpPr>
          <p:nvPr/>
        </p:nvSpPr>
        <p:spPr>
          <a:xfrm xmlns:a="http://schemas.openxmlformats.org/drawingml/2006/main">
            <a:off x="609600" y="26384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Natural Questions</a:t>
            </a:r>
          </a:p>
        </p:txBody>
      </p:sp>
      <p:sp>
        <p:nvSpPr>
          <p:cNvPr id="7" name="Kwiatkowski et al., 2019">
            <a:extLst xmlns:a="http://schemas.openxmlformats.org/drawingml/2006/main">
              <a:ext uri="{FF2B5EF4-FFF2-40B4-BE49-F238E27FC236}">
                <a16:creationId xmlns:a16="http://schemas.microsoft.com/office/drawing/2014/main" id="{14F5A30A-8EC3-4BB8-B2E0-703B758312E7}"/>
              </a:ext>
            </a:extLst>
          </p:cNvPr>
          <p:cNvSpPr>
            <a:spLocks xmlns:a="http://schemas.openxmlformats.org/drawingml/2006/main" noGrp="1"/>
          </p:cNvSpPr>
          <p:nvPr/>
        </p:nvSpPr>
        <p:spPr>
          <a:xfrm xmlns:a="http://schemas.openxmlformats.org/drawingml/2006/main">
            <a:off x="609600" y="29718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Kwiatkowski et al., 2019</a:t>
            </a:r>
          </a:p>
        </p:txBody>
      </p:sp>
      <p:sp>
        <p:nvSpPr>
          <p:cNvPr id="8" name="aclanthology.org/Q19-1026">
            <a:extLst xmlns:a="http://schemas.openxmlformats.org/drawingml/2006/main">
              <a:ext uri="{FF2B5EF4-FFF2-40B4-BE49-F238E27FC236}">
                <a16:creationId xmlns:a16="http://schemas.microsoft.com/office/drawing/2014/main" id="{60F6F0E0-553C-42CD-8E3C-BBA7B11F21B8}"/>
              </a:ext>
            </a:extLst>
          </p:cNvPr>
          <p:cNvSpPr>
            <a:spLocks xmlns:a="http://schemas.openxmlformats.org/drawingml/2006/main" noGrp="1"/>
          </p:cNvSpPr>
          <p:nvPr/>
        </p:nvSpPr>
        <p:spPr>
          <a:xfrm xmlns:a="http://schemas.openxmlformats.org/drawingml/2006/main">
            <a:off x="609600" y="32766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1="http://schemas.openxmlformats.org/officeDocument/2006/relationships" ns1:id="rLink7"/>
              </a:rPr>
              <a:t>aclanthology.org/Q19-1026</a:t>
            </a:r>
          </a:p>
        </p:txBody>
      </p:sp>
      <p:sp>
        <p:nvSpPr>
          <p:cNvPr id="9" name="BEIR">
            <a:extLst xmlns:a="http://schemas.openxmlformats.org/drawingml/2006/main">
              <a:ext uri="{FF2B5EF4-FFF2-40B4-BE49-F238E27FC236}">
                <a16:creationId xmlns:a16="http://schemas.microsoft.com/office/drawing/2014/main" id="{A59B7C08-F44F-420A-B890-509F2587EBF4}"/>
              </a:ext>
            </a:extLst>
          </p:cNvPr>
          <p:cNvSpPr>
            <a:spLocks xmlns:a="http://schemas.openxmlformats.org/drawingml/2006/main" noGrp="1"/>
          </p:cNvSpPr>
          <p:nvPr/>
        </p:nvSpPr>
        <p:spPr>
          <a:xfrm xmlns:a="http://schemas.openxmlformats.org/drawingml/2006/main">
            <a:off x="609600" y="37052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BEIR</a:t>
            </a:r>
          </a:p>
        </p:txBody>
      </p:sp>
      <p:sp>
        <p:nvSpPr>
          <p:cNvPr id="10" name="Thakur et al., 2021">
            <a:extLst xmlns:a="http://schemas.openxmlformats.org/drawingml/2006/main">
              <a:ext uri="{FF2B5EF4-FFF2-40B4-BE49-F238E27FC236}">
                <a16:creationId xmlns:a16="http://schemas.microsoft.com/office/drawing/2014/main" id="{EEE046B8-919E-4D3A-BEA3-1491F9EBBDE4}"/>
              </a:ext>
            </a:extLst>
          </p:cNvPr>
          <p:cNvSpPr>
            <a:spLocks xmlns:a="http://schemas.openxmlformats.org/drawingml/2006/main" noGrp="1"/>
          </p:cNvSpPr>
          <p:nvPr/>
        </p:nvSpPr>
        <p:spPr>
          <a:xfrm xmlns:a="http://schemas.openxmlformats.org/drawingml/2006/main">
            <a:off x="609600" y="40386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Thakur et al., 2021</a:t>
            </a:r>
          </a:p>
        </p:txBody>
      </p:sp>
      <p:sp>
        <p:nvSpPr>
          <p:cNvPr id="11" name="arxiv.org/abs/2104.08663">
            <a:extLst xmlns:a="http://schemas.openxmlformats.org/drawingml/2006/main">
              <a:ext uri="{FF2B5EF4-FFF2-40B4-BE49-F238E27FC236}">
                <a16:creationId xmlns:a16="http://schemas.microsoft.com/office/drawing/2014/main" id="{6ED52645-A687-4B8C-B757-A7B3B4C68145}"/>
              </a:ext>
            </a:extLst>
          </p:cNvPr>
          <p:cNvSpPr>
            <a:spLocks xmlns:a="http://schemas.openxmlformats.org/drawingml/2006/main" noGrp="1"/>
          </p:cNvSpPr>
          <p:nvPr/>
        </p:nvSpPr>
        <p:spPr>
          <a:xfrm xmlns:a="http://schemas.openxmlformats.org/drawingml/2006/main">
            <a:off x="609600" y="43434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2="http://schemas.openxmlformats.org/officeDocument/2006/relationships" ns2:id="rLink10"/>
              </a:rPr>
              <a:t>arxiv.org/abs/2104.08663</a:t>
            </a:r>
          </a:p>
        </p:txBody>
      </p:sp>
      <p:sp>
        <p:nvSpPr>
          <p:cNvPr id="12" name="BM25">
            <a:extLst xmlns:a="http://schemas.openxmlformats.org/drawingml/2006/main">
              <a:ext uri="{FF2B5EF4-FFF2-40B4-BE49-F238E27FC236}">
                <a16:creationId xmlns:a16="http://schemas.microsoft.com/office/drawing/2014/main" id="{495A2F35-8ABE-47A5-A9EC-F4C677D71BFE}"/>
              </a:ext>
            </a:extLst>
          </p:cNvPr>
          <p:cNvSpPr>
            <a:spLocks xmlns:a="http://schemas.openxmlformats.org/drawingml/2006/main" noGrp="1"/>
          </p:cNvSpPr>
          <p:nvPr/>
        </p:nvSpPr>
        <p:spPr>
          <a:xfrm xmlns:a="http://schemas.openxmlformats.org/drawingml/2006/main">
            <a:off x="609600" y="47720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BM25</a:t>
            </a:r>
          </a:p>
        </p:txBody>
      </p:sp>
      <p:sp>
        <p:nvSpPr>
          <p:cNvPr id="13" name="Robertson &amp; Zaragoza, 2009">
            <a:extLst xmlns:a="http://schemas.openxmlformats.org/drawingml/2006/main">
              <a:ext uri="{FF2B5EF4-FFF2-40B4-BE49-F238E27FC236}">
                <a16:creationId xmlns:a16="http://schemas.microsoft.com/office/drawing/2014/main" id="{FBE4DAC5-48FC-4CD0-BB1C-65DFDC9FD50B}"/>
              </a:ext>
            </a:extLst>
          </p:cNvPr>
          <p:cNvSpPr>
            <a:spLocks xmlns:a="http://schemas.openxmlformats.org/drawingml/2006/main" noGrp="1"/>
          </p:cNvSpPr>
          <p:nvPr/>
        </p:nvSpPr>
        <p:spPr>
          <a:xfrm xmlns:a="http://schemas.openxmlformats.org/drawingml/2006/main">
            <a:off x="609600" y="51054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Robertson &amp; Zaragoza, 2009</a:t>
            </a:r>
          </a:p>
        </p:txBody>
      </p:sp>
      <p:sp>
        <p:nvSpPr>
          <p:cNvPr id="14" name="doi.org/10.1561/1500000019">
            <a:extLst xmlns:a="http://schemas.openxmlformats.org/drawingml/2006/main">
              <a:ext uri="{FF2B5EF4-FFF2-40B4-BE49-F238E27FC236}">
                <a16:creationId xmlns:a16="http://schemas.microsoft.com/office/drawing/2014/main" id="{1F79FCC9-A53A-41DD-B7BE-0A8DD9E757A7}"/>
              </a:ext>
            </a:extLst>
          </p:cNvPr>
          <p:cNvSpPr>
            <a:spLocks xmlns:a="http://schemas.openxmlformats.org/drawingml/2006/main" noGrp="1"/>
          </p:cNvSpPr>
          <p:nvPr/>
        </p:nvSpPr>
        <p:spPr>
          <a:xfrm xmlns:a="http://schemas.openxmlformats.org/drawingml/2006/main">
            <a:off x="609600" y="54102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3="http://schemas.openxmlformats.org/officeDocument/2006/relationships" ns3:id="rLink13"/>
              </a:rPr>
              <a:t>doi.org/10.1561/1500000019</a:t>
            </a:r>
          </a:p>
        </p:txBody>
      </p:sp>
      <p:sp>
        <p:nvSpPr>
          <p:cNvPr id="15" name="E5">
            <a:extLst xmlns:a="http://schemas.openxmlformats.org/drawingml/2006/main">
              <a:ext uri="{FF2B5EF4-FFF2-40B4-BE49-F238E27FC236}">
                <a16:creationId xmlns:a16="http://schemas.microsoft.com/office/drawing/2014/main" id="{FF175FCC-EC7A-469E-836C-2D4F521A191A}"/>
              </a:ext>
            </a:extLst>
          </p:cNvPr>
          <p:cNvSpPr>
            <a:spLocks xmlns:a="http://schemas.openxmlformats.org/drawingml/2006/main" noGrp="1"/>
          </p:cNvSpPr>
          <p:nvPr/>
        </p:nvSpPr>
        <p:spPr>
          <a:xfrm xmlns:a="http://schemas.openxmlformats.org/drawingml/2006/main">
            <a:off x="6419850" y="15716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E5</a:t>
            </a:r>
          </a:p>
        </p:txBody>
      </p:sp>
      <p:sp>
        <p:nvSpPr>
          <p:cNvPr id="16" name="Wang et al., 2022">
            <a:extLst xmlns:a="http://schemas.openxmlformats.org/drawingml/2006/main">
              <a:ext uri="{FF2B5EF4-FFF2-40B4-BE49-F238E27FC236}">
                <a16:creationId xmlns:a16="http://schemas.microsoft.com/office/drawing/2014/main" id="{7F01C309-F4C0-42FA-A079-1886364956AA}"/>
              </a:ext>
            </a:extLst>
          </p:cNvPr>
          <p:cNvSpPr>
            <a:spLocks xmlns:a="http://schemas.openxmlformats.org/drawingml/2006/main" noGrp="1"/>
          </p:cNvSpPr>
          <p:nvPr/>
        </p:nvSpPr>
        <p:spPr>
          <a:xfrm xmlns:a="http://schemas.openxmlformats.org/drawingml/2006/main">
            <a:off x="6419850" y="19050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Wang et al., 2022</a:t>
            </a:r>
          </a:p>
        </p:txBody>
      </p:sp>
      <p:sp>
        <p:nvSpPr>
          <p:cNvPr id="17" name="arxiv.org/abs/2212.03533">
            <a:extLst xmlns:a="http://schemas.openxmlformats.org/drawingml/2006/main">
              <a:ext uri="{FF2B5EF4-FFF2-40B4-BE49-F238E27FC236}">
                <a16:creationId xmlns:a16="http://schemas.microsoft.com/office/drawing/2014/main" id="{9926AAEA-3EAE-4442-8119-EB33DEF60548}"/>
              </a:ext>
            </a:extLst>
          </p:cNvPr>
          <p:cNvSpPr>
            <a:spLocks xmlns:a="http://schemas.openxmlformats.org/drawingml/2006/main" noGrp="1"/>
          </p:cNvSpPr>
          <p:nvPr/>
        </p:nvSpPr>
        <p:spPr>
          <a:xfrm xmlns:a="http://schemas.openxmlformats.org/drawingml/2006/main">
            <a:off x="6419850" y="22098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4="http://schemas.openxmlformats.org/officeDocument/2006/relationships" ns4:id="rLink16"/>
              </a:rPr>
              <a:t>arxiv.org/abs/2212.03533</a:t>
            </a:r>
          </a:p>
        </p:txBody>
      </p:sp>
      <p:sp>
        <p:nvSpPr>
          <p:cNvPr id="18" name="BGE / FlagEmbedding">
            <a:extLst xmlns:a="http://schemas.openxmlformats.org/drawingml/2006/main">
              <a:ext uri="{FF2B5EF4-FFF2-40B4-BE49-F238E27FC236}">
                <a16:creationId xmlns:a16="http://schemas.microsoft.com/office/drawing/2014/main" id="{27FCE838-924F-4181-9CAF-91650DCA4187}"/>
              </a:ext>
            </a:extLst>
          </p:cNvPr>
          <p:cNvSpPr>
            <a:spLocks xmlns:a="http://schemas.openxmlformats.org/drawingml/2006/main" noGrp="1"/>
          </p:cNvSpPr>
          <p:nvPr/>
        </p:nvSpPr>
        <p:spPr>
          <a:xfrm xmlns:a="http://schemas.openxmlformats.org/drawingml/2006/main">
            <a:off x="6419850" y="26384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BGE / FlagEmbedding</a:t>
            </a:r>
          </a:p>
        </p:txBody>
      </p:sp>
      <p:sp>
        <p:nvSpPr>
          <p:cNvPr id="19" name="Модель bge-small-en-v1.5">
            <a:extLst xmlns:a="http://schemas.openxmlformats.org/drawingml/2006/main">
              <a:ext uri="{FF2B5EF4-FFF2-40B4-BE49-F238E27FC236}">
                <a16:creationId xmlns:a16="http://schemas.microsoft.com/office/drawing/2014/main" id="{B4171707-7635-4B0F-B51A-EFE373C06882}"/>
              </a:ext>
            </a:extLst>
          </p:cNvPr>
          <p:cNvSpPr>
            <a:spLocks xmlns:a="http://schemas.openxmlformats.org/drawingml/2006/main" noGrp="1"/>
          </p:cNvSpPr>
          <p:nvPr/>
        </p:nvSpPr>
        <p:spPr>
          <a:xfrm xmlns:a="http://schemas.openxmlformats.org/drawingml/2006/main">
            <a:off x="6419850" y="29718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Модель bge-small-en-v1.5</a:t>
            </a:r>
          </a:p>
        </p:txBody>
      </p:sp>
      <p:sp>
        <p:nvSpPr>
          <p:cNvPr id="20" name="huggingface.co/BAAI/bge-small-en-v1.5">
            <a:extLst xmlns:a="http://schemas.openxmlformats.org/drawingml/2006/main">
              <a:ext uri="{FF2B5EF4-FFF2-40B4-BE49-F238E27FC236}">
                <a16:creationId xmlns:a16="http://schemas.microsoft.com/office/drawing/2014/main" id="{E088F081-695F-44E4-A1D8-559B26477996}"/>
              </a:ext>
            </a:extLst>
          </p:cNvPr>
          <p:cNvSpPr>
            <a:spLocks xmlns:a="http://schemas.openxmlformats.org/drawingml/2006/main" noGrp="1"/>
          </p:cNvSpPr>
          <p:nvPr/>
        </p:nvSpPr>
        <p:spPr>
          <a:xfrm xmlns:a="http://schemas.openxmlformats.org/drawingml/2006/main">
            <a:off x="6419850" y="32766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5="http://schemas.openxmlformats.org/officeDocument/2006/relationships" ns5:id="rLink19"/>
              </a:rPr>
              <a:t>huggingface.co/BAAI/bge-small-en-v1.5</a:t>
            </a:r>
          </a:p>
        </p:txBody>
      </p:sp>
      <p:sp>
        <p:nvSpPr>
          <p:cNvPr id="21" name="MiniLM">
            <a:extLst xmlns:a="http://schemas.openxmlformats.org/drawingml/2006/main">
              <a:ext uri="{FF2B5EF4-FFF2-40B4-BE49-F238E27FC236}">
                <a16:creationId xmlns:a16="http://schemas.microsoft.com/office/drawing/2014/main" id="{D993E484-9C7F-4234-8825-8160F9D1DF3A}"/>
              </a:ext>
            </a:extLst>
          </p:cNvPr>
          <p:cNvSpPr>
            <a:spLocks xmlns:a="http://schemas.openxmlformats.org/drawingml/2006/main" noGrp="1"/>
          </p:cNvSpPr>
          <p:nvPr/>
        </p:nvSpPr>
        <p:spPr>
          <a:xfrm xmlns:a="http://schemas.openxmlformats.org/drawingml/2006/main">
            <a:off x="6419850" y="37052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MiniLM</a:t>
            </a:r>
          </a:p>
        </p:txBody>
      </p:sp>
      <p:sp>
        <p:nvSpPr>
          <p:cNvPr id="22" name="Wang et al., 2020">
            <a:extLst xmlns:a="http://schemas.openxmlformats.org/drawingml/2006/main">
              <a:ext uri="{FF2B5EF4-FFF2-40B4-BE49-F238E27FC236}">
                <a16:creationId xmlns:a16="http://schemas.microsoft.com/office/drawing/2014/main" id="{BD6E0B2F-8AE6-4B08-BFBB-A539A08C24E4}"/>
              </a:ext>
            </a:extLst>
          </p:cNvPr>
          <p:cNvSpPr>
            <a:spLocks xmlns:a="http://schemas.openxmlformats.org/drawingml/2006/main" noGrp="1"/>
          </p:cNvSpPr>
          <p:nvPr/>
        </p:nvSpPr>
        <p:spPr>
          <a:xfrm xmlns:a="http://schemas.openxmlformats.org/drawingml/2006/main">
            <a:off x="6419850" y="40386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Wang et al., 2020</a:t>
            </a:r>
          </a:p>
        </p:txBody>
      </p:sp>
      <p:sp>
        <p:nvSpPr>
          <p:cNvPr id="23" name="arxiv.org/abs/2002.10957">
            <a:extLst xmlns:a="http://schemas.openxmlformats.org/drawingml/2006/main">
              <a:ext uri="{FF2B5EF4-FFF2-40B4-BE49-F238E27FC236}">
                <a16:creationId xmlns:a16="http://schemas.microsoft.com/office/drawing/2014/main" id="{E553A558-A451-4FE1-827A-DDFB43FC90E0}"/>
              </a:ext>
            </a:extLst>
          </p:cNvPr>
          <p:cNvSpPr>
            <a:spLocks xmlns:a="http://schemas.openxmlformats.org/drawingml/2006/main" noGrp="1"/>
          </p:cNvSpPr>
          <p:nvPr/>
        </p:nvSpPr>
        <p:spPr>
          <a:xfrm xmlns:a="http://schemas.openxmlformats.org/drawingml/2006/main">
            <a:off x="6419850" y="43434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6="http://schemas.openxmlformats.org/officeDocument/2006/relationships" ns6:id="rLink22"/>
              </a:rPr>
              <a:t>arxiv.org/abs/2002.10957</a:t>
            </a:r>
          </a:p>
        </p:txBody>
      </p:sp>
      <p:sp>
        <p:nvSpPr>
          <p:cNvPr id="24" name="Reciprocal Rank Fusion">
            <a:extLst xmlns:a="http://schemas.openxmlformats.org/drawingml/2006/main">
              <a:ext uri="{FF2B5EF4-FFF2-40B4-BE49-F238E27FC236}">
                <a16:creationId xmlns:a16="http://schemas.microsoft.com/office/drawing/2014/main" id="{4F841DDF-A002-4DD4-9C35-3E5C31D38782}"/>
              </a:ext>
            </a:extLst>
          </p:cNvPr>
          <p:cNvSpPr>
            <a:spLocks xmlns:a="http://schemas.openxmlformats.org/drawingml/2006/main" noGrp="1"/>
          </p:cNvSpPr>
          <p:nvPr/>
        </p:nvSpPr>
        <p:spPr>
          <a:xfrm xmlns:a="http://schemas.openxmlformats.org/drawingml/2006/main">
            <a:off x="6419850" y="47720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Reciprocal Rank Fusion</a:t>
            </a:r>
          </a:p>
        </p:txBody>
      </p:sp>
      <p:sp>
        <p:nvSpPr>
          <p:cNvPr id="25" name="Cormack et al., 2009">
            <a:extLst xmlns:a="http://schemas.openxmlformats.org/drawingml/2006/main">
              <a:ext uri="{FF2B5EF4-FFF2-40B4-BE49-F238E27FC236}">
                <a16:creationId xmlns:a16="http://schemas.microsoft.com/office/drawing/2014/main" id="{4DFC7256-ABCB-42F0-8978-A9834133EE16}"/>
              </a:ext>
            </a:extLst>
          </p:cNvPr>
          <p:cNvSpPr>
            <a:spLocks xmlns:a="http://schemas.openxmlformats.org/drawingml/2006/main" noGrp="1"/>
          </p:cNvSpPr>
          <p:nvPr/>
        </p:nvSpPr>
        <p:spPr>
          <a:xfrm xmlns:a="http://schemas.openxmlformats.org/drawingml/2006/main">
            <a:off x="6419850" y="51054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Cormack et al., 2009</a:t>
            </a:r>
          </a:p>
        </p:txBody>
      </p:sp>
      <p:sp>
        <p:nvSpPr>
          <p:cNvPr id="26" name="doi.org/10.1145/1571941.1572114">
            <a:extLst xmlns:a="http://schemas.openxmlformats.org/drawingml/2006/main">
              <a:ext uri="{FF2B5EF4-FFF2-40B4-BE49-F238E27FC236}">
                <a16:creationId xmlns:a16="http://schemas.microsoft.com/office/drawing/2014/main" id="{27908AFA-1F0E-49CF-829C-9B6DB9B26163}"/>
              </a:ext>
            </a:extLst>
          </p:cNvPr>
          <p:cNvSpPr>
            <a:spLocks xmlns:a="http://schemas.openxmlformats.org/drawingml/2006/main" noGrp="1"/>
          </p:cNvSpPr>
          <p:nvPr/>
        </p:nvSpPr>
        <p:spPr>
          <a:xfrm xmlns:a="http://schemas.openxmlformats.org/drawingml/2006/main">
            <a:off x="6419850" y="54102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7="http://schemas.openxmlformats.org/officeDocument/2006/relationships" ns7:id="rLink25"/>
              </a:rPr>
              <a:t>doi.org/10.1145/1571941.1572114</a:t>
            </a:r>
          </a:p>
        </p:txBody>
      </p:sp>
      <p:sp>
        <p:nvSpPr>
          <p:cNvPr id="27" name="Спецификация dev и dev/small: ir-datasets.com/msmarco-passage.html">
            <a:extLst xmlns:a="http://schemas.openxmlformats.org/drawingml/2006/main">
              <a:ext uri="{FF2B5EF4-FFF2-40B4-BE49-F238E27FC236}">
                <a16:creationId xmlns:a16="http://schemas.microsoft.com/office/drawing/2014/main" id="{103B9138-7D3D-40AE-8875-641306956B76}"/>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Спецификация dev и dev/small: ir-datasets.com/msmarco-passage.html</a:t>
            </a:r>
          </a:p>
        </p:txBody>
      </p:sp>
    </p:spTree>
    <p:extLst>
      <p:ext uri="{BB962C8B-B14F-4D97-AF65-F5344CB8AC3E}">
        <p14:creationId xmlns:p14="http://schemas.microsoft.com/office/powerpoint/2010/main" val="133985740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D707240-FA87-4C30-B4F7-BE3481571E2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r>
              <a:t/>
            </a:r>
          </a:p>
        </p:txBody>
      </p:sp>
      <p:sp>
        <p:nvSpPr>
          <p:cNvPr id="2" name="20">
            <a:extLst xmlns:a="http://schemas.openxmlformats.org/drawingml/2006/main">
              <a:ext uri="{FF2B5EF4-FFF2-40B4-BE49-F238E27FC236}">
                <a16:creationId xmlns:a16="http://schemas.microsoft.com/office/drawing/2014/main" id="{C5DC1C39-22EA-4EC5-AA48-52C01026FA6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20</a:t>
            </a:r>
          </a:p>
        </p:txBody>
      </p:sp>
      <p:sp>
        <p:nvSpPr>
          <p:cNvPr id="3" name="Спасибо за внимание">
            <a:extLst xmlns:a="http://schemas.openxmlformats.org/drawingml/2006/main">
              <a:ext uri="{FF2B5EF4-FFF2-40B4-BE49-F238E27FC236}">
                <a16:creationId xmlns:a16="http://schemas.microsoft.com/office/drawing/2014/main" id="{F8430587-5841-4911-9959-76BCCDF1356C}"/>
              </a:ext>
            </a:extLst>
          </p:cNvPr>
          <p:cNvSpPr>
            <a:spLocks xmlns:a="http://schemas.openxmlformats.org/drawingml/2006/main" noGrp="1"/>
          </p:cNvSpPr>
          <p:nvPr/>
        </p:nvSpPr>
        <p:spPr>
          <a:xfrm xmlns:a="http://schemas.openxmlformats.org/drawingml/2006/main">
            <a:off x="609600" y="21336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182B30"/>
                </a:solidFill>
                <a:latin typeface="Arial"/>
                <a:ea typeface="Arial"/>
                <a:cs typeface="Arial"/>
              </a:defRPr>
            </a:defPPr>
          </a:lstStyle>
          <a:p xmlns:a="http://schemas.openxmlformats.org/drawingml/2006/main">
            <a:pPr algn="l">
              <a:defRPr sz="4950" b="1">
                <a:solidFill>
                  <a:srgbClr val="182B30"/>
                </a:solidFill>
                <a:latin typeface="Arial"/>
                <a:ea typeface="Arial"/>
                <a:cs typeface="Arial"/>
              </a:defRPr>
            </a:pPr>
            <a:r>
              <a:rPr sz="4950" b="1">
                <a:solidFill>
                  <a:srgbClr val="182B30"/>
                </a:solidFill>
                <a:latin typeface="Arial"/>
                <a:ea typeface="Arial"/>
                <a:cs typeface="Arial"/>
              </a:rPr>
              <a:t>Спасибо за внимание</a:t>
            </a:r>
          </a:p>
        </p:txBody>
      </p:sp>
      <p:sp>
        <p:nvSpPr>
          <p:cNvPr id="4" name="Вопросы и обсуждение">
            <a:extLst xmlns:a="http://schemas.openxmlformats.org/drawingml/2006/main">
              <a:ext uri="{FF2B5EF4-FFF2-40B4-BE49-F238E27FC236}">
                <a16:creationId xmlns:a16="http://schemas.microsoft.com/office/drawing/2014/main" id="{A07AFDC1-BA08-4BE3-AC49-915F59A6D1B3}"/>
              </a:ext>
            </a:extLst>
          </p:cNvPr>
          <p:cNvSpPr>
            <a:spLocks xmlns:a="http://schemas.openxmlformats.org/drawingml/2006/main" noGrp="1"/>
          </p:cNvSpPr>
          <p:nvPr/>
        </p:nvSpPr>
        <p:spPr>
          <a:xfrm xmlns:a="http://schemas.openxmlformats.org/drawingml/2006/main">
            <a:off x="609600" y="32956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07F78"/>
                </a:solidFill>
                <a:latin typeface="Arial"/>
                <a:ea typeface="Arial"/>
                <a:cs typeface="Arial"/>
              </a:defRPr>
            </a:defPPr>
          </a:lstStyle>
          <a:p xmlns:a="http://schemas.openxmlformats.org/drawingml/2006/main">
            <a:pPr algn="l">
              <a:defRPr sz="2550" b="0">
                <a:solidFill>
                  <a:srgbClr val="007F78"/>
                </a:solidFill>
                <a:latin typeface="Arial"/>
                <a:ea typeface="Arial"/>
                <a:cs typeface="Arial"/>
              </a:defRPr>
            </a:pPr>
            <a:r>
              <a:rPr sz="2550" b="0">
                <a:solidFill>
                  <a:srgbClr val="007F78"/>
                </a:solidFill>
                <a:latin typeface="Arial"/>
                <a:ea typeface="Arial"/>
                <a:cs typeface="Arial"/>
              </a:rPr>
              <a:t>Вопросы и обсуждение</a:t>
            </a:r>
          </a:p>
        </p:txBody>
      </p:sp>
      <p:sp>
        <p:nvSpPr>
          <p:cNvPr id="5" name="">
            <a:extLst xmlns:a="http://schemas.openxmlformats.org/drawingml/2006/main">
              <a:ext uri="{FF2B5EF4-FFF2-40B4-BE49-F238E27FC236}">
                <a16:creationId xmlns:a16="http://schemas.microsoft.com/office/drawing/2014/main" id="{81A72BAF-F3E9-45C7-B352-61F535B1E1BE}"/>
              </a:ext>
            </a:extLst>
          </p:cNvPr>
          <p:cNvSpPr>
            <a:spLocks xmlns:a="http://schemas.openxmlformats.org/drawingml/2006/main" noGrp="1"/>
          </p:cNvSpPr>
          <p:nvPr/>
        </p:nvSpPr>
        <p:spPr>
          <a:xfrm xmlns:a="http://schemas.openxmlformats.org/drawingml/2006/main">
            <a:off x="609600" y="4410075"/>
            <a:ext cx="10972800" cy="0"/>
          </a:xfrm>
          <a:prstGeom xmlns:a="http://schemas.openxmlformats.org/drawingml/2006/main" prst="line">
            <a:avLst/>
          </a:prstGeom>
          <a:noFill xmlns:a="http://schemas.openxmlformats.org/drawingml/2006/main"/>
          <a:ln xmlns:a="http://schemas.openxmlformats.org/drawingml/2006/main" w="12383">
            <a:solidFill>
              <a:srgbClr val="D4E1E0"/>
            </a:solidFill>
          </a:ln>
        </p:spPr>
      </p:sp>
      <p:sp>
        <p:nvSpPr>
          <p:cNvPr id="6" name=", , ">
            <a:extLst xmlns:a="http://schemas.openxmlformats.org/drawingml/2006/main">
              <a:ext uri="{FF2B5EF4-FFF2-40B4-BE49-F238E27FC236}">
                <a16:creationId xmlns:a16="http://schemas.microsoft.com/office/drawing/2014/main" id="{5668CE3A-6A6F-4131-8944-CB3DA37B4E57}"/>
              </a:ext>
            </a:extLst>
          </p:cNvPr>
          <p:cNvSpPr>
            <a:spLocks xmlns:a="http://schemas.openxmlformats.org/drawingml/2006/main" noGrp="1"/>
          </p:cNvSpPr>
          <p:nvPr/>
        </p:nvSpPr>
        <p:spPr>
          <a:xfrm xmlns:a="http://schemas.openxmlformats.org/drawingml/2006/main">
            <a:off x="609600" y="47529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B30"/>
                </a:solidFill>
                <a:latin typeface="Arial"/>
                <a:ea typeface="Arial"/>
                <a:cs typeface="Arial"/>
              </a:defRPr>
            </a:defPPr>
          </a:lstStyle>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
            </a:r>
          </a:p>
        </p:txBody>
      </p:sp>
      <p:sp>
        <p:nvSpPr>
          <p:cNvPr id="7" name="">
            <a:extLst xmlns:a="http://schemas.openxmlformats.org/drawingml/2006/main">
              <a:ext uri="{FF2B5EF4-FFF2-40B4-BE49-F238E27FC236}">
                <a16:creationId xmlns:a16="http://schemas.microsoft.com/office/drawing/2014/main" id="{D9AE579D-4DAE-4505-BA45-380F0DA81AE5}"/>
              </a:ext>
            </a:extLst>
          </p:cNvPr>
          <p:cNvSpPr>
            <a:spLocks xmlns:a="http://schemas.openxmlformats.org/drawingml/2006/main" noGrp="1"/>
          </p:cNvSpPr>
          <p:nvPr/>
        </p:nvSpPr>
        <p:spPr>
          <a:xfrm xmlns:a="http://schemas.openxmlformats.org/drawingml/2006/main">
            <a:off x="609600" y="52101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970"/>
                </a:solidFill>
                <a:latin typeface="Arial"/>
                <a:ea typeface="Arial"/>
                <a:cs typeface="Arial"/>
              </a:defRPr>
            </a:defPPr>
          </a:lstStyle>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
            </a:r>
          </a:p>
        </p:txBody>
      </p:sp>
      <p:sp>
        <p:nvSpPr>
          <p:cNvPr id="8" name="Работа поддержана Российским научным фондом, соглашение № .">
            <a:extLst xmlns:a="http://schemas.openxmlformats.org/drawingml/2006/main">
              <a:ext uri="{FF2B5EF4-FFF2-40B4-BE49-F238E27FC236}">
                <a16:creationId xmlns:a16="http://schemas.microsoft.com/office/drawing/2014/main" id="{8F854F36-DC6C-4EFC-B609-BC1285F1ECFA}"/>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
            </a:r>
          </a:p>
        </p:txBody>
      </p:sp>
    </p:spTree>
    <p:extLst>
      <p:ext uri="{BB962C8B-B14F-4D97-AF65-F5344CB8AC3E}">
        <p14:creationId xmlns:p14="http://schemas.microsoft.com/office/powerpoint/2010/main" val="171121848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Какие части данных мы использовали">
            <a:extLst xmlns:a="http://schemas.openxmlformats.org/drawingml/2006/main">
              <a:ext uri="{FF2B5EF4-FFF2-40B4-BE49-F238E27FC236}">
                <a16:creationId xmlns:a16="http://schemas.microsoft.com/office/drawing/2014/main" id="{C9192BF0-02DB-4776-8EED-9940866E3A6E}"/>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Какие части данных мы использовали</a:t>
            </a:r>
          </a:p>
        </p:txBody>
      </p:sp>
      <p:sp>
        <p:nvSpPr>
          <p:cNvPr id="2" name="РЕЗЕРВ 1">
            <a:extLst xmlns:a="http://schemas.openxmlformats.org/drawingml/2006/main">
              <a:ext uri="{FF2B5EF4-FFF2-40B4-BE49-F238E27FC236}">
                <a16:creationId xmlns:a16="http://schemas.microsoft.com/office/drawing/2014/main" id="{6FB64FA0-FE5C-4760-8AD6-5AAB9A5377E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1</a:t>
            </a:r>
          </a:p>
        </p:txBody>
      </p:sp>
      <p:graphicFrame>
        <p:nvGraphicFramePr>
          <p:cNvPr id="3" name="">
            <a:extLst xmlns:a="http://schemas.openxmlformats.org/drawingml/2006/main">
              <a:ext uri="{FF2B5EF4-FFF2-40B4-BE49-F238E27FC236}">
                <a16:creationId xmlns:a16="http://schemas.microsoft.com/office/drawing/2014/main" id="{472684F5-DDA2-4257-8EB6-3AA86FC08731}"/>
              </a:ext>
            </a:extLst>
          </p:cNvPr>
          <p:cNvGraphicFramePr/>
          <p:nvPr/>
        </p:nvGraphicFramePr>
        <p:xfrm>
          <a:off xmlns:a="http://schemas.openxmlformats.org/drawingml/2006/main" x="609600" y="1638300"/>
          <a:ext xmlns:a="http://schemas.openxmlformats.org/drawingml/2006/main" cx="10972800" cy="3867150"/>
        </p:xfrm>
        <a:graphic xmlns:a="http://schemas.openxmlformats.org/drawingml/2006/main">
          <a:graphicData uri="http://schemas.openxmlformats.org/drawingml/2006/table">
            <a:tbl>
              <a:tblPr firstRow="0" bandRow="0"/>
              <a:tblGrid>
                <a:gridCol w="3333750"/>
                <a:gridCol w="1905000"/>
                <a:gridCol w="5734050"/>
              </a:tblGrid>
              <a:tr h="552450">
                <a:tc>
                  <a:txBody>
                    <a:bodyPr lIns="114300" tIns="76200" rIns="114300" bIns="76200">
                      <a:noAutofit/>
                    </a:bodyPr>
                    <a:lstStyle/>
                    <a:p>
                      <a:r>
                        <a:rPr sz="1800" b="1">
                          <a:solidFill>
                            <a:srgbClr val="526970"/>
                          </a:solidFill>
                          <a:latin typeface="Arial"/>
                          <a:ea typeface="Arial"/>
                          <a:cs typeface="Arial"/>
                        </a:rPr>
                        <a:t>Набор</a:t>
                      </a:r>
                    </a:p>
                  </a:txBody>
                  <a:tcPr marL="91440" marR="91440" marT="45720" marB="45720" anchor="ctr">
                    <a:lnL w="0">
                      <a:noFill/>
                    </a:lnL>
                    <a:lnR w="0">
                      <a:noFill/>
                    </a:lnR>
                    <a:lnT w="0">
                      <a:noFill/>
                    </a:lnT>
                    <a:lnB w="7620">
                      <a:solidFill>
                        <a:srgbClr val="D4E1E0"/>
                      </a:solidFill>
                    </a:lnB>
                    <a:solidFill>
                      <a:srgbClr val="EFF5F5"/>
                    </a:solidFill>
                  </a:tcPr>
                </a:tc>
                <a:tc>
                  <a:txBody>
                    <a:bodyPr lIns="114300" tIns="76200" rIns="114300" bIns="76200">
                      <a:noAutofit/>
                    </a:bodyPr>
                    <a:lstStyle/>
                    <a:p>
                      <a:r>
                        <a:rPr sz="1800" b="1">
                          <a:solidFill>
                            <a:srgbClr val="526970"/>
                          </a:solidFill>
                          <a:latin typeface="Arial"/>
                          <a:ea typeface="Arial"/>
                          <a:cs typeface="Arial"/>
                        </a:rPr>
                        <a:t>Запросы</a:t>
                      </a:r>
                    </a:p>
                  </a:txBody>
                  <a:tcPr marL="91440" marR="91440" marT="45720" marB="45720" anchor="ctr">
                    <a:lnL w="0">
                      <a:noFill/>
                    </a:lnL>
                    <a:lnR w="0">
                      <a:noFill/>
                    </a:lnR>
                    <a:lnT w="0">
                      <a:noFill/>
                    </a:lnT>
                    <a:lnB w="7620">
                      <a:solidFill>
                        <a:srgbClr val="D4E1E0"/>
                      </a:solidFill>
                    </a:lnB>
                    <a:solidFill>
                      <a:srgbClr val="EFF5F5"/>
                    </a:solidFill>
                  </a:tcPr>
                </a:tc>
                <a:tc>
                  <a:txBody>
                    <a:bodyPr lIns="114300" tIns="76200" rIns="114300" bIns="76200">
                      <a:noAutofit/>
                    </a:bodyPr>
                    <a:lstStyle/>
                    <a:p>
                      <a:r>
                        <a:rPr sz="1800" b="1">
                          <a:solidFill>
                            <a:srgbClr val="526970"/>
                          </a:solidFill>
                          <a:latin typeface="Arial"/>
                          <a:ea typeface="Arial"/>
                          <a:cs typeface="Arial"/>
                        </a:rPr>
                        <a:t>Роль в исследовании</a:t>
                      </a:r>
                    </a:p>
                  </a:txBody>
                  <a:tcPr marL="91440" marR="91440" marT="45720" marB="45720" anchor="ctr">
                    <a:lnL w="0">
                      <a:noFill/>
                    </a:lnL>
                    <a:lnR w="0">
                      <a:noFill/>
                    </a:lnR>
                    <a:lnT w="0">
                      <a:noFill/>
                    </a:lnT>
                    <a:lnB w="7620">
                      <a:solidFill>
                        <a:srgbClr val="D4E1E0"/>
                      </a:solidFill>
                    </a:lnB>
                    <a:solidFill>
                      <a:srgbClr val="EFF5F5"/>
                    </a:solidFill>
                  </a:tcPr>
                </a:tc>
              </a:tr>
              <a:tr h="552450">
                <a:tc>
                  <a:txBody>
                    <a:bodyPr lIns="114300" tIns="76200" rIns="114300" bIns="76200">
                      <a:noAutofit/>
                    </a:bodyPr>
                    <a:lstStyle/>
                    <a:p>
                      <a:r>
                        <a:rPr sz="1875" b="0">
                          <a:solidFill>
                            <a:srgbClr val="182B30"/>
                          </a:solidFill>
                          <a:latin typeface="Arial"/>
                          <a:ea typeface="Arial"/>
                          <a:cs typeface="Arial"/>
                        </a:rPr>
                        <a:t>Полная dev-часть</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101 093</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Масштабная оценка судьёй</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dev/small</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6 980</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Исходная оценочная подвыборка</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Ручная подвыборка</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1 179</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Доразметка 33 667 пар</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Обучение судьи</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825</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Дообучение на ручных метках</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Валидация судьи</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177</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Выбор порога</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Тест судьи</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177</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Проверка на отложенных запросах</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Ручная подвыборка входит в dev/small, а dev/small входит в полную dev-">
            <a:extLst xmlns:a="http://schemas.openxmlformats.org/drawingml/2006/main">
              <a:ext uri="{FF2B5EF4-FFF2-40B4-BE49-F238E27FC236}">
                <a16:creationId xmlns:a16="http://schemas.microsoft.com/office/drawing/2014/main" id="{C3F9466B-844F-4F05-ACF8-877FF5493F9F}"/>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Ручная подвыборка входит в dev/small, а dev/small входит в полную dev-часть.</a:t>
            </a:r>
          </a:p>
        </p:txBody>
      </p:sp>
    </p:spTree>
    <p:extLst>
      <p:ext uri="{BB962C8B-B14F-4D97-AF65-F5344CB8AC3E}">
        <p14:creationId xmlns:p14="http://schemas.microsoft.com/office/powerpoint/2010/main" val="7133885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26</ap:Slides>
  <ap:Notes>26</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Доклад на конференции DAMDID 2026</dc:subject>
  <dc:language>ru-RU</dc:language>
</coreProperties>
</file>